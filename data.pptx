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165"/>
  </p:notesMasterIdLst>
  <p:sldIdLst>
    <p:sldId id="387" r:id="rId2"/>
    <p:sldId id="388" r:id="rId3"/>
    <p:sldId id="389" r:id="rId4"/>
    <p:sldId id="390" r:id="rId5"/>
    <p:sldId id="391" r:id="rId6"/>
    <p:sldId id="392" r:id="rId7"/>
    <p:sldId id="393" r:id="rId8"/>
    <p:sldId id="394" r:id="rId9"/>
    <p:sldId id="395" r:id="rId10"/>
    <p:sldId id="396" r:id="rId11"/>
    <p:sldId id="397" r:id="rId12"/>
    <p:sldId id="398" r:id="rId13"/>
    <p:sldId id="399" r:id="rId14"/>
    <p:sldId id="400" r:id="rId15"/>
    <p:sldId id="401" r:id="rId16"/>
    <p:sldId id="402" r:id="rId17"/>
    <p:sldId id="403" r:id="rId18"/>
    <p:sldId id="404" r:id="rId19"/>
    <p:sldId id="405" r:id="rId20"/>
    <p:sldId id="406" r:id="rId21"/>
    <p:sldId id="407" r:id="rId22"/>
    <p:sldId id="408" r:id="rId23"/>
    <p:sldId id="409" r:id="rId24"/>
    <p:sldId id="410" r:id="rId25"/>
    <p:sldId id="411" r:id="rId26"/>
    <p:sldId id="412" r:id="rId27"/>
    <p:sldId id="269" r:id="rId28"/>
    <p:sldId id="270" r:id="rId29"/>
    <p:sldId id="271" r:id="rId30"/>
    <p:sldId id="272" r:id="rId31"/>
    <p:sldId id="273" r:id="rId32"/>
    <p:sldId id="274" r:id="rId33"/>
    <p:sldId id="276" r:id="rId34"/>
    <p:sldId id="277" r:id="rId35"/>
    <p:sldId id="278" r:id="rId36"/>
    <p:sldId id="279" r:id="rId37"/>
    <p:sldId id="275" r:id="rId38"/>
    <p:sldId id="280" r:id="rId39"/>
    <p:sldId id="281" r:id="rId40"/>
    <p:sldId id="282" r:id="rId41"/>
    <p:sldId id="283" r:id="rId42"/>
    <p:sldId id="284" r:id="rId43"/>
    <p:sldId id="285" r:id="rId44"/>
    <p:sldId id="286" r:id="rId45"/>
    <p:sldId id="287" r:id="rId46"/>
    <p:sldId id="301" r:id="rId47"/>
    <p:sldId id="302" r:id="rId48"/>
    <p:sldId id="304" r:id="rId49"/>
    <p:sldId id="305" r:id="rId50"/>
    <p:sldId id="306" r:id="rId51"/>
    <p:sldId id="307" r:id="rId52"/>
    <p:sldId id="310" r:id="rId53"/>
    <p:sldId id="311" r:id="rId54"/>
    <p:sldId id="313" r:id="rId55"/>
    <p:sldId id="314" r:id="rId56"/>
    <p:sldId id="315" r:id="rId57"/>
    <p:sldId id="316" r:id="rId58"/>
    <p:sldId id="317" r:id="rId59"/>
    <p:sldId id="318" r:id="rId60"/>
    <p:sldId id="319" r:id="rId61"/>
    <p:sldId id="320" r:id="rId62"/>
    <p:sldId id="321" r:id="rId63"/>
    <p:sldId id="322" r:id="rId64"/>
    <p:sldId id="323" r:id="rId65"/>
    <p:sldId id="324" r:id="rId66"/>
    <p:sldId id="325" r:id="rId67"/>
    <p:sldId id="326" r:id="rId68"/>
    <p:sldId id="327" r:id="rId69"/>
    <p:sldId id="329" r:id="rId70"/>
    <p:sldId id="330" r:id="rId71"/>
    <p:sldId id="331" r:id="rId72"/>
    <p:sldId id="332" r:id="rId73"/>
    <p:sldId id="333" r:id="rId74"/>
    <p:sldId id="334" r:id="rId75"/>
    <p:sldId id="335" r:id="rId76"/>
    <p:sldId id="336" r:id="rId77"/>
    <p:sldId id="337" r:id="rId78"/>
    <p:sldId id="338" r:id="rId79"/>
    <p:sldId id="339" r:id="rId80"/>
    <p:sldId id="340" r:id="rId81"/>
    <p:sldId id="341" r:id="rId82"/>
    <p:sldId id="342" r:id="rId83"/>
    <p:sldId id="343" r:id="rId84"/>
    <p:sldId id="344" r:id="rId85"/>
    <p:sldId id="345" r:id="rId86"/>
    <p:sldId id="346" r:id="rId87"/>
    <p:sldId id="347" r:id="rId88"/>
    <p:sldId id="349" r:id="rId89"/>
    <p:sldId id="350" r:id="rId90"/>
    <p:sldId id="351" r:id="rId91"/>
    <p:sldId id="352" r:id="rId92"/>
    <p:sldId id="353" r:id="rId93"/>
    <p:sldId id="354" r:id="rId94"/>
    <p:sldId id="355" r:id="rId95"/>
    <p:sldId id="356" r:id="rId96"/>
    <p:sldId id="357" r:id="rId97"/>
    <p:sldId id="358" r:id="rId98"/>
    <p:sldId id="359" r:id="rId99"/>
    <p:sldId id="360" r:id="rId100"/>
    <p:sldId id="361" r:id="rId101"/>
    <p:sldId id="362" r:id="rId102"/>
    <p:sldId id="363" r:id="rId103"/>
    <p:sldId id="364" r:id="rId104"/>
    <p:sldId id="365" r:id="rId105"/>
    <p:sldId id="367" r:id="rId106"/>
    <p:sldId id="369" r:id="rId107"/>
    <p:sldId id="370" r:id="rId108"/>
    <p:sldId id="371" r:id="rId109"/>
    <p:sldId id="372" r:id="rId110"/>
    <p:sldId id="374" r:id="rId111"/>
    <p:sldId id="375" r:id="rId112"/>
    <p:sldId id="376" r:id="rId113"/>
    <p:sldId id="377" r:id="rId114"/>
    <p:sldId id="378" r:id="rId115"/>
    <p:sldId id="379" r:id="rId116"/>
    <p:sldId id="381" r:id="rId117"/>
    <p:sldId id="382" r:id="rId118"/>
    <p:sldId id="383" r:id="rId119"/>
    <p:sldId id="384" r:id="rId120"/>
    <p:sldId id="385" r:id="rId121"/>
    <p:sldId id="386" r:id="rId122"/>
    <p:sldId id="413" r:id="rId123"/>
    <p:sldId id="414" r:id="rId124"/>
    <p:sldId id="415" r:id="rId125"/>
    <p:sldId id="416" r:id="rId126"/>
    <p:sldId id="417" r:id="rId127"/>
    <p:sldId id="418" r:id="rId128"/>
    <p:sldId id="419" r:id="rId129"/>
    <p:sldId id="420" r:id="rId130"/>
    <p:sldId id="421" r:id="rId131"/>
    <p:sldId id="422" r:id="rId132"/>
    <p:sldId id="423" r:id="rId133"/>
    <p:sldId id="424" r:id="rId134"/>
    <p:sldId id="425" r:id="rId135"/>
    <p:sldId id="426" r:id="rId136"/>
    <p:sldId id="427" r:id="rId137"/>
    <p:sldId id="428" r:id="rId138"/>
    <p:sldId id="429" r:id="rId139"/>
    <p:sldId id="430" r:id="rId140"/>
    <p:sldId id="431" r:id="rId141"/>
    <p:sldId id="432" r:id="rId142"/>
    <p:sldId id="433" r:id="rId143"/>
    <p:sldId id="434" r:id="rId144"/>
    <p:sldId id="435" r:id="rId145"/>
    <p:sldId id="436" r:id="rId146"/>
    <p:sldId id="437" r:id="rId147"/>
    <p:sldId id="438" r:id="rId148"/>
    <p:sldId id="439" r:id="rId149"/>
    <p:sldId id="440" r:id="rId150"/>
    <p:sldId id="441" r:id="rId151"/>
    <p:sldId id="442" r:id="rId152"/>
    <p:sldId id="443" r:id="rId153"/>
    <p:sldId id="444" r:id="rId154"/>
    <p:sldId id="445" r:id="rId155"/>
    <p:sldId id="446" r:id="rId156"/>
    <p:sldId id="447" r:id="rId157"/>
    <p:sldId id="448" r:id="rId158"/>
    <p:sldId id="449" r:id="rId159"/>
    <p:sldId id="450" r:id="rId160"/>
    <p:sldId id="451" r:id="rId161"/>
    <p:sldId id="452" r:id="rId162"/>
    <p:sldId id="453" r:id="rId163"/>
    <p:sldId id="454" r:id="rId164"/>
  </p:sldIdLst>
  <p:sldSz cx="9906000" cy="6858000" type="A4"/>
  <p:notesSz cx="6797675" cy="9926638"/>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42" userDrawn="1">
          <p15:clr>
            <a:srgbClr val="A4A3A4"/>
          </p15:clr>
        </p15:guide>
        <p15:guide id="2" pos="4226" userDrawn="1">
          <p15:clr>
            <a:srgbClr val="A4A3A4"/>
          </p15:clr>
        </p15:guide>
        <p15:guide id="3" pos="2014"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ACECE"/>
    <a:srgbClr val="FF9966"/>
    <a:srgbClr val="FF9933"/>
    <a:srgbClr val="FF7C80"/>
    <a:srgbClr val="FF6600"/>
    <a:srgbClr val="AD3D3D"/>
    <a:srgbClr val="FFFFFF"/>
    <a:srgbClr val="FF505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Средний стиль 2 — акцент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C083E6E3-FA7D-4D7B-A595-EF9225AFEA82}" styleName="Светлый стиль 1 — акцент 3">
    <a:wholeTbl>
      <a:tcTxStyle>
        <a:fontRef idx="minor">
          <a:scrgbClr r="0" g="0" b="0"/>
        </a:fontRef>
        <a:schemeClr val="tx1"/>
      </a:tcTxStyle>
      <a:tcStyle>
        <a:tcBdr>
          <a:left>
            <a:ln>
              <a:noFill/>
            </a:ln>
          </a:left>
          <a:right>
            <a:ln>
              <a:noFill/>
            </a:ln>
          </a:right>
          <a:top>
            <a:ln w="12700" cmpd="sng">
              <a:solidFill>
                <a:schemeClr val="accent3"/>
              </a:solidFill>
            </a:ln>
          </a:top>
          <a:bottom>
            <a:ln w="12700" cmpd="sng">
              <a:solidFill>
                <a:schemeClr val="accent3"/>
              </a:solidFill>
            </a:ln>
          </a:bottom>
          <a:insideH>
            <a:ln>
              <a:noFill/>
            </a:ln>
          </a:insideH>
          <a:insideV>
            <a:ln>
              <a:noFill/>
            </a:ln>
          </a:insideV>
        </a:tcBdr>
        <a:fill>
          <a:noFill/>
        </a:fill>
      </a:tcStyle>
    </a:wholeTbl>
    <a:band1H>
      <a:tcStyle>
        <a:tcBdr/>
        <a:fill>
          <a:solidFill>
            <a:schemeClr val="accent3">
              <a:alpha val="20000"/>
            </a:schemeClr>
          </a:solidFill>
        </a:fill>
      </a:tcStyle>
    </a:band1H>
    <a:band2H>
      <a:tcStyle>
        <a:tcBdr/>
      </a:tcStyle>
    </a:band2H>
    <a:band1V>
      <a:tcStyle>
        <a:tcBdr/>
        <a:fill>
          <a:solidFill>
            <a:schemeClr val="accent3">
              <a:alpha val="20000"/>
            </a:schemeClr>
          </a:solidFill>
        </a:fill>
      </a:tcStyle>
    </a:band1V>
    <a:lastCol>
      <a:tcTxStyle b="on"/>
      <a:tcStyle>
        <a:tcBdr/>
      </a:tcStyle>
    </a:lastCol>
    <a:firstCol>
      <a:tcTxStyle b="on"/>
      <a:tcStyle>
        <a:tcBdr/>
      </a:tcStyle>
    </a:firstCol>
    <a:lastRow>
      <a:tcTxStyle b="on"/>
      <a:tcStyle>
        <a:tcBdr>
          <a:top>
            <a:ln w="12700" cmpd="sng">
              <a:solidFill>
                <a:schemeClr val="accent3"/>
              </a:solidFill>
            </a:ln>
          </a:top>
        </a:tcBdr>
        <a:fill>
          <a:noFill/>
        </a:fill>
      </a:tcStyle>
    </a:lastRow>
    <a:firstRow>
      <a:tcTxStyle b="on"/>
      <a:tcStyle>
        <a:tcBdr>
          <a:bottom>
            <a:ln w="12700" cmpd="sng">
              <a:solidFill>
                <a:schemeClr val="accent3"/>
              </a:solidFill>
            </a:ln>
          </a:bottom>
        </a:tcBdr>
        <a:fill>
          <a:noFill/>
        </a:fill>
      </a:tcStyle>
    </a:firstRow>
  </a:tblStyle>
  <a:tblStyle styleId="{68D230F3-CF80-4859-8CE7-A43EE81993B5}" styleName="Светлый стиль 1 — акцент 6">
    <a:wholeTbl>
      <a:tcTxStyle>
        <a:fontRef idx="minor">
          <a:scrgbClr r="0" g="0" b="0"/>
        </a:fontRef>
        <a:schemeClr val="tx1"/>
      </a:tcTxStyle>
      <a:tcStyle>
        <a:tcBdr>
          <a:left>
            <a:ln>
              <a:noFill/>
            </a:ln>
          </a:left>
          <a:right>
            <a:ln>
              <a:noFill/>
            </a:ln>
          </a:right>
          <a:top>
            <a:ln w="12700" cmpd="sng">
              <a:solidFill>
                <a:schemeClr val="accent6"/>
              </a:solidFill>
            </a:ln>
          </a:top>
          <a:bottom>
            <a:ln w="12700" cmpd="sng">
              <a:solidFill>
                <a:schemeClr val="accent6"/>
              </a:solidFill>
            </a:ln>
          </a:bottom>
          <a:insideH>
            <a:ln>
              <a:noFill/>
            </a:ln>
          </a:insideH>
          <a:insideV>
            <a:ln>
              <a:noFill/>
            </a:ln>
          </a:insideV>
        </a:tcBdr>
        <a:fill>
          <a:noFill/>
        </a:fill>
      </a:tcStyle>
    </a:wholeTbl>
    <a:band1H>
      <a:tcStyle>
        <a:tcBdr/>
        <a:fill>
          <a:solidFill>
            <a:schemeClr val="accent6">
              <a:alpha val="20000"/>
            </a:schemeClr>
          </a:solidFill>
        </a:fill>
      </a:tcStyle>
    </a:band1H>
    <a:band2H>
      <a:tcStyle>
        <a:tcBdr/>
      </a:tcStyle>
    </a:band2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12700" cmpd="sng">
              <a:solidFill>
                <a:schemeClr val="accent6"/>
              </a:solidFill>
            </a:ln>
          </a:top>
        </a:tcBdr>
        <a:fill>
          <a:noFill/>
        </a:fill>
      </a:tcStyle>
    </a:lastRow>
    <a:firstRow>
      <a:tcTxStyle b="on"/>
      <a:tcStyle>
        <a:tcBdr>
          <a:bottom>
            <a:ln w="12700" cmpd="sng">
              <a:solidFill>
                <a:schemeClr val="accent6"/>
              </a:solidFill>
            </a:ln>
          </a:bottom>
        </a:tcBdr>
        <a:fill>
          <a:noFill/>
        </a:fill>
      </a:tcStyle>
    </a:firstRow>
  </a:tblStyle>
  <a:tblStyle styleId="{5FD0F851-EC5A-4D38-B0AD-8093EC10F338}" styleName="Светлый стиль 1 — акцент 5">
    <a:wholeTbl>
      <a:tcTxStyle>
        <a:fontRef idx="minor">
          <a:scrgbClr r="0" g="0" b="0"/>
        </a:fontRef>
        <a:schemeClr val="tx1"/>
      </a:tcTxStyle>
      <a:tcStyle>
        <a:tcBdr>
          <a:left>
            <a:ln>
              <a:noFill/>
            </a:ln>
          </a:left>
          <a:right>
            <a:ln>
              <a:noFill/>
            </a:ln>
          </a:right>
          <a:top>
            <a:ln w="12700" cmpd="sng">
              <a:solidFill>
                <a:schemeClr val="accent5"/>
              </a:solidFill>
            </a:ln>
          </a:top>
          <a:bottom>
            <a:ln w="12700" cmpd="sng">
              <a:solidFill>
                <a:schemeClr val="accent5"/>
              </a:solidFill>
            </a:ln>
          </a:bottom>
          <a:insideH>
            <a:ln>
              <a:noFill/>
            </a:ln>
          </a:insideH>
          <a:insideV>
            <a:ln>
              <a:noFill/>
            </a:ln>
          </a:insideV>
        </a:tcBdr>
        <a:fill>
          <a:noFill/>
        </a:fill>
      </a:tcStyle>
    </a:wholeTbl>
    <a:band1H>
      <a:tcStyle>
        <a:tcBdr/>
        <a:fill>
          <a:solidFill>
            <a:schemeClr val="accent5">
              <a:alpha val="20000"/>
            </a:schemeClr>
          </a:solidFill>
        </a:fill>
      </a:tcStyle>
    </a:band1H>
    <a:band2H>
      <a:tcStyle>
        <a:tcBdr/>
      </a:tcStyle>
    </a:band2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12700" cmpd="sng">
              <a:solidFill>
                <a:schemeClr val="accent5"/>
              </a:solidFill>
            </a:ln>
          </a:top>
        </a:tcBdr>
        <a:fill>
          <a:noFill/>
        </a:fill>
      </a:tcStyle>
    </a:lastRow>
    <a:firstRow>
      <a:tcTxStyle b="on"/>
      <a:tcStyle>
        <a:tcBdr>
          <a:bottom>
            <a:ln w="12700" cmpd="sng">
              <a:solidFill>
                <a:schemeClr val="accent5"/>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3814" autoAdjust="0"/>
    <p:restoredTop sz="94660"/>
  </p:normalViewPr>
  <p:slideViewPr>
    <p:cSldViewPr snapToGrid="0" showGuides="1">
      <p:cViewPr varScale="1">
        <p:scale>
          <a:sx n="112" d="100"/>
          <a:sy n="112" d="100"/>
        </p:scale>
        <p:origin x="1878" y="78"/>
      </p:cViewPr>
      <p:guideLst>
        <p:guide orient="horz" pos="142"/>
        <p:guide pos="4226"/>
        <p:guide pos="2014"/>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61" Type="http://schemas.openxmlformats.org/officeDocument/2006/relationships/slide" Target="slides/slide160.xml"/><Relationship Id="rId166"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viewProps" Target="view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theme" Target="theme/theme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notesMaster" Target="notesMasters/notesMaster1.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Верхний колонтитул 1"/>
          <p:cNvSpPr>
            <a:spLocks noGrp="1"/>
          </p:cNvSpPr>
          <p:nvPr>
            <p:ph type="hdr" sz="quarter"/>
          </p:nvPr>
        </p:nvSpPr>
        <p:spPr>
          <a:xfrm>
            <a:off x="0" y="0"/>
            <a:ext cx="2946400" cy="496888"/>
          </a:xfrm>
          <a:prstGeom prst="rect">
            <a:avLst/>
          </a:prstGeom>
        </p:spPr>
        <p:txBody>
          <a:bodyPr vert="horz" lIns="91440" tIns="45720" rIns="91440" bIns="45720" rtlCol="0"/>
          <a:lstStyle>
            <a:lvl1pPr algn="l">
              <a:defRPr sz="1200"/>
            </a:lvl1pPr>
          </a:lstStyle>
          <a:p>
            <a:endParaRPr lang="ru-RU"/>
          </a:p>
        </p:txBody>
      </p:sp>
      <p:sp>
        <p:nvSpPr>
          <p:cNvPr id="3" name="Дата 2"/>
          <p:cNvSpPr>
            <a:spLocks noGrp="1"/>
          </p:cNvSpPr>
          <p:nvPr>
            <p:ph type="dt" idx="1"/>
          </p:nvPr>
        </p:nvSpPr>
        <p:spPr>
          <a:xfrm>
            <a:off x="3849688" y="0"/>
            <a:ext cx="2946400" cy="496888"/>
          </a:xfrm>
          <a:prstGeom prst="rect">
            <a:avLst/>
          </a:prstGeom>
        </p:spPr>
        <p:txBody>
          <a:bodyPr vert="horz" lIns="91440" tIns="45720" rIns="91440" bIns="45720" rtlCol="0"/>
          <a:lstStyle>
            <a:lvl1pPr algn="r">
              <a:defRPr sz="1200"/>
            </a:lvl1pPr>
          </a:lstStyle>
          <a:p>
            <a:fld id="{59296223-D521-4D19-8DA6-DB2BDADBE91A}" type="datetimeFigureOut">
              <a:rPr lang="ru-RU" smtClean="0"/>
              <a:t>09.05.2026</a:t>
            </a:fld>
            <a:endParaRPr lang="ru-RU"/>
          </a:p>
        </p:txBody>
      </p:sp>
      <p:sp>
        <p:nvSpPr>
          <p:cNvPr id="4" name="Образ слайда 3"/>
          <p:cNvSpPr>
            <a:spLocks noGrp="1" noRot="1" noChangeAspect="1"/>
          </p:cNvSpPr>
          <p:nvPr>
            <p:ph type="sldImg" idx="2"/>
          </p:nvPr>
        </p:nvSpPr>
        <p:spPr>
          <a:xfrm>
            <a:off x="979488" y="1241425"/>
            <a:ext cx="4838700" cy="3349625"/>
          </a:xfrm>
          <a:prstGeom prst="rect">
            <a:avLst/>
          </a:prstGeom>
          <a:noFill/>
          <a:ln w="12700">
            <a:solidFill>
              <a:prstClr val="black"/>
            </a:solidFill>
          </a:ln>
        </p:spPr>
        <p:txBody>
          <a:bodyPr vert="horz" lIns="91440" tIns="45720" rIns="91440" bIns="45720" rtlCol="0" anchor="ctr"/>
          <a:lstStyle/>
          <a:p>
            <a:endParaRPr lang="ru-RU"/>
          </a:p>
        </p:txBody>
      </p:sp>
      <p:sp>
        <p:nvSpPr>
          <p:cNvPr id="5" name="Заметки 4"/>
          <p:cNvSpPr>
            <a:spLocks noGrp="1"/>
          </p:cNvSpPr>
          <p:nvPr>
            <p:ph type="body" sz="quarter" idx="3"/>
          </p:nvPr>
        </p:nvSpPr>
        <p:spPr>
          <a:xfrm>
            <a:off x="679450" y="4776788"/>
            <a:ext cx="5438775" cy="3908425"/>
          </a:xfrm>
          <a:prstGeom prst="rect">
            <a:avLst/>
          </a:prstGeom>
        </p:spPr>
        <p:txBody>
          <a:bodyPr vert="horz" lIns="91440" tIns="45720" rIns="91440" bIns="45720" rtlCol="0"/>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6" name="Нижний колонтитул 5"/>
          <p:cNvSpPr>
            <a:spLocks noGrp="1"/>
          </p:cNvSpPr>
          <p:nvPr>
            <p:ph type="ftr" sz="quarter" idx="4"/>
          </p:nvPr>
        </p:nvSpPr>
        <p:spPr>
          <a:xfrm>
            <a:off x="0" y="9429750"/>
            <a:ext cx="2946400" cy="496888"/>
          </a:xfrm>
          <a:prstGeom prst="rect">
            <a:avLst/>
          </a:prstGeom>
        </p:spPr>
        <p:txBody>
          <a:bodyPr vert="horz" lIns="91440" tIns="45720" rIns="91440" bIns="45720" rtlCol="0" anchor="b"/>
          <a:lstStyle>
            <a:lvl1pPr algn="l">
              <a:defRPr sz="1200"/>
            </a:lvl1pPr>
          </a:lstStyle>
          <a:p>
            <a:endParaRPr lang="ru-RU"/>
          </a:p>
        </p:txBody>
      </p:sp>
      <p:sp>
        <p:nvSpPr>
          <p:cNvPr id="7" name="Номер слайда 6"/>
          <p:cNvSpPr>
            <a:spLocks noGrp="1"/>
          </p:cNvSpPr>
          <p:nvPr>
            <p:ph type="sldNum" sz="quarter" idx="5"/>
          </p:nvPr>
        </p:nvSpPr>
        <p:spPr>
          <a:xfrm>
            <a:off x="3849688" y="9429750"/>
            <a:ext cx="2946400" cy="496888"/>
          </a:xfrm>
          <a:prstGeom prst="rect">
            <a:avLst/>
          </a:prstGeom>
        </p:spPr>
        <p:txBody>
          <a:bodyPr vert="horz" lIns="91440" tIns="45720" rIns="91440" bIns="45720" rtlCol="0" anchor="b"/>
          <a:lstStyle>
            <a:lvl1pPr algn="r">
              <a:defRPr sz="1200"/>
            </a:lvl1pPr>
          </a:lstStyle>
          <a:p>
            <a:fld id="{2DDBD891-EF7A-4193-8167-236B961E960A}" type="slidenum">
              <a:rPr lang="ru-RU" smtClean="0"/>
              <a:t>‹#›</a:t>
            </a:fld>
            <a:endParaRPr lang="ru-RU"/>
          </a:p>
        </p:txBody>
      </p:sp>
    </p:spTree>
    <p:extLst>
      <p:ext uri="{BB962C8B-B14F-4D97-AF65-F5344CB8AC3E}">
        <p14:creationId xmlns:p14="http://schemas.microsoft.com/office/powerpoint/2010/main" val="192220322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a:lstStyle/>
          <a:p>
            <a:endParaRPr lang="ru-RU" dirty="0"/>
          </a:p>
        </p:txBody>
      </p:sp>
      <p:sp>
        <p:nvSpPr>
          <p:cNvPr id="4" name="Номер слайда 3"/>
          <p:cNvSpPr>
            <a:spLocks noGrp="1"/>
          </p:cNvSpPr>
          <p:nvPr>
            <p:ph type="sldNum" sz="quarter" idx="10"/>
          </p:nvPr>
        </p:nvSpPr>
        <p:spPr/>
        <p:txBody>
          <a:bodyPr/>
          <a:lstStyle/>
          <a:p>
            <a:fld id="{944AB86B-C1A8-47AE-B35B-EF7B9C317CC8}" type="slidenum">
              <a:rPr lang="ru-RU" smtClean="0"/>
              <a:t>110</a:t>
            </a:fld>
            <a:endParaRPr lang="ru-RU"/>
          </a:p>
        </p:txBody>
      </p:sp>
    </p:spTree>
    <p:extLst>
      <p:ext uri="{BB962C8B-B14F-4D97-AF65-F5344CB8AC3E}">
        <p14:creationId xmlns:p14="http://schemas.microsoft.com/office/powerpoint/2010/main" val="57545417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Титульный слайд">
    <p:spTree>
      <p:nvGrpSpPr>
        <p:cNvPr id="1" name=""/>
        <p:cNvGrpSpPr/>
        <p:nvPr/>
      </p:nvGrpSpPr>
      <p:grpSpPr>
        <a:xfrm>
          <a:off x="0" y="0"/>
          <a:ext cx="0" cy="0"/>
          <a:chOff x="0" y="0"/>
          <a:chExt cx="0" cy="0"/>
        </a:xfrm>
      </p:grpSpPr>
      <p:sp>
        <p:nvSpPr>
          <p:cNvPr id="2" name="Title 1"/>
          <p:cNvSpPr>
            <a:spLocks noGrp="1"/>
          </p:cNvSpPr>
          <p:nvPr>
            <p:ph type="ctrTitle"/>
          </p:nvPr>
        </p:nvSpPr>
        <p:spPr>
          <a:xfrm>
            <a:off x="742950" y="1122363"/>
            <a:ext cx="8420100" cy="2387600"/>
          </a:xfrm>
        </p:spPr>
        <p:txBody>
          <a:bodyPr anchor="b"/>
          <a:lstStyle>
            <a:lvl1pPr algn="ctr">
              <a:defRPr sz="6000"/>
            </a:lvl1pPr>
          </a:lstStyle>
          <a:p>
            <a:r>
              <a:rPr lang="ru-RU"/>
              <a:t>Образец заголовка</a:t>
            </a:r>
            <a:endParaRPr lang="en-US" dirty="0"/>
          </a:p>
        </p:txBody>
      </p:sp>
      <p:sp>
        <p:nvSpPr>
          <p:cNvPr id="3" name="Subtitle 2"/>
          <p:cNvSpPr>
            <a:spLocks noGrp="1"/>
          </p:cNvSpPr>
          <p:nvPr>
            <p:ph type="subTitle" idx="1"/>
          </p:nvPr>
        </p:nvSpPr>
        <p:spPr>
          <a:xfrm>
            <a:off x="1238250" y="3602038"/>
            <a:ext cx="74295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ru-RU"/>
              <a:t>Образец подзаголовка</a:t>
            </a:r>
            <a:endParaRPr lang="en-US" dirty="0"/>
          </a:p>
        </p:txBody>
      </p:sp>
      <p:sp>
        <p:nvSpPr>
          <p:cNvPr id="4" name="Date Placeholder 3"/>
          <p:cNvSpPr>
            <a:spLocks noGrp="1"/>
          </p:cNvSpPr>
          <p:nvPr>
            <p:ph type="dt" sz="half" idx="10"/>
          </p:nvPr>
        </p:nvSpPr>
        <p:spPr/>
        <p:txBody>
          <a:bodyPr/>
          <a:lstStyle/>
          <a:p>
            <a:fld id="{7B321FEC-9A74-4059-AFD8-A680C56F5F9A}" type="datetimeFigureOut">
              <a:rPr lang="ru-RU" smtClean="0"/>
              <a:t>09.05.2026</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82D5B54A-D96B-4519-9CC8-7728313E9FAD}" type="slidenum">
              <a:rPr lang="ru-RU" smtClean="0"/>
              <a:t>‹#›</a:t>
            </a:fld>
            <a:endParaRPr lang="ru-RU"/>
          </a:p>
        </p:txBody>
      </p:sp>
    </p:spTree>
    <p:extLst>
      <p:ext uri="{BB962C8B-B14F-4D97-AF65-F5344CB8AC3E}">
        <p14:creationId xmlns:p14="http://schemas.microsoft.com/office/powerpoint/2010/main" val="169441532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Заголовок и объект">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ru-RU"/>
              <a:t>Образец заголовка</a:t>
            </a:r>
            <a:endParaRPr lang="en-US" dirty="0"/>
          </a:p>
        </p:txBody>
      </p:sp>
      <p:sp>
        <p:nvSpPr>
          <p:cNvPr id="3" name="Content Placeholder 2"/>
          <p:cNvSpPr>
            <a:spLocks noGrp="1"/>
          </p:cNvSpPr>
          <p:nvPr>
            <p:ph idx="1"/>
          </p:nvPr>
        </p:nvSpPr>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4" name="Date Placeholder 3"/>
          <p:cNvSpPr>
            <a:spLocks noGrp="1"/>
          </p:cNvSpPr>
          <p:nvPr>
            <p:ph type="dt" sz="half" idx="10"/>
          </p:nvPr>
        </p:nvSpPr>
        <p:spPr/>
        <p:txBody>
          <a:bodyPr/>
          <a:lstStyle/>
          <a:p>
            <a:fld id="{7B321FEC-9A74-4059-AFD8-A680C56F5F9A}" type="datetimeFigureOut">
              <a:rPr lang="ru-RU" smtClean="0"/>
              <a:t>09.05.2026</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82D5B54A-D96B-4519-9CC8-7728313E9FAD}" type="slidenum">
              <a:rPr lang="ru-RU" smtClean="0"/>
              <a:t>‹#›</a:t>
            </a:fld>
            <a:endParaRPr lang="ru-RU"/>
          </a:p>
        </p:txBody>
      </p:sp>
    </p:spTree>
    <p:extLst>
      <p:ext uri="{BB962C8B-B14F-4D97-AF65-F5344CB8AC3E}">
        <p14:creationId xmlns:p14="http://schemas.microsoft.com/office/powerpoint/2010/main" val="109615873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Заголовок раздела">
    <p:spTree>
      <p:nvGrpSpPr>
        <p:cNvPr id="1" name=""/>
        <p:cNvGrpSpPr/>
        <p:nvPr/>
      </p:nvGrpSpPr>
      <p:grpSpPr>
        <a:xfrm>
          <a:off x="0" y="0"/>
          <a:ext cx="0" cy="0"/>
          <a:chOff x="0" y="0"/>
          <a:chExt cx="0" cy="0"/>
        </a:xfrm>
      </p:grpSpPr>
      <p:sp>
        <p:nvSpPr>
          <p:cNvPr id="2" name="Title 1"/>
          <p:cNvSpPr>
            <a:spLocks noGrp="1"/>
          </p:cNvSpPr>
          <p:nvPr>
            <p:ph type="title"/>
          </p:nvPr>
        </p:nvSpPr>
        <p:spPr>
          <a:xfrm>
            <a:off x="675879" y="1709740"/>
            <a:ext cx="8543925" cy="2852737"/>
          </a:xfrm>
        </p:spPr>
        <p:txBody>
          <a:bodyPr anchor="b"/>
          <a:lstStyle>
            <a:lvl1pPr>
              <a:defRPr sz="6000"/>
            </a:lvl1pPr>
          </a:lstStyle>
          <a:p>
            <a:r>
              <a:rPr lang="ru-RU"/>
              <a:t>Образец заголовка</a:t>
            </a:r>
            <a:endParaRPr lang="en-US" dirty="0"/>
          </a:p>
        </p:txBody>
      </p:sp>
      <p:sp>
        <p:nvSpPr>
          <p:cNvPr id="3" name="Text Placeholder 2"/>
          <p:cNvSpPr>
            <a:spLocks noGrp="1"/>
          </p:cNvSpPr>
          <p:nvPr>
            <p:ph type="body" idx="1"/>
          </p:nvPr>
        </p:nvSpPr>
        <p:spPr>
          <a:xfrm>
            <a:off x="675879" y="4589465"/>
            <a:ext cx="8543925"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ru-RU"/>
              <a:t>Образец текста</a:t>
            </a:r>
          </a:p>
        </p:txBody>
      </p:sp>
      <p:sp>
        <p:nvSpPr>
          <p:cNvPr id="4" name="Date Placeholder 3"/>
          <p:cNvSpPr>
            <a:spLocks noGrp="1"/>
          </p:cNvSpPr>
          <p:nvPr>
            <p:ph type="dt" sz="half" idx="10"/>
          </p:nvPr>
        </p:nvSpPr>
        <p:spPr/>
        <p:txBody>
          <a:bodyPr/>
          <a:lstStyle/>
          <a:p>
            <a:fld id="{7B321FEC-9A74-4059-AFD8-A680C56F5F9A}" type="datetimeFigureOut">
              <a:rPr lang="ru-RU" smtClean="0"/>
              <a:t>09.05.2026</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82D5B54A-D96B-4519-9CC8-7728313E9FAD}" type="slidenum">
              <a:rPr lang="ru-RU" smtClean="0"/>
              <a:t>‹#›</a:t>
            </a:fld>
            <a:endParaRPr lang="ru-RU"/>
          </a:p>
        </p:txBody>
      </p:sp>
    </p:spTree>
    <p:extLst>
      <p:ext uri="{BB962C8B-B14F-4D97-AF65-F5344CB8AC3E}">
        <p14:creationId xmlns:p14="http://schemas.microsoft.com/office/powerpoint/2010/main" val="270178094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Два объекта">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ru-RU"/>
              <a:t>Образец заголовка</a:t>
            </a:r>
            <a:endParaRPr lang="en-US" dirty="0"/>
          </a:p>
        </p:txBody>
      </p:sp>
      <p:sp>
        <p:nvSpPr>
          <p:cNvPr id="3" name="Content Placeholder 2"/>
          <p:cNvSpPr>
            <a:spLocks noGrp="1"/>
          </p:cNvSpPr>
          <p:nvPr>
            <p:ph sz="half" idx="1"/>
          </p:nvPr>
        </p:nvSpPr>
        <p:spPr>
          <a:xfrm>
            <a:off x="681038" y="1825625"/>
            <a:ext cx="4210050" cy="435133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4" name="Content Placeholder 3"/>
          <p:cNvSpPr>
            <a:spLocks noGrp="1"/>
          </p:cNvSpPr>
          <p:nvPr>
            <p:ph sz="half" idx="2"/>
          </p:nvPr>
        </p:nvSpPr>
        <p:spPr>
          <a:xfrm>
            <a:off x="5014913" y="1825625"/>
            <a:ext cx="4210050" cy="435133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5" name="Date Placeholder 4"/>
          <p:cNvSpPr>
            <a:spLocks noGrp="1"/>
          </p:cNvSpPr>
          <p:nvPr>
            <p:ph type="dt" sz="half" idx="10"/>
          </p:nvPr>
        </p:nvSpPr>
        <p:spPr/>
        <p:txBody>
          <a:bodyPr/>
          <a:lstStyle/>
          <a:p>
            <a:fld id="{7B321FEC-9A74-4059-AFD8-A680C56F5F9A}" type="datetimeFigureOut">
              <a:rPr lang="ru-RU" smtClean="0"/>
              <a:t>09.05.2026</a:t>
            </a:fld>
            <a:endParaRPr lang="ru-RU"/>
          </a:p>
        </p:txBody>
      </p:sp>
      <p:sp>
        <p:nvSpPr>
          <p:cNvPr id="6" name="Footer Placeholder 5"/>
          <p:cNvSpPr>
            <a:spLocks noGrp="1"/>
          </p:cNvSpPr>
          <p:nvPr>
            <p:ph type="ftr" sz="quarter" idx="11"/>
          </p:nvPr>
        </p:nvSpPr>
        <p:spPr/>
        <p:txBody>
          <a:bodyPr/>
          <a:lstStyle/>
          <a:p>
            <a:endParaRPr lang="ru-RU"/>
          </a:p>
        </p:txBody>
      </p:sp>
      <p:sp>
        <p:nvSpPr>
          <p:cNvPr id="7" name="Slide Number Placeholder 6"/>
          <p:cNvSpPr>
            <a:spLocks noGrp="1"/>
          </p:cNvSpPr>
          <p:nvPr>
            <p:ph type="sldNum" sz="quarter" idx="12"/>
          </p:nvPr>
        </p:nvSpPr>
        <p:spPr/>
        <p:txBody>
          <a:bodyPr/>
          <a:lstStyle/>
          <a:p>
            <a:fld id="{82D5B54A-D96B-4519-9CC8-7728313E9FAD}" type="slidenum">
              <a:rPr lang="ru-RU" smtClean="0"/>
              <a:t>‹#›</a:t>
            </a:fld>
            <a:endParaRPr lang="ru-RU"/>
          </a:p>
        </p:txBody>
      </p:sp>
    </p:spTree>
    <p:extLst>
      <p:ext uri="{BB962C8B-B14F-4D97-AF65-F5344CB8AC3E}">
        <p14:creationId xmlns:p14="http://schemas.microsoft.com/office/powerpoint/2010/main" val="189510807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Сравнение">
    <p:spTree>
      <p:nvGrpSpPr>
        <p:cNvPr id="1" name=""/>
        <p:cNvGrpSpPr/>
        <p:nvPr/>
      </p:nvGrpSpPr>
      <p:grpSpPr>
        <a:xfrm>
          <a:off x="0" y="0"/>
          <a:ext cx="0" cy="0"/>
          <a:chOff x="0" y="0"/>
          <a:chExt cx="0" cy="0"/>
        </a:xfrm>
      </p:grpSpPr>
      <p:sp>
        <p:nvSpPr>
          <p:cNvPr id="2" name="Title 1"/>
          <p:cNvSpPr>
            <a:spLocks noGrp="1"/>
          </p:cNvSpPr>
          <p:nvPr>
            <p:ph type="title"/>
          </p:nvPr>
        </p:nvSpPr>
        <p:spPr>
          <a:xfrm>
            <a:off x="682328" y="365127"/>
            <a:ext cx="8543925" cy="1325563"/>
          </a:xfrm>
        </p:spPr>
        <p:txBody>
          <a:bodyPr/>
          <a:lstStyle/>
          <a:p>
            <a:r>
              <a:rPr lang="ru-RU"/>
              <a:t>Образец заголовка</a:t>
            </a:r>
            <a:endParaRPr lang="en-US" dirty="0"/>
          </a:p>
        </p:txBody>
      </p:sp>
      <p:sp>
        <p:nvSpPr>
          <p:cNvPr id="3" name="Text Placeholder 2"/>
          <p:cNvSpPr>
            <a:spLocks noGrp="1"/>
          </p:cNvSpPr>
          <p:nvPr>
            <p:ph type="body" idx="1"/>
          </p:nvPr>
        </p:nvSpPr>
        <p:spPr>
          <a:xfrm>
            <a:off x="682329" y="1681163"/>
            <a:ext cx="4190702"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a:t>Образец текста</a:t>
            </a:r>
          </a:p>
        </p:txBody>
      </p:sp>
      <p:sp>
        <p:nvSpPr>
          <p:cNvPr id="4" name="Content Placeholder 3"/>
          <p:cNvSpPr>
            <a:spLocks noGrp="1"/>
          </p:cNvSpPr>
          <p:nvPr>
            <p:ph sz="half" idx="2"/>
          </p:nvPr>
        </p:nvSpPr>
        <p:spPr>
          <a:xfrm>
            <a:off x="682329" y="2505075"/>
            <a:ext cx="4190702" cy="368458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5" name="Text Placeholder 4"/>
          <p:cNvSpPr>
            <a:spLocks noGrp="1"/>
          </p:cNvSpPr>
          <p:nvPr>
            <p:ph type="body" sz="quarter" idx="3"/>
          </p:nvPr>
        </p:nvSpPr>
        <p:spPr>
          <a:xfrm>
            <a:off x="5014913" y="1681163"/>
            <a:ext cx="4211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a:t>Образец текста</a:t>
            </a:r>
          </a:p>
        </p:txBody>
      </p:sp>
      <p:sp>
        <p:nvSpPr>
          <p:cNvPr id="6" name="Content Placeholder 5"/>
          <p:cNvSpPr>
            <a:spLocks noGrp="1"/>
          </p:cNvSpPr>
          <p:nvPr>
            <p:ph sz="quarter" idx="4"/>
          </p:nvPr>
        </p:nvSpPr>
        <p:spPr>
          <a:xfrm>
            <a:off x="5014913" y="2505075"/>
            <a:ext cx="4211340" cy="368458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7" name="Date Placeholder 6"/>
          <p:cNvSpPr>
            <a:spLocks noGrp="1"/>
          </p:cNvSpPr>
          <p:nvPr>
            <p:ph type="dt" sz="half" idx="10"/>
          </p:nvPr>
        </p:nvSpPr>
        <p:spPr/>
        <p:txBody>
          <a:bodyPr/>
          <a:lstStyle/>
          <a:p>
            <a:fld id="{7B321FEC-9A74-4059-AFD8-A680C56F5F9A}" type="datetimeFigureOut">
              <a:rPr lang="ru-RU" smtClean="0"/>
              <a:t>09.05.2026</a:t>
            </a:fld>
            <a:endParaRPr lang="ru-RU"/>
          </a:p>
        </p:txBody>
      </p:sp>
      <p:sp>
        <p:nvSpPr>
          <p:cNvPr id="8" name="Footer Placeholder 7"/>
          <p:cNvSpPr>
            <a:spLocks noGrp="1"/>
          </p:cNvSpPr>
          <p:nvPr>
            <p:ph type="ftr" sz="quarter" idx="11"/>
          </p:nvPr>
        </p:nvSpPr>
        <p:spPr/>
        <p:txBody>
          <a:bodyPr/>
          <a:lstStyle/>
          <a:p>
            <a:endParaRPr lang="ru-RU"/>
          </a:p>
        </p:txBody>
      </p:sp>
      <p:sp>
        <p:nvSpPr>
          <p:cNvPr id="9" name="Slide Number Placeholder 8"/>
          <p:cNvSpPr>
            <a:spLocks noGrp="1"/>
          </p:cNvSpPr>
          <p:nvPr>
            <p:ph type="sldNum" sz="quarter" idx="12"/>
          </p:nvPr>
        </p:nvSpPr>
        <p:spPr/>
        <p:txBody>
          <a:bodyPr/>
          <a:lstStyle/>
          <a:p>
            <a:fld id="{82D5B54A-D96B-4519-9CC8-7728313E9FAD}" type="slidenum">
              <a:rPr lang="ru-RU" smtClean="0"/>
              <a:t>‹#›</a:t>
            </a:fld>
            <a:endParaRPr lang="ru-RU"/>
          </a:p>
        </p:txBody>
      </p:sp>
    </p:spTree>
    <p:extLst>
      <p:ext uri="{BB962C8B-B14F-4D97-AF65-F5344CB8AC3E}">
        <p14:creationId xmlns:p14="http://schemas.microsoft.com/office/powerpoint/2010/main" val="120435192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Только заголовок">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ru-RU"/>
              <a:t>Образец заголовка</a:t>
            </a:r>
            <a:endParaRPr lang="en-US" dirty="0"/>
          </a:p>
        </p:txBody>
      </p:sp>
      <p:sp>
        <p:nvSpPr>
          <p:cNvPr id="3" name="Date Placeholder 2"/>
          <p:cNvSpPr>
            <a:spLocks noGrp="1"/>
          </p:cNvSpPr>
          <p:nvPr>
            <p:ph type="dt" sz="half" idx="10"/>
          </p:nvPr>
        </p:nvSpPr>
        <p:spPr/>
        <p:txBody>
          <a:bodyPr/>
          <a:lstStyle/>
          <a:p>
            <a:fld id="{7B321FEC-9A74-4059-AFD8-A680C56F5F9A}" type="datetimeFigureOut">
              <a:rPr lang="ru-RU" smtClean="0"/>
              <a:t>09.05.2026</a:t>
            </a:fld>
            <a:endParaRPr lang="ru-RU"/>
          </a:p>
        </p:txBody>
      </p:sp>
      <p:sp>
        <p:nvSpPr>
          <p:cNvPr id="4" name="Footer Placeholder 3"/>
          <p:cNvSpPr>
            <a:spLocks noGrp="1"/>
          </p:cNvSpPr>
          <p:nvPr>
            <p:ph type="ftr" sz="quarter" idx="11"/>
          </p:nvPr>
        </p:nvSpPr>
        <p:spPr/>
        <p:txBody>
          <a:bodyPr/>
          <a:lstStyle/>
          <a:p>
            <a:endParaRPr lang="ru-RU"/>
          </a:p>
        </p:txBody>
      </p:sp>
      <p:sp>
        <p:nvSpPr>
          <p:cNvPr id="5" name="Slide Number Placeholder 4"/>
          <p:cNvSpPr>
            <a:spLocks noGrp="1"/>
          </p:cNvSpPr>
          <p:nvPr>
            <p:ph type="sldNum" sz="quarter" idx="12"/>
          </p:nvPr>
        </p:nvSpPr>
        <p:spPr/>
        <p:txBody>
          <a:bodyPr/>
          <a:lstStyle/>
          <a:p>
            <a:fld id="{82D5B54A-D96B-4519-9CC8-7728313E9FAD}" type="slidenum">
              <a:rPr lang="ru-RU" smtClean="0"/>
              <a:t>‹#›</a:t>
            </a:fld>
            <a:endParaRPr lang="ru-RU"/>
          </a:p>
        </p:txBody>
      </p:sp>
    </p:spTree>
    <p:extLst>
      <p:ext uri="{BB962C8B-B14F-4D97-AF65-F5344CB8AC3E}">
        <p14:creationId xmlns:p14="http://schemas.microsoft.com/office/powerpoint/2010/main" val="367460424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Пустой слайд">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7B321FEC-9A74-4059-AFD8-A680C56F5F9A}" type="datetimeFigureOut">
              <a:rPr lang="ru-RU" smtClean="0"/>
              <a:t>09.05.2026</a:t>
            </a:fld>
            <a:endParaRPr lang="ru-RU"/>
          </a:p>
        </p:txBody>
      </p:sp>
      <p:sp>
        <p:nvSpPr>
          <p:cNvPr id="3" name="Footer Placeholder 2"/>
          <p:cNvSpPr>
            <a:spLocks noGrp="1"/>
          </p:cNvSpPr>
          <p:nvPr>
            <p:ph type="ftr" sz="quarter" idx="11"/>
          </p:nvPr>
        </p:nvSpPr>
        <p:spPr/>
        <p:txBody>
          <a:bodyPr/>
          <a:lstStyle/>
          <a:p>
            <a:endParaRPr lang="ru-RU"/>
          </a:p>
        </p:txBody>
      </p:sp>
      <p:sp>
        <p:nvSpPr>
          <p:cNvPr id="4" name="Slide Number Placeholder 3"/>
          <p:cNvSpPr>
            <a:spLocks noGrp="1"/>
          </p:cNvSpPr>
          <p:nvPr>
            <p:ph type="sldNum" sz="quarter" idx="12"/>
          </p:nvPr>
        </p:nvSpPr>
        <p:spPr/>
        <p:txBody>
          <a:bodyPr/>
          <a:lstStyle/>
          <a:p>
            <a:fld id="{82D5B54A-D96B-4519-9CC8-7728313E9FAD}" type="slidenum">
              <a:rPr lang="ru-RU" smtClean="0"/>
              <a:t>‹#›</a:t>
            </a:fld>
            <a:endParaRPr lang="ru-RU"/>
          </a:p>
        </p:txBody>
      </p:sp>
    </p:spTree>
    <p:extLst>
      <p:ext uri="{BB962C8B-B14F-4D97-AF65-F5344CB8AC3E}">
        <p14:creationId xmlns:p14="http://schemas.microsoft.com/office/powerpoint/2010/main" val="369907994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Объект с подписью">
    <p:spTree>
      <p:nvGrpSpPr>
        <p:cNvPr id="1" name=""/>
        <p:cNvGrpSpPr/>
        <p:nvPr/>
      </p:nvGrpSpPr>
      <p:grpSpPr>
        <a:xfrm>
          <a:off x="0" y="0"/>
          <a:ext cx="0" cy="0"/>
          <a:chOff x="0" y="0"/>
          <a:chExt cx="0" cy="0"/>
        </a:xfrm>
      </p:grpSpPr>
      <p:sp>
        <p:nvSpPr>
          <p:cNvPr id="2" name="Title 1"/>
          <p:cNvSpPr>
            <a:spLocks noGrp="1"/>
          </p:cNvSpPr>
          <p:nvPr>
            <p:ph type="title"/>
          </p:nvPr>
        </p:nvSpPr>
        <p:spPr>
          <a:xfrm>
            <a:off x="682328" y="457200"/>
            <a:ext cx="3194943" cy="1600200"/>
          </a:xfrm>
        </p:spPr>
        <p:txBody>
          <a:bodyPr anchor="b"/>
          <a:lstStyle>
            <a:lvl1pPr>
              <a:defRPr sz="3200"/>
            </a:lvl1pPr>
          </a:lstStyle>
          <a:p>
            <a:r>
              <a:rPr lang="ru-RU"/>
              <a:t>Образец заголовка</a:t>
            </a:r>
            <a:endParaRPr lang="en-US" dirty="0"/>
          </a:p>
        </p:txBody>
      </p:sp>
      <p:sp>
        <p:nvSpPr>
          <p:cNvPr id="3" name="Content Placeholder 2"/>
          <p:cNvSpPr>
            <a:spLocks noGrp="1"/>
          </p:cNvSpPr>
          <p:nvPr>
            <p:ph idx="1"/>
          </p:nvPr>
        </p:nvSpPr>
        <p:spPr>
          <a:xfrm>
            <a:off x="4211340" y="987427"/>
            <a:ext cx="5014913"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4" name="Text Placeholder 3"/>
          <p:cNvSpPr>
            <a:spLocks noGrp="1"/>
          </p:cNvSpPr>
          <p:nvPr>
            <p:ph type="body" sz="half" idx="2"/>
          </p:nvPr>
        </p:nvSpPr>
        <p:spPr>
          <a:xfrm>
            <a:off x="682328" y="2057400"/>
            <a:ext cx="3194943"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ru-RU"/>
              <a:t>Образец текста</a:t>
            </a:r>
          </a:p>
        </p:txBody>
      </p:sp>
      <p:sp>
        <p:nvSpPr>
          <p:cNvPr id="5" name="Date Placeholder 4"/>
          <p:cNvSpPr>
            <a:spLocks noGrp="1"/>
          </p:cNvSpPr>
          <p:nvPr>
            <p:ph type="dt" sz="half" idx="10"/>
          </p:nvPr>
        </p:nvSpPr>
        <p:spPr/>
        <p:txBody>
          <a:bodyPr/>
          <a:lstStyle/>
          <a:p>
            <a:fld id="{7B321FEC-9A74-4059-AFD8-A680C56F5F9A}" type="datetimeFigureOut">
              <a:rPr lang="ru-RU" smtClean="0"/>
              <a:t>09.05.2026</a:t>
            </a:fld>
            <a:endParaRPr lang="ru-RU"/>
          </a:p>
        </p:txBody>
      </p:sp>
      <p:sp>
        <p:nvSpPr>
          <p:cNvPr id="6" name="Footer Placeholder 5"/>
          <p:cNvSpPr>
            <a:spLocks noGrp="1"/>
          </p:cNvSpPr>
          <p:nvPr>
            <p:ph type="ftr" sz="quarter" idx="11"/>
          </p:nvPr>
        </p:nvSpPr>
        <p:spPr/>
        <p:txBody>
          <a:bodyPr/>
          <a:lstStyle/>
          <a:p>
            <a:endParaRPr lang="ru-RU"/>
          </a:p>
        </p:txBody>
      </p:sp>
      <p:sp>
        <p:nvSpPr>
          <p:cNvPr id="7" name="Slide Number Placeholder 6"/>
          <p:cNvSpPr>
            <a:spLocks noGrp="1"/>
          </p:cNvSpPr>
          <p:nvPr>
            <p:ph type="sldNum" sz="quarter" idx="12"/>
          </p:nvPr>
        </p:nvSpPr>
        <p:spPr/>
        <p:txBody>
          <a:bodyPr/>
          <a:lstStyle/>
          <a:p>
            <a:fld id="{82D5B54A-D96B-4519-9CC8-7728313E9FAD}" type="slidenum">
              <a:rPr lang="ru-RU" smtClean="0"/>
              <a:t>‹#›</a:t>
            </a:fld>
            <a:endParaRPr lang="ru-RU"/>
          </a:p>
        </p:txBody>
      </p:sp>
    </p:spTree>
    <p:extLst>
      <p:ext uri="{BB962C8B-B14F-4D97-AF65-F5344CB8AC3E}">
        <p14:creationId xmlns:p14="http://schemas.microsoft.com/office/powerpoint/2010/main" val="365398702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Рисунок с подписью">
    <p:spTree>
      <p:nvGrpSpPr>
        <p:cNvPr id="1" name=""/>
        <p:cNvGrpSpPr/>
        <p:nvPr/>
      </p:nvGrpSpPr>
      <p:grpSpPr>
        <a:xfrm>
          <a:off x="0" y="0"/>
          <a:ext cx="0" cy="0"/>
          <a:chOff x="0" y="0"/>
          <a:chExt cx="0" cy="0"/>
        </a:xfrm>
      </p:grpSpPr>
      <p:sp>
        <p:nvSpPr>
          <p:cNvPr id="2" name="Title 1"/>
          <p:cNvSpPr>
            <a:spLocks noGrp="1"/>
          </p:cNvSpPr>
          <p:nvPr>
            <p:ph type="title"/>
          </p:nvPr>
        </p:nvSpPr>
        <p:spPr>
          <a:xfrm>
            <a:off x="682328" y="457200"/>
            <a:ext cx="3194943" cy="1600200"/>
          </a:xfrm>
        </p:spPr>
        <p:txBody>
          <a:bodyPr anchor="b"/>
          <a:lstStyle>
            <a:lvl1pPr>
              <a:defRPr sz="3200"/>
            </a:lvl1pPr>
          </a:lstStyle>
          <a:p>
            <a:r>
              <a:rPr lang="ru-RU"/>
              <a:t>Образец заголовка</a:t>
            </a:r>
            <a:endParaRPr lang="en-US" dirty="0"/>
          </a:p>
        </p:txBody>
      </p:sp>
      <p:sp>
        <p:nvSpPr>
          <p:cNvPr id="3" name="Picture Placeholder 2"/>
          <p:cNvSpPr>
            <a:spLocks noGrp="1" noChangeAspect="1"/>
          </p:cNvSpPr>
          <p:nvPr>
            <p:ph type="pic" idx="1"/>
          </p:nvPr>
        </p:nvSpPr>
        <p:spPr>
          <a:xfrm>
            <a:off x="4211340" y="987427"/>
            <a:ext cx="5014913"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ru-RU"/>
              <a:t>Вставка рисунка</a:t>
            </a:r>
            <a:endParaRPr lang="en-US" dirty="0"/>
          </a:p>
        </p:txBody>
      </p:sp>
      <p:sp>
        <p:nvSpPr>
          <p:cNvPr id="4" name="Text Placeholder 3"/>
          <p:cNvSpPr>
            <a:spLocks noGrp="1"/>
          </p:cNvSpPr>
          <p:nvPr>
            <p:ph type="body" sz="half" idx="2"/>
          </p:nvPr>
        </p:nvSpPr>
        <p:spPr>
          <a:xfrm>
            <a:off x="682328" y="2057400"/>
            <a:ext cx="3194943"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ru-RU"/>
              <a:t>Образец текста</a:t>
            </a:r>
          </a:p>
        </p:txBody>
      </p:sp>
      <p:sp>
        <p:nvSpPr>
          <p:cNvPr id="5" name="Date Placeholder 4"/>
          <p:cNvSpPr>
            <a:spLocks noGrp="1"/>
          </p:cNvSpPr>
          <p:nvPr>
            <p:ph type="dt" sz="half" idx="10"/>
          </p:nvPr>
        </p:nvSpPr>
        <p:spPr/>
        <p:txBody>
          <a:bodyPr/>
          <a:lstStyle/>
          <a:p>
            <a:fld id="{7B321FEC-9A74-4059-AFD8-A680C56F5F9A}" type="datetimeFigureOut">
              <a:rPr lang="ru-RU" smtClean="0"/>
              <a:t>09.05.2026</a:t>
            </a:fld>
            <a:endParaRPr lang="ru-RU"/>
          </a:p>
        </p:txBody>
      </p:sp>
      <p:sp>
        <p:nvSpPr>
          <p:cNvPr id="6" name="Footer Placeholder 5"/>
          <p:cNvSpPr>
            <a:spLocks noGrp="1"/>
          </p:cNvSpPr>
          <p:nvPr>
            <p:ph type="ftr" sz="quarter" idx="11"/>
          </p:nvPr>
        </p:nvSpPr>
        <p:spPr/>
        <p:txBody>
          <a:bodyPr/>
          <a:lstStyle/>
          <a:p>
            <a:endParaRPr lang="ru-RU"/>
          </a:p>
        </p:txBody>
      </p:sp>
      <p:sp>
        <p:nvSpPr>
          <p:cNvPr id="7" name="Slide Number Placeholder 6"/>
          <p:cNvSpPr>
            <a:spLocks noGrp="1"/>
          </p:cNvSpPr>
          <p:nvPr>
            <p:ph type="sldNum" sz="quarter" idx="12"/>
          </p:nvPr>
        </p:nvSpPr>
        <p:spPr/>
        <p:txBody>
          <a:bodyPr/>
          <a:lstStyle/>
          <a:p>
            <a:fld id="{82D5B54A-D96B-4519-9CC8-7728313E9FAD}" type="slidenum">
              <a:rPr lang="ru-RU" smtClean="0"/>
              <a:t>‹#›</a:t>
            </a:fld>
            <a:endParaRPr lang="ru-RU"/>
          </a:p>
        </p:txBody>
      </p:sp>
    </p:spTree>
    <p:extLst>
      <p:ext uri="{BB962C8B-B14F-4D97-AF65-F5344CB8AC3E}">
        <p14:creationId xmlns:p14="http://schemas.microsoft.com/office/powerpoint/2010/main" val="212333579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Заголовок и вертикальный текст">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ru-RU"/>
              <a:t>Образец заголовка</a:t>
            </a:r>
            <a:endParaRPr lang="en-US" dirty="0"/>
          </a:p>
        </p:txBody>
      </p:sp>
      <p:sp>
        <p:nvSpPr>
          <p:cNvPr id="3" name="Vertical Text Placeholder 2"/>
          <p:cNvSpPr>
            <a:spLocks noGrp="1"/>
          </p:cNvSpPr>
          <p:nvPr>
            <p:ph type="body" orient="vert" idx="1"/>
          </p:nvPr>
        </p:nvSpPr>
        <p:spPr/>
        <p:txBody>
          <a:bodyPr vert="eaVert"/>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4" name="Date Placeholder 3"/>
          <p:cNvSpPr>
            <a:spLocks noGrp="1"/>
          </p:cNvSpPr>
          <p:nvPr>
            <p:ph type="dt" sz="half" idx="10"/>
          </p:nvPr>
        </p:nvSpPr>
        <p:spPr/>
        <p:txBody>
          <a:bodyPr/>
          <a:lstStyle/>
          <a:p>
            <a:fld id="{7B321FEC-9A74-4059-AFD8-A680C56F5F9A}" type="datetimeFigureOut">
              <a:rPr lang="ru-RU" smtClean="0"/>
              <a:t>09.05.2026</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82D5B54A-D96B-4519-9CC8-7728313E9FAD}" type="slidenum">
              <a:rPr lang="ru-RU" smtClean="0"/>
              <a:t>‹#›</a:t>
            </a:fld>
            <a:endParaRPr lang="ru-RU"/>
          </a:p>
        </p:txBody>
      </p:sp>
    </p:spTree>
    <p:extLst>
      <p:ext uri="{BB962C8B-B14F-4D97-AF65-F5344CB8AC3E}">
        <p14:creationId xmlns:p14="http://schemas.microsoft.com/office/powerpoint/2010/main" val="208862262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Вертикальный заголовок и текст">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88982" y="365125"/>
            <a:ext cx="2135981" cy="5811838"/>
          </a:xfrm>
        </p:spPr>
        <p:txBody>
          <a:bodyPr vert="eaVert"/>
          <a:lstStyle/>
          <a:p>
            <a:r>
              <a:rPr lang="ru-RU"/>
              <a:t>Образец заголовка</a:t>
            </a:r>
            <a:endParaRPr lang="en-US" dirty="0"/>
          </a:p>
        </p:txBody>
      </p:sp>
      <p:sp>
        <p:nvSpPr>
          <p:cNvPr id="3" name="Vertical Text Placeholder 2"/>
          <p:cNvSpPr>
            <a:spLocks noGrp="1"/>
          </p:cNvSpPr>
          <p:nvPr>
            <p:ph type="body" orient="vert" idx="1"/>
          </p:nvPr>
        </p:nvSpPr>
        <p:spPr>
          <a:xfrm>
            <a:off x="681038" y="365125"/>
            <a:ext cx="6284119" cy="5811838"/>
          </a:xfrm>
        </p:spPr>
        <p:txBody>
          <a:bodyPr vert="eaVert"/>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4" name="Date Placeholder 3"/>
          <p:cNvSpPr>
            <a:spLocks noGrp="1"/>
          </p:cNvSpPr>
          <p:nvPr>
            <p:ph type="dt" sz="half" idx="10"/>
          </p:nvPr>
        </p:nvSpPr>
        <p:spPr/>
        <p:txBody>
          <a:bodyPr/>
          <a:lstStyle/>
          <a:p>
            <a:fld id="{7B321FEC-9A74-4059-AFD8-A680C56F5F9A}" type="datetimeFigureOut">
              <a:rPr lang="ru-RU" smtClean="0"/>
              <a:t>09.05.2026</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82D5B54A-D96B-4519-9CC8-7728313E9FAD}" type="slidenum">
              <a:rPr lang="ru-RU" smtClean="0"/>
              <a:t>‹#›</a:t>
            </a:fld>
            <a:endParaRPr lang="ru-RU"/>
          </a:p>
        </p:txBody>
      </p:sp>
    </p:spTree>
    <p:extLst>
      <p:ext uri="{BB962C8B-B14F-4D97-AF65-F5344CB8AC3E}">
        <p14:creationId xmlns:p14="http://schemas.microsoft.com/office/powerpoint/2010/main" val="395444708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81038" y="365127"/>
            <a:ext cx="8543925" cy="1325563"/>
          </a:xfrm>
          <a:prstGeom prst="rect">
            <a:avLst/>
          </a:prstGeom>
        </p:spPr>
        <p:txBody>
          <a:bodyPr vert="horz" lIns="91440" tIns="45720" rIns="91440" bIns="45720" rtlCol="0" anchor="ctr">
            <a:normAutofit/>
          </a:bodyPr>
          <a:lstStyle/>
          <a:p>
            <a:r>
              <a:rPr lang="ru-RU"/>
              <a:t>Образец заголовка</a:t>
            </a:r>
            <a:endParaRPr lang="en-US" dirty="0"/>
          </a:p>
        </p:txBody>
      </p:sp>
      <p:sp>
        <p:nvSpPr>
          <p:cNvPr id="3" name="Text Placeholder 2"/>
          <p:cNvSpPr>
            <a:spLocks noGrp="1"/>
          </p:cNvSpPr>
          <p:nvPr>
            <p:ph type="body" idx="1"/>
          </p:nvPr>
        </p:nvSpPr>
        <p:spPr>
          <a:xfrm>
            <a:off x="681038" y="1825625"/>
            <a:ext cx="8543925" cy="4351338"/>
          </a:xfrm>
          <a:prstGeom prst="rect">
            <a:avLst/>
          </a:prstGeom>
        </p:spPr>
        <p:txBody>
          <a:bodyPr vert="horz" lIns="91440" tIns="45720" rIns="91440" bIns="45720" rtlCol="0">
            <a:normAutofit/>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4" name="Date Placeholder 3"/>
          <p:cNvSpPr>
            <a:spLocks noGrp="1"/>
          </p:cNvSpPr>
          <p:nvPr>
            <p:ph type="dt" sz="half" idx="2"/>
          </p:nvPr>
        </p:nvSpPr>
        <p:spPr>
          <a:xfrm>
            <a:off x="681038" y="6356352"/>
            <a:ext cx="222885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7B321FEC-9A74-4059-AFD8-A680C56F5F9A}" type="datetimeFigureOut">
              <a:rPr lang="ru-RU" smtClean="0"/>
              <a:t>09.05.2026</a:t>
            </a:fld>
            <a:endParaRPr lang="ru-RU"/>
          </a:p>
        </p:txBody>
      </p:sp>
      <p:sp>
        <p:nvSpPr>
          <p:cNvPr id="5" name="Footer Placeholder 4"/>
          <p:cNvSpPr>
            <a:spLocks noGrp="1"/>
          </p:cNvSpPr>
          <p:nvPr>
            <p:ph type="ftr" sz="quarter" idx="3"/>
          </p:nvPr>
        </p:nvSpPr>
        <p:spPr>
          <a:xfrm>
            <a:off x="3281363" y="6356352"/>
            <a:ext cx="3343275"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ru-RU"/>
          </a:p>
        </p:txBody>
      </p:sp>
      <p:sp>
        <p:nvSpPr>
          <p:cNvPr id="6" name="Slide Number Placeholder 5"/>
          <p:cNvSpPr>
            <a:spLocks noGrp="1"/>
          </p:cNvSpPr>
          <p:nvPr>
            <p:ph type="sldNum" sz="quarter" idx="4"/>
          </p:nvPr>
        </p:nvSpPr>
        <p:spPr>
          <a:xfrm>
            <a:off x="6996113" y="6356352"/>
            <a:ext cx="222885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82D5B54A-D96B-4519-9CC8-7728313E9FAD}" type="slidenum">
              <a:rPr lang="ru-RU" smtClean="0"/>
              <a:t>‹#›</a:t>
            </a:fld>
            <a:endParaRPr lang="ru-RU"/>
          </a:p>
        </p:txBody>
      </p:sp>
    </p:spTree>
    <p:extLst>
      <p:ext uri="{BB962C8B-B14F-4D97-AF65-F5344CB8AC3E}">
        <p14:creationId xmlns:p14="http://schemas.microsoft.com/office/powerpoint/2010/main" val="4124284971"/>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image" Target="../media/image26.jpe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image" Target="../media/image29.jpe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image" Target="../media/image36.jpe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image" Target="../media/image41.jpe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2" Type="http://schemas.openxmlformats.org/officeDocument/2006/relationships/image" Target="../media/image49.jpeg"/><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image" Target="../media/image51.jpeg"/><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2" Type="http://schemas.openxmlformats.org/officeDocument/2006/relationships/image" Target="../media/image52.jpeg"/><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image" Target="../media/image53.jpeg"/><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image" Target="../media/image58.png"/><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2" Type="http://schemas.openxmlformats.org/officeDocument/2006/relationships/image" Target="../media/image69.jpeg"/><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2" Type="http://schemas.openxmlformats.org/officeDocument/2006/relationships/image" Target="../media/image70.jpeg"/><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2" Type="http://schemas.openxmlformats.org/officeDocument/2006/relationships/image" Target="../media/image71.jpeg"/><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2" Type="http://schemas.openxmlformats.org/officeDocument/2006/relationships/image" Target="../media/image72.jpeg"/><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2" Type="http://schemas.openxmlformats.org/officeDocument/2006/relationships/image" Target="../media/image73.jpeg"/><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2" Type="http://schemas.openxmlformats.org/officeDocument/2006/relationships/image" Target="../media/image74.jpg"/><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2" Type="http://schemas.openxmlformats.org/officeDocument/2006/relationships/image" Target="../media/image75.jpeg"/><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2" Type="http://schemas.openxmlformats.org/officeDocument/2006/relationships/image" Target="../media/image76.jpeg"/><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2" Type="http://schemas.openxmlformats.org/officeDocument/2006/relationships/image" Target="../media/image77.jpeg"/><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2" Type="http://schemas.openxmlformats.org/officeDocument/2006/relationships/image" Target="../media/image78.jpeg"/><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2" Type="http://schemas.openxmlformats.org/officeDocument/2006/relationships/image" Target="../media/image79.jpeg"/><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2" Type="http://schemas.openxmlformats.org/officeDocument/2006/relationships/image" Target="../media/image80.png"/><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2" Type="http://schemas.openxmlformats.org/officeDocument/2006/relationships/image" Target="../media/image81.png"/><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2" Type="http://schemas.openxmlformats.org/officeDocument/2006/relationships/image" Target="../media/image82.emf"/><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2" Type="http://schemas.openxmlformats.org/officeDocument/2006/relationships/image" Target="../media/image84.emf"/><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2" Type="http://schemas.openxmlformats.org/officeDocument/2006/relationships/image" Target="../media/image86.png"/><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2" Type="http://schemas.openxmlformats.org/officeDocument/2006/relationships/image" Target="../media/image89.jpeg"/><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2" Type="http://schemas.openxmlformats.org/officeDocument/2006/relationships/image" Target="../media/image90.jpeg"/><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2" Type="http://schemas.openxmlformats.org/officeDocument/2006/relationships/image" Target="../media/image91.png"/><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2" Type="http://schemas.openxmlformats.org/officeDocument/2006/relationships/image" Target="../media/image92.png"/><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2" Type="http://schemas.openxmlformats.org/officeDocument/2006/relationships/image" Target="../media/image93.png"/><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2" Type="http://schemas.openxmlformats.org/officeDocument/2006/relationships/image" Target="../media/image94.png"/><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2" Type="http://schemas.openxmlformats.org/officeDocument/2006/relationships/image" Target="../media/image95.png"/><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2" Type="http://schemas.openxmlformats.org/officeDocument/2006/relationships/image" Target="../media/image96.jpeg"/><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2" Type="http://schemas.openxmlformats.org/officeDocument/2006/relationships/image" Target="../media/image97.jpeg"/><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2" Type="http://schemas.openxmlformats.org/officeDocument/2006/relationships/image" Target="../media/image98.jpeg"/><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2" Type="http://schemas.openxmlformats.org/officeDocument/2006/relationships/image" Target="../media/image99.jpeg"/><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2" Type="http://schemas.openxmlformats.org/officeDocument/2006/relationships/image" Target="../media/image100.jpeg"/><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2" Type="http://schemas.openxmlformats.org/officeDocument/2006/relationships/image" Target="../media/image101.jpeg"/><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2" Type="http://schemas.openxmlformats.org/officeDocument/2006/relationships/image" Target="../media/image102.jpeg"/><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2" Type="http://schemas.openxmlformats.org/officeDocument/2006/relationships/image" Target="../media/image103.jpeg"/><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2" Type="http://schemas.openxmlformats.org/officeDocument/2006/relationships/image" Target="../media/image104.jpeg"/><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2" Type="http://schemas.openxmlformats.org/officeDocument/2006/relationships/image" Target="../media/image105.jpeg"/><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2" Type="http://schemas.openxmlformats.org/officeDocument/2006/relationships/image" Target="../media/image106.jpeg"/><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2" Type="http://schemas.openxmlformats.org/officeDocument/2006/relationships/image" Target="../media/image107.jpeg"/><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2" Type="http://schemas.openxmlformats.org/officeDocument/2006/relationships/image" Target="../media/image108.jpeg"/><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2" Type="http://schemas.openxmlformats.org/officeDocument/2006/relationships/image" Target="../media/image111.png"/><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2" Type="http://schemas.openxmlformats.org/officeDocument/2006/relationships/image" Target="../media/image112.png"/><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2" Type="http://schemas.openxmlformats.org/officeDocument/2006/relationships/image" Target="../media/image113.png"/><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2" Type="http://schemas.openxmlformats.org/officeDocument/2006/relationships/image" Target="../media/image114.png"/><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2" Type="http://schemas.openxmlformats.org/officeDocument/2006/relationships/image" Target="../media/image115.jpeg"/><Relationship Id="rId1" Type="http://schemas.openxmlformats.org/officeDocument/2006/relationships/slideLayout" Target="../slideLayouts/slideLayout7.xml"/></Relationships>
</file>

<file path=ppt/slides/_rels/slide116.xml.rels><?xml version="1.0" encoding="UTF-8" standalone="yes"?>
<Relationships xmlns="http://schemas.openxmlformats.org/package/2006/relationships"><Relationship Id="rId2" Type="http://schemas.openxmlformats.org/officeDocument/2006/relationships/image" Target="../media/image116.jpeg"/><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2" Type="http://schemas.openxmlformats.org/officeDocument/2006/relationships/image" Target="../media/image118.jpeg"/><Relationship Id="rId1" Type="http://schemas.openxmlformats.org/officeDocument/2006/relationships/slideLayout" Target="../slideLayouts/slideLayout7.xml"/></Relationships>
</file>

<file path=ppt/slides/_rels/slide119.xml.rels><?xml version="1.0" encoding="UTF-8" standalone="yes"?>
<Relationships xmlns="http://schemas.openxmlformats.org/package/2006/relationships"><Relationship Id="rId2" Type="http://schemas.openxmlformats.org/officeDocument/2006/relationships/image" Target="../media/image119.jpeg"/><Relationship Id="rId1" Type="http://schemas.openxmlformats.org/officeDocument/2006/relationships/slideLayout" Target="../slideLayouts/slideLayout7.xml"/></Relationships>
</file>

<file path=ppt/slides/_rels/slide120.xml.rels><?xml version="1.0" encoding="UTF-8" standalone="yes"?>
<Relationships xmlns="http://schemas.openxmlformats.org/package/2006/relationships"><Relationship Id="rId2" Type="http://schemas.openxmlformats.org/officeDocument/2006/relationships/image" Target="../media/image120.jpeg"/><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2" Type="http://schemas.openxmlformats.org/officeDocument/2006/relationships/image" Target="../media/image122.png"/><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2" Type="http://schemas.openxmlformats.org/officeDocument/2006/relationships/image" Target="../media/image123.jpeg"/><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2" Type="http://schemas.openxmlformats.org/officeDocument/2006/relationships/image" Target="../media/image124.jpeg"/><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2" Type="http://schemas.openxmlformats.org/officeDocument/2006/relationships/image" Target="../media/image125.png"/><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2" Type="http://schemas.openxmlformats.org/officeDocument/2006/relationships/image" Target="../media/image126.jpeg"/><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2" Type="http://schemas.openxmlformats.org/officeDocument/2006/relationships/image" Target="../media/image127.png"/><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2" Type="http://schemas.openxmlformats.org/officeDocument/2006/relationships/image" Target="../media/image128.jpeg"/><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2" Type="http://schemas.openxmlformats.org/officeDocument/2006/relationships/image" Target="../media/image129.jpeg"/><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2" Type="http://schemas.openxmlformats.org/officeDocument/2006/relationships/image" Target="../media/image130.jpeg"/><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2" Type="http://schemas.openxmlformats.org/officeDocument/2006/relationships/image" Target="../media/image131.png"/><Relationship Id="rId1" Type="http://schemas.openxmlformats.org/officeDocument/2006/relationships/slideLayout" Target="../slideLayouts/slideLayout7.xml"/></Relationships>
</file>

<file path=ppt/slides/_rels/slide132.xml.rels><?xml version="1.0" encoding="UTF-8" standalone="yes"?>
<Relationships xmlns="http://schemas.openxmlformats.org/package/2006/relationships"><Relationship Id="rId2" Type="http://schemas.openxmlformats.org/officeDocument/2006/relationships/image" Target="../media/image132.jpeg"/><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2" Type="http://schemas.openxmlformats.org/officeDocument/2006/relationships/image" Target="../media/image133.png"/><Relationship Id="rId1" Type="http://schemas.openxmlformats.org/officeDocument/2006/relationships/slideLayout" Target="../slideLayouts/slideLayout7.xml"/></Relationships>
</file>

<file path=ppt/slides/_rels/slide134.xml.rels><?xml version="1.0" encoding="UTF-8" standalone="yes"?>
<Relationships xmlns="http://schemas.openxmlformats.org/package/2006/relationships"><Relationship Id="rId2" Type="http://schemas.openxmlformats.org/officeDocument/2006/relationships/image" Target="../media/image134.emf"/><Relationship Id="rId1" Type="http://schemas.openxmlformats.org/officeDocument/2006/relationships/slideLayout" Target="../slideLayouts/slideLayout7.xml"/></Relationships>
</file>

<file path=ppt/slides/_rels/slide135.xml.rels><?xml version="1.0" encoding="UTF-8" standalone="yes"?>
<Relationships xmlns="http://schemas.openxmlformats.org/package/2006/relationships"><Relationship Id="rId2" Type="http://schemas.openxmlformats.org/officeDocument/2006/relationships/image" Target="../media/image135.png"/><Relationship Id="rId1" Type="http://schemas.openxmlformats.org/officeDocument/2006/relationships/slideLayout" Target="../slideLayouts/slideLayout7.xml"/></Relationships>
</file>

<file path=ppt/slides/_rels/slide136.xml.rels><?xml version="1.0" encoding="UTF-8" standalone="yes"?>
<Relationships xmlns="http://schemas.openxmlformats.org/package/2006/relationships"><Relationship Id="rId2" Type="http://schemas.openxmlformats.org/officeDocument/2006/relationships/image" Target="../media/image136.jpeg"/><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2" Type="http://schemas.openxmlformats.org/officeDocument/2006/relationships/image" Target="../media/image137.jpeg"/><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2" Type="http://schemas.openxmlformats.org/officeDocument/2006/relationships/image" Target="../media/image138.png"/><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2" Type="http://schemas.openxmlformats.org/officeDocument/2006/relationships/image" Target="../media/image139.jpeg"/><Relationship Id="rId1" Type="http://schemas.openxmlformats.org/officeDocument/2006/relationships/slideLayout" Target="../slideLayouts/slideLayout7.xml"/></Relationships>
</file>

<file path=ppt/slides/_rels/slide140.xml.rels><?xml version="1.0" encoding="UTF-8" standalone="yes"?>
<Relationships xmlns="http://schemas.openxmlformats.org/package/2006/relationships"><Relationship Id="rId2" Type="http://schemas.openxmlformats.org/officeDocument/2006/relationships/image" Target="../media/image140.jpeg"/><Relationship Id="rId1" Type="http://schemas.openxmlformats.org/officeDocument/2006/relationships/slideLayout" Target="../slideLayouts/slideLayout7.xml"/></Relationships>
</file>

<file path=ppt/slides/_rels/slide141.xml.rels><?xml version="1.0" encoding="UTF-8" standalone="yes"?>
<Relationships xmlns="http://schemas.openxmlformats.org/package/2006/relationships"><Relationship Id="rId2" Type="http://schemas.openxmlformats.org/officeDocument/2006/relationships/image" Target="../media/image141.jpeg"/><Relationship Id="rId1" Type="http://schemas.openxmlformats.org/officeDocument/2006/relationships/slideLayout" Target="../slideLayouts/slideLayout7.xml"/></Relationships>
</file>

<file path=ppt/slides/_rels/slide142.xml.rels><?xml version="1.0" encoding="UTF-8" standalone="yes"?>
<Relationships xmlns="http://schemas.openxmlformats.org/package/2006/relationships"><Relationship Id="rId2" Type="http://schemas.openxmlformats.org/officeDocument/2006/relationships/image" Target="../media/image142.png"/><Relationship Id="rId1" Type="http://schemas.openxmlformats.org/officeDocument/2006/relationships/slideLayout" Target="../slideLayouts/slideLayout7.xml"/></Relationships>
</file>

<file path=ppt/slides/_rels/slide143.xml.rels><?xml version="1.0" encoding="UTF-8" standalone="yes"?>
<Relationships xmlns="http://schemas.openxmlformats.org/package/2006/relationships"><Relationship Id="rId2" Type="http://schemas.openxmlformats.org/officeDocument/2006/relationships/image" Target="../media/image143.jpeg"/><Relationship Id="rId1" Type="http://schemas.openxmlformats.org/officeDocument/2006/relationships/slideLayout" Target="../slideLayouts/slideLayout7.xml"/></Relationships>
</file>

<file path=ppt/slides/_rels/slide144.xml.rels><?xml version="1.0" encoding="UTF-8" standalone="yes"?>
<Relationships xmlns="http://schemas.openxmlformats.org/package/2006/relationships"><Relationship Id="rId2" Type="http://schemas.openxmlformats.org/officeDocument/2006/relationships/image" Target="../media/image144.jpeg"/><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2" Type="http://schemas.openxmlformats.org/officeDocument/2006/relationships/image" Target="../media/image145.jpeg"/><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2" Type="http://schemas.openxmlformats.org/officeDocument/2006/relationships/image" Target="../media/image146.jpeg"/><Relationship Id="rId1" Type="http://schemas.openxmlformats.org/officeDocument/2006/relationships/slideLayout" Target="../slideLayouts/slideLayout7.xml"/></Relationships>
</file>

<file path=ppt/slides/_rels/slide147.xml.rels><?xml version="1.0" encoding="UTF-8" standalone="yes"?>
<Relationships xmlns="http://schemas.openxmlformats.org/package/2006/relationships"><Relationship Id="rId3" Type="http://schemas.openxmlformats.org/officeDocument/2006/relationships/image" Target="../media/image148.png"/><Relationship Id="rId2" Type="http://schemas.openxmlformats.org/officeDocument/2006/relationships/image" Target="../media/image147.png"/><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image" Target="../media/image147.png"/><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2" Type="http://schemas.openxmlformats.org/officeDocument/2006/relationships/image" Target="../media/image150.png"/><Relationship Id="rId1" Type="http://schemas.openxmlformats.org/officeDocument/2006/relationships/slideLayout" Target="../slideLayouts/slideLayout7.xml"/></Relationships>
</file>

<file path=ppt/slides/_rels/slide150.xml.rels><?xml version="1.0" encoding="UTF-8" standalone="yes"?>
<Relationships xmlns="http://schemas.openxmlformats.org/package/2006/relationships"><Relationship Id="rId2" Type="http://schemas.openxmlformats.org/officeDocument/2006/relationships/image" Target="../media/image151.emf"/><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2" Type="http://schemas.openxmlformats.org/officeDocument/2006/relationships/image" Target="../media/image152.png"/><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2" Type="http://schemas.openxmlformats.org/officeDocument/2006/relationships/image" Target="../media/image153.png"/><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2" Type="http://schemas.openxmlformats.org/officeDocument/2006/relationships/image" Target="../media/image155.png"/><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2" Type="http://schemas.openxmlformats.org/officeDocument/2006/relationships/image" Target="../media/image156.png"/><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2" Type="http://schemas.openxmlformats.org/officeDocument/2006/relationships/image" Target="../media/image157.png"/><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2" Type="http://schemas.openxmlformats.org/officeDocument/2006/relationships/image" Target="../media/image158.png"/><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2" Type="http://schemas.openxmlformats.org/officeDocument/2006/relationships/image" Target="../media/image159.jpg"/><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2" Type="http://schemas.openxmlformats.org/officeDocument/2006/relationships/image" Target="../media/image160.jpeg"/><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2" Type="http://schemas.openxmlformats.org/officeDocument/2006/relationships/image" Target="../media/image161.jpeg"/><Relationship Id="rId1" Type="http://schemas.openxmlformats.org/officeDocument/2006/relationships/slideLayout" Target="../slideLayouts/slideLayout7.xml"/></Relationships>
</file>

<file path=ppt/slides/_rels/slide161.xml.rels><?xml version="1.0" encoding="UTF-8" standalone="yes"?>
<Relationships xmlns="http://schemas.openxmlformats.org/package/2006/relationships"><Relationship Id="rId2" Type="http://schemas.openxmlformats.org/officeDocument/2006/relationships/image" Target="../media/image162.jpeg"/><Relationship Id="rId1" Type="http://schemas.openxmlformats.org/officeDocument/2006/relationships/slideLayout" Target="../slideLayouts/slideLayout7.xml"/></Relationships>
</file>

<file path=ppt/slides/_rels/slide162.xml.rels><?xml version="1.0" encoding="UTF-8" standalone="yes"?>
<Relationships xmlns="http://schemas.openxmlformats.org/package/2006/relationships"><Relationship Id="rId2" Type="http://schemas.openxmlformats.org/officeDocument/2006/relationships/image" Target="../media/image163.jpeg"/><Relationship Id="rId1" Type="http://schemas.openxmlformats.org/officeDocument/2006/relationships/slideLayout" Target="../slideLayouts/slideLayout7.xml"/></Relationships>
</file>

<file path=ppt/slides/_rels/slide163.xml.rels><?xml version="1.0" encoding="UTF-8" standalone="yes"?>
<Relationships xmlns="http://schemas.openxmlformats.org/package/2006/relationships"><Relationship Id="rId2" Type="http://schemas.openxmlformats.org/officeDocument/2006/relationships/image" Target="../media/image164.jpeg"/><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282375" cy="5894016"/>
        </p:xfrm>
        <a:graphic>
          <a:graphicData uri="http://schemas.openxmlformats.org/drawingml/2006/table">
            <a:tbl>
              <a:tblPr firstRow="1" bandRow="1">
                <a:tableStyleId>{C083E6E3-FA7D-4D7B-A595-EF9225AFEA82}</a:tableStyleId>
              </a:tblPr>
              <a:tblGrid>
                <a:gridCol w="569981">
                  <a:extLst>
                    <a:ext uri="{9D8B030D-6E8A-4147-A177-3AD203B41FA5}">
                      <a16:colId xmlns:a16="http://schemas.microsoft.com/office/drawing/2014/main" val="2288412290"/>
                    </a:ext>
                  </a:extLst>
                </a:gridCol>
                <a:gridCol w="482216">
                  <a:extLst>
                    <a:ext uri="{9D8B030D-6E8A-4147-A177-3AD203B41FA5}">
                      <a16:colId xmlns:a16="http://schemas.microsoft.com/office/drawing/2014/main" val="1678982439"/>
                    </a:ext>
                  </a:extLst>
                </a:gridCol>
                <a:gridCol w="146997">
                  <a:extLst>
                    <a:ext uri="{9D8B030D-6E8A-4147-A177-3AD203B41FA5}">
                      <a16:colId xmlns:a16="http://schemas.microsoft.com/office/drawing/2014/main" val="2721661767"/>
                    </a:ext>
                  </a:extLst>
                </a:gridCol>
                <a:gridCol w="871662">
                  <a:extLst>
                    <a:ext uri="{9D8B030D-6E8A-4147-A177-3AD203B41FA5}">
                      <a16:colId xmlns:a16="http://schemas.microsoft.com/office/drawing/2014/main" val="546773760"/>
                    </a:ext>
                  </a:extLst>
                </a:gridCol>
                <a:gridCol w="1211519">
                  <a:extLst>
                    <a:ext uri="{9D8B030D-6E8A-4147-A177-3AD203B41FA5}">
                      <a16:colId xmlns:a16="http://schemas.microsoft.com/office/drawing/2014/main" val="546443978"/>
                    </a:ext>
                  </a:extLst>
                </a:gridCol>
              </a:tblGrid>
              <a:tr h="240884">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8315">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САГДИЕВ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831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Ёдгор</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831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Хабибович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8315">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831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12.06.1946</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831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859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89835">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директори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859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46181">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САГДИЕВ</a:t>
                      </a:r>
                      <a:r>
                        <a:rPr lang="uz-Cyrl-UZ" sz="900" b="1" kern="1200" baseline="0" noProof="0" dirty="0" smtClean="0">
                          <a:solidFill>
                            <a:schemeClr val="tx1"/>
                          </a:solidFill>
                          <a:latin typeface="+mn-lt"/>
                          <a:ea typeface="+mn-ea"/>
                          <a:cs typeface="Arial" panose="020B0604020202020204" pitchFamily="34" charset="0"/>
                        </a:rPr>
                        <a:t> Хабибулло</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1910 йил, Тошкент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1946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Ўзбекистон</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далват</a:t>
                      </a:r>
                      <a:r>
                        <a:rPr lang="ru-RU" sz="900" b="0" kern="1200" noProof="0" dirty="0" smtClean="0">
                          <a:solidFill>
                            <a:schemeClr val="tx1"/>
                          </a:solidFill>
                          <a:latin typeface="+mn-lt"/>
                          <a:ea typeface="+mn-ea"/>
                          <a:cs typeface="Arial" panose="020B0604020202020204" pitchFamily="34" charset="0"/>
                        </a:rPr>
                        <a:t> академик драма </a:t>
                      </a:r>
                      <a:r>
                        <a:rPr lang="ru-RU" sz="900" b="0" kern="1200" noProof="0" dirty="0" err="1" smtClean="0">
                          <a:solidFill>
                            <a:schemeClr val="tx1"/>
                          </a:solidFill>
                          <a:latin typeface="+mn-lt"/>
                          <a:ea typeface="+mn-ea"/>
                          <a:cs typeface="Arial" panose="020B0604020202020204" pitchFamily="34" charset="0"/>
                        </a:rPr>
                        <a:t>театри</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актёри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9855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КАДИРОВА Махбубахон</a:t>
                      </a:r>
                    </a:p>
                    <a:p>
                      <a:pPr algn="l">
                        <a:lnSpc>
                          <a:spcPct val="85000"/>
                        </a:lnSpc>
                      </a:pPr>
                      <a:r>
                        <a:rPr lang="uz-Cyrl-UZ" sz="900" b="0" kern="1200" noProof="0" dirty="0" smtClean="0">
                          <a:solidFill>
                            <a:schemeClr val="tx1"/>
                          </a:solidFill>
                          <a:latin typeface="+mn-lt"/>
                          <a:ea typeface="+mn-ea"/>
                          <a:cs typeface="Arial" panose="020B0604020202020204" pitchFamily="34" charset="0"/>
                        </a:rPr>
                        <a:t>1918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1999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уй</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46181">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САГДИЕВА Зайлихон Аминовна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1956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1999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Тошкент</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маданият</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коллежди</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ўқитувчиси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553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75865">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1971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baseline="0" noProof="0" dirty="0" smtClean="0">
                          <a:solidFill>
                            <a:schemeClr val="tx1"/>
                          </a:solidFill>
                          <a:latin typeface="+mn-lt"/>
                          <a:ea typeface="+mn-ea"/>
                          <a:cs typeface="+mn-cs"/>
                        </a:rPr>
                        <a:t>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53165">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1061">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1061">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28621">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529997" y="865702"/>
          <a:ext cx="2939169" cy="5929706"/>
        </p:xfrm>
        <a:graphic>
          <a:graphicData uri="http://schemas.openxmlformats.org/drawingml/2006/table">
            <a:tbl>
              <a:tblPr firstRow="1" bandRow="1">
                <a:tableStyleId>{C083E6E3-FA7D-4D7B-A595-EF9225AFEA82}</a:tableStyleId>
              </a:tblPr>
              <a:tblGrid>
                <a:gridCol w="1546205">
                  <a:extLst>
                    <a:ext uri="{9D8B030D-6E8A-4147-A177-3AD203B41FA5}">
                      <a16:colId xmlns:a16="http://schemas.microsoft.com/office/drawing/2014/main" val="2715609854"/>
                    </a:ext>
                  </a:extLst>
                </a:gridCol>
                <a:gridCol w="1392964">
                  <a:extLst>
                    <a:ext uri="{9D8B030D-6E8A-4147-A177-3AD203B41FA5}">
                      <a16:colId xmlns:a16="http://schemas.microsoft.com/office/drawing/2014/main" val="546443978"/>
                    </a:ext>
                  </a:extLst>
                </a:gridCol>
              </a:tblGrid>
              <a:tr h="278411">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60168">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2020 йилдан буён </a:t>
                      </a:r>
                      <a:r>
                        <a:rPr lang="uz-Cyrl-UZ" sz="900" b="1" kern="1200" dirty="0" smtClean="0">
                          <a:solidFill>
                            <a:schemeClr val="tx1"/>
                          </a:solidFill>
                          <a:effectLst/>
                          <a:latin typeface="+mn-lt"/>
                          <a:ea typeface="+mn-ea"/>
                          <a:cs typeface="+mn-cs"/>
                        </a:rPr>
                        <a:t>Ўзбек Миллий Академик драма театри директори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0774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5185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57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5185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6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34151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r>
                        <a:rPr lang="uz-Cyrl-UZ" sz="900" kern="1200" dirty="0" smtClean="0">
                          <a:solidFill>
                            <a:schemeClr val="tx1"/>
                          </a:solidFill>
                          <a:effectLst/>
                          <a:latin typeface="+mn-lt"/>
                          <a:ea typeface="+mn-ea"/>
                          <a:cs typeface="+mn-cs"/>
                        </a:rPr>
                        <a:t>1998-2012 йй. - “Қалқон” студияси бадиий раҳбари</a:t>
                      </a:r>
                      <a:endParaRPr lang="ru-RU" sz="900" kern="1200" dirty="0" smtClean="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10719">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1071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Хар</a:t>
                      </a:r>
                      <a:r>
                        <a:rPr lang="uz-Cyrl-UZ" sz="900" kern="1200" baseline="0" noProof="0" dirty="0" smtClean="0">
                          <a:solidFill>
                            <a:schemeClr val="tx1"/>
                          </a:solidFill>
                          <a:effectLst/>
                          <a:latin typeface="+mn-lt"/>
                          <a:ea typeface="Calibri" panose="020F0502020204030204" pitchFamily="34" charset="0"/>
                          <a:cs typeface="Times New Roman" panose="02020603050405020304" pitchFamily="18" charset="0"/>
                        </a:rPr>
                        <a:t> 3 ойда тиббий профилактика</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6958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15185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64983">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930305">
                <a:tc gridSpan="2">
                  <a:txBody>
                    <a:bodyPr/>
                    <a:lstStyle/>
                    <a:p>
                      <a:r>
                        <a:rPr lang="uz-Cyrl-UZ" sz="900" kern="1200" dirty="0" smtClean="0">
                          <a:solidFill>
                            <a:schemeClr val="tx1"/>
                          </a:solidFill>
                          <a:effectLst/>
                          <a:latin typeface="+mn-lt"/>
                          <a:ea typeface="+mn-ea"/>
                          <a:cs typeface="+mn-cs"/>
                        </a:rPr>
                        <a:t>1989 й “Давлат” мукофоти  совриндори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1990 й. “Ўзбекистон Республикасида хизмат кўрсатган артист”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1998 й. “Ўзбекистон Республикаси халқ артисти”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2005 й. “Меҳнат шуҳрати” ордени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2016 й. “Қорақалпоғистон  Республикаси халқ артисти”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2018 й. “Фидокорона хизматлари учун” ордени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2023 й. “Ҳамдўстлик юлдузи” давлатлараро мукофоти</a:t>
                      </a:r>
                      <a:endParaRPr lang="ru-RU" sz="900" kern="1200" dirty="0" smtClean="0">
                        <a:solidFill>
                          <a:schemeClr val="tx1"/>
                        </a:solidFill>
                        <a:effectLst/>
                        <a:latin typeface="+mn-lt"/>
                        <a:ea typeface="+mn-ea"/>
                        <a:cs typeface="+mn-cs"/>
                      </a:endParaRPr>
                    </a:p>
                    <a:p>
                      <a:r>
                        <a:rPr lang="ru-RU" sz="900" kern="1200" dirty="0" smtClean="0">
                          <a:solidFill>
                            <a:schemeClr val="tx1"/>
                          </a:solidFill>
                          <a:effectLst/>
                          <a:latin typeface="+mn-lt"/>
                          <a:ea typeface="+mn-ea"/>
                          <a:cs typeface="+mn-cs"/>
                        </a:rPr>
                        <a:t>2023 </a:t>
                      </a:r>
                      <a:r>
                        <a:rPr lang="uz-Cyrl-UZ" sz="900" kern="1200" dirty="0" smtClean="0">
                          <a:solidFill>
                            <a:schemeClr val="tx1"/>
                          </a:solidFill>
                          <a:effectLst/>
                          <a:latin typeface="+mn-lt"/>
                          <a:ea typeface="+mn-ea"/>
                          <a:cs typeface="+mn-cs"/>
                        </a:rPr>
                        <a:t>й. “Эл-юрт ҳурмати” ордени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2024 й. “Тожикистон  Республикаси халқ артисти” фахрий унвони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pic>
        <p:nvPicPr>
          <p:cNvPr id="8" name="Рисунок 7" descr="Сагдиев Ё"/>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7621" y="1135489"/>
            <a:ext cx="841345" cy="1059072"/>
          </a:xfrm>
          <a:prstGeom prst="rect">
            <a:avLst/>
          </a:prstGeom>
          <a:noFill/>
          <a:ln>
            <a:noFill/>
          </a:ln>
        </p:spPr>
      </p:pic>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572299" y="869288"/>
          <a:ext cx="3194805" cy="5926119"/>
        </p:xfrm>
        <a:graphic>
          <a:graphicData uri="http://schemas.openxmlformats.org/drawingml/2006/table">
            <a:tbl>
              <a:tblPr firstRow="1" bandRow="1">
                <a:tableStyleId>{C083E6E3-FA7D-4D7B-A595-EF9225AFEA82}</a:tableStyleId>
              </a:tblPr>
              <a:tblGrid>
                <a:gridCol w="3194805">
                  <a:extLst>
                    <a:ext uri="{9D8B030D-6E8A-4147-A177-3AD203B41FA5}">
                      <a16:colId xmlns:a16="http://schemas.microsoft.com/office/drawing/2014/main" val="2715609854"/>
                    </a:ext>
                  </a:extLst>
                </a:gridCol>
              </a:tblGrid>
              <a:tr h="237197">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10448">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891426">
                <a:tc>
                  <a:txBody>
                    <a:bodyPr/>
                    <a:lstStyle/>
                    <a:p>
                      <a:pPr marL="0" indent="179388" algn="just"/>
                      <a:r>
                        <a:rPr lang="uz-Cyrl-UZ" sz="900" b="0" kern="1200" dirty="0" smtClean="0">
                          <a:solidFill>
                            <a:schemeClr val="tx1"/>
                          </a:solidFill>
                          <a:effectLst/>
                          <a:latin typeface="+mn-lt"/>
                          <a:ea typeface="+mn-ea"/>
                          <a:cs typeface="+mn-cs"/>
                        </a:rPr>
                        <a:t>1998-2012 ййиллрд “Қалқон” кино студияси бадиий раҳбари лавозимида фаолият юритди.  2012-2020 йилларда Миллий театр саҳна устаси, 2020 йилдан Ўзбек Миллий Академик драма театрида директор сифатида ишлаяпти.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1965-1967 йилларда Пахтакор футбол командасининг биринча ўзбек дарвозабони, спорт устаси.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Ўзбекистон Республикаси Ички ишлар вазирлигининг жамоат кенгашининг раиси. Ўзбекистон Либерал Демократик партияси Тошкент шаҳар кенгаши депутати. Ё. Сагдиев Миллий театрда саҳналаштирилган “Мирзо Улуғбек” спектаклида Француз элчиси, “Қароқчилар”да Карл Моор, “Уйланиш”да Кочкарёв, “Ғариблар”да Кичик ўғил, “Қор маликаси”да Эртакчи, “Оқ танликлар”да Конкистодор, “Бой ила хизматчи”да Ғофур, “Оловни ташлама, Прометей”да Прометей, “Юлдузли тунлар”да Бобур, “Меҳробдан чаён”да Абдураҳмон, “Ойна”да Арслон, “Келинлар қўзғалони”да Маъмур, “Тунги меҳмон”да Маҳмуд, “Имон”да Комилов, “Адолат фасли (Амир Темур)”да Амир Темур каби 60 дан ортиқ ролларни юксак маҳорат билан ижро этди. Ё. Сагдиев миллий театрда “Ҳаёт эшики ортида”, “Тунги меҳмон”, “Алданган хотини яхши” каби спектаклларни муваффақиятли саҳналаштирди. 2016 йили Бердақ номидаги Қорақалпоқ драма театри “Имон” спектаклини муваффақиятли саҳналаштирилган учун “Қорақалпоғистон Республикаси халқ артиси” фахрий унвони билан тақдирланди. Ё. Сагдиев 30 дан ортиқ мумтоз ва лирик қўшиқлар ижрочиси. Жумладан: “Тошкент ироғи”, “Фарғона тонг отгунча”, “Самарқанд ушшоғи”, “Феруз”, “Чапандози сувора”, “Доғиман доғи”, “Эй сабо”, “Кўчамдан жанон ўтганда”, “Кўзларингни яширма”, “Ошиқ бўлинг”, “Аста-аста”, “Ўзбекистон”, “Ёр кел” ва бошқалар. Ё. Сагдиев “Эътироф 2022” миллий мукофотининг “Йил актёри” номинациясида ғолиб деб топилди.</a:t>
                      </a:r>
                      <a:r>
                        <a:rPr lang="ru-RU"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Дубляжда 500 дан ортиқ фильмларга овоз берган. Халқ эътиборига тушган таниқли актёрлардан.</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327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398080">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Tree>
    <p:extLst>
      <p:ext uri="{BB962C8B-B14F-4D97-AF65-F5344CB8AC3E}">
        <p14:creationId xmlns:p14="http://schemas.microsoft.com/office/powerpoint/2010/main" val="75128553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3"/>
          <a:ext cx="3427547" cy="5919657"/>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0660">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814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МУХАММАДЖОНОВ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814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Ботир</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814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Ахмедович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814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814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29.09.1964</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814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8378">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89380">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4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труппа</a:t>
                      </a:r>
                      <a:r>
                        <a:rPr lang="uz-Cyrl-UZ" sz="900" b="0" kern="1200" baseline="0" noProof="0" dirty="0" smtClean="0">
                          <a:solidFill>
                            <a:schemeClr val="tx1"/>
                          </a:solidFill>
                          <a:latin typeface="+mn-lt"/>
                          <a:ea typeface="+mn-ea"/>
                          <a:cs typeface="+mn-cs"/>
                        </a:rPr>
                        <a:t> бошлиғи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8378">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4567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МУХАММАДЖОНОВ</a:t>
                      </a:r>
                      <a:r>
                        <a:rPr lang="uz-Cyrl-UZ" sz="900" b="1" kern="1200" baseline="0" noProof="0" dirty="0" smtClean="0">
                          <a:solidFill>
                            <a:schemeClr val="tx1"/>
                          </a:solidFill>
                          <a:latin typeface="+mn-lt"/>
                          <a:ea typeface="+mn-ea"/>
                          <a:cs typeface="Arial" panose="020B0604020202020204" pitchFamily="34" charset="0"/>
                        </a:rPr>
                        <a:t> Ахмад</a:t>
                      </a:r>
                    </a:p>
                    <a:p>
                      <a:pPr algn="l">
                        <a:lnSpc>
                          <a:spcPct val="85000"/>
                        </a:lnSpc>
                      </a:pPr>
                      <a:r>
                        <a:rPr lang="uz-Cyrl-UZ" sz="900" b="1" kern="1200" baseline="0" noProof="0" dirty="0" smtClean="0">
                          <a:solidFill>
                            <a:schemeClr val="tx1"/>
                          </a:solidFill>
                          <a:latin typeface="+mn-lt"/>
                          <a:ea typeface="+mn-ea"/>
                          <a:cs typeface="Arial" panose="020B0604020202020204" pitchFamily="34" charset="0"/>
                        </a:rPr>
                        <a:t>Тулаганович</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1933 йил, Тошкент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2000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Тошкент</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шаҳри</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чарм</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ишлаб</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чиқариш</a:t>
                      </a:r>
                      <a:r>
                        <a:rPr lang="ru-RU" sz="900" b="0" kern="1200" baseline="0" noProof="0" dirty="0" smtClean="0">
                          <a:solidFill>
                            <a:schemeClr val="tx1"/>
                          </a:solidFill>
                          <a:latin typeface="+mn-lt"/>
                          <a:ea typeface="+mn-ea"/>
                          <a:cs typeface="Arial" panose="020B0604020202020204" pitchFamily="34" charset="0"/>
                        </a:rPr>
                        <a:t> заводи </a:t>
                      </a:r>
                      <a:r>
                        <a:rPr lang="ru-RU" sz="900" b="0" kern="1200" baseline="0" noProof="0" dirty="0" err="1" smtClean="0">
                          <a:solidFill>
                            <a:schemeClr val="tx1"/>
                          </a:solidFill>
                          <a:latin typeface="+mn-lt"/>
                          <a:ea typeface="+mn-ea"/>
                          <a:cs typeface="Arial" panose="020B0604020202020204" pitchFamily="34" charset="0"/>
                        </a:rPr>
                        <a:t>бичувчиси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45674">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МУХАММАДЖОНОВА Гўзал</a:t>
                      </a:r>
                      <a:r>
                        <a:rPr lang="uz-Cyrl-UZ" sz="900" b="1" kern="1200" baseline="0" noProof="0" dirty="0" smtClean="0">
                          <a:solidFill>
                            <a:schemeClr val="tx1"/>
                          </a:solidFill>
                          <a:latin typeface="+mn-lt"/>
                          <a:ea typeface="+mn-ea"/>
                          <a:cs typeface="Arial" panose="020B0604020202020204" pitchFamily="34" charset="0"/>
                        </a:rPr>
                        <a:t> Ғуломовна</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1940 йил, Тошкент</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1999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(139-сонли</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умумтаълим</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мактаб</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ўқитувчиси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89380">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МУХАММАДЖОНОВА Захро Сотвалдиевна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1968</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Ўзбекистон Давлат Консерваториясида</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ўқитувчи (профессор)</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5348">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60507">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1985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baseline="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baseline="0" noProof="0" dirty="0" smtClean="0">
                          <a:solidFill>
                            <a:schemeClr val="tx1"/>
                          </a:solidFill>
                          <a:latin typeface="+mn-lt"/>
                          <a:ea typeface="+mn-ea"/>
                          <a:cs typeface="+mn-cs"/>
                        </a:rPr>
                        <a:t>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4641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0772">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0772">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89482">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92"/>
          <a:ext cx="2922827" cy="5919668"/>
        </p:xfrm>
        <a:graphic>
          <a:graphicData uri="http://schemas.openxmlformats.org/drawingml/2006/table">
            <a:tbl>
              <a:tblPr firstRow="1" bandRow="1">
                <a:tableStyleId>{C083E6E3-FA7D-4D7B-A595-EF9225AFEA82}</a:tableStyleId>
              </a:tblPr>
              <a:tblGrid>
                <a:gridCol w="1379262">
                  <a:extLst>
                    <a:ext uri="{9D8B030D-6E8A-4147-A177-3AD203B41FA5}">
                      <a16:colId xmlns:a16="http://schemas.microsoft.com/office/drawing/2014/main" val="2715609854"/>
                    </a:ext>
                  </a:extLst>
                </a:gridCol>
                <a:gridCol w="1543565">
                  <a:extLst>
                    <a:ext uri="{9D8B030D-6E8A-4147-A177-3AD203B41FA5}">
                      <a16:colId xmlns:a16="http://schemas.microsoft.com/office/drawing/2014/main" val="546443978"/>
                    </a:ext>
                  </a:extLst>
                </a:gridCol>
              </a:tblGrid>
              <a:tr h="342058">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64015">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1990 йилдан буён </a:t>
                      </a:r>
                      <a:r>
                        <a:rPr lang="uz-Cyrl-UZ" sz="900" b="1" kern="1200" dirty="0" smtClean="0">
                          <a:solidFill>
                            <a:schemeClr val="tx1"/>
                          </a:solidFill>
                          <a:effectLst/>
                          <a:latin typeface="+mn-lt"/>
                          <a:ea typeface="+mn-ea"/>
                          <a:cs typeface="+mn-cs"/>
                        </a:rPr>
                        <a:t>Ўзбек Миллий Академик драма театри труппа</a:t>
                      </a:r>
                      <a:r>
                        <a:rPr lang="uz-Cyrl-UZ" sz="900" b="1" kern="1200" baseline="0" dirty="0" smtClean="0">
                          <a:solidFill>
                            <a:schemeClr val="tx1"/>
                          </a:solidFill>
                          <a:effectLst/>
                          <a:latin typeface="+mn-lt"/>
                          <a:ea typeface="+mn-ea"/>
                          <a:cs typeface="+mn-cs"/>
                        </a:rPr>
                        <a:t> бошлиғи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3883">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9518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40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518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35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37047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endParaRPr lang="ru-RU" sz="900" kern="1200" dirty="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9036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9036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55643">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0149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0270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258299">
                <a:tc gridSpan="2">
                  <a:txBody>
                    <a:bodyPr/>
                    <a:lstStyle/>
                    <a:p>
                      <a:r>
                        <a:rPr lang="uz-Cyrl-UZ" sz="900" kern="1200" dirty="0" smtClean="0">
                          <a:solidFill>
                            <a:schemeClr val="tx1"/>
                          </a:solidFill>
                          <a:effectLst/>
                          <a:latin typeface="+mn-lt"/>
                          <a:ea typeface="+mn-ea"/>
                          <a:cs typeface="+mn-cs"/>
                        </a:rPr>
                        <a:t>2004 й. “Ўзбекистон Республикасида хизмат кўрсатган артист” фахрий унвони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699843" y="869286"/>
          <a:ext cx="3067261" cy="5928966"/>
        </p:xfrm>
        <a:graphic>
          <a:graphicData uri="http://schemas.openxmlformats.org/drawingml/2006/table">
            <a:tbl>
              <a:tblPr firstRow="1" bandRow="1">
                <a:tableStyleId>{C083E6E3-FA7D-4D7B-A595-EF9225AFEA82}</a:tableStyleId>
              </a:tblPr>
              <a:tblGrid>
                <a:gridCol w="3067261">
                  <a:extLst>
                    <a:ext uri="{9D8B030D-6E8A-4147-A177-3AD203B41FA5}">
                      <a16:colId xmlns:a16="http://schemas.microsoft.com/office/drawing/2014/main" val="2715609854"/>
                    </a:ext>
                  </a:extLst>
                </a:gridCol>
              </a:tblGrid>
              <a:tr h="240733">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03032">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514930">
                <a:tc>
                  <a:txBody>
                    <a:bodyPr/>
                    <a:lstStyle/>
                    <a:p>
                      <a:pPr marL="0" indent="179388" algn="just"/>
                      <a:r>
                        <a:rPr lang="uz-Cyrl-UZ" sz="900" b="0" kern="1200" dirty="0" smtClean="0">
                          <a:solidFill>
                            <a:schemeClr val="tx1"/>
                          </a:solidFill>
                          <a:effectLst/>
                          <a:latin typeface="+mn-lt"/>
                          <a:ea typeface="+mn-ea"/>
                          <a:cs typeface="+mn-cs"/>
                        </a:rPr>
                        <a:t>Ботир Мухамеджанов Миллий театрда “Ҳазрати аёл”да йигит, “Кориолан” спектаклида саркарда, “Стамбул фожеаси” спектаклида йигит, “Мирзо Улуғбек”ида элчи, “Абулфайзхон”ида Давлат, “Зебунисо”да Малакқамбар, “Жар”да шайтон, “Уфқ”да аскар, “Ақл меъзони”да деҳқон, “Сабъаий Сайёр”да мулозим, “Ёрилтош”да йигит, “Сеҳрли танбур”да раққос йигит, “Муқаддас тахтизар”да вазир,  “Жиноят устидан ушлансин”да капитан, “Хотинлар гапидан чиққан хангома”сида Қувонч, “Ўтган кунлар”ида Мўмин милтиқ, “Машраб”ида вазир, “Чимилдиқда” куёв жўра, “Алишер Навоий”да Жомий, “Қулойим”да вазир, “Семурғ”да шайтон, “Ноёб нусха”да торозбон, “Тўмарис”да вазир, “Соҳибқирон Темур”да Клавихо, “Шум бола”да ошиқ йигит, “Аёлғу”да йигит каби кўплаб образларни меъёрига етказиб ижро этди.</a:t>
                      </a:r>
                    </a:p>
                    <a:p>
                      <a:pPr marL="0" indent="179388" algn="just"/>
                      <a:r>
                        <a:rPr lang="uz-Cyrl-UZ" sz="900" b="0" kern="1200" dirty="0" smtClean="0">
                          <a:solidFill>
                            <a:schemeClr val="tx1"/>
                          </a:solidFill>
                          <a:effectLst/>
                          <a:latin typeface="+mn-lt"/>
                          <a:ea typeface="+mn-ea"/>
                          <a:cs typeface="+mn-cs"/>
                        </a:rPr>
                        <a:t>Б. Мухамеджанов “Оталар сўзи ақлнинг кўзи” кўрсатувидан 300 дан ортиқ рол ижро этган.</a:t>
                      </a:r>
                    </a:p>
                    <a:p>
                      <a:pPr marL="0" indent="179388" algn="just"/>
                      <a:r>
                        <a:rPr lang="uz-Cyrl-UZ" sz="900" b="0" kern="1200" dirty="0" smtClean="0">
                          <a:solidFill>
                            <a:schemeClr val="tx1"/>
                          </a:solidFill>
                          <a:effectLst/>
                          <a:latin typeface="+mn-lt"/>
                          <a:ea typeface="+mn-ea"/>
                          <a:cs typeface="+mn-cs"/>
                        </a:rPr>
                        <a:t>Жумладан: “Номус (1990)”, “Бурч”, “Домла”, “Кўнгил кўчалари”, “Бобур”, “Тойчоқ”, “Ой тутилган оқшом”, “Емирилган қоя”, “Сени излаб”, “Узоқ ва яқин йиллар”, “Қайтмас, “Иймон”, “Шабнам гули”, “Шайтанат”, “Ёш ёзувчининг кундалиги”, “Нажоткорлар”, “Узилмаган гул”, “Адвокатлар”, “Бой бўлма сахий бўл”, “Назира”, “Хўрланганлар”, “Севгимиз учун”, “Солиҳ”, “Ёлланган совчи”, “Қиз кўнгли”, “Чол ва набира”, “Сохта туйғу”, “Пароканда”, “Ёлғон дунё”, “Дилозорим”, “Остона”, “Оқ тулпор изидан”, “Дарахтлар қўшиғи”, “Менинг дадам масхарабоз”, “Қиз кўнгли”, “Муҳаббатим қисматим”, “Бурч”, “Малак”, “Фаришта”, “Туташ тақдирлари”, “Ғофур”, “Зебо”, “Адвокатлар”, “Кўнгил”, “Номус”, “Сабр”, “Юрагим сеники” каби фильм ва сериалларда хилма-хил такрорланмас образлар яратиб келмоқда.</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0176">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707203">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1028" name="Picture 4" descr="IMG_6762"/>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313921" y="1148299"/>
            <a:ext cx="773932" cy="10296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4222592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699"/>
          <a:ext cx="3427547" cy="5935057"/>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58965">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202451">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АЗИМОВ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245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Марат</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20245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Гафурович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202451">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20245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14.03.1945</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0245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45749">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526603">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3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саҳналаштирувчи</a:t>
                      </a:r>
                      <a:r>
                        <a:rPr lang="uz-Cyrl-UZ" sz="900" b="0" kern="1200" baseline="0" noProof="0" dirty="0" smtClean="0">
                          <a:solidFill>
                            <a:schemeClr val="tx1"/>
                          </a:solidFill>
                          <a:latin typeface="+mn-lt"/>
                          <a:ea typeface="+mn-ea"/>
                          <a:cs typeface="+mn-cs"/>
                        </a:rPr>
                        <a:t> режиссёр</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45749">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52988">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АЗИМОВ</a:t>
                      </a:r>
                      <a:r>
                        <a:rPr lang="uz-Cyrl-UZ" sz="900" b="1" kern="1200" baseline="0" noProof="0" dirty="0" smtClean="0">
                          <a:solidFill>
                            <a:schemeClr val="tx1"/>
                          </a:solidFill>
                          <a:latin typeface="+mn-lt"/>
                          <a:ea typeface="+mn-ea"/>
                          <a:cs typeface="Arial" panose="020B0604020202020204" pitchFamily="34" charset="0"/>
                        </a:rPr>
                        <a:t> Гафур</a:t>
                      </a:r>
                    </a:p>
                    <a:p>
                      <a:pPr algn="l">
                        <a:lnSpc>
                          <a:spcPct val="85000"/>
                        </a:lnSpc>
                      </a:pPr>
                      <a:r>
                        <a:rPr lang="uz-Cyrl-UZ" sz="900" b="0" kern="1200" noProof="0" dirty="0" smtClean="0">
                          <a:solidFill>
                            <a:schemeClr val="tx1"/>
                          </a:solidFill>
                          <a:latin typeface="+mn-lt"/>
                          <a:ea typeface="+mn-ea"/>
                          <a:cs typeface="Arial" panose="020B0604020202020204" pitchFamily="34" charset="0"/>
                        </a:rPr>
                        <a:t>1917 йил, Тошкент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1982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28-сонли ўрта умумтаълим мактаб</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ўқитувчиси </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42240">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АЗИМОВА Халима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1922 йил, Тошкент</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2008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уй</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342240">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АЗИМОВА Гулчехра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1947</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пенсияда,</a:t>
                      </a:r>
                      <a:r>
                        <a:rPr lang="uz-Cyrl-UZ" sz="900" kern="1200" baseline="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(уй бекаси)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20967">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494498">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1971й.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baseline="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baseline="0" noProof="0" dirty="0" smtClean="0">
                          <a:solidFill>
                            <a:schemeClr val="tx1"/>
                          </a:solidFill>
                          <a:latin typeface="+mn-lt"/>
                          <a:ea typeface="+mn-ea"/>
                          <a:cs typeface="+mn-cs"/>
                        </a:rPr>
                        <a:t>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377916">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 театр режиссёри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34411">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профессор</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34411">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43614">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93"/>
          <a:ext cx="3172841" cy="5935064"/>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5060">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746414">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2020 йилдан буён </a:t>
                      </a:r>
                      <a:r>
                        <a:rPr lang="uz-Cyrl-UZ" sz="900" b="1" kern="1200" dirty="0" smtClean="0">
                          <a:solidFill>
                            <a:schemeClr val="tx1"/>
                          </a:solidFill>
                          <a:effectLst/>
                          <a:latin typeface="+mn-lt"/>
                          <a:ea typeface="+mn-ea"/>
                          <a:cs typeface="+mn-cs"/>
                        </a:rPr>
                        <a:t>Ўзбек Миллий Академик драма театри саҳналаштирувчи</a:t>
                      </a:r>
                      <a:r>
                        <a:rPr lang="uz-Cyrl-UZ" sz="900" b="1" kern="1200" baseline="0" dirty="0" smtClean="0">
                          <a:solidFill>
                            <a:schemeClr val="tx1"/>
                          </a:solidFill>
                          <a:effectLst/>
                          <a:latin typeface="+mn-lt"/>
                          <a:ea typeface="+mn-ea"/>
                          <a:cs typeface="+mn-cs"/>
                        </a:rPr>
                        <a:t> режиссёр</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3534">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260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57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260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32222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just"/>
                      <a:endParaRPr lang="ru-RU" sz="900" kern="1200" dirty="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05205">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05205">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05205">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02603">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0405">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213999">
                <a:tc gridSpan="2">
                  <a:txBody>
                    <a:bodyPr/>
                    <a:lstStyle/>
                    <a:p>
                      <a:r>
                        <a:rPr lang="uz-Cyrl-UZ" sz="900" kern="1200" dirty="0" smtClean="0">
                          <a:solidFill>
                            <a:schemeClr val="tx1"/>
                          </a:solidFill>
                          <a:effectLst/>
                          <a:latin typeface="+mn-lt"/>
                          <a:ea typeface="+mn-ea"/>
                          <a:cs typeface="+mn-cs"/>
                        </a:rPr>
                        <a:t>1995 й. “Ўзбекистон Республикасида хизмат кўрсатган артист”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2003 й. Қорақалпоғистон санъат арбоби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2005 й. “Дўстлик” ордени </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8"/>
          <a:ext cx="2817247" cy="5939908"/>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48888">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5773">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361619">
                <a:tc>
                  <a:txBody>
                    <a:bodyPr/>
                    <a:lstStyle/>
                    <a:p>
                      <a:pPr marL="0" indent="179388" algn="just"/>
                      <a:r>
                        <a:rPr lang="uz-Cyrl-UZ" sz="900" b="0" kern="1200" dirty="0" smtClean="0">
                          <a:solidFill>
                            <a:schemeClr val="tx1"/>
                          </a:solidFill>
                          <a:effectLst/>
                          <a:latin typeface="+mn-lt"/>
                          <a:ea typeface="+mn-ea"/>
                          <a:cs typeface="+mn-cs"/>
                        </a:rPr>
                        <a:t>Марат Азимов Миллий театрда саҳналаштирган “Абулфайзхон”, “Муҳаббат султони”, “Ер ёнганда”, “Саббаи Сайёр”, “Жиноят устида ушлансин”, “Юрак операцияси”, “Ноёб нусха”, “Нажот истаб”, “Хотинлар гапидан чиққан ҳангома”, “Семурғ”, “Амир Темур”, “Афандининг беш хотини”, “Беш кунлик куёв”, “Нексия”, “Талваса”, “Уч кунлик дунё”, “Омонат дунё”, “Кундош”, “Сизсиз ўтмас кунларим”, “Йиғлома қиз”, “Ўткан кунлар”, “Имон”, “Истиқбол сари”, “Абай”, Ўжарлар”, “Садоқат билан... (Офицерлар)”, “Усмон Носир”, “Эр-хотиннинг уруши” каби спектакллари томошабинлар меҳрини қозонди.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Бундан ташқари, Жиззах вилояти мусиқали драма театрида “Амир Темур”, Фарғона вилояти мусиқали драма театрида “Ал Фарғоний”, “Алишер Навоий ва Байқаро”, “Уфқ”, Қозоғистон Республикаси, Чимкент шаҳридаги Сайрам Ўзбек драма театрида “Алишер Навоий ва Байқаро” каби спектаклларни саҳналаштирган.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Марат Азимов истеъдодли актёр сифатида театр саҳнасида 50 дан ортиқ роллар ижро этди. “Комиссия” спектаклида оддий солдат, “Аризасига кўра”да Элёр, “Юлдузли тунлар”да Тоҳир, “Абу Али Ибн Сино”да Соғиндиқ, “Ҳаёт шоми”да Эдмонд, “Қароқчилар”да Шуфтерле, “Қалби олов”да Колубов, “Мен Чиллига ишонаман”да Чичков, “Ой тутинган тун”да оқ йигит, “Эшик ортидаги аёл” Мансур, “Тарих тилга кирди”да “қўрқмас, “Қор маликаси”да Шаҳзода, “Нель минораси”да қароқчи, “Аяжонларим”да доктор, “Ғариблар”да кичик ўғил, “Шакунталла”да Соҳиб каби ранг-баранг образлар яратиб томошабинлар қалбидан чуқур ўрин эгаллади.</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4630">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731160">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1027" name="Picture 3" descr="img20200310_16020982"/>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77685" y="1198896"/>
            <a:ext cx="781993" cy="1044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8924115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948906"/>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559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069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АЗИМОВ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069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Усмонқул</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069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ХХХ</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069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069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13.08.1959</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069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Сурхондарё 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3059">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89745">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3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адабий эмакдоши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3059">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45058">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baseline="0" noProof="0" dirty="0" smtClean="0">
                          <a:solidFill>
                            <a:schemeClr val="tx1"/>
                          </a:solidFill>
                          <a:latin typeface="+mn-lt"/>
                          <a:ea typeface="+mn-ea"/>
                          <a:cs typeface="Arial" panose="020B0604020202020204" pitchFamily="34" charset="0"/>
                        </a:rPr>
                        <a:t>АННАҚУЛОВ Азим</a:t>
                      </a:r>
                    </a:p>
                    <a:p>
                      <a:pPr algn="l">
                        <a:lnSpc>
                          <a:spcPct val="85000"/>
                        </a:lnSpc>
                      </a:pPr>
                      <a:r>
                        <a:rPr lang="uz-Cyrl-UZ" sz="900" b="0" kern="1200" noProof="0" dirty="0" smtClean="0">
                          <a:solidFill>
                            <a:schemeClr val="tx1"/>
                          </a:solidFill>
                          <a:latin typeface="+mn-lt"/>
                          <a:ea typeface="+mn-ea"/>
                          <a:cs typeface="Arial" panose="020B0604020202020204" pitchFamily="34" charset="0"/>
                        </a:rPr>
                        <a:t>1897 йил, Сурхондарё</a:t>
                      </a:r>
                      <a:r>
                        <a:rPr lang="uz-Cyrl-UZ" sz="900" b="0" kern="1200" baseline="0" noProof="0" dirty="0" smtClean="0">
                          <a:solidFill>
                            <a:schemeClr val="tx1"/>
                          </a:solidFill>
                          <a:latin typeface="+mn-lt"/>
                          <a:ea typeface="+mn-ea"/>
                          <a:cs typeface="Arial" panose="020B0604020202020204" pitchFamily="34" charset="0"/>
                        </a:rPr>
                        <a:t> вилояти</a:t>
                      </a:r>
                      <a:endParaRPr lang="uz-Cyrl-UZ"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1953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Солиқ назорт ходими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5956">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ХОЛИЁРОВА Менглихон</a:t>
                      </a:r>
                    </a:p>
                    <a:p>
                      <a:pPr algn="l">
                        <a:lnSpc>
                          <a:spcPct val="85000"/>
                        </a:lnSpc>
                      </a:pPr>
                      <a:r>
                        <a:rPr lang="uz-Cyrl-UZ" sz="900" b="0" kern="1200" noProof="0" dirty="0" smtClean="0">
                          <a:solidFill>
                            <a:schemeClr val="tx1"/>
                          </a:solidFill>
                          <a:latin typeface="+mn-lt"/>
                          <a:ea typeface="+mn-ea"/>
                          <a:cs typeface="Arial" panose="020B0604020202020204" pitchFamily="34" charset="0"/>
                        </a:rPr>
                        <a:t>1917 йил, Сурхондарё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2003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уй</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5956">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АЗИМОВА Раъно Усмоновна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1951</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Наманган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пенсияда,</a:t>
                      </a:r>
                      <a:r>
                        <a:rPr lang="uz-Cyrl-UZ" sz="900" kern="1200" baseline="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(“Чўлпон” нашриёти муҳаррири)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9557">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9909">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1972й.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давлат</a:t>
                      </a:r>
                      <a:r>
                        <a:rPr lang="ru-RU" sz="900" b="0" kern="1200" baseline="0" noProof="0" dirty="0" smtClean="0">
                          <a:solidFill>
                            <a:schemeClr val="tx1"/>
                          </a:solidFill>
                          <a:latin typeface="+mn-lt"/>
                          <a:ea typeface="+mn-ea"/>
                          <a:cs typeface="+mn-cs"/>
                        </a:rPr>
                        <a:t> </a:t>
                      </a:r>
                      <a:r>
                        <a:rPr lang="ru-RU" sz="900" b="0" kern="1200" baseline="0" noProof="0" dirty="0" err="1" smtClean="0">
                          <a:solidFill>
                            <a:schemeClr val="tx1"/>
                          </a:solidFill>
                          <a:latin typeface="+mn-lt"/>
                          <a:ea typeface="+mn-ea"/>
                          <a:cs typeface="+mn-cs"/>
                        </a:rPr>
                        <a:t>университети</a:t>
                      </a:r>
                      <a:r>
                        <a:rPr lang="ru-RU" sz="900" b="0" kern="1200" baseline="0" noProof="0" dirty="0" smtClean="0">
                          <a:solidFill>
                            <a:schemeClr val="tx1"/>
                          </a:solidFill>
                          <a:latin typeface="+mn-lt"/>
                          <a:ea typeface="+mn-ea"/>
                          <a:cs typeface="+mn-cs"/>
                        </a:rPr>
                        <a:t>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6923">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журналист</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6098">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профессор</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6098">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7707">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7" y="865691"/>
          <a:ext cx="3187746" cy="5948918"/>
        </p:xfrm>
        <a:graphic>
          <a:graphicData uri="http://schemas.openxmlformats.org/drawingml/2006/table">
            <a:tbl>
              <a:tblPr firstRow="1" bandRow="1">
                <a:tableStyleId>{C083E6E3-FA7D-4D7B-A595-EF9225AFEA82}</a:tableStyleId>
              </a:tblPr>
              <a:tblGrid>
                <a:gridCol w="1504276">
                  <a:extLst>
                    <a:ext uri="{9D8B030D-6E8A-4147-A177-3AD203B41FA5}">
                      <a16:colId xmlns:a16="http://schemas.microsoft.com/office/drawing/2014/main" val="2715609854"/>
                    </a:ext>
                  </a:extLst>
                </a:gridCol>
                <a:gridCol w="1683470">
                  <a:extLst>
                    <a:ext uri="{9D8B030D-6E8A-4147-A177-3AD203B41FA5}">
                      <a16:colId xmlns:a16="http://schemas.microsoft.com/office/drawing/2014/main" val="546443978"/>
                    </a:ext>
                  </a:extLst>
                </a:gridCol>
              </a:tblGrid>
              <a:tr h="307889">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602726">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2003 йилдан буён </a:t>
                      </a:r>
                      <a:r>
                        <a:rPr lang="uz-Cyrl-UZ" sz="900" b="1" kern="1200" dirty="0" smtClean="0">
                          <a:solidFill>
                            <a:schemeClr val="tx1"/>
                          </a:solidFill>
                          <a:effectLst/>
                          <a:latin typeface="+mn-lt"/>
                          <a:ea typeface="+mn-ea"/>
                          <a:cs typeface="+mn-cs"/>
                        </a:rPr>
                        <a:t>Ўзбек Миллий Академик драма театри адабий эмакдоши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2852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7568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57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7568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smtClean="0">
                          <a:effectLst/>
                          <a:latin typeface="+mn-lt"/>
                          <a:ea typeface="Calibri" panose="020F0502020204030204" pitchFamily="34" charset="0"/>
                          <a:cs typeface="Times New Roman" panose="02020603050405020304" pitchFamily="18" charset="0"/>
                        </a:rPr>
                        <a:t>9 йил</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64206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smtClean="0">
                          <a:solidFill>
                            <a:schemeClr val="tx1"/>
                          </a:solidFill>
                          <a:effectLst/>
                          <a:latin typeface="+mn-lt"/>
                          <a:ea typeface="+mn-ea"/>
                          <a:cs typeface="+mn-cs"/>
                        </a:rPr>
                        <a:t>1991-1994 йй. – Ўзбекистон Республикаси Президентининг аппаратида Президентнинг Давлат маслахатчиси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1995-1999 йй. – “Савдогар” рўзномаси бош мухаррирининг 1-чи ўринбосари</a:t>
                      </a:r>
                      <a:endParaRPr lang="ru-RU" sz="900" kern="1200" dirty="0" smtClean="0">
                        <a:solidFill>
                          <a:schemeClr val="tx1"/>
                        </a:solidFill>
                        <a:effectLst/>
                        <a:latin typeface="+mn-lt"/>
                        <a:ea typeface="+mn-ea"/>
                        <a:cs typeface="+mn-cs"/>
                      </a:endParaRPr>
                    </a:p>
                    <a:p>
                      <a:pPr algn="just"/>
                      <a:endParaRPr lang="ru-RU" sz="900" kern="1200" dirty="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5137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5137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527058">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5137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82452">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052714">
                <a:tc gridSpan="2">
                  <a:txBody>
                    <a:bodyPr/>
                    <a:lstStyle/>
                    <a:p>
                      <a:r>
                        <a:rPr lang="uz-Cyrl-UZ" sz="900" kern="1200" dirty="0" smtClean="0">
                          <a:solidFill>
                            <a:schemeClr val="tx1"/>
                          </a:solidFill>
                          <a:effectLst/>
                          <a:latin typeface="+mn-lt"/>
                          <a:ea typeface="+mn-ea"/>
                          <a:cs typeface="+mn-cs"/>
                        </a:rPr>
                        <a:t>2000 й. “Ўзбекистон Республикаси халқ  шоири”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2020 й. “Эл-юрт ҳурмати” ордени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6"/>
          <a:ext cx="2817247" cy="5959926"/>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27659">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0350">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558821">
                <a:tc>
                  <a:txBody>
                    <a:bodyPr/>
                    <a:lstStyle/>
                    <a:p>
                      <a:pPr marL="0" indent="179388" algn="just"/>
                      <a:r>
                        <a:rPr lang="uz-Cyrl-UZ" sz="900" kern="1200" dirty="0" smtClean="0">
                          <a:solidFill>
                            <a:schemeClr val="tx1"/>
                          </a:solidFill>
                          <a:effectLst/>
                          <a:latin typeface="+mn-lt"/>
                          <a:ea typeface="+mn-ea"/>
                          <a:cs typeface="+mn-cs"/>
                        </a:rPr>
                        <a:t>“</a:t>
                      </a:r>
                      <a:r>
                        <a:rPr lang="uz-Cyrl-UZ" sz="900" b="0" kern="1200" dirty="0" smtClean="0">
                          <a:solidFill>
                            <a:schemeClr val="tx1"/>
                          </a:solidFill>
                          <a:effectLst/>
                          <a:latin typeface="+mn-lt"/>
                          <a:ea typeface="+mn-ea"/>
                          <a:cs typeface="+mn-cs"/>
                        </a:rPr>
                        <a:t>Офарин” мукофоти совриндори.</a:t>
                      </a:r>
                      <a:endParaRPr lang="ru-RU" sz="900" b="0" kern="1200" dirty="0" smtClean="0">
                        <a:solidFill>
                          <a:schemeClr val="tx1"/>
                        </a:solidFill>
                        <a:effectLst/>
                        <a:latin typeface="+mn-lt"/>
                        <a:ea typeface="+mn-ea"/>
                        <a:cs typeface="+mn-cs"/>
                      </a:endParaRPr>
                    </a:p>
                    <a:p>
                      <a:pPr marL="0" indent="179388" algn="just"/>
                      <a:r>
                        <a:rPr lang="ru-RU" sz="900" b="0" kern="1200" dirty="0" smtClean="0">
                          <a:solidFill>
                            <a:schemeClr val="tx1"/>
                          </a:solidFill>
                          <a:effectLst/>
                          <a:latin typeface="+mn-lt"/>
                          <a:ea typeface="+mn-ea"/>
                          <a:cs typeface="+mn-cs"/>
                        </a:rPr>
                        <a:t>1979 </a:t>
                      </a:r>
                      <a:r>
                        <a:rPr lang="ru-RU" sz="900" b="0" kern="1200" dirty="0" err="1" smtClean="0">
                          <a:solidFill>
                            <a:schemeClr val="tx1"/>
                          </a:solidFill>
                          <a:effectLst/>
                          <a:latin typeface="+mn-lt"/>
                          <a:ea typeface="+mn-ea"/>
                          <a:cs typeface="+mn-cs"/>
                        </a:rPr>
                        <a:t>йилда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илк</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шеърий</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китоби</a:t>
                      </a:r>
                      <a:r>
                        <a:rPr lang="ru-RU" sz="900" b="0" kern="1200" dirty="0" smtClean="0">
                          <a:solidFill>
                            <a:schemeClr val="tx1"/>
                          </a:solidFill>
                          <a:effectLst/>
                          <a:latin typeface="+mn-lt"/>
                          <a:ea typeface="+mn-ea"/>
                          <a:cs typeface="+mn-cs"/>
                        </a:rPr>
                        <a:t> - "</a:t>
                      </a:r>
                      <a:r>
                        <a:rPr lang="ru-RU" sz="900" b="0" kern="1200" dirty="0" err="1" smtClean="0">
                          <a:solidFill>
                            <a:schemeClr val="tx1"/>
                          </a:solidFill>
                          <a:effectLst/>
                          <a:latin typeface="+mn-lt"/>
                          <a:ea typeface="+mn-ea"/>
                          <a:cs typeface="+mn-cs"/>
                        </a:rPr>
                        <a:t>Инсонни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тушиниш</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чоп</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этилган</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Шундан</a:t>
                      </a:r>
                      <a:r>
                        <a:rPr lang="ru-RU" sz="900" b="0" kern="1200" dirty="0" smtClean="0">
                          <a:solidFill>
                            <a:schemeClr val="tx1"/>
                          </a:solidFill>
                          <a:effectLst/>
                          <a:latin typeface="+mn-lt"/>
                          <a:ea typeface="+mn-ea"/>
                          <a:cs typeface="+mn-cs"/>
                        </a:rPr>
                        <a:t> с</a:t>
                      </a:r>
                      <a:r>
                        <a:rPr lang="uz-Cyrl-UZ" sz="900" b="0" kern="1200" dirty="0" smtClean="0">
                          <a:solidFill>
                            <a:schemeClr val="tx1"/>
                          </a:solidFill>
                          <a:effectLst/>
                          <a:latin typeface="+mn-lt"/>
                          <a:ea typeface="+mn-ea"/>
                          <a:cs typeface="+mn-cs"/>
                        </a:rPr>
                        <a:t>ў</a:t>
                      </a:r>
                      <a:r>
                        <a:rPr lang="ru-RU" sz="900" b="0" kern="1200" dirty="0" err="1" smtClean="0">
                          <a:solidFill>
                            <a:schemeClr val="tx1"/>
                          </a:solidFill>
                          <a:effectLst/>
                          <a:latin typeface="+mn-lt"/>
                          <a:ea typeface="+mn-ea"/>
                          <a:cs typeface="+mn-cs"/>
                        </a:rPr>
                        <a:t>нг</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Ҳ</a:t>
                      </a:r>
                      <a:r>
                        <a:rPr lang="ru-RU" sz="900" b="0" kern="1200" dirty="0" err="1" smtClean="0">
                          <a:solidFill>
                            <a:schemeClr val="tx1"/>
                          </a:solidFill>
                          <a:effectLst/>
                          <a:latin typeface="+mn-lt"/>
                          <a:ea typeface="+mn-ea"/>
                          <a:cs typeface="+mn-cs"/>
                        </a:rPr>
                        <a:t>олат</a:t>
                      </a:r>
                      <a:r>
                        <a:rPr lang="ru-RU" sz="900" b="0" kern="1200" dirty="0" smtClean="0">
                          <a:solidFill>
                            <a:schemeClr val="tx1"/>
                          </a:solidFill>
                          <a:effectLst/>
                          <a:latin typeface="+mn-lt"/>
                          <a:ea typeface="+mn-ea"/>
                          <a:cs typeface="+mn-cs"/>
                        </a:rPr>
                        <a:t>" (1979</a:t>
                      </a:r>
                      <a:r>
                        <a:rPr lang="uz-Cyrl-UZ" sz="900" b="0" kern="1200" dirty="0" smtClean="0">
                          <a:solidFill>
                            <a:schemeClr val="tx1"/>
                          </a:solidFill>
                          <a:effectLst/>
                          <a:latin typeface="+mn-lt"/>
                          <a:ea typeface="+mn-ea"/>
                          <a:cs typeface="+mn-cs"/>
                        </a:rPr>
                        <a:t> йил</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Оқибат</a:t>
                      </a:r>
                      <a:r>
                        <a:rPr lang="ru-RU" sz="900" b="0" kern="1200" dirty="0" smtClean="0">
                          <a:solidFill>
                            <a:schemeClr val="tx1"/>
                          </a:solidFill>
                          <a:effectLst/>
                          <a:latin typeface="+mn-lt"/>
                          <a:ea typeface="+mn-ea"/>
                          <a:cs typeface="+mn-cs"/>
                        </a:rPr>
                        <a:t>" (1980), "К</a:t>
                      </a:r>
                      <a:r>
                        <a:rPr lang="uz-Cyrl-UZ" sz="900" b="0" kern="1200" dirty="0" smtClean="0">
                          <a:solidFill>
                            <a:schemeClr val="tx1"/>
                          </a:solidFill>
                          <a:effectLst/>
                          <a:latin typeface="+mn-lt"/>
                          <a:ea typeface="+mn-ea"/>
                          <a:cs typeface="+mn-cs"/>
                        </a:rPr>
                        <a:t>ў</a:t>
                      </a:r>
                      <a:r>
                        <a:rPr lang="ru-RU" sz="900" b="0" kern="1200" dirty="0" err="1" smtClean="0">
                          <a:solidFill>
                            <a:schemeClr val="tx1"/>
                          </a:solidFill>
                          <a:effectLst/>
                          <a:latin typeface="+mn-lt"/>
                          <a:ea typeface="+mn-ea"/>
                          <a:cs typeface="+mn-cs"/>
                        </a:rPr>
                        <a:t>згу</a:t>
                      </a:r>
                      <a:r>
                        <a:rPr lang="ru-RU" sz="900" b="0" kern="1200" dirty="0" smtClean="0">
                          <a:solidFill>
                            <a:schemeClr val="tx1"/>
                          </a:solidFill>
                          <a:effectLst/>
                          <a:latin typeface="+mn-lt"/>
                          <a:ea typeface="+mn-ea"/>
                          <a:cs typeface="+mn-cs"/>
                        </a:rPr>
                        <a:t>" (1983), "</a:t>
                      </a:r>
                      <a:r>
                        <a:rPr lang="ru-RU" sz="900" b="0" kern="1200" dirty="0" err="1" smtClean="0">
                          <a:solidFill>
                            <a:schemeClr val="tx1"/>
                          </a:solidFill>
                          <a:effectLst/>
                          <a:latin typeface="+mn-lt"/>
                          <a:ea typeface="+mn-ea"/>
                          <a:cs typeface="+mn-cs"/>
                        </a:rPr>
                        <a:t>Сурат</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парчалари</a:t>
                      </a:r>
                      <a:r>
                        <a:rPr lang="ru-RU" sz="900" b="0" kern="1200" dirty="0" smtClean="0">
                          <a:solidFill>
                            <a:schemeClr val="tx1"/>
                          </a:solidFill>
                          <a:effectLst/>
                          <a:latin typeface="+mn-lt"/>
                          <a:ea typeface="+mn-ea"/>
                          <a:cs typeface="+mn-cs"/>
                        </a:rPr>
                        <a:t> (1985), "</a:t>
                      </a:r>
                      <a:r>
                        <a:rPr lang="ru-RU" sz="900" b="0" kern="1200" dirty="0" err="1" smtClean="0">
                          <a:solidFill>
                            <a:schemeClr val="tx1"/>
                          </a:solidFill>
                          <a:effectLst/>
                          <a:latin typeface="+mn-lt"/>
                          <a:ea typeface="+mn-ea"/>
                          <a:cs typeface="+mn-cs"/>
                        </a:rPr>
                        <a:t>Дарс</a:t>
                      </a:r>
                      <a:r>
                        <a:rPr lang="ru-RU" sz="900" b="0" kern="1200" dirty="0" smtClean="0">
                          <a:solidFill>
                            <a:schemeClr val="tx1"/>
                          </a:solidFill>
                          <a:effectLst/>
                          <a:latin typeface="+mn-lt"/>
                          <a:ea typeface="+mn-ea"/>
                          <a:cs typeface="+mn-cs"/>
                        </a:rPr>
                        <a:t>" (1985), "</a:t>
                      </a:r>
                      <a:r>
                        <a:rPr lang="ru-RU" sz="900" b="0" kern="1200" dirty="0" err="1" smtClean="0">
                          <a:solidFill>
                            <a:schemeClr val="tx1"/>
                          </a:solidFill>
                          <a:effectLst/>
                          <a:latin typeface="+mn-lt"/>
                          <a:ea typeface="+mn-ea"/>
                          <a:cs typeface="+mn-cs"/>
                        </a:rPr>
                        <a:t>Иккинчи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апрел</a:t>
                      </a:r>
                      <a:r>
                        <a:rPr lang="ru-RU" sz="900" b="0" kern="1200" dirty="0" smtClean="0">
                          <a:solidFill>
                            <a:schemeClr val="tx1"/>
                          </a:solidFill>
                          <a:effectLst/>
                          <a:latin typeface="+mn-lt"/>
                          <a:ea typeface="+mn-ea"/>
                          <a:cs typeface="+mn-cs"/>
                        </a:rPr>
                        <a:t>" (1987), "</a:t>
                      </a:r>
                      <a:r>
                        <a:rPr lang="ru-RU" sz="900" b="0" kern="1200" dirty="0" err="1" smtClean="0">
                          <a:solidFill>
                            <a:schemeClr val="tx1"/>
                          </a:solidFill>
                          <a:effectLst/>
                          <a:latin typeface="+mn-lt"/>
                          <a:ea typeface="+mn-ea"/>
                          <a:cs typeface="+mn-cs"/>
                        </a:rPr>
                        <a:t>Бахшиёна</a:t>
                      </a:r>
                      <a:r>
                        <a:rPr lang="ru-RU" sz="900" b="0" kern="1200" dirty="0" smtClean="0">
                          <a:solidFill>
                            <a:schemeClr val="tx1"/>
                          </a:solidFill>
                          <a:effectLst/>
                          <a:latin typeface="+mn-lt"/>
                          <a:ea typeface="+mn-ea"/>
                          <a:cs typeface="+mn-cs"/>
                        </a:rPr>
                        <a:t>" (1989), "</a:t>
                      </a:r>
                      <a:r>
                        <a:rPr lang="uz-Cyrl-UZ" sz="900" b="0" kern="1200" dirty="0" smtClean="0">
                          <a:solidFill>
                            <a:schemeClr val="tx1"/>
                          </a:solidFill>
                          <a:effectLst/>
                          <a:latin typeface="+mn-lt"/>
                          <a:ea typeface="+mn-ea"/>
                          <a:cs typeface="+mn-cs"/>
                        </a:rPr>
                        <a:t>Ғ</a:t>
                      </a:r>
                      <a:r>
                        <a:rPr lang="ru-RU" sz="900" b="0" kern="1200" dirty="0" err="1" smtClean="0">
                          <a:solidFill>
                            <a:schemeClr val="tx1"/>
                          </a:solidFill>
                          <a:effectLst/>
                          <a:latin typeface="+mn-lt"/>
                          <a:ea typeface="+mn-ea"/>
                          <a:cs typeface="+mn-cs"/>
                        </a:rPr>
                        <a:t>аройиб</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аждаро</a:t>
                      </a:r>
                      <a:r>
                        <a:rPr lang="ru-RU" sz="900" b="0" kern="1200" dirty="0" smtClean="0">
                          <a:solidFill>
                            <a:schemeClr val="tx1"/>
                          </a:solidFill>
                          <a:effectLst/>
                          <a:latin typeface="+mn-lt"/>
                          <a:ea typeface="+mn-ea"/>
                          <a:cs typeface="+mn-cs"/>
                        </a:rPr>
                        <a:t>" (1990), "</a:t>
                      </a:r>
                      <a:r>
                        <a:rPr lang="ru-RU" sz="900" b="0" kern="1200" dirty="0" err="1" smtClean="0">
                          <a:solidFill>
                            <a:schemeClr val="tx1"/>
                          </a:solidFill>
                          <a:effectLst/>
                          <a:latin typeface="+mn-lt"/>
                          <a:ea typeface="+mn-ea"/>
                          <a:cs typeface="+mn-cs"/>
                        </a:rPr>
                        <a:t>Уйғониш</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азоби</a:t>
                      </a:r>
                      <a:r>
                        <a:rPr lang="ru-RU" sz="900" b="0" kern="1200" dirty="0" smtClean="0">
                          <a:solidFill>
                            <a:schemeClr val="tx1"/>
                          </a:solidFill>
                          <a:effectLst/>
                          <a:latin typeface="+mn-lt"/>
                          <a:ea typeface="+mn-ea"/>
                          <a:cs typeface="+mn-cs"/>
                        </a:rPr>
                        <a:t>" (1991), "</a:t>
                      </a:r>
                      <a:r>
                        <a:rPr lang="uz-Cyrl-UZ" sz="900" b="0" kern="1200" dirty="0" smtClean="0">
                          <a:solidFill>
                            <a:schemeClr val="tx1"/>
                          </a:solidFill>
                          <a:effectLst/>
                          <a:latin typeface="+mn-lt"/>
                          <a:ea typeface="+mn-ea"/>
                          <a:cs typeface="+mn-cs"/>
                        </a:rPr>
                        <a:t>Ғ</a:t>
                      </a:r>
                      <a:r>
                        <a:rPr lang="ru-RU" sz="900" b="0" kern="1200" dirty="0" err="1" smtClean="0">
                          <a:solidFill>
                            <a:schemeClr val="tx1"/>
                          </a:solidFill>
                          <a:effectLst/>
                          <a:latin typeface="+mn-lt"/>
                          <a:ea typeface="+mn-ea"/>
                          <a:cs typeface="+mn-cs"/>
                        </a:rPr>
                        <a:t>усса</a:t>
                      </a:r>
                      <a:r>
                        <a:rPr lang="ru-RU" sz="900" b="0" kern="1200" dirty="0" smtClean="0">
                          <a:solidFill>
                            <a:schemeClr val="tx1"/>
                          </a:solidFill>
                          <a:effectLst/>
                          <a:latin typeface="+mn-lt"/>
                          <a:ea typeface="+mn-ea"/>
                          <a:cs typeface="+mn-cs"/>
                        </a:rPr>
                        <a:t>" (1994), "Узун тун</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(1994), "Бор </a:t>
                      </a:r>
                      <a:r>
                        <a:rPr lang="ru-RU" sz="900" b="0" kern="1200" dirty="0" err="1" smtClean="0">
                          <a:solidFill>
                            <a:schemeClr val="tx1"/>
                          </a:solidFill>
                          <a:effectLst/>
                          <a:latin typeface="+mn-lt"/>
                          <a:ea typeface="+mn-ea"/>
                          <a:cs typeface="+mn-cs"/>
                        </a:rPr>
                        <a:t>эканда</a:t>
                      </a:r>
                      <a:r>
                        <a:rPr lang="ru-RU" sz="900" b="0" kern="1200" dirty="0" smtClean="0">
                          <a:solidFill>
                            <a:schemeClr val="tx1"/>
                          </a:solidFill>
                          <a:effectLst/>
                          <a:latin typeface="+mn-lt"/>
                          <a:ea typeface="+mn-ea"/>
                          <a:cs typeface="+mn-cs"/>
                        </a:rPr>
                        <a:t>, й</a:t>
                      </a:r>
                      <a:r>
                        <a:rPr lang="uz-Cyrl-UZ" sz="900" b="0" kern="1200" dirty="0" smtClean="0">
                          <a:solidFill>
                            <a:schemeClr val="tx1"/>
                          </a:solidFill>
                          <a:effectLst/>
                          <a:latin typeface="+mn-lt"/>
                          <a:ea typeface="+mn-ea"/>
                          <a:cs typeface="+mn-cs"/>
                        </a:rPr>
                        <a:t>ў</a:t>
                      </a:r>
                      <a:r>
                        <a:rPr lang="ru-RU" sz="900" b="0" kern="1200" dirty="0" smtClean="0">
                          <a:solidFill>
                            <a:schemeClr val="tx1"/>
                          </a:solidFill>
                          <a:effectLst/>
                          <a:latin typeface="+mn-lt"/>
                          <a:ea typeface="+mn-ea"/>
                          <a:cs typeface="+mn-cs"/>
                        </a:rPr>
                        <a:t>қ </a:t>
                      </a:r>
                      <a:r>
                        <a:rPr lang="ru-RU" sz="900" b="0" kern="1200" dirty="0" err="1" smtClean="0">
                          <a:solidFill>
                            <a:schemeClr val="tx1"/>
                          </a:solidFill>
                          <a:effectLst/>
                          <a:latin typeface="+mn-lt"/>
                          <a:ea typeface="+mn-ea"/>
                          <a:cs typeface="+mn-cs"/>
                        </a:rPr>
                        <a:t>экан</a:t>
                      </a:r>
                      <a:r>
                        <a:rPr lang="ru-RU" sz="900" b="0" kern="1200" dirty="0" smtClean="0">
                          <a:solidFill>
                            <a:schemeClr val="tx1"/>
                          </a:solidFill>
                          <a:effectLst/>
                          <a:latin typeface="+mn-lt"/>
                          <a:ea typeface="+mn-ea"/>
                          <a:cs typeface="+mn-cs"/>
                        </a:rPr>
                        <a:t>" (1995), "</a:t>
                      </a:r>
                      <a:r>
                        <a:rPr lang="ru-RU" sz="900" b="0" kern="1200" dirty="0" err="1" smtClean="0">
                          <a:solidFill>
                            <a:schemeClr val="tx1"/>
                          </a:solidFill>
                          <a:effectLst/>
                          <a:latin typeface="+mn-lt"/>
                          <a:ea typeface="+mn-ea"/>
                          <a:cs typeface="+mn-cs"/>
                        </a:rPr>
                        <a:t>Сайланма</a:t>
                      </a:r>
                      <a:r>
                        <a:rPr lang="ru-RU" sz="900" b="0" kern="1200" dirty="0" smtClean="0">
                          <a:solidFill>
                            <a:schemeClr val="tx1"/>
                          </a:solidFill>
                          <a:effectLst/>
                          <a:latin typeface="+mn-lt"/>
                          <a:ea typeface="+mn-ea"/>
                          <a:cs typeface="+mn-cs"/>
                        </a:rPr>
                        <a:t>" (1995), ”</a:t>
                      </a:r>
                      <a:r>
                        <a:rPr lang="ru-RU" sz="900" b="0" kern="1200" dirty="0" err="1" smtClean="0">
                          <a:solidFill>
                            <a:schemeClr val="tx1"/>
                          </a:solidFill>
                          <a:effectLst/>
                          <a:latin typeface="+mn-lt"/>
                          <a:ea typeface="+mn-ea"/>
                          <a:cs typeface="+mn-cs"/>
                        </a:rPr>
                        <a:t>Куз</a:t>
                      </a:r>
                      <a:r>
                        <a:rPr lang="ru-RU" sz="900" b="0" kern="1200" dirty="0" smtClean="0">
                          <a:solidFill>
                            <a:schemeClr val="tx1"/>
                          </a:solidFill>
                          <a:effectLst/>
                          <a:latin typeface="+mn-lt"/>
                          <a:ea typeface="+mn-ea"/>
                          <a:cs typeface="+mn-cs"/>
                        </a:rPr>
                        <a:t>” (2001)</a:t>
                      </a:r>
                      <a:r>
                        <a:rPr lang="uz-Cyrl-UZ" sz="900" b="0" kern="1200" dirty="0" smtClean="0">
                          <a:solidFill>
                            <a:schemeClr val="tx1"/>
                          </a:solidFill>
                          <a:effectLst/>
                          <a:latin typeface="+mn-lt"/>
                          <a:ea typeface="+mn-ea"/>
                          <a:cs typeface="+mn-cs"/>
                        </a:rPr>
                        <a:t>, “Соғинч” (2007), </a:t>
                      </a:r>
                      <a:r>
                        <a:rPr lang="uz-Cyrl-UZ" sz="900" b="0" i="1" kern="1200" dirty="0" smtClean="0">
                          <a:solidFill>
                            <a:schemeClr val="tx1"/>
                          </a:solidFill>
                          <a:effectLst/>
                          <a:latin typeface="+mn-lt"/>
                          <a:ea typeface="+mn-ea"/>
                          <a:cs typeface="+mn-cs"/>
                        </a:rPr>
                        <a:t>“</a:t>
                      </a:r>
                      <a:r>
                        <a:rPr lang="uz-Cyrl-UZ" sz="900" b="0" kern="1200" dirty="0" smtClean="0">
                          <a:solidFill>
                            <a:schemeClr val="tx1"/>
                          </a:solidFill>
                          <a:effectLst/>
                          <a:latin typeface="+mn-lt"/>
                          <a:ea typeface="+mn-ea"/>
                          <a:cs typeface="+mn-cs"/>
                        </a:rPr>
                        <a:t>Юрак” (2009), “Фонус” (2010), “Коллаж” (2010),</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Жоду</a:t>
                      </a:r>
                      <a:r>
                        <a:rPr lang="ru-RU" sz="900" b="0" kern="1200" dirty="0" smtClean="0">
                          <a:solidFill>
                            <a:schemeClr val="tx1"/>
                          </a:solidFill>
                          <a:effectLst/>
                          <a:latin typeface="+mn-lt"/>
                          <a:ea typeface="+mn-ea"/>
                          <a:cs typeface="+mn-cs"/>
                        </a:rPr>
                        <a:t>” (2003)</a:t>
                      </a:r>
                      <a:r>
                        <a:rPr lang="uz-Cyrl-UZ" sz="900" b="0" kern="1200" dirty="0" smtClean="0">
                          <a:solidFill>
                            <a:schemeClr val="tx1"/>
                          </a:solidFill>
                          <a:effectLst/>
                          <a:latin typeface="+mn-lt"/>
                          <a:ea typeface="+mn-ea"/>
                          <a:cs typeface="+mn-cs"/>
                        </a:rPr>
                        <a:t>, “Адибнинг умри” (2010) ва “Жимлик” (2012)   китоблари чоп этил</a:t>
                      </a:r>
                      <a:r>
                        <a:rPr lang="ru-RU" sz="900" b="0" kern="1200" dirty="0" err="1" smtClean="0">
                          <a:solidFill>
                            <a:schemeClr val="tx1"/>
                          </a:solidFill>
                          <a:effectLst/>
                          <a:latin typeface="+mn-lt"/>
                          <a:ea typeface="+mn-ea"/>
                          <a:cs typeface="+mn-cs"/>
                        </a:rPr>
                        <a:t>ди</a:t>
                      </a:r>
                      <a:r>
                        <a:rPr lang="ru-RU" sz="900" b="0" kern="1200" dirty="0" smtClean="0">
                          <a:solidFill>
                            <a:schemeClr val="tx1"/>
                          </a:solidFill>
                          <a:effectLst/>
                          <a:latin typeface="+mn-lt"/>
                          <a:ea typeface="+mn-ea"/>
                          <a:cs typeface="+mn-cs"/>
                        </a:rPr>
                        <a:t>.</a:t>
                      </a:r>
                    </a:p>
                    <a:p>
                      <a:pPr marL="0" indent="179388" algn="just"/>
                      <a:r>
                        <a:rPr lang="uz-Cyrl-UZ" sz="900" b="0" kern="1200" dirty="0" smtClean="0">
                          <a:solidFill>
                            <a:schemeClr val="tx1"/>
                          </a:solidFill>
                          <a:effectLst/>
                          <a:latin typeface="+mn-lt"/>
                          <a:ea typeface="+mn-ea"/>
                          <a:cs typeface="+mn-cs"/>
                        </a:rPr>
                        <a:t>Шоир таржимон сифатида </a:t>
                      </a:r>
                      <a:r>
                        <a:rPr lang="ru-RU" sz="900" b="0" kern="1200" dirty="0" smtClean="0">
                          <a:solidFill>
                            <a:schemeClr val="tx1"/>
                          </a:solidFill>
                          <a:effectLst/>
                          <a:latin typeface="+mn-lt"/>
                          <a:ea typeface="+mn-ea"/>
                          <a:cs typeface="+mn-cs"/>
                        </a:rPr>
                        <a:t>Элюар, </a:t>
                      </a:r>
                      <a:r>
                        <a:rPr lang="ru-RU" sz="900" b="0" kern="1200" dirty="0" err="1" smtClean="0">
                          <a:solidFill>
                            <a:schemeClr val="tx1"/>
                          </a:solidFill>
                          <a:effectLst/>
                          <a:latin typeface="+mn-lt"/>
                          <a:ea typeface="+mn-ea"/>
                          <a:cs typeface="+mn-cs"/>
                        </a:rPr>
                        <a:t>Доғларжа</a:t>
                      </a:r>
                      <a:r>
                        <a:rPr lang="ru-RU" sz="900" b="0" kern="1200" dirty="0" smtClean="0">
                          <a:solidFill>
                            <a:schemeClr val="tx1"/>
                          </a:solidFill>
                          <a:effectLst/>
                          <a:latin typeface="+mn-lt"/>
                          <a:ea typeface="+mn-ea"/>
                          <a:cs typeface="+mn-cs"/>
                        </a:rPr>
                        <a:t>, Вознесенский, </a:t>
                      </a:r>
                      <a:r>
                        <a:rPr lang="ru-RU" sz="900" b="0" kern="1200" dirty="0" err="1" smtClean="0">
                          <a:solidFill>
                            <a:schemeClr val="tx1"/>
                          </a:solidFill>
                          <a:effectLst/>
                          <a:latin typeface="+mn-lt"/>
                          <a:ea typeface="+mn-ea"/>
                          <a:cs typeface="+mn-cs"/>
                        </a:rPr>
                        <a:t>Вациетис</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Марцинкявичус</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каби</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ў</a:t>
                      </a:r>
                      <a:r>
                        <a:rPr lang="ru-RU" sz="900" b="0" kern="1200" dirty="0" err="1" smtClean="0">
                          <a:solidFill>
                            <a:schemeClr val="tx1"/>
                          </a:solidFill>
                          <a:effectLst/>
                          <a:latin typeface="+mn-lt"/>
                          <a:ea typeface="+mn-ea"/>
                          <a:cs typeface="+mn-cs"/>
                        </a:rPr>
                        <a:t>нлаб</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шоирларнинг</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ижодидан</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намуналарни</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ў</a:t>
                      </a:r>
                      <a:r>
                        <a:rPr lang="ru-RU" sz="900" b="0" kern="1200" dirty="0" err="1" smtClean="0">
                          <a:solidFill>
                            <a:schemeClr val="tx1"/>
                          </a:solidFill>
                          <a:effectLst/>
                          <a:latin typeface="+mn-lt"/>
                          <a:ea typeface="+mn-ea"/>
                          <a:cs typeface="+mn-cs"/>
                        </a:rPr>
                        <a:t>збек</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тилига</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ў</a:t>
                      </a:r>
                      <a:r>
                        <a:rPr lang="ru-RU" sz="900" b="0" kern="1200" dirty="0" err="1" smtClean="0">
                          <a:solidFill>
                            <a:schemeClr val="tx1"/>
                          </a:solidFill>
                          <a:effectLst/>
                          <a:latin typeface="+mn-lt"/>
                          <a:ea typeface="+mn-ea"/>
                          <a:cs typeface="+mn-cs"/>
                        </a:rPr>
                        <a:t>гирган</a:t>
                      </a:r>
                      <a:r>
                        <a:rPr lang="ru-RU" sz="900" b="0" kern="1200" dirty="0" smtClean="0">
                          <a:solidFill>
                            <a:schemeClr val="tx1"/>
                          </a:solidFill>
                          <a:effectLst/>
                          <a:latin typeface="+mn-lt"/>
                          <a:ea typeface="+mn-ea"/>
                          <a:cs typeface="+mn-cs"/>
                        </a:rPr>
                        <a:t>.</a:t>
                      </a:r>
                      <a:endParaRPr lang="uz-Cyrl-UZ" sz="900" b="0" kern="1200" dirty="0" smtClean="0">
                        <a:solidFill>
                          <a:schemeClr val="tx1"/>
                        </a:solidFill>
                        <a:effectLst/>
                        <a:latin typeface="+mn-lt"/>
                        <a:ea typeface="+mn-ea"/>
                        <a:cs typeface="+mn-cs"/>
                      </a:endParaRPr>
                    </a:p>
                    <a:p>
                      <a:pPr marL="0" indent="179388" algn="just"/>
                      <a:r>
                        <a:rPr lang="ru-RU"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Севги</a:t>
                      </a:r>
                      <a:r>
                        <a:rPr lang="ru-RU" sz="900" b="0" kern="1200" dirty="0" smtClean="0">
                          <a:solidFill>
                            <a:schemeClr val="tx1"/>
                          </a:solidFill>
                          <a:effectLst/>
                          <a:latin typeface="+mn-lt"/>
                          <a:ea typeface="+mn-ea"/>
                          <a:cs typeface="+mn-cs"/>
                        </a:rPr>
                        <a:t>" (1998) </a:t>
                      </a:r>
                      <a:r>
                        <a:rPr lang="ru-RU" sz="900" b="0" kern="1200" dirty="0" err="1" smtClean="0">
                          <a:solidFill>
                            <a:schemeClr val="tx1"/>
                          </a:solidFill>
                          <a:effectLst/>
                          <a:latin typeface="+mn-lt"/>
                          <a:ea typeface="+mn-ea"/>
                          <a:cs typeface="+mn-cs"/>
                        </a:rPr>
                        <a:t>фильмининг</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сценарийсини</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ў</a:t>
                      </a:r>
                      <a:r>
                        <a:rPr lang="ru-RU" sz="900" b="0" kern="1200" dirty="0" smtClean="0">
                          <a:solidFill>
                            <a:schemeClr val="tx1"/>
                          </a:solidFill>
                          <a:effectLst/>
                          <a:latin typeface="+mn-lt"/>
                          <a:ea typeface="+mn-ea"/>
                          <a:cs typeface="+mn-cs"/>
                        </a:rPr>
                        <a:t>з </a:t>
                      </a:r>
                      <a:r>
                        <a:rPr lang="ru-RU" sz="900" b="0" kern="1200" dirty="0" err="1" smtClean="0">
                          <a:solidFill>
                            <a:schemeClr val="tx1"/>
                          </a:solidFill>
                          <a:effectLst/>
                          <a:latin typeface="+mn-lt"/>
                          <a:ea typeface="+mn-ea"/>
                          <a:cs typeface="+mn-cs"/>
                        </a:rPr>
                        <a:t>ҳикояси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асосида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ёзган</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Унинг</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сценарийси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асосида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икки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қисмдан</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иборат</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Алпомиш</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1998</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фильми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ҳам</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суратга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олинди</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Шунингдек, </a:t>
                      </a:r>
                      <a:r>
                        <a:rPr lang="ru-RU" sz="900" b="0" kern="1200" dirty="0" smtClean="0">
                          <a:solidFill>
                            <a:schemeClr val="tx1"/>
                          </a:solidFill>
                          <a:effectLst/>
                          <a:latin typeface="+mn-lt"/>
                          <a:ea typeface="+mn-ea"/>
                          <a:cs typeface="+mn-cs"/>
                        </a:rPr>
                        <a:t>”Й</a:t>
                      </a:r>
                      <a:r>
                        <a:rPr lang="uz-Cyrl-UZ" sz="900" b="0" kern="1200" dirty="0" smtClean="0">
                          <a:solidFill>
                            <a:schemeClr val="tx1"/>
                          </a:solidFill>
                          <a:effectLst/>
                          <a:latin typeface="+mn-lt"/>
                          <a:ea typeface="+mn-ea"/>
                          <a:cs typeface="+mn-cs"/>
                        </a:rPr>
                        <a:t>ў</a:t>
                      </a:r>
                      <a:r>
                        <a:rPr lang="ru-RU" sz="900" b="0" kern="1200" dirty="0" err="1" smtClean="0">
                          <a:solidFill>
                            <a:schemeClr val="tx1"/>
                          </a:solidFill>
                          <a:effectLst/>
                          <a:latin typeface="+mn-lt"/>
                          <a:ea typeface="+mn-ea"/>
                          <a:cs typeface="+mn-cs"/>
                        </a:rPr>
                        <a:t>қолган</a:t>
                      </a:r>
                      <a:r>
                        <a:rPr lang="ru-RU" sz="900" b="0" kern="1200" dirty="0" smtClean="0">
                          <a:solidFill>
                            <a:schemeClr val="tx1"/>
                          </a:solidFill>
                          <a:effectLst/>
                          <a:latin typeface="+mn-lt"/>
                          <a:ea typeface="+mn-ea"/>
                          <a:cs typeface="+mn-cs"/>
                        </a:rPr>
                        <a:t> одам” </a:t>
                      </a:r>
                      <a:r>
                        <a:rPr lang="uz-Cyrl-UZ" sz="900" b="0" kern="1200" dirty="0" smtClean="0">
                          <a:solidFill>
                            <a:schemeClr val="tx1"/>
                          </a:solidFill>
                          <a:effectLst/>
                          <a:latin typeface="+mn-lt"/>
                          <a:ea typeface="+mn-ea"/>
                          <a:cs typeface="+mn-cs"/>
                        </a:rPr>
                        <a:t>(2008), “Севги сири” (2006) ва “Хиёнат” (2010)  бадиий фильмлари сценарийсига муаллифлик қилган. Шунингдек, йигирмадан ортиқ ҳужжатли фильмлар муаллифи.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Ижодининг илк даврида радиодраматургияда ("Бахтли бўлайлик", "Ҳужжатли фильм учун сюжет", "Баҳодир ва Малика" пьесалари) ўзини синаб кўрган шоир, кейинги йиларда театр учун ҳам ёза бошлади. “Халил Султон” (1980), “Бор эканда, йўқ экан” (2008), ”Тоҳир ва Зуҳра” (“Матонат”) (2008), “­Қуршов” (2010), “Улар одам эмас” («Огоҳ бўлинг, одамлар”) (2010),  “Тонг отган тарафларда” (2013), “Томир” (2014) каби драматик асарлар Усмон Азим қаламига мансубдир.</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7116">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3316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smtClean="0">
                          <a:effectLst/>
                          <a:latin typeface="+mn-lt"/>
                          <a:ea typeface="Calibri" panose="020F0502020204030204" pitchFamily="34" charset="0"/>
                          <a:cs typeface="Times New Roman" panose="02020603050405020304" pitchFamily="18" charset="0"/>
                        </a:rPr>
                        <a:t>Республикамизда</a:t>
                      </a:r>
                      <a:r>
                        <a:rPr lang="uz-Cyrl-UZ" sz="8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1026" name="Picture 2" descr="Scan10024"/>
          <p:cNvPicPr>
            <a:picLocks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69182" y="1164768"/>
            <a:ext cx="844724" cy="1063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7553716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0"/>
          <a:ext cx="3427547" cy="5918613"/>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697000">
                  <a:extLst>
                    <a:ext uri="{9D8B030D-6E8A-4147-A177-3AD203B41FA5}">
                      <a16:colId xmlns:a16="http://schemas.microsoft.com/office/drawing/2014/main" val="546773760"/>
                    </a:ext>
                  </a:extLst>
                </a:gridCol>
                <a:gridCol w="213214">
                  <a:extLst>
                    <a:ext uri="{9D8B030D-6E8A-4147-A177-3AD203B41FA5}">
                      <a16:colId xmlns:a16="http://schemas.microsoft.com/office/drawing/2014/main" val="2193234794"/>
                    </a:ext>
                  </a:extLst>
                </a:gridCol>
                <a:gridCol w="1265102">
                  <a:extLst>
                    <a:ext uri="{9D8B030D-6E8A-4147-A177-3AD203B41FA5}">
                      <a16:colId xmlns:a16="http://schemas.microsoft.com/office/drawing/2014/main" val="546443978"/>
                    </a:ext>
                  </a:extLst>
                </a:gridCol>
              </a:tblGrid>
              <a:tr h="253262">
                <a:tc gridSpan="6">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5097">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ТЎРАЕВ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509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3">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Бахтиёр</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509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Файзиевич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5097">
                <a:tc gridSpan="2" vMerge="1">
                  <a:txBody>
                    <a:bodyPr/>
                    <a:lstStyle/>
                    <a:p>
                      <a:endParaRPr lang="ru-RU"/>
                    </a:p>
                  </a:txBody>
                  <a:tcPr>
                    <a:lnT>
                      <a:noFill/>
                    </a:lnT>
                  </a:tcPr>
                </a:tc>
                <a:tc hMerge="1" vMerge="1">
                  <a:txBody>
                    <a:bodyPr/>
                    <a:lstStyle/>
                    <a:p>
                      <a:endParaRPr lang="ru-RU"/>
                    </a:p>
                  </a:txBody>
                  <a:tcPr/>
                </a:tc>
                <a:tc gridSpan="3">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509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26.10.1963</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509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Самарқанд 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40336">
                <a:tc gridSpan="6">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515006">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3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бош</a:t>
                      </a:r>
                      <a:r>
                        <a:rPr lang="uz-Cyrl-UZ" sz="900" b="0" kern="1200" baseline="0" noProof="0" dirty="0" smtClean="0">
                          <a:solidFill>
                            <a:schemeClr val="tx1"/>
                          </a:solidFill>
                          <a:latin typeface="+mn-lt"/>
                          <a:ea typeface="+mn-ea"/>
                          <a:cs typeface="+mn-cs"/>
                        </a:rPr>
                        <a:t> рассоми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40336">
                <a:tc gridSpan="6">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38607">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baseline="0" noProof="0" dirty="0" smtClean="0">
                          <a:solidFill>
                            <a:schemeClr val="tx1"/>
                          </a:solidFill>
                          <a:latin typeface="+mn-lt"/>
                          <a:ea typeface="+mn-ea"/>
                          <a:cs typeface="Arial" panose="020B0604020202020204" pitchFamily="34" charset="0"/>
                        </a:rPr>
                        <a:t>ТЎРАЕВ Файзи</a:t>
                      </a:r>
                    </a:p>
                    <a:p>
                      <a:pPr algn="l">
                        <a:lnSpc>
                          <a:spcPct val="85000"/>
                        </a:lnSpc>
                      </a:pPr>
                      <a:r>
                        <a:rPr lang="uz-Cyrl-UZ" sz="900" b="0" kern="1200" noProof="0" dirty="0" smtClean="0">
                          <a:solidFill>
                            <a:schemeClr val="tx1"/>
                          </a:solidFill>
                          <a:latin typeface="+mn-lt"/>
                          <a:ea typeface="+mn-ea"/>
                          <a:cs typeface="Arial" panose="020B0604020202020204" pitchFamily="34" charset="0"/>
                        </a:rPr>
                        <a:t>1922 йил, Самарқанд </a:t>
                      </a:r>
                      <a:r>
                        <a:rPr lang="uz-Cyrl-UZ" sz="900" b="0" kern="1200" baseline="0" noProof="0" dirty="0" smtClean="0">
                          <a:solidFill>
                            <a:schemeClr val="tx1"/>
                          </a:solidFill>
                          <a:latin typeface="+mn-lt"/>
                          <a:ea typeface="+mn-ea"/>
                          <a:cs typeface="Arial" panose="020B0604020202020204" pitchFamily="34" charset="0"/>
                        </a:rPr>
                        <a:t>вилояти</a:t>
                      </a:r>
                      <a:endParaRPr lang="uz-Cyrl-UZ"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2012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Каттақўрғон шаҳар 24-сонли ўрта умумтаълим мактаб ўқитувчиси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l">
                        <a:lnSpc>
                          <a:spcPct val="85000"/>
                        </a:lnSpc>
                      </a:pP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73171">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ХАЛИЛОВА Шарифа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1934 йил, Сурхондарё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algn="l">
                        <a:lnSpc>
                          <a:spcPct val="85000"/>
                        </a:lnSpc>
                      </a:pPr>
                      <a:r>
                        <a:rPr lang="ru-RU" sz="900" b="0" kern="1200" noProof="0" dirty="0" err="1" smtClean="0">
                          <a:solidFill>
                            <a:schemeClr val="tx1"/>
                          </a:solidFill>
                          <a:latin typeface="+mn-lt"/>
                          <a:ea typeface="+mn-ea"/>
                          <a:cs typeface="Arial" panose="020B0604020202020204" pitchFamily="34" charset="0"/>
                        </a:rPr>
                        <a:t>Пенсияда</a:t>
                      </a:r>
                      <a:r>
                        <a:rPr lang="ru-RU" sz="900" b="0" kern="1200" noProof="0" dirty="0" smtClean="0">
                          <a:solidFill>
                            <a:schemeClr val="tx1"/>
                          </a:solidFill>
                          <a:latin typeface="+mn-lt"/>
                          <a:ea typeface="+mn-ea"/>
                          <a:cs typeface="Arial" panose="020B0604020202020204" pitchFamily="34" charset="0"/>
                        </a:rPr>
                        <a:t>,</a:t>
                      </a: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Каттақўрғон шаҳар 24-сонли ўрта умумтаълим мактаб ўқитувчиси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l">
                        <a:lnSpc>
                          <a:spcPct val="85000"/>
                        </a:lnSpc>
                      </a:pP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49570">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ТЎРАЕВА Фарида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1972</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Самарқанд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“Нигоҳ” универсал театрида администратор</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6101">
                <a:tc gridSpan="6">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419556">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smtClean="0">
                          <a:solidFill>
                            <a:schemeClr val="tx1"/>
                          </a:solidFill>
                          <a:latin typeface="+mn-lt"/>
                          <a:ea typeface="+mn-ea"/>
                          <a:cs typeface="+mn-cs"/>
                        </a:rPr>
                        <a:t>1991й. </a:t>
                      </a:r>
                      <a:r>
                        <a:rPr lang="uz-Cyrl-UZ" sz="900" kern="1200" dirty="0" smtClean="0">
                          <a:solidFill>
                            <a:schemeClr val="tx1"/>
                          </a:solidFill>
                          <a:effectLst/>
                          <a:latin typeface="+mn-lt"/>
                          <a:ea typeface="+mn-ea"/>
                          <a:cs typeface="+mn-cs"/>
                        </a:rPr>
                        <a:t>Тошкент театр ва рассомлик санъат институти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241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kern="1200" dirty="0" smtClean="0">
                          <a:solidFill>
                            <a:schemeClr val="tx1"/>
                          </a:solidFill>
                          <a:effectLst/>
                          <a:latin typeface="+mn-lt"/>
                          <a:ea typeface="+mn-ea"/>
                          <a:cs typeface="+mn-cs"/>
                        </a:rPr>
                        <a:t>рассом декоратор, режиссёр</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25969">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25969">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25969">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91"/>
          <a:ext cx="3172841" cy="5918623"/>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7166">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699192">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1991 йилдан буён </a:t>
                      </a:r>
                      <a:r>
                        <a:rPr lang="uz-Cyrl-UZ" sz="900" b="1" kern="1200" dirty="0" smtClean="0">
                          <a:solidFill>
                            <a:schemeClr val="tx1"/>
                          </a:solidFill>
                          <a:effectLst/>
                          <a:latin typeface="+mn-lt"/>
                          <a:ea typeface="+mn-ea"/>
                          <a:cs typeface="+mn-cs"/>
                        </a:rPr>
                        <a:t>Ўзбек Миллий Академик драма театри бош рассоми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5097">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380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57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380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33007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just"/>
                      <a:endParaRPr lang="ru-RU" sz="900" kern="1200" dirty="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07609">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0760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0760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03805">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1653">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221201">
                <a:tc gridSpan="2">
                  <a:txBody>
                    <a:bodyPr/>
                    <a:lstStyle/>
                    <a:p>
                      <a:r>
                        <a:rPr lang="uz-Cyrl-UZ" sz="900" kern="1200" dirty="0" smtClean="0">
                          <a:solidFill>
                            <a:schemeClr val="tx1"/>
                          </a:solidFill>
                          <a:effectLst/>
                          <a:latin typeface="+mn-lt"/>
                          <a:ea typeface="+mn-ea"/>
                          <a:cs typeface="+mn-cs"/>
                        </a:rPr>
                        <a:t>1999 й. “Ўзбекистон Республикаси санъат арбоби” фахрий унвони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6"/>
          <a:ext cx="2817247" cy="5931597"/>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30538">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4528">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16469">
                <a:tc>
                  <a:txBody>
                    <a:bodyPr/>
                    <a:lstStyle/>
                    <a:p>
                      <a:pPr marL="0" indent="179388" algn="just"/>
                      <a:r>
                        <a:rPr lang="uz-Cyrl-UZ" sz="900" b="0" kern="1200" dirty="0" smtClean="0">
                          <a:solidFill>
                            <a:schemeClr val="tx1"/>
                          </a:solidFill>
                          <a:effectLst/>
                          <a:latin typeface="+mn-lt"/>
                          <a:ea typeface="+mn-ea"/>
                          <a:cs typeface="+mn-cs"/>
                        </a:rPr>
                        <a:t>Ҳамидулла Икромов, Георгий Брим каби устоз рассомлар билан узоқ йиллар ишлаган; кўплаб ажойиб спектакллар декорациясини тайёрлаб, шуҳрат қозонган. </a:t>
                      </a:r>
                      <a:r>
                        <a:rPr lang="ru-RU" sz="900" b="0" kern="1200" dirty="0" err="1" smtClean="0">
                          <a:solidFill>
                            <a:schemeClr val="tx1"/>
                          </a:solidFill>
                          <a:effectLst/>
                          <a:latin typeface="+mn-lt"/>
                          <a:ea typeface="+mn-ea"/>
                          <a:cs typeface="+mn-cs"/>
                        </a:rPr>
                        <a:t>Аммо</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Миллий</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театрдек</a:t>
                      </a:r>
                      <a:r>
                        <a:rPr lang="ru-RU" sz="900" b="0" kern="1200" dirty="0" smtClean="0">
                          <a:solidFill>
                            <a:schemeClr val="tx1"/>
                          </a:solidFill>
                          <a:effectLst/>
                          <a:latin typeface="+mn-lt"/>
                          <a:ea typeface="+mn-ea"/>
                          <a:cs typeface="+mn-cs"/>
                        </a:rPr>
                        <a:t> к</a:t>
                      </a:r>
                      <a:r>
                        <a:rPr lang="uz-Cyrl-UZ" sz="900" b="0" kern="1200" dirty="0" smtClean="0">
                          <a:solidFill>
                            <a:schemeClr val="tx1"/>
                          </a:solidFill>
                          <a:effectLst/>
                          <a:latin typeface="+mn-lt"/>
                          <a:ea typeface="+mn-ea"/>
                          <a:cs typeface="+mn-cs"/>
                        </a:rPr>
                        <a:t>атта даргоҳда ижод қилиш ёш рассом учун ўзига хос жасорат эди. Саҳна муҳитини пухта ўзлаштириш, спектакль қаҳрамонлари ҳарактерларини чуқур ҳис этиш, рангтасвир асарлари устида ижодий изланиш осон эмаслигини тушунган Бахтиёр Тўраев институтда олган назарий билимларини амалиётда қўллаб, кучи, қудрати, барча имкониятини ишга солиб, бир неча спектаклларни муваффақиятли равишда саҳналаштирди ва бирин-кетин янги-янги спектакллар декорациясини ишлади. Сўнгги йигирма беш йил давомида “Чимилдиқ”, “Машраб”, “Қатағон”, “Абулфайзхон”, “Ёрқиной”, “Соҳибқирон”, “Муҳаббат султони”, “Ноёб нусха”, “Бир кошона сирлари”, “Ҳаёт эшик ортида”, “Кундузсиз кечалар”, “Нодирабегим”, “Усмон Носир”, “Пири коинот”, “Ал-Фарғоний”, “Макр ва муҳаббат”, “Уч кунлик дунё”, “Қорда ёнган муҳаббат”, “Чегара устидаги уй”, “Қумда севги жилолари”, “Кўнгил”, “Андишали келинчак”, “Меҳр-муҳаббатли 8 аёл”, ”Тахти зар”, “Мирзо-Улуғбек”, “Алишер Навойи”, “Абай”, “Оқ кема”, “ “Бобораҳим Машраб”, “Иймон”, “Аршин Мал Алан”, “Садоқат билан...(Офицерлар)”, “Адолат фасли” (Амир Темур) каби 100 дан ортиқ спектаклларнинг саҳна юзини кўришида саҳналаштирувчи рассом сифатида фаол қатнашди.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Саҳналаштирувчи режиссёр ва рассом сифатида “Чегара устидаги уй”, “Қорда ёнган муҳаббат”, “Қумда севги жилолари”, “Бобораҳим Машраб” каби спектаклларини сахналаштирди.</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8976">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84517">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13" name="Picture 2" descr="DSC_7460"/>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70116" y="1190817"/>
            <a:ext cx="825512" cy="1056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7572359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1"/>
          <a:ext cx="3427547" cy="5919663"/>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1271">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861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КОМИЛОВ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861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Эркин</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861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ХХХ</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861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861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20.07.1946</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861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Андижон 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8957">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0621">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7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8957">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47058">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ХУСАИНОВ</a:t>
                      </a:r>
                      <a:r>
                        <a:rPr lang="uz-Cyrl-UZ" sz="900" b="1" kern="1200" baseline="0" noProof="0" dirty="0" smtClean="0">
                          <a:solidFill>
                            <a:schemeClr val="tx1"/>
                          </a:solidFill>
                          <a:latin typeface="+mn-lt"/>
                          <a:ea typeface="+mn-ea"/>
                          <a:cs typeface="Arial" panose="020B0604020202020204" pitchFamily="34" charset="0"/>
                        </a:rPr>
                        <a:t> Комилжон</a:t>
                      </a:r>
                    </a:p>
                    <a:p>
                      <a:pPr algn="l">
                        <a:lnSpc>
                          <a:spcPct val="85000"/>
                        </a:lnSpc>
                      </a:pPr>
                      <a:r>
                        <a:rPr lang="uz-Cyrl-UZ" sz="900" b="0" kern="1200" noProof="0" dirty="0" smtClean="0">
                          <a:solidFill>
                            <a:schemeClr val="tx1"/>
                          </a:solidFill>
                          <a:latin typeface="+mn-lt"/>
                          <a:ea typeface="+mn-ea"/>
                          <a:cs typeface="Arial" panose="020B0604020202020204" pitchFamily="34" charset="0"/>
                        </a:rPr>
                        <a:t>1898 йил, Андижон вилояти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2000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Тошкент</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шаҳри</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чарм</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ишлаб</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чиқариш</a:t>
                      </a:r>
                      <a:r>
                        <a:rPr lang="ru-RU" sz="900" b="0" kern="1200" baseline="0" noProof="0" dirty="0" smtClean="0">
                          <a:solidFill>
                            <a:schemeClr val="tx1"/>
                          </a:solidFill>
                          <a:latin typeface="+mn-lt"/>
                          <a:ea typeface="+mn-ea"/>
                          <a:cs typeface="Arial" panose="020B0604020202020204" pitchFamily="34" charset="0"/>
                        </a:rPr>
                        <a:t> заводи </a:t>
                      </a:r>
                      <a:r>
                        <a:rPr lang="ru-RU" sz="900" b="0" kern="1200" baseline="0" noProof="0" dirty="0" err="1" smtClean="0">
                          <a:solidFill>
                            <a:schemeClr val="tx1"/>
                          </a:solidFill>
                          <a:latin typeface="+mn-lt"/>
                          <a:ea typeface="+mn-ea"/>
                          <a:cs typeface="Arial" panose="020B0604020202020204" pitchFamily="34" charset="0"/>
                        </a:rPr>
                        <a:t>бичувчиси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47058">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КОМИЛОВА Гўзал</a:t>
                      </a:r>
                      <a:r>
                        <a:rPr lang="uz-Cyrl-UZ" sz="900" b="1" kern="1200" baseline="0" noProof="0" dirty="0" smtClean="0">
                          <a:solidFill>
                            <a:schemeClr val="tx1"/>
                          </a:solidFill>
                          <a:latin typeface="+mn-lt"/>
                          <a:ea typeface="+mn-ea"/>
                          <a:cs typeface="Arial" panose="020B0604020202020204" pitchFamily="34" charset="0"/>
                        </a:rPr>
                        <a:t> Ғуломовна</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1940 йил, Тошкент</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1999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(139-сонли</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умумтаълим</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мактаб</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ўқитувчиси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47058">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КОМИЛОВА Махбуба Рахматовна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1964</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Қашқадарё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2025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уй</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бекаси</a:t>
                      </a:r>
                      <a:r>
                        <a:rPr lang="ru-RU" sz="900" b="0" kern="1200" noProof="0" smtClean="0">
                          <a:solidFill>
                            <a:schemeClr val="tx1"/>
                          </a:solidFill>
                          <a:latin typeface="+mn-lt"/>
                          <a:ea typeface="+mn-ea"/>
                          <a:cs typeface="Arial" panose="020B0604020202020204" pitchFamily="34" charset="0"/>
                        </a:rPr>
                        <a:t> )</a:t>
                      </a:r>
                      <a:endParaRPr lang="ru-RU"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586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2845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1985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baseline="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baseline="0" noProof="0" dirty="0" smtClean="0">
                          <a:solidFill>
                            <a:schemeClr val="tx1"/>
                          </a:solidFill>
                          <a:latin typeface="+mn-lt"/>
                          <a:ea typeface="+mn-ea"/>
                          <a:cs typeface="+mn-cs"/>
                        </a:rPr>
                        <a:t>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3232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1561">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профессор</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1561">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67208">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91"/>
          <a:ext cx="2922827" cy="5919673"/>
        </p:xfrm>
        <a:graphic>
          <a:graphicData uri="http://schemas.openxmlformats.org/drawingml/2006/table">
            <a:tbl>
              <a:tblPr firstRow="1" bandRow="1">
                <a:tableStyleId>{C083E6E3-FA7D-4D7B-A595-EF9225AFEA82}</a:tableStyleId>
              </a:tblPr>
              <a:tblGrid>
                <a:gridCol w="1379262">
                  <a:extLst>
                    <a:ext uri="{9D8B030D-6E8A-4147-A177-3AD203B41FA5}">
                      <a16:colId xmlns:a16="http://schemas.microsoft.com/office/drawing/2014/main" val="2715609854"/>
                    </a:ext>
                  </a:extLst>
                </a:gridCol>
                <a:gridCol w="1543565">
                  <a:extLst>
                    <a:ext uri="{9D8B030D-6E8A-4147-A177-3AD203B41FA5}">
                      <a16:colId xmlns:a16="http://schemas.microsoft.com/office/drawing/2014/main" val="546443978"/>
                    </a:ext>
                  </a:extLst>
                </a:gridCol>
              </a:tblGrid>
              <a:tr h="339189">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59286">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1992 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1755">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9354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50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354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35898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endParaRPr lang="ru-RU" sz="900" kern="1200" dirty="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87093">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87093">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7053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1134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0100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266303">
                <a:tc gridSpan="2">
                  <a:txBody>
                    <a:bodyPr/>
                    <a:lstStyle/>
                    <a:p>
                      <a:r>
                        <a:rPr lang="uz-Cyrl-UZ" sz="900" kern="1200" dirty="0" smtClean="0">
                          <a:solidFill>
                            <a:schemeClr val="tx1"/>
                          </a:solidFill>
                          <a:effectLst/>
                          <a:latin typeface="+mn-lt"/>
                          <a:ea typeface="+mn-ea"/>
                          <a:cs typeface="+mn-cs"/>
                        </a:rPr>
                        <a:t>1988 й. “Ўзбекистонда хизмат кўрсатган артист”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1998 й. “Ўзбекистон ҳалқ артисти”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2011 й. “Меҳнат шуҳрат” ордени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2016 й. “Фидокорона хизматлари учун” ордени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2023 й. “Ўзбекистон Республикасида хизмат кўрсатган ёшлар мураббийси” фахрий унвони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699843" y="869286"/>
          <a:ext cx="3067261" cy="5930388"/>
        </p:xfrm>
        <a:graphic>
          <a:graphicData uri="http://schemas.openxmlformats.org/drawingml/2006/table">
            <a:tbl>
              <a:tblPr firstRow="1" bandRow="1">
                <a:tableStyleId>{C083E6E3-FA7D-4D7B-A595-EF9225AFEA82}</a:tableStyleId>
              </a:tblPr>
              <a:tblGrid>
                <a:gridCol w="3067261">
                  <a:extLst>
                    <a:ext uri="{9D8B030D-6E8A-4147-A177-3AD203B41FA5}">
                      <a16:colId xmlns:a16="http://schemas.microsoft.com/office/drawing/2014/main" val="2715609854"/>
                    </a:ext>
                  </a:extLst>
                </a:gridCol>
              </a:tblGrid>
              <a:tr h="230199">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78191">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09697">
                <a:tc>
                  <a:txBody>
                    <a:bodyPr/>
                    <a:lstStyle/>
                    <a:p>
                      <a:pPr marL="0" indent="179388" algn="just"/>
                      <a:r>
                        <a:rPr lang="uz-Cyrl-UZ" sz="900" b="0" kern="1200" dirty="0" smtClean="0">
                          <a:solidFill>
                            <a:schemeClr val="tx1"/>
                          </a:solidFill>
                          <a:effectLst/>
                          <a:latin typeface="+mn-lt"/>
                          <a:ea typeface="+mn-ea"/>
                          <a:cs typeface="+mn-cs"/>
                        </a:rPr>
                        <a:t>У яратган “Йўлчи юлдуз”да Аваз, “Олтин девор”да Қиличбек, “Қароқчилар”да Карл Моор, “Сохибқирон”да Бойазиз, “Абу Али Ибн Сино”да Беруний, “Шошма қуёш”да Бахром, “Нодирабегим”да Қоратегин, “Абдулфайзхон”да Абулфайзхон, “Самандар”да Қобилжон, “Имон”да Сиддиқжон, “Антигона”да Галеон, “Антигона”да Хоқон, “Келинлар қўзғолони”да режиссёр йигит, “Олтин девор”да Қиличбек, “Омонат дунё”да ота, “Алишер Навоий”да Хусайн Байқаро, “Мирзо Улуғбек”да Мирзо Улуғбек ва бошқа жуда катта ва ранг-баранг ролларни юқори савияда ижро этиб, халқимизнинг суюкли фарзандларидан бирига айланган.</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Э.Камилов кинода ҳам 70 дан ортиқ фаол ижод этди. Жумладан; “Нетай”, “Амирнинг хуфёна сафари”, “Юзсиз”, “Тилла бола”, “Суюнчи”, Баракасини берсин”, “Виждон”, “Жида гули”, “Иш ва алдух”, “Толуққан кўнгиллар ойга талпинар”, “Соғинч сохили”, “Гумрохлар”, “Ўгай она”, “Қалб кўзи”, “Сув ёқалар”, “Диёнат”, “Амирнинг хисёна юриши”, “Юлдуз шовласи”, “Одамлар борки”, “Юзсиз”, “Мариф ва Шариф”, “Қисмат”, “Лола қизғалдоқ”, “Тугун”, “Тандир” “Мехмонхона”   каби киноларда роллар ижро этди.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Э.Камилов дубляж соҳасида ҳам 500 дан ортиқ фильмга ҳамда бир нечта телесериалларга овоз берган.</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Э.Камилов ҳам кўпчиликка даставвал театр орқали эмас, балки телевидениеда яратилган "Гирдоб"да Азиз Қосимов образи билан танилди.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Ўзбекистон миллий телерадиокомпанияси орқали намойиш этилган 300 дан отиқ видеофильмларда ҳам Э.Комилов анча пишиқ, жозибали образлар яратди. Шулардан; “Диёнат”, “Сўнгги ўқ”, “Алишер Навоий”, “Очилган қўриқ”, “Қора карвон”, “Ёз ёмғири”, “Ғирдоб”, “Адабиёт қонуни”, “Ичкуёв”, “Балойи насф” ва бошқалар.</a:t>
                      </a:r>
                      <a:r>
                        <a:rPr lang="uz-Cyrl-UZ" sz="900" b="0" u="sng" kern="1200" dirty="0" smtClean="0">
                          <a:solidFill>
                            <a:schemeClr val="tx1"/>
                          </a:solidFill>
                          <a:effectLst/>
                          <a:latin typeface="+mn-lt"/>
                          <a:ea typeface="+mn-ea"/>
                          <a:cs typeface="+mn-cs"/>
                        </a:rPr>
                        <a:t> </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8757">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49233">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1026" name="Picture 2" descr="Сканировать10002"/>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75910" y="1180407"/>
            <a:ext cx="753550" cy="10058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2402345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699"/>
          <a:ext cx="3265283" cy="5928208"/>
        </p:xfrm>
        <a:graphic>
          <a:graphicData uri="http://schemas.openxmlformats.org/drawingml/2006/table">
            <a:tbl>
              <a:tblPr firstRow="1" bandRow="1">
                <a:tableStyleId>{C083E6E3-FA7D-4D7B-A595-EF9225AFEA82}</a:tableStyleId>
              </a:tblPr>
              <a:tblGrid>
                <a:gridCol w="567013">
                  <a:extLst>
                    <a:ext uri="{9D8B030D-6E8A-4147-A177-3AD203B41FA5}">
                      <a16:colId xmlns:a16="http://schemas.microsoft.com/office/drawing/2014/main" val="2288412290"/>
                    </a:ext>
                  </a:extLst>
                </a:gridCol>
                <a:gridCol w="479705">
                  <a:extLst>
                    <a:ext uri="{9D8B030D-6E8A-4147-A177-3AD203B41FA5}">
                      <a16:colId xmlns:a16="http://schemas.microsoft.com/office/drawing/2014/main" val="1678982439"/>
                    </a:ext>
                  </a:extLst>
                </a:gridCol>
                <a:gridCol w="146231">
                  <a:extLst>
                    <a:ext uri="{9D8B030D-6E8A-4147-A177-3AD203B41FA5}">
                      <a16:colId xmlns:a16="http://schemas.microsoft.com/office/drawing/2014/main" val="2721661767"/>
                    </a:ext>
                  </a:extLst>
                </a:gridCol>
                <a:gridCol w="867123">
                  <a:extLst>
                    <a:ext uri="{9D8B030D-6E8A-4147-A177-3AD203B41FA5}">
                      <a16:colId xmlns:a16="http://schemas.microsoft.com/office/drawing/2014/main" val="546773760"/>
                    </a:ext>
                  </a:extLst>
                </a:gridCol>
                <a:gridCol w="1205211">
                  <a:extLst>
                    <a:ext uri="{9D8B030D-6E8A-4147-A177-3AD203B41FA5}">
                      <a16:colId xmlns:a16="http://schemas.microsoft.com/office/drawing/2014/main" val="546443978"/>
                    </a:ext>
                  </a:extLst>
                </a:gridCol>
              </a:tblGrid>
              <a:tr h="244535">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117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АБДУҚУНДУЗОВ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117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Мухаммадали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117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ХХХ</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117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117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14.07.1952</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117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Фарғона 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2055">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7259">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2055">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54460">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АХМЕДОВ Абдуқундуз</a:t>
                      </a:r>
                      <a:endParaRPr lang="uz-Cyrl-UZ" sz="900" b="1" kern="1200" baseline="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1931 йил, Фарғона вилояти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2006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Ўзбекистон туман пахта тозалаш заводи ишчиси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59676">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АХМЕДОВА</a:t>
                      </a:r>
                      <a:r>
                        <a:rPr lang="uz-Cyrl-UZ" sz="900" b="1" kern="1200" baseline="0" noProof="0" dirty="0" smtClean="0">
                          <a:solidFill>
                            <a:schemeClr val="tx1"/>
                          </a:solidFill>
                          <a:latin typeface="+mn-lt"/>
                          <a:ea typeface="+mn-ea"/>
                          <a:cs typeface="Arial" panose="020B0604020202020204" pitchFamily="34" charset="0"/>
                        </a:rPr>
                        <a:t> </a:t>
                      </a:r>
                      <a:r>
                        <a:rPr lang="uz-Cyrl-UZ" sz="900" b="1" kern="1200" noProof="0" dirty="0" smtClean="0">
                          <a:solidFill>
                            <a:schemeClr val="tx1"/>
                          </a:solidFill>
                          <a:latin typeface="+mn-lt"/>
                          <a:ea typeface="+mn-ea"/>
                          <a:cs typeface="Arial" panose="020B0604020202020204" pitchFamily="34" charset="0"/>
                        </a:rPr>
                        <a:t>Бувинисо</a:t>
                      </a:r>
                    </a:p>
                    <a:p>
                      <a:pPr algn="l">
                        <a:lnSpc>
                          <a:spcPct val="85000"/>
                        </a:lnSpc>
                      </a:pPr>
                      <a:r>
                        <a:rPr lang="uz-Cyrl-UZ" sz="900" b="0" kern="1200" noProof="0" dirty="0" smtClean="0">
                          <a:solidFill>
                            <a:schemeClr val="tx1"/>
                          </a:solidFill>
                          <a:latin typeface="+mn-lt"/>
                          <a:ea typeface="+mn-ea"/>
                          <a:cs typeface="Arial" panose="020B0604020202020204" pitchFamily="34" charset="0"/>
                        </a:rPr>
                        <a:t>1932 йил, Фарғона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2001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уй 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637661">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АБДУҚУНДУЗОВА Валинтина</a:t>
                      </a:r>
                      <a:r>
                        <a:rPr lang="uz-Cyrl-UZ" sz="900" b="1" kern="1200" baseline="0" noProof="0" dirty="0" smtClean="0">
                          <a:solidFill>
                            <a:schemeClr val="tx1"/>
                          </a:solidFill>
                          <a:latin typeface="+mn-lt"/>
                          <a:ea typeface="+mn-ea"/>
                          <a:cs typeface="Arial" panose="020B0604020202020204" pitchFamily="34" charset="0"/>
                        </a:rPr>
                        <a:t> Николаевна</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1952</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Қозоғистон Республикаси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Ўзбек Миллий Академик</a:t>
                      </a:r>
                      <a:r>
                        <a:rPr lang="uz-Cyrl-UZ" sz="900" kern="1200" baseline="0" dirty="0" smtClean="0">
                          <a:solidFill>
                            <a:schemeClr val="tx1"/>
                          </a:solidFill>
                          <a:effectLst/>
                          <a:latin typeface="+mn-lt"/>
                          <a:ea typeface="+mn-ea"/>
                          <a:cs typeface="+mn-cs"/>
                        </a:rPr>
                        <a:t> драма театри пардоз бўлими бошлиғи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8654">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19693">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1974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baseline="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baseline="0" noProof="0" dirty="0" smtClean="0">
                          <a:solidFill>
                            <a:schemeClr val="tx1"/>
                          </a:solidFill>
                          <a:latin typeface="+mn-lt"/>
                          <a:ea typeface="+mn-ea"/>
                          <a:cs typeface="+mn-cs"/>
                        </a:rPr>
                        <a:t>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28470">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577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профессор</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577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5118">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477973" y="865692"/>
          <a:ext cx="2991194" cy="5928213"/>
        </p:xfrm>
        <a:graphic>
          <a:graphicData uri="http://schemas.openxmlformats.org/drawingml/2006/table">
            <a:tbl>
              <a:tblPr firstRow="1" bandRow="1">
                <a:tableStyleId>{C083E6E3-FA7D-4D7B-A595-EF9225AFEA82}</a:tableStyleId>
              </a:tblPr>
              <a:tblGrid>
                <a:gridCol w="1411524">
                  <a:extLst>
                    <a:ext uri="{9D8B030D-6E8A-4147-A177-3AD203B41FA5}">
                      <a16:colId xmlns:a16="http://schemas.microsoft.com/office/drawing/2014/main" val="2715609854"/>
                    </a:ext>
                  </a:extLst>
                </a:gridCol>
                <a:gridCol w="1579670">
                  <a:extLst>
                    <a:ext uri="{9D8B030D-6E8A-4147-A177-3AD203B41FA5}">
                      <a16:colId xmlns:a16="http://schemas.microsoft.com/office/drawing/2014/main" val="546443978"/>
                    </a:ext>
                  </a:extLst>
                </a:gridCol>
              </a:tblGrid>
              <a:tr h="313813">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17442">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2002 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2919">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7906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42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7906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6 йил</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67366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just"/>
                      <a:r>
                        <a:rPr lang="uz-Cyrl-UZ" sz="900" kern="1200" dirty="0" smtClean="0">
                          <a:solidFill>
                            <a:schemeClr val="tx1"/>
                          </a:solidFill>
                          <a:effectLst/>
                          <a:latin typeface="+mn-lt"/>
                          <a:ea typeface="+mn-ea"/>
                          <a:cs typeface="+mn-cs"/>
                        </a:rPr>
                        <a:t>1996-1998йй. – Ўзбекистон Республикаси маданият ишлари вазири ўринбосари</a:t>
                      </a:r>
                      <a:endParaRPr lang="ru-RU" sz="900" kern="1200" dirty="0" smtClean="0">
                        <a:solidFill>
                          <a:schemeClr val="tx1"/>
                        </a:solidFill>
                        <a:effectLst/>
                        <a:latin typeface="+mn-lt"/>
                        <a:ea typeface="+mn-ea"/>
                        <a:cs typeface="+mn-cs"/>
                      </a:endParaRPr>
                    </a:p>
                    <a:p>
                      <a:pPr algn="just"/>
                      <a:r>
                        <a:rPr lang="uz-Cyrl-UZ" sz="900" kern="1200" dirty="0" smtClean="0">
                          <a:solidFill>
                            <a:schemeClr val="tx1"/>
                          </a:solidFill>
                          <a:effectLst/>
                          <a:latin typeface="+mn-lt"/>
                          <a:ea typeface="+mn-ea"/>
                          <a:cs typeface="+mn-cs"/>
                        </a:rPr>
                        <a:t>1998-2002йй. - Ўзбекистон Республикаси маданият ишлари вазири ўринбосари, Ўзбектеатр ижодий-ишлаб чиқариш бирлашмаси Бош директори</a:t>
                      </a:r>
                      <a:endParaRPr lang="ru-RU" sz="900" kern="1200" dirty="0" smtClean="0">
                        <a:solidFill>
                          <a:schemeClr val="tx1"/>
                        </a:solidFill>
                        <a:effectLst/>
                        <a:latin typeface="+mn-lt"/>
                        <a:ea typeface="+mn-ea"/>
                        <a:cs typeface="+mn-cs"/>
                      </a:endParaRPr>
                    </a:p>
                    <a:p>
                      <a:endParaRPr lang="ru-RU" sz="900" kern="1200" dirty="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58134">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5813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5643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2026 й.</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0201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2025 й. онкологик</a:t>
                      </a:r>
                      <a:r>
                        <a:rPr lang="uz-Cyrl-UZ" sz="900" kern="1200" baseline="0" noProof="0" dirty="0" smtClean="0">
                          <a:solidFill>
                            <a:schemeClr val="tx1"/>
                          </a:solidFill>
                          <a:effectLst/>
                          <a:latin typeface="+mn-lt"/>
                          <a:ea typeface="Calibri" panose="020F0502020204030204" pitchFamily="34" charset="0"/>
                          <a:cs typeface="Times New Roman" panose="02020603050405020304" pitchFamily="18" charset="0"/>
                        </a:rPr>
                        <a:t> касаллик билан огриган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85962">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171565">
                <a:tc gridSpan="2">
                  <a:txBody>
                    <a:bodyPr/>
                    <a:lstStyle/>
                    <a:p>
                      <a:r>
                        <a:rPr lang="uz-Cyrl-UZ" sz="900" kern="1200" dirty="0" smtClean="0">
                          <a:solidFill>
                            <a:schemeClr val="tx1"/>
                          </a:solidFill>
                          <a:effectLst/>
                          <a:latin typeface="+mn-lt"/>
                          <a:ea typeface="+mn-ea"/>
                          <a:cs typeface="+mn-cs"/>
                        </a:rPr>
                        <a:t>1983 й. “Ўзбекистонда хизмат кўрсатган артист”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1997 й. “Ўзбекистон Республикаси ҳалқ артисти”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1997 й. Ҳалқаро “Бобур” мукофоти совриндори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1999 й. “Қорақалпоғистон халқ артисти” фаҳрий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2021 й. “Меҳнат шуҳрати” ордени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537369" y="869287"/>
          <a:ext cx="3229736" cy="5924619"/>
        </p:xfrm>
        <a:graphic>
          <a:graphicData uri="http://schemas.openxmlformats.org/drawingml/2006/table">
            <a:tbl>
              <a:tblPr firstRow="1" bandRow="1">
                <a:tableStyleId>{C083E6E3-FA7D-4D7B-A595-EF9225AFEA82}</a:tableStyleId>
              </a:tblPr>
              <a:tblGrid>
                <a:gridCol w="3229736">
                  <a:extLst>
                    <a:ext uri="{9D8B030D-6E8A-4147-A177-3AD203B41FA5}">
                      <a16:colId xmlns:a16="http://schemas.microsoft.com/office/drawing/2014/main" val="2715609854"/>
                    </a:ext>
                  </a:extLst>
                </a:gridCol>
              </a:tblGrid>
              <a:tr h="241446">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14219">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834910">
                <a:tc>
                  <a:txBody>
                    <a:bodyPr/>
                    <a:lstStyle/>
                    <a:p>
                      <a:pPr marL="0" indent="179388" algn="just"/>
                      <a:r>
                        <a:rPr lang="uz-Cyrl-UZ" sz="900" b="0" kern="1200" dirty="0" smtClean="0">
                          <a:solidFill>
                            <a:schemeClr val="tx1"/>
                          </a:solidFill>
                          <a:effectLst/>
                          <a:latin typeface="+mn-lt"/>
                          <a:ea typeface="+mn-ea"/>
                          <a:cs typeface="+mn-cs"/>
                        </a:rPr>
                        <a:t>Актёр ушбу театр саҳнасида 50 дан ортиқ роллар ижро этди ва спектакллар саҳналаштирди. Қаҳрамонона руҳда ижро этилган “Макр ва муҳаббат” спектаклидаги Фердинанд, “Ватан ишқи”да Давронбек, “Сепсиз қиз”да Паратов, “Кўрмайин босдим тиконни”да Шокир, “Сарвқомат дилбарим”да Алибек, “Барча билан яккама-якка”да Андрей, “Номаълум кун”да Муса Жалил, “Уфқ”да Икромжон образлари актёрнинг ўзбек театри ривожига қўшган катта ҳиссаси сифатида эътироф этилди.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М.Абдуқундузов 1986 йилдан Ўзбек Миллий академик драма театрда 60 га яқин турли образлар яратган. Жумладан, “Сўнгги қабул” спектаклидаги Ермаков, “Абдулла Қодирийнинг ўтган кунлари”да Қодирий ва Отабек, “Бахтли гадолар”да ўзбек, “Таҳликали дамлар”да Амир Умархон,“Дарахтлар тик туриб жон беради”да Маурисьо, “Адибнинг умри”да Чўлпон, “Гамлет”да Клавдий, “Тун албатта ўтади”да Женнаро, “Яраланган оққуш ноласи”да Сардор, “Огоҳ бўлинг одамлар”да прокурор, “Ўткан кунлар”да Юсуфбек ҳожи, “Заминдан олис кетма”да Тўрабек, “Имон”да Санжаров, “Мирзо Улуғбек”да Саидобид, “Ревизор”да шаҳар ҳокими каби образлар театр мунаққидлари ва мухлислар томонидан юқори баҳоланди.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М.Абдуқундузов 1999 йили ўтказилган “Андижон баҳори-99” халқаро театрлар фестивалида “Кундузсиз кечалар” спектаклидаги Чўлпон роли учун “Энг яхши эркак образи” номинациясига сазовор бўлди.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Ўзбекистон миллий телерадиокомпаниясининг “Мехмонхона”, “Қисмат битиги”, “Сабр”, “Опа сингиллар” миллий сериалларида эсда қоладиган образлар яратди.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Ижодкорнинг “Нахотки сен”, “Фарёд”, “Фарёд-2”, “Тавба”, “Жигарбандим”, “Қиз кўнгли”, “Сўнгги бор”, “Асрагил”, “9-чи рақамли бемор”, “Фермер” ва “Муқаддас истак” бадиий фильмларида яратган образлари салохияти, ҳаётийлиги ва чуқур драматизми билан томошабинни ҳаяжонга солади.</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1374">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62670">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1028" name="Picture 4" descr="Scan1000555"/>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90193" y="1136995"/>
            <a:ext cx="807087" cy="1067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5208123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4"/>
          <a:ext cx="3162733" cy="5911106"/>
        </p:xfrm>
        <a:graphic>
          <a:graphicData uri="http://schemas.openxmlformats.org/drawingml/2006/table">
            <a:tbl>
              <a:tblPr firstRow="1" bandRow="1">
                <a:tableStyleId>{C083E6E3-FA7D-4D7B-A595-EF9225AFEA82}</a:tableStyleId>
              </a:tblPr>
              <a:tblGrid>
                <a:gridCol w="549205">
                  <a:extLst>
                    <a:ext uri="{9D8B030D-6E8A-4147-A177-3AD203B41FA5}">
                      <a16:colId xmlns:a16="http://schemas.microsoft.com/office/drawing/2014/main" val="2288412290"/>
                    </a:ext>
                  </a:extLst>
                </a:gridCol>
                <a:gridCol w="464639">
                  <a:extLst>
                    <a:ext uri="{9D8B030D-6E8A-4147-A177-3AD203B41FA5}">
                      <a16:colId xmlns:a16="http://schemas.microsoft.com/office/drawing/2014/main" val="1678982439"/>
                    </a:ext>
                  </a:extLst>
                </a:gridCol>
                <a:gridCol w="141639">
                  <a:extLst>
                    <a:ext uri="{9D8B030D-6E8A-4147-A177-3AD203B41FA5}">
                      <a16:colId xmlns:a16="http://schemas.microsoft.com/office/drawing/2014/main" val="2721661767"/>
                    </a:ext>
                  </a:extLst>
                </a:gridCol>
                <a:gridCol w="563011">
                  <a:extLst>
                    <a:ext uri="{9D8B030D-6E8A-4147-A177-3AD203B41FA5}">
                      <a16:colId xmlns:a16="http://schemas.microsoft.com/office/drawing/2014/main" val="546773760"/>
                    </a:ext>
                  </a:extLst>
                </a:gridCol>
                <a:gridCol w="276879">
                  <a:extLst>
                    <a:ext uri="{9D8B030D-6E8A-4147-A177-3AD203B41FA5}">
                      <a16:colId xmlns:a16="http://schemas.microsoft.com/office/drawing/2014/main" val="1589056442"/>
                    </a:ext>
                  </a:extLst>
                </a:gridCol>
                <a:gridCol w="1167360">
                  <a:extLst>
                    <a:ext uri="{9D8B030D-6E8A-4147-A177-3AD203B41FA5}">
                      <a16:colId xmlns:a16="http://schemas.microsoft.com/office/drawing/2014/main" val="546443978"/>
                    </a:ext>
                  </a:extLst>
                </a:gridCol>
              </a:tblGrid>
              <a:tr h="244961">
                <a:tc gridSpan="6">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1503">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МЎМИНОВ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150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3">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Теша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150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baseline="0" dirty="0" smtClean="0">
                          <a:solidFill>
                            <a:schemeClr val="tx1"/>
                          </a:solidFill>
                          <a:latin typeface="+mn-lt"/>
                          <a:ea typeface="+mn-ea"/>
                          <a:cs typeface="+mn-cs"/>
                        </a:rPr>
                        <a:t>Хусаинович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1503">
                <a:tc gridSpan="2" vMerge="1">
                  <a:txBody>
                    <a:bodyPr/>
                    <a:lstStyle/>
                    <a:p>
                      <a:endParaRPr lang="ru-RU"/>
                    </a:p>
                  </a:txBody>
                  <a:tcPr>
                    <a:lnT>
                      <a:noFill/>
                    </a:lnT>
                  </a:tcPr>
                </a:tc>
                <a:tc hMerge="1" vMerge="1">
                  <a:txBody>
                    <a:bodyPr/>
                    <a:lstStyle/>
                    <a:p>
                      <a:endParaRPr lang="ru-RU"/>
                    </a:p>
                  </a:txBody>
                  <a:tcPr/>
                </a:tc>
                <a:tc gridSpan="3">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150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25.11.1949</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150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Бухоро 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2459">
                <a:tc gridSpan="6">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34835">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4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театр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2459">
                <a:tc gridSpan="6">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54385">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МЎМИНОВ</a:t>
                      </a:r>
                      <a:r>
                        <a:rPr lang="uz-Cyrl-UZ" sz="900" b="1" kern="1200" baseline="0" noProof="0" dirty="0" smtClean="0">
                          <a:solidFill>
                            <a:schemeClr val="tx1"/>
                          </a:solidFill>
                          <a:latin typeface="+mn-lt"/>
                          <a:ea typeface="+mn-ea"/>
                          <a:cs typeface="Arial" panose="020B0604020202020204" pitchFamily="34" charset="0"/>
                        </a:rPr>
                        <a:t> Хусаин</a:t>
                      </a:r>
                    </a:p>
                    <a:p>
                      <a:pPr algn="l">
                        <a:lnSpc>
                          <a:spcPct val="85000"/>
                        </a:lnSpc>
                      </a:pPr>
                      <a:r>
                        <a:rPr lang="uz-Cyrl-UZ" sz="900" b="0" kern="1200" noProof="0" dirty="0" smtClean="0">
                          <a:solidFill>
                            <a:schemeClr val="tx1"/>
                          </a:solidFill>
                          <a:latin typeface="+mn-lt"/>
                          <a:ea typeface="+mn-ea"/>
                          <a:cs typeface="Arial" panose="020B0604020202020204" pitchFamily="34" charset="0"/>
                        </a:rPr>
                        <a:t>1895 йил, Бухоро вилояти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1989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2- Жаҳон уруш қатнашчиси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l">
                        <a:lnSpc>
                          <a:spcPct val="85000"/>
                        </a:lnSpc>
                      </a:pP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4835">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ОМОНОВА</a:t>
                      </a:r>
                      <a:r>
                        <a:rPr lang="uz-Cyrl-UZ" sz="900" b="1" kern="1200" baseline="0" noProof="0" dirty="0" smtClean="0">
                          <a:solidFill>
                            <a:schemeClr val="tx1"/>
                          </a:solidFill>
                          <a:latin typeface="+mn-lt"/>
                          <a:ea typeface="+mn-ea"/>
                          <a:cs typeface="Arial" panose="020B0604020202020204" pitchFamily="34" charset="0"/>
                        </a:rPr>
                        <a:t> Пўлатой</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1909 йил, Бухоро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1987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уй 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l">
                        <a:lnSpc>
                          <a:spcPct val="85000"/>
                        </a:lnSpc>
                      </a:pP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779420">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МЎМИНОВА Матлюба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1956</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Пенсияда</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(Ўзбекистон Республикаси Ички ишлар бош бошқармасининг болалар боғчасида тарбиячи)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9018">
                <a:tc gridSpan="6">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57479">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smtClean="0">
                          <a:solidFill>
                            <a:schemeClr val="tx1"/>
                          </a:solidFill>
                          <a:latin typeface="+mn-lt"/>
                          <a:ea typeface="+mn-ea"/>
                          <a:cs typeface="+mn-cs"/>
                        </a:rPr>
                        <a:t>1970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baseline="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683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5285">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b="0" kern="1200" noProof="0" dirty="0" smtClean="0">
                          <a:solidFill>
                            <a:schemeClr val="tx1"/>
                          </a:solidFill>
                          <a:latin typeface="+mn-lt"/>
                          <a:ea typeface="+mn-ea"/>
                          <a:cs typeface="+mn-cs"/>
                        </a:rPr>
                        <a:t>профессор</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5285">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835">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363782" y="865691"/>
          <a:ext cx="3172841" cy="591112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1760">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80012">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1996 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1084">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072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42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072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3 йил</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40934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smtClean="0">
                          <a:solidFill>
                            <a:schemeClr val="tx1"/>
                          </a:solidFill>
                          <a:effectLst/>
                          <a:latin typeface="+mn-lt"/>
                          <a:ea typeface="+mn-ea"/>
                          <a:cs typeface="+mn-cs"/>
                        </a:rPr>
                        <a:t>1993-1996 йй. - Ўзбекистон Республикаси маданият ишлари вазирлиги вазир ўринбосари</a:t>
                      </a:r>
                      <a:endParaRPr lang="ru-RU" sz="900" kern="1200" dirty="0" smtClean="0">
                        <a:solidFill>
                          <a:schemeClr val="tx1"/>
                        </a:solidFill>
                        <a:effectLst/>
                        <a:latin typeface="+mn-lt"/>
                        <a:ea typeface="+mn-ea"/>
                        <a:cs typeface="+mn-cs"/>
                      </a:endParaRPr>
                    </a:p>
                    <a:p>
                      <a:endParaRPr lang="ru-RU" sz="900" kern="1200" dirty="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01439">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0143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0143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0072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0845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293989">
                <a:tc gridSpan="2">
                  <a:txBody>
                    <a:bodyPr/>
                    <a:lstStyle/>
                    <a:p>
                      <a:r>
                        <a:rPr lang="uz-Cyrl-UZ" sz="900" kern="1200" dirty="0" smtClean="0">
                          <a:solidFill>
                            <a:schemeClr val="tx1"/>
                          </a:solidFill>
                          <a:effectLst/>
                          <a:latin typeface="+mn-lt"/>
                          <a:ea typeface="+mn-ea"/>
                          <a:cs typeface="+mn-cs"/>
                        </a:rPr>
                        <a:t>1988 й. “Ўзбекистон Республикасида хизмат кўрсатган артист”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1989 й Давлат Мукофоти совриндори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1992 й. “Ўзбекистон Республикаси ҳалқ артисти”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2021 й. “Фидокорона хизматлари учун” ордени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593183" y="869286"/>
          <a:ext cx="3173921" cy="5926944"/>
        </p:xfrm>
        <a:graphic>
          <a:graphicData uri="http://schemas.openxmlformats.org/drawingml/2006/table">
            <a:tbl>
              <a:tblPr firstRow="1" bandRow="1">
                <a:tableStyleId>{C083E6E3-FA7D-4D7B-A595-EF9225AFEA82}</a:tableStyleId>
              </a:tblPr>
              <a:tblGrid>
                <a:gridCol w="3173921">
                  <a:extLst>
                    <a:ext uri="{9D8B030D-6E8A-4147-A177-3AD203B41FA5}">
                      <a16:colId xmlns:a16="http://schemas.microsoft.com/office/drawing/2014/main" val="2715609854"/>
                    </a:ext>
                  </a:extLst>
                </a:gridCol>
              </a:tblGrid>
              <a:tr h="230400">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04418">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888812">
                <a:tc>
                  <a:txBody>
                    <a:bodyPr/>
                    <a:lstStyle/>
                    <a:p>
                      <a:pPr marL="0" indent="179388" algn="just"/>
                      <a:r>
                        <a:rPr lang="uz-Cyrl-UZ" sz="900" b="0" kern="1200" dirty="0" smtClean="0">
                          <a:solidFill>
                            <a:schemeClr val="tx1"/>
                          </a:solidFill>
                          <a:effectLst/>
                          <a:latin typeface="+mn-lt"/>
                          <a:ea typeface="+mn-ea"/>
                          <a:cs typeface="+mn-cs"/>
                        </a:rPr>
                        <a:t>Т.Муминовни театрда саҳналаштирилган 150 га яқин асарларда етакчи қаҳрамон ролларини ижро этди. “Ажал минораси”даги Орсиний саҳнадаги энг илк йирик образидир. Театршунослар унинг бу ролиданоқ ўзбек театр саҳнасига ўзига хос истеъдод пайдо бўлганини эътироф этишган эди. Шундан сўнг актёр бирин-кетин бу кунда мумтоз деб тан олинган образларни ярата бошлади. Жумладан, “Ой тутилган тунда” спектаклида Девона, “Тўмарис”да Қайхсиров, “Шох эдип”да Чўпон, “Олтин девор”да Қиличбек, “Абу Райхон Беруний”да Қоплонбек,</a:t>
                      </a:r>
                      <a:r>
                        <a:rPr lang="uz-Cyrl-UZ"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“Йўлчи юлдуз”да Темур Мардонов, “Инқилоб тонги”да Ботир Тўраев, “Куёв”да Махсум куёв, “Алишер Навоий”да Хусайн Байқаро, “Истиқбол сари”да Рафаэль, “Ўжарлар”да Холмурод, “Бобораҳим Машраб”да Маҳмудхон каби роллари билан хақли равишда томошабин мехру мухаббатини қозонди. Баравж ғайрату шижоат, улкан эхтирос, юқори ижрочилик махорати, табиийлик, нутқ ижросининг сержилолиги кўпқиррали актёр ижодининг доимий сифатларидир.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Т.Муминов кинода, видео ва телевизион фильмларда ҳам ўзига хос эсда қоларли образлар яратди. Шунингдек Германия, Корея, Россия ҳамда Тожикфилмларда ҳам эътиборли роллар яратди.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Теша Мўминов “Медея”да Эгей, “Қизғанчиқ рицар”да Альбер, “Қора карвон”да Жунаидхон, “Варшава таронаси”да Виктор, “Зирапча”да мактаб директори, “Бухоройи шариф”да Тилло, “Кўр ёмғир” (Слепой дождь)да Қўчқор, “Судхўрнинг ўлими”да мулла, “Акмалнинг янги саргузаштлари”да темирчи Акмал, “Илон”да прокурор,  “Келинлар қўзғалони”да Комил, “Мурувват”да банкир, “Бобом қани”да бобо, “Ота”да ота, “Ватан кутади” (Родина ждет)да Бишара, “Чегарадаги қишлоқ”да Тўра бобо, “Узилган ришта”да Шухрат Султонов, “Йўлланган совчилар”да Акбар ака, “Соҳта туйғу”да ота, “Ҳаётим орзуси”да бош шифокор ва бошқа роллар билан кўп сонли томошабинлар орасида шухрат топди. Санъаткор жаъми 300 ортиқ ролларни ижро этди.</a:t>
                      </a:r>
                      <a:endParaRPr lang="ru-RU" sz="900" b="0" kern="1200" dirty="0" smtClean="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8887">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35007">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1026" name="Picture 2" descr="9х12"/>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87396" y="1153555"/>
            <a:ext cx="784946" cy="1046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981847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265283" cy="5928201"/>
        </p:xfrm>
        <a:graphic>
          <a:graphicData uri="http://schemas.openxmlformats.org/drawingml/2006/table">
            <a:tbl>
              <a:tblPr firstRow="1" bandRow="1">
                <a:tableStyleId>{C083E6E3-FA7D-4D7B-A595-EF9225AFEA82}</a:tableStyleId>
              </a:tblPr>
              <a:tblGrid>
                <a:gridCol w="567013">
                  <a:extLst>
                    <a:ext uri="{9D8B030D-6E8A-4147-A177-3AD203B41FA5}">
                      <a16:colId xmlns:a16="http://schemas.microsoft.com/office/drawing/2014/main" val="2288412290"/>
                    </a:ext>
                  </a:extLst>
                </a:gridCol>
                <a:gridCol w="479704">
                  <a:extLst>
                    <a:ext uri="{9D8B030D-6E8A-4147-A177-3AD203B41FA5}">
                      <a16:colId xmlns:a16="http://schemas.microsoft.com/office/drawing/2014/main" val="1678982439"/>
                    </a:ext>
                  </a:extLst>
                </a:gridCol>
                <a:gridCol w="146231">
                  <a:extLst>
                    <a:ext uri="{9D8B030D-6E8A-4147-A177-3AD203B41FA5}">
                      <a16:colId xmlns:a16="http://schemas.microsoft.com/office/drawing/2014/main" val="2721661767"/>
                    </a:ext>
                  </a:extLst>
                </a:gridCol>
                <a:gridCol w="867124">
                  <a:extLst>
                    <a:ext uri="{9D8B030D-6E8A-4147-A177-3AD203B41FA5}">
                      <a16:colId xmlns:a16="http://schemas.microsoft.com/office/drawing/2014/main" val="546773760"/>
                    </a:ext>
                  </a:extLst>
                </a:gridCol>
                <a:gridCol w="1205211">
                  <a:extLst>
                    <a:ext uri="{9D8B030D-6E8A-4147-A177-3AD203B41FA5}">
                      <a16:colId xmlns:a16="http://schemas.microsoft.com/office/drawing/2014/main" val="546443978"/>
                    </a:ext>
                  </a:extLst>
                </a:gridCol>
              </a:tblGrid>
              <a:tr h="247657">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361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УМАРОВ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36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Саидкомил</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36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baseline="0" dirty="0" smtClean="0">
                          <a:solidFill>
                            <a:schemeClr val="tx1"/>
                          </a:solidFill>
                          <a:latin typeface="+mn-lt"/>
                          <a:ea typeface="+mn-ea"/>
                          <a:cs typeface="+mn-cs"/>
                        </a:rPr>
                        <a:t>Хамраевич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361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36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02.11.1946</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36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a:t>
                      </a:r>
                      <a:r>
                        <a:rPr lang="uz-Cyrl-UZ" sz="800" b="0" kern="1200" baseline="0" dirty="0" smtClean="0">
                          <a:solidFill>
                            <a:schemeClr val="tx1"/>
                          </a:solidFill>
                          <a:latin typeface="+mn-lt"/>
                          <a:ea typeface="+mn-ea"/>
                          <a:cs typeface="+mn-cs"/>
                        </a:rPr>
                        <a:t>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5017">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50360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5017">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61539">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УМАРОВ</a:t>
                      </a:r>
                      <a:r>
                        <a:rPr lang="uz-Cyrl-UZ" sz="900" b="1" kern="1200" baseline="0" noProof="0" dirty="0" smtClean="0">
                          <a:solidFill>
                            <a:schemeClr val="tx1"/>
                          </a:solidFill>
                          <a:latin typeface="+mn-lt"/>
                          <a:ea typeface="+mn-ea"/>
                          <a:cs typeface="Arial" panose="020B0604020202020204" pitchFamily="34" charset="0"/>
                        </a:rPr>
                        <a:t> Хамрохўжа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1903 йил, Тошкент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1981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Вагонларни таъмирлаш заводи ишчиси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19808">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ЖАББОРОВА</a:t>
                      </a:r>
                      <a:r>
                        <a:rPr lang="uz-Cyrl-UZ" sz="900" b="1" kern="1200" baseline="0" noProof="0" dirty="0" smtClean="0">
                          <a:solidFill>
                            <a:schemeClr val="tx1"/>
                          </a:solidFill>
                          <a:latin typeface="+mn-lt"/>
                          <a:ea typeface="+mn-ea"/>
                          <a:cs typeface="Arial" panose="020B0604020202020204" pitchFamily="34" charset="0"/>
                        </a:rPr>
                        <a:t> Зебунисо</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1911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2000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уй 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787997">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УМАРОВА Саида Саидваққасовна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1951</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Пенсияда</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(Ўзбекистон давлат мулк қўмитаси </a:t>
                      </a:r>
                      <a:r>
                        <a:rPr lang="ru-RU" sz="900" kern="1200" dirty="0" err="1" smtClean="0">
                          <a:solidFill>
                            <a:schemeClr val="tx1"/>
                          </a:solidFill>
                          <a:effectLst/>
                          <a:latin typeface="+mn-lt"/>
                          <a:ea typeface="+mn-ea"/>
                          <a:cs typeface="+mn-cs"/>
                        </a:rPr>
                        <a:t>кадрлар</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бўлими</a:t>
                      </a:r>
                      <a:r>
                        <a:rPr lang="ru-RU" sz="900" kern="1200" dirty="0" smtClean="0">
                          <a:solidFill>
                            <a:schemeClr val="tx1"/>
                          </a:solidFill>
                          <a:effectLst/>
                          <a:latin typeface="+mn-lt"/>
                          <a:ea typeface="+mn-ea"/>
                          <a:cs typeface="+mn-cs"/>
                        </a:rPr>
                        <a:t> бош </a:t>
                      </a:r>
                      <a:r>
                        <a:rPr lang="uz-Cyrl-UZ" sz="900" kern="1200" dirty="0" smtClean="0">
                          <a:solidFill>
                            <a:schemeClr val="tx1"/>
                          </a:solidFill>
                          <a:effectLst/>
                          <a:latin typeface="+mn-lt"/>
                          <a:ea typeface="+mn-ea"/>
                          <a:cs typeface="+mn-cs"/>
                        </a:rPr>
                        <a:t>мутахассиси)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1318">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65073">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1970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baseline="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baseline="0" noProof="0" dirty="0" smtClean="0">
                          <a:solidFill>
                            <a:schemeClr val="tx1"/>
                          </a:solidFill>
                          <a:latin typeface="+mn-lt"/>
                          <a:ea typeface="+mn-ea"/>
                          <a:cs typeface="+mn-cs"/>
                        </a:rPr>
                        <a:t>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9218">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9808">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9808">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40673">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502803" y="865688"/>
          <a:ext cx="2992001" cy="5928214"/>
        </p:xfrm>
        <a:graphic>
          <a:graphicData uri="http://schemas.openxmlformats.org/drawingml/2006/table">
            <a:tbl>
              <a:tblPr firstRow="1" bandRow="1">
                <a:tableStyleId>{C083E6E3-FA7D-4D7B-A595-EF9225AFEA82}</a:tableStyleId>
              </a:tblPr>
              <a:tblGrid>
                <a:gridCol w="1411905">
                  <a:extLst>
                    <a:ext uri="{9D8B030D-6E8A-4147-A177-3AD203B41FA5}">
                      <a16:colId xmlns:a16="http://schemas.microsoft.com/office/drawing/2014/main" val="2715609854"/>
                    </a:ext>
                  </a:extLst>
                </a:gridCol>
                <a:gridCol w="1580096">
                  <a:extLst>
                    <a:ext uri="{9D8B030D-6E8A-4147-A177-3AD203B41FA5}">
                      <a16:colId xmlns:a16="http://schemas.microsoft.com/office/drawing/2014/main" val="546443978"/>
                    </a:ext>
                  </a:extLst>
                </a:gridCol>
              </a:tblGrid>
              <a:tr h="348223">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74180">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1971</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8459">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9870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55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870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39517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endParaRPr lang="ru-RU" sz="900" kern="1200" dirty="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9740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9740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7392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198703">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06353">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280979">
                <a:tc gridSpan="2">
                  <a:txBody>
                    <a:bodyPr/>
                    <a:lstStyle/>
                    <a:p>
                      <a:r>
                        <a:rPr lang="ru-RU" sz="900" kern="1200" dirty="0" smtClean="0">
                          <a:solidFill>
                            <a:schemeClr val="tx1"/>
                          </a:solidFill>
                          <a:effectLst/>
                          <a:latin typeface="+mn-lt"/>
                          <a:ea typeface="+mn-ea"/>
                          <a:cs typeface="+mn-cs"/>
                        </a:rPr>
                        <a:t>1989 й</a:t>
                      </a:r>
                      <a:r>
                        <a:rPr lang="uz-Cyrl-UZ"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Ўзбекистонда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хизмат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кўрсатган</a:t>
                      </a:r>
                      <a:r>
                        <a:rPr lang="ru-RU" sz="900" kern="1200" dirty="0" smtClean="0">
                          <a:solidFill>
                            <a:schemeClr val="tx1"/>
                          </a:solidFill>
                          <a:effectLst/>
                          <a:latin typeface="+mn-lt"/>
                          <a:ea typeface="+mn-ea"/>
                          <a:cs typeface="+mn-cs"/>
                        </a:rPr>
                        <a:t> артист</a:t>
                      </a:r>
                      <a:r>
                        <a:rPr lang="uz-Cyrl-UZ" sz="900" kern="1200" dirty="0" smtClean="0">
                          <a:solidFill>
                            <a:schemeClr val="tx1"/>
                          </a:solidFill>
                          <a:effectLst/>
                          <a:latin typeface="+mn-lt"/>
                          <a:ea typeface="+mn-ea"/>
                          <a:cs typeface="+mn-cs"/>
                        </a:rPr>
                        <a:t>” фахрий унвони</a:t>
                      </a:r>
                      <a:endParaRPr lang="ru-RU" sz="900" kern="1200" dirty="0" smtClean="0">
                        <a:solidFill>
                          <a:schemeClr val="tx1"/>
                        </a:solidFill>
                        <a:effectLst/>
                        <a:latin typeface="+mn-lt"/>
                        <a:ea typeface="+mn-ea"/>
                        <a:cs typeface="+mn-cs"/>
                      </a:endParaRPr>
                    </a:p>
                    <a:p>
                      <a:r>
                        <a:rPr lang="ru-RU" sz="900" kern="1200" dirty="0" smtClean="0">
                          <a:solidFill>
                            <a:schemeClr val="tx1"/>
                          </a:solidFill>
                          <a:effectLst/>
                          <a:latin typeface="+mn-lt"/>
                          <a:ea typeface="+mn-ea"/>
                          <a:cs typeface="+mn-cs"/>
                        </a:rPr>
                        <a:t>2000 й</a:t>
                      </a:r>
                      <a:r>
                        <a:rPr lang="uz-Cyrl-UZ"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Ўзбекистон</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Республикаси </a:t>
                      </a:r>
                      <a:r>
                        <a:rPr lang="ru-RU" sz="900" kern="1200" dirty="0" err="1" smtClean="0">
                          <a:solidFill>
                            <a:schemeClr val="tx1"/>
                          </a:solidFill>
                          <a:effectLst/>
                          <a:latin typeface="+mn-lt"/>
                          <a:ea typeface="+mn-ea"/>
                          <a:cs typeface="+mn-cs"/>
                        </a:rPr>
                        <a:t>халқ</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артисти</a:t>
                      </a:r>
                      <a:r>
                        <a:rPr lang="uz-Cyrl-UZ" sz="900" kern="1200" dirty="0" smtClean="0">
                          <a:solidFill>
                            <a:schemeClr val="tx1"/>
                          </a:solidFill>
                          <a:effectLst/>
                          <a:latin typeface="+mn-lt"/>
                          <a:ea typeface="+mn-ea"/>
                          <a:cs typeface="+mn-cs"/>
                        </a:rPr>
                        <a:t>” фахрий унвони</a:t>
                      </a:r>
                      <a:endParaRPr lang="ru-RU" sz="900" kern="1200" dirty="0" smtClean="0">
                        <a:solidFill>
                          <a:schemeClr val="tx1"/>
                        </a:solidFill>
                        <a:effectLst/>
                        <a:latin typeface="+mn-lt"/>
                        <a:ea typeface="+mn-ea"/>
                        <a:cs typeface="+mn-cs"/>
                      </a:endParaRPr>
                    </a:p>
                    <a:p>
                      <a:r>
                        <a:rPr lang="ru-RU" sz="900" kern="1200" dirty="0" smtClean="0">
                          <a:solidFill>
                            <a:schemeClr val="tx1"/>
                          </a:solidFill>
                          <a:effectLst/>
                          <a:latin typeface="+mn-lt"/>
                          <a:ea typeface="+mn-ea"/>
                          <a:cs typeface="+mn-cs"/>
                        </a:rPr>
                        <a:t>2014 </a:t>
                      </a:r>
                      <a:r>
                        <a:rPr lang="uz-Cyrl-UZ" sz="900" kern="1200" dirty="0" smtClean="0">
                          <a:solidFill>
                            <a:schemeClr val="tx1"/>
                          </a:solidFill>
                          <a:effectLst/>
                          <a:latin typeface="+mn-lt"/>
                          <a:ea typeface="+mn-ea"/>
                          <a:cs typeface="+mn-cs"/>
                        </a:rPr>
                        <a:t>й. “Эл-юрт хурмати” ордени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587835" y="869285"/>
          <a:ext cx="3179269" cy="5938116"/>
        </p:xfrm>
        <a:graphic>
          <a:graphicData uri="http://schemas.openxmlformats.org/drawingml/2006/table">
            <a:tbl>
              <a:tblPr firstRow="1" bandRow="1">
                <a:tableStyleId>{C083E6E3-FA7D-4D7B-A595-EF9225AFEA82}</a:tableStyleId>
              </a:tblPr>
              <a:tblGrid>
                <a:gridCol w="3179269">
                  <a:extLst>
                    <a:ext uri="{9D8B030D-6E8A-4147-A177-3AD203B41FA5}">
                      <a16:colId xmlns:a16="http://schemas.microsoft.com/office/drawing/2014/main" val="2715609854"/>
                    </a:ext>
                  </a:extLst>
                </a:gridCol>
              </a:tblGrid>
              <a:tr h="231454">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72600">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34809">
                <a:tc>
                  <a:txBody>
                    <a:bodyPr/>
                    <a:lstStyle/>
                    <a:p>
                      <a:pPr marL="0" indent="179388" algn="just"/>
                      <a:r>
                        <a:rPr lang="uz-Cyrl-UZ" sz="900" b="0" kern="1200" dirty="0" smtClean="0">
                          <a:solidFill>
                            <a:schemeClr val="tx1"/>
                          </a:solidFill>
                          <a:effectLst/>
                          <a:latin typeface="+mn-lt"/>
                          <a:ea typeface="+mn-ea"/>
                          <a:cs typeface="+mn-cs"/>
                        </a:rPr>
                        <a:t>С.Умаровнинг ижодий фаолияти талабалик йилларидаёқ бошланган. Ҳ.Файзиевнинг “Ой бориб, омон қайт” бадиий фильмидаги Элмурод у яратган дастлабки образ бўлди.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У институтни битириши биланоқ устоз санъаткор Олим Хўжаев таклифига биноан Миллий театрга ишга қабул қилинди ва шу кундан буён театр ижодий жамоасида меҳнат қилмоқда. Бу даврда у 100 га яқин турли характердаги бетакрор образлар яратди. Театрда саҳналаштирилган “Қароқчилар” спектаклида Карл Моор, “Абай”да Абдураҳмон, “Зебуннисо”да Розий, “Отелло”да Кассио, “Кўк эшик ортидаги аёл”да Мансур, “Оловни ташлама, Прометей”да Одамшоҳ, “Шайтон ва фаришта”да Қобил, “Абулфайзхон”да Улфатсарой, “Юлдузли тунлар”да Маҳмудхон, “Усмон Носир”да Ота, “Хасрат боғи”да Бошлиқ, “Омонат дунё”да Қодиров, “Дарахтлар тик туриб жон беради”да Профессор, “Ўткан кунлар”да Мирзакарим Қутидор, “Мирзо Улуғбек”да Шайхулислом Бурхониддин каби образларни маҳорат билан яратди.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С.Умаров нафақат театрда, балки кино соҳасида ҳам фаолият юритиб, “Узоқ ва яқин йиллар”, “Йўл бўлсин”, “Лафз”, “Паноҳ” каби 20 дан зиёд филмлардаги роллари билан томошабинлар меҳрини қозонди.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Унинг кенг томошабинлар оммасига яқиндан танилишида телевидениенинг роли бениҳоя катта бўлди. Ўзбекистон телевидениесида суратга олинган қатор телеспектакль, видеофильм ва телевизион фильмларда роллар ижро этиб, ҳар бир ўзбек хонадонига кириб борди. “Гули ва Навоий”даги Алишер Навоий, “Бобур”даги Меъмор Фазлиддин, “Кеча ва кундуз”даги Мирёқуб, “Янги ой чиққан кеча”даги Шифокор, “Оловли йўллар” Қосим, “Жийда гули” Ота, “Фидойилар”даги Ойбек ва кўп қисмлик “Муаллим” видеофильмидаги Муаллим, “Дунёнинг ишлари” видеофильмидаги Муаллиф ролларини маромига етказиб ижро этди.</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9568">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36185">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1027" name="Picture 3" descr="1"/>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37520" y="1133048"/>
            <a:ext cx="826510" cy="1094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5404025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90" y="865702"/>
          <a:ext cx="3256736" cy="5928203"/>
        </p:xfrm>
        <a:graphic>
          <a:graphicData uri="http://schemas.openxmlformats.org/drawingml/2006/table">
            <a:tbl>
              <a:tblPr firstRow="1" bandRow="1">
                <a:tableStyleId>{C083E6E3-FA7D-4D7B-A595-EF9225AFEA82}</a:tableStyleId>
              </a:tblPr>
              <a:tblGrid>
                <a:gridCol w="565529">
                  <a:extLst>
                    <a:ext uri="{9D8B030D-6E8A-4147-A177-3AD203B41FA5}">
                      <a16:colId xmlns:a16="http://schemas.microsoft.com/office/drawing/2014/main" val="2288412290"/>
                    </a:ext>
                  </a:extLst>
                </a:gridCol>
                <a:gridCol w="478449">
                  <a:extLst>
                    <a:ext uri="{9D8B030D-6E8A-4147-A177-3AD203B41FA5}">
                      <a16:colId xmlns:a16="http://schemas.microsoft.com/office/drawing/2014/main" val="1678982439"/>
                    </a:ext>
                  </a:extLst>
                </a:gridCol>
                <a:gridCol w="145849">
                  <a:extLst>
                    <a:ext uri="{9D8B030D-6E8A-4147-A177-3AD203B41FA5}">
                      <a16:colId xmlns:a16="http://schemas.microsoft.com/office/drawing/2014/main" val="2721661767"/>
                    </a:ext>
                  </a:extLst>
                </a:gridCol>
                <a:gridCol w="864853">
                  <a:extLst>
                    <a:ext uri="{9D8B030D-6E8A-4147-A177-3AD203B41FA5}">
                      <a16:colId xmlns:a16="http://schemas.microsoft.com/office/drawing/2014/main" val="546773760"/>
                    </a:ext>
                  </a:extLst>
                </a:gridCol>
                <a:gridCol w="1202056">
                  <a:extLst>
                    <a:ext uri="{9D8B030D-6E8A-4147-A177-3AD203B41FA5}">
                      <a16:colId xmlns:a16="http://schemas.microsoft.com/office/drawing/2014/main" val="546443978"/>
                    </a:ext>
                  </a:extLst>
                </a:gridCol>
              </a:tblGrid>
              <a:tr h="24158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886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ИБРОҲИМОВА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886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Рихсихон</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886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baseline="0" dirty="0" smtClean="0">
                          <a:solidFill>
                            <a:schemeClr val="tx1"/>
                          </a:solidFill>
                          <a:latin typeface="+mn-lt"/>
                          <a:ea typeface="+mn-ea"/>
                          <a:cs typeface="+mn-cs"/>
                        </a:rPr>
                        <a:t>Исмаиловна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886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886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29.12.1937</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886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a:t>
                      </a:r>
                      <a:r>
                        <a:rPr lang="uz-Cyrl-UZ" sz="800" b="0" kern="1200" baseline="0" dirty="0" smtClean="0">
                          <a:solidFill>
                            <a:schemeClr val="tx1"/>
                          </a:solidFill>
                          <a:latin typeface="+mn-lt"/>
                          <a:ea typeface="+mn-ea"/>
                          <a:cs typeface="+mn-cs"/>
                        </a:rPr>
                        <a:t>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9253">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1256">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9253">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47767">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baseline="0" noProof="0" dirty="0" smtClean="0">
                          <a:solidFill>
                            <a:schemeClr val="tx1"/>
                          </a:solidFill>
                          <a:latin typeface="+mn-lt"/>
                          <a:ea typeface="+mn-ea"/>
                          <a:cs typeface="Arial" panose="020B0604020202020204" pitchFamily="34" charset="0"/>
                        </a:rPr>
                        <a:t>ИБРОҲИМОВ Исмаилхўжа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1906 йил, Тошкент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1977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Тошкент шаҳри 84-сонли авиазавод ишчиси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29865">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baseline="0" noProof="0" dirty="0" smtClean="0">
                          <a:solidFill>
                            <a:schemeClr val="tx1"/>
                          </a:solidFill>
                          <a:latin typeface="+mn-lt"/>
                          <a:ea typeface="+mn-ea"/>
                          <a:cs typeface="Arial" panose="020B0604020202020204" pitchFamily="34" charset="0"/>
                        </a:rPr>
                        <a:t>ИБРОҲИМОВА Мукаррамхон</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1908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1964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уй 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629964">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ХОДЖАЕВ Дадил Камалович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1940</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ru-RU" sz="900" b="0" kern="1200" noProof="0" dirty="0" smtClean="0">
                          <a:solidFill>
                            <a:schemeClr val="tx1"/>
                          </a:solidFill>
                          <a:latin typeface="+mn-lt"/>
                          <a:ea typeface="+mn-ea"/>
                          <a:cs typeface="Arial" panose="020B0604020202020204" pitchFamily="34" charset="0"/>
                        </a:rPr>
                        <a:t>2004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r>
                        <a:rPr lang="uz-Cyrl-UZ" sz="900" kern="1200" dirty="0" smtClean="0">
                          <a:solidFill>
                            <a:schemeClr val="tx1"/>
                          </a:solidFill>
                          <a:effectLst/>
                          <a:latin typeface="+mn-lt"/>
                          <a:ea typeface="+mn-ea"/>
                          <a:cs typeface="+mn-cs"/>
                        </a:rPr>
                        <a:t>(Алишер Навоий номидаги миллий кутубхона ходими)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6136">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11356">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1959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baseline="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baseline="0" noProof="0" dirty="0" smtClean="0">
                          <a:solidFill>
                            <a:schemeClr val="tx1"/>
                          </a:solidFill>
                          <a:latin typeface="+mn-lt"/>
                          <a:ea typeface="+mn-ea"/>
                          <a:cs typeface="+mn-cs"/>
                        </a:rPr>
                        <a:t>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24805">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1964">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1964">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29865">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486518" y="865691"/>
          <a:ext cx="3172841" cy="5928215"/>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277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81689">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1957</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1839">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130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67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30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41342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endParaRPr lang="ru-RU" sz="900" kern="1200" dirty="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02600">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0260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0260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0130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09052">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297731">
                <a:tc gridSpan="2">
                  <a:txBody>
                    <a:bodyPr/>
                    <a:lstStyle/>
                    <a:p>
                      <a:r>
                        <a:rPr lang="uz-Cyrl-UZ" sz="900" kern="1200" dirty="0" smtClean="0">
                          <a:solidFill>
                            <a:schemeClr val="tx1"/>
                          </a:solidFill>
                          <a:effectLst/>
                          <a:latin typeface="+mn-lt"/>
                          <a:ea typeface="+mn-ea"/>
                          <a:cs typeface="+mn-cs"/>
                        </a:rPr>
                        <a:t>1967 й. “Ўзбекистонда хизмат кўрсатган артист”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1979 й. “Ўзбекистон ҳалқ артисти”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1997 й. “Меҳнат шуҳрати” ордени </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2011 й. “Эл-юрт ҳурмати” ордени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2020 й. “Фидокорона хизматлари учун” ордени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744651" y="869286"/>
          <a:ext cx="3022453" cy="5938223"/>
        </p:xfrm>
        <a:graphic>
          <a:graphicData uri="http://schemas.openxmlformats.org/drawingml/2006/table">
            <a:tbl>
              <a:tblPr firstRow="1" bandRow="1">
                <a:tableStyleId>{C083E6E3-FA7D-4D7B-A595-EF9225AFEA82}</a:tableStyleId>
              </a:tblPr>
              <a:tblGrid>
                <a:gridCol w="3022453">
                  <a:extLst>
                    <a:ext uri="{9D8B030D-6E8A-4147-A177-3AD203B41FA5}">
                      <a16:colId xmlns:a16="http://schemas.microsoft.com/office/drawing/2014/main" val="2715609854"/>
                    </a:ext>
                  </a:extLst>
                </a:gridCol>
              </a:tblGrid>
              <a:tr h="231294">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32220">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769696">
                <a:tc>
                  <a:txBody>
                    <a:bodyPr/>
                    <a:lstStyle/>
                    <a:p>
                      <a:pPr marL="0" indent="179388" algn="just"/>
                      <a:r>
                        <a:rPr lang="uz-Cyrl-UZ" sz="900" b="0" kern="1200" dirty="0" smtClean="0">
                          <a:solidFill>
                            <a:schemeClr val="tx1"/>
                          </a:solidFill>
                          <a:effectLst/>
                          <a:latin typeface="+mn-lt"/>
                          <a:ea typeface="+mn-ea"/>
                          <a:cs typeface="+mn-cs"/>
                        </a:rPr>
                        <a:t>Р.Иброхимова кўплаб спектаклларда ижро этиб келмоқда, жумладан:  “Навоий”да Гули,  “Бой ила хизматчи”да Жамила, “Мирзо Улуғбек”да Феруза, “Гамлет”да Офелия, “Отелло”да Эмелия, “Шошма қуёш”да  Санобар, “Алла”да Ойсара Ахатовна, “Хазрати аёл”да Ойша Содиқовна, “Ўтган замон хангомалари”да Она, “Ўзбекча рақс”да Дилбархон, “Йиғлома қиз”да Буви, “Қаллиқ уйин”да Момо, “Рустам”да Зебихон, “Имон”да  Рисолат, “Мирзо Улуғбек” Гавхар шодбегим каби такрорланмас роллари мазмунан чуқурлиги, ижро махоратининг мукаммаллиги, мантиқий талқини билан эътиборга лойиқдир.</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Радио ва телевиденияда унинг  ижросидаги кўплаб эшиттириш ва кўрсатувлар миллий бойлигимиз бўлган “Олтин фонд”да сақланиб келинмоқда. “Она қалби”, “Гулшан”, “Тилла узук”, “Севги сатрлари”, “Диёнат”, “Кеча ва кундуз”, “Бобур”, “Оталар сўзи – ақилнинг кўзи” каби  туркум кўрсатувлар, “Ўзбекфильмда”  “Шум бола”, “Келинлар қўзғалони”, “Интеграл”, “Сени излаб”, “Бегона бахор”, “Қасам”, “Академия”, “Гунох” фильмдаги қатор образлари Рихси опа ижодининг кичик бир қисми холос.</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Р.Иброхимова “Ўзбектеатр” ИИЧБ йўлланмаси билан 1986 йили Владивостокда  ўтказилган “Ёшларнинг  халқаро тинчлик форуми”да қатнашиб миллий  маданиятимизни юксак даражада намойиш этди. 1987 йили биринчилардан бўлиб “Чернобль  халокати оқибатларини бартараф этиш”да қатнашиб, рус тилида Лев Борисович Гладких  (Лутфулла Ғани)нинг “Сўнгги тун” асаридаги Нодирабегим ролини ижро этиб, байналминал ва ватанпарварлик бурчини адо этиб жарохатли қалбларга малхам бўлди.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2008 йилда “саҳна фариштаси” дея эътироф этилган.</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2009 йилда “энг фаол маънавият тарғибочиси” Республика кўрик танлови ғолибаси.</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9465">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41945">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1026" name="Picture 2" descr="Scan10001"/>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337272" y="1151919"/>
            <a:ext cx="766179" cy="1050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5014848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901589"/>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2580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75333">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АБДУРАХИМОВ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7533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Қахрамон</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7533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ХХХ</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75333">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7533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08.08.1949</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7533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Бухоро 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14281">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50286">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14281">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01142">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ХАМИДОВ Абдурахим</a:t>
                      </a:r>
                      <a:endParaRPr lang="uz-Cyrl-UZ" sz="900" b="1" kern="1200" baseline="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1898 йил, Бухоро вилояти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1966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Қоракўл тумани жамоа хўжалиги деҳқони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00831">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ХАМИДОВА</a:t>
                      </a:r>
                      <a:r>
                        <a:rPr lang="uz-Cyrl-UZ" sz="900" b="1" kern="1200" baseline="0" noProof="0" dirty="0" smtClean="0">
                          <a:solidFill>
                            <a:schemeClr val="tx1"/>
                          </a:solidFill>
                          <a:latin typeface="+mn-lt"/>
                          <a:ea typeface="+mn-ea"/>
                          <a:cs typeface="Arial" panose="020B0604020202020204" pitchFamily="34" charset="0"/>
                        </a:rPr>
                        <a:t> Муаттар</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1903 йил, Бухоро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1983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уй 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77426">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АБДУРАХИМОВА Феруза</a:t>
                      </a:r>
                      <a:r>
                        <a:rPr lang="uz-Cyrl-UZ" sz="900" b="1" kern="1200" baseline="0" noProof="0" dirty="0" smtClean="0">
                          <a:solidFill>
                            <a:schemeClr val="tx1"/>
                          </a:solidFill>
                          <a:latin typeface="+mn-lt"/>
                          <a:ea typeface="+mn-ea"/>
                          <a:cs typeface="Arial" panose="020B0604020202020204" pitchFamily="34" charset="0"/>
                        </a:rPr>
                        <a:t> </a:t>
                      </a:r>
                      <a:r>
                        <a:rPr lang="uz-Cyrl-UZ" sz="900" b="1" kern="1200" noProof="0" dirty="0" smtClean="0">
                          <a:solidFill>
                            <a:schemeClr val="tx1"/>
                          </a:solidFill>
                          <a:latin typeface="+mn-lt"/>
                          <a:ea typeface="+mn-ea"/>
                          <a:cs typeface="Arial" panose="020B0604020202020204" pitchFamily="34" charset="0"/>
                        </a:rPr>
                        <a:t>Равшановна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1950</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Навоий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Пенсияда</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(Ўзбекистон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Давлат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консерваторияси</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профессори)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92673">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79157">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1971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baseline="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baseline="0" noProof="0" dirty="0" smtClean="0">
                          <a:solidFill>
                            <a:schemeClr val="tx1"/>
                          </a:solidFill>
                          <a:latin typeface="+mn-lt"/>
                          <a:ea typeface="+mn-ea"/>
                          <a:cs typeface="+mn-cs"/>
                        </a:rPr>
                        <a:t>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5461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90630">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90630">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02441">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91"/>
          <a:ext cx="3172841" cy="5921034"/>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2350">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80985">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1971</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152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105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55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05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41171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endParaRPr lang="ru-RU" sz="900" kern="1200" dirty="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0211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0211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0211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0105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08799">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296159">
                <a:tc gridSpan="2">
                  <a:txBody>
                    <a:bodyPr/>
                    <a:lstStyle/>
                    <a:p>
                      <a:r>
                        <a:rPr lang="uz-Cyrl-UZ" sz="900" kern="1200" dirty="0" smtClean="0">
                          <a:solidFill>
                            <a:schemeClr val="tx1"/>
                          </a:solidFill>
                          <a:effectLst/>
                          <a:latin typeface="+mn-lt"/>
                          <a:ea typeface="+mn-ea"/>
                          <a:cs typeface="+mn-cs"/>
                        </a:rPr>
                        <a:t>1993 й. “Ўзбекистон Республикасида хизмат кўрсатган артист” фахрий унвони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8"/>
          <a:ext cx="2817247" cy="5933753"/>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18154">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16557">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368481">
                <a:tc>
                  <a:txBody>
                    <a:bodyPr/>
                    <a:lstStyle/>
                    <a:p>
                      <a:pPr marL="0" indent="179388" algn="just"/>
                      <a:r>
                        <a:rPr lang="uz-Cyrl-UZ" sz="900" b="0" kern="1200" dirty="0" smtClean="0">
                          <a:solidFill>
                            <a:schemeClr val="tx1"/>
                          </a:solidFill>
                          <a:effectLst/>
                          <a:latin typeface="+mn-lt"/>
                          <a:ea typeface="+mn-ea"/>
                          <a:cs typeface="+mn-cs"/>
                        </a:rPr>
                        <a:t>К. Абдурахимов  актёрлик фаолияти давомида 150 га яқин саҳна асарларида турли характердаги кишилар сиймосини гавдалантирди. Жумладан, “Қароқчилар” спектаклида Рацман, “Мирзо Улуғбек”да Саид, “Келинлар қўзғолони”да Тўхта, “Пири коинот”да Маврудий,  “Кузнинг биринчи куни”да Рамзиддин, “Зебунисо”да Рожарам, “Муҳаббат султони”да Қайс, “Нодирабегим”да Маъдалихон, “Алишер Навоий”да Мажиддин, “Отелло”да Родриго, “Қирол Лир”да Герцог Корнуэль, “Макр ва муҳаббат”да Миллер, “Абулфайзхон”да Мирвафо, “Соҳибқирон Темур”да Тўхтамишхон, “Қароқчилар”да Ратсман, “Аризасига кўра”да Шуҳрат, “Тили асалим”да Арслон бобо, “Қаллиқ ўйини”да Худойназар, “Тун албатта ўтади”да Женнаро, “Бир кошона сирлари”да Дарвишали, “Муқаддас тахтизар”да Искандар Зулқарнай, “Тили асалим”да чол, “Шайтон ва фаришта”да Қобил, “Ўзбекча рақс”да муаллиф, “Танҳо юлдузим”да Мурод, “Бахтли гадолар”да Саид, “Абдулла Қодирийнинг “Ўткан кунлари”да Худоёрхон, “Кундузсиз кечалар”да профессор, “Ўтган замон ҳангомалари”да Тоживой, “Адибнинг умри”да Зоҳид, “Тақдир синовлари”да Эсонқул, “Рустам”да чол, “Талваса”да Жидалибей, “Усмон Носир”да Матвеев, “Ўткан кунлар”да Ҳасанали, “Омад биз томонда” Орзубой, “Имон”да Йўлдош Комилов, “Кузги мактублар”да Тўлаганов, “Алишер Навоий”да Уста Жалолиддин, “Мирзо Улуғбек”да Саид Обид, “Ревизор”да Ляпкин Тяпкин, “Истиқбол сари”да Рафаэль, “Абай”да Тақажон, “Жалолиддин Мангуберди”да Султон Текиш, “Адолат фасли (Амир Темур)”да Саид Барака каби образларни яратди.</a:t>
                      </a:r>
                      <a:endParaRPr lang="ru-RU" sz="900" b="0" kern="1200" dirty="0" smtClean="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0973">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06989">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1026" name="Picture 2" descr="IMG_3311"/>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95709" y="1143607"/>
            <a:ext cx="798917" cy="1067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27195025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928208"/>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1901">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11">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ИБРОҲИМОВА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1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Малика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1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Маликовна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11">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1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21.10.1949</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1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9556">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1904">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9556">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48488">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ИБРАГИМОВ</a:t>
                      </a:r>
                      <a:r>
                        <a:rPr lang="uz-Cyrl-UZ" sz="900" b="1" kern="1200" baseline="0" noProof="0" dirty="0" smtClean="0">
                          <a:solidFill>
                            <a:schemeClr val="tx1"/>
                          </a:solidFill>
                          <a:latin typeface="+mn-lt"/>
                          <a:ea typeface="+mn-ea"/>
                          <a:cs typeface="Arial" panose="020B0604020202020204" pitchFamily="34" charset="0"/>
                        </a:rPr>
                        <a:t> Абдумалик</a:t>
                      </a:r>
                    </a:p>
                    <a:p>
                      <a:pPr algn="l">
                        <a:lnSpc>
                          <a:spcPct val="85000"/>
                        </a:lnSpc>
                      </a:pPr>
                      <a:r>
                        <a:rPr lang="uz-Cyrl-UZ" sz="900" b="0" kern="1200" noProof="0" dirty="0" smtClean="0">
                          <a:solidFill>
                            <a:schemeClr val="tx1"/>
                          </a:solidFill>
                          <a:latin typeface="+mn-lt"/>
                          <a:ea typeface="+mn-ea"/>
                          <a:cs typeface="Arial" panose="020B0604020202020204" pitchFamily="34" charset="0"/>
                        </a:rPr>
                        <a:t>1922 йил, Тошкент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1974</a:t>
                      </a:r>
                      <a:r>
                        <a:rPr lang="ru-RU" sz="900" b="0" kern="1200" baseline="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uz-Cyrl-UZ" sz="900" kern="1200" dirty="0" smtClean="0">
                          <a:solidFill>
                            <a:schemeClr val="tx1"/>
                          </a:solidFill>
                          <a:effectLst/>
                          <a:latin typeface="+mn-lt"/>
                          <a:ea typeface="+mn-ea"/>
                          <a:cs typeface="+mn-cs"/>
                        </a:rPr>
                        <a:t>(“Тошкент ҳақиқати”газетаси муҳбири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48488">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ИБРАГИМОВ</a:t>
                      </a:r>
                      <a:r>
                        <a:rPr lang="uz-Cyrl-UZ" sz="900" b="1" kern="1200" baseline="0" noProof="0" dirty="0" smtClean="0">
                          <a:solidFill>
                            <a:schemeClr val="tx1"/>
                          </a:solidFill>
                          <a:latin typeface="+mn-lt"/>
                          <a:ea typeface="+mn-ea"/>
                          <a:cs typeface="Arial" panose="020B0604020202020204" pitchFamily="34" charset="0"/>
                        </a:rPr>
                        <a:t> Муаззам</a:t>
                      </a:r>
                      <a:endParaRPr lang="uz-Cyrl-UZ" sz="900" b="1" kern="1200" noProof="0" dirty="0" smtClean="0">
                        <a:solidFill>
                          <a:schemeClr val="tx1"/>
                        </a:solidFill>
                        <a:latin typeface="+mn-lt"/>
                        <a:ea typeface="+mn-ea"/>
                        <a:cs typeface="Arial" panose="020B0604020202020204" pitchFamily="34" charset="0"/>
                      </a:endParaRPr>
                    </a:p>
                    <a:p>
                      <a:pPr marL="0" marR="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1924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2003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4-стаматология поликлиникаси шифокори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0432">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ХАМДАМОВ Алишер Атхамович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1942</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2015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Киноактёр” бирлашмаси актёри)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6407">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81898">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1970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baseline="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baseline="0" noProof="0" dirty="0" smtClean="0">
                          <a:solidFill>
                            <a:schemeClr val="tx1"/>
                          </a:solidFill>
                          <a:latin typeface="+mn-lt"/>
                          <a:ea typeface="+mn-ea"/>
                          <a:cs typeface="+mn-cs"/>
                        </a:rPr>
                        <a:t>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55817">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2375">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2375">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04345">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91"/>
          <a:ext cx="3172841" cy="5928219"/>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277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81690">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1990</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1840">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130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55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30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41342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endParaRPr lang="ru-RU" sz="900" kern="1200" dirty="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02600">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0260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0260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0130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09052">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297732">
                <a:tc gridSpan="2">
                  <a:txBody>
                    <a:bodyPr/>
                    <a:lstStyle/>
                    <a:p>
                      <a:r>
                        <a:rPr lang="uz-Cyrl-UZ" sz="900" kern="1200" dirty="0" smtClean="0">
                          <a:solidFill>
                            <a:schemeClr val="tx1"/>
                          </a:solidFill>
                          <a:effectLst/>
                          <a:latin typeface="+mn-lt"/>
                          <a:ea typeface="+mn-ea"/>
                          <a:cs typeface="+mn-cs"/>
                        </a:rPr>
                        <a:t>1987 й. “Ўзбекистон Республикасида хизмат кўрсатган артист”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2011 й. “Ўзбекистон Республикаси ҳалқ артисти” фахрий унвони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6"/>
          <a:ext cx="2817247" cy="5924624"/>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9487">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1815">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98629">
                <a:tc>
                  <a:txBody>
                    <a:bodyPr/>
                    <a:lstStyle/>
                    <a:p>
                      <a:pPr marL="0" indent="179388" algn="just"/>
                      <a:r>
                        <a:rPr lang="uz-Cyrl-UZ" sz="900" b="0" kern="1200" dirty="0" smtClean="0">
                          <a:solidFill>
                            <a:schemeClr val="tx1"/>
                          </a:solidFill>
                          <a:effectLst/>
                          <a:latin typeface="+mn-lt"/>
                          <a:ea typeface="+mn-ea"/>
                          <a:cs typeface="+mn-cs"/>
                        </a:rPr>
                        <a:t>М.Ибрагимова Ўзбек Миллий Академик драма театрида саҳналаштирилган “Биринчи бўса” спектаклида Роҳат, “Зиннулия”да Зиннулия, “Жамоат фикри”да тўрт аёлнинг роли, “Тўмарис”да Тўмарис, “Афандининг беш хотини”да Фотима, “Ҳасрат боғи”да она, “Тун албатта ўтади”да Аделаида, “Чегара устидаги уй”да қайнона, “Яраланган оққуш ноласи”да Ноира, “Омон бўлгин, азизим”да она, “Огоҳ бўлинг, одамлар”да она, “Қорда ёнган муҳаббат”да хотин, “Рустам”да Зеби, “Султон Жалолиддин”да Саъоба, “Талваса”да амма, “Дарахтлар тик туриб жон беради”да Хеновера, “Олтин қиз”да хола, “Буратино”да Тортильо, “Алишер Навоий”да энага, “Иймон”да Рисолат, “Момо ер”да Тўлғаной,” “Шаддод она”да Шаддод она каби кўплаб бир-бирига ўхшамас образлар яратиб келмоқда.</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Ереван шаҳрида бўлиб ўтган Халқаро театр фестивалида М.Ибрагимова ижросида этган “Момо ер” спектакли 1-ўринга мувофақ бўлган.</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М.Ибрагимова телеэкран орқали Л.Зориннинг "Варшава таронаси"да Ҳелена, Чеховнинг "Ваня тоға" асарида Сония, Н.Норқобиловнинг "Қуёши ботмайдиган юрт"ида она ролини ижро этгган. Кинода эса "Йўл бўлсин" бадиий фильмида Момо, "Беш қисмат"да Малика каби бош роллар ижро этди.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Ўзбекистон радиоси қўйилган “Бекат йўллари” кўп серияли радиоқиссада Ҳалима, Ш.Холмирзаевнинг "Булут тўсган ой" радиопьесасида Қимматой каби бош роллларни ижро этиб келган.</a:t>
                      </a:r>
                      <a:endParaRPr lang="ru-RU" sz="900" b="0" kern="1200" dirty="0" smtClean="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3641">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21052">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8" name="Picture 2" descr="IMG_0001"/>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305608" y="1172094"/>
            <a:ext cx="793827" cy="1056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8708347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3"/>
          <a:ext cx="3248192" cy="5894179"/>
        </p:xfrm>
        <a:graphic>
          <a:graphicData uri="http://schemas.openxmlformats.org/drawingml/2006/table">
            <a:tbl>
              <a:tblPr firstRow="1" bandRow="1">
                <a:tableStyleId>{C083E6E3-FA7D-4D7B-A595-EF9225AFEA82}</a:tableStyleId>
              </a:tblPr>
              <a:tblGrid>
                <a:gridCol w="564045">
                  <a:extLst>
                    <a:ext uri="{9D8B030D-6E8A-4147-A177-3AD203B41FA5}">
                      <a16:colId xmlns:a16="http://schemas.microsoft.com/office/drawing/2014/main" val="2288412290"/>
                    </a:ext>
                  </a:extLst>
                </a:gridCol>
                <a:gridCol w="477194">
                  <a:extLst>
                    <a:ext uri="{9D8B030D-6E8A-4147-A177-3AD203B41FA5}">
                      <a16:colId xmlns:a16="http://schemas.microsoft.com/office/drawing/2014/main" val="1678982439"/>
                    </a:ext>
                  </a:extLst>
                </a:gridCol>
                <a:gridCol w="145466">
                  <a:extLst>
                    <a:ext uri="{9D8B030D-6E8A-4147-A177-3AD203B41FA5}">
                      <a16:colId xmlns:a16="http://schemas.microsoft.com/office/drawing/2014/main" val="2721661767"/>
                    </a:ext>
                  </a:extLst>
                </a:gridCol>
                <a:gridCol w="862585">
                  <a:extLst>
                    <a:ext uri="{9D8B030D-6E8A-4147-A177-3AD203B41FA5}">
                      <a16:colId xmlns:a16="http://schemas.microsoft.com/office/drawing/2014/main" val="546773760"/>
                    </a:ext>
                  </a:extLst>
                </a:gridCol>
                <a:gridCol w="1198902">
                  <a:extLst>
                    <a:ext uri="{9D8B030D-6E8A-4147-A177-3AD203B41FA5}">
                      <a16:colId xmlns:a16="http://schemas.microsoft.com/office/drawing/2014/main" val="546443978"/>
                    </a:ext>
                  </a:extLst>
                </a:gridCol>
              </a:tblGrid>
              <a:tr h="238419">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638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ХОЛИҚОВА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638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Муқаддас</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638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Шамаксудовна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638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638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14.04.1960</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638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6251">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84822">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3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6251">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40592">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ШОЖАЛИЛОВ</a:t>
                      </a:r>
                      <a:r>
                        <a:rPr lang="uz-Cyrl-UZ" sz="900" b="1" kern="1200" baseline="0" noProof="0" dirty="0" smtClean="0">
                          <a:solidFill>
                            <a:schemeClr val="tx1"/>
                          </a:solidFill>
                          <a:latin typeface="+mn-lt"/>
                          <a:ea typeface="+mn-ea"/>
                          <a:cs typeface="Arial" panose="020B0604020202020204" pitchFamily="34" charset="0"/>
                        </a:rPr>
                        <a:t> Шамаксуд Исмаилович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1924 йил, Тошкент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1969</a:t>
                      </a:r>
                      <a:r>
                        <a:rPr lang="ru-RU" sz="900" b="0" kern="1200" baseline="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uz-Cyrl-UZ" sz="900" kern="1200" dirty="0" smtClean="0">
                          <a:solidFill>
                            <a:schemeClr val="tx1"/>
                          </a:solidFill>
                          <a:effectLst/>
                          <a:latin typeface="+mn-lt"/>
                          <a:ea typeface="+mn-ea"/>
                          <a:cs typeface="+mn-cs"/>
                        </a:rPr>
                        <a:t>(2-гурух ногирони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40592">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ХАСАНБАЕВА</a:t>
                      </a:r>
                      <a:r>
                        <a:rPr lang="uz-Cyrl-UZ" sz="900" b="1" kern="1200" baseline="0" noProof="0" dirty="0" smtClean="0">
                          <a:solidFill>
                            <a:schemeClr val="tx1"/>
                          </a:solidFill>
                          <a:latin typeface="+mn-lt"/>
                          <a:ea typeface="+mn-ea"/>
                          <a:cs typeface="Arial" panose="020B0604020202020204" pitchFamily="34" charset="0"/>
                        </a:rPr>
                        <a:t> Хотира Хасанбаевна</a:t>
                      </a:r>
                      <a:endParaRPr lang="uz-Cyrl-UZ" sz="900" b="1" kern="1200" noProof="0" dirty="0" smtClean="0">
                        <a:solidFill>
                          <a:schemeClr val="tx1"/>
                        </a:solidFill>
                        <a:latin typeface="+mn-lt"/>
                        <a:ea typeface="+mn-ea"/>
                        <a:cs typeface="Arial" panose="020B0604020202020204" pitchFamily="34" charset="0"/>
                      </a:endParaRPr>
                    </a:p>
                    <a:p>
                      <a:pPr marL="0" marR="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1932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2010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Тошкент шаҳар 2-пойабзал фабрикаси ишчиси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24235">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ХОЛИҚОВ Атхам Ибрагимович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1952</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2023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1-гуруҳ ногирони)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3436">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89483">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1981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baseline="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baseline="0" noProof="0" dirty="0" smtClean="0">
                          <a:solidFill>
                            <a:schemeClr val="tx1"/>
                          </a:solidFill>
                          <a:latin typeface="+mn-lt"/>
                          <a:ea typeface="+mn-ea"/>
                          <a:cs typeface="+mn-cs"/>
                        </a:rPr>
                        <a:t>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59151">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7878">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7878">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09617">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469427" y="865691"/>
          <a:ext cx="3172841" cy="5894190"/>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0752">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78351">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1981</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0337">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014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44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014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40531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endParaRPr lang="ru-RU" sz="900" kern="1200" dirty="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00289">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0028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0028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00145">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07853">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290283">
                <a:tc gridSpan="2">
                  <a:txBody>
                    <a:bodyPr/>
                    <a:lstStyle/>
                    <a:p>
                      <a:r>
                        <a:rPr lang="ru-RU" sz="900" kern="1200" dirty="0" smtClean="0">
                          <a:solidFill>
                            <a:schemeClr val="tx1"/>
                          </a:solidFill>
                          <a:effectLst/>
                          <a:latin typeface="+mn-lt"/>
                          <a:ea typeface="+mn-ea"/>
                          <a:cs typeface="+mn-cs"/>
                        </a:rPr>
                        <a:t>2002 </a:t>
                      </a:r>
                      <a:r>
                        <a:rPr lang="uz-Cyrl-UZ" sz="900" kern="1200" dirty="0" smtClean="0">
                          <a:solidFill>
                            <a:schemeClr val="tx1"/>
                          </a:solidFill>
                          <a:effectLst/>
                          <a:latin typeface="+mn-lt"/>
                          <a:ea typeface="+mn-ea"/>
                          <a:cs typeface="+mn-cs"/>
                        </a:rPr>
                        <a:t>й. “Ўзбекистон Республикасида хизмат кўрсатган артист” фахрий унвони</a:t>
                      </a:r>
                      <a:endParaRPr lang="ru-RU" sz="900" kern="1200" dirty="0" smtClean="0">
                        <a:solidFill>
                          <a:schemeClr val="tx1"/>
                        </a:solidFill>
                        <a:effectLst/>
                        <a:latin typeface="+mn-lt"/>
                        <a:ea typeface="+mn-ea"/>
                        <a:cs typeface="+mn-cs"/>
                      </a:endParaRPr>
                    </a:p>
                    <a:p>
                      <a:r>
                        <a:rPr lang="ru-RU" sz="900" kern="1200" dirty="0" smtClean="0">
                          <a:solidFill>
                            <a:schemeClr val="tx1"/>
                          </a:solidFill>
                          <a:effectLst/>
                          <a:latin typeface="+mn-lt"/>
                          <a:ea typeface="+mn-ea"/>
                          <a:cs typeface="+mn-cs"/>
                        </a:rPr>
                        <a:t>2014 </a:t>
                      </a:r>
                      <a:r>
                        <a:rPr lang="uz-Cyrl-UZ" sz="900" kern="1200" dirty="0" smtClean="0">
                          <a:solidFill>
                            <a:schemeClr val="tx1"/>
                          </a:solidFill>
                          <a:effectLst/>
                          <a:latin typeface="+mn-lt"/>
                          <a:ea typeface="+mn-ea"/>
                          <a:cs typeface="+mn-cs"/>
                        </a:rPr>
                        <a:t>й. “Ўзбекистон халқ артисти”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2026 й. “Меҳнат шуҳрати” ордени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719015" y="869284"/>
          <a:ext cx="3048090" cy="5903932"/>
        </p:xfrm>
        <a:graphic>
          <a:graphicData uri="http://schemas.openxmlformats.org/drawingml/2006/table">
            <a:tbl>
              <a:tblPr firstRow="1" bandRow="1">
                <a:tableStyleId>{C083E6E3-FA7D-4D7B-A595-EF9225AFEA82}</a:tableStyleId>
              </a:tblPr>
              <a:tblGrid>
                <a:gridCol w="3048090">
                  <a:extLst>
                    <a:ext uri="{9D8B030D-6E8A-4147-A177-3AD203B41FA5}">
                      <a16:colId xmlns:a16="http://schemas.microsoft.com/office/drawing/2014/main" val="2715609854"/>
                    </a:ext>
                  </a:extLst>
                </a:gridCol>
              </a:tblGrid>
              <a:tr h="231707">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19252">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778224">
                <a:tc>
                  <a:txBody>
                    <a:bodyPr/>
                    <a:lstStyle/>
                    <a:p>
                      <a:pPr marL="0" indent="179388" algn="just"/>
                      <a:r>
                        <a:rPr lang="uz-Cyrl-UZ" sz="900" b="0" kern="1200" dirty="0" smtClean="0">
                          <a:solidFill>
                            <a:schemeClr val="tx1"/>
                          </a:solidFill>
                          <a:effectLst/>
                          <a:latin typeface="+mn-lt"/>
                          <a:ea typeface="+mn-ea"/>
                          <a:cs typeface="+mn-cs"/>
                        </a:rPr>
                        <a:t>У театр ижодий ишларида жуда тез аралашиб кета олган иқтидорли актёрларидан бири ҳисобланади. У театр саҳнасида 80 дан зиёд образлар яратди.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У театрда саҳналаштирилган “Кузнинг биринчи куни” спектаклида Дўхтир, “Нажот истаб”да Қайнона, “Ўткан кунлар”да Тўйбека, “Куёв”да Асал Кампир, “Алдагани хотин яхши”да Она, “Сеҳрли апельсин”да Жодугар, “Жиноят устида ушлансин”да Она, “Отелло”да Эмиля, “Чимилдиқ”да Она, “Сўнгги тергов”да Милиция ходими, “Бир қанотлилар”да Она, “Биз сизларни кутамиз”да Аёл, “Дада демайман”да Амма, “Танҳо юлдуз”да Манзура, “Тортадурман жабримни”да Судя, “Энага”да Салима, “Шайтон ва фаришта”да Нафиса, “Боши қотган ошиқлар”да Она, “Келинлар қўзғолони”да Сотти, “Кўнгил”да Зуҳра, “Мирзо Улуғбек”да Гавхаршодбегим, “Ўзгалар дарди”да Ризвон, “Жалолиддин Мангуберди”да Турконхотун, “Юлдузли тунлар”да Байда,   каби бош ролларни катта маҳорат билан ижро этиб келмоқда.</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М.Халиқова саҳнада ижро этаётган образларининг ички оламини маҳорат билан очиб бериб, томошабинлар олқиши ва мутахассислар эътирофига сазовор бўлди.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М.Халиқова театрдаги ижодий фаолияти билан бир қаторда 100 га яқин кино ва видеофильмларларда ранг-баранг ролларни маҳорат билан ижро этди. Жумладан, “Севгинатор–2”, “Нахотки сен”, “Жаннат қайдадир”, “Бойвочча”,</a:t>
                      </a:r>
                      <a:r>
                        <a:rPr lang="uz-Cyrl-UZ"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“Тақдир чахпалаги”, “Улфатлар”, “Улфатлар-2”, “13 раис”, “Анора” фильмлари ва “Қириқ тоғаранинг қирқ ноғораси”, “Кўнгил қўчалари”, “Денгизддан томчи” миллий сериалларида бетакрор роллар ижро этиб, мухлислари сонини янада кўпайтирди.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Шу билан биргаликда М.Халикова турли теленовеллаларда ҳам роллар ижро этиб келмоқа.</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М.Халиқова дубляж соҳасида ҳам 1000 га яқин фильмга ҳамда бир нечта телесериалларга овоз берган.</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9732">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11681">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1026" name="Picture 2" descr="img20200514_12551907"/>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319059" y="1142020"/>
            <a:ext cx="778222" cy="1048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4466771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90" y="865702"/>
          <a:ext cx="3239645" cy="5938813"/>
        </p:xfrm>
        <a:graphic>
          <a:graphicData uri="http://schemas.openxmlformats.org/drawingml/2006/table">
            <a:tbl>
              <a:tblPr firstRow="1" bandRow="1">
                <a:tableStyleId>{C083E6E3-FA7D-4D7B-A595-EF9225AFEA82}</a:tableStyleId>
              </a:tblPr>
              <a:tblGrid>
                <a:gridCol w="562561">
                  <a:extLst>
                    <a:ext uri="{9D8B030D-6E8A-4147-A177-3AD203B41FA5}">
                      <a16:colId xmlns:a16="http://schemas.microsoft.com/office/drawing/2014/main" val="2288412290"/>
                    </a:ext>
                  </a:extLst>
                </a:gridCol>
                <a:gridCol w="475938">
                  <a:extLst>
                    <a:ext uri="{9D8B030D-6E8A-4147-A177-3AD203B41FA5}">
                      <a16:colId xmlns:a16="http://schemas.microsoft.com/office/drawing/2014/main" val="1678982439"/>
                    </a:ext>
                  </a:extLst>
                </a:gridCol>
                <a:gridCol w="145083">
                  <a:extLst>
                    <a:ext uri="{9D8B030D-6E8A-4147-A177-3AD203B41FA5}">
                      <a16:colId xmlns:a16="http://schemas.microsoft.com/office/drawing/2014/main" val="2721661767"/>
                    </a:ext>
                  </a:extLst>
                </a:gridCol>
                <a:gridCol w="860315">
                  <a:extLst>
                    <a:ext uri="{9D8B030D-6E8A-4147-A177-3AD203B41FA5}">
                      <a16:colId xmlns:a16="http://schemas.microsoft.com/office/drawing/2014/main" val="546773760"/>
                    </a:ext>
                  </a:extLst>
                </a:gridCol>
                <a:gridCol w="1195748">
                  <a:extLst>
                    <a:ext uri="{9D8B030D-6E8A-4147-A177-3AD203B41FA5}">
                      <a16:colId xmlns:a16="http://schemas.microsoft.com/office/drawing/2014/main" val="546443978"/>
                    </a:ext>
                  </a:extLst>
                </a:gridCol>
              </a:tblGrid>
              <a:tr h="241372">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8697">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ИБРАГИМБЕКОВА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869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Гулчехра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869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ХХХ</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8697">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869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24.12.1951</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869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Самарқанд 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9054">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082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3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9054">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47289">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ҚУЛЛИЕВ Мардонқул</a:t>
                      </a:r>
                      <a:endParaRPr lang="uz-Cyrl-UZ" sz="900" b="1" kern="1200" baseline="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1915 йил, Самарқанд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1986</a:t>
                      </a:r>
                      <a:r>
                        <a:rPr lang="ru-RU" sz="900" b="0" kern="1200" baseline="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uz-Cyrl-UZ" sz="900" kern="1200" dirty="0" smtClean="0">
                          <a:solidFill>
                            <a:schemeClr val="tx1"/>
                          </a:solidFill>
                          <a:effectLst/>
                          <a:latin typeface="+mn-lt"/>
                          <a:ea typeface="+mn-ea"/>
                          <a:cs typeface="+mn-cs"/>
                        </a:rPr>
                        <a:t>(Самарканд нон ишлаб чиқариш заводи ишчиси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11789">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ҚУЛЛИЕВ</a:t>
                      </a:r>
                      <a:r>
                        <a:rPr lang="uz-Cyrl-UZ" sz="900" b="1" kern="1200" baseline="0" noProof="0" dirty="0" smtClean="0">
                          <a:solidFill>
                            <a:schemeClr val="tx1"/>
                          </a:solidFill>
                          <a:latin typeface="+mn-lt"/>
                          <a:ea typeface="+mn-ea"/>
                          <a:cs typeface="Arial" panose="020B0604020202020204" pitchFamily="34" charset="0"/>
                        </a:rPr>
                        <a:t> Муборак</a:t>
                      </a:r>
                      <a:endParaRPr lang="uz-Cyrl-UZ" sz="900" b="1" kern="1200" noProof="0" dirty="0" smtClean="0">
                        <a:solidFill>
                          <a:schemeClr val="tx1"/>
                        </a:solidFill>
                        <a:latin typeface="+mn-lt"/>
                        <a:ea typeface="+mn-ea"/>
                        <a:cs typeface="Arial" panose="020B0604020202020204" pitchFamily="34" charset="0"/>
                      </a:endParaRPr>
                    </a:p>
                    <a:p>
                      <a:pPr marL="0" marR="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1925 йил, Қарши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2005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уй 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47289">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ИБРАГИМБЕКОВ Турғунбек</a:t>
                      </a:r>
                      <a:r>
                        <a:rPr lang="uz-Cyrl-UZ" sz="900" b="1" kern="1200" baseline="0" noProof="0" dirty="0" smtClean="0">
                          <a:solidFill>
                            <a:schemeClr val="tx1"/>
                          </a:solidFill>
                          <a:latin typeface="+mn-lt"/>
                          <a:ea typeface="+mn-ea"/>
                          <a:cs typeface="Arial" panose="020B0604020202020204" pitchFamily="34" charset="0"/>
                        </a:rPr>
                        <a:t> Исмаилович</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1951</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2020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Тошкент маданият коллежи катта ўқитувчиси)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5956">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94990">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1973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baseline="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baseline="0" noProof="0" dirty="0" smtClean="0">
                          <a:solidFill>
                            <a:schemeClr val="tx1"/>
                          </a:solidFill>
                          <a:latin typeface="+mn-lt"/>
                          <a:ea typeface="+mn-ea"/>
                          <a:cs typeface="+mn-cs"/>
                        </a:rPr>
                        <a:t>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6157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1692">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1692">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13444">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452335" y="865691"/>
          <a:ext cx="3172841" cy="5928214"/>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277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81689">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1974</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1839">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130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52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30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41342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endParaRPr lang="ru-RU" sz="900" kern="1200" dirty="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02600">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0260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0260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0130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09052">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297730">
                <a:tc gridSpan="2">
                  <a:txBody>
                    <a:bodyPr/>
                    <a:lstStyle/>
                    <a:p>
                      <a:r>
                        <a:rPr lang="uz-Cyrl-UZ" sz="900" kern="1200" dirty="0" smtClean="0">
                          <a:solidFill>
                            <a:schemeClr val="tx1"/>
                          </a:solidFill>
                          <a:effectLst/>
                          <a:latin typeface="+mn-lt"/>
                          <a:ea typeface="+mn-ea"/>
                          <a:cs typeface="+mn-cs"/>
                        </a:rPr>
                        <a:t>1998 й. “Ўзбекистон Республикасида хизмат кўрсатган артист”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2019 й. “Меҳнат шуҳрати” ордени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693377" y="869285"/>
          <a:ext cx="3073728" cy="5951911"/>
        </p:xfrm>
        <a:graphic>
          <a:graphicData uri="http://schemas.openxmlformats.org/drawingml/2006/table">
            <a:tbl>
              <a:tblPr firstRow="1" bandRow="1">
                <a:tableStyleId>{C083E6E3-FA7D-4D7B-A595-EF9225AFEA82}</a:tableStyleId>
              </a:tblPr>
              <a:tblGrid>
                <a:gridCol w="3073728">
                  <a:extLst>
                    <a:ext uri="{9D8B030D-6E8A-4147-A177-3AD203B41FA5}">
                      <a16:colId xmlns:a16="http://schemas.microsoft.com/office/drawing/2014/main" val="2715609854"/>
                    </a:ext>
                  </a:extLst>
                </a:gridCol>
              </a:tblGrid>
              <a:tr h="231480">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05377">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911740">
                <a:tc>
                  <a:txBody>
                    <a:bodyPr/>
                    <a:lstStyle/>
                    <a:p>
                      <a:pPr marL="0" indent="179388" algn="just"/>
                      <a:r>
                        <a:rPr lang="uz-Cyrl-UZ" sz="900" b="0" kern="1200" dirty="0" smtClean="0">
                          <a:solidFill>
                            <a:schemeClr val="tx1"/>
                          </a:solidFill>
                          <a:effectLst/>
                          <a:latin typeface="+mn-lt"/>
                          <a:ea typeface="+mn-ea"/>
                          <a:cs typeface="+mn-cs"/>
                        </a:rPr>
                        <a:t>Г. Ибрагимбекова  “Қароқчилар”да Амалия, “Қалби олов”да Белкина, “Лукаш Ботир”да Маргарита, “Соқов Рицар”да Жанетта, “Олтин девор”да Зуҳра, “Парвона”да Назокат, “Истеҳком”да Салтанат, “Йўлчи юлдуз”да Гулсанам, “Курорт”да Шаҳло, “Қор маликаси”да қароқчи қизча, “Сеҳрли апельсин”да Клариче,</a:t>
                      </a:r>
                      <a:r>
                        <a:rPr lang="uz-Cyrl-UZ"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“Бир қадам йўл”да Саломат, “Нексия”да Нафиса, “Талваса”да амма, “Ўткан кунлар”да Ўзбекойим, “Иймон”да Рисолат, “Ўжарлар”да Қизилгул, “Абай”да Ойкарам  каби  ролларни маромига етказиб ижро этди.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“Келинлар қўзғолони” спектаклидаги Нигора роли учун “Энг яхши аёл роли” мукофоти билан тақдирланди.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Г. Ибрагимбекова  бир қатор кинофильмларда ва телефильмларда ҳам ёрқин образлар яратди. Жумладан, “Чархпалак”да опа, “Тўққиз ой”да она, “Қайтар дунё”да она, “Мактабдаги воқеа”да қайнона каби ролларни маҳорат билан ўйнайди.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Шу билан бирга “Оталар сўзи, ақлнинг кўзи”, “Иқрор”, “Ал Ҳазар”, “Тақдирлар”, “Буни ҳаёт дейдилар” каби теленовеллаларда ҳам 100 га яқин роллар ижро этиб келмоқда.</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Кино ва фильмлардан ташқари катта-катта сериалларда бош қаҳрамонларни гавдалантирган. Жумладан; “Денгиздан томчи”, “Кунларнинг бирида”, “Бахт овчиси”, “Тикан”, “ДНК” каби сериалларда ранг-баранг характерли роллар ижро этди. Машҳур санъаткор сифатида элга танилди.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Шу билан бирга “Шукрона”, “Кўча”, “Иккинчи ота”, “Бахт овчиси” каби 60 сериалик сериалларда қайнона, буви образларни яратиб келмоқда.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Г. Ибрагимбекова  “Келинлар қўзғолони”даги Нигора роли учун Москвадаги фестивалида ва А.Қодирийнинг “Ўткан кунлар”даги Зайнаб роли учун  Тошкентдаги театр анжуманида “Энг яхши аёл роли” номинацияларида ғолиб бўлди.</a:t>
                      </a:r>
                      <a:endParaRPr lang="ru-RU" sz="900" b="0" kern="1200" dirty="0" smtClean="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9585">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37047">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1027" name="Picture 3" descr="Untitled-1"/>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87396" y="1176858"/>
            <a:ext cx="767813" cy="10260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8339900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3"/>
          <a:ext cx="3342196" cy="5899124"/>
        </p:xfrm>
        <a:graphic>
          <a:graphicData uri="http://schemas.openxmlformats.org/drawingml/2006/table">
            <a:tbl>
              <a:tblPr firstRow="1" bandRow="1">
                <a:tableStyleId>{C083E6E3-FA7D-4D7B-A595-EF9225AFEA82}</a:tableStyleId>
              </a:tblPr>
              <a:tblGrid>
                <a:gridCol w="580369">
                  <a:extLst>
                    <a:ext uri="{9D8B030D-6E8A-4147-A177-3AD203B41FA5}">
                      <a16:colId xmlns:a16="http://schemas.microsoft.com/office/drawing/2014/main" val="2288412290"/>
                    </a:ext>
                  </a:extLst>
                </a:gridCol>
                <a:gridCol w="491004">
                  <a:extLst>
                    <a:ext uri="{9D8B030D-6E8A-4147-A177-3AD203B41FA5}">
                      <a16:colId xmlns:a16="http://schemas.microsoft.com/office/drawing/2014/main" val="1678982439"/>
                    </a:ext>
                  </a:extLst>
                </a:gridCol>
                <a:gridCol w="149676">
                  <a:extLst>
                    <a:ext uri="{9D8B030D-6E8A-4147-A177-3AD203B41FA5}">
                      <a16:colId xmlns:a16="http://schemas.microsoft.com/office/drawing/2014/main" val="2721661767"/>
                    </a:ext>
                  </a:extLst>
                </a:gridCol>
                <a:gridCol w="887548">
                  <a:extLst>
                    <a:ext uri="{9D8B030D-6E8A-4147-A177-3AD203B41FA5}">
                      <a16:colId xmlns:a16="http://schemas.microsoft.com/office/drawing/2014/main" val="546773760"/>
                    </a:ext>
                  </a:extLst>
                </a:gridCol>
                <a:gridCol w="1233599">
                  <a:extLst>
                    <a:ext uri="{9D8B030D-6E8A-4147-A177-3AD203B41FA5}">
                      <a16:colId xmlns:a16="http://schemas.microsoft.com/office/drawing/2014/main" val="546443978"/>
                    </a:ext>
                  </a:extLst>
                </a:gridCol>
              </a:tblGrid>
              <a:tr h="215518">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68485">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ЮНУСОВА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6848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Сайёра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6848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Абдуллажановна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68485">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6848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25.02.1956</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6848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04519">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38253">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3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04519">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88667">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ЮНУСОВ Абдуллажон</a:t>
                      </a:r>
                      <a:endParaRPr lang="uz-Cyrl-UZ" sz="900" b="1" kern="1200" baseline="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1919 йил, Наманган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1995</a:t>
                      </a:r>
                      <a:r>
                        <a:rPr lang="ru-RU" sz="900" b="0" kern="1200" baseline="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uz-Cyrl-UZ" sz="900" kern="1200" dirty="0" smtClean="0">
                          <a:solidFill>
                            <a:schemeClr val="tx1"/>
                          </a:solidFill>
                          <a:effectLst/>
                          <a:latin typeface="+mn-lt"/>
                          <a:ea typeface="+mn-ea"/>
                          <a:cs typeface="+mn-cs"/>
                        </a:rPr>
                        <a:t>(Тошкент шаҳар 18-сон қурилиш корхонаси ишчиси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4848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ЮНУСОВА</a:t>
                      </a:r>
                      <a:r>
                        <a:rPr lang="uz-Cyrl-UZ" sz="900" b="1" kern="1200" baseline="0" noProof="0" dirty="0" smtClean="0">
                          <a:solidFill>
                            <a:schemeClr val="tx1"/>
                          </a:solidFill>
                          <a:latin typeface="+mn-lt"/>
                          <a:ea typeface="+mn-ea"/>
                          <a:cs typeface="Arial" panose="020B0604020202020204" pitchFamily="34" charset="0"/>
                        </a:rPr>
                        <a:t> Азиза</a:t>
                      </a:r>
                      <a:endParaRPr lang="uz-Cyrl-UZ" sz="900" b="1" kern="1200" noProof="0" dirty="0" smtClean="0">
                        <a:solidFill>
                          <a:schemeClr val="tx1"/>
                        </a:solidFill>
                        <a:latin typeface="+mn-lt"/>
                        <a:ea typeface="+mn-ea"/>
                        <a:cs typeface="Arial" panose="020B0604020202020204" pitchFamily="34" charset="0"/>
                      </a:endParaRPr>
                    </a:p>
                    <a:p>
                      <a:pPr marL="0" marR="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1926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2007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уй 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678028">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ҚОСИМОВ Жахонгир Мирсобитович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1958</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Пенсияда</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(Ўзбекистон Давлат санъат ва маданият институти ўқитувчиси)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83895">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03519">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1977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baseline="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baseline="0" noProof="0" dirty="0" smtClean="0">
                          <a:solidFill>
                            <a:schemeClr val="tx1"/>
                          </a:solidFill>
                          <a:latin typeface="+mn-lt"/>
                          <a:ea typeface="+mn-ea"/>
                          <a:cs typeface="+mn-cs"/>
                        </a:rPr>
                        <a:t>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21360">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7830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7830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78268">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554885" y="865691"/>
          <a:ext cx="3172841" cy="5919588"/>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2264">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80843">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1977</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1458">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100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49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00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41136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endParaRPr lang="ru-RU" sz="900" kern="1200" dirty="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02014">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0201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0201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01008">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08748">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295842">
                <a:tc gridSpan="2">
                  <a:txBody>
                    <a:bodyPr/>
                    <a:lstStyle/>
                    <a:p>
                      <a:r>
                        <a:rPr lang="uz-Cyrl-UZ" sz="900" kern="1200" dirty="0" smtClean="0">
                          <a:solidFill>
                            <a:schemeClr val="tx1"/>
                          </a:solidFill>
                          <a:effectLst/>
                          <a:latin typeface="+mn-lt"/>
                          <a:ea typeface="+mn-ea"/>
                          <a:cs typeface="+mn-cs"/>
                        </a:rPr>
                        <a:t>1999 й. “Ўзбекистон Республикасида хизмат кўрсатган артист” фахрий унвони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795927" y="869285"/>
          <a:ext cx="2971178" cy="5927511"/>
        </p:xfrm>
        <a:graphic>
          <a:graphicData uri="http://schemas.openxmlformats.org/drawingml/2006/table">
            <a:tbl>
              <a:tblPr firstRow="1" bandRow="1">
                <a:tableStyleId>{C083E6E3-FA7D-4D7B-A595-EF9225AFEA82}</a:tableStyleId>
              </a:tblPr>
              <a:tblGrid>
                <a:gridCol w="2971178">
                  <a:extLst>
                    <a:ext uri="{9D8B030D-6E8A-4147-A177-3AD203B41FA5}">
                      <a16:colId xmlns:a16="http://schemas.microsoft.com/office/drawing/2014/main" val="2715609854"/>
                    </a:ext>
                  </a:extLst>
                </a:gridCol>
              </a:tblGrid>
              <a:tr h="234519">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41154">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96188">
                <a:tc>
                  <a:txBody>
                    <a:bodyPr/>
                    <a:lstStyle/>
                    <a:p>
                      <a:pPr marL="0" indent="179388" algn="just"/>
                      <a:r>
                        <a:rPr lang="uz-Cyrl-UZ" sz="900" b="0" kern="1200" dirty="0" smtClean="0">
                          <a:solidFill>
                            <a:schemeClr val="tx1"/>
                          </a:solidFill>
                          <a:effectLst/>
                          <a:latin typeface="+mn-lt"/>
                          <a:ea typeface="+mn-ea"/>
                          <a:cs typeface="+mn-cs"/>
                        </a:rPr>
                        <a:t>C.Юнусова Миллий театрнинг саҳнасида “Ал-Фарғоний” спектаклида Фирдавс, “Олтин девор”да Зуҳра, “Гамлет”да Гертруда, “Бир кошона сирлари”да Дилора, “Зебунисо”да Зебунисо, “Бир қадам йўл”да Беғам, “Дарахтлар тик туриб жон беради”да Амелия, “Бор эканда, йўқ эканда”да эртакчи, “Омон бўлгин, азизим”да она, “Тақдир синовлари”да Гулсум Момо, “Тортардирман жабримни”да адвокат, “Бир қадам йўл”да Сайёра, “Ўткан кунлар”да Ўзбекойим, “Кузги мактублар”да Ойниса опа, “Алишер Навоий”да энага, “Оқ кема”да кампир, “Чимилдиқ”да қайнона, “Абай”да Ойкарим, “Жалолиддин Мангуберди”да энага, “Уруш одамлари”да Бийди момо, “Юлдузли тунлар”да Гавҳаршодбегим каби образларни меъёрига етказиб ижро этган.</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С.Юнусова театр санъатида ўз ижодий қиёфасига эга бўлган, кўпчиликнинг назарига тушиб, севимли бўлиб қолган истеъдодли, серқирра актёрлардан биридир. У бадиий фильмлар ва сериалларда яратган 40 дан зиёд ёрқин образлари орқали томошабинлар орасида машҳур. “Оталар сўзи, ақлнинг кўзи” ва “Денгиздан томчи” туркум телекўрсатувларда қатор ролларни ижро этган. “Чангак”да аёл, “Бир фожиа изидан”да Севара, “Кўзларинг маъюс”да она, “Бобур”да аёл, “Чақмоқ”да Сардорнинг онаси, “Сув ёқалаб”да Шаҳло, “Шайтанат”да она, “Жасур”да йўлчи аёл, “Гумроҳлар”да Раҳима она, “Умид”да она, “Ўғирланган келин”да совчи аёл, “Сўзсиз севги”да она, “Мени ёлғиз қолдирма”да она, “Ёдгор”да аёл, “Пари момо”да момо, “Сотқин”да она, “Кўргим келади”да она, “Опа-сингиллар”да Раъно, “Тўқликка шўхлик-2”да она каби бадиий фильмларда ёрқин, бетакрор қиёфаларни яратиб, халқнинг меҳр-муҳаббатини қозонган. </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1548">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92582">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1026" name="Picture 2" descr="С"/>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88050" y="1143607"/>
            <a:ext cx="771628" cy="1026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14200736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5"/>
          <a:ext cx="3171279" cy="5907013"/>
        </p:xfrm>
        <a:graphic>
          <a:graphicData uri="http://schemas.openxmlformats.org/drawingml/2006/table">
            <a:tbl>
              <a:tblPr firstRow="1" bandRow="1">
                <a:tableStyleId>{C083E6E3-FA7D-4D7B-A595-EF9225AFEA82}</a:tableStyleId>
              </a:tblPr>
              <a:tblGrid>
                <a:gridCol w="550689">
                  <a:extLst>
                    <a:ext uri="{9D8B030D-6E8A-4147-A177-3AD203B41FA5}">
                      <a16:colId xmlns:a16="http://schemas.microsoft.com/office/drawing/2014/main" val="2288412290"/>
                    </a:ext>
                  </a:extLst>
                </a:gridCol>
                <a:gridCol w="465895">
                  <a:extLst>
                    <a:ext uri="{9D8B030D-6E8A-4147-A177-3AD203B41FA5}">
                      <a16:colId xmlns:a16="http://schemas.microsoft.com/office/drawing/2014/main" val="1678982439"/>
                    </a:ext>
                  </a:extLst>
                </a:gridCol>
                <a:gridCol w="142021">
                  <a:extLst>
                    <a:ext uri="{9D8B030D-6E8A-4147-A177-3AD203B41FA5}">
                      <a16:colId xmlns:a16="http://schemas.microsoft.com/office/drawing/2014/main" val="2721661767"/>
                    </a:ext>
                  </a:extLst>
                </a:gridCol>
                <a:gridCol w="842160">
                  <a:extLst>
                    <a:ext uri="{9D8B030D-6E8A-4147-A177-3AD203B41FA5}">
                      <a16:colId xmlns:a16="http://schemas.microsoft.com/office/drawing/2014/main" val="546773760"/>
                    </a:ext>
                  </a:extLst>
                </a:gridCol>
                <a:gridCol w="1170514">
                  <a:extLst>
                    <a:ext uri="{9D8B030D-6E8A-4147-A177-3AD203B41FA5}">
                      <a16:colId xmlns:a16="http://schemas.microsoft.com/office/drawing/2014/main" val="546443978"/>
                    </a:ext>
                  </a:extLst>
                </a:gridCol>
              </a:tblGrid>
              <a:tr h="240899">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8327">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ИСМОИЛОВ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832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Махмуд</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832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Хусанович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8327">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832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20.12.1954</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832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8604">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89865">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3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8604">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63783">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ИСМОИЛОВ Хусан</a:t>
                      </a:r>
                      <a:endParaRPr lang="uz-Cyrl-UZ" sz="900" b="1" kern="1200" baseline="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1911 йил, </a:t>
                      </a:r>
                      <a:r>
                        <a:rPr lang="uz-Cyrl-UZ" sz="900" b="0" kern="1200" smtClean="0">
                          <a:solidFill>
                            <a:schemeClr val="tx1"/>
                          </a:solidFill>
                          <a:latin typeface="+mn-lt"/>
                          <a:ea typeface="+mn-ea"/>
                          <a:cs typeface="+mn-cs"/>
                        </a:rPr>
                        <a:t>Тошкент</a:t>
                      </a:r>
                      <a:r>
                        <a:rPr lang="uz-Cyrl-UZ" sz="900" b="0" kern="1200" noProof="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1979</a:t>
                      </a:r>
                      <a:r>
                        <a:rPr lang="ru-RU" sz="900" b="0" kern="1200" baseline="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uz-Cyrl-UZ" sz="900" kern="1200" dirty="0" smtClean="0">
                          <a:solidFill>
                            <a:schemeClr val="tx1"/>
                          </a:solidFill>
                          <a:effectLst/>
                          <a:latin typeface="+mn-lt"/>
                          <a:ea typeface="+mn-ea"/>
                          <a:cs typeface="+mn-cs"/>
                        </a:rPr>
                        <a:t>(А.Навойи номидаги давлат академик катта театри солисти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28648">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ИСМОИЛОВА</a:t>
                      </a:r>
                      <a:r>
                        <a:rPr lang="uz-Cyrl-UZ" sz="900" b="1" kern="1200" baseline="0" noProof="0" dirty="0" smtClean="0">
                          <a:solidFill>
                            <a:schemeClr val="tx1"/>
                          </a:solidFill>
                          <a:latin typeface="+mn-lt"/>
                          <a:ea typeface="+mn-ea"/>
                          <a:cs typeface="Arial" panose="020B0604020202020204" pitchFamily="34" charset="0"/>
                        </a:rPr>
                        <a:t> Зинаида Петровна</a:t>
                      </a:r>
                      <a:endParaRPr lang="uz-Cyrl-UZ" sz="900" b="1" kern="1200" noProof="0" dirty="0" smtClean="0">
                        <a:solidFill>
                          <a:schemeClr val="tx1"/>
                        </a:solidFill>
                        <a:latin typeface="+mn-lt"/>
                        <a:ea typeface="+mn-ea"/>
                        <a:cs typeface="Arial" panose="020B0604020202020204" pitchFamily="34" charset="0"/>
                      </a:endParaRPr>
                    </a:p>
                    <a:p>
                      <a:pPr marL="0" marR="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1924 йил, Москва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2002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уй 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89865">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ИСМОИЛОВА Шохида Гапаровна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1957</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uz-Cyrl-UZ" sz="900" kern="1200" dirty="0" smtClean="0">
                          <a:solidFill>
                            <a:schemeClr val="tx1"/>
                          </a:solidFill>
                          <a:effectLst/>
                          <a:latin typeface="+mn-lt"/>
                          <a:ea typeface="+mn-ea"/>
                          <a:cs typeface="+mn-cs"/>
                        </a:rPr>
                        <a:t>Ўзбек миллий академик драма театри актёри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5552">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21263">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1977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baseline="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baseline="0" noProof="0" dirty="0" smtClean="0">
                          <a:solidFill>
                            <a:schemeClr val="tx1"/>
                          </a:solidFill>
                          <a:latin typeface="+mn-lt"/>
                          <a:ea typeface="+mn-ea"/>
                          <a:cs typeface="+mn-cs"/>
                        </a:rPr>
                        <a:t>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29160">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1080">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1080">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28648">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363782" y="865692"/>
          <a:ext cx="3172841" cy="5907025"/>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8521">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91160">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2015</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610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457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49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457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 йил</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20466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1996-1997 йй. - Маданият ишлари вазирлиги санъат ишлари бошқармаси бошлиғи</a:t>
                      </a:r>
                      <a:endParaRPr lang="ru-RU" sz="900" kern="1200" dirty="0" smtClean="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2013-2015 йй. - Ўзбек Миллий Академик драма театри директори</a:t>
                      </a:r>
                      <a:endParaRPr lang="ru-RU" sz="900" kern="1200" dirty="0" smtClean="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09154">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0915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2026</a:t>
                      </a:r>
                      <a:r>
                        <a:rPr lang="uz-Cyrl-UZ" sz="900" kern="1200" baseline="0" noProof="0" dirty="0" smtClean="0">
                          <a:solidFill>
                            <a:schemeClr val="tx1"/>
                          </a:solidFill>
                          <a:effectLst/>
                          <a:latin typeface="+mn-lt"/>
                          <a:ea typeface="Calibri" panose="020F0502020204030204" pitchFamily="34" charset="0"/>
                          <a:cs typeface="Times New Roman" panose="02020603050405020304" pitchFamily="18" charset="0"/>
                        </a:rPr>
                        <a:t> й. даволанди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0915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18645">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Жиддий</a:t>
                      </a:r>
                      <a:r>
                        <a:rPr lang="uz-Cyrl-UZ" sz="900" kern="1200" baseline="0" noProof="0" dirty="0" smtClean="0">
                          <a:solidFill>
                            <a:schemeClr val="tx1"/>
                          </a:solidFill>
                          <a:effectLst/>
                          <a:latin typeface="+mn-lt"/>
                          <a:ea typeface="Calibri" panose="020F0502020204030204" pitchFamily="34" charset="0"/>
                          <a:cs typeface="Times New Roman" panose="02020603050405020304" pitchFamily="18" charset="0"/>
                        </a:rPr>
                        <a:t> муаммолар мавжуд</a:t>
                      </a:r>
                    </a:p>
                    <a:p>
                      <a:pPr algn="l">
                        <a:lnSpc>
                          <a:spcPct val="107000"/>
                        </a:lnSpc>
                        <a:spcAft>
                          <a:spcPts val="0"/>
                        </a:spcAft>
                      </a:pPr>
                      <a:r>
                        <a:rPr lang="uz-Cyrl-UZ" sz="900" kern="1200" baseline="0" noProof="0" dirty="0" smtClean="0">
                          <a:solidFill>
                            <a:schemeClr val="tx1"/>
                          </a:solidFill>
                          <a:effectLst/>
                          <a:latin typeface="+mn-lt"/>
                          <a:ea typeface="Calibri" panose="020F0502020204030204" pitchFamily="34" charset="0"/>
                          <a:cs typeface="Times New Roman" panose="02020603050405020304" pitchFamily="18" charset="0"/>
                        </a:rPr>
                        <a:t>(доимий даволанишга мухтож)</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2456">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318858">
                <a:tc gridSpan="2">
                  <a:txBody>
                    <a:bodyPr/>
                    <a:lstStyle/>
                    <a:p>
                      <a:r>
                        <a:rPr lang="uz-Cyrl-UZ" sz="900" kern="1200" dirty="0" smtClean="0">
                          <a:solidFill>
                            <a:schemeClr val="tx1"/>
                          </a:solidFill>
                          <a:effectLst/>
                          <a:latin typeface="+mn-lt"/>
                          <a:ea typeface="+mn-ea"/>
                          <a:cs typeface="+mn-cs"/>
                        </a:rPr>
                        <a:t>1988 й. “Ўзбекистонда хизмат кўрсатган артист”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a:t>
                      </a:r>
                      <a:r>
                        <a:rPr lang="ru-RU" sz="900" kern="1200" dirty="0" smtClean="0">
                          <a:solidFill>
                            <a:schemeClr val="tx1"/>
                          </a:solidFill>
                          <a:effectLst/>
                          <a:latin typeface="+mn-lt"/>
                          <a:ea typeface="+mn-ea"/>
                          <a:cs typeface="+mn-cs"/>
                        </a:rPr>
                        <a:t>09</a:t>
                      </a:r>
                      <a:r>
                        <a:rPr lang="uz-Cyrl-UZ" sz="900" kern="1200" dirty="0" smtClean="0">
                          <a:solidFill>
                            <a:schemeClr val="tx1"/>
                          </a:solidFill>
                          <a:effectLst/>
                          <a:latin typeface="+mn-lt"/>
                          <a:ea typeface="+mn-ea"/>
                          <a:cs typeface="+mn-cs"/>
                        </a:rPr>
                        <a:t> й. “Меҳнат шуҳрат” ордени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584637" y="869286"/>
          <a:ext cx="3182467" cy="5903434"/>
        </p:xfrm>
        <a:graphic>
          <a:graphicData uri="http://schemas.openxmlformats.org/drawingml/2006/table">
            <a:tbl>
              <a:tblPr firstRow="1" bandRow="1">
                <a:tableStyleId>{C083E6E3-FA7D-4D7B-A595-EF9225AFEA82}</a:tableStyleId>
              </a:tblPr>
              <a:tblGrid>
                <a:gridCol w="3182467">
                  <a:extLst>
                    <a:ext uri="{9D8B030D-6E8A-4147-A177-3AD203B41FA5}">
                      <a16:colId xmlns:a16="http://schemas.microsoft.com/office/drawing/2014/main" val="2715609854"/>
                    </a:ext>
                  </a:extLst>
                </a:gridCol>
              </a:tblGrid>
              <a:tr h="232231">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15705">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789025">
                <a:tc>
                  <a:txBody>
                    <a:bodyPr/>
                    <a:lstStyle/>
                    <a:p>
                      <a:pPr marL="0" indent="179388" algn="just"/>
                      <a:r>
                        <a:rPr lang="uz-Cyrl-UZ" sz="900" b="0" kern="1200" dirty="0" smtClean="0">
                          <a:solidFill>
                            <a:schemeClr val="tx1"/>
                          </a:solidFill>
                          <a:effectLst/>
                          <a:latin typeface="+mn-lt"/>
                          <a:ea typeface="+mn-ea"/>
                          <a:cs typeface="+mn-cs"/>
                        </a:rPr>
                        <a:t>М.Исмоилов актёрлик фаолияти давомида 100 дан зиёд саҳна асарларида турли хил ёрқин образлар яратган. У ҳар бир роли устида жиддий ишлаб, кичик ва бош қаҳрамон ролларини маҳорат билан талқин этадиган етук санъаткор.</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М.Исмоилов меҳнатсеварлиги, талабчанлиги ва тинмай ижодий изланиши туфайли халқ олқишига сазовор бўлган актёрлардан бири. У театрда саҳналаштирилган “Алишер Навоий” спектаклида Ҳусайн Байқаро, кейинчалик Алишер Навоий, “Ўз аризасига кўра”да Элёр, “Юлдузли тунлар”да меъмор Фазлиддин, “Қирол Лир”да Эдгар, “Усмон Носир”да Чўлпон, “Мирзо Улуғбек”да Аббос, “Меҳробдан чаён”да Султонали, “Кундузсиз кечалар”да Фитрат, “Дарахтлар тик туриб жон беради”да Маурисио, “Увайсий”да Вазири аъзам, “Омонат дунё”да Жалолиддин, “Тортадурман жабрини”да ота, “Сизсиз ўтмас кунларим”да Умаржон, “Энг сулув келинчак”да Олтой, “Тақдир синовлари”да Тоҳир Тоҳирович, “Ўзбекча рақс”да Вася, “Рустам”да Элликбоши, “Мирзо Улуғбек”да Шайхулислом Бурхониддин, “Кузги мактублар”да Шокир, “Алишер Навоий”да Мажиддин, “Садоқат билан...(Офицерлар)”да Камол Содиқов каби образларни яратган. У ўйнаган ҳар бир роли орқали инсонларнинг ички оламини юксак маҳорат билан очиб бериб, томошабинларнинг ва ҳамкасбларининг олқишларига сазовор бўлди.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М.Исмоилов истеъдодли актёр бўлиб, санъатнинг кино, телевидение ва дубляж соҳаларида ҳам сермаҳсул ижод қилиб келмоқда. Жумладан, “Домла”да Фурқат, “Кўнгил кўчалари”да Элдор Орипович, “Имом Ал Бухорий”да Абраҳа, “Қайтар дунё”да Отаназар, “Туташ тақдирлар”да Мирсаид, “Опа сингиллар”да Рустам ака, “Номус”да Шуҳрат, “Фақат ғалаба”да Элдор, “Сардор”да Ғозиев, “Жасур”да Полковник каби видеофильм ва бадиий фильмларда бир бирига ўхшамас турли образлар яратди. Дубляжда 1000 дан ортиқ фильмларга овоз берган.</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0070">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03405">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8" name="Picture 2" descr="9х12"/>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52281" y="1124406"/>
            <a:ext cx="818198" cy="1093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004038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3"/>
          <a:ext cx="3427547" cy="5892254"/>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02321">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5709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ИСМОИЛОВА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5709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Шохида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5709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Гапаровна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5709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5709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15.11.1957</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5709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191995">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03455">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3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191995">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49865">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ТЎЛАГАНОВ Гаппар</a:t>
                      </a:r>
                      <a:endParaRPr lang="uz-Cyrl-UZ" sz="900" b="1" kern="1200" baseline="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1908 йил, </a:t>
                      </a:r>
                      <a:r>
                        <a:rPr lang="uz-Cyrl-UZ" sz="900" b="0" kern="1200" dirty="0" smtClean="0">
                          <a:solidFill>
                            <a:schemeClr val="tx1"/>
                          </a:solidFill>
                          <a:latin typeface="+mn-lt"/>
                          <a:ea typeface="+mn-ea"/>
                          <a:cs typeface="+mn-cs"/>
                        </a:rPr>
                        <a:t>Тошкент</a:t>
                      </a:r>
                      <a:r>
                        <a:rPr lang="uz-Cyrl-UZ" sz="900" b="0" kern="1200" noProof="0" dirty="0" smtClean="0">
                          <a:solidFill>
                            <a:schemeClr val="tx1"/>
                          </a:solidFill>
                          <a:latin typeface="+mn-lt"/>
                          <a:ea typeface="+mn-ea"/>
                          <a:cs typeface="Arial" panose="020B0604020202020204" pitchFamily="34" charset="0"/>
                        </a:rPr>
                        <a:t>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1985</a:t>
                      </a:r>
                      <a:r>
                        <a:rPr lang="ru-RU" sz="900" b="0" kern="1200" baseline="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uz-Cyrl-UZ" sz="900" kern="1200" dirty="0" smtClean="0">
                          <a:solidFill>
                            <a:schemeClr val="tx1"/>
                          </a:solidFill>
                          <a:effectLst/>
                          <a:latin typeface="+mn-lt"/>
                          <a:ea typeface="+mn-ea"/>
                          <a:cs typeface="+mn-cs"/>
                        </a:rPr>
                        <a:t>(“Ўздонмахсулот” бирлашмаси </a:t>
                      </a:r>
                      <a:r>
                        <a:rPr lang="ru-RU" sz="900" kern="1200" dirty="0" smtClean="0">
                          <a:solidFill>
                            <a:schemeClr val="tx1"/>
                          </a:solidFill>
                          <a:effectLst/>
                          <a:latin typeface="+mn-lt"/>
                          <a:ea typeface="+mn-ea"/>
                          <a:cs typeface="+mn-cs"/>
                        </a:rPr>
                        <a:t>экспедитор</a:t>
                      </a:r>
                      <a:r>
                        <a:rPr lang="uz-Cyrl-UZ" sz="900" kern="1200" dirty="0" smtClean="0">
                          <a:solidFill>
                            <a:schemeClr val="tx1"/>
                          </a:solidFill>
                          <a:effectLst/>
                          <a:latin typeface="+mn-lt"/>
                          <a:ea typeface="+mn-ea"/>
                          <a:cs typeface="+mn-cs"/>
                        </a:rPr>
                        <a:t>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46694">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ТЎЛАГАНОВ</a:t>
                      </a:r>
                      <a:r>
                        <a:rPr lang="uz-Cyrl-UZ" sz="900" b="1" kern="1200" baseline="0" noProof="0" dirty="0" smtClean="0">
                          <a:solidFill>
                            <a:schemeClr val="tx1"/>
                          </a:solidFill>
                          <a:latin typeface="+mn-lt"/>
                          <a:ea typeface="+mn-ea"/>
                          <a:cs typeface="Arial" panose="020B0604020202020204" pitchFamily="34" charset="0"/>
                        </a:rPr>
                        <a:t>А Жамила Рихситиллаевна</a:t>
                      </a:r>
                      <a:endParaRPr lang="uz-Cyrl-UZ" sz="900" b="1" kern="1200" noProof="0" dirty="0" smtClean="0">
                        <a:solidFill>
                          <a:schemeClr val="tx1"/>
                        </a:solidFill>
                        <a:latin typeface="+mn-lt"/>
                        <a:ea typeface="+mn-ea"/>
                        <a:cs typeface="Arial" panose="020B0604020202020204" pitchFamily="34" charset="0"/>
                      </a:endParaRPr>
                    </a:p>
                    <a:p>
                      <a:pPr marL="0" marR="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1920 йил, </a:t>
                      </a:r>
                      <a:r>
                        <a:rPr lang="uz-Cyrl-UZ" sz="900" b="0" kern="1200" dirty="0" smtClean="0">
                          <a:solidFill>
                            <a:schemeClr val="tx1"/>
                          </a:solidFill>
                          <a:latin typeface="+mn-lt"/>
                          <a:ea typeface="+mn-ea"/>
                          <a:cs typeface="+mn-cs"/>
                        </a:rPr>
                        <a:t>Тошкент</a:t>
                      </a:r>
                      <a:r>
                        <a:rPr lang="uz-Cyrl-UZ" sz="900" b="0" kern="1200" noProof="0" dirty="0" smtClean="0">
                          <a:solidFill>
                            <a:schemeClr val="tx1"/>
                          </a:solidFill>
                          <a:latin typeface="+mn-lt"/>
                          <a:ea typeface="+mn-ea"/>
                          <a:cs typeface="Arial" panose="020B0604020202020204" pitchFamily="34" charset="0"/>
                        </a:rPr>
                        <a:t>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1987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Шайхонтоҳур тумани 90-умумтаълим мактаби ошхонаси ошпази)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03455">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ИСМОИЛОВ Махмуд Хусанович </a:t>
                      </a:r>
                    </a:p>
                    <a:p>
                      <a:pPr algn="l">
                        <a:lnSpc>
                          <a:spcPct val="85000"/>
                        </a:lnSpc>
                      </a:pPr>
                      <a:r>
                        <a:rPr lang="uz-Cyrl-UZ" sz="900" b="0" kern="1200" noProof="0" dirty="0" smtClean="0">
                          <a:solidFill>
                            <a:schemeClr val="tx1"/>
                          </a:solidFill>
                          <a:latin typeface="+mn-lt"/>
                          <a:ea typeface="+mn-ea"/>
                          <a:cs typeface="Arial" panose="020B0604020202020204" pitchFamily="34" charset="0"/>
                        </a:rPr>
                        <a:t>1955йил,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uz-Cyrl-UZ" sz="900" kern="1200" dirty="0" smtClean="0">
                          <a:solidFill>
                            <a:schemeClr val="tx1"/>
                          </a:solidFill>
                          <a:effectLst/>
                          <a:latin typeface="+mn-lt"/>
                          <a:ea typeface="+mn-ea"/>
                          <a:cs typeface="+mn-cs"/>
                        </a:rPr>
                        <a:t>Ўзбек миллий академик драма театри актёри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72634">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18923">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1980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baseline="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baseline="0" noProof="0" dirty="0" smtClean="0">
                          <a:solidFill>
                            <a:schemeClr val="tx1"/>
                          </a:solidFill>
                          <a:latin typeface="+mn-lt"/>
                          <a:ea typeface="+mn-ea"/>
                          <a:cs typeface="+mn-cs"/>
                        </a:rPr>
                        <a:t>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28131">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60403">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60403">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60586">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40344" y="865691"/>
          <a:ext cx="3059560" cy="5912716"/>
        </p:xfrm>
        <a:graphic>
          <a:graphicData uri="http://schemas.openxmlformats.org/drawingml/2006/table">
            <a:tbl>
              <a:tblPr firstRow="1" bandRow="1">
                <a:tableStyleId>{C083E6E3-FA7D-4D7B-A595-EF9225AFEA82}</a:tableStyleId>
              </a:tblPr>
              <a:tblGrid>
                <a:gridCol w="1443785">
                  <a:extLst>
                    <a:ext uri="{9D8B030D-6E8A-4147-A177-3AD203B41FA5}">
                      <a16:colId xmlns:a16="http://schemas.microsoft.com/office/drawing/2014/main" val="2715609854"/>
                    </a:ext>
                  </a:extLst>
                </a:gridCol>
                <a:gridCol w="1615775">
                  <a:extLst>
                    <a:ext uri="{9D8B030D-6E8A-4147-A177-3AD203B41FA5}">
                      <a16:colId xmlns:a16="http://schemas.microsoft.com/office/drawing/2014/main" val="546443978"/>
                    </a:ext>
                  </a:extLst>
                </a:gridCol>
              </a:tblGrid>
              <a:tr h="365932">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603381">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1987</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71603">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880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45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880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22956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ru-RU" sz="900" kern="1200" dirty="0" smtClean="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17613">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17613">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17613">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0880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6848">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346123">
                <a:tc gridSpan="2">
                  <a:txBody>
                    <a:bodyPr/>
                    <a:lstStyle/>
                    <a:p>
                      <a:r>
                        <a:rPr lang="uz-Cyrl-UZ" sz="900" kern="1200" dirty="0" smtClean="0">
                          <a:solidFill>
                            <a:schemeClr val="tx1"/>
                          </a:solidFill>
                          <a:effectLst/>
                          <a:latin typeface="+mn-lt"/>
                          <a:ea typeface="+mn-ea"/>
                          <a:cs typeface="+mn-cs"/>
                        </a:rPr>
                        <a:t>2000 й. “Ўзбекистонда хизмат кўрсатган артист” унвони</a:t>
                      </a:r>
                      <a:endParaRPr lang="ru-RU" sz="900" kern="1200" dirty="0" smtClean="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768213" y="869285"/>
          <a:ext cx="2998892" cy="5920367"/>
        </p:xfrm>
        <a:graphic>
          <a:graphicData uri="http://schemas.openxmlformats.org/drawingml/2006/table">
            <a:tbl>
              <a:tblPr firstRow="1" bandRow="1">
                <a:tableStyleId>{C083E6E3-FA7D-4D7B-A595-EF9225AFEA82}</a:tableStyleId>
              </a:tblPr>
              <a:tblGrid>
                <a:gridCol w="2998892">
                  <a:extLst>
                    <a:ext uri="{9D8B030D-6E8A-4147-A177-3AD203B41FA5}">
                      <a16:colId xmlns:a16="http://schemas.microsoft.com/office/drawing/2014/main" val="2715609854"/>
                    </a:ext>
                  </a:extLst>
                </a:gridCol>
              </a:tblGrid>
              <a:tr h="23494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24029">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704675">
                <a:tc>
                  <a:txBody>
                    <a:bodyPr/>
                    <a:lstStyle/>
                    <a:p>
                      <a:pPr marL="0" indent="179388" algn="just"/>
                      <a:r>
                        <a:rPr lang="ru-RU" sz="900" b="0" kern="1200" dirty="0" smtClean="0">
                          <a:solidFill>
                            <a:schemeClr val="tx1"/>
                          </a:solidFill>
                          <a:effectLst/>
                          <a:latin typeface="+mn-lt"/>
                          <a:ea typeface="+mn-ea"/>
                          <a:cs typeface="+mn-cs"/>
                        </a:rPr>
                        <a:t>Ш</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Исмаилова</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Ўзбек Миллий Академик драма </a:t>
                      </a:r>
                      <a:r>
                        <a:rPr lang="ru-RU" sz="900" b="0" kern="1200" dirty="0" err="1" smtClean="0">
                          <a:solidFill>
                            <a:schemeClr val="tx1"/>
                          </a:solidFill>
                          <a:effectLst/>
                          <a:latin typeface="+mn-lt"/>
                          <a:ea typeface="+mn-ea"/>
                          <a:cs typeface="+mn-cs"/>
                        </a:rPr>
                        <a:t>театрда</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саҳналаштирилган 50 га яқин спектаклларда турли характердаги сермазмун </a:t>
                      </a:r>
                      <a:r>
                        <a:rPr lang="ru-RU" sz="900" b="0" kern="1200" dirty="0" err="1" smtClean="0">
                          <a:solidFill>
                            <a:schemeClr val="tx1"/>
                          </a:solidFill>
                          <a:effectLst/>
                          <a:latin typeface="+mn-lt"/>
                          <a:ea typeface="+mn-ea"/>
                          <a:cs typeface="+mn-cs"/>
                        </a:rPr>
                        <a:t>образлар</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ярат</a:t>
                      </a:r>
                      <a:r>
                        <a:rPr lang="uz-Cyrl-UZ" sz="900" b="0" kern="1200" dirty="0" smtClean="0">
                          <a:solidFill>
                            <a:schemeClr val="tx1"/>
                          </a:solidFill>
                          <a:effectLst/>
                          <a:latin typeface="+mn-lt"/>
                          <a:ea typeface="+mn-ea"/>
                          <a:cs typeface="+mn-cs"/>
                        </a:rPr>
                        <a:t>д</a:t>
                      </a:r>
                      <a:r>
                        <a:rPr lang="ru-RU" sz="900" b="0" kern="1200" dirty="0" smtClean="0">
                          <a:solidFill>
                            <a:schemeClr val="tx1"/>
                          </a:solidFill>
                          <a:effectLst/>
                          <a:latin typeface="+mn-lt"/>
                          <a:ea typeface="+mn-ea"/>
                          <a:cs typeface="+mn-cs"/>
                        </a:rPr>
                        <a:t>и</a:t>
                      </a:r>
                      <a:r>
                        <a:rPr lang="uz-Cyrl-UZ" sz="900" b="0" kern="1200" dirty="0" smtClean="0">
                          <a:solidFill>
                            <a:schemeClr val="tx1"/>
                          </a:solidFill>
                          <a:effectLst/>
                          <a:latin typeface="+mn-lt"/>
                          <a:ea typeface="+mn-ea"/>
                          <a:cs typeface="+mn-cs"/>
                        </a:rPr>
                        <a:t>. Жумладан: “Ўткан кунлар” спектаклида Кумуш ролини саҳнага биринчи бўлиб олиб чиқди. “Юлдузли тунлар” спектаклида Хонзодабегим, “Меҳробдан чаён”да Гулшан, “Отелло”да Дездемона, “Мирзо Улуғбек”да Феруза, “Бахтли гадолар”да Анжелика, “Алла”да фарзандсиз аёл, “Кундузсиз кечалар”да Солиҳа, “Усмон Носир”да Холамбиби, “Омонат дунё”да Латофат, “Андишали келинчак”да Оқойим, “Ўткан кунлар”да Офтоб ойим, “Алишер Навоий”да Энага, “Мирзо Улуғбек”да Нигор хоним каби ўта мураккаб ва характерли бош ролларни катта маҳорат билан ижро этиб келмоқда.</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У театрдаги фаолияти билан бир қаторда </a:t>
                      </a:r>
                      <a:r>
                        <a:rPr lang="ru-RU" sz="900" b="0" kern="1200" dirty="0" smtClean="0">
                          <a:solidFill>
                            <a:schemeClr val="tx1"/>
                          </a:solidFill>
                          <a:effectLst/>
                          <a:latin typeface="+mn-lt"/>
                          <a:ea typeface="+mn-ea"/>
                          <a:cs typeface="+mn-cs"/>
                        </a:rPr>
                        <a:t>кино</a:t>
                      </a:r>
                      <a:r>
                        <a:rPr lang="uz-Cyrl-UZ" sz="900" b="0" kern="1200" dirty="0" smtClean="0">
                          <a:solidFill>
                            <a:schemeClr val="tx1"/>
                          </a:solidFill>
                          <a:effectLst/>
                          <a:latin typeface="+mn-lt"/>
                          <a:ea typeface="+mn-ea"/>
                          <a:cs typeface="+mn-cs"/>
                        </a:rPr>
                        <a:t> соҳасида </a:t>
                      </a:r>
                      <a:r>
                        <a:rPr lang="ru-RU" sz="900" b="0" kern="1200" dirty="0" err="1" smtClean="0">
                          <a:solidFill>
                            <a:schemeClr val="tx1"/>
                          </a:solidFill>
                          <a:effectLst/>
                          <a:latin typeface="+mn-lt"/>
                          <a:ea typeface="+mn-ea"/>
                          <a:cs typeface="+mn-cs"/>
                        </a:rPr>
                        <a:t>ҳам</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сермаҳсул</a:t>
                      </a:r>
                      <a:r>
                        <a:rPr lang="uz-Cyrl-UZ" sz="900" b="0" kern="1200" dirty="0" smtClean="0">
                          <a:solidFill>
                            <a:schemeClr val="tx1"/>
                          </a:solidFill>
                          <a:effectLst/>
                          <a:latin typeface="+mn-lt"/>
                          <a:ea typeface="+mn-ea"/>
                          <a:cs typeface="+mn-cs"/>
                        </a:rPr>
                        <a:t> ижод қилиб </a:t>
                      </a:r>
                      <a:r>
                        <a:rPr lang="ru-RU" sz="900" b="0" kern="1200" dirty="0" smtClean="0">
                          <a:solidFill>
                            <a:schemeClr val="tx1"/>
                          </a:solidFill>
                          <a:effectLst/>
                          <a:latin typeface="+mn-lt"/>
                          <a:ea typeface="+mn-ea"/>
                          <a:cs typeface="+mn-cs"/>
                        </a:rPr>
                        <a:t>4</a:t>
                      </a:r>
                      <a:r>
                        <a:rPr lang="uz-Cyrl-UZ" sz="900" b="0" kern="1200" dirty="0" smtClean="0">
                          <a:solidFill>
                            <a:schemeClr val="tx1"/>
                          </a:solidFill>
                          <a:effectLst/>
                          <a:latin typeface="+mn-lt"/>
                          <a:ea typeface="+mn-ea"/>
                          <a:cs typeface="+mn-cs"/>
                        </a:rPr>
                        <a:t>0 дан зиёд кино ва видеофильмлар ҳамда миллий сериалларда образлар яратди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Унинг</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яратган</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Ўткан</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кунлар</a:t>
                      </a:r>
                      <a:r>
                        <a:rPr lang="uz-Cyrl-UZ" sz="900" b="0" kern="1200" dirty="0" smtClean="0">
                          <a:solidFill>
                            <a:schemeClr val="tx1"/>
                          </a:solidFill>
                          <a:effectLst/>
                          <a:latin typeface="+mn-lt"/>
                          <a:ea typeface="+mn-ea"/>
                          <a:cs typeface="+mn-cs"/>
                        </a:rPr>
                        <a:t>” фильмида </a:t>
                      </a:r>
                      <a:r>
                        <a:rPr lang="ru-RU" sz="900" b="0" kern="1200" dirty="0" err="1" smtClean="0">
                          <a:solidFill>
                            <a:schemeClr val="tx1"/>
                          </a:solidFill>
                          <a:effectLst/>
                          <a:latin typeface="+mn-lt"/>
                          <a:ea typeface="+mn-ea"/>
                          <a:cs typeface="+mn-cs"/>
                        </a:rPr>
                        <a:t>Хушрўй</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Олтин</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тулпор</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дуоиба</a:t>
                      </a:r>
                      <a:r>
                        <a:rPr lang="uz-Cyrl-UZ" sz="900" b="0" kern="1200" dirty="0" smtClean="0">
                          <a:solidFill>
                            <a:schemeClr val="tx1"/>
                          </a:solidFill>
                          <a:effectLst/>
                          <a:latin typeface="+mn-lt"/>
                          <a:ea typeface="+mn-ea"/>
                          <a:cs typeface="+mn-cs"/>
                        </a:rPr>
                        <a:t>д</a:t>
                      </a:r>
                      <a:r>
                        <a:rPr lang="ru-RU" sz="900" b="0" kern="1200" dirty="0" smtClean="0">
                          <a:solidFill>
                            <a:schemeClr val="tx1"/>
                          </a:solidFill>
                          <a:effectLst/>
                          <a:latin typeface="+mn-lt"/>
                          <a:ea typeface="+mn-ea"/>
                          <a:cs typeface="+mn-cs"/>
                        </a:rPr>
                        <a:t>и</a:t>
                      </a:r>
                      <a:r>
                        <a:rPr lang="uz-Cyrl-UZ" sz="900" b="0" kern="1200" dirty="0" smtClean="0">
                          <a:solidFill>
                            <a:schemeClr val="tx1"/>
                          </a:solidFill>
                          <a:effectLst/>
                          <a:latin typeface="+mn-lt"/>
                          <a:ea typeface="+mn-ea"/>
                          <a:cs typeface="+mn-cs"/>
                        </a:rPr>
                        <a:t>”да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Шоҳида</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Телба</a:t>
                      </a:r>
                      <a:r>
                        <a:rPr lang="uz-Cyrl-UZ" sz="900" b="0" kern="1200" dirty="0" smtClean="0">
                          <a:solidFill>
                            <a:schemeClr val="tx1"/>
                          </a:solidFill>
                          <a:effectLst/>
                          <a:latin typeface="+mn-lt"/>
                          <a:ea typeface="+mn-ea"/>
                          <a:cs typeface="+mn-cs"/>
                        </a:rPr>
                        <a:t>”да</a:t>
                      </a:r>
                      <a:r>
                        <a:rPr lang="ru-RU" sz="900" b="0" kern="1200" dirty="0" smtClean="0">
                          <a:solidFill>
                            <a:schemeClr val="tx1"/>
                          </a:solidFill>
                          <a:effectLst/>
                          <a:latin typeface="+mn-lt"/>
                          <a:ea typeface="+mn-ea"/>
                          <a:cs typeface="+mn-cs"/>
                        </a:rPr>
                        <a:t> она,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Фарёд</a:t>
                      </a:r>
                      <a:r>
                        <a:rPr lang="uz-Cyrl-UZ" sz="900" b="0" kern="1200" dirty="0" smtClean="0">
                          <a:solidFill>
                            <a:schemeClr val="tx1"/>
                          </a:solidFill>
                          <a:effectLst/>
                          <a:latin typeface="+mn-lt"/>
                          <a:ea typeface="+mn-ea"/>
                          <a:cs typeface="+mn-cs"/>
                        </a:rPr>
                        <a:t>”да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Саиднинг</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онаси</a:t>
                      </a:r>
                      <a:r>
                        <a:rPr lang="uz-Cyrl-UZ" sz="900" b="0" kern="1200" dirty="0" smtClean="0">
                          <a:solidFill>
                            <a:schemeClr val="tx1"/>
                          </a:solidFill>
                          <a:effectLst/>
                          <a:latin typeface="+mn-lt"/>
                          <a:ea typeface="+mn-ea"/>
                          <a:cs typeface="+mn-cs"/>
                        </a:rPr>
                        <a:t> ҳамда миллий сериаллардан “</a:t>
                      </a:r>
                      <a:r>
                        <a:rPr lang="ru-RU" sz="900" b="0" kern="1200" dirty="0" err="1" smtClean="0">
                          <a:solidFill>
                            <a:schemeClr val="tx1"/>
                          </a:solidFill>
                          <a:effectLst/>
                          <a:latin typeface="+mn-lt"/>
                          <a:ea typeface="+mn-ea"/>
                          <a:cs typeface="+mn-cs"/>
                        </a:rPr>
                        <a:t>Домла</a:t>
                      </a:r>
                      <a:r>
                        <a:rPr lang="uz-Cyrl-UZ" sz="900" b="0" kern="1200" dirty="0" smtClean="0">
                          <a:solidFill>
                            <a:schemeClr val="tx1"/>
                          </a:solidFill>
                          <a:effectLst/>
                          <a:latin typeface="+mn-lt"/>
                          <a:ea typeface="+mn-ea"/>
                          <a:cs typeface="+mn-cs"/>
                        </a:rPr>
                        <a:t>”да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Сожида</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Чархпалак</a:t>
                      </a:r>
                      <a:r>
                        <a:rPr lang="uz-Cyrl-UZ" sz="900" b="0" kern="1200" dirty="0" smtClean="0">
                          <a:solidFill>
                            <a:schemeClr val="tx1"/>
                          </a:solidFill>
                          <a:effectLst/>
                          <a:latin typeface="+mn-lt"/>
                          <a:ea typeface="+mn-ea"/>
                          <a:cs typeface="+mn-cs"/>
                        </a:rPr>
                        <a:t>”да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Мастура</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Имом</a:t>
                      </a:r>
                      <a:r>
                        <a:rPr lang="ru-RU" sz="900" b="0" kern="1200" dirty="0" smtClean="0">
                          <a:solidFill>
                            <a:schemeClr val="tx1"/>
                          </a:solidFill>
                          <a:effectLst/>
                          <a:latin typeface="+mn-lt"/>
                          <a:ea typeface="+mn-ea"/>
                          <a:cs typeface="+mn-cs"/>
                        </a:rPr>
                        <a:t> Аль-</a:t>
                      </a:r>
                      <a:r>
                        <a:rPr lang="ru-RU" sz="900" b="0" kern="1200" dirty="0" err="1" smtClean="0">
                          <a:solidFill>
                            <a:schemeClr val="tx1"/>
                          </a:solidFill>
                          <a:effectLst/>
                          <a:latin typeface="+mn-lt"/>
                          <a:ea typeface="+mn-ea"/>
                          <a:cs typeface="+mn-cs"/>
                        </a:rPr>
                        <a:t>Бухорий</a:t>
                      </a:r>
                      <a:r>
                        <a:rPr lang="uz-Cyrl-UZ" sz="900" b="0" kern="1200" dirty="0" smtClean="0">
                          <a:solidFill>
                            <a:schemeClr val="tx1"/>
                          </a:solidFill>
                          <a:effectLst/>
                          <a:latin typeface="+mn-lt"/>
                          <a:ea typeface="+mn-ea"/>
                          <a:cs typeface="+mn-cs"/>
                        </a:rPr>
                        <a:t>”да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Бухорийнинг</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онаси</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Оила</a:t>
                      </a:r>
                      <a:r>
                        <a:rPr lang="uz-Cyrl-UZ" sz="900" b="0" kern="1200" dirty="0" smtClean="0">
                          <a:solidFill>
                            <a:schemeClr val="tx1"/>
                          </a:solidFill>
                          <a:effectLst/>
                          <a:latin typeface="+mn-lt"/>
                          <a:ea typeface="+mn-ea"/>
                          <a:cs typeface="+mn-cs"/>
                        </a:rPr>
                        <a:t>”да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Ойдин</a:t>
                      </a:r>
                      <a:r>
                        <a:rPr lang="uz-Cyrl-UZ"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Қайтар</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дун</a:t>
                      </a:r>
                      <a:r>
                        <a:rPr lang="uz-Cyrl-UZ" sz="900" b="0" kern="1200" dirty="0" smtClean="0">
                          <a:solidFill>
                            <a:schemeClr val="tx1"/>
                          </a:solidFill>
                          <a:effectLst/>
                          <a:latin typeface="+mn-lt"/>
                          <a:ea typeface="+mn-ea"/>
                          <a:cs typeface="+mn-cs"/>
                        </a:rPr>
                        <a:t>ё”да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Ойниса</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Туташ</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тақдирлар</a:t>
                      </a:r>
                      <a:r>
                        <a:rPr lang="uz-Cyrl-UZ" sz="900" b="0" kern="1200" dirty="0" smtClean="0">
                          <a:solidFill>
                            <a:schemeClr val="tx1"/>
                          </a:solidFill>
                          <a:effectLst/>
                          <a:latin typeface="+mn-lt"/>
                          <a:ea typeface="+mn-ea"/>
                          <a:cs typeface="+mn-cs"/>
                        </a:rPr>
                        <a:t>”да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Зебо</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каби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кўплаб</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ранг-баранг</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образлар</a:t>
                      </a:r>
                      <a:r>
                        <a:rPr lang="uz-Cyrl-UZ" sz="900" b="0" kern="1200" dirty="0" smtClean="0">
                          <a:solidFill>
                            <a:schemeClr val="tx1"/>
                          </a:solidFill>
                          <a:effectLst/>
                          <a:latin typeface="+mn-lt"/>
                          <a:ea typeface="+mn-ea"/>
                          <a:cs typeface="+mn-cs"/>
                        </a:rPr>
                        <a:t>и телетомошабинлар томонидан илиқ кутиб олинди.</a:t>
                      </a:r>
                      <a:endParaRPr lang="ru-RU" sz="900" b="0" kern="1200" dirty="0" smtClean="0">
                        <a:solidFill>
                          <a:schemeClr val="tx1"/>
                        </a:solidFill>
                        <a:effectLst/>
                        <a:latin typeface="+mn-lt"/>
                        <a:ea typeface="+mn-ea"/>
                        <a:cs typeface="+mn-cs"/>
                      </a:endParaRPr>
                    </a:p>
                    <a:p>
                      <a:pPr marL="0" indent="179388" algn="just"/>
                      <a:r>
                        <a:rPr lang="ru-RU" sz="900" b="0" kern="1200" dirty="0" smtClean="0">
                          <a:solidFill>
                            <a:schemeClr val="tx1"/>
                          </a:solidFill>
                          <a:effectLst/>
                          <a:latin typeface="+mn-lt"/>
                          <a:ea typeface="+mn-ea"/>
                          <a:cs typeface="+mn-cs"/>
                        </a:rPr>
                        <a:t>Ш</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Исмаилова</a:t>
                      </a:r>
                      <a:r>
                        <a:rPr lang="ru-RU" sz="900" b="0" kern="1200" dirty="0" smtClean="0">
                          <a:solidFill>
                            <a:schemeClr val="tx1"/>
                          </a:solidFill>
                          <a:effectLst/>
                          <a:latin typeface="+mn-lt"/>
                          <a:ea typeface="+mn-ea"/>
                          <a:cs typeface="+mn-cs"/>
                        </a:rPr>
                        <a:t> 1999 </a:t>
                      </a:r>
                      <a:r>
                        <a:rPr lang="ru-RU" sz="900" b="0" kern="1200" dirty="0" err="1" smtClean="0">
                          <a:solidFill>
                            <a:schemeClr val="tx1"/>
                          </a:solidFill>
                          <a:effectLst/>
                          <a:latin typeface="+mn-lt"/>
                          <a:ea typeface="+mn-ea"/>
                          <a:cs typeface="+mn-cs"/>
                        </a:rPr>
                        <a:t>йил</a:t>
                      </a:r>
                      <a:r>
                        <a:rPr lang="uz-Cyrl-UZ" sz="900" b="0" kern="1200" dirty="0" smtClean="0">
                          <a:solidFill>
                            <a:schemeClr val="tx1"/>
                          </a:solidFill>
                          <a:effectLst/>
                          <a:latin typeface="+mn-lt"/>
                          <a:ea typeface="+mn-ea"/>
                          <a:cs typeface="+mn-cs"/>
                        </a:rPr>
                        <a:t>и “</a:t>
                      </a:r>
                      <a:r>
                        <a:rPr lang="ru-RU" sz="900" b="0" kern="1200" dirty="0" err="1" smtClean="0">
                          <a:solidFill>
                            <a:schemeClr val="tx1"/>
                          </a:solidFill>
                          <a:effectLst/>
                          <a:latin typeface="+mn-lt"/>
                          <a:ea typeface="+mn-ea"/>
                          <a:cs typeface="+mn-cs"/>
                        </a:rPr>
                        <a:t>Андижон</a:t>
                      </a:r>
                      <a:r>
                        <a:rPr lang="ru-RU" sz="900" b="0" kern="1200" dirty="0" smtClean="0">
                          <a:solidFill>
                            <a:schemeClr val="tx1"/>
                          </a:solidFill>
                          <a:effectLst/>
                          <a:latin typeface="+mn-lt"/>
                          <a:ea typeface="+mn-ea"/>
                          <a:cs typeface="+mn-cs"/>
                        </a:rPr>
                        <a:t> ба</a:t>
                      </a:r>
                      <a:r>
                        <a:rPr lang="uz-Cyrl-UZ" sz="900" b="0" kern="1200" dirty="0" smtClean="0">
                          <a:solidFill>
                            <a:schemeClr val="tx1"/>
                          </a:solidFill>
                          <a:effectLst/>
                          <a:latin typeface="+mn-lt"/>
                          <a:ea typeface="+mn-ea"/>
                          <a:cs typeface="+mn-cs"/>
                        </a:rPr>
                        <a:t>ҳ</a:t>
                      </a:r>
                      <a:r>
                        <a:rPr lang="ru-RU" sz="900" b="0" kern="1200" dirty="0" smtClean="0">
                          <a:solidFill>
                            <a:schemeClr val="tx1"/>
                          </a:solidFill>
                          <a:effectLst/>
                          <a:latin typeface="+mn-lt"/>
                          <a:ea typeface="+mn-ea"/>
                          <a:cs typeface="+mn-cs"/>
                        </a:rPr>
                        <a:t>ори</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халқаро</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театрлар</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фестивалида</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Кундузсиз</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кечалар</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спектаклидаги</a:t>
                      </a:r>
                      <a:r>
                        <a:rPr lang="ru-RU" sz="900" b="0" kern="1200" dirty="0" smtClean="0">
                          <a:solidFill>
                            <a:schemeClr val="tx1"/>
                          </a:solidFill>
                          <a:effectLst/>
                          <a:latin typeface="+mn-lt"/>
                          <a:ea typeface="+mn-ea"/>
                          <a:cs typeface="+mn-cs"/>
                        </a:rPr>
                        <a:t> Соли</a:t>
                      </a:r>
                      <a:r>
                        <a:rPr lang="uz-Cyrl-UZ" sz="900" b="0" kern="1200" dirty="0" smtClean="0">
                          <a:solidFill>
                            <a:schemeClr val="tx1"/>
                          </a:solidFill>
                          <a:effectLst/>
                          <a:latin typeface="+mn-lt"/>
                          <a:ea typeface="+mn-ea"/>
                          <a:cs typeface="+mn-cs"/>
                        </a:rPr>
                        <a:t>ҳ</a:t>
                      </a:r>
                      <a:r>
                        <a:rPr lang="ru-RU" sz="900" b="0" kern="1200" dirty="0" smtClean="0">
                          <a:solidFill>
                            <a:schemeClr val="tx1"/>
                          </a:solidFill>
                          <a:effectLst/>
                          <a:latin typeface="+mn-lt"/>
                          <a:ea typeface="+mn-ea"/>
                          <a:cs typeface="+mn-cs"/>
                        </a:rPr>
                        <a:t>а роли </a:t>
                      </a:r>
                      <a:r>
                        <a:rPr lang="ru-RU" sz="900" b="0" kern="1200" dirty="0" err="1" smtClean="0">
                          <a:solidFill>
                            <a:schemeClr val="tx1"/>
                          </a:solidFill>
                          <a:effectLst/>
                          <a:latin typeface="+mn-lt"/>
                          <a:ea typeface="+mn-ea"/>
                          <a:cs typeface="+mn-cs"/>
                        </a:rPr>
                        <a:t>учун</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Энг</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яхши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аёл</a:t>
                      </a:r>
                      <a:r>
                        <a:rPr lang="ru-RU" sz="900" b="0" kern="1200" dirty="0" smtClean="0">
                          <a:solidFill>
                            <a:schemeClr val="tx1"/>
                          </a:solidFill>
                          <a:effectLst/>
                          <a:latin typeface="+mn-lt"/>
                          <a:ea typeface="+mn-ea"/>
                          <a:cs typeface="+mn-cs"/>
                        </a:rPr>
                        <a:t> роли </a:t>
                      </a:r>
                      <a:r>
                        <a:rPr lang="ru-RU" sz="900" b="0" kern="1200" dirty="0" err="1" smtClean="0">
                          <a:solidFill>
                            <a:schemeClr val="tx1"/>
                          </a:solidFill>
                          <a:effectLst/>
                          <a:latin typeface="+mn-lt"/>
                          <a:ea typeface="+mn-ea"/>
                          <a:cs typeface="+mn-cs"/>
                        </a:rPr>
                        <a:t>ижрочиси</a:t>
                      </a:r>
                      <a:r>
                        <a:rPr lang="uz-Cyrl-UZ" sz="900" b="0" kern="1200" dirty="0" smtClean="0">
                          <a:solidFill>
                            <a:schemeClr val="tx1"/>
                          </a:solidFill>
                          <a:effectLst/>
                          <a:latin typeface="+mn-lt"/>
                          <a:ea typeface="+mn-ea"/>
                          <a:cs typeface="+mn-cs"/>
                        </a:rPr>
                        <a:t>” номинациясиясига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сазовор</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бўлди</a:t>
                      </a:r>
                      <a:r>
                        <a:rPr lang="ru-RU" sz="900" b="0" kern="1200" dirty="0" smtClean="0">
                          <a:solidFill>
                            <a:schemeClr val="tx1"/>
                          </a:solidFill>
                          <a:effectLst/>
                          <a:latin typeface="+mn-lt"/>
                          <a:ea typeface="+mn-ea"/>
                          <a:cs typeface="+mn-cs"/>
                        </a:rPr>
                        <a:t>. </a:t>
                      </a:r>
                    </a:p>
                    <a:p>
                      <a:pPr marL="0" indent="179388" algn="just"/>
                      <a:r>
                        <a:rPr lang="uz-Cyrl-UZ" sz="900" b="0" kern="1200" dirty="0" smtClean="0">
                          <a:solidFill>
                            <a:schemeClr val="tx1"/>
                          </a:solidFill>
                          <a:effectLst/>
                          <a:latin typeface="+mn-lt"/>
                          <a:ea typeface="+mn-ea"/>
                          <a:cs typeface="+mn-cs"/>
                        </a:rPr>
                        <a:t>Республика хотин-қизлар қўмитаси томонидан ташкил этилган “Йил аёли-2011” қўрик танловининг шаҳар босқичида муваффақиятлти иштирок этиб, сертификат билан тақдирланди.</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1822">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93653">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9" name="Рисунок 8"/>
          <p:cNvPicPr/>
          <p:nvPr/>
        </p:nvPicPr>
        <p:blipFill>
          <a:blip r:embed="rId2"/>
          <a:srcRect/>
          <a:stretch>
            <a:fillRect/>
          </a:stretch>
        </p:blipFill>
        <p:spPr bwMode="auto">
          <a:xfrm>
            <a:off x="290557" y="1187788"/>
            <a:ext cx="790565" cy="991390"/>
          </a:xfrm>
          <a:prstGeom prst="rect">
            <a:avLst/>
          </a:prstGeom>
          <a:noFill/>
          <a:ln w="9525">
            <a:noFill/>
            <a:miter lim="800000"/>
            <a:headEnd/>
            <a:tailEnd/>
          </a:ln>
        </p:spPr>
      </p:pic>
    </p:spTree>
    <p:extLst>
      <p:ext uri="{BB962C8B-B14F-4D97-AF65-F5344CB8AC3E}">
        <p14:creationId xmlns:p14="http://schemas.microsoft.com/office/powerpoint/2010/main" val="171646157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248192" cy="5941947"/>
        </p:xfrm>
        <a:graphic>
          <a:graphicData uri="http://schemas.openxmlformats.org/drawingml/2006/table">
            <a:tbl>
              <a:tblPr firstRow="1" bandRow="1">
                <a:tableStyleId>{C083E6E3-FA7D-4D7B-A595-EF9225AFEA82}</a:tableStyleId>
              </a:tblPr>
              <a:tblGrid>
                <a:gridCol w="564045">
                  <a:extLst>
                    <a:ext uri="{9D8B030D-6E8A-4147-A177-3AD203B41FA5}">
                      <a16:colId xmlns:a16="http://schemas.microsoft.com/office/drawing/2014/main" val="2288412290"/>
                    </a:ext>
                  </a:extLst>
                </a:gridCol>
                <a:gridCol w="477194">
                  <a:extLst>
                    <a:ext uri="{9D8B030D-6E8A-4147-A177-3AD203B41FA5}">
                      <a16:colId xmlns:a16="http://schemas.microsoft.com/office/drawing/2014/main" val="1678982439"/>
                    </a:ext>
                  </a:extLst>
                </a:gridCol>
                <a:gridCol w="145466">
                  <a:extLst>
                    <a:ext uri="{9D8B030D-6E8A-4147-A177-3AD203B41FA5}">
                      <a16:colId xmlns:a16="http://schemas.microsoft.com/office/drawing/2014/main" val="2721661767"/>
                    </a:ext>
                  </a:extLst>
                </a:gridCol>
                <a:gridCol w="862585">
                  <a:extLst>
                    <a:ext uri="{9D8B030D-6E8A-4147-A177-3AD203B41FA5}">
                      <a16:colId xmlns:a16="http://schemas.microsoft.com/office/drawing/2014/main" val="546773760"/>
                    </a:ext>
                  </a:extLst>
                </a:gridCol>
                <a:gridCol w="1198902">
                  <a:extLst>
                    <a:ext uri="{9D8B030D-6E8A-4147-A177-3AD203B41FA5}">
                      <a16:colId xmlns:a16="http://schemas.microsoft.com/office/drawing/2014/main" val="546443978"/>
                    </a:ext>
                  </a:extLst>
                </a:gridCol>
              </a:tblGrid>
              <a:tr h="241889">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01">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АШУРОВА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0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Зухра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0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Джураевна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01">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0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16.09.1961</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0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9543">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187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9543">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48460">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ИСМОИЛОВ Жўра</a:t>
                      </a:r>
                      <a:endParaRPr lang="uz-Cyrl-UZ" sz="900" b="1" kern="1200" baseline="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1925 йил, </a:t>
                      </a:r>
                      <a:r>
                        <a:rPr lang="uz-Cyrl-UZ" sz="900" b="0" kern="1200" dirty="0" smtClean="0">
                          <a:solidFill>
                            <a:schemeClr val="tx1"/>
                          </a:solidFill>
                          <a:latin typeface="+mn-lt"/>
                          <a:ea typeface="+mn-ea"/>
                          <a:cs typeface="+mn-cs"/>
                        </a:rPr>
                        <a:t>Тошкент</a:t>
                      </a:r>
                      <a:r>
                        <a:rPr lang="uz-Cyrl-UZ" sz="900" b="0" kern="1200" noProof="0" dirty="0" smtClean="0">
                          <a:solidFill>
                            <a:schemeClr val="tx1"/>
                          </a:solidFill>
                          <a:latin typeface="+mn-lt"/>
                          <a:ea typeface="+mn-ea"/>
                          <a:cs typeface="Arial" panose="020B0604020202020204" pitchFamily="34" charset="0"/>
                        </a:rPr>
                        <a:t> вилояти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1998</a:t>
                      </a:r>
                      <a:r>
                        <a:rPr lang="ru-RU" sz="900" b="0" kern="1200" baseline="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uz-Cyrl-UZ" sz="900" kern="1200" dirty="0" smtClean="0">
                          <a:solidFill>
                            <a:schemeClr val="tx1"/>
                          </a:solidFill>
                          <a:effectLst/>
                          <a:latin typeface="+mn-lt"/>
                          <a:ea typeface="+mn-ea"/>
                          <a:cs typeface="+mn-cs"/>
                        </a:rPr>
                        <a:t>(Қибрай тумани Дўрмон қишлоғи ишчиси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83137">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ИСМОИЛОВ</a:t>
                      </a:r>
                      <a:r>
                        <a:rPr lang="uz-Cyrl-UZ" sz="900" b="1" kern="1200" baseline="0" noProof="0" dirty="0" smtClean="0">
                          <a:solidFill>
                            <a:schemeClr val="tx1"/>
                          </a:solidFill>
                          <a:latin typeface="+mn-lt"/>
                          <a:ea typeface="+mn-ea"/>
                          <a:cs typeface="Arial" panose="020B0604020202020204" pitchFamily="34" charset="0"/>
                        </a:rPr>
                        <a:t> Ханифа</a:t>
                      </a:r>
                      <a:endParaRPr lang="uz-Cyrl-UZ" sz="900" b="1" kern="1200" noProof="0" dirty="0" smtClean="0">
                        <a:solidFill>
                          <a:schemeClr val="tx1"/>
                        </a:solidFill>
                        <a:latin typeface="+mn-lt"/>
                        <a:ea typeface="+mn-ea"/>
                        <a:cs typeface="Arial" panose="020B0604020202020204" pitchFamily="34" charset="0"/>
                      </a:endParaRPr>
                    </a:p>
                    <a:p>
                      <a:pPr marL="0" marR="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1927 йил, </a:t>
                      </a:r>
                      <a:r>
                        <a:rPr lang="uz-Cyrl-UZ" sz="900" b="0" kern="1200" dirty="0" smtClean="0">
                          <a:solidFill>
                            <a:schemeClr val="tx1"/>
                          </a:solidFill>
                          <a:latin typeface="+mn-lt"/>
                          <a:ea typeface="+mn-ea"/>
                          <a:cs typeface="+mn-cs"/>
                        </a:rPr>
                        <a:t>Тошкент</a:t>
                      </a:r>
                      <a:r>
                        <a:rPr lang="uz-Cyrl-UZ" sz="900" b="0" kern="1200" noProof="0" dirty="0" smtClean="0">
                          <a:solidFill>
                            <a:schemeClr val="tx1"/>
                          </a:solidFill>
                          <a:latin typeface="+mn-lt"/>
                          <a:ea typeface="+mn-ea"/>
                          <a:cs typeface="Arial" panose="020B0604020202020204" pitchFamily="34" charset="0"/>
                        </a:rPr>
                        <a:t>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2008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Cyrl-UZ" sz="900" kern="1200" dirty="0" smtClean="0">
                          <a:solidFill>
                            <a:schemeClr val="tx1"/>
                          </a:solidFill>
                          <a:effectLst/>
                          <a:latin typeface="+mn-lt"/>
                          <a:ea typeface="+mn-ea"/>
                          <a:cs typeface="+mn-cs"/>
                        </a:rPr>
                        <a:t>уй бекаси)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630760">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АШУРОВ Қахрамон</a:t>
                      </a:r>
                    </a:p>
                    <a:p>
                      <a:pPr algn="l">
                        <a:lnSpc>
                          <a:spcPct val="85000"/>
                        </a:lnSpc>
                      </a:pPr>
                      <a:r>
                        <a:rPr lang="uz-Cyrl-UZ" sz="900" b="0" kern="1200" noProof="0" dirty="0" smtClean="0">
                          <a:solidFill>
                            <a:schemeClr val="tx1"/>
                          </a:solidFill>
                          <a:latin typeface="+mn-lt"/>
                          <a:ea typeface="+mn-ea"/>
                          <a:cs typeface="Arial" panose="020B0604020202020204" pitchFamily="34" charset="0"/>
                        </a:rPr>
                        <a:t>1960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uz-Cyrl-UZ" sz="900" kern="1200" dirty="0" smtClean="0">
                          <a:solidFill>
                            <a:schemeClr val="tx1"/>
                          </a:solidFill>
                          <a:effectLst/>
                          <a:latin typeface="+mn-lt"/>
                          <a:ea typeface="+mn-ea"/>
                          <a:cs typeface="+mn-cs"/>
                        </a:rPr>
                        <a:t>Ўзбекистон телерадокомпанияси “Ёшлар” канали режиссёри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6396">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53591">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1983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baseline="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baseline="0" noProof="0" dirty="0" smtClean="0">
                          <a:solidFill>
                            <a:schemeClr val="tx1"/>
                          </a:solidFill>
                          <a:latin typeface="+mn-lt"/>
                          <a:ea typeface="+mn-ea"/>
                          <a:cs typeface="+mn-cs"/>
                        </a:rPr>
                        <a:t>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4337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2359">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2359">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84676">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469427" y="865691"/>
          <a:ext cx="3172841" cy="5941958"/>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67742">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606365">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1983</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72947">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984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42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984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23565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ru-RU" sz="900" kern="1200" dirty="0" smtClean="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19678">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19678">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19678">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0984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792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352780">
                <a:tc gridSpan="2">
                  <a:txBody>
                    <a:bodyPr/>
                    <a:lstStyle/>
                    <a:p>
                      <a:r>
                        <a:rPr lang="uz-Cyrl-UZ" sz="900" kern="1200" dirty="0" smtClean="0">
                          <a:solidFill>
                            <a:schemeClr val="tx1"/>
                          </a:solidFill>
                          <a:effectLst/>
                          <a:latin typeface="+mn-lt"/>
                          <a:ea typeface="+mn-ea"/>
                          <a:cs typeface="+mn-cs"/>
                        </a:rPr>
                        <a:t>2000 й. “Ўзбекистон Республикасида хизмат кўрсатган артист” фахрий унвони</a:t>
                      </a:r>
                      <a:endParaRPr lang="ru-RU" sz="900" kern="1200" dirty="0" smtClean="0">
                        <a:solidFill>
                          <a:schemeClr val="tx1"/>
                        </a:solidFill>
                        <a:effectLst/>
                        <a:latin typeface="+mn-lt"/>
                        <a:ea typeface="+mn-ea"/>
                        <a:cs typeface="+mn-cs"/>
                      </a:endParaRPr>
                    </a:p>
                    <a:p>
                      <a:r>
                        <a:rPr lang="ru-RU" sz="900" kern="1200" dirty="0" smtClean="0">
                          <a:solidFill>
                            <a:schemeClr val="tx1"/>
                          </a:solidFill>
                          <a:effectLst/>
                          <a:latin typeface="+mn-lt"/>
                          <a:ea typeface="+mn-ea"/>
                          <a:cs typeface="+mn-cs"/>
                        </a:rPr>
                        <a:t>2016 </a:t>
                      </a:r>
                      <a:r>
                        <a:rPr lang="uz-Cyrl-UZ" sz="900" kern="1200" dirty="0" smtClean="0">
                          <a:solidFill>
                            <a:schemeClr val="tx1"/>
                          </a:solidFill>
                          <a:effectLst/>
                          <a:latin typeface="+mn-lt"/>
                          <a:ea typeface="+mn-ea"/>
                          <a:cs typeface="+mn-cs"/>
                        </a:rPr>
                        <a:t>й. “Ўзбекистон Республикаси халқ артисти” фахрий унвони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719015" y="869287"/>
          <a:ext cx="3048090" cy="5954734"/>
        </p:xfrm>
        <a:graphic>
          <a:graphicData uri="http://schemas.openxmlformats.org/drawingml/2006/table">
            <a:tbl>
              <a:tblPr firstRow="1" bandRow="1">
                <a:tableStyleId>{C083E6E3-FA7D-4D7B-A595-EF9225AFEA82}</a:tableStyleId>
              </a:tblPr>
              <a:tblGrid>
                <a:gridCol w="3048090">
                  <a:extLst>
                    <a:ext uri="{9D8B030D-6E8A-4147-A177-3AD203B41FA5}">
                      <a16:colId xmlns:a16="http://schemas.microsoft.com/office/drawing/2014/main" val="2715609854"/>
                    </a:ext>
                  </a:extLst>
                </a:gridCol>
              </a:tblGrid>
              <a:tr h="231603">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05485">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914332">
                <a:tc>
                  <a:txBody>
                    <a:bodyPr/>
                    <a:lstStyle/>
                    <a:p>
                      <a:pPr marL="0" indent="179388" algn="just"/>
                      <a:r>
                        <a:rPr lang="uz-Cyrl-UZ" sz="900" b="0" kern="1200" dirty="0" smtClean="0">
                          <a:solidFill>
                            <a:schemeClr val="tx1"/>
                          </a:solidFill>
                          <a:effectLst/>
                          <a:latin typeface="+mn-lt"/>
                          <a:ea typeface="+mn-ea"/>
                          <a:cs typeface="+mn-cs"/>
                        </a:rPr>
                        <a:t>З.Ашурова томонидан ижро этилган “Армон” спектаклидаги Лаура, “Апельсин ишқи”да Никетта, “Ҳаётдан тўйган тун”да Баян, “Тун албатта ўтади”да Амалия, “Соҳибқирон”да Бибихоним, “Увайсий”да Нодирабегим, “Ёрқиной”да Ёрқиной, “Муҳаббат султони”да Лайли,</a:t>
                      </a:r>
                      <a:r>
                        <a:rPr lang="uz-Cyrl-UZ"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“Уйқусиз кечалар”да Моҳира, “Тортадурман жабрини”да Фароғат, “Иймон”да Ойиша, “Ўткан кунлар”да Офтоб ойим, “Мирзо Улуғбек”да Нигора, “Уруш одамлари”да Момо, “Юлдузли тунлар”да Моҳимбегим хоним каби бош роллари ўзининг психологик теранлиги ва мазмунан чуқурлиги билан эътиборга лойиқ. У яратган образлар очиқ эҳтироси, мантиқий чуқур таҳлилий талқини билан спектакл умумий режиссёрлик ечимининг аниқ кўринишида муҳим рол ўйнайди. Актриса истеъдоди юракка ва руҳга таскин бериши билан санъатимиз учун жуда қадрлидир.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З.Ашурова кинофильмларда, телевидение ва радиода яратган 30 дан зиёд образлари билан эл орасида истеъдодли санъаткор сифатида танилди.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Телевидение хазинасида сақланаётган “Бобур” видеофильмида Хонзодабегим, “Лайли ва Мажнун”да Лайли, “Шаҳзода ва канизак”да Гулжаҳон, “Иймон”да Озода, “Балои нафс”да Назокат, “Қирқ тоғаранинг – қирқ ноғораси”да Латофат образлари санъат ихлосмандлари қалбидан мустаҳкам ўрин олган. Актириса, шунингдек, “Турмуш чорраҳалари”, Одамлар орасида”  туркумидаги видеофильмларда, “Осмондаги болалар”, “Муҳаббат синовлари”, “Нотаниш”, “Жодугар”, “Ҳижрон”, “Кореялик келин”, “Виждон”, “Уйланмаган совчилар”, “Таваллуд”, “Мафтуна”, “Мақсад сари”, “Олтин даврим” фильмларида мунис аёлларимиз сиймосини кўрсатди. Ўзбекистон радиосидаги “Ўткан кунлар” радиоспектаклида Кумушбиби ва бошқа радиопостановкаларда бир қатор ёрқин образлар яратиб, томошабинлар ва радиотингловчилар меҳрини қозониб келмоқда.</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9664">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37278">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1026" name="Picture 2" descr="Ашурова Зухра 3х4 "/>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87396" y="1135294"/>
            <a:ext cx="809884" cy="10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53685686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90" y="865703"/>
          <a:ext cx="3316559" cy="5902565"/>
        </p:xfrm>
        <a:graphic>
          <a:graphicData uri="http://schemas.openxmlformats.org/drawingml/2006/table">
            <a:tbl>
              <a:tblPr firstRow="1" bandRow="1">
                <a:tableStyleId>{C083E6E3-FA7D-4D7B-A595-EF9225AFEA82}</a:tableStyleId>
              </a:tblPr>
              <a:tblGrid>
                <a:gridCol w="575917">
                  <a:extLst>
                    <a:ext uri="{9D8B030D-6E8A-4147-A177-3AD203B41FA5}">
                      <a16:colId xmlns:a16="http://schemas.microsoft.com/office/drawing/2014/main" val="2288412290"/>
                    </a:ext>
                  </a:extLst>
                </a:gridCol>
                <a:gridCol w="487238">
                  <a:extLst>
                    <a:ext uri="{9D8B030D-6E8A-4147-A177-3AD203B41FA5}">
                      <a16:colId xmlns:a16="http://schemas.microsoft.com/office/drawing/2014/main" val="1678982439"/>
                    </a:ext>
                  </a:extLst>
                </a:gridCol>
                <a:gridCol w="148528">
                  <a:extLst>
                    <a:ext uri="{9D8B030D-6E8A-4147-A177-3AD203B41FA5}">
                      <a16:colId xmlns:a16="http://schemas.microsoft.com/office/drawing/2014/main" val="2721661767"/>
                    </a:ext>
                  </a:extLst>
                </a:gridCol>
                <a:gridCol w="880740">
                  <a:extLst>
                    <a:ext uri="{9D8B030D-6E8A-4147-A177-3AD203B41FA5}">
                      <a16:colId xmlns:a16="http://schemas.microsoft.com/office/drawing/2014/main" val="546773760"/>
                    </a:ext>
                  </a:extLst>
                </a:gridCol>
                <a:gridCol w="1224136">
                  <a:extLst>
                    <a:ext uri="{9D8B030D-6E8A-4147-A177-3AD203B41FA5}">
                      <a16:colId xmlns:a16="http://schemas.microsoft.com/office/drawing/2014/main" val="546443978"/>
                    </a:ext>
                  </a:extLst>
                </a:gridCol>
              </a:tblGrid>
              <a:tr h="242611">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666">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ЗОКИРОВА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66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Гавхар</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66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Акмаловна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666">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66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10.09.1949</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66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0229">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334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0229">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31695">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ЗИДИНОВ Акмал</a:t>
                      </a:r>
                      <a:endParaRPr lang="uz-Cyrl-UZ" sz="900" b="1" kern="1200" baseline="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1910</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a:t>
                      </a:r>
                      <a:r>
                        <a:rPr lang="uz-Cyrl-UZ" sz="900" b="0" kern="1200" dirty="0" smtClean="0">
                          <a:solidFill>
                            <a:schemeClr val="tx1"/>
                          </a:solidFill>
                          <a:latin typeface="+mn-lt"/>
                          <a:ea typeface="+mn-ea"/>
                          <a:cs typeface="+mn-cs"/>
                        </a:rPr>
                        <a:t>Тошкент</a:t>
                      </a:r>
                      <a:r>
                        <a:rPr lang="uz-Cyrl-UZ" sz="900" b="0" kern="1200" noProof="0" dirty="0" smtClean="0">
                          <a:solidFill>
                            <a:schemeClr val="tx1"/>
                          </a:solidFill>
                          <a:latin typeface="+mn-lt"/>
                          <a:ea typeface="+mn-ea"/>
                          <a:cs typeface="Arial" panose="020B0604020202020204" pitchFamily="34" charset="0"/>
                        </a:rPr>
                        <a:t>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1982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(Ҳарбий хизматчи)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632646">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ЗИДИНОВА</a:t>
                      </a:r>
                      <a:r>
                        <a:rPr lang="uz-Cyrl-UZ" sz="900" b="1" kern="1200" baseline="0" noProof="0" dirty="0" smtClean="0">
                          <a:solidFill>
                            <a:schemeClr val="tx1"/>
                          </a:solidFill>
                          <a:latin typeface="+mn-lt"/>
                          <a:ea typeface="+mn-ea"/>
                          <a:cs typeface="Arial" panose="020B0604020202020204" pitchFamily="34" charset="0"/>
                        </a:rPr>
                        <a:t> Турғуной</a:t>
                      </a:r>
                      <a:endParaRPr lang="uz-Cyrl-UZ" sz="900" b="1" kern="1200" noProof="0" dirty="0" smtClean="0">
                        <a:solidFill>
                          <a:schemeClr val="tx1"/>
                        </a:solidFill>
                        <a:latin typeface="+mn-lt"/>
                        <a:ea typeface="+mn-ea"/>
                        <a:cs typeface="Arial" panose="020B0604020202020204" pitchFamily="34" charset="0"/>
                      </a:endParaRPr>
                    </a:p>
                    <a:p>
                      <a:pPr marL="0" marR="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1921 йил, </a:t>
                      </a:r>
                      <a:r>
                        <a:rPr lang="uz-Cyrl-UZ" sz="900" b="0" kern="1200" dirty="0" smtClean="0">
                          <a:solidFill>
                            <a:schemeClr val="tx1"/>
                          </a:solidFill>
                          <a:latin typeface="+mn-lt"/>
                          <a:ea typeface="+mn-ea"/>
                          <a:cs typeface="+mn-cs"/>
                        </a:rPr>
                        <a:t>Тошкент</a:t>
                      </a:r>
                      <a:r>
                        <a:rPr lang="uz-Cyrl-UZ" sz="900" b="0" kern="1200" noProof="0" dirty="0" smtClean="0">
                          <a:solidFill>
                            <a:schemeClr val="tx1"/>
                          </a:solidFill>
                          <a:latin typeface="+mn-lt"/>
                          <a:ea typeface="+mn-ea"/>
                          <a:cs typeface="Arial" panose="020B0604020202020204" pitchFamily="34" charset="0"/>
                        </a:rPr>
                        <a:t>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2008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(Каноп фабрикасида техник назорат бошлиғи)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632646">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ЗОКИРОВ Жамшид</a:t>
                      </a:r>
                      <a:r>
                        <a:rPr lang="uz-Cyrl-UZ" sz="900" b="1" kern="1200" baseline="0" noProof="0" dirty="0" smtClean="0">
                          <a:solidFill>
                            <a:schemeClr val="tx1"/>
                          </a:solidFill>
                          <a:latin typeface="+mn-lt"/>
                          <a:ea typeface="+mn-ea"/>
                          <a:cs typeface="Arial" panose="020B0604020202020204" pitchFamily="34" charset="0"/>
                        </a:rPr>
                        <a:t> Каримович</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1948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2012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(Ўзбек миллий академик драма театри актёри)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013">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91121">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1971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baseline="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baseline="0" noProof="0" dirty="0" smtClean="0">
                          <a:solidFill>
                            <a:schemeClr val="tx1"/>
                          </a:solidFill>
                          <a:latin typeface="+mn-lt"/>
                          <a:ea typeface="+mn-ea"/>
                          <a:cs typeface="+mn-cs"/>
                        </a:rPr>
                        <a:t>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475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292">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профессор</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292">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1695">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526576" y="865689"/>
          <a:ext cx="3172841" cy="5902578"/>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65305">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602346">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1971</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71138">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844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42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844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22746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ru-RU" sz="900" kern="1200" dirty="0" smtClean="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16897">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1689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2025 й. профилактика</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1689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0844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6476">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343815">
                <a:tc gridSpan="2">
                  <a:txBody>
                    <a:bodyPr/>
                    <a:lstStyle/>
                    <a:p>
                      <a:r>
                        <a:rPr lang="uz-Cyrl-UZ" sz="900" kern="1200" dirty="0" smtClean="0">
                          <a:solidFill>
                            <a:schemeClr val="tx1"/>
                          </a:solidFill>
                          <a:effectLst/>
                          <a:latin typeface="+mn-lt"/>
                          <a:ea typeface="+mn-ea"/>
                          <a:cs typeface="+mn-cs"/>
                        </a:rPr>
                        <a:t>1988 й. “Ўзбекистонда хизмат кўрсатган артист”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1989 й. Давлат мукофоти совриндори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2016 й. “Ўзбекистон Республикаси халқ артисти”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2021 й. “Фидокорона хизматлари учун” ордени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764945" y="869287"/>
          <a:ext cx="3002160" cy="5902101"/>
        </p:xfrm>
        <a:graphic>
          <a:graphicData uri="http://schemas.openxmlformats.org/drawingml/2006/table">
            <a:tbl>
              <a:tblPr firstRow="1" bandRow="1">
                <a:tableStyleId>{C083E6E3-FA7D-4D7B-A595-EF9225AFEA82}</a:tableStyleId>
              </a:tblPr>
              <a:tblGrid>
                <a:gridCol w="3002160">
                  <a:extLst>
                    <a:ext uri="{9D8B030D-6E8A-4147-A177-3AD203B41FA5}">
                      <a16:colId xmlns:a16="http://schemas.microsoft.com/office/drawing/2014/main" val="2715609854"/>
                    </a:ext>
                  </a:extLst>
                </a:gridCol>
              </a:tblGrid>
              <a:tr h="257444">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4068">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401225">
                <a:tc>
                  <a:txBody>
                    <a:bodyPr/>
                    <a:lstStyle/>
                    <a:p>
                      <a:pPr marL="0" indent="179388" algn="just"/>
                      <a:r>
                        <a:rPr lang="uz-Cyrl-UZ" sz="900" b="0" kern="1200" dirty="0" smtClean="0">
                          <a:solidFill>
                            <a:schemeClr val="tx1"/>
                          </a:solidFill>
                          <a:effectLst/>
                          <a:latin typeface="+mn-lt"/>
                          <a:ea typeface="+mn-ea"/>
                          <a:cs typeface="+mn-cs"/>
                        </a:rPr>
                        <a:t>У “Парвоз” спектаклида Санам, “Абу Райҳон Беруний”да Гулсанам, “Қароқчилар”да Амалия, “Уйланиш”да Агафья, “Тирик мурда”да Лиза, “Отелло”да Дездемона, “Нажот истаб”да Гулсара, “Тақдир эшиги”да аёл, “Бахти қаро келин ёки...” келин, “Юлдузли тунлар”да Ойшабегим, “Алдагани хотин яхши” Сафий, “Алла”да Валентина, “Шайтон ва фаришта”да фаришта, “Эргинамнинг орзуси”да Гавҳар, “Соҳибқирон”да Бибихоним, (А.Қодирийнинг) “Ўткан кунлар”да Кумуш, “Севаман дедимми?”да актриса, “Тортадурман жабрини”да судья, “Дарахтлар тик туриб жон беради”да Элена, “Бир қадам йўл”да Беғам, “Донишманд Натан”да Дайя, “Свободная пара”да актриса, “Танҳо юлдузим”да Умида, “Ўзбекча рақс”да Вера Михайловна, “Кузги мактублар”да Қумри, “Тартюф”да Пернельхоним ҳамда Ўзбекистон академик рус драма театрида саҳналаштирилган “Ночь в Венеции”да аёл, “Узник Второй авеню”да Эдна каби бош ролларни меъёрига етказиб ижро этиб, томошабинлар ва ҳамкасбларининг олқишларига сазовор бўлди.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Г.Закирова театрдаги фаолияти билан бир қаторда видеофильм ва бадиий фильмларда ҳам 40 дан зиёд роллар ижро этган. Жумладан, элимиз севиб томоша қиладиган “Тўйлар муборак” фильмида Нигора, “Қайтмас” бадиий фильмида Гулчеҳра, “Тилсимой”да она, “Келгинди қайнона”да Адолат, “Эсимиз қурсин ёки Чолу кампир сим қоқди”да Қумри, “Шайтанат” видеофильмида Насиба, “Денгиздан бир томчи”да аёл, “Юлдузингни бер, осмон”да Гули, “Домла”да Гулбаҳор, “Сарвинос”да Гули, “Меҳмонхона”да Мавжуда “Сабр”да Нор буви  каби турли характерли образлар яратди.</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9946">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756296">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8" name="Picture 2" descr="Сканировать10013"/>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69838" y="1126981"/>
            <a:ext cx="815478" cy="1089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524855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90" y="865703"/>
          <a:ext cx="3205461" cy="5885474"/>
        </p:xfrm>
        <a:graphic>
          <a:graphicData uri="http://schemas.openxmlformats.org/drawingml/2006/table">
            <a:tbl>
              <a:tblPr firstRow="1" bandRow="1">
                <a:tableStyleId>{C083E6E3-FA7D-4D7B-A595-EF9225AFEA82}</a:tableStyleId>
              </a:tblPr>
              <a:tblGrid>
                <a:gridCol w="556625">
                  <a:extLst>
                    <a:ext uri="{9D8B030D-6E8A-4147-A177-3AD203B41FA5}">
                      <a16:colId xmlns:a16="http://schemas.microsoft.com/office/drawing/2014/main" val="2288412290"/>
                    </a:ext>
                  </a:extLst>
                </a:gridCol>
                <a:gridCol w="470916">
                  <a:extLst>
                    <a:ext uri="{9D8B030D-6E8A-4147-A177-3AD203B41FA5}">
                      <a16:colId xmlns:a16="http://schemas.microsoft.com/office/drawing/2014/main" val="1678982439"/>
                    </a:ext>
                  </a:extLst>
                </a:gridCol>
                <a:gridCol w="143552">
                  <a:extLst>
                    <a:ext uri="{9D8B030D-6E8A-4147-A177-3AD203B41FA5}">
                      <a16:colId xmlns:a16="http://schemas.microsoft.com/office/drawing/2014/main" val="2721661767"/>
                    </a:ext>
                  </a:extLst>
                </a:gridCol>
                <a:gridCol w="851237">
                  <a:extLst>
                    <a:ext uri="{9D8B030D-6E8A-4147-A177-3AD203B41FA5}">
                      <a16:colId xmlns:a16="http://schemas.microsoft.com/office/drawing/2014/main" val="546773760"/>
                    </a:ext>
                  </a:extLst>
                </a:gridCol>
                <a:gridCol w="1183131">
                  <a:extLst>
                    <a:ext uri="{9D8B030D-6E8A-4147-A177-3AD203B41FA5}">
                      <a16:colId xmlns:a16="http://schemas.microsoft.com/office/drawing/2014/main" val="546443978"/>
                    </a:ext>
                  </a:extLst>
                </a:gridCol>
              </a:tblGrid>
              <a:tr h="24090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833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КАРИМОВ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833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Рустам</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833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Каримович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833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833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13.05.1951</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833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8611">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89879">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8611">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766516">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БЕРДИЕВ Карим</a:t>
                      </a:r>
                      <a:endParaRPr lang="uz-Cyrl-UZ" sz="900" b="1" kern="1200" baseline="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1918</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a:t>
                      </a:r>
                      <a:r>
                        <a:rPr lang="uz-Cyrl-UZ" sz="900" b="0" kern="1200" dirty="0" smtClean="0">
                          <a:solidFill>
                            <a:schemeClr val="tx1"/>
                          </a:solidFill>
                          <a:latin typeface="+mn-lt"/>
                          <a:ea typeface="+mn-ea"/>
                          <a:cs typeface="+mn-cs"/>
                        </a:rPr>
                        <a:t>Тошкент</a:t>
                      </a:r>
                      <a:r>
                        <a:rPr lang="uz-Cyrl-UZ" sz="900" b="0" kern="1200" noProof="0" dirty="0" smtClean="0">
                          <a:solidFill>
                            <a:schemeClr val="tx1"/>
                          </a:solidFill>
                          <a:latin typeface="+mn-lt"/>
                          <a:ea typeface="+mn-ea"/>
                          <a:cs typeface="Arial" panose="020B0604020202020204" pitchFamily="34" charset="0"/>
                        </a:rPr>
                        <a:t> </a:t>
                      </a:r>
                      <a:r>
                        <a:rPr lang="uz-Cyrl-UZ" sz="900" b="0" kern="1200" dirty="0" smtClean="0">
                          <a:solidFill>
                            <a:schemeClr val="tx1"/>
                          </a:solidFill>
                          <a:latin typeface="+mn-lt"/>
                          <a:ea typeface="+mn-ea"/>
                          <a:cs typeface="+mn-cs"/>
                        </a:rPr>
                        <a:t>вилояти</a:t>
                      </a:r>
                      <a:endParaRPr lang="uz-Cyrl-UZ"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1990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(Тошкент вилоятининг 6-сонли сув бошқармаси қурувчиси)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89879">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БЕРДИЕВА</a:t>
                      </a:r>
                      <a:r>
                        <a:rPr lang="uz-Cyrl-UZ" sz="900" b="1" kern="1200" baseline="0" noProof="0" dirty="0" smtClean="0">
                          <a:solidFill>
                            <a:schemeClr val="tx1"/>
                          </a:solidFill>
                          <a:latin typeface="+mn-lt"/>
                          <a:ea typeface="+mn-ea"/>
                          <a:cs typeface="Arial" panose="020B0604020202020204" pitchFamily="34" charset="0"/>
                        </a:rPr>
                        <a:t> Рохат Эртоевна</a:t>
                      </a:r>
                      <a:endParaRPr lang="uz-Cyrl-UZ" sz="900" b="1" kern="1200" noProof="0" dirty="0" smtClean="0">
                        <a:solidFill>
                          <a:schemeClr val="tx1"/>
                        </a:solidFill>
                        <a:latin typeface="+mn-lt"/>
                        <a:ea typeface="+mn-ea"/>
                        <a:cs typeface="Arial" panose="020B0604020202020204" pitchFamily="34" charset="0"/>
                      </a:endParaRPr>
                    </a:p>
                    <a:p>
                      <a:pPr marL="0" marR="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1923 йил, </a:t>
                      </a:r>
                      <a:r>
                        <a:rPr lang="uz-Cyrl-UZ" sz="900" b="0" kern="1200" dirty="0" smtClean="0">
                          <a:solidFill>
                            <a:schemeClr val="tx1"/>
                          </a:solidFill>
                          <a:latin typeface="+mn-lt"/>
                          <a:ea typeface="+mn-ea"/>
                          <a:cs typeface="+mn-cs"/>
                        </a:rPr>
                        <a:t>Тошкент</a:t>
                      </a:r>
                      <a:r>
                        <a:rPr lang="uz-Cyrl-UZ" sz="900" b="0" kern="1200" noProof="0" dirty="0" smtClean="0">
                          <a:solidFill>
                            <a:schemeClr val="tx1"/>
                          </a:solidFill>
                          <a:latin typeface="+mn-lt"/>
                          <a:ea typeface="+mn-ea"/>
                          <a:cs typeface="Arial" panose="020B0604020202020204" pitchFamily="34" charset="0"/>
                        </a:rPr>
                        <a:t> </a:t>
                      </a:r>
                      <a:r>
                        <a:rPr lang="uz-Cyrl-UZ" sz="900" b="0" kern="1200" dirty="0" smtClean="0">
                          <a:solidFill>
                            <a:schemeClr val="tx1"/>
                          </a:solidFill>
                          <a:latin typeface="+mn-lt"/>
                          <a:ea typeface="+mn-ea"/>
                          <a:cs typeface="+mn-cs"/>
                        </a:rPr>
                        <a:t>вилояти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2019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(уй бекаси)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89879">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КАРИМОВА Мохира</a:t>
                      </a:r>
                      <a:r>
                        <a:rPr lang="uz-Cyrl-UZ" sz="900" b="1" kern="1200" baseline="0" noProof="0" dirty="0" smtClean="0">
                          <a:solidFill>
                            <a:schemeClr val="tx1"/>
                          </a:solidFill>
                          <a:latin typeface="+mn-lt"/>
                          <a:ea typeface="+mn-ea"/>
                          <a:cs typeface="Arial" panose="020B0604020202020204" pitchFamily="34" charset="0"/>
                        </a:rPr>
                        <a:t> Хаятуллаевна</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1954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Тошкент вилояти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ҳокимияти архитектори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5558">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51561">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1972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baseline="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baseline="0" noProof="0" dirty="0" smtClean="0">
                          <a:solidFill>
                            <a:schemeClr val="tx1"/>
                          </a:solidFill>
                          <a:latin typeface="+mn-lt"/>
                          <a:ea typeface="+mn-ea"/>
                          <a:cs typeface="+mn-cs"/>
                        </a:rPr>
                        <a:t>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324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1090">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1090">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286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426698" y="865691"/>
          <a:ext cx="3172841" cy="5885489"/>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6424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600602">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1971</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70353">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784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51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784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22390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ru-RU" sz="900" kern="1200" dirty="0" smtClean="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15690">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1569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1569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0784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5849">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339924">
                <a:tc gridSpan="2">
                  <a:txBody>
                    <a:bodyPr/>
                    <a:lstStyle/>
                    <a:p>
                      <a:r>
                        <a:rPr lang="uz-Cyrl-UZ" sz="900" kern="1200" dirty="0" smtClean="0">
                          <a:solidFill>
                            <a:schemeClr val="tx1"/>
                          </a:solidFill>
                          <a:effectLst/>
                          <a:latin typeface="+mn-lt"/>
                          <a:ea typeface="+mn-ea"/>
                          <a:cs typeface="+mn-cs"/>
                        </a:rPr>
                        <a:t>2001 й. “Ўзбекистон Республикасида хизмат кўрсатган артист”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2021 й. “Меҳнат шуҳрати” ордени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676287" y="869287"/>
          <a:ext cx="3090818" cy="5893887"/>
        </p:xfrm>
        <a:graphic>
          <a:graphicData uri="http://schemas.openxmlformats.org/drawingml/2006/table">
            <a:tbl>
              <a:tblPr firstRow="1" bandRow="1">
                <a:tableStyleId>{C083E6E3-FA7D-4D7B-A595-EF9225AFEA82}</a:tableStyleId>
              </a:tblPr>
              <a:tblGrid>
                <a:gridCol w="3090818">
                  <a:extLst>
                    <a:ext uri="{9D8B030D-6E8A-4147-A177-3AD203B41FA5}">
                      <a16:colId xmlns:a16="http://schemas.microsoft.com/office/drawing/2014/main" val="2715609854"/>
                    </a:ext>
                  </a:extLst>
                </a:gridCol>
              </a:tblGrid>
              <a:tr h="233779">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86532">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541811">
                <a:tc>
                  <a:txBody>
                    <a:bodyPr/>
                    <a:lstStyle/>
                    <a:p>
                      <a:pPr marL="0" indent="179388" algn="just"/>
                      <a:r>
                        <a:rPr lang="uz-Cyrl-UZ" sz="900" b="0" kern="1200" dirty="0" smtClean="0">
                          <a:solidFill>
                            <a:schemeClr val="tx1"/>
                          </a:solidFill>
                          <a:effectLst/>
                          <a:latin typeface="+mn-lt"/>
                          <a:ea typeface="+mn-ea"/>
                          <a:cs typeface="+mn-cs"/>
                        </a:rPr>
                        <a:t>Каримов Рустам Миллий театрда “Келинлар қўзғолони”да уста Боқи, “Ўғрини қароқчи урди”да Мурод, “Пири Коинот”да Аҳмад Фарғоний, “Андишали келинчак”да ота, “Гамлет”да гўрков, “Ҳасрат боғи”да Мурод, “Бир қадам йўл”да ака, “А.Қодирийнинг Ўткан кунлар”да Мингбоши, “Макр ва Муҳаббат”да хизматкор, “Усмон Носир”да Матвеев, “Алишер Навоий”да Мажиддин, “Ўзбекча рақс”да Егоров, “Ўткан кунлар”да Ҳасанали, “Оилавий сир”да ота, “Қуёшни сен уйғотасан”да Чора бобо, “Тақдир синовлари”да Эсонқул, “Рустам”да Ота, “Мирзо Улуғбек”да Пири Зиндони, “Алишер Навоий”да Шайхулислом, “Кузги мактублар”да Шокир, “Ўжарлар”да Холмурод, “Ревизор”да Осип, “Оқ кема”да Мўмин, “Абай”да Тақажон, “Жалолиддин Мангуберди”да гўрков, “Бобораҳим Машраб”да гадо, “Адолат фасли”да Амир Темур ва бошқа кўплаб спектаклларда ранг-баранг образларни маҳорат билан ижро этиб келмоқда.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Р. Каримов истеъдодли актёр сифатида санъатнинг кино, телевидение соҳасида ҳам сермаҳсул ижод қилиб келмоқда. Жумладан, “Гирдоб”да Наимжон, “Ҳаёт мазмуни”да Юсуфали, “Дард”да Азим, “Фақат ғалаба”да ота, “Тойчоқ”да Аждар, “Занжир”да ота, “Тақдир йўллари”да Ғофуров, “Пойдевор”да Азимов, “Виждон”да ота, “Гирдоб”да Наимжон ва бошқа кино фильмларда ҳамда “Журналист” сериалида ота шунингдек “Оталар сўзи, ақлнинг кўзи” кўрсатувида кўплаб роллар ижро этди. </a:t>
                      </a:r>
                    </a:p>
                    <a:p>
                      <a:pPr marL="0" indent="179388" algn="just"/>
                      <a:r>
                        <a:rPr lang="uz-Cyrl-UZ" sz="900" b="0" kern="1200" dirty="0" smtClean="0">
                          <a:solidFill>
                            <a:schemeClr val="tx1"/>
                          </a:solidFill>
                          <a:effectLst/>
                          <a:latin typeface="+mn-lt"/>
                          <a:ea typeface="+mn-ea"/>
                          <a:cs typeface="+mn-cs"/>
                        </a:rPr>
                        <a:t>Р. Каримов дубляж санъатида ҳам ижод қилади. Дубляжда 500 дан ортиқ фильмларга овоз берди. Эл аро таниқли санъаткорга айланди.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2023 йил “Олтин ҳумо” миллий кино тақдимотининг “Доктор Абдуллаев” фильми учун “Энг яхши эркак роли” номинацияси ғолиби.</a:t>
                      </a:r>
                      <a:endParaRPr lang="ru-RU" sz="900" b="0" kern="1200" dirty="0" smtClean="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1071">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68697">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1026" name="Picture 2" descr="IMG_3870"/>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88983" y="1160232"/>
            <a:ext cx="791672" cy="1053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12157464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8" y="865703"/>
          <a:ext cx="3350742" cy="5892184"/>
        </p:xfrm>
        <a:graphic>
          <a:graphicData uri="http://schemas.openxmlformats.org/drawingml/2006/table">
            <a:tbl>
              <a:tblPr firstRow="1" bandRow="1">
                <a:tableStyleId>{C083E6E3-FA7D-4D7B-A595-EF9225AFEA82}</a:tableStyleId>
              </a:tblPr>
              <a:tblGrid>
                <a:gridCol w="581853">
                  <a:extLst>
                    <a:ext uri="{9D8B030D-6E8A-4147-A177-3AD203B41FA5}">
                      <a16:colId xmlns:a16="http://schemas.microsoft.com/office/drawing/2014/main" val="2288412290"/>
                    </a:ext>
                  </a:extLst>
                </a:gridCol>
                <a:gridCol w="492260">
                  <a:extLst>
                    <a:ext uri="{9D8B030D-6E8A-4147-A177-3AD203B41FA5}">
                      <a16:colId xmlns:a16="http://schemas.microsoft.com/office/drawing/2014/main" val="1678982439"/>
                    </a:ext>
                  </a:extLst>
                </a:gridCol>
                <a:gridCol w="150058">
                  <a:extLst>
                    <a:ext uri="{9D8B030D-6E8A-4147-A177-3AD203B41FA5}">
                      <a16:colId xmlns:a16="http://schemas.microsoft.com/office/drawing/2014/main" val="2721661767"/>
                    </a:ext>
                  </a:extLst>
                </a:gridCol>
                <a:gridCol w="639603">
                  <a:extLst>
                    <a:ext uri="{9D8B030D-6E8A-4147-A177-3AD203B41FA5}">
                      <a16:colId xmlns:a16="http://schemas.microsoft.com/office/drawing/2014/main" val="546773760"/>
                    </a:ext>
                  </a:extLst>
                </a:gridCol>
                <a:gridCol w="250215">
                  <a:extLst>
                    <a:ext uri="{9D8B030D-6E8A-4147-A177-3AD203B41FA5}">
                      <a16:colId xmlns:a16="http://schemas.microsoft.com/office/drawing/2014/main" val="3519505700"/>
                    </a:ext>
                  </a:extLst>
                </a:gridCol>
                <a:gridCol w="1236753">
                  <a:extLst>
                    <a:ext uri="{9D8B030D-6E8A-4147-A177-3AD203B41FA5}">
                      <a16:colId xmlns:a16="http://schemas.microsoft.com/office/drawing/2014/main" val="546443978"/>
                    </a:ext>
                  </a:extLst>
                </a:gridCol>
              </a:tblGrid>
              <a:tr h="184710">
                <a:tc gridSpan="6">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42289">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ЯРАШЕВА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4228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3">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Раъно</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4228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Сайфиддиновна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42289">
                <a:tc gridSpan="2" vMerge="1">
                  <a:txBody>
                    <a:bodyPr/>
                    <a:lstStyle/>
                    <a:p>
                      <a:endParaRPr lang="ru-RU"/>
                    </a:p>
                  </a:txBody>
                  <a:tcPr>
                    <a:lnT>
                      <a:noFill/>
                    </a:lnT>
                  </a:tcPr>
                </a:tc>
                <a:tc hMerge="1" vMerge="1">
                  <a:txBody>
                    <a:bodyPr/>
                    <a:lstStyle/>
                    <a:p>
                      <a:endParaRPr lang="ru-RU"/>
                    </a:p>
                  </a:txBody>
                  <a:tcPr/>
                </a:tc>
                <a:tc gridSpan="3">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4228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15.02.1961</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4228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Самарқанд 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175283">
                <a:tc gridSpan="6">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75606">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175283">
                <a:tc gridSpan="6">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81659">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ЯРАШЕВ</a:t>
                      </a:r>
                      <a:r>
                        <a:rPr lang="uz-Cyrl-UZ" sz="900" b="1" kern="1200" baseline="0" noProof="0" dirty="0" smtClean="0">
                          <a:solidFill>
                            <a:schemeClr val="tx1"/>
                          </a:solidFill>
                          <a:latin typeface="+mn-lt"/>
                          <a:ea typeface="+mn-ea"/>
                          <a:cs typeface="Arial" panose="020B0604020202020204" pitchFamily="34" charset="0"/>
                        </a:rPr>
                        <a:t> Сайфиддин</a:t>
                      </a:r>
                    </a:p>
                    <a:p>
                      <a:pPr algn="l">
                        <a:lnSpc>
                          <a:spcPct val="85000"/>
                        </a:lnSpc>
                      </a:pPr>
                      <a:r>
                        <a:rPr lang="uz-Cyrl-UZ" sz="900" b="0" kern="1200" noProof="0" dirty="0" smtClean="0">
                          <a:solidFill>
                            <a:schemeClr val="tx1"/>
                          </a:solidFill>
                          <a:latin typeface="+mn-lt"/>
                          <a:ea typeface="+mn-ea"/>
                          <a:cs typeface="Arial" panose="020B0604020202020204" pitchFamily="34" charset="0"/>
                        </a:rPr>
                        <a:t>1929</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a:t>
                      </a:r>
                      <a:r>
                        <a:rPr lang="uz-Cyrl-UZ" sz="900" b="0" kern="1200" dirty="0" smtClean="0">
                          <a:solidFill>
                            <a:schemeClr val="tx1"/>
                          </a:solidFill>
                          <a:latin typeface="+mn-lt"/>
                          <a:ea typeface="+mn-ea"/>
                          <a:cs typeface="+mn-cs"/>
                        </a:rPr>
                        <a:t>Самарқанд вилояти</a:t>
                      </a:r>
                      <a:endParaRPr lang="uz-Cyrl-UZ"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Пенсияда,</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(Каттақўрғон шаҳар </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11-сонли умумтаълим мактаб ўқитувчиси)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81659">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МАМАТҚУЛОВА</a:t>
                      </a:r>
                      <a:r>
                        <a:rPr lang="uz-Cyrl-UZ" sz="900" b="1" kern="1200" baseline="0" noProof="0" dirty="0" smtClean="0">
                          <a:solidFill>
                            <a:schemeClr val="tx1"/>
                          </a:solidFill>
                          <a:latin typeface="+mn-lt"/>
                          <a:ea typeface="+mn-ea"/>
                          <a:cs typeface="Arial" panose="020B0604020202020204" pitchFamily="34" charset="0"/>
                        </a:rPr>
                        <a:t> Саодат</a:t>
                      </a:r>
                      <a:endParaRPr lang="uz-Cyrl-UZ" sz="900" b="1" kern="1200" noProof="0" dirty="0" smtClean="0">
                        <a:solidFill>
                          <a:schemeClr val="tx1"/>
                        </a:solidFill>
                        <a:latin typeface="+mn-lt"/>
                        <a:ea typeface="+mn-ea"/>
                        <a:cs typeface="Arial" panose="020B0604020202020204" pitchFamily="34" charset="0"/>
                      </a:endParaRPr>
                    </a:p>
                    <a:p>
                      <a:pPr marL="0" marR="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1945 йил, </a:t>
                      </a:r>
                      <a:r>
                        <a:rPr lang="uz-Cyrl-UZ" sz="900" b="0" kern="1200" dirty="0" smtClean="0">
                          <a:solidFill>
                            <a:schemeClr val="tx1"/>
                          </a:solidFill>
                          <a:latin typeface="+mn-lt"/>
                          <a:ea typeface="+mn-ea"/>
                          <a:cs typeface="+mn-cs"/>
                        </a:rPr>
                        <a:t>Самарқанд вилояти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2014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(Каттақурғон шаҳар “Олтинводий” дўкони </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сотувчиси)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81659">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МУСАЕВ Бахриддин</a:t>
                      </a:r>
                    </a:p>
                    <a:p>
                      <a:pPr algn="l">
                        <a:lnSpc>
                          <a:spcPct val="85000"/>
                        </a:lnSpc>
                      </a:pPr>
                      <a:r>
                        <a:rPr lang="uz-Cyrl-UZ" sz="900" b="0" kern="1200" noProof="0" dirty="0" smtClean="0">
                          <a:solidFill>
                            <a:schemeClr val="tx1"/>
                          </a:solidFill>
                          <a:latin typeface="+mn-lt"/>
                          <a:ea typeface="+mn-ea"/>
                          <a:cs typeface="Arial" panose="020B0604020202020204" pitchFamily="34" charset="0"/>
                        </a:rPr>
                        <a:t>1954 йил, Тошкент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2010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(Тошкент вилояти ички ишлар бош бошқармаси ходими)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57608">
                <a:tc gridSpan="6">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269553">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smtClean="0">
                          <a:solidFill>
                            <a:schemeClr val="tx1"/>
                          </a:solidFill>
                          <a:latin typeface="+mn-lt"/>
                          <a:ea typeface="+mn-ea"/>
                          <a:cs typeface="+mn-cs"/>
                        </a:rPr>
                        <a:t>1991 й. </a:t>
                      </a:r>
                      <a:r>
                        <a:rPr lang="uz-Cyrl-UZ" sz="900" kern="1200" dirty="0" smtClean="0">
                          <a:solidFill>
                            <a:schemeClr val="tx1"/>
                          </a:solidFill>
                          <a:effectLst/>
                          <a:latin typeface="+mn-lt"/>
                          <a:ea typeface="+mn-ea"/>
                          <a:cs typeface="+mn-cs"/>
                        </a:rPr>
                        <a:t>Тошкент давлат санъат институти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16349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37737">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err="1"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37737">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27882">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580522" y="865691"/>
          <a:ext cx="3172841" cy="5912647"/>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65928">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603374">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1993</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71600">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880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50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880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22955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ru-RU" sz="900" kern="1200" dirty="0" smtClean="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17608">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17608">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17608">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08805">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6845">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346107">
                <a:tc gridSpan="2">
                  <a:txBody>
                    <a:bodyPr/>
                    <a:lstStyle/>
                    <a:p>
                      <a:r>
                        <a:rPr lang="uz-Cyrl-UZ" sz="900" kern="1200" dirty="0" smtClean="0">
                          <a:solidFill>
                            <a:schemeClr val="tx1"/>
                          </a:solidFill>
                          <a:effectLst/>
                          <a:latin typeface="+mn-lt"/>
                          <a:ea typeface="+mn-ea"/>
                          <a:cs typeface="+mn-cs"/>
                        </a:rPr>
                        <a:t>1999 й. “Ўзбекистон Республикасида хизмат кўрсатган артист”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2022 й. “Қорақалпоғистон Республикасида хизмат кўрсатган артист” фахрий унвони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838655" y="869284"/>
          <a:ext cx="2928449" cy="5919898"/>
        </p:xfrm>
        <a:graphic>
          <a:graphicData uri="http://schemas.openxmlformats.org/drawingml/2006/table">
            <a:tbl>
              <a:tblPr firstRow="1" bandRow="1">
                <a:tableStyleId>{C083E6E3-FA7D-4D7B-A595-EF9225AFEA82}</a:tableStyleId>
              </a:tblPr>
              <a:tblGrid>
                <a:gridCol w="2928449">
                  <a:extLst>
                    <a:ext uri="{9D8B030D-6E8A-4147-A177-3AD203B41FA5}">
                      <a16:colId xmlns:a16="http://schemas.microsoft.com/office/drawing/2014/main" val="2715609854"/>
                    </a:ext>
                  </a:extLst>
                </a:gridCol>
              </a:tblGrid>
              <a:tr h="235561">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08997">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717057">
                <a:tc>
                  <a:txBody>
                    <a:bodyPr/>
                    <a:lstStyle/>
                    <a:p>
                      <a:pPr marL="0" indent="179388" algn="just"/>
                      <a:r>
                        <a:rPr lang="uz-Cyrl-UZ" sz="900" b="0" kern="1200" dirty="0" smtClean="0">
                          <a:solidFill>
                            <a:schemeClr val="tx1"/>
                          </a:solidFill>
                          <a:effectLst/>
                          <a:latin typeface="+mn-lt"/>
                          <a:ea typeface="+mn-ea"/>
                          <a:cs typeface="+mn-cs"/>
                        </a:rPr>
                        <a:t>Раъно Ярашова Миллий театрда саҳналаштирилган “Ёрқиной” спектаклида Ёрқиной, “Ҳаёт эшик орти”да Табассум, “Жиноят устида ушлансин”да Манзура, “Қулойим”да Анна, “Энага”да аёл, “Бахти қаро келин ёки...”да келин, “Увайсий”да Нодирабегим, “Андишали келинчак”да Тўйчинисо, “Антиқа қудалар”да япон аёли, “Ўткан кунлар”да Офтоб ойим, “Заминдан олис кетма”да Гўзал, “Ўжарлар”да Ақсингул, “Жалолиддин Мангуберди”да Туркон Хотун, “Усмон Носир”да Холамбиби, “Чиройлисан муҳаббат”да Донохон, “Биринчи қалдирғоч”да Катта ойи,  “Эр-хотиннинг уруши”да Гулчеҳра  каби такрорланмас роллари мазмунан чуқурлиги, ижро маҳоратининг мукаммаллиги, мантиқий талқини билан эътиборга лойиқдир. </a:t>
                      </a:r>
                      <a:endParaRPr lang="ru-RU" sz="900" b="0" kern="1200" dirty="0" smtClean="0">
                        <a:solidFill>
                          <a:schemeClr val="tx1"/>
                        </a:solidFill>
                        <a:effectLst/>
                        <a:latin typeface="+mn-lt"/>
                        <a:ea typeface="+mn-ea"/>
                        <a:cs typeface="+mn-cs"/>
                      </a:endParaRPr>
                    </a:p>
                    <a:p>
                      <a:pPr marL="0" indent="179388" algn="just"/>
                      <a:r>
                        <a:rPr lang="ru-RU" sz="900" b="0" kern="1200" dirty="0" smtClean="0">
                          <a:solidFill>
                            <a:schemeClr val="tx1"/>
                          </a:solidFill>
                          <a:effectLst/>
                          <a:latin typeface="+mn-lt"/>
                          <a:ea typeface="+mn-ea"/>
                          <a:cs typeface="+mn-cs"/>
                        </a:rPr>
                        <a:t>Р</a:t>
                      </a:r>
                      <a:r>
                        <a:rPr lang="uz-Cyrl-UZ" sz="900" b="0" kern="1200" dirty="0" smtClean="0">
                          <a:solidFill>
                            <a:schemeClr val="tx1"/>
                          </a:solidFill>
                          <a:effectLst/>
                          <a:latin typeface="+mn-lt"/>
                          <a:ea typeface="+mn-ea"/>
                          <a:cs typeface="+mn-cs"/>
                        </a:rPr>
                        <a:t>.Ярашова </a:t>
                      </a:r>
                      <a:r>
                        <a:rPr lang="ru-RU" sz="900" b="0" kern="1200" dirty="0" err="1" smtClean="0">
                          <a:solidFill>
                            <a:schemeClr val="tx1"/>
                          </a:solidFill>
                          <a:effectLst/>
                          <a:latin typeface="+mn-lt"/>
                          <a:ea typeface="+mn-ea"/>
                          <a:cs typeface="+mn-cs"/>
                        </a:rPr>
                        <a:t>бир</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қатор</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видеофильмларда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ёрқин</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образлар</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яратди</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Шулардан; “</a:t>
                      </a:r>
                      <a:r>
                        <a:rPr lang="ru-RU" sz="900" b="0" kern="1200" dirty="0" err="1" smtClean="0">
                          <a:solidFill>
                            <a:schemeClr val="tx1"/>
                          </a:solidFill>
                          <a:effectLst/>
                          <a:latin typeface="+mn-lt"/>
                          <a:ea typeface="+mn-ea"/>
                          <a:cs typeface="+mn-cs"/>
                        </a:rPr>
                        <a:t>Ме</a:t>
                      </a:r>
                      <a:r>
                        <a:rPr lang="uz-Cyrl-UZ" sz="900" b="0" kern="1200" dirty="0" smtClean="0">
                          <a:solidFill>
                            <a:schemeClr val="tx1"/>
                          </a:solidFill>
                          <a:effectLst/>
                          <a:latin typeface="+mn-lt"/>
                          <a:ea typeface="+mn-ea"/>
                          <a:cs typeface="+mn-cs"/>
                        </a:rPr>
                        <a:t>ҳ</a:t>
                      </a:r>
                      <a:r>
                        <a:rPr lang="ru-RU" sz="900" b="0" kern="1200" dirty="0" err="1" smtClean="0">
                          <a:solidFill>
                            <a:schemeClr val="tx1"/>
                          </a:solidFill>
                          <a:effectLst/>
                          <a:latin typeface="+mn-lt"/>
                          <a:ea typeface="+mn-ea"/>
                          <a:cs typeface="+mn-cs"/>
                        </a:rPr>
                        <a:t>робдан</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чаён</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Кеча </a:t>
                      </a:r>
                      <a:r>
                        <a:rPr lang="ru-RU" sz="900" b="0" kern="1200" dirty="0" err="1" smtClean="0">
                          <a:solidFill>
                            <a:schemeClr val="tx1"/>
                          </a:solidFill>
                          <a:effectLst/>
                          <a:latin typeface="+mn-lt"/>
                          <a:ea typeface="+mn-ea"/>
                          <a:cs typeface="+mn-cs"/>
                        </a:rPr>
                        <a:t>ва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кундуз</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Ревизор</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Жа</a:t>
                      </a:r>
                      <a:r>
                        <a:rPr lang="uz-Cyrl-UZ" sz="900" b="0" kern="1200" dirty="0" smtClean="0">
                          <a:solidFill>
                            <a:schemeClr val="tx1"/>
                          </a:solidFill>
                          <a:effectLst/>
                          <a:latin typeface="+mn-lt"/>
                          <a:ea typeface="+mn-ea"/>
                          <a:cs typeface="+mn-cs"/>
                        </a:rPr>
                        <a:t>ҳ</a:t>
                      </a:r>
                      <a:r>
                        <a:rPr lang="ru-RU" sz="900" b="0" kern="1200" dirty="0" err="1" smtClean="0">
                          <a:solidFill>
                            <a:schemeClr val="tx1"/>
                          </a:solidFill>
                          <a:effectLst/>
                          <a:latin typeface="+mn-lt"/>
                          <a:ea typeface="+mn-ea"/>
                          <a:cs typeface="+mn-cs"/>
                        </a:rPr>
                        <a:t>онотун</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Увайсий</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Адабиёт</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муаллими</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Лайли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ва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Мажнун</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Кўнгил</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кўчалари</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Қирқ</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тоғоранинг</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қир</a:t>
                      </a:r>
                      <a:r>
                        <a:rPr lang="uz-Cyrl-UZ" sz="900" b="0" kern="1200" dirty="0" smtClean="0">
                          <a:solidFill>
                            <a:schemeClr val="tx1"/>
                          </a:solidFill>
                          <a:effectLst/>
                          <a:latin typeface="+mn-lt"/>
                          <a:ea typeface="+mn-ea"/>
                          <a:cs typeface="+mn-cs"/>
                        </a:rPr>
                        <a:t>қ</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ноғораси</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Балои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нафс</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Шунчаки</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ҳ</a:t>
                      </a:r>
                      <a:r>
                        <a:rPr lang="ru-RU" sz="900" b="0" kern="1200" dirty="0" err="1" smtClean="0">
                          <a:solidFill>
                            <a:schemeClr val="tx1"/>
                          </a:solidFill>
                          <a:effectLst/>
                          <a:latin typeface="+mn-lt"/>
                          <a:ea typeface="+mn-ea"/>
                          <a:cs typeface="+mn-cs"/>
                        </a:rPr>
                        <a:t>азил</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Қарзи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хасана</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Зурриёт</a:t>
                      </a:r>
                      <a:r>
                        <a:rPr lang="uz-Cyrl-UZ"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Чимилдиғи</a:t>
                      </a:r>
                      <a:r>
                        <a:rPr lang="uz-Cyrl-UZ"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Севинч</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Ургутлик</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афандилар</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Севги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фазоси</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Тақдир</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ча</a:t>
                      </a:r>
                      <a:r>
                        <a:rPr lang="uz-Cyrl-UZ" sz="900" b="0" kern="1200" dirty="0" smtClean="0">
                          <a:solidFill>
                            <a:schemeClr val="tx1"/>
                          </a:solidFill>
                          <a:effectLst/>
                          <a:latin typeface="+mn-lt"/>
                          <a:ea typeface="+mn-ea"/>
                          <a:cs typeface="+mn-cs"/>
                        </a:rPr>
                        <a:t>р</a:t>
                      </a:r>
                      <a:r>
                        <a:rPr lang="ru-RU" sz="900" b="0" kern="1200" dirty="0" err="1" smtClean="0">
                          <a:solidFill>
                            <a:schemeClr val="tx1"/>
                          </a:solidFill>
                          <a:effectLst/>
                          <a:latin typeface="+mn-lt"/>
                          <a:ea typeface="+mn-ea"/>
                          <a:cs typeface="+mn-cs"/>
                        </a:rPr>
                        <a:t>хпалаги</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Чашма</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Сабо</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Мафтуна</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Виждон</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Севги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фариштаси</a:t>
                      </a:r>
                      <a:r>
                        <a:rPr lang="ru-RU" sz="900" b="0" kern="1200" dirty="0" smtClean="0">
                          <a:solidFill>
                            <a:schemeClr val="tx1"/>
                          </a:solidFill>
                          <a:effectLst/>
                          <a:latin typeface="+mn-lt"/>
                          <a:ea typeface="+mn-ea"/>
                          <a:cs typeface="+mn-cs"/>
                        </a:rPr>
                        <a:t> 2</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Менинг</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акам</a:t>
                      </a:r>
                      <a:r>
                        <a:rPr lang="ru-RU" sz="900" b="0" kern="1200" dirty="0" smtClean="0">
                          <a:solidFill>
                            <a:schemeClr val="tx1"/>
                          </a:solidFill>
                          <a:effectLst/>
                          <a:latin typeface="+mn-lt"/>
                          <a:ea typeface="+mn-ea"/>
                          <a:cs typeface="+mn-cs"/>
                        </a:rPr>
                        <a:t> б</a:t>
                      </a:r>
                      <a:r>
                        <a:rPr lang="uz-Cyrl-UZ" sz="900" b="0" kern="1200" dirty="0" smtClean="0">
                          <a:solidFill>
                            <a:schemeClr val="tx1"/>
                          </a:solidFill>
                          <a:effectLst/>
                          <a:latin typeface="+mn-lt"/>
                          <a:ea typeface="+mn-ea"/>
                          <a:cs typeface="+mn-cs"/>
                        </a:rPr>
                        <a:t>ў</a:t>
                      </a:r>
                      <a:r>
                        <a:rPr lang="ru-RU" sz="900" b="0" kern="1200" dirty="0" err="1" smtClean="0">
                          <a:solidFill>
                            <a:schemeClr val="tx1"/>
                          </a:solidFill>
                          <a:effectLst/>
                          <a:latin typeface="+mn-lt"/>
                          <a:ea typeface="+mn-ea"/>
                          <a:cs typeface="+mn-cs"/>
                        </a:rPr>
                        <a:t>йдо</a:t>
                      </a:r>
                      <a:r>
                        <a:rPr lang="uz-Cyrl-UZ" sz="900" b="0" kern="1200" dirty="0" smtClean="0">
                          <a:solidFill>
                            <a:schemeClr val="tx1"/>
                          </a:solidFill>
                          <a:effectLst/>
                          <a:latin typeface="+mn-lt"/>
                          <a:ea typeface="+mn-ea"/>
                          <a:cs typeface="+mn-cs"/>
                        </a:rPr>
                        <a:t>қ”</a:t>
                      </a:r>
                      <a:r>
                        <a:rPr lang="ru-RU" sz="900" b="0" kern="1200" dirty="0" smtClean="0">
                          <a:solidFill>
                            <a:schemeClr val="tx1"/>
                          </a:solidFill>
                          <a:effectLst/>
                          <a:latin typeface="+mn-lt"/>
                          <a:ea typeface="+mn-ea"/>
                          <a:cs typeface="+mn-cs"/>
                        </a:rPr>
                        <a:t>, “Энди </a:t>
                      </a:r>
                      <a:r>
                        <a:rPr lang="ru-RU" sz="900" b="0" kern="1200" dirty="0" err="1" smtClean="0">
                          <a:solidFill>
                            <a:schemeClr val="tx1"/>
                          </a:solidFill>
                          <a:effectLst/>
                          <a:latin typeface="+mn-lt"/>
                          <a:ea typeface="+mn-ea"/>
                          <a:cs typeface="+mn-cs"/>
                        </a:rPr>
                        <a:t>ака</a:t>
                      </a:r>
                      <a:r>
                        <a:rPr lang="ru-RU" sz="900" b="0" kern="1200" dirty="0" smtClean="0">
                          <a:solidFill>
                            <a:schemeClr val="tx1"/>
                          </a:solidFill>
                          <a:effectLst/>
                          <a:latin typeface="+mn-lt"/>
                          <a:ea typeface="+mn-ea"/>
                          <a:cs typeface="+mn-cs"/>
                        </a:rPr>
                        <a:t> б</a:t>
                      </a:r>
                      <a:r>
                        <a:rPr lang="uz-Cyrl-UZ" sz="900" b="0" kern="1200" dirty="0" smtClean="0">
                          <a:solidFill>
                            <a:schemeClr val="tx1"/>
                          </a:solidFill>
                          <a:effectLst/>
                          <a:latin typeface="+mn-lt"/>
                          <a:ea typeface="+mn-ea"/>
                          <a:cs typeface="+mn-cs"/>
                        </a:rPr>
                        <a:t>ў</a:t>
                      </a:r>
                      <a:r>
                        <a:rPr lang="ru-RU" sz="900" b="0" kern="1200" dirty="0" err="1" smtClean="0">
                          <a:solidFill>
                            <a:schemeClr val="tx1"/>
                          </a:solidFill>
                          <a:effectLst/>
                          <a:latin typeface="+mn-lt"/>
                          <a:ea typeface="+mn-ea"/>
                          <a:cs typeface="+mn-cs"/>
                        </a:rPr>
                        <a:t>йдо</a:t>
                      </a:r>
                      <a:r>
                        <a:rPr lang="uz-Cyrl-UZ" sz="900" b="0" kern="1200" dirty="0" smtClean="0">
                          <a:solidFill>
                            <a:schemeClr val="tx1"/>
                          </a:solidFill>
                          <a:effectLst/>
                          <a:latin typeface="+mn-lt"/>
                          <a:ea typeface="+mn-ea"/>
                          <a:cs typeface="+mn-cs"/>
                        </a:rPr>
                        <a:t>қ</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Сароб</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Бевалар</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Кокте</a:t>
                      </a:r>
                      <a:r>
                        <a:rPr lang="uz-Cyrl-UZ" sz="900" b="0" kern="1200" dirty="0" smtClean="0">
                          <a:solidFill>
                            <a:schemeClr val="tx1"/>
                          </a:solidFill>
                          <a:effectLst/>
                          <a:latin typeface="+mn-lt"/>
                          <a:ea typeface="+mn-ea"/>
                          <a:cs typeface="+mn-cs"/>
                        </a:rPr>
                        <a:t>й</a:t>
                      </a:r>
                      <a:r>
                        <a:rPr lang="ru-RU" sz="900" b="0" kern="1200" dirty="0" smtClean="0">
                          <a:solidFill>
                            <a:schemeClr val="tx1"/>
                          </a:solidFill>
                          <a:effectLst/>
                          <a:latin typeface="+mn-lt"/>
                          <a:ea typeface="+mn-ea"/>
                          <a:cs typeface="+mn-cs"/>
                        </a:rPr>
                        <a:t>л</a:t>
                      </a:r>
                      <a:r>
                        <a:rPr lang="uz-Cyrl-UZ" sz="900" b="0" kern="1200" dirty="0" smtClean="0">
                          <a:solidFill>
                            <a:schemeClr val="tx1"/>
                          </a:solidFill>
                          <a:effectLst/>
                          <a:latin typeface="+mn-lt"/>
                          <a:ea typeface="+mn-ea"/>
                          <a:cs typeface="+mn-cs"/>
                        </a:rPr>
                        <a:t>ь” </a:t>
                      </a:r>
                      <a:r>
                        <a:rPr lang="ru-RU" sz="900" b="0" kern="1200" dirty="0" err="1" smtClean="0">
                          <a:solidFill>
                            <a:schemeClr val="tx1"/>
                          </a:solidFill>
                          <a:effectLst/>
                          <a:latin typeface="+mn-lt"/>
                          <a:ea typeface="+mn-ea"/>
                          <a:cs typeface="+mn-cs"/>
                        </a:rPr>
                        <a:t>каби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фильмларда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турли</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ҳ</a:t>
                      </a:r>
                      <a:r>
                        <a:rPr lang="ru-RU" sz="900" b="0" kern="1200" dirty="0" err="1" smtClean="0">
                          <a:solidFill>
                            <a:schemeClr val="tx1"/>
                          </a:solidFill>
                          <a:effectLst/>
                          <a:latin typeface="+mn-lt"/>
                          <a:ea typeface="+mn-ea"/>
                          <a:cs typeface="+mn-cs"/>
                        </a:rPr>
                        <a:t>арактердаги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ролларни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ижро</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этди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Оталар</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сўзи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ақлнинг</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кўзи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Денгиздан</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томчи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кўрсатувларида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яратган</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образлари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мухлислар</a:t>
                      </a:r>
                      <a:r>
                        <a:rPr lang="ru-RU" sz="900" b="0" kern="1200" dirty="0" smtClean="0">
                          <a:solidFill>
                            <a:schemeClr val="tx1"/>
                          </a:solidFill>
                          <a:effectLst/>
                          <a:latin typeface="+mn-lt"/>
                          <a:ea typeface="+mn-ea"/>
                          <a:cs typeface="+mn-cs"/>
                        </a:rPr>
                        <a:t> та</a:t>
                      </a:r>
                      <a:r>
                        <a:rPr lang="uz-Cyrl-UZ" sz="900" b="0" kern="1200" dirty="0" smtClean="0">
                          <a:solidFill>
                            <a:schemeClr val="tx1"/>
                          </a:solidFill>
                          <a:effectLst/>
                          <a:latin typeface="+mn-lt"/>
                          <a:ea typeface="+mn-ea"/>
                          <a:cs typeface="+mn-cs"/>
                        </a:rPr>
                        <a:t>ҳ</a:t>
                      </a:r>
                      <a:r>
                        <a:rPr lang="ru-RU" sz="900" b="0" kern="1200" dirty="0" err="1" smtClean="0">
                          <a:solidFill>
                            <a:schemeClr val="tx1"/>
                          </a:solidFill>
                          <a:effectLst/>
                          <a:latin typeface="+mn-lt"/>
                          <a:ea typeface="+mn-ea"/>
                          <a:cs typeface="+mn-cs"/>
                        </a:rPr>
                        <a:t>синига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сазовор</a:t>
                      </a:r>
                      <a:r>
                        <a:rPr lang="ru-RU" sz="900" b="0" kern="1200" dirty="0" smtClean="0">
                          <a:solidFill>
                            <a:schemeClr val="tx1"/>
                          </a:solidFill>
                          <a:effectLst/>
                          <a:latin typeface="+mn-lt"/>
                          <a:ea typeface="+mn-ea"/>
                          <a:cs typeface="+mn-cs"/>
                        </a:rPr>
                        <a:t>. </a:t>
                      </a:r>
                    </a:p>
                    <a:p>
                      <a:pPr marL="0" indent="179388" algn="just"/>
                      <a:r>
                        <a:rPr lang="uz-Cyrl-UZ" sz="900" b="0" kern="1200" dirty="0" smtClean="0">
                          <a:solidFill>
                            <a:schemeClr val="tx1"/>
                          </a:solidFill>
                          <a:effectLst/>
                          <a:latin typeface="+mn-lt"/>
                          <a:ea typeface="+mn-ea"/>
                          <a:cs typeface="+mn-cs"/>
                        </a:rPr>
                        <a:t> Р.Ярашова 1995 йилдан буён Ўзбекистон ёзувчилар уюшмаси аъзоси, "Самарқанд соғинчи", "Сени ташлаб кетолмайман", "Хажр" номли шеърий тўпламлари ҳамда "Илоҳий ишқ қиссаси" номли китоби чоп этилган.</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2222">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95215">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8" name="Picture 2" descr="IMG_6738"/>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95710" y="1160233"/>
            <a:ext cx="792696" cy="10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24195581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90" y="865704"/>
          <a:ext cx="3308012" cy="5902565"/>
        </p:xfrm>
        <a:graphic>
          <a:graphicData uri="http://schemas.openxmlformats.org/drawingml/2006/table">
            <a:tbl>
              <a:tblPr firstRow="1" bandRow="1">
                <a:tableStyleId>{C083E6E3-FA7D-4D7B-A595-EF9225AFEA82}</a:tableStyleId>
              </a:tblPr>
              <a:tblGrid>
                <a:gridCol w="574433">
                  <a:extLst>
                    <a:ext uri="{9D8B030D-6E8A-4147-A177-3AD203B41FA5}">
                      <a16:colId xmlns:a16="http://schemas.microsoft.com/office/drawing/2014/main" val="2288412290"/>
                    </a:ext>
                  </a:extLst>
                </a:gridCol>
                <a:gridCol w="485982">
                  <a:extLst>
                    <a:ext uri="{9D8B030D-6E8A-4147-A177-3AD203B41FA5}">
                      <a16:colId xmlns:a16="http://schemas.microsoft.com/office/drawing/2014/main" val="1678982439"/>
                    </a:ext>
                  </a:extLst>
                </a:gridCol>
                <a:gridCol w="148145">
                  <a:extLst>
                    <a:ext uri="{9D8B030D-6E8A-4147-A177-3AD203B41FA5}">
                      <a16:colId xmlns:a16="http://schemas.microsoft.com/office/drawing/2014/main" val="2721661767"/>
                    </a:ext>
                  </a:extLst>
                </a:gridCol>
                <a:gridCol w="878470">
                  <a:extLst>
                    <a:ext uri="{9D8B030D-6E8A-4147-A177-3AD203B41FA5}">
                      <a16:colId xmlns:a16="http://schemas.microsoft.com/office/drawing/2014/main" val="546773760"/>
                    </a:ext>
                  </a:extLst>
                </a:gridCol>
                <a:gridCol w="1220982">
                  <a:extLst>
                    <a:ext uri="{9D8B030D-6E8A-4147-A177-3AD203B41FA5}">
                      <a16:colId xmlns:a16="http://schemas.microsoft.com/office/drawing/2014/main" val="546443978"/>
                    </a:ext>
                  </a:extLst>
                </a:gridCol>
              </a:tblGrid>
              <a:tr h="239518">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724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РАМЕТОВА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724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Саида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724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Хаджиевна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724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724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smtClean="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21.09.1957</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724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Самарқанд 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7294">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87056">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7294">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59977">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СОЛИЕВ</a:t>
                      </a:r>
                      <a:r>
                        <a:rPr lang="uz-Cyrl-UZ" sz="900" b="1" kern="1200" baseline="0" noProof="0" dirty="0" smtClean="0">
                          <a:solidFill>
                            <a:schemeClr val="tx1"/>
                          </a:solidFill>
                          <a:latin typeface="+mn-lt"/>
                          <a:ea typeface="+mn-ea"/>
                          <a:cs typeface="Arial" panose="020B0604020202020204" pitchFamily="34" charset="0"/>
                        </a:rPr>
                        <a:t> Хожиқурбон Гофурович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1936</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a:t>
                      </a:r>
                      <a:r>
                        <a:rPr lang="uz-Cyrl-UZ" sz="900" b="0" kern="1200" dirty="0" smtClean="0">
                          <a:solidFill>
                            <a:schemeClr val="tx1"/>
                          </a:solidFill>
                          <a:latin typeface="+mn-lt"/>
                          <a:ea typeface="+mn-ea"/>
                          <a:cs typeface="+mn-cs"/>
                        </a:rPr>
                        <a:t>Самарқанд вилояти</a:t>
                      </a:r>
                      <a:endParaRPr lang="uz-Cyrl-UZ"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2009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(Эркин уста хунарманд)</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624578">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СОЛИЕВА Захро</a:t>
                      </a:r>
                      <a:r>
                        <a:rPr lang="uz-Cyrl-UZ" sz="900" b="1" kern="1200" baseline="0" noProof="0" dirty="0" smtClean="0">
                          <a:solidFill>
                            <a:schemeClr val="tx1"/>
                          </a:solidFill>
                          <a:latin typeface="+mn-lt"/>
                          <a:ea typeface="+mn-ea"/>
                          <a:cs typeface="Arial" panose="020B0604020202020204" pitchFamily="34" charset="0"/>
                        </a:rPr>
                        <a:t> Набиевна</a:t>
                      </a:r>
                      <a:endParaRPr lang="uz-Cyrl-UZ" sz="900" b="1" kern="1200" noProof="0" dirty="0" smtClean="0">
                        <a:solidFill>
                          <a:schemeClr val="tx1"/>
                        </a:solidFill>
                        <a:latin typeface="+mn-lt"/>
                        <a:ea typeface="+mn-ea"/>
                        <a:cs typeface="Arial" panose="020B0604020202020204" pitchFamily="34" charset="0"/>
                      </a:endParaRPr>
                    </a:p>
                    <a:p>
                      <a:pPr marL="0" marR="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1936 йил, </a:t>
                      </a:r>
                      <a:r>
                        <a:rPr lang="uz-Cyrl-UZ" sz="900" b="0" kern="1200" dirty="0" smtClean="0">
                          <a:solidFill>
                            <a:schemeClr val="tx1"/>
                          </a:solidFill>
                          <a:latin typeface="+mn-lt"/>
                          <a:ea typeface="+mn-ea"/>
                          <a:cs typeface="+mn-cs"/>
                        </a:rPr>
                        <a:t>Самарқанд вилояти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Пенсияда,</a:t>
                      </a:r>
                    </a:p>
                    <a:p>
                      <a:r>
                        <a:rPr lang="uz-Cyrl-UZ" sz="900" kern="1200" dirty="0" smtClean="0">
                          <a:solidFill>
                            <a:schemeClr val="tx1"/>
                          </a:solidFill>
                          <a:effectLst/>
                          <a:latin typeface="+mn-lt"/>
                          <a:ea typeface="+mn-ea"/>
                          <a:cs typeface="+mn-cs"/>
                        </a:rPr>
                        <a:t>(Самарқанд шаҳри, консерва заводининг ишчиси)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87056">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РАМЕТОВ Жумадулла Бобохонович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1955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Пенсияда,</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(Ўзбек Давлат драма театри актёр)</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4373">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66878">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1980 й. </a:t>
                      </a:r>
                      <a:r>
                        <a:rPr lang="uz-Cyrl-UZ" sz="900" kern="1200" dirty="0" smtClean="0">
                          <a:solidFill>
                            <a:schemeClr val="tx1"/>
                          </a:solidFill>
                          <a:effectLst/>
                          <a:latin typeface="+mn-lt"/>
                          <a:ea typeface="+mn-ea"/>
                          <a:cs typeface="+mn-cs"/>
                        </a:rPr>
                        <a:t>Тошкент давлат санъат институти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2013">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9297">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9297">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24446">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529248" y="865689"/>
          <a:ext cx="3172841" cy="5902578"/>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65305">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602346">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1996</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71138">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844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46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844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22746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ru-RU" sz="900" kern="1200" dirty="0" smtClean="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16897">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1689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1689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0844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6476">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343815">
                <a:tc gridSpan="2">
                  <a:txBody>
                    <a:bodyPr/>
                    <a:lstStyle/>
                    <a:p>
                      <a:r>
                        <a:rPr lang="uz-Cyrl-UZ" sz="900" kern="1200" dirty="0" smtClean="0">
                          <a:solidFill>
                            <a:schemeClr val="tx1"/>
                          </a:solidFill>
                          <a:effectLst/>
                          <a:latin typeface="+mn-lt"/>
                          <a:ea typeface="+mn-ea"/>
                          <a:cs typeface="+mn-cs"/>
                        </a:rPr>
                        <a:t>1998 й. “Ўзбекистон Республикасида хизмат кўрсатган артист” фаҳрий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2020 й. “Меҳнат шуҳрати” ордени</a:t>
                      </a:r>
                      <a:endParaRPr lang="ru-RU" sz="900" kern="1200" dirty="0" smtClean="0">
                        <a:solidFill>
                          <a:schemeClr val="tx1"/>
                        </a:solidFill>
                        <a:effectLst/>
                        <a:latin typeface="+mn-lt"/>
                        <a:ea typeface="+mn-ea"/>
                        <a:cs typeface="+mn-cs"/>
                      </a:endParaRPr>
                    </a:p>
                    <a:p>
                      <a:r>
                        <a:rPr lang="ru-RU" sz="900" kern="1200" dirty="0" smtClean="0">
                          <a:solidFill>
                            <a:schemeClr val="tx1"/>
                          </a:solidFill>
                          <a:effectLst/>
                          <a:latin typeface="+mn-lt"/>
                          <a:ea typeface="+mn-ea"/>
                          <a:cs typeface="+mn-cs"/>
                        </a:rPr>
                        <a:t>2025 </a:t>
                      </a:r>
                      <a:r>
                        <a:rPr lang="uz-Cyrl-UZ" sz="900" kern="1200" dirty="0" smtClean="0">
                          <a:solidFill>
                            <a:schemeClr val="tx1"/>
                          </a:solidFill>
                          <a:effectLst/>
                          <a:latin typeface="+mn-lt"/>
                          <a:ea typeface="+mn-ea"/>
                          <a:cs typeface="+mn-cs"/>
                        </a:rPr>
                        <a:t>й. “Ўзбекистон Республикаси халқ артисти” фаҳрий унвони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778835" y="869287"/>
          <a:ext cx="2988269" cy="5910085"/>
        </p:xfrm>
        <a:graphic>
          <a:graphicData uri="http://schemas.openxmlformats.org/drawingml/2006/table">
            <a:tbl>
              <a:tblPr firstRow="1" bandRow="1">
                <a:tableStyleId>{C083E6E3-FA7D-4D7B-A595-EF9225AFEA82}</a:tableStyleId>
              </a:tblPr>
              <a:tblGrid>
                <a:gridCol w="2988269">
                  <a:extLst>
                    <a:ext uri="{9D8B030D-6E8A-4147-A177-3AD203B41FA5}">
                      <a16:colId xmlns:a16="http://schemas.microsoft.com/office/drawing/2014/main" val="2715609854"/>
                    </a:ext>
                  </a:extLst>
                </a:gridCol>
              </a:tblGrid>
              <a:tr h="235159">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08641">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709017">
                <a:tc>
                  <a:txBody>
                    <a:bodyPr/>
                    <a:lstStyle/>
                    <a:p>
                      <a:pPr marL="0" indent="179388" algn="just"/>
                      <a:r>
                        <a:rPr lang="uz-Cyrl-UZ" sz="900" b="0" kern="1200" dirty="0" smtClean="0">
                          <a:solidFill>
                            <a:schemeClr val="tx1"/>
                          </a:solidFill>
                          <a:effectLst/>
                          <a:latin typeface="+mn-lt"/>
                          <a:ea typeface="+mn-ea"/>
                          <a:cs typeface="+mn-cs"/>
                        </a:rPr>
                        <a:t>У Ўзбек Миллий Академик драма театрида яратган “Отасининг қизи”да Наргиз, “Паранжи сирлари”да Холисхон, “Малика”сида Малика, “Беш сўмлик келин”да ноз-ноз, “Арши мололан”да Гулчехра, “Майсаранинг иши”да Ойхон, “Келинлар қўзғалони”да Мухайё, “Фармонбиби аразлади”да Фотима образлари, Ўзбек Миллий Академик драма театрида эса “Бир кошона сирлари”да Дилора, “Сохибқирон”да Ўлжой туркон, “Етти фарёд”да Нина, “Андишали келинчак”да қайнона, “Тун албатта ўтади”да Амалия, “Увайсий”да Увайсий, “Аёлғу”да аёл, “Фариданинг дил дафтари”да она, “Антиқа қудалар”да Вазира, “Бобораҳим Машраб”да она, “Жалолиддин Мангуберди”да Туркон хотун, “Уруш одамлари”да Бийди момо  каби такрорланмас роллари мазмунан чуқурлиги, ижро махоратининг мукаммаллиги, мантиқий талқини билан эътиборга лойиқдир.</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С.Раметова бир қатор кинофильмларда ва телефильмларда хам ёрқин образлар яратди. Жумладан; “Отамдан қолган далалар”, “Алпомиш”, “Ургутлик афанди”, “Аёл макри”, “Ажал сўқмоқлари”, “Сарвиноз”, “Еттинчи фалакдан келган овоз”, “Ола шақ-шақ”, “Қириқ тоғоранинг-қириқ ноғораси”, “Ширингина армоним”, “Йўл бўлсин”,</a:t>
                      </a:r>
                      <a:r>
                        <a:rPr lang="uz-Cyrl-UZ"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“Арслон изидан”, “Снайпер”, “Опа-сингиллар”, “Ўгай она”, “Юраклар жанги”, “Ишқ йинлари”, “Қудажонларда”, “Қайсаргинам-2”, Кўз ёшим”, “Кечир фарзандим”, “Куёвлар қўзғалони”, “Оталар сўзи”, “Қари қиз”, “Енглимас” Турк кино ижодкорлари билан ҳамкорликда “Жалолиддин Мангуберди” каби фильмларда ранг-баранг характерли роллар ижро этиб, машхур санъаткор сифатида элга танилди.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Шу билан бирга “Оталар сўзи, ақлнинг кўзи”, “Иқрор”, “Ал Ҳазар”, “Тақдирлар” каби теленовеллаларда ҳам роллар ижро этиб келмоқда.</a:t>
                      </a:r>
                      <a:endParaRPr lang="ru-RU" sz="900" b="0" kern="1200" dirty="0" smtClean="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1962">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94200">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1026" name="Picture 2" descr="IMG_20191216_155235"/>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99103" y="1153193"/>
            <a:ext cx="789765" cy="1075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8010409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4"/>
          <a:ext cx="3427547" cy="5905900"/>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671362">
                  <a:extLst>
                    <a:ext uri="{9D8B030D-6E8A-4147-A177-3AD203B41FA5}">
                      <a16:colId xmlns:a16="http://schemas.microsoft.com/office/drawing/2014/main" val="546773760"/>
                    </a:ext>
                  </a:extLst>
                </a:gridCol>
                <a:gridCol w="238852">
                  <a:extLst>
                    <a:ext uri="{9D8B030D-6E8A-4147-A177-3AD203B41FA5}">
                      <a16:colId xmlns:a16="http://schemas.microsoft.com/office/drawing/2014/main" val="9791519"/>
                    </a:ext>
                  </a:extLst>
                </a:gridCol>
                <a:gridCol w="1265102">
                  <a:extLst>
                    <a:ext uri="{9D8B030D-6E8A-4147-A177-3AD203B41FA5}">
                      <a16:colId xmlns:a16="http://schemas.microsoft.com/office/drawing/2014/main" val="546443978"/>
                    </a:ext>
                  </a:extLst>
                </a:gridCol>
              </a:tblGrid>
              <a:tr h="0">
                <a:tc gridSpan="6">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САИДОВ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3">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Тохир</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Самандарович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0">
                <a:tc gridSpan="2" vMerge="1">
                  <a:txBody>
                    <a:bodyPr/>
                    <a:lstStyle/>
                    <a:p>
                      <a:endParaRPr lang="ru-RU"/>
                    </a:p>
                  </a:txBody>
                  <a:tcPr>
                    <a:lnT>
                      <a:noFill/>
                    </a:lnT>
                  </a:tcPr>
                </a:tc>
                <a:tc hMerge="1" vMerge="1">
                  <a:txBody>
                    <a:bodyPr/>
                    <a:lstStyle/>
                    <a:p>
                      <a:endParaRPr lang="ru-RU"/>
                    </a:p>
                  </a:txBody>
                  <a:tcPr/>
                </a:tc>
                <a:tc gridSpan="3">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smtClean="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28.09.1965</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Хоразм 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0">
                <a:tc gridSpan="6">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130691">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3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0">
                <a:tc gridSpan="6">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204493">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САИДОВ Самандар</a:t>
                      </a:r>
                      <a:endParaRPr lang="uz-Cyrl-UZ" sz="900" b="1" kern="1200" baseline="0" noProof="0" dirty="0" smtClean="0">
                        <a:solidFill>
                          <a:schemeClr val="tx1"/>
                        </a:solidFill>
                        <a:latin typeface="+mn-lt"/>
                        <a:ea typeface="+mn-ea"/>
                        <a:cs typeface="Arial" panose="020B0604020202020204" pitchFamily="34" charset="0"/>
                      </a:endParaRPr>
                    </a:p>
                    <a:p>
                      <a:pPr algn="l">
                        <a:lnSpc>
                          <a:spcPct val="90000"/>
                        </a:lnSpc>
                      </a:pPr>
                      <a:r>
                        <a:rPr lang="uz-Cyrl-UZ" sz="900" b="0" kern="1200" noProof="0" dirty="0" smtClean="0">
                          <a:solidFill>
                            <a:schemeClr val="tx1"/>
                          </a:solidFill>
                          <a:latin typeface="+mn-lt"/>
                          <a:ea typeface="+mn-ea"/>
                          <a:cs typeface="Arial" panose="020B0604020202020204" pitchFamily="34" charset="0"/>
                        </a:rPr>
                        <a:t>1934</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a:t>
                      </a:r>
                      <a:r>
                        <a:rPr lang="uz-Cyrl-UZ" sz="900" b="0" kern="1200" dirty="0" smtClean="0">
                          <a:solidFill>
                            <a:schemeClr val="tx1"/>
                          </a:solidFill>
                          <a:latin typeface="+mn-lt"/>
                          <a:ea typeface="+mn-ea"/>
                          <a:cs typeface="+mn-cs"/>
                        </a:rPr>
                        <a:t>Хоразм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2017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(Хоразм вилояти, Янгибозор тумани, Боғолон жамоа хўжалиги ишчиси)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20449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ХОЖИБОЕВА Хамида</a:t>
                      </a:r>
                    </a:p>
                    <a:p>
                      <a:pPr marL="0" marR="0" indent="0" algn="l" defTabSz="914400" rtl="0" eaLnBrk="1" fontAlgn="auto" latinLnBrk="0" hangingPunct="1">
                        <a:lnSpc>
                          <a:spcPct val="90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1938 йил, </a:t>
                      </a:r>
                      <a:r>
                        <a:rPr lang="uz-Cyrl-UZ" sz="900" b="0" kern="1200" dirty="0" smtClean="0">
                          <a:solidFill>
                            <a:schemeClr val="tx1"/>
                          </a:solidFill>
                          <a:latin typeface="+mn-lt"/>
                          <a:ea typeface="+mn-ea"/>
                          <a:cs typeface="+mn-cs"/>
                        </a:rPr>
                        <a:t>Хоразм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1979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(Хоразм вилояти, Янгибозор тумани, </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Боғолон жамоа хўжалиги аъзоси)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130691">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МУХТОРОВ Саид Бўстонович</a:t>
                      </a:r>
                    </a:p>
                    <a:p>
                      <a:pPr algn="l">
                        <a:lnSpc>
                          <a:spcPct val="90000"/>
                        </a:lnSpc>
                      </a:pPr>
                      <a:r>
                        <a:rPr lang="uz-Cyrl-UZ" sz="900" b="0" kern="1200" noProof="0" dirty="0" smtClean="0">
                          <a:solidFill>
                            <a:schemeClr val="tx1"/>
                          </a:solidFill>
                          <a:latin typeface="+mn-lt"/>
                          <a:ea typeface="+mn-ea"/>
                          <a:cs typeface="Arial" panose="020B0604020202020204" pitchFamily="34" charset="0"/>
                        </a:rPr>
                        <a:t>1961 йил, </a:t>
                      </a:r>
                      <a:r>
                        <a:rPr lang="uz-Cyrl-UZ" sz="900" b="0" kern="1200" dirty="0" smtClean="0">
                          <a:solidFill>
                            <a:schemeClr val="tx1"/>
                          </a:solidFill>
                          <a:latin typeface="+mn-lt"/>
                          <a:ea typeface="+mn-ea"/>
                          <a:cs typeface="+mn-cs"/>
                        </a:rPr>
                        <a:t>Тошкент шаҳри</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“Ўзбекфильм” студияси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кинорежиссёр</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0">
                <a:tc gridSpan="6">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0">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smtClean="0">
                          <a:solidFill>
                            <a:schemeClr val="tx1"/>
                          </a:solidFill>
                          <a:latin typeface="+mn-lt"/>
                          <a:ea typeface="+mn-ea"/>
                          <a:cs typeface="+mn-cs"/>
                        </a:rPr>
                        <a:t>1987й. </a:t>
                      </a:r>
                      <a:r>
                        <a:rPr lang="uz-Cyrl-UZ" sz="900" kern="1200" dirty="0" smtClean="0">
                          <a:solidFill>
                            <a:schemeClr val="tx1"/>
                          </a:solidFill>
                          <a:effectLst/>
                          <a:latin typeface="+mn-lt"/>
                          <a:ea typeface="+mn-ea"/>
                          <a:cs typeface="+mn-cs"/>
                        </a:rPr>
                        <a:t>Тошкент театр ва рассомлик санъати институти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0">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0">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smtClean="0">
                          <a:solidFill>
                            <a:schemeClr val="tx1"/>
                          </a:solidFill>
                          <a:latin typeface="+mn-lt"/>
                          <a:ea typeface="+mn-ea"/>
                          <a:cs typeface="+mn-cs"/>
                        </a:rPr>
                        <a:t>Профессор</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0">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40344" y="865693"/>
          <a:ext cx="2880098" cy="5906298"/>
        </p:xfrm>
        <a:graphic>
          <a:graphicData uri="http://schemas.openxmlformats.org/drawingml/2006/table">
            <a:tbl>
              <a:tblPr firstRow="1" bandRow="1">
                <a:tableStyleId>{C083E6E3-FA7D-4D7B-A595-EF9225AFEA82}</a:tableStyleId>
              </a:tblPr>
              <a:tblGrid>
                <a:gridCol w="1359098">
                  <a:extLst>
                    <a:ext uri="{9D8B030D-6E8A-4147-A177-3AD203B41FA5}">
                      <a16:colId xmlns:a16="http://schemas.microsoft.com/office/drawing/2014/main" val="2715609854"/>
                    </a:ext>
                  </a:extLst>
                </a:gridCol>
                <a:gridCol w="1521000">
                  <a:extLst>
                    <a:ext uri="{9D8B030D-6E8A-4147-A177-3AD203B41FA5}">
                      <a16:colId xmlns:a16="http://schemas.microsoft.com/office/drawing/2014/main" val="546443978"/>
                    </a:ext>
                  </a:extLst>
                </a:gridCol>
              </a:tblGrid>
              <a:tr h="357870">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90087">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1991</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5620">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420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39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420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20247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ru-RU" sz="900" kern="1200" dirty="0" smtClean="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0841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0841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4297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9311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207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316464">
                <a:tc gridSpan="2">
                  <a:txBody>
                    <a:bodyPr/>
                    <a:lstStyle/>
                    <a:p>
                      <a:pPr algn="just"/>
                      <a:r>
                        <a:rPr lang="uz-Cyrl-UZ" sz="900" kern="1200" dirty="0" smtClean="0">
                          <a:solidFill>
                            <a:schemeClr val="tx1"/>
                          </a:solidFill>
                          <a:effectLst/>
                          <a:latin typeface="+mn-lt"/>
                          <a:ea typeface="+mn-ea"/>
                          <a:cs typeface="+mn-cs"/>
                        </a:rPr>
                        <a:t>2005 й. “Ўзбекистон Республикасида хизмат кўрсатган артист” фахрий унвони</a:t>
                      </a:r>
                      <a:endParaRPr lang="ru-RU" sz="900" kern="1200" dirty="0" smtClean="0">
                        <a:solidFill>
                          <a:schemeClr val="tx1"/>
                        </a:solidFill>
                        <a:effectLst/>
                        <a:latin typeface="+mn-lt"/>
                        <a:ea typeface="+mn-ea"/>
                        <a:cs typeface="+mn-cs"/>
                      </a:endParaRPr>
                    </a:p>
                    <a:p>
                      <a:pPr algn="just"/>
                      <a:r>
                        <a:rPr lang="uz-Cyrl-UZ" sz="900" kern="1200" dirty="0" smtClean="0">
                          <a:solidFill>
                            <a:schemeClr val="tx1"/>
                          </a:solidFill>
                          <a:effectLst/>
                          <a:latin typeface="+mn-lt"/>
                          <a:ea typeface="+mn-ea"/>
                          <a:cs typeface="+mn-cs"/>
                        </a:rPr>
                        <a:t>2025 й. “Ўзбекистон Республикаси халқ артист” фахрий унвони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588751" y="869286"/>
          <a:ext cx="3178354" cy="5922253"/>
        </p:xfrm>
        <a:graphic>
          <a:graphicData uri="http://schemas.openxmlformats.org/drawingml/2006/table">
            <a:tbl>
              <a:tblPr firstRow="1" bandRow="1">
                <a:tableStyleId>{C083E6E3-FA7D-4D7B-A595-EF9225AFEA82}</a:tableStyleId>
              </a:tblPr>
              <a:tblGrid>
                <a:gridCol w="3178354">
                  <a:extLst>
                    <a:ext uri="{9D8B030D-6E8A-4147-A177-3AD203B41FA5}">
                      <a16:colId xmlns:a16="http://schemas.microsoft.com/office/drawing/2014/main" val="2715609854"/>
                    </a:ext>
                  </a:extLst>
                </a:gridCol>
              </a:tblGrid>
              <a:tr h="230197">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04238">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884504">
                <a:tc>
                  <a:txBody>
                    <a:bodyPr/>
                    <a:lstStyle/>
                    <a:p>
                      <a:pPr marL="0" indent="179388" algn="just"/>
                      <a:r>
                        <a:rPr lang="uz-Cyrl-UZ" sz="900" b="0" kern="1200" dirty="0" smtClean="0">
                          <a:solidFill>
                            <a:schemeClr val="tx1"/>
                          </a:solidFill>
                          <a:effectLst/>
                          <a:latin typeface="+mn-lt"/>
                          <a:ea typeface="+mn-ea"/>
                          <a:cs typeface="+mn-cs"/>
                        </a:rPr>
                        <a:t>У театрда саҳналаштирилган 60 дан зиёд спекталларда ранг-баранг образлар яратди. Жумладан: “Уфқ” спектаклида Турсунбой, “Кундузсиз кечалар”да Сезгир, “Бир кошона сирлари”да Сарвар, “Қаллиқ ўйин”да Чоннама, “Қирол Лир”да Масхарабоз, “Гамлет”да Гамлет, “Етти фарёд”да Адольфо, “Шум бола”да Ҳожибобо, “Ўткан кунлар”да Ҳомидбой, “Яраланган оққуш ноласи”да Носир, “Имкон”да Рустамали, “Омон бўлгин, азизм”да Жорж, “Уйқусиз кеча”да Баҳром, “Олтин қиз”да Қодир, “Оқибат”да Джеймс, “Ўткан кунлар”да Хомидбой, “Алишер Навоий”да Мунажжим, “Заминдан олис кетма”да Тўра, “Мирзо Улуғбек”да Бобо кайфий, “Тартюф”да Тартюф, “Ревизор”да Шпекин, “Ўжарлар”да Жандулла, “Келди-ю кетди”да Келдиёр, “Истиқбол сари”да Рамз ака, “Тоғлардек баланд бўл”да Қувондиқ, “Жалолиддин Мангуберди”да Жингизхон, “Садоқат билан... (Офиццерлар)”да полковник Мелиев, “Адолат фасли”да Шиғовул, “Юлдузли тунлар”да Пир каби турли характердаги қаҳрамонлар образини маромига етказиб ижро этди.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Т.Сайидов театрдаги фаолияти билан бир қаторда фильм ва сериалларда ҳам ўзига хос ижодий фаолиятни амалга оширди. Булардан “Шайтанат”, “Чархпалак”, “Сардор” сериалларида; “Суғдиёна”, “Чавандоз”, “18 квадрат” каби фильмларда 100 дан зиёд образларни маҳорат билан яратди.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“Эҳтиром-2020” “Йил актёри” номинацияси ғолиби.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Т.Сайидов Туркия мамлакати билан ҳамкорликда суратга олинган “Мендирман Жалолиддин” сериалида ҳам бош роллардан бирини ижро этган.</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Актёр образ яратаркан, табиат инъом этган ўзига хос бетакрор, нодир овоз имкониятларидан тўла ва меъёрида фойдаланишга ҳаракат қилади.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Т.Саидов “Илҳақ”да раис Мавлон, “Ҳаёт афсунлари”да Тоҳир, “Репетиция”да режиссёр, Баҳодир янлантуш”да Абдураҳмон Девонбеги ҳамда “Интиқон” сериалида Мурод, “Тузоқ”, “Муҳаббат либослари 3” каби образларни яратган.</a:t>
                      </a:r>
                      <a:endParaRPr lang="ru-RU" sz="900" b="0" kern="1200" dirty="0" smtClean="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8756">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34624">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8" name="Picture 2" descr="IMG_6745"/>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98999" y="1145135"/>
            <a:ext cx="785331" cy="104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757297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3"/>
          <a:ext cx="3427547" cy="5929214"/>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799549">
                  <a:extLst>
                    <a:ext uri="{9D8B030D-6E8A-4147-A177-3AD203B41FA5}">
                      <a16:colId xmlns:a16="http://schemas.microsoft.com/office/drawing/2014/main" val="546773760"/>
                    </a:ext>
                  </a:extLst>
                </a:gridCol>
                <a:gridCol w="110665">
                  <a:extLst>
                    <a:ext uri="{9D8B030D-6E8A-4147-A177-3AD203B41FA5}">
                      <a16:colId xmlns:a16="http://schemas.microsoft.com/office/drawing/2014/main" val="3710326464"/>
                    </a:ext>
                  </a:extLst>
                </a:gridCol>
                <a:gridCol w="1265102">
                  <a:extLst>
                    <a:ext uri="{9D8B030D-6E8A-4147-A177-3AD203B41FA5}">
                      <a16:colId xmlns:a16="http://schemas.microsoft.com/office/drawing/2014/main" val="546443978"/>
                    </a:ext>
                  </a:extLst>
                </a:gridCol>
              </a:tblGrid>
              <a:tr h="249827">
                <a:tc gridSpan="6">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251545">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2">
                  <a:txBody>
                    <a:bodyPr/>
                    <a:lstStyle/>
                    <a:p>
                      <a:pPr algn="l">
                        <a:lnSpc>
                          <a:spcPct val="80000"/>
                        </a:lnSpc>
                      </a:pPr>
                      <a:r>
                        <a:rPr lang="uz-Cyrl-UZ" sz="900" b="0" kern="1200" dirty="0" smtClean="0">
                          <a:solidFill>
                            <a:schemeClr val="tx1"/>
                          </a:solidFill>
                          <a:latin typeface="+mn-lt"/>
                          <a:ea typeface="+mn-ea"/>
                          <a:cs typeface="+mn-cs"/>
                        </a:rPr>
                        <a:t>МУХАММАДКАРИМОВ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l">
                        <a:lnSpc>
                          <a:spcPct val="80000"/>
                        </a:lnSpc>
                      </a:pP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530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2">
                  <a:txBody>
                    <a:bodyPr/>
                    <a:lstStyle/>
                    <a:p>
                      <a:pPr algn="l">
                        <a:lnSpc>
                          <a:spcPct val="90000"/>
                        </a:lnSpc>
                      </a:pPr>
                      <a:r>
                        <a:rPr lang="uz-Cyrl-UZ" sz="800" b="0" kern="1200" dirty="0" smtClean="0">
                          <a:solidFill>
                            <a:schemeClr val="tx1"/>
                          </a:solidFill>
                          <a:latin typeface="+mn-lt"/>
                          <a:ea typeface="+mn-ea"/>
                          <a:cs typeface="+mn-cs"/>
                        </a:rPr>
                        <a:t>Бехзод</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l">
                        <a:lnSpc>
                          <a:spcPct val="90000"/>
                        </a:lnSpc>
                      </a:pP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31006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2">
                  <a:txBody>
                    <a:bodyPr/>
                    <a:lstStyle/>
                    <a:p>
                      <a:pPr algn="l">
                        <a:lnSpc>
                          <a:spcPct val="90000"/>
                        </a:lnSpc>
                      </a:pPr>
                      <a:r>
                        <a:rPr lang="uz-Cyrl-UZ" sz="800" b="0" kern="1200" dirty="0" smtClean="0">
                          <a:solidFill>
                            <a:schemeClr val="tx1"/>
                          </a:solidFill>
                          <a:latin typeface="+mn-lt"/>
                          <a:ea typeface="+mn-ea"/>
                          <a:cs typeface="+mn-cs"/>
                        </a:rPr>
                        <a:t>Абдулазизович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l">
                        <a:lnSpc>
                          <a:spcPct val="90000"/>
                        </a:lnSpc>
                      </a:pP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5307">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2">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l">
                        <a:lnSpc>
                          <a:spcPct val="80000"/>
                        </a:lnSpc>
                      </a:pP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31006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smtClean="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2">
                  <a:txBody>
                    <a:bodyPr/>
                    <a:lstStyle/>
                    <a:p>
                      <a:pPr algn="l">
                        <a:lnSpc>
                          <a:spcPct val="90000"/>
                        </a:lnSpc>
                      </a:pPr>
                      <a:r>
                        <a:rPr lang="ru-RU" sz="800" b="0" kern="1200" dirty="0" smtClean="0">
                          <a:solidFill>
                            <a:schemeClr val="tx1"/>
                          </a:solidFill>
                          <a:latin typeface="+mn-lt"/>
                          <a:ea typeface="+mn-ea"/>
                          <a:cs typeface="+mn-cs"/>
                        </a:rPr>
                        <a:t>23.03.1964</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l">
                        <a:lnSpc>
                          <a:spcPct val="90000"/>
                        </a:lnSpc>
                      </a:pP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530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2">
                  <a:txBody>
                    <a:bodyPr/>
                    <a:lstStyle/>
                    <a:p>
                      <a:pPr algn="l">
                        <a:lnSpc>
                          <a:spcPct val="90000"/>
                        </a:lnSpc>
                      </a:pPr>
                      <a:r>
                        <a:rPr lang="uz-Cyrl-UZ" sz="800" b="0" kern="1200" dirty="0" smtClean="0">
                          <a:solidFill>
                            <a:schemeClr val="tx1"/>
                          </a:solidFill>
                          <a:latin typeface="+mn-lt"/>
                          <a:ea typeface="+mn-ea"/>
                          <a:cs typeface="+mn-cs"/>
                        </a:rPr>
                        <a:t>Тошкент</a:t>
                      </a:r>
                      <a:r>
                        <a:rPr lang="uz-Cyrl-UZ" sz="800" b="0" kern="1200" baseline="0" dirty="0" smtClean="0">
                          <a:solidFill>
                            <a:schemeClr val="tx1"/>
                          </a:solidFill>
                          <a:latin typeface="+mn-lt"/>
                          <a:ea typeface="+mn-ea"/>
                          <a:cs typeface="+mn-cs"/>
                        </a:rPr>
                        <a:t>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l">
                        <a:lnSpc>
                          <a:spcPct val="90000"/>
                        </a:lnSpc>
                      </a:pP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7077">
                <a:tc gridSpan="6">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508021">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Оилали 3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7077">
                <a:tc gridSpan="6">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08021">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4">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МУХАММАДКАРИМОВ Абдулазиз Алижонович</a:t>
                      </a:r>
                      <a:endParaRPr lang="uz-Cyrl-UZ" sz="900" b="1" kern="1200" baseline="0" noProof="0" dirty="0" smtClean="0">
                        <a:solidFill>
                          <a:schemeClr val="tx1"/>
                        </a:solidFill>
                        <a:latin typeface="+mn-lt"/>
                        <a:ea typeface="+mn-ea"/>
                        <a:cs typeface="Arial" panose="020B0604020202020204" pitchFamily="34" charset="0"/>
                      </a:endParaRPr>
                    </a:p>
                    <a:p>
                      <a:pPr algn="l">
                        <a:lnSpc>
                          <a:spcPct val="90000"/>
                        </a:lnSpc>
                      </a:pPr>
                      <a:r>
                        <a:rPr lang="uz-Cyrl-UZ" sz="900" b="0" kern="1200" noProof="0" dirty="0" smtClean="0">
                          <a:solidFill>
                            <a:schemeClr val="tx1"/>
                          </a:solidFill>
                          <a:latin typeface="+mn-lt"/>
                          <a:ea typeface="+mn-ea"/>
                          <a:cs typeface="Arial" panose="020B0604020202020204" pitchFamily="34" charset="0"/>
                        </a:rPr>
                        <a:t>1935 йил, </a:t>
                      </a:r>
                      <a:r>
                        <a:rPr lang="uz-Cyrl-UZ" sz="900" b="0" kern="1200" dirty="0" smtClean="0">
                          <a:solidFill>
                            <a:schemeClr val="tx1"/>
                          </a:solidFill>
                          <a:latin typeface="+mn-lt"/>
                          <a:ea typeface="+mn-ea"/>
                          <a:cs typeface="+mn-cs"/>
                        </a:rPr>
                        <a:t>Тошкент</a:t>
                      </a:r>
                      <a:r>
                        <a:rPr lang="uz-Cyrl-UZ" sz="900" b="0" kern="1200" baseline="0" dirty="0" smtClean="0">
                          <a:solidFill>
                            <a:schemeClr val="tx1"/>
                          </a:solidFill>
                          <a:latin typeface="+mn-lt"/>
                          <a:ea typeface="+mn-ea"/>
                          <a:cs typeface="+mn-cs"/>
                        </a:rPr>
                        <a:t> шаҳри</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a:txBody>
                    <a:bodyPr/>
                    <a:lstStyle/>
                    <a:p>
                      <a:r>
                        <a:rPr lang="ru-RU" sz="900" kern="1200" dirty="0" smtClean="0">
                          <a:solidFill>
                            <a:schemeClr val="tx1"/>
                          </a:solidFill>
                          <a:effectLst/>
                          <a:latin typeface="+mn-lt"/>
                          <a:ea typeface="+mn-ea"/>
                          <a:cs typeface="+mn-cs"/>
                        </a:rPr>
                        <a:t>2013 </a:t>
                      </a:r>
                      <a:r>
                        <a:rPr lang="uz-Cyrl-UZ" sz="900" kern="1200" dirty="0" smtClean="0">
                          <a:solidFill>
                            <a:schemeClr val="tx1"/>
                          </a:solidFill>
                          <a:effectLst/>
                          <a:latin typeface="+mn-lt"/>
                          <a:ea typeface="+mn-ea"/>
                          <a:cs typeface="+mn-cs"/>
                        </a:rPr>
                        <a:t>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(“Олтин мерос” жамғармаси раиси)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64580">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4">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ЗИЯЕВА Улмасой</a:t>
                      </a:r>
                    </a:p>
                    <a:p>
                      <a:pPr marL="0" marR="0" indent="0" algn="l" defTabSz="914400" rtl="0" eaLnBrk="1" fontAlgn="auto" latinLnBrk="0" hangingPunct="1">
                        <a:lnSpc>
                          <a:spcPct val="90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1937</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a:t>
                      </a:r>
                      <a:r>
                        <a:rPr lang="uz-Cyrl-UZ" sz="900" b="0" kern="1200" dirty="0" smtClean="0">
                          <a:solidFill>
                            <a:schemeClr val="tx1"/>
                          </a:solidFill>
                          <a:latin typeface="+mn-lt"/>
                          <a:ea typeface="+mn-ea"/>
                          <a:cs typeface="+mn-cs"/>
                        </a:rPr>
                        <a:t>Тошкент</a:t>
                      </a:r>
                      <a:r>
                        <a:rPr lang="uz-Cyrl-UZ" sz="900" b="0" kern="1200" baseline="0" dirty="0" smtClean="0">
                          <a:solidFill>
                            <a:schemeClr val="tx1"/>
                          </a:solidFill>
                          <a:latin typeface="+mn-lt"/>
                          <a:ea typeface="+mn-ea"/>
                          <a:cs typeface="+mn-cs"/>
                        </a:rPr>
                        <a:t> шаҳри</a:t>
                      </a:r>
                      <a:endParaRPr lang="uz-Cyrl-UZ" sz="900" b="0" kern="1200" dirty="0" smtClean="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a:txBody>
                    <a:bodyPr/>
                    <a:lstStyle/>
                    <a:p>
                      <a:r>
                        <a:rPr lang="uz-Cyrl-UZ" sz="900" kern="1200" dirty="0" smtClean="0">
                          <a:solidFill>
                            <a:schemeClr val="tx1"/>
                          </a:solidFill>
                          <a:effectLst/>
                          <a:latin typeface="+mn-lt"/>
                          <a:ea typeface="+mn-ea"/>
                          <a:cs typeface="+mn-cs"/>
                        </a:rPr>
                        <a:t>1988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(Уй бекаси)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44535">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4">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uz-Cyrl-UZ" sz="900" b="1" kern="1200" noProof="0" dirty="0" smtClean="0">
                          <a:solidFill>
                            <a:schemeClr val="tx1"/>
                          </a:solidFill>
                          <a:latin typeface="+mn-lt"/>
                          <a:ea typeface="+mn-ea"/>
                          <a:cs typeface="Arial" panose="020B0604020202020204" pitchFamily="34" charset="0"/>
                        </a:rPr>
                        <a:t>МУХАММАДКАРИМОВА Гўзал Тошпўлатовна</a:t>
                      </a:r>
                      <a:endParaRPr lang="uz-Cyrl-UZ" sz="900" b="1" kern="1200" baseline="0" noProof="0" dirty="0" smtClean="0">
                        <a:solidFill>
                          <a:schemeClr val="tx1"/>
                        </a:solidFill>
                        <a:latin typeface="+mn-lt"/>
                        <a:ea typeface="+mn-ea"/>
                        <a:cs typeface="Arial" panose="020B0604020202020204" pitchFamily="34" charset="0"/>
                      </a:endParaRPr>
                    </a:p>
                    <a:p>
                      <a:pPr marL="0" marR="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1964</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a:t>
                      </a:r>
                      <a:r>
                        <a:rPr lang="uz-Cyrl-UZ" sz="900" b="0" kern="1200" dirty="0" smtClean="0">
                          <a:solidFill>
                            <a:schemeClr val="tx1"/>
                          </a:solidFill>
                          <a:latin typeface="+mn-lt"/>
                          <a:ea typeface="+mn-ea"/>
                          <a:cs typeface="+mn-cs"/>
                        </a:rPr>
                        <a:t>Тошкент</a:t>
                      </a:r>
                      <a:r>
                        <a:rPr lang="uz-Cyrl-UZ" sz="900" b="0" kern="1200" baseline="0" dirty="0" smtClean="0">
                          <a:solidFill>
                            <a:schemeClr val="tx1"/>
                          </a:solidFill>
                          <a:latin typeface="+mn-lt"/>
                          <a:ea typeface="+mn-ea"/>
                          <a:cs typeface="+mn-cs"/>
                        </a:rPr>
                        <a:t> шаҳри</a:t>
                      </a:r>
                      <a:endParaRPr lang="uz-Cyrl-UZ" sz="900" b="0" kern="1200" dirty="0" smtClean="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a:txBody>
                    <a:bodyPr/>
                    <a:lstStyle/>
                    <a:p>
                      <a:r>
                        <a:rPr lang="uz-Cyrl-UZ" sz="900" kern="1200" dirty="0" smtClean="0">
                          <a:solidFill>
                            <a:schemeClr val="tx1"/>
                          </a:solidFill>
                          <a:effectLst/>
                          <a:latin typeface="+mn-lt"/>
                          <a:ea typeface="+mn-ea"/>
                          <a:cs typeface="+mn-cs"/>
                        </a:rPr>
                        <a:t>Уй бекаси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3170">
                <a:tc gridSpan="6">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497359">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smtClean="0">
                          <a:solidFill>
                            <a:schemeClr val="tx1"/>
                          </a:solidFill>
                          <a:latin typeface="+mn-lt"/>
                          <a:ea typeface="+mn-ea"/>
                          <a:cs typeface="+mn-cs"/>
                        </a:rPr>
                        <a:t>1984й. </a:t>
                      </a:r>
                      <a:r>
                        <a:rPr lang="uz-Cyrl-UZ" sz="900" kern="1200" dirty="0" smtClean="0">
                          <a:solidFill>
                            <a:schemeClr val="tx1"/>
                          </a:solidFill>
                          <a:effectLst/>
                          <a:latin typeface="+mn-lt"/>
                          <a:ea typeface="+mn-ea"/>
                          <a:cs typeface="+mn-cs"/>
                        </a:rPr>
                        <a:t>Тошкент театр ва рассомлик санъат институти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2113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22610">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err="1" smtClean="0">
                          <a:solidFill>
                            <a:schemeClr val="tx1"/>
                          </a:solidFill>
                          <a:latin typeface="+mn-lt"/>
                          <a:ea typeface="+mn-ea"/>
                          <a:cs typeface="+mn-cs"/>
                        </a:rPr>
                        <a:t>Йўқ</a:t>
                      </a:r>
                      <a:r>
                        <a:rPr lang="ru-RU" sz="900" b="0" kern="1200" noProof="0" dirty="0" smtClean="0">
                          <a:solidFill>
                            <a:schemeClr val="tx1"/>
                          </a:solidFill>
                          <a:latin typeface="+mn-lt"/>
                          <a:ea typeface="+mn-ea"/>
                          <a:cs typeface="+mn-cs"/>
                        </a:rPr>
                        <a:t> </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22610">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45602">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91"/>
          <a:ext cx="3172841" cy="5929229"/>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66954">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605066">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1988</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7236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939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37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939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23300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ru-RU" sz="900" kern="1200" dirty="0" smtClean="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18779">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1877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1877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0939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7454">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349883">
                <a:tc gridSpan="2">
                  <a:txBody>
                    <a:bodyPr/>
                    <a:lstStyle/>
                    <a:p>
                      <a:pPr algn="just"/>
                      <a:r>
                        <a:rPr lang="uz-Cyrl-UZ" sz="900" kern="1200" dirty="0" smtClean="0">
                          <a:solidFill>
                            <a:schemeClr val="tx1"/>
                          </a:solidFill>
                          <a:effectLst/>
                          <a:latin typeface="+mn-lt"/>
                          <a:ea typeface="+mn-ea"/>
                          <a:cs typeface="+mn-cs"/>
                        </a:rPr>
                        <a:t>2000 й. “Ўзбекистон Республикасида хизмат кўрсатган артист” фахрий унвони</a:t>
                      </a:r>
                      <a:endParaRPr lang="ru-RU" sz="900" kern="1200" dirty="0" smtClean="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6"/>
          <a:ext cx="2817247" cy="5925635"/>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062648">
                <a:tc>
                  <a:txBody>
                    <a:bodyPr/>
                    <a:lstStyle/>
                    <a:p>
                      <a:pPr marL="0" indent="179388" algn="just"/>
                      <a:r>
                        <a:rPr lang="uz-Cyrl-UZ" sz="900" b="0" kern="1200" dirty="0" smtClean="0">
                          <a:solidFill>
                            <a:schemeClr val="tx1"/>
                          </a:solidFill>
                          <a:effectLst/>
                          <a:latin typeface="+mn-lt"/>
                          <a:ea typeface="+mn-ea"/>
                          <a:cs typeface="+mn-cs"/>
                        </a:rPr>
                        <a:t>У Миллий театрда саҳналаштирилган “Алишер Навоий”да Навоий, “Меҳробдан чаён”да Анвар, “Бир кошона сирлари”да Рустам , “Океандаги етти фарёд”да  Сантилиано, “Мирзо Улуғбек” Абдуллатиф, “Имкон”да Рустам, “Сенга бир гап айтаман”да Эргаш, “Яраланган оққуш ноласи”да Нодир, “Омад биз томон”да Бўри полвон, “Кундузсиз кечалар”да Ойбек, “Хотинлар гапидан чиқан хангома”да Комил, “Қирол Лир”да Эдмонд, “Буратино”да Карло ота,  “Темур”да Бунёд, “Алишер Навоий”да Алишер Навоий, “Мирзо Улуғбек”да Али Қушчи, “Кузги мактублар”да муаллифнинг ўғли, “Жалолиддин Мангуберди”да Султон Муҳаммад, “Садоқат билан...(Офицерлар)”да полковник Мелиев,  “Адолат фасли (Амир Темур)”да Ҳаким Сулдуз каби кўплаб спектаклларда бош қаҳрамонларни ижро этиб томошабинларнинг олқишига сазовор бўлди.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У, Ўзбек миллий кино ва телесериалларда бетакрор образлар яратган. Жумладан: “Буюк Амир Темур”да Амир Темур ,”Ўткан кунлар”да Отабек, “Лайли ва мажнун”да Мажнун, “Шайтанат”да Эркин. “Оқ бино оқшомлари”да Авазбек, “Ихтиёрсиз қотил”да Отабек, “Қўриқхона”да Беҳзод, “Сўнги нафас”да Ота, “Нагдаун”да Таир, “Буюк турон”да Турксанф, “Чиптасиз”да Ўразбой каби кўпаб ёрқин роллар ижро этган.</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Шу билан бирга “Оталар сўзи, ақлнинг кўзи”, “Иқрор”, “Тақдирлар” каби теленовеллаларда ҳам роллар ижро этиб келмоқда.</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Дубляжда 1000 дан ортиқ фильмларга овоз берган. Халқ эътиборига тушган таниқли актёрлардан.</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8" name="Picture 2" descr="11"/>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47829" y="1247268"/>
            <a:ext cx="895716" cy="11925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7382472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891371"/>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156995">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21903">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КОМИЛОВ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2190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Хожиакбар</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2190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Талипович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21903">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2190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smtClean="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11.05.1956</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2190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148982">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1306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Оилали 4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148982">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78255">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КОМИЛОВ Толипжон</a:t>
                      </a:r>
                      <a:endParaRPr lang="uz-Cyrl-UZ" sz="900" b="1" kern="1200" baseline="0" noProof="0" dirty="0" smtClean="0">
                        <a:solidFill>
                          <a:schemeClr val="tx1"/>
                        </a:solidFill>
                        <a:latin typeface="+mn-lt"/>
                        <a:ea typeface="+mn-ea"/>
                        <a:cs typeface="Arial" panose="020B0604020202020204" pitchFamily="34" charset="0"/>
                      </a:endParaRPr>
                    </a:p>
                    <a:p>
                      <a:pPr marL="0" marR="0" indent="0" algn="l" defTabSz="914400" rtl="0" eaLnBrk="1" fontAlgn="auto" latinLnBrk="0" hangingPunct="1">
                        <a:lnSpc>
                          <a:spcPct val="90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1911 йил, </a:t>
                      </a:r>
                      <a:r>
                        <a:rPr lang="uz-Cyrl-UZ" sz="900" b="0" kern="1200" dirty="0" smtClean="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1957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(Ўзбекистон Республикаси ички ишлар вазирлиги қўриқлаш бўлими ходими)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278684">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КОМИЛОВА Жамилахон</a:t>
                      </a:r>
                    </a:p>
                    <a:p>
                      <a:pPr marL="0" marR="0" indent="0" algn="l" defTabSz="914400" rtl="0" eaLnBrk="1" fontAlgn="auto" latinLnBrk="0" hangingPunct="1">
                        <a:lnSpc>
                          <a:spcPct val="90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1920</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a:t>
                      </a:r>
                      <a:r>
                        <a:rPr lang="uz-Cyrl-UZ" sz="900" b="0" kern="1200" dirty="0" smtClean="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2001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(Уй бекаси)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01464">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uz-Cyrl-UZ" sz="900" b="1" kern="1200" noProof="0" dirty="0" smtClean="0">
                          <a:solidFill>
                            <a:schemeClr val="tx1"/>
                          </a:solidFill>
                          <a:latin typeface="+mn-lt"/>
                          <a:ea typeface="+mn-ea"/>
                          <a:cs typeface="Arial" panose="020B0604020202020204" pitchFamily="34" charset="0"/>
                        </a:rPr>
                        <a:t>АХМЕДЖАНОВА Назира Хакимовна</a:t>
                      </a:r>
                      <a:endParaRPr lang="uz-Cyrl-UZ" sz="900" b="1" kern="1200" baseline="0" noProof="0" dirty="0" smtClean="0">
                        <a:solidFill>
                          <a:schemeClr val="tx1"/>
                        </a:solidFill>
                        <a:latin typeface="+mn-lt"/>
                        <a:ea typeface="+mn-ea"/>
                        <a:cs typeface="Arial" panose="020B0604020202020204" pitchFamily="34" charset="0"/>
                      </a:endParaRPr>
                    </a:p>
                    <a:p>
                      <a:pPr marL="0" marR="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1957</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a:t>
                      </a:r>
                      <a:r>
                        <a:rPr lang="uz-Cyrl-UZ" sz="900" b="0" kern="1200" dirty="0" smtClean="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Пенсияда</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(Ўзбекистон миллий телерадиокомпанияси режиссёри)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339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402667">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1983й. </a:t>
                      </a:r>
                      <a:r>
                        <a:rPr lang="uz-Cyrl-UZ" sz="900" kern="1200" dirty="0" smtClean="0">
                          <a:solidFill>
                            <a:schemeClr val="tx1"/>
                          </a:solidFill>
                          <a:effectLst/>
                          <a:latin typeface="+mn-lt"/>
                          <a:ea typeface="+mn-ea"/>
                          <a:cs typeface="+mn-cs"/>
                        </a:rPr>
                        <a:t>Тошкент театр ва рассомлик санъат институти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17702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02065">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02065">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279803">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7" y="865691"/>
          <a:ext cx="2897190" cy="5910815"/>
        </p:xfrm>
        <a:graphic>
          <a:graphicData uri="http://schemas.openxmlformats.org/drawingml/2006/table">
            <a:tbl>
              <a:tblPr firstRow="1" bandRow="1">
                <a:tableStyleId>{C083E6E3-FA7D-4D7B-A595-EF9225AFEA82}</a:tableStyleId>
              </a:tblPr>
              <a:tblGrid>
                <a:gridCol w="1367164">
                  <a:extLst>
                    <a:ext uri="{9D8B030D-6E8A-4147-A177-3AD203B41FA5}">
                      <a16:colId xmlns:a16="http://schemas.microsoft.com/office/drawing/2014/main" val="2715609854"/>
                    </a:ext>
                  </a:extLst>
                </a:gridCol>
                <a:gridCol w="1530026">
                  <a:extLst>
                    <a:ext uri="{9D8B030D-6E8A-4147-A177-3AD203B41FA5}">
                      <a16:colId xmlns:a16="http://schemas.microsoft.com/office/drawing/2014/main" val="546443978"/>
                    </a:ext>
                  </a:extLst>
                </a:gridCol>
              </a:tblGrid>
              <a:tr h="355010">
                <a:tc gridSpan="2">
                  <a:txBody>
                    <a:bodyPr/>
                    <a:lstStyle/>
                    <a:p>
                      <a:pPr algn="ctr"/>
                      <a:r>
                        <a:rPr lang="uz-Cyrl-UZ" sz="1200" b="1" smtClean="0">
                          <a:solidFill>
                            <a:schemeClr val="bg1"/>
                          </a:solidFill>
                          <a:latin typeface="Bahnschrift SemiBold" panose="020B0502040204020203" pitchFamily="34" charset="0"/>
                        </a:rPr>
                        <a:t>МЕҲНАТ ФАОЛИЯТИ </a:t>
                      </a:r>
                      <a:endParaRPr lang="uz-Cyrl-UZ" sz="1200" b="1"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85371">
                <a:tc>
                  <a:txBody>
                    <a:bodyPr/>
                    <a:lstStyle/>
                    <a:p>
                      <a:pPr algn="l">
                        <a:lnSpc>
                          <a:spcPct val="85000"/>
                        </a:lnSpc>
                      </a:pPr>
                      <a:r>
                        <a:rPr lang="uz-Cyrl-UZ" sz="900" b="1" i="0" noProof="0" smtClean="0">
                          <a:solidFill>
                            <a:schemeClr val="tx1"/>
                          </a:solidFill>
                          <a:latin typeface="+mn-lt"/>
                        </a:rPr>
                        <a:t>Эгаллаб турган лавозими:</a:t>
                      </a:r>
                      <a:endParaRPr lang="uz-Cyrl-UZ" sz="900" b="1" i="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1984</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3496">
                <a:tc>
                  <a:txBody>
                    <a:bodyPr/>
                    <a:lstStyle/>
                    <a:p>
                      <a:pPr algn="l">
                        <a:lnSpc>
                          <a:spcPct val="85000"/>
                        </a:lnSpc>
                      </a:pPr>
                      <a:r>
                        <a:rPr lang="uz-Cyrl-UZ" sz="900" b="1" i="0" noProof="0" smtClean="0">
                          <a:solidFill>
                            <a:schemeClr val="tx1"/>
                          </a:solidFill>
                          <a:latin typeface="+mn-lt"/>
                        </a:rPr>
                        <a:t>Мартаба даражаси: </a:t>
                      </a:r>
                      <a:endParaRPr lang="uz-Cyrl-UZ" sz="900" b="1" i="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2574">
                <a:tc>
                  <a:txBody>
                    <a:bodyPr/>
                    <a:lstStyle/>
                    <a:p>
                      <a:pPr algn="l">
                        <a:lnSpc>
                          <a:spcPct val="107000"/>
                        </a:lnSpc>
                        <a:spcAft>
                          <a:spcPts val="0"/>
                        </a:spcAft>
                      </a:pPr>
                      <a:r>
                        <a:rPr lang="uz-Cyrl-UZ" sz="900" b="1" i="0" noProof="0" smtClean="0">
                          <a:solidFill>
                            <a:schemeClr val="tx1"/>
                          </a:solidFill>
                          <a:effectLst/>
                          <a:latin typeface="+mn-lt"/>
                          <a:ea typeface="Calibri" panose="020F0502020204030204" pitchFamily="34" charset="0"/>
                          <a:cs typeface="Times New Roman" panose="02020603050405020304" pitchFamily="18" charset="0"/>
                        </a:rPr>
                        <a:t>Умумий меҳнат стажи: </a:t>
                      </a:r>
                      <a:endParaRPr lang="uz-Cyrl-UZ" sz="900" b="1" i="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50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2574">
                <a:tc>
                  <a:txBody>
                    <a:bodyPr/>
                    <a:lstStyle/>
                    <a:p>
                      <a:pPr algn="l">
                        <a:lnSpc>
                          <a:spcPct val="107000"/>
                        </a:lnSpc>
                        <a:spcAft>
                          <a:spcPts val="0"/>
                        </a:spcAft>
                      </a:pPr>
                      <a:r>
                        <a:rPr lang="uz-Cyrl-UZ" sz="900" b="1" i="0" noProof="0" smtClean="0">
                          <a:solidFill>
                            <a:schemeClr val="tx1"/>
                          </a:solidFill>
                          <a:effectLst/>
                          <a:latin typeface="+mn-lt"/>
                          <a:ea typeface="Calibri" panose="020F0502020204030204" pitchFamily="34" charset="0"/>
                          <a:cs typeface="Times New Roman" panose="02020603050405020304" pitchFamily="18" charset="0"/>
                        </a:rPr>
                        <a:t>Раҳбарлик стажи:</a:t>
                      </a:r>
                      <a:endParaRPr lang="uz-Cyrl-UZ" sz="900" b="1" i="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192868">
                <a:tc>
                  <a:txBody>
                    <a:bodyPr/>
                    <a:lstStyle/>
                    <a:p>
                      <a:pPr algn="l">
                        <a:lnSpc>
                          <a:spcPct val="107000"/>
                        </a:lnSpc>
                        <a:spcAft>
                          <a:spcPts val="0"/>
                        </a:spcAft>
                      </a:pPr>
                      <a:r>
                        <a:rPr lang="uz-Cyrl-UZ" sz="900" b="1" i="0" noProof="0" smtClean="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endParaRPr lang="uz-Cyrl-UZ" sz="900" b="1" i="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ru-RU" sz="900" kern="1200" dirty="0" smtClean="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05148">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05148">
                <a:tc>
                  <a:txBody>
                    <a:bodyPr/>
                    <a:lstStyle/>
                    <a:p>
                      <a:pPr algn="l">
                        <a:lnSpc>
                          <a:spcPct val="107000"/>
                        </a:lnSpc>
                        <a:spcAft>
                          <a:spcPts val="0"/>
                        </a:spcAft>
                      </a:pPr>
                      <a:r>
                        <a:rPr lang="uz-Cyrl-UZ" sz="900" b="1" i="0" kern="1200" noProof="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70791">
                <a:tc>
                  <a:txBody>
                    <a:bodyPr/>
                    <a:lstStyle/>
                    <a:p>
                      <a:pPr algn="l">
                        <a:lnSpc>
                          <a:spcPct val="107000"/>
                        </a:lnSpc>
                        <a:spcAft>
                          <a:spcPts val="0"/>
                        </a:spcAft>
                      </a:pPr>
                      <a:r>
                        <a:rPr lang="uz-Cyrl-UZ" sz="900" b="1" i="0" kern="1200" noProof="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11517">
                <a:tc>
                  <a:txBody>
                    <a:bodyPr/>
                    <a:lstStyle/>
                    <a:p>
                      <a:pPr algn="l">
                        <a:lnSpc>
                          <a:spcPct val="107000"/>
                        </a:lnSpc>
                        <a:spcAft>
                          <a:spcPts val="0"/>
                        </a:spcAft>
                      </a:pPr>
                      <a:r>
                        <a:rPr lang="uz-Cyrl-UZ" sz="900" b="1" i="0" kern="1200" noProof="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0376">
                <a:tc gridSpan="2">
                  <a:txBody>
                    <a:bodyPr/>
                    <a:lstStyle/>
                    <a:p>
                      <a:pPr algn="ctr"/>
                      <a:r>
                        <a:rPr lang="uz-Cyrl-UZ" sz="1000" b="1" kern="1200" noProof="0" smtClean="0">
                          <a:solidFill>
                            <a:schemeClr val="bg1"/>
                          </a:solidFill>
                          <a:latin typeface="Bahnschrift SemiBold" panose="020B0502040204020203" pitchFamily="34" charset="0"/>
                          <a:ea typeface="+mn-ea"/>
                          <a:cs typeface="+mn-cs"/>
                        </a:rPr>
                        <a:t>Меҳнат фаолиятидаги ютуқлар</a:t>
                      </a:r>
                      <a:endParaRPr lang="uz-Cyrl-UZ" sz="1000" b="1" kern="1200" noProof="0" dirty="0">
                        <a:solidFill>
                          <a:schemeClr val="bg1"/>
                        </a:solidFill>
                        <a:latin typeface="Bahnschrift SemiBold" panose="020B0502040204020203" pitchFamily="34" charset="0"/>
                        <a:ea typeface="+mn-ea"/>
                        <a:cs typeface="+mn-cs"/>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305942">
                <a:tc gridSpan="2">
                  <a:txBody>
                    <a:bodyPr/>
                    <a:lstStyle/>
                    <a:p>
                      <a:r>
                        <a:rPr lang="uz-Cyrl-UZ" sz="900" kern="1200" dirty="0" smtClean="0">
                          <a:solidFill>
                            <a:schemeClr val="tx1"/>
                          </a:solidFill>
                          <a:effectLst/>
                          <a:latin typeface="+mn-lt"/>
                          <a:ea typeface="+mn-ea"/>
                          <a:cs typeface="+mn-cs"/>
                        </a:rPr>
                        <a:t>2002 й. “Ўзбекистон Республикасида хизмат кўрсатган артист”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2022 й. “Қорақалпоғистон Республикасида хизмат кўрсатган артист” фахрий унвони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674209" y="869286"/>
          <a:ext cx="3092896" cy="5918461"/>
        </p:xfrm>
        <a:graphic>
          <a:graphicData uri="http://schemas.openxmlformats.org/drawingml/2006/table">
            <a:tbl>
              <a:tblPr firstRow="1" bandRow="1">
                <a:tableStyleId>{C083E6E3-FA7D-4D7B-A595-EF9225AFEA82}</a:tableStyleId>
              </a:tblPr>
              <a:tblGrid>
                <a:gridCol w="3092896">
                  <a:extLst>
                    <a:ext uri="{9D8B030D-6E8A-4147-A177-3AD203B41FA5}">
                      <a16:colId xmlns:a16="http://schemas.microsoft.com/office/drawing/2014/main" val="2715609854"/>
                    </a:ext>
                  </a:extLst>
                </a:gridCol>
              </a:tblGrid>
              <a:tr h="234950">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08455">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845089">
                <a:tc>
                  <a:txBody>
                    <a:bodyPr/>
                    <a:lstStyle/>
                    <a:p>
                      <a:pPr marL="0" indent="179388" algn="just"/>
                      <a:r>
                        <a:rPr lang="uz-Cyrl-UZ" sz="900" b="0" kern="1200" dirty="0" smtClean="0">
                          <a:solidFill>
                            <a:schemeClr val="tx1"/>
                          </a:solidFill>
                          <a:effectLst/>
                          <a:latin typeface="+mn-lt"/>
                          <a:ea typeface="+mn-ea"/>
                          <a:cs typeface="+mn-cs"/>
                        </a:rPr>
                        <a:t>Х. Камилов актёрлик фаолияти давомида 60 га яқин саҳна асарларида турли характердаги кишилар сиймосини гавдалантирди. Жумладан, “Кундузсиз кечалар”да Файзулла Хўжаев, “Афандининг беш хотини”да Қодир банги, “Энага”да Мурод, “Ҳасрат боғи”да Мурод тоға, “Бир қадам йўл”да Хорижлик, “Макр ва муҳаббат”да Президент, “Чимилдиқ”да ота, “Нексия”да Болтавой, “Жаҳон Отин Увайсий”да Замоний, “Ёз туни ғаройиботлари”да Эггей, “Усмон Носир”да Ғулом Зафарий, “Соҳибқирон”да Ҳофиз Шерозий, “Етти фарёд”да Барон Пертус, “Пири коинот”да Мағрудий, “Алишер Навоий”да Мўмин Мирзо, “Меҳробдан Чаён”да Зокир Гов, “Умр шомидаги бахт”да Рустам, “Уфқ”да Турсунбой, “Куёв”да Эркин, “Мирзо Улуғбек”да Қози Мискин, “Жиноят устида ушлансин”да Қобулов, “Ўғрини қароқчи урди”да Тоживой соққа, “Соҳиби Тахтизар”да Хориён, “Сеҳрли апельсин”да Труфальдино, “Ёрилтош”да шаҳзода, “Танҳо юлдуз”да домла, “Рустам”да Элликбоши, “Сизсиз ўтмас кунларим”да Ўткир, “Ўзбекча рақс”да домла, “Адибнинг умри”да Ойбек, “Даҳшатли қудуқ”да бобо, “Тонг отган тарафлар”да Луқмон, “Алишер Навоий”да Қулмуҳаммад, “Кузги мактублар”да Тўлаганов, “Тартюф”да Орган, “Ўжарлар”да Матриза, “Абай”да Боймуҳаммад, “Чимилдиқ”да ота, “Истиқбол сари”да Рамиз ака ва бошқа кўплаб спектаклларда турфа ролларни ижро этиб келмоқда.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Бундан ташқари, кўплаб кино ва видеофильмларда ҳам суратга тушган. “Кўнгил кўчалари”да Синдор, “Бобур”да шаҳзода, “Навоий”да Музаффар Мирзо, “Ибн Сино”да Ибн Сино, “Қирқ тоғоранинг қирқ ноғораси”да заргар, “Буюк Амир Темур”да саркарда, “Эгизаклар”да ота, “Хавфли бурилиш”да ота, “Ҳаловат кўчалари”да Акбар домла каби образларни яратган.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Дубляжда 1000 дан ортиқ фильмларга овоз берган. Халқ эътиборига тушган таниқли актёрлардан.</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1827">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66899">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1026" name="Picture 2" descr="IMG_0001"/>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75909" y="1160234"/>
            <a:ext cx="749586" cy="996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2193068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90" y="865702"/>
          <a:ext cx="3222553" cy="5905139"/>
        </p:xfrm>
        <a:graphic>
          <a:graphicData uri="http://schemas.openxmlformats.org/drawingml/2006/table">
            <a:tbl>
              <a:tblPr firstRow="1" bandRow="1">
                <a:tableStyleId>{C083E6E3-FA7D-4D7B-A595-EF9225AFEA82}</a:tableStyleId>
              </a:tblPr>
              <a:tblGrid>
                <a:gridCol w="559593">
                  <a:extLst>
                    <a:ext uri="{9D8B030D-6E8A-4147-A177-3AD203B41FA5}">
                      <a16:colId xmlns:a16="http://schemas.microsoft.com/office/drawing/2014/main" val="2288412290"/>
                    </a:ext>
                  </a:extLst>
                </a:gridCol>
                <a:gridCol w="473427">
                  <a:extLst>
                    <a:ext uri="{9D8B030D-6E8A-4147-A177-3AD203B41FA5}">
                      <a16:colId xmlns:a16="http://schemas.microsoft.com/office/drawing/2014/main" val="1678982439"/>
                    </a:ext>
                  </a:extLst>
                </a:gridCol>
                <a:gridCol w="144317">
                  <a:extLst>
                    <a:ext uri="{9D8B030D-6E8A-4147-A177-3AD203B41FA5}">
                      <a16:colId xmlns:a16="http://schemas.microsoft.com/office/drawing/2014/main" val="2721661767"/>
                    </a:ext>
                  </a:extLst>
                </a:gridCol>
                <a:gridCol w="855777">
                  <a:extLst>
                    <a:ext uri="{9D8B030D-6E8A-4147-A177-3AD203B41FA5}">
                      <a16:colId xmlns:a16="http://schemas.microsoft.com/office/drawing/2014/main" val="546773760"/>
                    </a:ext>
                  </a:extLst>
                </a:gridCol>
                <a:gridCol w="1189439">
                  <a:extLst>
                    <a:ext uri="{9D8B030D-6E8A-4147-A177-3AD203B41FA5}">
                      <a16:colId xmlns:a16="http://schemas.microsoft.com/office/drawing/2014/main" val="546443978"/>
                    </a:ext>
                  </a:extLst>
                </a:gridCol>
              </a:tblGrid>
              <a:tr h="238997">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smtClean="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684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ТОШПЎЛАТОВ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684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Хамид</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684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Артикбаевич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684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684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smtClean="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20.06.1957</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684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6799">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8599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Оилали 7 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6799">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23220">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ТОШПЎЛАТОВ</a:t>
                      </a:r>
                      <a:r>
                        <a:rPr lang="uz-Cyrl-UZ" sz="900" b="1" kern="1200" baseline="0" noProof="0" dirty="0" smtClean="0">
                          <a:solidFill>
                            <a:schemeClr val="tx1"/>
                          </a:solidFill>
                          <a:latin typeface="+mn-lt"/>
                          <a:ea typeface="+mn-ea"/>
                          <a:cs typeface="Arial" panose="020B0604020202020204" pitchFamily="34" charset="0"/>
                        </a:rPr>
                        <a:t> Ортиқбой</a:t>
                      </a:r>
                    </a:p>
                    <a:p>
                      <a:pPr marL="0" marR="0" indent="0" algn="l" defTabSz="914400" rtl="0" eaLnBrk="1" fontAlgn="auto" latinLnBrk="0" hangingPunct="1">
                        <a:lnSpc>
                          <a:spcPct val="90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1914 йил, </a:t>
                      </a:r>
                      <a:r>
                        <a:rPr lang="uz-Cyrl-UZ" sz="900" b="0" kern="1200" dirty="0" smtClean="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1976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(Тошкент темрез заводи ишчиси)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61229">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ТОШПЎЛАТОВА</a:t>
                      </a:r>
                      <a:r>
                        <a:rPr lang="uz-Cyrl-UZ" sz="900" b="1" kern="1200" baseline="0" noProof="0" dirty="0" smtClean="0">
                          <a:solidFill>
                            <a:schemeClr val="tx1"/>
                          </a:solidFill>
                          <a:latin typeface="+mn-lt"/>
                          <a:ea typeface="+mn-ea"/>
                          <a:cs typeface="Arial" panose="020B0604020202020204" pitchFamily="34" charset="0"/>
                        </a:rPr>
                        <a:t> Маъсуда</a:t>
                      </a:r>
                      <a:endParaRPr lang="uz-Cyrl-UZ" sz="900" b="1" kern="1200" noProof="0" dirty="0" smtClean="0">
                        <a:solidFill>
                          <a:schemeClr val="tx1"/>
                        </a:solidFill>
                        <a:latin typeface="+mn-lt"/>
                        <a:ea typeface="+mn-ea"/>
                        <a:cs typeface="Arial" panose="020B0604020202020204" pitchFamily="34" charset="0"/>
                      </a:endParaRPr>
                    </a:p>
                    <a:p>
                      <a:pPr algn="l">
                        <a:lnSpc>
                          <a:spcPct val="90000"/>
                        </a:lnSpc>
                      </a:pPr>
                      <a:r>
                        <a:rPr lang="uz-Cyrl-UZ" sz="900" b="0" kern="1200" noProof="0" dirty="0" smtClean="0">
                          <a:solidFill>
                            <a:schemeClr val="tx1"/>
                          </a:solidFill>
                          <a:latin typeface="+mn-lt"/>
                          <a:ea typeface="+mn-ea"/>
                          <a:cs typeface="Arial" panose="020B0604020202020204" pitchFamily="34" charset="0"/>
                        </a:rPr>
                        <a:t>1924</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a:t>
                      </a:r>
                      <a:r>
                        <a:rPr lang="uz-Cyrl-UZ" sz="900" b="0" kern="1200" dirty="0" smtClean="0">
                          <a:solidFill>
                            <a:schemeClr val="tx1"/>
                          </a:solidFill>
                          <a:latin typeface="+mn-lt"/>
                          <a:ea typeface="+mn-ea"/>
                          <a:cs typeface="+mn-cs"/>
                        </a:rPr>
                        <a:t>Тошкент шаҳри</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1985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(Уй бекаси)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623220">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uz-Cyrl-UZ" sz="900" b="1" kern="1200" noProof="0" dirty="0" smtClean="0">
                          <a:solidFill>
                            <a:schemeClr val="tx1"/>
                          </a:solidFill>
                          <a:latin typeface="+mn-lt"/>
                          <a:ea typeface="+mn-ea"/>
                          <a:cs typeface="Arial" panose="020B0604020202020204" pitchFamily="34" charset="0"/>
                        </a:rPr>
                        <a:t>ТОШПЎЛАТОВА Лола Повлоновна</a:t>
                      </a:r>
                      <a:endParaRPr lang="uz-Cyrl-UZ" sz="900" b="1" kern="1200" baseline="0" noProof="0" dirty="0" smtClean="0">
                        <a:solidFill>
                          <a:schemeClr val="tx1"/>
                        </a:solidFill>
                        <a:latin typeface="+mn-lt"/>
                        <a:ea typeface="+mn-ea"/>
                        <a:cs typeface="Arial" panose="020B0604020202020204" pitchFamily="34" charset="0"/>
                      </a:endParaRPr>
                    </a:p>
                    <a:p>
                      <a:pPr algn="l">
                        <a:lnSpc>
                          <a:spcPct val="90000"/>
                        </a:lnSpc>
                      </a:pPr>
                      <a:r>
                        <a:rPr lang="uz-Cyrl-UZ" sz="900" b="0" kern="1200" noProof="0" dirty="0" smtClean="0">
                          <a:solidFill>
                            <a:schemeClr val="tx1"/>
                          </a:solidFill>
                          <a:latin typeface="+mn-lt"/>
                          <a:ea typeface="+mn-ea"/>
                          <a:cs typeface="Arial" panose="020B0604020202020204" pitchFamily="34" charset="0"/>
                        </a:rPr>
                        <a:t>1942</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a:t>
                      </a:r>
                      <a:r>
                        <a:rPr lang="uz-Cyrl-UZ" sz="900" b="0" kern="1200" dirty="0" smtClean="0">
                          <a:solidFill>
                            <a:schemeClr val="tx1"/>
                          </a:solidFill>
                          <a:latin typeface="+mn-lt"/>
                          <a:ea typeface="+mn-ea"/>
                          <a:cs typeface="+mn-cs"/>
                        </a:rPr>
                        <a:t>Тошкент шаҳри</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2018 йил вафот этди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(Тошкент шаҳар                 16-автокорхона ҳайдовчиси)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392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21937">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1981й. </a:t>
                      </a:r>
                      <a:r>
                        <a:rPr lang="uz-Cyrl-UZ" sz="900" kern="1200" dirty="0" smtClean="0">
                          <a:solidFill>
                            <a:schemeClr val="tx1"/>
                          </a:solidFill>
                          <a:effectLst/>
                          <a:latin typeface="+mn-lt"/>
                          <a:ea typeface="+mn-ea"/>
                          <a:cs typeface="+mn-cs"/>
                        </a:rPr>
                        <a:t>Тошкент театр ва рассомлик санъати институти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29457">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a:t>
                      </a:r>
                      <a:r>
                        <a:rPr lang="uz-Cyrl-UZ" sz="900" kern="1200" baseline="0" dirty="0" smtClean="0">
                          <a:solidFill>
                            <a:schemeClr val="tx1"/>
                          </a:solidFill>
                          <a:effectLst/>
                          <a:latin typeface="+mn-lt"/>
                          <a:ea typeface="+mn-ea"/>
                          <a:cs typeface="+mn-cs"/>
                        </a:rPr>
                        <a:t>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8625">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8625">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25264">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426864" y="859713"/>
          <a:ext cx="2828657" cy="5911128"/>
        </p:xfrm>
        <a:graphic>
          <a:graphicData uri="http://schemas.openxmlformats.org/drawingml/2006/table">
            <a:tbl>
              <a:tblPr firstRow="1" bandRow="1">
                <a:tableStyleId>{C083E6E3-FA7D-4D7B-A595-EF9225AFEA82}</a:tableStyleId>
              </a:tblPr>
              <a:tblGrid>
                <a:gridCol w="1334823">
                  <a:extLst>
                    <a:ext uri="{9D8B030D-6E8A-4147-A177-3AD203B41FA5}">
                      <a16:colId xmlns:a16="http://schemas.microsoft.com/office/drawing/2014/main" val="2715609854"/>
                    </a:ext>
                  </a:extLst>
                </a:gridCol>
                <a:gridCol w="1493834">
                  <a:extLst>
                    <a:ext uri="{9D8B030D-6E8A-4147-A177-3AD203B41FA5}">
                      <a16:colId xmlns:a16="http://schemas.microsoft.com/office/drawing/2014/main" val="546443978"/>
                    </a:ext>
                  </a:extLst>
                </a:gridCol>
              </a:tblGrid>
              <a:tr h="261400">
                <a:tc gridSpan="2">
                  <a:txBody>
                    <a:bodyPr/>
                    <a:lstStyle/>
                    <a:p>
                      <a:pPr algn="ctr"/>
                      <a:r>
                        <a:rPr lang="uz-Cyrl-UZ" sz="1200" b="1" dirty="0" smtClean="0">
                          <a:solidFill>
                            <a:schemeClr val="bg1"/>
                          </a:solidFill>
                          <a:latin typeface="Bahnschrift SemiBold" panose="020B0502040204020203" pitchFamily="34" charset="0"/>
                        </a:rPr>
                        <a:t>МЕҲНАТ ФАОЛИЯТИ </a:t>
                      </a:r>
                      <a:endParaRPr lang="uz-Cyrl-UZ" sz="1200" b="1"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91103">
                <a:tc>
                  <a:txBody>
                    <a:bodyPr/>
                    <a:lstStyle/>
                    <a:p>
                      <a:pPr algn="l">
                        <a:lnSpc>
                          <a:spcPct val="85000"/>
                        </a:lnSpc>
                      </a:pPr>
                      <a:r>
                        <a:rPr lang="uz-Cyrl-UZ" sz="900" b="1" i="0" noProof="0" dirty="0" smtClean="0">
                          <a:solidFill>
                            <a:schemeClr val="tx1"/>
                          </a:solidFill>
                          <a:latin typeface="+mn-lt"/>
                        </a:rPr>
                        <a:t>Эгаллаб турган лавозими:</a:t>
                      </a:r>
                      <a:endParaRPr lang="uz-Cyrl-UZ" sz="900" b="1" i="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2007</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йилдан буён </a:t>
                      </a:r>
                      <a:r>
                        <a:rPr lang="uz-Cyrl-UZ" sz="900" b="1" kern="1200" dirty="0" smtClean="0">
                          <a:solidFill>
                            <a:schemeClr val="tx1"/>
                          </a:solidFill>
                          <a:effectLst/>
                          <a:latin typeface="+mn-lt"/>
                          <a:ea typeface="+mn-ea"/>
                          <a:cs typeface="+mn-cs"/>
                        </a:rPr>
                        <a:t>Ўзбек Миллий Академик драма театри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6078">
                <a:tc>
                  <a:txBody>
                    <a:bodyPr/>
                    <a:lstStyle/>
                    <a:p>
                      <a:pPr algn="l">
                        <a:lnSpc>
                          <a:spcPct val="85000"/>
                        </a:lnSpc>
                      </a:pPr>
                      <a:r>
                        <a:rPr lang="uz-Cyrl-UZ" sz="900" b="1" i="0" noProof="0" dirty="0" smtClean="0">
                          <a:solidFill>
                            <a:schemeClr val="tx1"/>
                          </a:solidFill>
                          <a:latin typeface="+mn-lt"/>
                        </a:rPr>
                        <a:t>Мартаба даражаси: </a:t>
                      </a:r>
                      <a:endParaRPr lang="uz-Cyrl-UZ" sz="900" b="1" i="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4559">
                <a:tc>
                  <a:txBody>
                    <a:bodyPr/>
                    <a:lstStyle/>
                    <a:p>
                      <a:pPr algn="l">
                        <a:lnSpc>
                          <a:spcPct val="107000"/>
                        </a:lnSpc>
                        <a:spcAft>
                          <a:spcPts val="0"/>
                        </a:spcAft>
                      </a:pPr>
                      <a:r>
                        <a:rPr lang="uz-Cyrl-UZ" sz="900" b="1" i="0" noProof="0" smtClean="0">
                          <a:solidFill>
                            <a:schemeClr val="tx1"/>
                          </a:solidFill>
                          <a:effectLst/>
                          <a:latin typeface="+mn-lt"/>
                          <a:ea typeface="Calibri" panose="020F0502020204030204" pitchFamily="34" charset="0"/>
                          <a:cs typeface="Times New Roman" panose="02020603050405020304" pitchFamily="18" charset="0"/>
                        </a:rPr>
                        <a:t>Умумий меҳнат стажи: </a:t>
                      </a:r>
                      <a:endParaRPr lang="uz-Cyrl-UZ" sz="900" b="1" i="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45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4559">
                <a:tc>
                  <a:txBody>
                    <a:bodyPr/>
                    <a:lstStyle/>
                    <a:p>
                      <a:pPr algn="l">
                        <a:lnSpc>
                          <a:spcPct val="107000"/>
                        </a:lnSpc>
                        <a:spcAft>
                          <a:spcPts val="0"/>
                        </a:spcAft>
                      </a:pPr>
                      <a:r>
                        <a:rPr lang="uz-Cyrl-UZ" sz="900" b="1" i="0" noProof="0" smtClean="0">
                          <a:solidFill>
                            <a:schemeClr val="tx1"/>
                          </a:solidFill>
                          <a:effectLst/>
                          <a:latin typeface="+mn-lt"/>
                          <a:ea typeface="Calibri" panose="020F0502020204030204" pitchFamily="34" charset="0"/>
                          <a:cs typeface="Times New Roman" panose="02020603050405020304" pitchFamily="18" charset="0"/>
                        </a:rPr>
                        <a:t>Раҳбарлик стажи:</a:t>
                      </a:r>
                      <a:endParaRPr lang="uz-Cyrl-UZ" sz="900" b="1" i="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204549">
                <a:tc>
                  <a:txBody>
                    <a:bodyPr/>
                    <a:lstStyle/>
                    <a:p>
                      <a:pPr algn="l">
                        <a:lnSpc>
                          <a:spcPct val="107000"/>
                        </a:lnSpc>
                        <a:spcAft>
                          <a:spcPts val="0"/>
                        </a:spcAft>
                      </a:pPr>
                      <a:r>
                        <a:rPr lang="uz-Cyrl-UZ" sz="900" b="1" i="0" noProof="0" dirty="0" smtClean="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endParaRPr lang="uz-Cyrl-UZ" sz="900" b="1" i="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ru-RU" sz="900" kern="1200" dirty="0" smtClean="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09115">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09115">
                <a:tc>
                  <a:txBody>
                    <a:bodyPr/>
                    <a:lstStyle/>
                    <a:p>
                      <a:pPr algn="l">
                        <a:lnSpc>
                          <a:spcPct val="107000"/>
                        </a:lnSpc>
                        <a:spcAft>
                          <a:spcPts val="0"/>
                        </a:spcAft>
                      </a:pPr>
                      <a:r>
                        <a:rPr lang="uz-Cyrl-UZ" sz="900" b="1" i="0" kern="1200" noProof="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2026 й. даволанган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99180">
                <a:tc>
                  <a:txBody>
                    <a:bodyPr/>
                    <a:lstStyle/>
                    <a:p>
                      <a:pPr algn="l">
                        <a:lnSpc>
                          <a:spcPct val="107000"/>
                        </a:lnSpc>
                        <a:spcAft>
                          <a:spcPts val="0"/>
                        </a:spcAft>
                      </a:pPr>
                      <a:r>
                        <a:rPr lang="uz-Cyrl-UZ" sz="900" b="1" i="0" kern="1200" noProof="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30302">
                <a:tc>
                  <a:txBody>
                    <a:bodyPr/>
                    <a:lstStyle/>
                    <a:p>
                      <a:pPr algn="l">
                        <a:lnSpc>
                          <a:spcPct val="107000"/>
                        </a:lnSpc>
                        <a:spcAft>
                          <a:spcPts val="0"/>
                        </a:spcAft>
                      </a:pPr>
                      <a:r>
                        <a:rPr lang="uz-Cyrl-UZ" sz="900" b="1" i="0" kern="1200" noProof="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2435">
                <a:tc gridSpan="2">
                  <a:txBody>
                    <a:bodyPr/>
                    <a:lstStyle/>
                    <a:p>
                      <a:pPr algn="ctr"/>
                      <a:r>
                        <a:rPr lang="uz-Cyrl-UZ" sz="1000" b="1" kern="1200" noProof="0" smtClean="0">
                          <a:solidFill>
                            <a:schemeClr val="bg1"/>
                          </a:solidFill>
                          <a:latin typeface="Bahnschrift SemiBold" panose="020B0502040204020203" pitchFamily="34" charset="0"/>
                          <a:ea typeface="+mn-ea"/>
                          <a:cs typeface="+mn-cs"/>
                        </a:rPr>
                        <a:t>Меҳнат фаолиятидаги ютуқлар</a:t>
                      </a:r>
                      <a:endParaRPr lang="uz-Cyrl-UZ" sz="1000" b="1" kern="1200" noProof="0" dirty="0">
                        <a:solidFill>
                          <a:schemeClr val="bg1"/>
                        </a:solidFill>
                        <a:latin typeface="Bahnschrift SemiBold" panose="020B0502040204020203" pitchFamily="34" charset="0"/>
                        <a:ea typeface="+mn-ea"/>
                        <a:cs typeface="+mn-cs"/>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318733">
                <a:tc gridSpan="2">
                  <a:txBody>
                    <a:bodyPr/>
                    <a:lstStyle/>
                    <a:p>
                      <a:r>
                        <a:rPr lang="uz-Cyrl-UZ" sz="900" kern="1200" dirty="0" smtClean="0">
                          <a:solidFill>
                            <a:schemeClr val="tx1"/>
                          </a:solidFill>
                          <a:effectLst/>
                          <a:latin typeface="+mn-lt"/>
                          <a:ea typeface="+mn-ea"/>
                          <a:cs typeface="+mn-cs"/>
                        </a:rPr>
                        <a:t>2021 й. “Ўзбекистон Республикасида хизмат кўрсатган артист” фахрий унвони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323891" y="865693"/>
          <a:ext cx="3443214" cy="5905148"/>
        </p:xfrm>
        <a:graphic>
          <a:graphicData uri="http://schemas.openxmlformats.org/drawingml/2006/table">
            <a:tbl>
              <a:tblPr firstRow="1" bandRow="1">
                <a:tableStyleId>{C083E6E3-FA7D-4D7B-A595-EF9225AFEA82}</a:tableStyleId>
              </a:tblPr>
              <a:tblGrid>
                <a:gridCol w="3443214">
                  <a:extLst>
                    <a:ext uri="{9D8B030D-6E8A-4147-A177-3AD203B41FA5}">
                      <a16:colId xmlns:a16="http://schemas.microsoft.com/office/drawing/2014/main" val="2715609854"/>
                    </a:ext>
                  </a:extLst>
                </a:gridCol>
              </a:tblGrid>
              <a:tr h="239845">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12798">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802845">
                <a:tc>
                  <a:txBody>
                    <a:bodyPr/>
                    <a:lstStyle/>
                    <a:p>
                      <a:pPr marL="0" indent="179388" algn="just"/>
                      <a:r>
                        <a:rPr lang="uz-Cyrl-UZ" sz="900" b="0" kern="1200" dirty="0" smtClean="0">
                          <a:solidFill>
                            <a:schemeClr val="tx1"/>
                          </a:solidFill>
                          <a:effectLst/>
                          <a:latin typeface="+mn-lt"/>
                          <a:ea typeface="+mn-ea"/>
                          <a:cs typeface="+mn-cs"/>
                        </a:rPr>
                        <a:t>Ўзбек Миллий Академик драма театрининг истеъдодли актёри Х.Тошпулатов театрда саҳналаштирилган 25 га яқин спектаклларда турли характердаги ролларни маҳорат билан ижро этди. Жумладан, “Ҳасрат боғи” спектаклида ота, “Бир қанотлилар”да Полковник, “Нексия” да Сафар ака, “Увайсий”да Қози, “Бевалар”да Анвар, “Омонат дунё”да Жалолиддин, “Тун албатта ўтади”да Антонио, “Чегара устидаги уй”да қайнота, “Бор эканда, йўқ экан”да ўтинчи, “Талваса”да қўшни, “Ўзбекча рақс”да сартарош, “Энг сулувли келинчаг”да Жиянбой, “Сизсиз ўтмас кунларим”да Умар, “Рустам”да уста, “Тақдир синовлари”да Тоҳир, “Қуёшни сен уйғотасан”да Ҳоким ўринбосари, “Ўткан кунлар”да табиб, “Тонг отган тарафлар”да Луқмони Ҳаким, “Имон”да Санжаров, “Ўрмон сири”да Қорбобо, “Кузги мактублар”да Шокир ака, “Алишер Навоий”да Шайҳулислом, “Мирзо Улуғбек”да Пири зиндоний  каби ролларни моҳирона ижро этиб, томошабинлар олқишига сазовор бўлиб қелмоқда.</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У серқирра ижодкор сифатида 35 га яқин кино ва видеофильмларда ҳам роллар ижро этди. Жумладан, “24 соат” фильмида полковник, “Талваса”да қўшни, “Жаноб ҳеч ким”да тоға, “Меҳмонлариндан айланай”да Азиз, “Аччиқ ҳаёт”да ота,“Кичкина хўжайин”да директор, “Қизғалдоғ”да ота, “Лола”да ота, “Балойи нафс”да ўғил, “Ўғлон ёхуд тикланган оила”да шеф, У.Шукурованинг “Бахтли одамлар”спектаклида қайнота, “Танго ёхуд адашган совчилар”да ота,  “Жийда гули”да ўғил, “Уқубат”да бош шифокор, “Оқибат”да қайнота, “Жигарбандим”да қўшни, “Бевалар”да Анвар, “Бурч”да полковник, “Сариқ девни миниб”да ректор, “Куёвлар қўзғалони”да қайнота, “Гуноҳ”да ота, “Ишқ ва андуқ”да ота, “Вахший”да қайнота, “Салом севги”да ота, “Адашган совчилар”да ота, “Группадигилар тинланг”да ота, “Меҳмонхона”да директор, “Виждон”да тадбиркор, “Мен телба эмасман” шифокор, “Аччиқ ҳаёт” тадбиркор, “Кўз ёшим”да шифокор, “Ўргамчак тўри”да ўқитувчи каби кўплаб бетакрор ролларни ижро этиб, телетомошабинлар орасида ҳам ўз мухлисларини топди.</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96820">
                <a:tc>
                  <a:txBody>
                    <a:bodyPr/>
                    <a:lstStyle/>
                    <a:p>
                      <a:pPr marL="0" marR="0" lvl="0" indent="0" algn="ctr" defTabSz="914400" rtl="0" eaLnBrk="1" fontAlgn="auto" latinLnBrk="0" hangingPunct="1">
                        <a:lnSpc>
                          <a:spcPct val="110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smtClean="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52840">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sp>
        <p:nvSpPr>
          <p:cNvPr id="7" name="Rectangle 2"/>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ru-RU"/>
          </a:p>
        </p:txBody>
      </p:sp>
      <p:pic>
        <p:nvPicPr>
          <p:cNvPr id="1026" name="Picture 2" descr="Тошпулатов Хамид 3x4"/>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90557" y="1126982"/>
            <a:ext cx="777148" cy="1038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8436417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1600" b="1" dirty="0" smtClean="0">
                <a:solidFill>
                  <a:srgbClr val="002060"/>
                </a:solidFill>
                <a:latin typeface="Bahnschrift SemiBold" panose="020B0502040204020203" pitchFamily="34" charset="0"/>
              </a:rPr>
              <a:t>ТЕАТР ВА ЦИРК </a:t>
            </a:r>
            <a:r>
              <a:rPr lang="uz-Cyrl-UZ" sz="1600" b="1" dirty="0">
                <a:solidFill>
                  <a:srgbClr val="002060"/>
                </a:solidFill>
                <a:latin typeface="Bahnschrift SemiBold" panose="020B0502040204020203" pitchFamily="34" charset="0"/>
              </a:rPr>
              <a:t>ЙЎНАЛИШИ СОҲА ВАКИЛЛАРИ </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60139106"/>
              </p:ext>
            </p:extLst>
          </p:nvPr>
        </p:nvGraphicFramePr>
        <p:xfrm>
          <a:off x="138895" y="865692"/>
          <a:ext cx="3346595" cy="5879268"/>
        </p:xfrm>
        <a:graphic>
          <a:graphicData uri="http://schemas.openxmlformats.org/drawingml/2006/table">
            <a:tbl>
              <a:tblPr firstRow="1" bandRow="1">
                <a:tableStyleId>{C083E6E3-FA7D-4D7B-A595-EF9225AFEA82}</a:tableStyleId>
              </a:tblPr>
              <a:tblGrid>
                <a:gridCol w="581133">
                  <a:extLst>
                    <a:ext uri="{9D8B030D-6E8A-4147-A177-3AD203B41FA5}">
                      <a16:colId xmlns:a16="http://schemas.microsoft.com/office/drawing/2014/main" val="2288412290"/>
                    </a:ext>
                  </a:extLst>
                </a:gridCol>
                <a:gridCol w="491651">
                  <a:extLst>
                    <a:ext uri="{9D8B030D-6E8A-4147-A177-3AD203B41FA5}">
                      <a16:colId xmlns:a16="http://schemas.microsoft.com/office/drawing/2014/main" val="1678982439"/>
                    </a:ext>
                  </a:extLst>
                </a:gridCol>
                <a:gridCol w="149873">
                  <a:extLst>
                    <a:ext uri="{9D8B030D-6E8A-4147-A177-3AD203B41FA5}">
                      <a16:colId xmlns:a16="http://schemas.microsoft.com/office/drawing/2014/main" val="2721661767"/>
                    </a:ext>
                  </a:extLst>
                </a:gridCol>
                <a:gridCol w="888716">
                  <a:extLst>
                    <a:ext uri="{9D8B030D-6E8A-4147-A177-3AD203B41FA5}">
                      <a16:colId xmlns:a16="http://schemas.microsoft.com/office/drawing/2014/main" val="546773760"/>
                    </a:ext>
                  </a:extLst>
                </a:gridCol>
                <a:gridCol w="1235222">
                  <a:extLst>
                    <a:ext uri="{9D8B030D-6E8A-4147-A177-3AD203B41FA5}">
                      <a16:colId xmlns:a16="http://schemas.microsoft.com/office/drawing/2014/main" val="546443978"/>
                    </a:ext>
                  </a:extLst>
                </a:gridCol>
              </a:tblGrid>
              <a:tr h="233821">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2794">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САЙБУРХОНОВ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279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Зафарбек</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279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Обиджанович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2794">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279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10.08.1978</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279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Андижон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1888">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6055">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3 нафар </a:t>
                      </a:r>
                      <a:r>
                        <a:rPr lang="uz-Cyrl-UZ" sz="900" b="0" kern="1200" noProof="0" dirty="0" smtClean="0">
                          <a:solidFill>
                            <a:schemeClr val="tx1"/>
                          </a:solidFill>
                          <a:latin typeface="+mn-lt"/>
                          <a:ea typeface="+mn-ea"/>
                          <a:cs typeface="+mn-cs"/>
                        </a:rPr>
                        <a:t>қиз, 2 нафар </a:t>
                      </a:r>
                      <a:r>
                        <a:rPr lang="uz-Cyrl-UZ" sz="900" b="0" kern="1200" noProof="0" dirty="0">
                          <a:solidFill>
                            <a:schemeClr val="tx1"/>
                          </a:solidFill>
                          <a:latin typeface="+mn-lt"/>
                          <a:ea typeface="+mn-ea"/>
                          <a:cs typeface="+mn-cs"/>
                        </a:rPr>
                        <a:t>ўғил фарзанди </a:t>
                      </a:r>
                      <a:r>
                        <a:rPr lang="uz-Cyrl-UZ" sz="900" b="0" kern="1200" noProof="0" dirty="0" smtClean="0">
                          <a:solidFill>
                            <a:schemeClr val="tx1"/>
                          </a:solidFill>
                          <a:latin typeface="+mn-lt"/>
                          <a:ea typeface="+mn-ea"/>
                          <a:cs typeface="+mn-cs"/>
                        </a:rPr>
                        <a:t>бор</a:t>
                      </a:r>
                      <a:r>
                        <a:rPr lang="uz-Cyrl-UZ" sz="900" b="0" kern="1200" baseline="0" noProof="0" dirty="0" smtClean="0">
                          <a:solidFill>
                            <a:schemeClr val="tx1"/>
                          </a:solidFill>
                          <a:latin typeface="+mn-lt"/>
                          <a:ea typeface="+mn-ea"/>
                          <a:cs typeface="+mn-cs"/>
                        </a:rPr>
                        <a:t> </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1888">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46623">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САЙБУРХОНОВ Обиджон </a:t>
                      </a:r>
                    </a:p>
                    <a:p>
                      <a:pPr algn="l">
                        <a:lnSpc>
                          <a:spcPct val="85000"/>
                        </a:lnSpc>
                      </a:pPr>
                      <a:r>
                        <a:rPr lang="uz-Cyrl-UZ" sz="900" b="0" kern="1200" noProof="0" dirty="0">
                          <a:solidFill>
                            <a:schemeClr val="tx1"/>
                          </a:solidFill>
                          <a:latin typeface="+mn-lt"/>
                          <a:ea typeface="+mn-ea"/>
                          <a:cs typeface="Arial" panose="020B0604020202020204" pitchFamily="34" charset="0"/>
                        </a:rPr>
                        <a:t>1949 йил, Андижон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2006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uz-Cyrl-UZ" sz="900" noProof="0" dirty="0">
                          <a:effectLst/>
                          <a:latin typeface="+mn-lt"/>
                          <a:ea typeface="Calibri" panose="020F0502020204030204" pitchFamily="34" charset="0"/>
                          <a:cs typeface="Times New Roman" panose="02020603050405020304" pitchFamily="18" charset="0"/>
                        </a:rPr>
                        <a:t>Ўзбекистон халқ артисти актёр</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16055">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САЙБУРХОНОВА Олтиной </a:t>
                      </a:r>
                    </a:p>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Arial" panose="020B0604020202020204" pitchFamily="34" charset="0"/>
                        </a:rPr>
                        <a:t>1955 йил, Андижон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2020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Уй</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бекаси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16055">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Юсупова Гулчехра Манноповна</a:t>
                      </a:r>
                    </a:p>
                    <a:p>
                      <a:pPr algn="l">
                        <a:lnSpc>
                          <a:spcPct val="85000"/>
                        </a:lnSpc>
                      </a:pPr>
                      <a:r>
                        <a:rPr lang="uz-Cyrl-UZ" sz="900" b="0" kern="1200" noProof="0" dirty="0">
                          <a:solidFill>
                            <a:schemeClr val="tx1"/>
                          </a:solidFill>
                          <a:latin typeface="+mn-lt"/>
                          <a:ea typeface="+mn-ea"/>
                          <a:cs typeface="Arial" panose="020B0604020202020204" pitchFamily="34" charset="0"/>
                        </a:rPr>
                        <a:t>1952 йил, Андижон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mn-cs"/>
                        </a:rPr>
                        <a:t>Андижон вилоят мусиқали театр реквизитори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99513">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30605">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2026 </a:t>
                      </a:r>
                      <a:r>
                        <a:rPr lang="ru-RU" sz="900" b="0" kern="1200" noProof="0" dirty="0" err="1">
                          <a:solidFill>
                            <a:schemeClr val="tx1"/>
                          </a:solidFill>
                          <a:latin typeface="+mn-lt"/>
                          <a:ea typeface="+mn-ea"/>
                          <a:cs typeface="+mn-cs"/>
                        </a:rPr>
                        <a:t>й.Тугалланмаган</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олий</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Ўзбекистон</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саьнат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маданият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иниститути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сиртқи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33267">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Актёрлик саьнати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1941">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1941">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759949">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788141126"/>
              </p:ext>
            </p:extLst>
          </p:nvPr>
        </p:nvGraphicFramePr>
        <p:xfrm>
          <a:off x="3690455" y="865690"/>
          <a:ext cx="3037020" cy="5879271"/>
        </p:xfrm>
        <a:graphic>
          <a:graphicData uri="http://schemas.openxmlformats.org/drawingml/2006/table">
            <a:tbl>
              <a:tblPr firstRow="1" bandRow="1">
                <a:tableStyleId>{C083E6E3-FA7D-4D7B-A595-EF9225AFEA82}</a:tableStyleId>
              </a:tblPr>
              <a:tblGrid>
                <a:gridCol w="1458268">
                  <a:extLst>
                    <a:ext uri="{9D8B030D-6E8A-4147-A177-3AD203B41FA5}">
                      <a16:colId xmlns:a16="http://schemas.microsoft.com/office/drawing/2014/main" val="2715609854"/>
                    </a:ext>
                  </a:extLst>
                </a:gridCol>
                <a:gridCol w="1578752">
                  <a:extLst>
                    <a:ext uri="{9D8B030D-6E8A-4147-A177-3AD203B41FA5}">
                      <a16:colId xmlns:a16="http://schemas.microsoft.com/office/drawing/2014/main" val="546443978"/>
                    </a:ext>
                  </a:extLst>
                </a:gridCol>
              </a:tblGrid>
              <a:tr h="315945">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60342">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2025 йилдан </a:t>
                      </a:r>
                      <a:r>
                        <a:rPr lang="uz-Cyrl-UZ" sz="900" b="1" kern="1200" noProof="0" dirty="0" smtClean="0">
                          <a:solidFill>
                            <a:schemeClr val="tx1"/>
                          </a:solidFill>
                          <a:latin typeface="+mn-lt"/>
                          <a:ea typeface="+mn-ea"/>
                          <a:cs typeface="+mn-cs"/>
                        </a:rPr>
                        <a:t>буён:</a:t>
                      </a:r>
                      <a:r>
                        <a:rPr lang="uz-Cyrl-UZ" sz="900" b="1" kern="1200" baseline="0" noProof="0" dirty="0" smtClean="0">
                          <a:solidFill>
                            <a:schemeClr val="tx1"/>
                          </a:solidFill>
                          <a:latin typeface="+mn-lt"/>
                          <a:ea typeface="+mn-ea"/>
                          <a:cs typeface="+mn-cs"/>
                        </a:rPr>
                        <a:t> </a:t>
                      </a:r>
                      <a:r>
                        <a:rPr lang="uz-Cyrl-UZ" sz="900" b="0" kern="1200" dirty="0" smtClean="0">
                          <a:solidFill>
                            <a:schemeClr val="tx1"/>
                          </a:solidFill>
                          <a:effectLst/>
                          <a:latin typeface="+mn-lt"/>
                          <a:ea typeface="+mn-ea"/>
                          <a:cs typeface="+mn-cs"/>
                        </a:rPr>
                        <a:t>Андижон </a:t>
                      </a:r>
                      <a:r>
                        <a:rPr lang="uz-Cyrl-UZ" sz="900" b="0" kern="1200" dirty="0">
                          <a:solidFill>
                            <a:schemeClr val="tx1"/>
                          </a:solidFill>
                          <a:effectLst/>
                          <a:latin typeface="+mn-lt"/>
                          <a:ea typeface="+mn-ea"/>
                          <a:cs typeface="+mn-cs"/>
                        </a:rPr>
                        <a:t>вилоят мусиқали драма театри, 1-даражали драма артисти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5751">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293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26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00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05597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 </a:t>
                      </a:r>
                    </a:p>
                    <a:p>
                      <a:pPr marL="0" marR="0" lvl="0" indent="0" algn="l"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2020 й. х.в - Андижон вилоят мусиқали драма театри актёри </a:t>
                      </a:r>
                    </a:p>
                    <a:p>
                      <a:pPr marL="0" marR="0" lvl="0" indent="0" algn="l"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p>
                      <a:pPr algn="l">
                        <a:lnSpc>
                          <a:spcPct val="107000"/>
                        </a:lnSpc>
                        <a:spcAft>
                          <a:spcPts val="0"/>
                        </a:spcAft>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692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6922">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6922">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4870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8156">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961683">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2025 й. </a:t>
                      </a:r>
                      <a:r>
                        <a:rPr lang="uz-Cyrl-UZ" sz="900" noProof="0" dirty="0" smtClean="0">
                          <a:effectLst/>
                          <a:latin typeface="+mn-lt"/>
                          <a:ea typeface="Calibri" panose="020F0502020204030204" pitchFamily="34" charset="0"/>
                          <a:cs typeface="Times New Roman" panose="02020603050405020304" pitchFamily="18" charset="0"/>
                        </a:rPr>
                        <a:t>“Шуҳрат” </a:t>
                      </a:r>
                      <a:r>
                        <a:rPr lang="uz-Cyrl-UZ" sz="900" noProof="0" dirty="0">
                          <a:effectLst/>
                          <a:latin typeface="+mn-lt"/>
                          <a:ea typeface="Calibri" panose="020F0502020204030204" pitchFamily="34" charset="0"/>
                          <a:cs typeface="Times New Roman" panose="02020603050405020304" pitchFamily="18" charset="0"/>
                        </a:rPr>
                        <a:t>медали </a:t>
                      </a:r>
                      <a:r>
                        <a:rPr lang="uz-Cyrl-UZ" sz="900" noProof="0" dirty="0" smtClean="0">
                          <a:effectLst/>
                          <a:latin typeface="+mn-lt"/>
                          <a:ea typeface="Calibri" panose="020F0502020204030204" pitchFamily="34" charset="0"/>
                          <a:cs typeface="Times New Roman" panose="02020603050405020304" pitchFamily="18" charset="0"/>
                        </a:rPr>
                        <a:t>соҳиби</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832840117"/>
              </p:ext>
            </p:extLst>
          </p:nvPr>
        </p:nvGraphicFramePr>
        <p:xfrm>
          <a:off x="6916029" y="865686"/>
          <a:ext cx="2845482" cy="5686115"/>
        </p:xfrm>
        <a:graphic>
          <a:graphicData uri="http://schemas.openxmlformats.org/drawingml/2006/table">
            <a:tbl>
              <a:tblPr firstRow="1" bandRow="1">
                <a:tableStyleId>{C083E6E3-FA7D-4D7B-A595-EF9225AFEA82}</a:tableStyleId>
              </a:tblPr>
              <a:tblGrid>
                <a:gridCol w="2845482">
                  <a:extLst>
                    <a:ext uri="{9D8B030D-6E8A-4147-A177-3AD203B41FA5}">
                      <a16:colId xmlns:a16="http://schemas.microsoft.com/office/drawing/2014/main" val="2715609854"/>
                    </a:ext>
                  </a:extLst>
                </a:gridCol>
              </a:tblGrid>
              <a:tr h="289662">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420323">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3965134">
                <a:tc>
                  <a:txBody>
                    <a:bodyPr/>
                    <a:lstStyle/>
                    <a:p>
                      <a:pPr algn="just"/>
                      <a:r>
                        <a:rPr lang="ru-RU" sz="1800" kern="1200" dirty="0">
                          <a:solidFill>
                            <a:schemeClr val="tx1"/>
                          </a:solidFill>
                          <a:effectLst/>
                          <a:latin typeface="+mn-lt"/>
                          <a:ea typeface="+mn-ea"/>
                          <a:cs typeface="+mn-cs"/>
                        </a:rPr>
                        <a:t> </a:t>
                      </a:r>
                      <a:r>
                        <a:rPr lang="uz-Cyrl-UZ" sz="800" kern="1200" dirty="0">
                          <a:solidFill>
                            <a:schemeClr val="tx1"/>
                          </a:solidFill>
                          <a:effectLst/>
                          <a:latin typeface="+mn-lt"/>
                          <a:ea typeface="+mn-ea"/>
                          <a:cs typeface="+mn-cs"/>
                        </a:rPr>
                        <a:t>З.Сайбурхонов қобилиятли актёр сифатида “Тўда”да </a:t>
                      </a:r>
                      <a:r>
                        <a:rPr lang="uz-Cyrl-UZ" sz="800" b="1" kern="1200" dirty="0">
                          <a:solidFill>
                            <a:schemeClr val="tx1"/>
                          </a:solidFill>
                          <a:effectLst/>
                          <a:latin typeface="+mn-lt"/>
                          <a:ea typeface="+mn-ea"/>
                          <a:cs typeface="+mn-cs"/>
                        </a:rPr>
                        <a:t>Самандар</a:t>
                      </a:r>
                      <a:r>
                        <a:rPr lang="uz-Cyrl-UZ" sz="800" kern="1200" dirty="0">
                          <a:solidFill>
                            <a:schemeClr val="tx1"/>
                          </a:solidFill>
                          <a:effectLst/>
                          <a:latin typeface="+mn-lt"/>
                          <a:ea typeface="+mn-ea"/>
                          <a:cs typeface="+mn-cs"/>
                        </a:rPr>
                        <a:t>, “Ҳалала”да </a:t>
                      </a:r>
                      <a:r>
                        <a:rPr lang="uz-Cyrl-UZ" sz="800" b="1" kern="1200" dirty="0">
                          <a:solidFill>
                            <a:schemeClr val="tx1"/>
                          </a:solidFill>
                          <a:effectLst/>
                          <a:latin typeface="+mn-lt"/>
                          <a:ea typeface="+mn-ea"/>
                          <a:cs typeface="+mn-cs"/>
                        </a:rPr>
                        <a:t>Парнак</a:t>
                      </a:r>
                      <a:r>
                        <a:rPr lang="uz-Cyrl-UZ" sz="800" kern="1200" dirty="0">
                          <a:solidFill>
                            <a:schemeClr val="tx1"/>
                          </a:solidFill>
                          <a:effectLst/>
                          <a:latin typeface="+mn-lt"/>
                          <a:ea typeface="+mn-ea"/>
                          <a:cs typeface="+mn-cs"/>
                        </a:rPr>
                        <a:t>, “Чарҳикажрафтор”да </a:t>
                      </a:r>
                      <a:r>
                        <a:rPr lang="uz-Cyrl-UZ" sz="800" b="1" kern="1200" dirty="0">
                          <a:solidFill>
                            <a:schemeClr val="tx1"/>
                          </a:solidFill>
                          <a:effectLst/>
                          <a:latin typeface="+mn-lt"/>
                          <a:ea typeface="+mn-ea"/>
                          <a:cs typeface="+mn-cs"/>
                        </a:rPr>
                        <a:t>Терговчи</a:t>
                      </a:r>
                      <a:r>
                        <a:rPr lang="uz-Cyrl-UZ" sz="800" kern="1200" dirty="0">
                          <a:solidFill>
                            <a:schemeClr val="tx1"/>
                          </a:solidFill>
                          <a:effectLst/>
                          <a:latin typeface="+mn-lt"/>
                          <a:ea typeface="+mn-ea"/>
                          <a:cs typeface="+mn-cs"/>
                        </a:rPr>
                        <a:t>, “Қора қурт”да </a:t>
                      </a:r>
                      <a:r>
                        <a:rPr lang="uz-Cyrl-UZ" sz="800" b="1" kern="1200" dirty="0">
                          <a:solidFill>
                            <a:schemeClr val="tx1"/>
                          </a:solidFill>
                          <a:effectLst/>
                          <a:latin typeface="+mn-lt"/>
                          <a:ea typeface="+mn-ea"/>
                          <a:cs typeface="+mn-cs"/>
                        </a:rPr>
                        <a:t>солиқ инспекцияси ходими</a:t>
                      </a:r>
                      <a:r>
                        <a:rPr lang="uz-Cyrl-UZ" sz="800" kern="1200" dirty="0">
                          <a:solidFill>
                            <a:schemeClr val="tx1"/>
                          </a:solidFill>
                          <a:effectLst/>
                          <a:latin typeface="+mn-lt"/>
                          <a:ea typeface="+mn-ea"/>
                          <a:cs typeface="+mn-cs"/>
                        </a:rPr>
                        <a:t> </a:t>
                      </a:r>
                      <a:r>
                        <a:rPr lang="uz-Cyrl-UZ" sz="800" b="1" kern="1200" dirty="0">
                          <a:solidFill>
                            <a:schemeClr val="tx1"/>
                          </a:solidFill>
                          <a:effectLst/>
                          <a:latin typeface="+mn-lt"/>
                          <a:ea typeface="+mn-ea"/>
                          <a:cs typeface="+mn-cs"/>
                        </a:rPr>
                        <a:t>Ғайратбек Султонов</a:t>
                      </a:r>
                      <a:r>
                        <a:rPr lang="uz-Cyrl-UZ" sz="800" kern="1200" dirty="0">
                          <a:solidFill>
                            <a:schemeClr val="tx1"/>
                          </a:solidFill>
                          <a:effectLst/>
                          <a:latin typeface="+mn-lt"/>
                          <a:ea typeface="+mn-ea"/>
                          <a:cs typeface="+mn-cs"/>
                        </a:rPr>
                        <a:t>, “Шайтонни гапига кириб”да </a:t>
                      </a:r>
                      <a:r>
                        <a:rPr lang="uz-Cyrl-UZ" sz="800" b="1" kern="1200" dirty="0">
                          <a:solidFill>
                            <a:schemeClr val="tx1"/>
                          </a:solidFill>
                          <a:effectLst/>
                          <a:latin typeface="+mn-lt"/>
                          <a:ea typeface="+mn-ea"/>
                          <a:cs typeface="+mn-cs"/>
                        </a:rPr>
                        <a:t>Ботир</a:t>
                      </a:r>
                      <a:r>
                        <a:rPr lang="uz-Cyrl-UZ" sz="800" kern="1200" dirty="0">
                          <a:solidFill>
                            <a:schemeClr val="tx1"/>
                          </a:solidFill>
                          <a:effectLst/>
                          <a:latin typeface="+mn-lt"/>
                          <a:ea typeface="+mn-ea"/>
                          <a:cs typeface="+mn-cs"/>
                        </a:rPr>
                        <a:t>, “Оқ халатли фаришта”да </a:t>
                      </a:r>
                      <a:r>
                        <a:rPr lang="uz-Cyrl-UZ" sz="800" b="1" kern="1200" dirty="0">
                          <a:solidFill>
                            <a:schemeClr val="tx1"/>
                          </a:solidFill>
                          <a:effectLst/>
                          <a:latin typeface="+mn-lt"/>
                          <a:ea typeface="+mn-ea"/>
                          <a:cs typeface="+mn-cs"/>
                        </a:rPr>
                        <a:t>Обиджон</a:t>
                      </a:r>
                      <a:r>
                        <a:rPr lang="uz-Cyrl-UZ" sz="800" kern="1200" dirty="0">
                          <a:solidFill>
                            <a:schemeClr val="tx1"/>
                          </a:solidFill>
                          <a:effectLst/>
                          <a:latin typeface="+mn-lt"/>
                          <a:ea typeface="+mn-ea"/>
                          <a:cs typeface="+mn-cs"/>
                        </a:rPr>
                        <a:t>, “Давлат болалари”да </a:t>
                      </a:r>
                      <a:r>
                        <a:rPr lang="uz-Cyrl-UZ" sz="800" b="1" kern="1200" dirty="0">
                          <a:solidFill>
                            <a:schemeClr val="tx1"/>
                          </a:solidFill>
                          <a:effectLst/>
                          <a:latin typeface="+mn-lt"/>
                          <a:ea typeface="+mn-ea"/>
                          <a:cs typeface="+mn-cs"/>
                        </a:rPr>
                        <a:t>Бахтиёр</a:t>
                      </a:r>
                      <a:r>
                        <a:rPr lang="uz-Cyrl-UZ" sz="800" kern="1200" dirty="0">
                          <a:solidFill>
                            <a:schemeClr val="tx1"/>
                          </a:solidFill>
                          <a:effectLst/>
                          <a:latin typeface="+mn-lt"/>
                          <a:ea typeface="+mn-ea"/>
                          <a:cs typeface="+mn-cs"/>
                        </a:rPr>
                        <a:t>, “Тузоқ”да, “Қуёшни сен уйғотасан”да </a:t>
                      </a:r>
                      <a:r>
                        <a:rPr lang="uz-Cyrl-UZ" sz="800" b="1" kern="1200" dirty="0">
                          <a:solidFill>
                            <a:schemeClr val="tx1"/>
                          </a:solidFill>
                          <a:effectLst/>
                          <a:latin typeface="+mn-lt"/>
                          <a:ea typeface="+mn-ea"/>
                          <a:cs typeface="+mn-cs"/>
                        </a:rPr>
                        <a:t>Тохиржон</a:t>
                      </a:r>
                      <a:r>
                        <a:rPr lang="uz-Cyrl-UZ" sz="800" kern="1200" dirty="0">
                          <a:solidFill>
                            <a:schemeClr val="tx1"/>
                          </a:solidFill>
                          <a:effectLst/>
                          <a:latin typeface="+mn-lt"/>
                          <a:ea typeface="+mn-ea"/>
                          <a:cs typeface="+mn-cs"/>
                        </a:rPr>
                        <a:t> , “Тўйлар муборак”да </a:t>
                      </a:r>
                      <a:r>
                        <a:rPr lang="uz-Cyrl-UZ" sz="800" b="1" kern="1200" dirty="0">
                          <a:solidFill>
                            <a:schemeClr val="tx1"/>
                          </a:solidFill>
                          <a:effectLst/>
                          <a:latin typeface="+mn-lt"/>
                          <a:ea typeface="+mn-ea"/>
                          <a:cs typeface="+mn-cs"/>
                        </a:rPr>
                        <a:t>Мўминжон</a:t>
                      </a:r>
                      <a:r>
                        <a:rPr lang="uz-Cyrl-UZ" sz="800" kern="1200" dirty="0">
                          <a:solidFill>
                            <a:schemeClr val="tx1"/>
                          </a:solidFill>
                          <a:effectLst/>
                          <a:latin typeface="+mn-lt"/>
                          <a:ea typeface="+mn-ea"/>
                          <a:cs typeface="+mn-cs"/>
                        </a:rPr>
                        <a:t>, “Ақлдан озиш хеч гап эмас”да </a:t>
                      </a:r>
                      <a:r>
                        <a:rPr lang="uz-Cyrl-UZ" sz="800" b="1" kern="1200" dirty="0">
                          <a:solidFill>
                            <a:schemeClr val="tx1"/>
                          </a:solidFill>
                          <a:effectLst/>
                          <a:latin typeface="+mn-lt"/>
                          <a:ea typeface="+mn-ea"/>
                          <a:cs typeface="+mn-cs"/>
                        </a:rPr>
                        <a:t>милиция</a:t>
                      </a:r>
                      <a:r>
                        <a:rPr lang="uz-Cyrl-UZ" sz="800" kern="1200" dirty="0">
                          <a:solidFill>
                            <a:schemeClr val="tx1"/>
                          </a:solidFill>
                          <a:effectLst/>
                          <a:latin typeface="+mn-lt"/>
                          <a:ea typeface="+mn-ea"/>
                          <a:cs typeface="+mn-cs"/>
                        </a:rPr>
                        <a:t> </a:t>
                      </a:r>
                      <a:r>
                        <a:rPr lang="uz-Cyrl-UZ" sz="800" b="1" kern="1200" dirty="0">
                          <a:solidFill>
                            <a:schemeClr val="tx1"/>
                          </a:solidFill>
                          <a:effectLst/>
                          <a:latin typeface="+mn-lt"/>
                          <a:ea typeface="+mn-ea"/>
                          <a:cs typeface="+mn-cs"/>
                        </a:rPr>
                        <a:t>ходими</a:t>
                      </a:r>
                      <a:r>
                        <a:rPr lang="uz-Cyrl-UZ" sz="800" kern="1200" dirty="0">
                          <a:solidFill>
                            <a:schemeClr val="tx1"/>
                          </a:solidFill>
                          <a:effectLst/>
                          <a:latin typeface="+mn-lt"/>
                          <a:ea typeface="+mn-ea"/>
                          <a:cs typeface="+mn-cs"/>
                        </a:rPr>
                        <a:t>, “Шахризоданинг 1002 кечаси”да </a:t>
                      </a:r>
                      <a:r>
                        <a:rPr lang="uz-Cyrl-UZ" sz="800" b="1" kern="1200" dirty="0">
                          <a:solidFill>
                            <a:schemeClr val="tx1"/>
                          </a:solidFill>
                          <a:effectLst/>
                          <a:latin typeface="+mn-lt"/>
                          <a:ea typeface="+mn-ea"/>
                          <a:cs typeface="+mn-cs"/>
                        </a:rPr>
                        <a:t>Табиб</a:t>
                      </a:r>
                      <a:r>
                        <a:rPr lang="uz-Cyrl-UZ" sz="800" kern="1200" dirty="0">
                          <a:solidFill>
                            <a:schemeClr val="tx1"/>
                          </a:solidFill>
                          <a:effectLst/>
                          <a:latin typeface="+mn-lt"/>
                          <a:ea typeface="+mn-ea"/>
                          <a:cs typeface="+mn-cs"/>
                        </a:rPr>
                        <a:t> </a:t>
                      </a:r>
                      <a:r>
                        <a:rPr lang="uz-Cyrl-UZ" sz="800" b="1" kern="1200" dirty="0">
                          <a:solidFill>
                            <a:schemeClr val="tx1"/>
                          </a:solidFill>
                          <a:effectLst/>
                          <a:latin typeface="+mn-lt"/>
                          <a:ea typeface="+mn-ea"/>
                          <a:cs typeface="+mn-cs"/>
                        </a:rPr>
                        <a:t>йигит</a:t>
                      </a:r>
                      <a:r>
                        <a:rPr lang="uz-Cyrl-UZ" sz="800" kern="1200" dirty="0">
                          <a:solidFill>
                            <a:schemeClr val="tx1"/>
                          </a:solidFill>
                          <a:effectLst/>
                          <a:latin typeface="+mn-lt"/>
                          <a:ea typeface="+mn-ea"/>
                          <a:cs typeface="+mn-cs"/>
                        </a:rPr>
                        <a:t>, “Қабохат”да </a:t>
                      </a:r>
                      <a:r>
                        <a:rPr lang="uz-Cyrl-UZ" sz="800" b="1" kern="1200" dirty="0">
                          <a:solidFill>
                            <a:schemeClr val="tx1"/>
                          </a:solidFill>
                          <a:effectLst/>
                          <a:latin typeface="+mn-lt"/>
                          <a:ea typeface="+mn-ea"/>
                          <a:cs typeface="+mn-cs"/>
                        </a:rPr>
                        <a:t>Терорист,</a:t>
                      </a:r>
                      <a:r>
                        <a:rPr lang="uz-Cyrl-UZ" sz="800" kern="1200" dirty="0">
                          <a:solidFill>
                            <a:schemeClr val="tx1"/>
                          </a:solidFill>
                          <a:effectLst/>
                          <a:latin typeface="+mn-lt"/>
                          <a:ea typeface="+mn-ea"/>
                          <a:cs typeface="+mn-cs"/>
                        </a:rPr>
                        <a:t> “Разолат”да </a:t>
                      </a:r>
                      <a:r>
                        <a:rPr lang="uz-Cyrl-UZ" sz="800" b="1" kern="1200" dirty="0">
                          <a:solidFill>
                            <a:schemeClr val="tx1"/>
                          </a:solidFill>
                          <a:effectLst/>
                          <a:latin typeface="+mn-lt"/>
                          <a:ea typeface="+mn-ea"/>
                          <a:cs typeface="+mn-cs"/>
                        </a:rPr>
                        <a:t>Милиция ходими, </a:t>
                      </a:r>
                      <a:r>
                        <a:rPr lang="uz-Cyrl-UZ" sz="800" kern="1200" dirty="0">
                          <a:solidFill>
                            <a:schemeClr val="tx1"/>
                          </a:solidFill>
                          <a:effectLst/>
                          <a:latin typeface="+mn-lt"/>
                          <a:ea typeface="+mn-ea"/>
                          <a:cs typeface="+mn-cs"/>
                        </a:rPr>
                        <a:t>“Садоқат”да</a:t>
                      </a:r>
                      <a:r>
                        <a:rPr lang="uz-Cyrl-UZ" sz="800" b="1" kern="1200" dirty="0">
                          <a:solidFill>
                            <a:schemeClr val="tx1"/>
                          </a:solidFill>
                          <a:effectLst/>
                          <a:latin typeface="+mn-lt"/>
                          <a:ea typeface="+mn-ea"/>
                          <a:cs typeface="+mn-cs"/>
                        </a:rPr>
                        <a:t> Махалла фаоли</a:t>
                      </a:r>
                      <a:r>
                        <a:rPr lang="uz-Cyrl-UZ" sz="800" kern="1200" dirty="0">
                          <a:solidFill>
                            <a:schemeClr val="tx1"/>
                          </a:solidFill>
                          <a:effectLst/>
                          <a:latin typeface="+mn-lt"/>
                          <a:ea typeface="+mn-ea"/>
                          <a:cs typeface="+mn-cs"/>
                        </a:rPr>
                        <a:t> “Муножот”да </a:t>
                      </a:r>
                      <a:r>
                        <a:rPr lang="uz-Cyrl-UZ" sz="800" b="1" kern="1200" dirty="0">
                          <a:solidFill>
                            <a:schemeClr val="tx1"/>
                          </a:solidFill>
                          <a:effectLst/>
                          <a:latin typeface="+mn-lt"/>
                          <a:ea typeface="+mn-ea"/>
                          <a:cs typeface="+mn-cs"/>
                        </a:rPr>
                        <a:t>Раис</a:t>
                      </a:r>
                      <a:r>
                        <a:rPr lang="uz-Cyrl-UZ" sz="800" kern="1200" dirty="0">
                          <a:solidFill>
                            <a:schemeClr val="tx1"/>
                          </a:solidFill>
                          <a:effectLst/>
                          <a:latin typeface="+mn-lt"/>
                          <a:ea typeface="+mn-ea"/>
                          <a:cs typeface="+mn-cs"/>
                        </a:rPr>
                        <a:t>, Янги йил саргузаштларида </a:t>
                      </a:r>
                      <a:r>
                        <a:rPr lang="uz-Cyrl-UZ" sz="800" b="1" kern="1200" dirty="0">
                          <a:solidFill>
                            <a:schemeClr val="tx1"/>
                          </a:solidFill>
                          <a:effectLst/>
                          <a:latin typeface="+mn-lt"/>
                          <a:ea typeface="+mn-ea"/>
                          <a:cs typeface="+mn-cs"/>
                        </a:rPr>
                        <a:t>Алвасти</a:t>
                      </a:r>
                      <a:r>
                        <a:rPr lang="uz-Cyrl-UZ" sz="800" kern="1200" dirty="0">
                          <a:solidFill>
                            <a:schemeClr val="tx1"/>
                          </a:solidFill>
                          <a:effectLst/>
                          <a:latin typeface="+mn-lt"/>
                          <a:ea typeface="+mn-ea"/>
                          <a:cs typeface="+mn-cs"/>
                        </a:rPr>
                        <a:t>, образлари билан, “Тузоқ”да </a:t>
                      </a:r>
                      <a:r>
                        <a:rPr lang="uz-Cyrl-UZ" sz="800" b="1" kern="1200" dirty="0">
                          <a:solidFill>
                            <a:schemeClr val="tx1"/>
                          </a:solidFill>
                          <a:effectLst/>
                          <a:latin typeface="+mn-lt"/>
                          <a:ea typeface="+mn-ea"/>
                          <a:cs typeface="+mn-cs"/>
                        </a:rPr>
                        <a:t>ички ишлар ходими Капитан </a:t>
                      </a:r>
                      <a:r>
                        <a:rPr lang="uz-Cyrl-UZ" sz="800" kern="1200" dirty="0">
                          <a:solidFill>
                            <a:schemeClr val="tx1"/>
                          </a:solidFill>
                          <a:effectLst/>
                          <a:latin typeface="+mn-lt"/>
                          <a:ea typeface="+mn-ea"/>
                          <a:cs typeface="+mn-cs"/>
                        </a:rPr>
                        <a:t>“Мирзо Улуғбек”да</a:t>
                      </a:r>
                      <a:r>
                        <a:rPr lang="uz-Cyrl-UZ" sz="800" b="1" kern="1200" dirty="0">
                          <a:solidFill>
                            <a:schemeClr val="tx1"/>
                          </a:solidFill>
                          <a:effectLst/>
                          <a:latin typeface="+mn-lt"/>
                          <a:ea typeface="+mn-ea"/>
                          <a:cs typeface="+mn-cs"/>
                        </a:rPr>
                        <a:t> Шайхул Ислом, </a:t>
                      </a:r>
                      <a:r>
                        <a:rPr lang="uz-Cyrl-UZ" sz="800" kern="1200" dirty="0">
                          <a:solidFill>
                            <a:schemeClr val="tx1"/>
                          </a:solidFill>
                          <a:effectLst/>
                          <a:latin typeface="+mn-lt"/>
                          <a:ea typeface="+mn-ea"/>
                          <a:cs typeface="+mn-cs"/>
                        </a:rPr>
                        <a:t>“Оқибат”да</a:t>
                      </a:r>
                      <a:r>
                        <a:rPr lang="uz-Cyrl-UZ" sz="800" b="1" kern="1200" dirty="0">
                          <a:solidFill>
                            <a:schemeClr val="tx1"/>
                          </a:solidFill>
                          <a:effectLst/>
                          <a:latin typeface="+mn-lt"/>
                          <a:ea typeface="+mn-ea"/>
                          <a:cs typeface="+mn-cs"/>
                        </a:rPr>
                        <a:t> Олимжон, </a:t>
                      </a:r>
                      <a:r>
                        <a:rPr lang="uz-Cyrl-UZ" sz="800" kern="1200" dirty="0">
                          <a:solidFill>
                            <a:schemeClr val="tx1"/>
                          </a:solidFill>
                          <a:effectLst/>
                          <a:latin typeface="+mn-lt"/>
                          <a:ea typeface="+mn-ea"/>
                          <a:cs typeface="+mn-cs"/>
                        </a:rPr>
                        <a:t>“Бобур соғинчи”да</a:t>
                      </a:r>
                      <a:r>
                        <a:rPr lang="uz-Cyrl-UZ" sz="800" b="1" kern="1200" dirty="0">
                          <a:solidFill>
                            <a:schemeClr val="tx1"/>
                          </a:solidFill>
                          <a:effectLst/>
                          <a:latin typeface="+mn-lt"/>
                          <a:ea typeface="+mn-ea"/>
                          <a:cs typeface="+mn-cs"/>
                        </a:rPr>
                        <a:t> Бобур, </a:t>
                      </a:r>
                      <a:r>
                        <a:rPr lang="uz-Cyrl-UZ" sz="800" kern="1200" dirty="0">
                          <a:solidFill>
                            <a:schemeClr val="tx1"/>
                          </a:solidFill>
                          <a:effectLst/>
                          <a:latin typeface="+mn-lt"/>
                          <a:ea typeface="+mn-ea"/>
                          <a:cs typeface="+mn-cs"/>
                        </a:rPr>
                        <a:t>“Бой ила..”да</a:t>
                      </a:r>
                      <a:r>
                        <a:rPr lang="uz-Cyrl-UZ" sz="800" b="1" kern="1200" dirty="0">
                          <a:solidFill>
                            <a:schemeClr val="tx1"/>
                          </a:solidFill>
                          <a:effectLst/>
                          <a:latin typeface="+mn-lt"/>
                          <a:ea typeface="+mn-ea"/>
                          <a:cs typeface="+mn-cs"/>
                        </a:rPr>
                        <a:t> </a:t>
                      </a:r>
                      <a:r>
                        <a:rPr lang="uz-Cyrl-UZ" sz="800" b="1" kern="1200" dirty="0" smtClean="0">
                          <a:solidFill>
                            <a:schemeClr val="tx1"/>
                          </a:solidFill>
                          <a:effectLst/>
                          <a:latin typeface="+mn-lt"/>
                          <a:ea typeface="+mn-ea"/>
                          <a:cs typeface="+mn-cs"/>
                        </a:rPr>
                        <a:t>Солиҳбой</a:t>
                      </a:r>
                      <a:r>
                        <a:rPr lang="uz-Cyrl-UZ" sz="800" b="1" kern="1200" dirty="0">
                          <a:solidFill>
                            <a:schemeClr val="tx1"/>
                          </a:solidFill>
                          <a:effectLst/>
                          <a:latin typeface="+mn-lt"/>
                          <a:ea typeface="+mn-ea"/>
                          <a:cs typeface="+mn-cs"/>
                        </a:rPr>
                        <a:t>, </a:t>
                      </a:r>
                      <a:r>
                        <a:rPr lang="uz-Cyrl-UZ" sz="800" kern="1200" dirty="0">
                          <a:solidFill>
                            <a:schemeClr val="tx1"/>
                          </a:solidFill>
                          <a:effectLst/>
                          <a:latin typeface="+mn-lt"/>
                          <a:ea typeface="+mn-ea"/>
                          <a:cs typeface="+mn-cs"/>
                        </a:rPr>
                        <a:t>“Падаркуш”да</a:t>
                      </a:r>
                      <a:r>
                        <a:rPr lang="uz-Cyrl-UZ" sz="800" b="1" kern="1200" dirty="0">
                          <a:solidFill>
                            <a:schemeClr val="tx1"/>
                          </a:solidFill>
                          <a:effectLst/>
                          <a:latin typeface="+mn-lt"/>
                          <a:ea typeface="+mn-ea"/>
                          <a:cs typeface="+mn-cs"/>
                        </a:rPr>
                        <a:t> Домла, “Чўлпон”</a:t>
                      </a:r>
                      <a:r>
                        <a:rPr lang="uz-Cyrl-UZ" sz="800" kern="1200" dirty="0">
                          <a:solidFill>
                            <a:schemeClr val="tx1"/>
                          </a:solidFill>
                          <a:effectLst/>
                          <a:latin typeface="+mn-lt"/>
                          <a:ea typeface="+mn-ea"/>
                          <a:cs typeface="+mn-cs"/>
                        </a:rPr>
                        <a:t> ва Ўзбекистон Республикаси </a:t>
                      </a:r>
                      <a:r>
                        <a:rPr lang="uz-Cyrl-UZ" sz="800" b="1" kern="1200" dirty="0">
                          <a:solidFill>
                            <a:schemeClr val="tx1"/>
                          </a:solidFill>
                          <a:effectLst/>
                          <a:latin typeface="+mn-lt"/>
                          <a:ea typeface="+mn-ea"/>
                          <a:cs typeface="+mn-cs"/>
                        </a:rPr>
                        <a:t>“Бобур”</a:t>
                      </a:r>
                      <a:r>
                        <a:rPr lang="uz-Cyrl-UZ" sz="800" kern="1200" dirty="0">
                          <a:solidFill>
                            <a:schemeClr val="tx1"/>
                          </a:solidFill>
                          <a:effectLst/>
                          <a:latin typeface="+mn-lt"/>
                          <a:ea typeface="+mn-ea"/>
                          <a:cs typeface="+mn-cs"/>
                        </a:rPr>
                        <a:t> жамғармаси тадбирларида Заҳириддин Муҳаммад Бобур образларини маҳорат билан ижро этиб </a:t>
                      </a:r>
                      <a:r>
                        <a:rPr lang="uz-Cyrl-UZ" sz="800" kern="1200" dirty="0" smtClean="0">
                          <a:solidFill>
                            <a:schemeClr val="tx1"/>
                          </a:solidFill>
                          <a:effectLst/>
                          <a:latin typeface="+mn-lt"/>
                          <a:ea typeface="+mn-ea"/>
                          <a:cs typeface="+mn-cs"/>
                        </a:rPr>
                        <a:t>келмоқда. </a:t>
                      </a:r>
                    </a:p>
                    <a:p>
                      <a:pPr algn="just"/>
                      <a:r>
                        <a:rPr lang="uz-Cyrl-UZ" sz="800" kern="1200" dirty="0" smtClean="0">
                          <a:solidFill>
                            <a:schemeClr val="tx1"/>
                          </a:solidFill>
                          <a:effectLst/>
                          <a:latin typeface="+mn-lt"/>
                          <a:ea typeface="+mn-ea"/>
                          <a:cs typeface="+mn-cs"/>
                        </a:rPr>
                        <a:t>       Шунингдек </a:t>
                      </a:r>
                      <a:r>
                        <a:rPr lang="uz-Cyrl-UZ" sz="800" kern="1200" dirty="0">
                          <a:solidFill>
                            <a:schemeClr val="tx1"/>
                          </a:solidFill>
                          <a:effectLst/>
                          <a:latin typeface="+mn-lt"/>
                          <a:ea typeface="+mn-ea"/>
                          <a:cs typeface="+mn-cs"/>
                        </a:rPr>
                        <a:t>Бишкек шахрида ўтказилган “АРТ-ОРДО” халқаро театр фестивалида “Бобур</a:t>
                      </a:r>
                      <a:r>
                        <a:rPr lang="uz-Cyrl-UZ" sz="800" kern="1200" dirty="0" smtClean="0">
                          <a:solidFill>
                            <a:schemeClr val="tx1"/>
                          </a:solidFill>
                          <a:effectLst/>
                          <a:latin typeface="+mn-lt"/>
                          <a:ea typeface="+mn-ea"/>
                          <a:cs typeface="+mn-cs"/>
                        </a:rPr>
                        <a:t>” спектакли билан иштирок этди.  </a:t>
                      </a:r>
                      <a:r>
                        <a:rPr lang="uz-Cyrl-UZ" sz="800" kern="1200" dirty="0">
                          <a:solidFill>
                            <a:schemeClr val="tx1"/>
                          </a:solidFill>
                          <a:effectLst/>
                          <a:latin typeface="+mn-lt"/>
                          <a:ea typeface="+mn-ea"/>
                          <a:cs typeface="+mn-cs"/>
                        </a:rPr>
                        <a:t>образини яратди. </a:t>
                      </a:r>
                      <a:endParaRPr lang="uz-Cyrl-UZ" sz="800" kern="1200" dirty="0" smtClean="0">
                        <a:solidFill>
                          <a:schemeClr val="tx1"/>
                        </a:solidFill>
                        <a:effectLst/>
                        <a:latin typeface="+mn-lt"/>
                        <a:ea typeface="+mn-ea"/>
                        <a:cs typeface="+mn-cs"/>
                      </a:endParaRPr>
                    </a:p>
                    <a:p>
                      <a:pPr algn="just"/>
                      <a:r>
                        <a:rPr lang="uz-Cyrl-UZ" sz="800" kern="1200" dirty="0">
                          <a:solidFill>
                            <a:schemeClr val="tx1"/>
                          </a:solidFill>
                          <a:effectLst/>
                          <a:latin typeface="+mn-lt"/>
                          <a:ea typeface="+mn-ea"/>
                          <a:cs typeface="+mn-cs"/>
                        </a:rPr>
                        <a:t> </a:t>
                      </a:r>
                      <a:r>
                        <a:rPr lang="uz-Cyrl-UZ" sz="800" kern="1200" dirty="0" smtClean="0">
                          <a:solidFill>
                            <a:schemeClr val="tx1"/>
                          </a:solidFill>
                          <a:effectLst/>
                          <a:latin typeface="+mn-lt"/>
                          <a:ea typeface="+mn-ea"/>
                          <a:cs typeface="+mn-cs"/>
                        </a:rPr>
                        <a:t> Юқоридаги </a:t>
                      </a:r>
                      <a:r>
                        <a:rPr lang="uz-Cyrl-UZ" sz="800" kern="1200" dirty="0">
                          <a:solidFill>
                            <a:schemeClr val="tx1"/>
                          </a:solidFill>
                          <a:effectLst/>
                          <a:latin typeface="+mn-lt"/>
                          <a:ea typeface="+mn-ea"/>
                          <a:cs typeface="+mn-cs"/>
                        </a:rPr>
                        <a:t>меҳнатлари учун фаҳрий ёрлиқ ва пул мукофотлари билан тақдирланган</a:t>
                      </a:r>
                      <a:r>
                        <a:rPr lang="uz-Cyrl-UZ" sz="800" kern="1200" dirty="0" smtClean="0">
                          <a:solidFill>
                            <a:schemeClr val="tx1"/>
                          </a:solidFill>
                          <a:effectLst/>
                          <a:latin typeface="+mn-lt"/>
                          <a:ea typeface="+mn-ea"/>
                          <a:cs typeface="+mn-cs"/>
                        </a:rPr>
                        <a:t>. </a:t>
                      </a:r>
                    </a:p>
                    <a:p>
                      <a:pPr algn="just"/>
                      <a:r>
                        <a:rPr lang="uz-Cyrl-UZ" sz="800" kern="1200" dirty="0" smtClean="0">
                          <a:solidFill>
                            <a:schemeClr val="tx1"/>
                          </a:solidFill>
                          <a:effectLst/>
                          <a:latin typeface="+mn-lt"/>
                          <a:ea typeface="+mn-ea"/>
                          <a:cs typeface="+mn-cs"/>
                        </a:rPr>
                        <a:t>        Булардан </a:t>
                      </a:r>
                      <a:r>
                        <a:rPr lang="uz-Cyrl-UZ" sz="800" kern="1200" dirty="0">
                          <a:solidFill>
                            <a:schemeClr val="tx1"/>
                          </a:solidFill>
                          <a:effectLst/>
                          <a:latin typeface="+mn-lt"/>
                          <a:ea typeface="+mn-ea"/>
                          <a:cs typeface="+mn-cs"/>
                        </a:rPr>
                        <a:t>ташқари, З.Сайбурхонов ўзига юклатилган барча вазифаларни  сидқидилдан ва юқори савияда бажариб келмоқда. Театрнинг барча жамоат ишларида ҳам тўлиқ иштирок этади. Иш мобайнида ходим ўзини юқори малакали мутахассис сифатида кўрсатди. </a:t>
                      </a:r>
                      <a:endParaRPr lang="uz-Cyrl-UZ" sz="8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284840">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6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6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726156">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700" b="0" dirty="0">
                          <a:effectLst/>
                          <a:latin typeface="+mn-lt"/>
                          <a:ea typeface="Calibri" panose="020F0502020204030204" pitchFamily="34" charset="0"/>
                          <a:cs typeface="Times New Roman" panose="02020603050405020304" pitchFamily="18" charset="0"/>
                        </a:rPr>
                        <a:t>Республикамизда</a:t>
                      </a:r>
                      <a:r>
                        <a:rPr lang="uz-Cyrl-UZ" sz="700" b="0" baseline="0" dirty="0">
                          <a:effectLst/>
                          <a:latin typeface="+mn-lt"/>
                          <a:ea typeface="Calibri" panose="020F0502020204030204" pitchFamily="34" charset="0"/>
                          <a:cs typeface="Times New Roman" panose="02020603050405020304" pitchFamily="18" charset="0"/>
                        </a:rPr>
                        <a:t> </a:t>
                      </a:r>
                      <a:r>
                        <a:rPr lang="uz-Cyrl-UZ" sz="700" b="0" baseline="0" dirty="0" smtClean="0">
                          <a:effectLst/>
                          <a:latin typeface="+mn-lt"/>
                          <a:ea typeface="Calibri" panose="020F0502020204030204" pitchFamily="34" charset="0"/>
                          <a:cs typeface="Times New Roman" panose="02020603050405020304" pitchFamily="18" charset="0"/>
                        </a:rPr>
                        <a:t>ўтказиб келинадиган </a:t>
                      </a:r>
                      <a:r>
                        <a:rPr lang="uz-Cyrl-UZ" sz="700" b="1" kern="1200" dirty="0" smtClean="0">
                          <a:solidFill>
                            <a:schemeClr val="tx1"/>
                          </a:solidFill>
                          <a:effectLst/>
                          <a:latin typeface="+mn-lt"/>
                          <a:ea typeface="+mn-ea"/>
                          <a:cs typeface="+mn-cs"/>
                        </a:rPr>
                        <a:t>“Наврўз”</a:t>
                      </a:r>
                      <a:r>
                        <a:rPr lang="uz-Cyrl-UZ" sz="700" kern="1200" dirty="0" smtClean="0">
                          <a:solidFill>
                            <a:schemeClr val="tx1"/>
                          </a:solidFill>
                          <a:effectLst/>
                          <a:latin typeface="+mn-lt"/>
                          <a:ea typeface="+mn-ea"/>
                          <a:cs typeface="+mn-cs"/>
                        </a:rPr>
                        <a:t> (2016-2023), </a:t>
                      </a:r>
                      <a:r>
                        <a:rPr lang="uz-Cyrl-UZ" sz="700" b="1" kern="1200" dirty="0" smtClean="0">
                          <a:solidFill>
                            <a:schemeClr val="tx1"/>
                          </a:solidFill>
                          <a:effectLst/>
                          <a:latin typeface="+mn-lt"/>
                          <a:ea typeface="+mn-ea"/>
                          <a:cs typeface="+mn-cs"/>
                        </a:rPr>
                        <a:t>“Халқаро мақом” (2018, 2014), </a:t>
                      </a:r>
                      <a:r>
                        <a:rPr lang="uz-Cyrl-UZ" sz="700" kern="1200" dirty="0" smtClean="0">
                          <a:solidFill>
                            <a:schemeClr val="tx1"/>
                          </a:solidFill>
                          <a:effectLst/>
                          <a:latin typeface="+mn-lt"/>
                          <a:ea typeface="+mn-ea"/>
                          <a:cs typeface="+mn-cs"/>
                        </a:rPr>
                        <a:t> </a:t>
                      </a:r>
                      <a:r>
                        <a:rPr lang="uz-Cyrl-UZ" sz="700" b="0" kern="1200" baseline="0" dirty="0" smtClean="0">
                          <a:solidFill>
                            <a:schemeClr val="tx1"/>
                          </a:solidFill>
                          <a:effectLst/>
                          <a:latin typeface="+mn-lt"/>
                          <a:ea typeface="+mn-ea"/>
                          <a:cs typeface="+mn-cs"/>
                        </a:rPr>
                        <a:t> </a:t>
                      </a:r>
                      <a:r>
                        <a:rPr lang="uz-Cyrl-UZ" sz="700" b="1" kern="1200" dirty="0" smtClean="0">
                          <a:solidFill>
                            <a:schemeClr val="tx1"/>
                          </a:solidFill>
                          <a:effectLst/>
                          <a:latin typeface="+mn-lt"/>
                          <a:ea typeface="+mn-ea"/>
                          <a:cs typeface="+mn-cs"/>
                        </a:rPr>
                        <a:t>“Халқаро Бахшичилик” (2019, 2023),</a:t>
                      </a:r>
                      <a:r>
                        <a:rPr lang="uz-Cyrl-UZ" sz="700" kern="1200" dirty="0" smtClean="0">
                          <a:solidFill>
                            <a:schemeClr val="tx1"/>
                          </a:solidFill>
                          <a:effectLst/>
                          <a:latin typeface="+mn-lt"/>
                          <a:ea typeface="+mn-ea"/>
                          <a:cs typeface="+mn-cs"/>
                        </a:rPr>
                        <a:t> йилда Қўқон шахрида </a:t>
                      </a:r>
                      <a:r>
                        <a:rPr lang="uz-Cyrl-UZ" sz="700" b="1" kern="1200" dirty="0" smtClean="0">
                          <a:solidFill>
                            <a:schemeClr val="tx1"/>
                          </a:solidFill>
                          <a:effectLst/>
                          <a:latin typeface="+mn-lt"/>
                          <a:ea typeface="+mn-ea"/>
                          <a:cs typeface="+mn-cs"/>
                        </a:rPr>
                        <a:t>“Халқаро ҳунармандчилик” (2021, 2023), “Ҳосил байрами”, “Бойсун баҳори” (2024)</a:t>
                      </a:r>
                      <a:r>
                        <a:rPr lang="uz-Cyrl-UZ" sz="700" kern="1200" dirty="0" smtClean="0">
                          <a:solidFill>
                            <a:schemeClr val="tx1"/>
                          </a:solidFill>
                          <a:effectLst/>
                          <a:latin typeface="+mn-lt"/>
                          <a:ea typeface="+mn-ea"/>
                          <a:cs typeface="+mn-cs"/>
                        </a:rPr>
                        <a:t> фестивалларида “Бобур” образи</a:t>
                      </a:r>
                      <a:r>
                        <a:rPr lang="uz-Cyrl-UZ" sz="700" kern="1200" baseline="0" dirty="0" smtClean="0">
                          <a:solidFill>
                            <a:schemeClr val="tx1"/>
                          </a:solidFill>
                          <a:effectLst/>
                          <a:latin typeface="+mn-lt"/>
                          <a:ea typeface="+mn-ea"/>
                          <a:cs typeface="+mn-cs"/>
                        </a:rPr>
                        <a:t> билан шунингд</a:t>
                      </a:r>
                      <a:r>
                        <a:rPr lang="uz-Cyrl-UZ" sz="700" b="0" baseline="0" dirty="0" smtClean="0">
                          <a:effectLst/>
                          <a:latin typeface="+mn-lt"/>
                          <a:ea typeface="Calibri" panose="020F0502020204030204" pitchFamily="34" charset="0"/>
                          <a:cs typeface="Times New Roman" panose="02020603050405020304" pitchFamily="18" charset="0"/>
                        </a:rPr>
                        <a:t>ек</a:t>
                      </a:r>
                      <a:r>
                        <a:rPr lang="uz-Cyrl-UZ" sz="700" b="0" baseline="0" dirty="0">
                          <a:effectLst/>
                          <a:latin typeface="+mn-lt"/>
                          <a:ea typeface="Calibri" panose="020F0502020204030204" pitchFamily="34" charset="0"/>
                          <a:cs typeface="Times New Roman" panose="02020603050405020304" pitchFamily="18" charset="0"/>
                        </a:rPr>
                        <a:t>, давлат қабулларида доимий иштирок этиб келади.</a:t>
                      </a:r>
                      <a:endParaRPr lang="ru-RU" sz="7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a:extLst>
              <a:ext uri="{FF2B5EF4-FFF2-40B4-BE49-F238E27FC236}">
                <a16:creationId xmlns:a16="http://schemas.microsoft.com/office/drawing/2014/main" id="{2564973C-8725-4F35-A8C6-0C260F8B1D79}"/>
              </a:ext>
            </a:extLst>
          </p:cNvPr>
          <p:cNvPicPr>
            <a:picLocks noChangeAspect="1"/>
          </p:cNvPicPr>
          <p:nvPr/>
        </p:nvPicPr>
        <p:blipFill>
          <a:blip r:embed="rId2"/>
          <a:stretch>
            <a:fillRect/>
          </a:stretch>
        </p:blipFill>
        <p:spPr>
          <a:xfrm>
            <a:off x="209142" y="1116050"/>
            <a:ext cx="988634" cy="1105857"/>
          </a:xfrm>
          <a:prstGeom prst="rect">
            <a:avLst/>
          </a:prstGeom>
        </p:spPr>
      </p:pic>
    </p:spTree>
    <p:extLst>
      <p:ext uri="{BB962C8B-B14F-4D97-AF65-F5344CB8AC3E}">
        <p14:creationId xmlns:p14="http://schemas.microsoft.com/office/powerpoint/2010/main" val="2373367414"/>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719900514"/>
              </p:ext>
            </p:extLst>
          </p:nvPr>
        </p:nvGraphicFramePr>
        <p:xfrm>
          <a:off x="144489" y="865703"/>
          <a:ext cx="3427547" cy="5870660"/>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5914">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0947">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Х</a:t>
                      </a:r>
                      <a:r>
                        <a:rPr lang="ru-RU" sz="900" b="0" kern="1200" dirty="0" smtClean="0">
                          <a:solidFill>
                            <a:schemeClr val="tx1"/>
                          </a:solidFill>
                          <a:latin typeface="+mn-lt"/>
                          <a:ea typeface="+mn-ea"/>
                          <a:cs typeface="+mn-cs"/>
                        </a:rPr>
                        <a:t>АЙДАРОВА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094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Зарифа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094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Бахромовна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0947">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094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17.09.1963</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094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Андижон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3363">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923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1 нафар қиз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нафақада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3363">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30903">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Хайдаров Бахромжон</a:t>
                      </a:r>
                    </a:p>
                    <a:p>
                      <a:pPr algn="l">
                        <a:lnSpc>
                          <a:spcPct val="85000"/>
                        </a:lnSpc>
                      </a:pPr>
                      <a:r>
                        <a:rPr lang="uz-Cyrl-UZ" sz="900" b="0" kern="1200" noProof="0" dirty="0">
                          <a:solidFill>
                            <a:schemeClr val="tx1"/>
                          </a:solidFill>
                          <a:latin typeface="+mn-lt"/>
                          <a:ea typeface="+mn-ea"/>
                          <a:cs typeface="Arial" panose="020B0604020202020204" pitchFamily="34" charset="0"/>
                        </a:rPr>
                        <a:t>1926 йил, Андижон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1995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uz-Cyrl-UZ" sz="900" b="0" kern="1200" noProof="0" dirty="0">
                          <a:solidFill>
                            <a:schemeClr val="tx1"/>
                          </a:solidFill>
                          <a:latin typeface="+mn-lt"/>
                          <a:ea typeface="+mn-ea"/>
                          <a:cs typeface="Arial" panose="020B0604020202020204" pitchFamily="34" charset="0"/>
                        </a:rPr>
                        <a:t>Фермер жамоа хўжалиги мухандиси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6526">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ХАЙДАРОВА Шарофатхон Рахимбердиева</a:t>
                      </a:r>
                    </a:p>
                    <a:p>
                      <a:pPr algn="l">
                        <a:lnSpc>
                          <a:spcPct val="85000"/>
                        </a:lnSpc>
                      </a:pPr>
                      <a:r>
                        <a:rPr lang="uz-Cyrl-UZ" sz="900" b="0" kern="1200" noProof="0" dirty="0">
                          <a:solidFill>
                            <a:schemeClr val="tx1"/>
                          </a:solidFill>
                          <a:latin typeface="+mn-lt"/>
                          <a:ea typeface="+mn-ea"/>
                          <a:cs typeface="Arial" panose="020B0604020202020204" pitchFamily="34" charset="0"/>
                        </a:rPr>
                        <a:t>1932 йил, Андижон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1987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Уй</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бекаси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6526">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ИНОБАТОВ Анвар  Мадаминович</a:t>
                      </a:r>
                    </a:p>
                    <a:p>
                      <a:pPr algn="l">
                        <a:lnSpc>
                          <a:spcPct val="85000"/>
                        </a:lnSpc>
                      </a:pPr>
                      <a:r>
                        <a:rPr lang="uz-Cyrl-UZ" sz="900" b="0" kern="1200" noProof="0" dirty="0">
                          <a:solidFill>
                            <a:schemeClr val="tx1"/>
                          </a:solidFill>
                          <a:latin typeface="+mn-lt"/>
                          <a:ea typeface="+mn-ea"/>
                          <a:cs typeface="Arial" panose="020B0604020202020204" pitchFamily="34" charset="0"/>
                        </a:rPr>
                        <a:t>1953 йил, Андижон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Тадбиркор</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9831">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30731">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1985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маданият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7285">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оммавий байрамлар режиссёрлиги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6510">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6510">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8279">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4044868287"/>
              </p:ext>
            </p:extLst>
          </p:nvPr>
        </p:nvGraphicFramePr>
        <p:xfrm>
          <a:off x="3674526" y="865688"/>
          <a:ext cx="3172841" cy="5887560"/>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4691">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23755">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2012 йилдан буён Нафақада</a:t>
                      </a:r>
                      <a:r>
                        <a:rPr lang="uz-Cyrl-UZ" sz="900" b="1" kern="1200" dirty="0">
                          <a:solidFill>
                            <a:schemeClr val="tx1"/>
                          </a:solidFill>
                          <a:effectLst/>
                          <a:latin typeface="+mn-lt"/>
                          <a:ea typeface="+mn-ea"/>
                          <a:cs typeface="+mn-cs"/>
                        </a:rPr>
                        <a:t>, </a:t>
                      </a:r>
                      <a:r>
                        <a:rPr lang="uz-Cyrl-UZ" sz="900" b="0" kern="1200" dirty="0">
                          <a:solidFill>
                            <a:schemeClr val="tx1"/>
                          </a:solidFill>
                          <a:effectLst/>
                          <a:latin typeface="+mn-lt"/>
                          <a:ea typeface="+mn-ea"/>
                          <a:cs typeface="+mn-cs"/>
                        </a:rPr>
                        <a:t>Андижон вилоят мусиқали драма театри, Етакчи сахна устаси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49739">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497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41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022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2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117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2022-2024 йй. – Андижон вилоят мусиқали драма театри директори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5533">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553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2025 й. Хусусий сиҳатгоҳида </a:t>
                      </a: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профилактика учун даволанган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367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346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1633">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76277">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2014 й. Ўзбекистонда хизмат кўрстаган артист</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4137315696"/>
              </p:ext>
            </p:extLst>
          </p:nvPr>
        </p:nvGraphicFramePr>
        <p:xfrm>
          <a:off x="6895750" y="865688"/>
          <a:ext cx="2865761" cy="5924709"/>
        </p:xfrm>
        <a:graphic>
          <a:graphicData uri="http://schemas.openxmlformats.org/drawingml/2006/table">
            <a:tbl>
              <a:tblPr firstRow="1" bandRow="1">
                <a:tableStyleId>{C083E6E3-FA7D-4D7B-A595-EF9225AFEA82}</a:tableStyleId>
              </a:tblPr>
              <a:tblGrid>
                <a:gridCol w="2865761">
                  <a:extLst>
                    <a:ext uri="{9D8B030D-6E8A-4147-A177-3AD203B41FA5}">
                      <a16:colId xmlns:a16="http://schemas.microsoft.com/office/drawing/2014/main" val="2715609854"/>
                    </a:ext>
                  </a:extLst>
                </a:gridCol>
              </a:tblGrid>
              <a:tr h="242528">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0482">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424664">
                <a:tc>
                  <a:txBody>
                    <a:bodyPr/>
                    <a:lstStyle/>
                    <a:p>
                      <a:pPr algn="just"/>
                      <a:r>
                        <a:rPr lang="uz-Cyrl-UZ" sz="800" kern="1200" dirty="0" smtClean="0">
                          <a:solidFill>
                            <a:schemeClr val="tx1"/>
                          </a:solidFill>
                          <a:effectLst/>
                          <a:latin typeface="+mn-lt"/>
                          <a:ea typeface="+mn-ea"/>
                          <a:cs typeface="+mn-cs"/>
                        </a:rPr>
                        <a:t>     Хайдарова </a:t>
                      </a:r>
                      <a:r>
                        <a:rPr lang="uz-Cyrl-UZ" sz="800" kern="1200" dirty="0">
                          <a:solidFill>
                            <a:schemeClr val="tx1"/>
                          </a:solidFill>
                          <a:effectLst/>
                          <a:latin typeface="+mn-lt"/>
                          <a:ea typeface="+mn-ea"/>
                          <a:cs typeface="+mn-cs"/>
                        </a:rPr>
                        <a:t>Зарифахон қобилиятли актёр сифатида ўзини намоён этиб театр саҳнасида 50 дан ортиқ турли образдаги ранг-баранг ролларни маҳорат билан ижро этди. У театр репертуаридан ўрин олган “Тоҳир ва Зуҳра” спектаклида </a:t>
                      </a:r>
                      <a:r>
                        <a:rPr lang="uz-Cyrl-UZ" sz="800" b="1" kern="1200" dirty="0">
                          <a:solidFill>
                            <a:schemeClr val="tx1"/>
                          </a:solidFill>
                          <a:effectLst/>
                          <a:latin typeface="+mn-lt"/>
                          <a:ea typeface="+mn-ea"/>
                          <a:cs typeface="+mn-cs"/>
                        </a:rPr>
                        <a:t>Қамар</a:t>
                      </a:r>
                      <a:r>
                        <a:rPr lang="uz-Cyrl-UZ" sz="800" kern="1200" dirty="0">
                          <a:solidFill>
                            <a:schemeClr val="tx1"/>
                          </a:solidFill>
                          <a:effectLst/>
                          <a:latin typeface="+mn-lt"/>
                          <a:ea typeface="+mn-ea"/>
                          <a:cs typeface="+mn-cs"/>
                        </a:rPr>
                        <a:t>, “Дуэль”да </a:t>
                      </a:r>
                      <a:r>
                        <a:rPr lang="uz-Cyrl-UZ" sz="800" b="1" kern="1200" dirty="0">
                          <a:solidFill>
                            <a:schemeClr val="tx1"/>
                          </a:solidFill>
                          <a:effectLst/>
                          <a:latin typeface="+mn-lt"/>
                          <a:ea typeface="+mn-ea"/>
                          <a:cs typeface="+mn-cs"/>
                        </a:rPr>
                        <a:t>Нози</a:t>
                      </a:r>
                      <a:r>
                        <a:rPr lang="uz-Cyrl-UZ" sz="800" kern="1200" dirty="0">
                          <a:solidFill>
                            <a:schemeClr val="tx1"/>
                          </a:solidFill>
                          <a:effectLst/>
                          <a:latin typeface="+mn-lt"/>
                          <a:ea typeface="+mn-ea"/>
                          <a:cs typeface="+mn-cs"/>
                        </a:rPr>
                        <a:t>, “Сўнгги нусхалар”да </a:t>
                      </a:r>
                      <a:r>
                        <a:rPr lang="uz-Cyrl-UZ" sz="800" b="1" kern="1200" dirty="0">
                          <a:solidFill>
                            <a:schemeClr val="tx1"/>
                          </a:solidFill>
                          <a:effectLst/>
                          <a:latin typeface="+mn-lt"/>
                          <a:ea typeface="+mn-ea"/>
                          <a:cs typeface="+mn-cs"/>
                        </a:rPr>
                        <a:t>Ҳожар</a:t>
                      </a:r>
                      <a:r>
                        <a:rPr lang="uz-Cyrl-UZ" sz="800" kern="1200" dirty="0">
                          <a:solidFill>
                            <a:schemeClr val="tx1"/>
                          </a:solidFill>
                          <a:effectLst/>
                          <a:latin typeface="+mn-lt"/>
                          <a:ea typeface="+mn-ea"/>
                          <a:cs typeface="+mn-cs"/>
                        </a:rPr>
                        <a:t>, “Хазон бўлган ёшлигим”да </a:t>
                      </a:r>
                      <a:r>
                        <a:rPr lang="uz-Cyrl-UZ" sz="800" b="1" kern="1200" dirty="0">
                          <a:solidFill>
                            <a:schemeClr val="tx1"/>
                          </a:solidFill>
                          <a:effectLst/>
                          <a:latin typeface="+mn-lt"/>
                          <a:ea typeface="+mn-ea"/>
                          <a:cs typeface="+mn-cs"/>
                        </a:rPr>
                        <a:t>Бахтигул</a:t>
                      </a:r>
                      <a:r>
                        <a:rPr lang="uz-Cyrl-UZ" sz="800" kern="1200" dirty="0">
                          <a:solidFill>
                            <a:schemeClr val="tx1"/>
                          </a:solidFill>
                          <a:effectLst/>
                          <a:latin typeface="+mn-lt"/>
                          <a:ea typeface="+mn-ea"/>
                          <a:cs typeface="+mn-cs"/>
                        </a:rPr>
                        <a:t>, “Бобур”да </a:t>
                      </a:r>
                      <a:r>
                        <a:rPr lang="uz-Cyrl-UZ" sz="800" b="1" kern="1200" dirty="0">
                          <a:solidFill>
                            <a:schemeClr val="tx1"/>
                          </a:solidFill>
                          <a:effectLst/>
                          <a:latin typeface="+mn-lt"/>
                          <a:ea typeface="+mn-ea"/>
                          <a:cs typeface="+mn-cs"/>
                        </a:rPr>
                        <a:t>малика Байда</a:t>
                      </a:r>
                      <a:r>
                        <a:rPr lang="uz-Cyrl-UZ" sz="800" kern="1200" dirty="0">
                          <a:solidFill>
                            <a:schemeClr val="tx1"/>
                          </a:solidFill>
                          <a:effectLst/>
                          <a:latin typeface="+mn-lt"/>
                          <a:ea typeface="+mn-ea"/>
                          <a:cs typeface="+mn-cs"/>
                        </a:rPr>
                        <a:t>, “Замонавий куёвлар”да </a:t>
                      </a:r>
                      <a:r>
                        <a:rPr lang="uz-Cyrl-UZ" sz="800" b="1" kern="1200" dirty="0">
                          <a:solidFill>
                            <a:schemeClr val="tx1"/>
                          </a:solidFill>
                          <a:effectLst/>
                          <a:latin typeface="+mn-lt"/>
                          <a:ea typeface="+mn-ea"/>
                          <a:cs typeface="+mn-cs"/>
                        </a:rPr>
                        <a:t>Сурайёхоним</a:t>
                      </a:r>
                      <a:r>
                        <a:rPr lang="uz-Cyrl-UZ" sz="800" kern="1200" dirty="0">
                          <a:solidFill>
                            <a:schemeClr val="tx1"/>
                          </a:solidFill>
                          <a:effectLst/>
                          <a:latin typeface="+mn-lt"/>
                          <a:ea typeface="+mn-ea"/>
                          <a:cs typeface="+mn-cs"/>
                        </a:rPr>
                        <a:t>, “Ноёб нусҳалар”да </a:t>
                      </a:r>
                      <a:r>
                        <a:rPr lang="uz-Cyrl-UZ" sz="800" b="1" kern="1200" dirty="0">
                          <a:solidFill>
                            <a:schemeClr val="tx1"/>
                          </a:solidFill>
                          <a:effectLst/>
                          <a:latin typeface="+mn-lt"/>
                          <a:ea typeface="+mn-ea"/>
                          <a:cs typeface="+mn-cs"/>
                        </a:rPr>
                        <a:t>Зардор</a:t>
                      </a:r>
                      <a:r>
                        <a:rPr lang="uz-Cyrl-UZ" sz="800" kern="1200" dirty="0">
                          <a:solidFill>
                            <a:schemeClr val="tx1"/>
                          </a:solidFill>
                          <a:effectLst/>
                          <a:latin typeface="+mn-lt"/>
                          <a:ea typeface="+mn-ea"/>
                          <a:cs typeface="+mn-cs"/>
                        </a:rPr>
                        <a:t>, “Бир соатлик халифа”да </a:t>
                      </a:r>
                      <a:r>
                        <a:rPr lang="uz-Cyrl-UZ" sz="800" b="1" kern="1200" dirty="0">
                          <a:solidFill>
                            <a:schemeClr val="tx1"/>
                          </a:solidFill>
                          <a:effectLst/>
                          <a:latin typeface="+mn-lt"/>
                          <a:ea typeface="+mn-ea"/>
                          <a:cs typeface="+mn-cs"/>
                        </a:rPr>
                        <a:t>Маржона</a:t>
                      </a:r>
                      <a:r>
                        <a:rPr lang="uz-Cyrl-UZ" sz="800" kern="1200" dirty="0">
                          <a:solidFill>
                            <a:schemeClr val="tx1"/>
                          </a:solidFill>
                          <a:effectLst/>
                          <a:latin typeface="+mn-lt"/>
                          <a:ea typeface="+mn-ea"/>
                          <a:cs typeface="+mn-cs"/>
                        </a:rPr>
                        <a:t>, “Чўлпон”да </a:t>
                      </a:r>
                      <a:r>
                        <a:rPr lang="uz-Cyrl-UZ" sz="800" b="1" kern="1200" dirty="0">
                          <a:solidFill>
                            <a:schemeClr val="tx1"/>
                          </a:solidFill>
                          <a:effectLst/>
                          <a:latin typeface="+mn-lt"/>
                          <a:ea typeface="+mn-ea"/>
                          <a:cs typeface="+mn-cs"/>
                        </a:rPr>
                        <a:t>Фоиқа</a:t>
                      </a:r>
                      <a:r>
                        <a:rPr lang="uz-Cyrl-UZ" sz="800" kern="1200" dirty="0">
                          <a:solidFill>
                            <a:schemeClr val="tx1"/>
                          </a:solidFill>
                          <a:effectLst/>
                          <a:latin typeface="+mn-lt"/>
                          <a:ea typeface="+mn-ea"/>
                          <a:cs typeface="+mn-cs"/>
                        </a:rPr>
                        <a:t>, “Охирги сўз”да </a:t>
                      </a:r>
                      <a:r>
                        <a:rPr lang="uz-Cyrl-UZ" sz="800" b="1" kern="1200" dirty="0">
                          <a:solidFill>
                            <a:schemeClr val="tx1"/>
                          </a:solidFill>
                          <a:effectLst/>
                          <a:latin typeface="+mn-lt"/>
                          <a:ea typeface="+mn-ea"/>
                          <a:cs typeface="+mn-cs"/>
                        </a:rPr>
                        <a:t>Жанна</a:t>
                      </a:r>
                      <a:r>
                        <a:rPr lang="uz-Cyrl-UZ" sz="800" kern="1200" dirty="0">
                          <a:solidFill>
                            <a:schemeClr val="tx1"/>
                          </a:solidFill>
                          <a:effectLst/>
                          <a:latin typeface="+mn-lt"/>
                          <a:ea typeface="+mn-ea"/>
                          <a:cs typeface="+mn-cs"/>
                        </a:rPr>
                        <a:t>, “Пичоқни аввал ўзингга ур ёҳуд устаси фаранг келин”да </a:t>
                      </a:r>
                      <a:r>
                        <a:rPr lang="uz-Cyrl-UZ" sz="800" b="1" kern="1200" dirty="0">
                          <a:solidFill>
                            <a:schemeClr val="tx1"/>
                          </a:solidFill>
                          <a:effectLst/>
                          <a:latin typeface="+mn-lt"/>
                          <a:ea typeface="+mn-ea"/>
                          <a:cs typeface="+mn-cs"/>
                        </a:rPr>
                        <a:t>Санобар</a:t>
                      </a:r>
                      <a:r>
                        <a:rPr lang="uz-Cyrl-UZ" sz="800" kern="1200" dirty="0">
                          <a:solidFill>
                            <a:schemeClr val="tx1"/>
                          </a:solidFill>
                          <a:effectLst/>
                          <a:latin typeface="+mn-lt"/>
                          <a:ea typeface="+mn-ea"/>
                          <a:cs typeface="+mn-cs"/>
                        </a:rPr>
                        <a:t>, “Ой тутилган кечалар”да </a:t>
                      </a:r>
                      <a:r>
                        <a:rPr lang="uz-Cyrl-UZ" sz="800" b="1" kern="1200" dirty="0">
                          <a:solidFill>
                            <a:schemeClr val="tx1"/>
                          </a:solidFill>
                          <a:effectLst/>
                          <a:latin typeface="+mn-lt"/>
                          <a:ea typeface="+mn-ea"/>
                          <a:cs typeface="+mn-cs"/>
                        </a:rPr>
                        <a:t>Мавжуда</a:t>
                      </a:r>
                      <a:r>
                        <a:rPr lang="uz-Cyrl-UZ" sz="800" kern="1200" dirty="0">
                          <a:solidFill>
                            <a:schemeClr val="tx1"/>
                          </a:solidFill>
                          <a:effectLst/>
                          <a:latin typeface="+mn-lt"/>
                          <a:ea typeface="+mn-ea"/>
                          <a:cs typeface="+mn-cs"/>
                        </a:rPr>
                        <a:t>, “Оқибат”да </a:t>
                      </a:r>
                      <a:r>
                        <a:rPr lang="uz-Cyrl-UZ" sz="800" b="1" kern="1200" dirty="0">
                          <a:solidFill>
                            <a:schemeClr val="tx1"/>
                          </a:solidFill>
                          <a:effectLst/>
                          <a:latin typeface="+mn-lt"/>
                          <a:ea typeface="+mn-ea"/>
                          <a:cs typeface="+mn-cs"/>
                        </a:rPr>
                        <a:t>Бусора</a:t>
                      </a:r>
                      <a:r>
                        <a:rPr lang="uz-Cyrl-UZ" sz="800" kern="1200" dirty="0">
                          <a:solidFill>
                            <a:schemeClr val="tx1"/>
                          </a:solidFill>
                          <a:effectLst/>
                          <a:latin typeface="+mn-lt"/>
                          <a:ea typeface="+mn-ea"/>
                          <a:cs typeface="+mn-cs"/>
                        </a:rPr>
                        <a:t>, “Алпомиш”да </a:t>
                      </a:r>
                      <a:r>
                        <a:rPr lang="uz-Cyrl-UZ" sz="800" b="1" kern="1200" dirty="0">
                          <a:solidFill>
                            <a:schemeClr val="tx1"/>
                          </a:solidFill>
                          <a:effectLst/>
                          <a:latin typeface="+mn-lt"/>
                          <a:ea typeface="+mn-ea"/>
                          <a:cs typeface="+mn-cs"/>
                        </a:rPr>
                        <a:t>Ойбарчин</a:t>
                      </a:r>
                      <a:r>
                        <a:rPr lang="uz-Cyrl-UZ" sz="800" kern="1200" dirty="0">
                          <a:solidFill>
                            <a:schemeClr val="tx1"/>
                          </a:solidFill>
                          <a:effectLst/>
                          <a:latin typeface="+mn-lt"/>
                          <a:ea typeface="+mn-ea"/>
                          <a:cs typeface="+mn-cs"/>
                        </a:rPr>
                        <a:t>, “Минг бир кеча”да </a:t>
                      </a:r>
                      <a:r>
                        <a:rPr lang="uz-Cyrl-UZ" sz="800" b="1" kern="1200" dirty="0">
                          <a:solidFill>
                            <a:schemeClr val="tx1"/>
                          </a:solidFill>
                          <a:effectLst/>
                          <a:latin typeface="+mn-lt"/>
                          <a:ea typeface="+mn-ea"/>
                          <a:cs typeface="+mn-cs"/>
                        </a:rPr>
                        <a:t>Илон малика</a:t>
                      </a:r>
                      <a:r>
                        <a:rPr lang="uz-Cyrl-UZ" sz="800" kern="1200" dirty="0">
                          <a:solidFill>
                            <a:schemeClr val="tx1"/>
                          </a:solidFill>
                          <a:effectLst/>
                          <a:latin typeface="+mn-lt"/>
                          <a:ea typeface="+mn-ea"/>
                          <a:cs typeface="+mn-cs"/>
                        </a:rPr>
                        <a:t>, “Бегойим”да </a:t>
                      </a:r>
                      <a:r>
                        <a:rPr lang="uz-Cyrl-UZ" sz="800" b="1" kern="1200" dirty="0">
                          <a:solidFill>
                            <a:schemeClr val="tx1"/>
                          </a:solidFill>
                          <a:effectLst/>
                          <a:latin typeface="+mn-lt"/>
                          <a:ea typeface="+mn-ea"/>
                          <a:cs typeface="+mn-cs"/>
                        </a:rPr>
                        <a:t>Гулнора</a:t>
                      </a:r>
                      <a:r>
                        <a:rPr lang="uz-Cyrl-UZ" sz="800" kern="1200" dirty="0">
                          <a:solidFill>
                            <a:schemeClr val="tx1"/>
                          </a:solidFill>
                          <a:effectLst/>
                          <a:latin typeface="+mn-lt"/>
                          <a:ea typeface="+mn-ea"/>
                          <a:cs typeface="+mn-cs"/>
                        </a:rPr>
                        <a:t>, “Давлат болалари”да </a:t>
                      </a:r>
                      <a:r>
                        <a:rPr lang="uz-Cyrl-UZ" sz="800" b="1" kern="1200" dirty="0">
                          <a:solidFill>
                            <a:schemeClr val="tx1"/>
                          </a:solidFill>
                          <a:effectLst/>
                          <a:latin typeface="+mn-lt"/>
                          <a:ea typeface="+mn-ea"/>
                          <a:cs typeface="+mn-cs"/>
                        </a:rPr>
                        <a:t>Бахт</a:t>
                      </a:r>
                      <a:r>
                        <a:rPr lang="uz-Cyrl-UZ" sz="800" kern="1200" dirty="0">
                          <a:solidFill>
                            <a:schemeClr val="tx1"/>
                          </a:solidFill>
                          <a:effectLst/>
                          <a:latin typeface="+mn-lt"/>
                          <a:ea typeface="+mn-ea"/>
                          <a:cs typeface="+mn-cs"/>
                        </a:rPr>
                        <a:t>, “Эгачимни тўйи”да </a:t>
                      </a:r>
                      <a:r>
                        <a:rPr lang="uz-Cyrl-UZ" sz="800" b="1" kern="1200" dirty="0">
                          <a:solidFill>
                            <a:schemeClr val="tx1"/>
                          </a:solidFill>
                          <a:effectLst/>
                          <a:latin typeface="+mn-lt"/>
                          <a:ea typeface="+mn-ea"/>
                          <a:cs typeface="+mn-cs"/>
                        </a:rPr>
                        <a:t>Нигорахоним</a:t>
                      </a:r>
                      <a:r>
                        <a:rPr lang="uz-Cyrl-UZ" sz="800" kern="1200" dirty="0">
                          <a:solidFill>
                            <a:schemeClr val="tx1"/>
                          </a:solidFill>
                          <a:effectLst/>
                          <a:latin typeface="+mn-lt"/>
                          <a:ea typeface="+mn-ea"/>
                          <a:cs typeface="+mn-cs"/>
                        </a:rPr>
                        <a:t>, “Алла”да </a:t>
                      </a:r>
                      <a:r>
                        <a:rPr lang="uz-Cyrl-UZ" sz="800" b="1" kern="1200" dirty="0">
                          <a:solidFill>
                            <a:schemeClr val="tx1"/>
                          </a:solidFill>
                          <a:effectLst/>
                          <a:latin typeface="+mn-lt"/>
                          <a:ea typeface="+mn-ea"/>
                          <a:cs typeface="+mn-cs"/>
                        </a:rPr>
                        <a:t>Дилемма</a:t>
                      </a:r>
                      <a:r>
                        <a:rPr lang="uz-Cyrl-UZ" sz="800" kern="1200" dirty="0">
                          <a:solidFill>
                            <a:schemeClr val="tx1"/>
                          </a:solidFill>
                          <a:effectLst/>
                          <a:latin typeface="+mn-lt"/>
                          <a:ea typeface="+mn-ea"/>
                          <a:cs typeface="+mn-cs"/>
                        </a:rPr>
                        <a:t>, “Садоқат”да </a:t>
                      </a:r>
                      <a:r>
                        <a:rPr lang="uz-Cyrl-UZ" sz="800" b="1" kern="1200" dirty="0">
                          <a:solidFill>
                            <a:schemeClr val="tx1"/>
                          </a:solidFill>
                          <a:effectLst/>
                          <a:latin typeface="+mn-lt"/>
                          <a:ea typeface="+mn-ea"/>
                          <a:cs typeface="+mn-cs"/>
                        </a:rPr>
                        <a:t>Карима</a:t>
                      </a:r>
                      <a:r>
                        <a:rPr lang="uz-Cyrl-UZ" sz="800" kern="1200" dirty="0">
                          <a:solidFill>
                            <a:schemeClr val="tx1"/>
                          </a:solidFill>
                          <a:effectLst/>
                          <a:latin typeface="+mn-lt"/>
                          <a:ea typeface="+mn-ea"/>
                          <a:cs typeface="+mn-cs"/>
                        </a:rPr>
                        <a:t>, “Қотил ким?”да </a:t>
                      </a:r>
                      <a:r>
                        <a:rPr lang="uz-Cyrl-UZ" sz="800" b="1" kern="1200" dirty="0">
                          <a:solidFill>
                            <a:schemeClr val="tx1"/>
                          </a:solidFill>
                          <a:effectLst/>
                          <a:latin typeface="+mn-lt"/>
                          <a:ea typeface="+mn-ea"/>
                          <a:cs typeface="+mn-cs"/>
                        </a:rPr>
                        <a:t>Санобар</a:t>
                      </a:r>
                      <a:r>
                        <a:rPr lang="uz-Cyrl-UZ" sz="800" kern="1200" dirty="0">
                          <a:solidFill>
                            <a:schemeClr val="tx1"/>
                          </a:solidFill>
                          <a:effectLst/>
                          <a:latin typeface="+mn-lt"/>
                          <a:ea typeface="+mn-ea"/>
                          <a:cs typeface="+mn-cs"/>
                        </a:rPr>
                        <a:t>, “Дилрабонинг она тумори”да </a:t>
                      </a:r>
                      <a:r>
                        <a:rPr lang="uz-Cyrl-UZ" sz="800" b="1" kern="1200" dirty="0">
                          <a:solidFill>
                            <a:schemeClr val="tx1"/>
                          </a:solidFill>
                          <a:effectLst/>
                          <a:latin typeface="+mn-lt"/>
                          <a:ea typeface="+mn-ea"/>
                          <a:cs typeface="+mn-cs"/>
                        </a:rPr>
                        <a:t>Бой хотин</a:t>
                      </a:r>
                      <a:r>
                        <a:rPr lang="uz-Cyrl-UZ" sz="800" kern="1200" dirty="0">
                          <a:solidFill>
                            <a:schemeClr val="tx1"/>
                          </a:solidFill>
                          <a:effectLst/>
                          <a:latin typeface="+mn-lt"/>
                          <a:ea typeface="+mn-ea"/>
                          <a:cs typeface="+mn-cs"/>
                        </a:rPr>
                        <a:t>, “Мадина”да </a:t>
                      </a:r>
                      <a:r>
                        <a:rPr lang="uz-Cyrl-UZ" sz="800" b="1" kern="1200" dirty="0">
                          <a:solidFill>
                            <a:schemeClr val="tx1"/>
                          </a:solidFill>
                          <a:effectLst/>
                          <a:latin typeface="+mn-lt"/>
                          <a:ea typeface="+mn-ea"/>
                          <a:cs typeface="+mn-cs"/>
                        </a:rPr>
                        <a:t>Мадина</a:t>
                      </a:r>
                      <a:r>
                        <a:rPr lang="uz-Cyrl-UZ" sz="800" kern="1200" dirty="0">
                          <a:solidFill>
                            <a:schemeClr val="tx1"/>
                          </a:solidFill>
                          <a:effectLst/>
                          <a:latin typeface="+mn-lt"/>
                          <a:ea typeface="+mn-ea"/>
                          <a:cs typeface="+mn-cs"/>
                        </a:rPr>
                        <a:t>, “Халала”да </a:t>
                      </a:r>
                      <a:r>
                        <a:rPr lang="uz-Cyrl-UZ" sz="800" b="1" kern="1200" dirty="0">
                          <a:solidFill>
                            <a:schemeClr val="tx1"/>
                          </a:solidFill>
                          <a:effectLst/>
                          <a:latin typeface="+mn-lt"/>
                          <a:ea typeface="+mn-ea"/>
                          <a:cs typeface="+mn-cs"/>
                        </a:rPr>
                        <a:t>Одилахоним</a:t>
                      </a:r>
                      <a:r>
                        <a:rPr lang="uz-Cyrl-UZ" sz="800" kern="1200" dirty="0">
                          <a:solidFill>
                            <a:schemeClr val="tx1"/>
                          </a:solidFill>
                          <a:effectLst/>
                          <a:latin typeface="+mn-lt"/>
                          <a:ea typeface="+mn-ea"/>
                          <a:cs typeface="+mn-cs"/>
                        </a:rPr>
                        <a:t>, “Чарҳикажрафтор”да </a:t>
                      </a:r>
                      <a:r>
                        <a:rPr lang="uz-Cyrl-UZ" sz="800" b="1" kern="1200" dirty="0">
                          <a:solidFill>
                            <a:schemeClr val="tx1"/>
                          </a:solidFill>
                          <a:effectLst/>
                          <a:latin typeface="+mn-lt"/>
                          <a:ea typeface="+mn-ea"/>
                          <a:cs typeface="+mn-cs"/>
                        </a:rPr>
                        <a:t>Латофат</a:t>
                      </a:r>
                      <a:r>
                        <a:rPr lang="uz-Cyrl-UZ" sz="800" kern="1200" dirty="0">
                          <a:solidFill>
                            <a:schemeClr val="tx1"/>
                          </a:solidFill>
                          <a:effectLst/>
                          <a:latin typeface="+mn-lt"/>
                          <a:ea typeface="+mn-ea"/>
                          <a:cs typeface="+mn-cs"/>
                        </a:rPr>
                        <a:t>, “Жаннатнинг эшиги бор”да </a:t>
                      </a:r>
                      <a:r>
                        <a:rPr lang="uz-Cyrl-UZ" sz="800" b="1" kern="1200" dirty="0">
                          <a:solidFill>
                            <a:schemeClr val="tx1"/>
                          </a:solidFill>
                          <a:effectLst/>
                          <a:latin typeface="+mn-lt"/>
                          <a:ea typeface="+mn-ea"/>
                          <a:cs typeface="+mn-cs"/>
                        </a:rPr>
                        <a:t>Гилосхон</a:t>
                      </a:r>
                      <a:r>
                        <a:rPr lang="uz-Cyrl-UZ" sz="800" kern="1200" dirty="0">
                          <a:solidFill>
                            <a:schemeClr val="tx1"/>
                          </a:solidFill>
                          <a:effectLst/>
                          <a:latin typeface="+mn-lt"/>
                          <a:ea typeface="+mn-ea"/>
                          <a:cs typeface="+mn-cs"/>
                        </a:rPr>
                        <a:t>, “Оқ халатли фаришталар”да </a:t>
                      </a:r>
                      <a:r>
                        <a:rPr lang="uz-Cyrl-UZ" sz="800" b="1" kern="1200" dirty="0">
                          <a:solidFill>
                            <a:schemeClr val="tx1"/>
                          </a:solidFill>
                          <a:effectLst/>
                          <a:latin typeface="+mn-lt"/>
                          <a:ea typeface="+mn-ea"/>
                          <a:cs typeface="+mn-cs"/>
                        </a:rPr>
                        <a:t>Бош ҳамшира</a:t>
                      </a:r>
                      <a:r>
                        <a:rPr lang="uz-Cyrl-UZ" sz="800" kern="1200" dirty="0">
                          <a:solidFill>
                            <a:schemeClr val="tx1"/>
                          </a:solidFill>
                          <a:effectLst/>
                          <a:latin typeface="+mn-lt"/>
                          <a:ea typeface="+mn-ea"/>
                          <a:cs typeface="+mn-cs"/>
                        </a:rPr>
                        <a:t>, “Тузоқ”да </a:t>
                      </a:r>
                      <a:r>
                        <a:rPr lang="uz-Cyrl-UZ" sz="800" b="1" kern="1200" dirty="0">
                          <a:solidFill>
                            <a:schemeClr val="tx1"/>
                          </a:solidFill>
                          <a:effectLst/>
                          <a:latin typeface="+mn-lt"/>
                          <a:ea typeface="+mn-ea"/>
                          <a:cs typeface="+mn-cs"/>
                        </a:rPr>
                        <a:t>Шоҳида</a:t>
                      </a:r>
                      <a:r>
                        <a:rPr lang="uz-Cyrl-UZ" sz="800" kern="1200" dirty="0">
                          <a:solidFill>
                            <a:schemeClr val="tx1"/>
                          </a:solidFill>
                          <a:effectLst/>
                          <a:latin typeface="+mn-lt"/>
                          <a:ea typeface="+mn-ea"/>
                          <a:cs typeface="+mn-cs"/>
                        </a:rPr>
                        <a:t>, “Танҳо юлдуз”да </a:t>
                      </a:r>
                      <a:r>
                        <a:rPr lang="uz-Cyrl-UZ" sz="800" b="1" kern="1200" dirty="0">
                          <a:solidFill>
                            <a:schemeClr val="tx1"/>
                          </a:solidFill>
                          <a:effectLst/>
                          <a:latin typeface="+mn-lt"/>
                          <a:ea typeface="+mn-ea"/>
                          <a:cs typeface="+mn-cs"/>
                        </a:rPr>
                        <a:t>Умида</a:t>
                      </a:r>
                      <a:r>
                        <a:rPr lang="uz-Cyrl-UZ" sz="800" kern="1200" dirty="0">
                          <a:solidFill>
                            <a:schemeClr val="tx1"/>
                          </a:solidFill>
                          <a:effectLst/>
                          <a:latin typeface="+mn-lt"/>
                          <a:ea typeface="+mn-ea"/>
                          <a:cs typeface="+mn-cs"/>
                        </a:rPr>
                        <a:t>, “Аёл кечирмайди”да </a:t>
                      </a:r>
                      <a:r>
                        <a:rPr lang="uz-Cyrl-UZ" sz="800" b="1" kern="1200" dirty="0">
                          <a:solidFill>
                            <a:schemeClr val="tx1"/>
                          </a:solidFill>
                          <a:effectLst/>
                          <a:latin typeface="+mn-lt"/>
                          <a:ea typeface="+mn-ea"/>
                          <a:cs typeface="+mn-cs"/>
                        </a:rPr>
                        <a:t>Ойдин</a:t>
                      </a:r>
                      <a:r>
                        <a:rPr lang="uz-Cyrl-UZ" sz="800" kern="1200" dirty="0">
                          <a:solidFill>
                            <a:schemeClr val="tx1"/>
                          </a:solidFill>
                          <a:effectLst/>
                          <a:latin typeface="+mn-lt"/>
                          <a:ea typeface="+mn-ea"/>
                          <a:cs typeface="+mn-cs"/>
                        </a:rPr>
                        <a:t>, “Танҳо юлдуз-2”да </a:t>
                      </a:r>
                      <a:r>
                        <a:rPr lang="uz-Cyrl-UZ" sz="800" b="1" kern="1200" dirty="0">
                          <a:solidFill>
                            <a:schemeClr val="tx1"/>
                          </a:solidFill>
                          <a:effectLst/>
                          <a:latin typeface="+mn-lt"/>
                          <a:ea typeface="+mn-ea"/>
                          <a:cs typeface="+mn-cs"/>
                        </a:rPr>
                        <a:t>Умида, </a:t>
                      </a:r>
                      <a:r>
                        <a:rPr lang="uz-Cyrl-UZ" sz="800" kern="1200" dirty="0">
                          <a:solidFill>
                            <a:schemeClr val="tx1"/>
                          </a:solidFill>
                          <a:effectLst/>
                          <a:latin typeface="+mn-lt"/>
                          <a:ea typeface="+mn-ea"/>
                          <a:cs typeface="+mn-cs"/>
                        </a:rPr>
                        <a:t>“Бой ила..” </a:t>
                      </a:r>
                      <a:r>
                        <a:rPr lang="uz-Cyrl-UZ" sz="800" b="1" kern="1200" dirty="0">
                          <a:solidFill>
                            <a:schemeClr val="tx1"/>
                          </a:solidFill>
                          <a:effectLst/>
                          <a:latin typeface="+mn-lt"/>
                          <a:ea typeface="+mn-ea"/>
                          <a:cs typeface="+mn-cs"/>
                        </a:rPr>
                        <a:t>Подшохон,</a:t>
                      </a:r>
                      <a:r>
                        <a:rPr lang="uz-Cyrl-UZ" sz="800" kern="1200" dirty="0">
                          <a:solidFill>
                            <a:schemeClr val="tx1"/>
                          </a:solidFill>
                          <a:effectLst/>
                          <a:latin typeface="+mn-lt"/>
                          <a:ea typeface="+mn-ea"/>
                          <a:cs typeface="+mn-cs"/>
                        </a:rPr>
                        <a:t> “ Тонг </a:t>
                      </a:r>
                      <a:r>
                        <a:rPr lang="uz-Cyrl-UZ" sz="800" kern="1200" dirty="0" smtClean="0">
                          <a:solidFill>
                            <a:schemeClr val="tx1"/>
                          </a:solidFill>
                          <a:effectLst/>
                          <a:latin typeface="+mn-lt"/>
                          <a:ea typeface="+mn-ea"/>
                          <a:cs typeface="+mn-cs"/>
                        </a:rPr>
                        <a:t>отгунча </a:t>
                      </a:r>
                      <a:r>
                        <a:rPr lang="uz-Cyrl-UZ" sz="800" kern="1200" dirty="0">
                          <a:solidFill>
                            <a:schemeClr val="tx1"/>
                          </a:solidFill>
                          <a:effectLst/>
                          <a:latin typeface="+mn-lt"/>
                          <a:ea typeface="+mn-ea"/>
                          <a:cs typeface="+mn-cs"/>
                        </a:rPr>
                        <a:t>қайтаман”да </a:t>
                      </a:r>
                      <a:r>
                        <a:rPr lang="uz-Cyrl-UZ" sz="800" b="1" kern="1200" dirty="0">
                          <a:solidFill>
                            <a:schemeClr val="tx1"/>
                          </a:solidFill>
                          <a:effectLst/>
                          <a:latin typeface="+mn-lt"/>
                          <a:ea typeface="+mn-ea"/>
                          <a:cs typeface="+mn-cs"/>
                        </a:rPr>
                        <a:t>ўқитувчи</a:t>
                      </a:r>
                      <a:r>
                        <a:rPr lang="uz-Cyrl-UZ" sz="800" kern="1200" dirty="0">
                          <a:solidFill>
                            <a:schemeClr val="tx1"/>
                          </a:solidFill>
                          <a:effectLst/>
                          <a:latin typeface="+mn-lt"/>
                          <a:ea typeface="+mn-ea"/>
                          <a:cs typeface="+mn-cs"/>
                        </a:rPr>
                        <a:t>, “Астағфируллоҳ”да </a:t>
                      </a:r>
                      <a:r>
                        <a:rPr lang="uz-Cyrl-UZ" sz="800" b="1" kern="1200" dirty="0">
                          <a:solidFill>
                            <a:schemeClr val="tx1"/>
                          </a:solidFill>
                          <a:effectLst/>
                          <a:latin typeface="+mn-lt"/>
                          <a:ea typeface="+mn-ea"/>
                          <a:cs typeface="+mn-cs"/>
                        </a:rPr>
                        <a:t>Бика опа</a:t>
                      </a:r>
                      <a:r>
                        <a:rPr lang="uz-Cyrl-UZ" sz="800" kern="1200" dirty="0">
                          <a:solidFill>
                            <a:schemeClr val="tx1"/>
                          </a:solidFill>
                          <a:effectLst/>
                          <a:latin typeface="+mn-lt"/>
                          <a:ea typeface="+mn-ea"/>
                          <a:cs typeface="+mn-cs"/>
                        </a:rPr>
                        <a:t>, “Мардикорлар”да </a:t>
                      </a:r>
                      <a:r>
                        <a:rPr lang="uz-Cyrl-UZ" sz="800" b="1" kern="1200" dirty="0">
                          <a:solidFill>
                            <a:schemeClr val="tx1"/>
                          </a:solidFill>
                          <a:effectLst/>
                          <a:latin typeface="+mn-lt"/>
                          <a:ea typeface="+mn-ea"/>
                          <a:cs typeface="+mn-cs"/>
                        </a:rPr>
                        <a:t>Сиёсатхон</a:t>
                      </a:r>
                      <a:r>
                        <a:rPr lang="uz-Cyrl-UZ" sz="800" kern="1200" dirty="0">
                          <a:solidFill>
                            <a:schemeClr val="tx1"/>
                          </a:solidFill>
                          <a:effectLst/>
                          <a:latin typeface="+mn-lt"/>
                          <a:ea typeface="+mn-ea"/>
                          <a:cs typeface="+mn-cs"/>
                        </a:rPr>
                        <a:t>, “Қирқилган кокиллар”да </a:t>
                      </a:r>
                      <a:r>
                        <a:rPr lang="uz-Cyrl-UZ" sz="800" b="1" kern="1200" dirty="0">
                          <a:solidFill>
                            <a:schemeClr val="tx1"/>
                          </a:solidFill>
                          <a:effectLst/>
                          <a:latin typeface="+mn-lt"/>
                          <a:ea typeface="+mn-ea"/>
                          <a:cs typeface="+mn-cs"/>
                        </a:rPr>
                        <a:t>Хушхолбиби</a:t>
                      </a:r>
                      <a:r>
                        <a:rPr lang="uz-Cyrl-UZ" sz="800" kern="1200" dirty="0">
                          <a:solidFill>
                            <a:schemeClr val="tx1"/>
                          </a:solidFill>
                          <a:effectLst/>
                          <a:latin typeface="+mn-lt"/>
                          <a:ea typeface="+mn-ea"/>
                          <a:cs typeface="+mn-cs"/>
                        </a:rPr>
                        <a:t>,“Бобур соғинчи”да, </a:t>
                      </a:r>
                      <a:r>
                        <a:rPr lang="uz-Cyrl-UZ" sz="800" b="1" kern="1200" dirty="0">
                          <a:solidFill>
                            <a:schemeClr val="tx1"/>
                          </a:solidFill>
                          <a:effectLst/>
                          <a:latin typeface="+mn-lt"/>
                          <a:ea typeface="+mn-ea"/>
                          <a:cs typeface="+mn-cs"/>
                        </a:rPr>
                        <a:t>Малика Байда</a:t>
                      </a:r>
                      <a:r>
                        <a:rPr lang="uz-Cyrl-UZ" sz="800" kern="1200" dirty="0">
                          <a:solidFill>
                            <a:schemeClr val="tx1"/>
                          </a:solidFill>
                          <a:effectLst/>
                          <a:latin typeface="+mn-lt"/>
                          <a:ea typeface="+mn-ea"/>
                          <a:cs typeface="+mn-cs"/>
                        </a:rPr>
                        <a:t> каби спектаклларда бош ва етакчи ролларни маҳорат билан ижро этиб, мутахассислар эътирофи ва томошабинлар олқишига сазовор бўлди. З.Хайдарова актёрлик билан бир қаторда, режиссёр сифатида ҳам фаолият юритиб келмоқда. Ўтган давр мобайнида </a:t>
                      </a:r>
                      <a:r>
                        <a:rPr lang="uz-Cyrl-UZ" sz="800" kern="1200" dirty="0" smtClean="0">
                          <a:solidFill>
                            <a:schemeClr val="tx1"/>
                          </a:solidFill>
                          <a:effectLst/>
                          <a:latin typeface="+mn-lt"/>
                          <a:ea typeface="+mn-ea"/>
                          <a:cs typeface="+mn-cs"/>
                        </a:rPr>
                        <a:t>у </a:t>
                      </a:r>
                      <a:r>
                        <a:rPr lang="uz-Cyrl-UZ" sz="800" b="1" kern="1200" dirty="0">
                          <a:solidFill>
                            <a:schemeClr val="tx1"/>
                          </a:solidFill>
                          <a:effectLst/>
                          <a:latin typeface="+mn-lt"/>
                          <a:ea typeface="+mn-ea"/>
                          <a:cs typeface="+mn-cs"/>
                        </a:rPr>
                        <a:t>“Эримнинг хотини”, “Янги йил эртаклари”, “Алданган фаришта”, “Бегойим”, “Чарҳикажрафтор”, “Қора қурт”, “Давлат болалари”</a:t>
                      </a:r>
                      <a:r>
                        <a:rPr lang="uz-Cyrl-UZ" sz="800" kern="1200" dirty="0">
                          <a:solidFill>
                            <a:schemeClr val="tx1"/>
                          </a:solidFill>
                          <a:effectLst/>
                          <a:latin typeface="+mn-lt"/>
                          <a:ea typeface="+mn-ea"/>
                          <a:cs typeface="+mn-cs"/>
                        </a:rPr>
                        <a:t> каби асарларини мувафаққиятли саҳналаштирди ва бир нечта асарларда режиссёр ёрдамчиси сифатида иш олиб борди.</a:t>
                      </a:r>
                      <a:endParaRPr lang="ru-RU" sz="800" kern="1200" dirty="0">
                        <a:solidFill>
                          <a:schemeClr val="tx1"/>
                        </a:solidFill>
                        <a:effectLst/>
                        <a:latin typeface="+mn-lt"/>
                        <a:ea typeface="+mn-ea"/>
                        <a:cs typeface="+mn-cs"/>
                      </a:endParaRPr>
                    </a:p>
                    <a:p>
                      <a:pPr algn="just"/>
                      <a:r>
                        <a:rPr lang="uz-Cyrl-UZ" sz="800" kern="1200" dirty="0">
                          <a:solidFill>
                            <a:schemeClr val="tx1"/>
                          </a:solidFill>
                          <a:effectLst/>
                          <a:latin typeface="+mn-lt"/>
                          <a:ea typeface="+mn-ea"/>
                          <a:cs typeface="+mn-cs"/>
                        </a:rPr>
                        <a:t>У театрдаги фаолияти билан бир қаторда </a:t>
                      </a:r>
                      <a:r>
                        <a:rPr lang="uz-Cyrl-UZ" sz="800" b="1" kern="1200" dirty="0">
                          <a:solidFill>
                            <a:schemeClr val="tx1"/>
                          </a:solidFill>
                          <a:effectLst/>
                          <a:latin typeface="+mn-lt"/>
                          <a:ea typeface="+mn-ea"/>
                          <a:cs typeface="+mn-cs"/>
                        </a:rPr>
                        <a:t>“Руҳ 5.13”, “Қуюн”</a:t>
                      </a:r>
                      <a:r>
                        <a:rPr lang="uz-Cyrl-UZ" sz="800" kern="1200" dirty="0">
                          <a:solidFill>
                            <a:schemeClr val="tx1"/>
                          </a:solidFill>
                          <a:effectLst/>
                          <a:latin typeface="+mn-lt"/>
                          <a:ea typeface="+mn-ea"/>
                          <a:cs typeface="+mn-cs"/>
                        </a:rPr>
                        <a:t> сингари кинофильмларда ранг-баранг ролларни маромига етказиб ижро этди.</a:t>
                      </a:r>
                      <a:endParaRPr lang="ru-RU" sz="8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0680">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722321">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a:effectLst/>
                          <a:latin typeface="+mn-lt"/>
                          <a:ea typeface="Calibri" panose="020F0502020204030204" pitchFamily="34" charset="0"/>
                          <a:cs typeface="Times New Roman" panose="02020603050405020304" pitchFamily="18" charset="0"/>
                        </a:rPr>
                        <a:t>Республикамизда</a:t>
                      </a:r>
                      <a:r>
                        <a:rPr lang="uz-Cyrl-UZ" sz="800" b="0" baseline="0" dirty="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a:extLst>
              <a:ext uri="{FF2B5EF4-FFF2-40B4-BE49-F238E27FC236}">
                <a16:creationId xmlns:a16="http://schemas.microsoft.com/office/drawing/2014/main" id="{8BBEF4E2-FE49-4861-B7D6-7169D59347A1}"/>
              </a:ext>
            </a:extLst>
          </p:cNvPr>
          <p:cNvPicPr>
            <a:picLocks noChangeAspect="1"/>
          </p:cNvPicPr>
          <p:nvPr/>
        </p:nvPicPr>
        <p:blipFill>
          <a:blip r:embed="rId2"/>
          <a:stretch>
            <a:fillRect/>
          </a:stretch>
        </p:blipFill>
        <p:spPr>
          <a:xfrm>
            <a:off x="245576" y="1149293"/>
            <a:ext cx="903716" cy="1082179"/>
          </a:xfrm>
          <a:prstGeom prst="rect">
            <a:avLst/>
          </a:prstGeom>
        </p:spPr>
      </p:pic>
    </p:spTree>
    <p:extLst>
      <p:ext uri="{BB962C8B-B14F-4D97-AF65-F5344CB8AC3E}">
        <p14:creationId xmlns:p14="http://schemas.microsoft.com/office/powerpoint/2010/main" val="3002378368"/>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4034315676"/>
              </p:ext>
            </p:extLst>
          </p:nvPr>
        </p:nvGraphicFramePr>
        <p:xfrm>
          <a:off x="138897" y="865690"/>
          <a:ext cx="3346594" cy="5786363"/>
        </p:xfrm>
        <a:graphic>
          <a:graphicData uri="http://schemas.openxmlformats.org/drawingml/2006/table">
            <a:tbl>
              <a:tblPr firstRow="1" bandRow="1">
                <a:tableStyleId>{C083E6E3-FA7D-4D7B-A595-EF9225AFEA82}</a:tableStyleId>
              </a:tblPr>
              <a:tblGrid>
                <a:gridCol w="581133">
                  <a:extLst>
                    <a:ext uri="{9D8B030D-6E8A-4147-A177-3AD203B41FA5}">
                      <a16:colId xmlns:a16="http://schemas.microsoft.com/office/drawing/2014/main" val="2288412290"/>
                    </a:ext>
                  </a:extLst>
                </a:gridCol>
                <a:gridCol w="491650">
                  <a:extLst>
                    <a:ext uri="{9D8B030D-6E8A-4147-A177-3AD203B41FA5}">
                      <a16:colId xmlns:a16="http://schemas.microsoft.com/office/drawing/2014/main" val="1678982439"/>
                    </a:ext>
                  </a:extLst>
                </a:gridCol>
                <a:gridCol w="149873">
                  <a:extLst>
                    <a:ext uri="{9D8B030D-6E8A-4147-A177-3AD203B41FA5}">
                      <a16:colId xmlns:a16="http://schemas.microsoft.com/office/drawing/2014/main" val="2721661767"/>
                    </a:ext>
                  </a:extLst>
                </a:gridCol>
                <a:gridCol w="888716">
                  <a:extLst>
                    <a:ext uri="{9D8B030D-6E8A-4147-A177-3AD203B41FA5}">
                      <a16:colId xmlns:a16="http://schemas.microsoft.com/office/drawing/2014/main" val="546773760"/>
                    </a:ext>
                  </a:extLst>
                </a:gridCol>
                <a:gridCol w="1235222">
                  <a:extLst>
                    <a:ext uri="{9D8B030D-6E8A-4147-A177-3AD203B41FA5}">
                      <a16:colId xmlns:a16="http://schemas.microsoft.com/office/drawing/2014/main" val="546443978"/>
                    </a:ext>
                  </a:extLst>
                </a:gridCol>
              </a:tblGrid>
              <a:tr h="237312">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5523">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МАДАМИНОВ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552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Қобилжон</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552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5523">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552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11.02.1949</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552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Андижон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5201">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2226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3 нафар қиз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нафақада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5201">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421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БОТИРОВ Мадаминжон </a:t>
                      </a:r>
                    </a:p>
                    <a:p>
                      <a:pPr algn="l">
                        <a:lnSpc>
                          <a:spcPct val="85000"/>
                        </a:lnSpc>
                      </a:pPr>
                      <a:r>
                        <a:rPr lang="uz-Cyrl-UZ" sz="900" b="0" kern="1200" noProof="0" dirty="0">
                          <a:solidFill>
                            <a:schemeClr val="tx1"/>
                          </a:solidFill>
                          <a:latin typeface="+mn-lt"/>
                          <a:ea typeface="+mn-ea"/>
                          <a:cs typeface="Arial" panose="020B0604020202020204" pitchFamily="34" charset="0"/>
                        </a:rPr>
                        <a:t>1929 йил, Андижон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2013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uz-Cyrl-UZ" sz="900" b="0" kern="1200" noProof="0" dirty="0">
                          <a:solidFill>
                            <a:schemeClr val="tx1"/>
                          </a:solidFill>
                          <a:latin typeface="+mn-lt"/>
                          <a:ea typeface="+mn-ea"/>
                          <a:cs typeface="Arial" panose="020B0604020202020204" pitchFamily="34" charset="0"/>
                        </a:rPr>
                        <a:t>Э</a:t>
                      </a:r>
                      <a:r>
                        <a:rPr lang="ru-RU" sz="900" b="0" kern="1200" noProof="0" dirty="0" err="1">
                          <a:solidFill>
                            <a:schemeClr val="tx1"/>
                          </a:solidFill>
                          <a:latin typeface="+mn-lt"/>
                          <a:ea typeface="+mn-ea"/>
                          <a:cs typeface="Arial" panose="020B0604020202020204" pitchFamily="34" charset="0"/>
                        </a:rPr>
                        <a:t>лектрик</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63520">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Ботирова Ширмонхон </a:t>
                      </a:r>
                    </a:p>
                    <a:p>
                      <a:pPr algn="l">
                        <a:lnSpc>
                          <a:spcPct val="85000"/>
                        </a:lnSpc>
                      </a:pPr>
                      <a:r>
                        <a:rPr lang="uz-Cyrl-UZ" sz="900" b="0" kern="1200" noProof="0" dirty="0">
                          <a:solidFill>
                            <a:schemeClr val="tx1"/>
                          </a:solidFill>
                          <a:latin typeface="+mn-lt"/>
                          <a:ea typeface="+mn-ea"/>
                          <a:cs typeface="Arial" panose="020B0604020202020204" pitchFamily="34" charset="0"/>
                        </a:rPr>
                        <a:t>1929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2000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Уй</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бекаси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22267">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Мадаминова Санобар Жўрабоевна</a:t>
                      </a:r>
                    </a:p>
                    <a:p>
                      <a:pPr algn="l">
                        <a:lnSpc>
                          <a:spcPct val="85000"/>
                        </a:lnSpc>
                      </a:pPr>
                      <a:r>
                        <a:rPr lang="uz-Cyrl-UZ" sz="900" b="0" kern="1200" noProof="0" dirty="0">
                          <a:solidFill>
                            <a:schemeClr val="tx1"/>
                          </a:solidFill>
                          <a:latin typeface="+mn-lt"/>
                          <a:ea typeface="+mn-ea"/>
                          <a:cs typeface="Arial" panose="020B0604020202020204" pitchFamily="34" charset="0"/>
                        </a:rPr>
                        <a:t>1953 йил, Андижон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Уй бекаси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2492">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25246">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1980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маданият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30911">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Драма ва кино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6449">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6449">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752274">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043304704"/>
              </p:ext>
            </p:extLst>
          </p:nvPr>
        </p:nvGraphicFramePr>
        <p:xfrm>
          <a:off x="3690456" y="865689"/>
          <a:ext cx="3037019" cy="5797757"/>
        </p:xfrm>
        <a:graphic>
          <a:graphicData uri="http://schemas.openxmlformats.org/drawingml/2006/table">
            <a:tbl>
              <a:tblPr firstRow="1" bandRow="1">
                <a:tableStyleId>{C083E6E3-FA7D-4D7B-A595-EF9225AFEA82}</a:tableStyleId>
              </a:tblPr>
              <a:tblGrid>
                <a:gridCol w="1458267">
                  <a:extLst>
                    <a:ext uri="{9D8B030D-6E8A-4147-A177-3AD203B41FA5}">
                      <a16:colId xmlns:a16="http://schemas.microsoft.com/office/drawing/2014/main" val="2715609854"/>
                    </a:ext>
                  </a:extLst>
                </a:gridCol>
                <a:gridCol w="1578752">
                  <a:extLst>
                    <a:ext uri="{9D8B030D-6E8A-4147-A177-3AD203B41FA5}">
                      <a16:colId xmlns:a16="http://schemas.microsoft.com/office/drawing/2014/main" val="546443978"/>
                    </a:ext>
                  </a:extLst>
                </a:gridCol>
              </a:tblGrid>
              <a:tr h="245538">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17144">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2008 йилдан буён Нафақада</a:t>
                      </a:r>
                      <a:r>
                        <a:rPr lang="uz-Cyrl-UZ" sz="900" b="1" kern="1200" dirty="0">
                          <a:solidFill>
                            <a:schemeClr val="tx1"/>
                          </a:solidFill>
                          <a:effectLst/>
                          <a:latin typeface="+mn-lt"/>
                          <a:ea typeface="+mn-ea"/>
                          <a:cs typeface="+mn-cs"/>
                        </a:rPr>
                        <a:t>, </a:t>
                      </a:r>
                      <a:r>
                        <a:rPr lang="uz-Cyrl-UZ" sz="900" b="0" kern="1200" dirty="0">
                          <a:solidFill>
                            <a:schemeClr val="tx1"/>
                          </a:solidFill>
                          <a:effectLst/>
                          <a:latin typeface="+mn-lt"/>
                          <a:ea typeface="+mn-ea"/>
                          <a:cs typeface="+mn-cs"/>
                        </a:rPr>
                        <a:t>Андижон вилоят мусиқали драма </a:t>
                      </a:r>
                      <a:r>
                        <a:rPr lang="uz-Cyrl-UZ" sz="900" b="0" kern="1200" dirty="0" smtClean="0">
                          <a:solidFill>
                            <a:schemeClr val="tx1"/>
                          </a:solidFill>
                          <a:effectLst/>
                          <a:latin typeface="+mn-lt"/>
                          <a:ea typeface="+mn-ea"/>
                          <a:cs typeface="+mn-cs"/>
                        </a:rPr>
                        <a:t>театри</a:t>
                      </a:r>
                      <a:br>
                        <a:rPr lang="uz-Cyrl-UZ" sz="900" b="0" kern="1200" dirty="0" smtClean="0">
                          <a:solidFill>
                            <a:schemeClr val="tx1"/>
                          </a:solidFill>
                          <a:effectLst/>
                          <a:latin typeface="+mn-lt"/>
                          <a:ea typeface="+mn-ea"/>
                          <a:cs typeface="+mn-cs"/>
                        </a:rPr>
                      </a:br>
                      <a:r>
                        <a:rPr lang="uz-Cyrl-UZ" sz="900" b="0" kern="1200" dirty="0" smtClean="0">
                          <a:solidFill>
                            <a:schemeClr val="tx1"/>
                          </a:solidFill>
                          <a:effectLst/>
                          <a:latin typeface="+mn-lt"/>
                          <a:ea typeface="+mn-ea"/>
                          <a:cs typeface="+mn-cs"/>
                        </a:rPr>
                        <a:t>1-даражали </a:t>
                      </a:r>
                      <a:r>
                        <a:rPr lang="uz-Cyrl-UZ" sz="900" b="0" kern="1200" dirty="0">
                          <a:solidFill>
                            <a:schemeClr val="tx1"/>
                          </a:solidFill>
                          <a:effectLst/>
                          <a:latin typeface="+mn-lt"/>
                          <a:ea typeface="+mn-ea"/>
                          <a:cs typeface="+mn-cs"/>
                        </a:rPr>
                        <a:t>драма артисти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183214">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5164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58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4123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53499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1969-1988 йй. – Андижон вилоят мусиқали драма театри актёри </a:t>
                      </a:r>
                    </a:p>
                    <a:p>
                      <a:pPr marL="0" marR="0" lvl="0" indent="0" algn="l"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1988-2021 йй.- Андижон вилоят Ёшлар театри  актёри </a:t>
                      </a:r>
                    </a:p>
                    <a:p>
                      <a:pPr marL="0" marR="0" lvl="0" indent="0" algn="l"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2021 й. х.в - Андижон вилоят мусиқали драма театри актёри </a:t>
                      </a:r>
                    </a:p>
                    <a:p>
                      <a:pPr marL="0" marR="0" lvl="0" indent="0" algn="l"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p>
                      <a:pPr algn="l">
                        <a:lnSpc>
                          <a:spcPct val="107000"/>
                        </a:lnSpc>
                        <a:spcAft>
                          <a:spcPts val="0"/>
                        </a:spcAft>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7403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9437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2024 й. </a:t>
                      </a: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Шаҳар </a:t>
                      </a: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касалхонасида </a:t>
                      </a: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профилактика учун даволанган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74032">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18584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63388">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465836">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2009 й. Ўзбекистонда хизмат </a:t>
                      </a:r>
                      <a:r>
                        <a:rPr lang="uz-Cyrl-UZ" sz="900" noProof="0" dirty="0" smtClean="0">
                          <a:effectLst/>
                          <a:latin typeface="+mn-lt"/>
                          <a:ea typeface="Calibri" panose="020F0502020204030204" pitchFamily="34" charset="0"/>
                          <a:cs typeface="Times New Roman" panose="02020603050405020304" pitchFamily="18" charset="0"/>
                        </a:rPr>
                        <a:t>кўрсатган </a:t>
                      </a:r>
                      <a:r>
                        <a:rPr lang="uz-Cyrl-UZ" sz="900" noProof="0" dirty="0">
                          <a:effectLst/>
                          <a:latin typeface="+mn-lt"/>
                          <a:ea typeface="Calibri" panose="020F0502020204030204" pitchFamily="34" charset="0"/>
                          <a:cs typeface="Times New Roman" panose="02020603050405020304" pitchFamily="18" charset="0"/>
                        </a:rPr>
                        <a:t>артист</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961573465"/>
              </p:ext>
            </p:extLst>
          </p:nvPr>
        </p:nvGraphicFramePr>
        <p:xfrm>
          <a:off x="6916030" y="865688"/>
          <a:ext cx="2845481" cy="5774840"/>
        </p:xfrm>
        <a:graphic>
          <a:graphicData uri="http://schemas.openxmlformats.org/drawingml/2006/table">
            <a:tbl>
              <a:tblPr firstRow="1" bandRow="1">
                <a:tableStyleId>{C083E6E3-FA7D-4D7B-A595-EF9225AFEA82}</a:tableStyleId>
              </a:tblPr>
              <a:tblGrid>
                <a:gridCol w="2845481">
                  <a:extLst>
                    <a:ext uri="{9D8B030D-6E8A-4147-A177-3AD203B41FA5}">
                      <a16:colId xmlns:a16="http://schemas.microsoft.com/office/drawing/2014/main" val="2715609854"/>
                    </a:ext>
                  </a:extLst>
                </a:gridCol>
              </a:tblGrid>
              <a:tr h="257247">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73285">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340090">
                <a:tc>
                  <a:txBody>
                    <a:bodyPr/>
                    <a:lstStyle/>
                    <a:p>
                      <a:pPr marL="0" indent="179388" algn="just"/>
                      <a:r>
                        <a:rPr lang="uz-Cyrl-UZ" sz="900" kern="1200" dirty="0" smtClean="0">
                          <a:solidFill>
                            <a:schemeClr val="tx1"/>
                          </a:solidFill>
                          <a:effectLst/>
                          <a:latin typeface="+mn-lt"/>
                          <a:ea typeface="+mn-ea"/>
                          <a:cs typeface="+mn-cs"/>
                        </a:rPr>
                        <a:t>Анджион вилояти мусиқали драма театри </a:t>
                      </a:r>
                      <a:r>
                        <a:rPr lang="uz-Cyrl-UZ" sz="900" kern="1200" dirty="0">
                          <a:solidFill>
                            <a:schemeClr val="tx1"/>
                          </a:solidFill>
                          <a:effectLst/>
                          <a:latin typeface="+mn-lt"/>
                          <a:ea typeface="+mn-ea"/>
                          <a:cs typeface="+mn-cs"/>
                        </a:rPr>
                        <a:t>саҳнасида </a:t>
                      </a:r>
                      <a:r>
                        <a:rPr lang="uz-Cyrl-UZ" sz="900" kern="1200" dirty="0" smtClean="0">
                          <a:solidFill>
                            <a:schemeClr val="tx1"/>
                          </a:solidFill>
                          <a:effectLst/>
                          <a:latin typeface="+mn-lt"/>
                          <a:ea typeface="+mn-ea"/>
                          <a:cs typeface="+mn-cs"/>
                        </a:rPr>
                        <a:t>В.Шекспирнинг </a:t>
                      </a:r>
                      <a:r>
                        <a:rPr lang="uz-Cyrl-UZ" sz="900" kern="1200" dirty="0">
                          <a:solidFill>
                            <a:schemeClr val="tx1"/>
                          </a:solidFill>
                          <a:effectLst/>
                          <a:latin typeface="+mn-lt"/>
                          <a:ea typeface="+mn-ea"/>
                          <a:cs typeface="+mn-cs"/>
                        </a:rPr>
                        <a:t>“</a:t>
                      </a:r>
                      <a:r>
                        <a:rPr lang="uz-Cyrl-UZ" sz="900" kern="1200" dirty="0" smtClean="0">
                          <a:solidFill>
                            <a:schemeClr val="tx1"/>
                          </a:solidFill>
                          <a:effectLst/>
                          <a:latin typeface="+mn-lt"/>
                          <a:ea typeface="+mn-ea"/>
                          <a:cs typeface="+mn-cs"/>
                        </a:rPr>
                        <a:t>Ричард-3” </a:t>
                      </a:r>
                      <a:r>
                        <a:rPr lang="uz-Cyrl-UZ" sz="900" kern="1200" dirty="0">
                          <a:solidFill>
                            <a:schemeClr val="tx1"/>
                          </a:solidFill>
                          <a:effectLst/>
                          <a:latin typeface="+mn-lt"/>
                          <a:ea typeface="+mn-ea"/>
                          <a:cs typeface="+mn-cs"/>
                        </a:rPr>
                        <a:t>асари қўйилганда Ричард-111 ролини, “Қирол Лир” асари қўйилганда эса Қирол Лир ролини, “Отелло” асари қўйилганда Яго ролини, Восит Саъдулланинг “Салтанат ларзада” асарида Йўлбузар Охун ролини, Алп Жамолнинг “Меҳрибонлар” асарида Рустам ролини, Болгар драматурги Дрогомир Осеновнинг “Олтин билан таъминланганлар” асарида инженер Леков ролларини ва бошқа ўнлаб ролларни маҳорат билан ижро этган.</a:t>
                      </a:r>
                      <a:endParaRPr lang="ru-RU" sz="900" kern="1200" dirty="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У </a:t>
                      </a:r>
                      <a:r>
                        <a:rPr lang="uz-Cyrl-UZ" sz="900" kern="1200" dirty="0">
                          <a:solidFill>
                            <a:schemeClr val="tx1"/>
                          </a:solidFill>
                          <a:effectLst/>
                          <a:latin typeface="+mn-lt"/>
                          <a:ea typeface="+mn-ea"/>
                          <a:cs typeface="+mn-cs"/>
                        </a:rPr>
                        <a:t>Ёшлар театри саҳнасида ҳам кўплаб ролларни ижро этган. Жумладан, Шароф Бошбековнинг “Темир хотин” асаридаги Домла, Марат Азимовнинг “Балойи нафс” асаридаги Турғун Пўкон, Саид Анварнинг “Осмондан тушган одам” комедиясидаги Эргаш ака, Зиё Нажмийнинг “Занжирбанд шеър” асаридаги Гамлет, Маннон Ҳамидовнинг “Меҳр қолур”асаридаги Қора Ғаним, “Замоннинг синган ойнаси” асаридаги Лутфулло тоға, Саид Аҳмаднинг “Куёв” асаридаги Куёв, “Мирзо Улуғбек” асарида “Бобур.Соғинч” асарида Табиб,   ва бошқа ўнлаб ролларни маҳорат билан ижро этиб, томошабинлар ва мутахассисларнинг эътиборига сазовор бўлган.</a:t>
                      </a:r>
                      <a:endParaRPr lang="ru-RU" sz="900" kern="1200" dirty="0">
                        <a:solidFill>
                          <a:schemeClr val="tx1"/>
                        </a:solidFill>
                        <a:effectLst/>
                        <a:latin typeface="+mn-lt"/>
                        <a:ea typeface="+mn-ea"/>
                        <a:cs typeface="+mn-cs"/>
                      </a:endParaRPr>
                    </a:p>
                    <a:p>
                      <a:pPr marL="0" indent="179388" algn="just"/>
                      <a:r>
                        <a:rPr lang="uz-Cyrl-UZ" sz="900" kern="1200" dirty="0">
                          <a:solidFill>
                            <a:schemeClr val="tx1"/>
                          </a:solidFill>
                          <a:effectLst/>
                          <a:latin typeface="+mn-lt"/>
                          <a:ea typeface="+mn-ea"/>
                          <a:cs typeface="+mn-cs"/>
                        </a:rPr>
                        <a:t>   У режиссурага ҳам қўл урган. Жумладан, Бошқирд драматурги Наил Гаитбаевнинг “Билимдон Қуён”, Саъдулло Сиёевнинг “Ёрилтош”, Жўра Маҳмуднинг “Осмондан танга ёққан кун”, Назиржон Раҳимовнинг “Ниқоб”, Зиё Нажмийнинг “Қирқилган кокиллар” асарлари ана </a:t>
                      </a:r>
                      <a:r>
                        <a:rPr lang="uz-Cyrl-UZ" sz="900" kern="1200" dirty="0" smtClean="0">
                          <a:solidFill>
                            <a:schemeClr val="tx1"/>
                          </a:solidFill>
                          <a:effectLst/>
                          <a:latin typeface="+mn-lt"/>
                          <a:ea typeface="+mn-ea"/>
                          <a:cs typeface="+mn-cs"/>
                        </a:rPr>
                        <a:t>шулардандир.</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4207">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9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9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50011">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a:effectLst/>
                          <a:latin typeface="+mn-lt"/>
                          <a:ea typeface="Calibri" panose="020F0502020204030204" pitchFamily="34" charset="0"/>
                          <a:cs typeface="Times New Roman" panose="02020603050405020304" pitchFamily="18" charset="0"/>
                        </a:rPr>
                        <a:t>Республикамизда</a:t>
                      </a:r>
                      <a:r>
                        <a:rPr lang="uz-Cyrl-UZ" sz="900" b="0" baseline="0" dirty="0">
                          <a:effectLst/>
                          <a:latin typeface="+mn-lt"/>
                          <a:ea typeface="Calibri" panose="020F0502020204030204" pitchFamily="34" charset="0"/>
                          <a:cs typeface="Times New Roman" panose="02020603050405020304" pitchFamily="18" charset="0"/>
                        </a:rPr>
                        <a:t> </a:t>
                      </a:r>
                      <a:r>
                        <a:rPr lang="uz-Cyrl-UZ" sz="900" b="0" baseline="0" dirty="0" smtClean="0">
                          <a:effectLst/>
                          <a:latin typeface="+mn-lt"/>
                          <a:ea typeface="Calibri" panose="020F0502020204030204" pitchFamily="34" charset="0"/>
                          <a:cs typeface="Times New Roman" panose="02020603050405020304" pitchFamily="18" charset="0"/>
                        </a:rPr>
                        <a:t>ўтказиб </a:t>
                      </a:r>
                      <a:r>
                        <a:rPr lang="uz-Cyrl-UZ" sz="900" b="0" baseline="0" dirty="0">
                          <a:effectLst/>
                          <a:latin typeface="+mn-lt"/>
                          <a:ea typeface="Calibri" panose="020F0502020204030204" pitchFamily="34" charset="0"/>
                          <a:cs typeface="Times New Roman" panose="02020603050405020304" pitchFamily="18" charset="0"/>
                        </a:rPr>
                        <a:t>келинадиган барча оммавий </a:t>
                      </a:r>
                      <a:r>
                        <a:rPr lang="uz-Cyrl-UZ" sz="900" b="0" baseline="0" dirty="0" smtClean="0">
                          <a:effectLst/>
                          <a:latin typeface="+mn-lt"/>
                          <a:ea typeface="Calibri" panose="020F0502020204030204" pitchFamily="34" charset="0"/>
                          <a:cs typeface="Times New Roman" panose="02020603050405020304" pitchFamily="18" charset="0"/>
                        </a:rPr>
                        <a:t>маданий </a:t>
                      </a:r>
                      <a:r>
                        <a:rPr lang="uz-Cyrl-UZ" sz="900" b="0" baseline="0" dirty="0">
                          <a:effectLst/>
                          <a:latin typeface="+mn-lt"/>
                          <a:ea typeface="Calibri" panose="020F0502020204030204" pitchFamily="34" charset="0"/>
                          <a:cs typeface="Times New Roman" panose="02020603050405020304" pitchFamily="18" charset="0"/>
                        </a:rPr>
                        <a:t>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Picture 2" descr="IMG_20170111_182157">
            <a:extLst>
              <a:ext uri="{FF2B5EF4-FFF2-40B4-BE49-F238E27FC236}">
                <a16:creationId xmlns:a16="http://schemas.microsoft.com/office/drawing/2014/main" id="{245AD41E-0784-4B38-9EBC-E10E52DADB57}"/>
              </a:ext>
            </a:extLst>
          </p:cNvPr>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68603" y="1170774"/>
            <a:ext cx="838808" cy="10606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59972223"/>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510041629"/>
              </p:ext>
            </p:extLst>
          </p:nvPr>
        </p:nvGraphicFramePr>
        <p:xfrm>
          <a:off x="138895" y="865690"/>
          <a:ext cx="3346595" cy="5837114"/>
        </p:xfrm>
        <a:graphic>
          <a:graphicData uri="http://schemas.openxmlformats.org/drawingml/2006/table">
            <a:tbl>
              <a:tblPr firstRow="1" bandRow="1">
                <a:tableStyleId>{C083E6E3-FA7D-4D7B-A595-EF9225AFEA82}</a:tableStyleId>
              </a:tblPr>
              <a:tblGrid>
                <a:gridCol w="581133">
                  <a:extLst>
                    <a:ext uri="{9D8B030D-6E8A-4147-A177-3AD203B41FA5}">
                      <a16:colId xmlns:a16="http://schemas.microsoft.com/office/drawing/2014/main" val="2288412290"/>
                    </a:ext>
                  </a:extLst>
                </a:gridCol>
                <a:gridCol w="491651">
                  <a:extLst>
                    <a:ext uri="{9D8B030D-6E8A-4147-A177-3AD203B41FA5}">
                      <a16:colId xmlns:a16="http://schemas.microsoft.com/office/drawing/2014/main" val="1678982439"/>
                    </a:ext>
                  </a:extLst>
                </a:gridCol>
                <a:gridCol w="149873">
                  <a:extLst>
                    <a:ext uri="{9D8B030D-6E8A-4147-A177-3AD203B41FA5}">
                      <a16:colId xmlns:a16="http://schemas.microsoft.com/office/drawing/2014/main" val="2721661767"/>
                    </a:ext>
                  </a:extLst>
                </a:gridCol>
                <a:gridCol w="888716">
                  <a:extLst>
                    <a:ext uri="{9D8B030D-6E8A-4147-A177-3AD203B41FA5}">
                      <a16:colId xmlns:a16="http://schemas.microsoft.com/office/drawing/2014/main" val="546773760"/>
                    </a:ext>
                  </a:extLst>
                </a:gridCol>
                <a:gridCol w="1235222">
                  <a:extLst>
                    <a:ext uri="{9D8B030D-6E8A-4147-A177-3AD203B41FA5}">
                      <a16:colId xmlns:a16="http://schemas.microsoft.com/office/drawing/2014/main" val="546443978"/>
                    </a:ext>
                  </a:extLst>
                </a:gridCol>
              </a:tblGrid>
              <a:tr h="244174">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088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БОЙМАТОВА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088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Мавлудахон</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088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Рахматиллаевна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088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088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20.10.1956</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088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Андижон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712">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34476">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1 нафар қиз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нафақада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712">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13856">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БОЙМАТОВ Рахматулла </a:t>
                      </a:r>
                    </a:p>
                    <a:p>
                      <a:pPr algn="l">
                        <a:lnSpc>
                          <a:spcPct val="85000"/>
                        </a:lnSpc>
                      </a:pPr>
                      <a:r>
                        <a:rPr lang="uz-Cyrl-UZ" sz="900" b="0" kern="1200" noProof="0" dirty="0">
                          <a:solidFill>
                            <a:schemeClr val="tx1"/>
                          </a:solidFill>
                          <a:latin typeface="+mn-lt"/>
                          <a:ea typeface="+mn-ea"/>
                          <a:cs typeface="Arial" panose="020B0604020202020204" pitchFamily="34" charset="0"/>
                        </a:rPr>
                        <a:t>1930 йил, Андижон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2012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800" kern="1200" dirty="0" err="1">
                          <a:solidFill>
                            <a:schemeClr val="tx1"/>
                          </a:solidFill>
                          <a:effectLst/>
                          <a:latin typeface="+mn-lt"/>
                          <a:ea typeface="+mn-ea"/>
                          <a:cs typeface="+mn-cs"/>
                        </a:rPr>
                        <a:t>Жалақудуқ</a:t>
                      </a:r>
                      <a:r>
                        <a:rPr lang="ru-RU" sz="800" kern="1200" dirty="0">
                          <a:solidFill>
                            <a:schemeClr val="tx1"/>
                          </a:solidFill>
                          <a:effectLst/>
                          <a:latin typeface="+mn-lt"/>
                          <a:ea typeface="+mn-ea"/>
                          <a:cs typeface="+mn-cs"/>
                        </a:rPr>
                        <a:t> </a:t>
                      </a:r>
                      <a:r>
                        <a:rPr lang="ru-RU" sz="800" kern="1200" dirty="0" err="1">
                          <a:solidFill>
                            <a:schemeClr val="tx1"/>
                          </a:solidFill>
                          <a:effectLst/>
                          <a:latin typeface="+mn-lt"/>
                          <a:ea typeface="+mn-ea"/>
                          <a:cs typeface="+mn-cs"/>
                        </a:rPr>
                        <a:t>тумани</a:t>
                      </a:r>
                      <a:r>
                        <a:rPr lang="uz-Cyrl-UZ" sz="800" kern="1200" dirty="0">
                          <a:solidFill>
                            <a:schemeClr val="tx1"/>
                          </a:solidFill>
                          <a:effectLst/>
                          <a:latin typeface="+mn-lt"/>
                          <a:ea typeface="+mn-ea"/>
                          <a:cs typeface="+mn-cs"/>
                        </a:rPr>
                        <a:t> Ёрқишлоқ жамоа хўжалиги боғбони</a:t>
                      </a:r>
                      <a:endParaRPr lang="ru-RU" sz="8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4476">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БОЙМАТОВА Робияхон </a:t>
                      </a:r>
                    </a:p>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Arial" panose="020B0604020202020204" pitchFamily="34" charset="0"/>
                        </a:rPr>
                        <a:t>1933 йил, Андижон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1997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Уй</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бекаси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60957">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Ахунов Тошмухаммаддан Исоқжонович</a:t>
                      </a:r>
                    </a:p>
                    <a:p>
                      <a:pPr algn="l">
                        <a:lnSpc>
                          <a:spcPct val="85000"/>
                        </a:lnSpc>
                      </a:pPr>
                      <a:r>
                        <a:rPr lang="uz-Cyrl-UZ" sz="900" b="0" kern="1200" noProof="0" dirty="0">
                          <a:solidFill>
                            <a:schemeClr val="tx1"/>
                          </a:solidFill>
                          <a:latin typeface="+mn-lt"/>
                          <a:ea typeface="+mn-ea"/>
                          <a:cs typeface="Arial" panose="020B0604020202020204" pitchFamily="34" charset="0"/>
                        </a:rPr>
                        <a:t>1953 йил, Андижон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1000" b="0" kern="1200" noProof="0" dirty="0">
                          <a:solidFill>
                            <a:schemeClr val="tx1"/>
                          </a:solidFill>
                          <a:latin typeface="+mn-lt"/>
                          <a:ea typeface="+mn-ea"/>
                          <a:cs typeface="Arial" panose="020B0604020202020204" pitchFamily="34" charset="0"/>
                        </a:rPr>
                        <a:t>2024 </a:t>
                      </a:r>
                      <a:r>
                        <a:rPr lang="ru-RU" sz="1000" b="0" kern="1200" noProof="0" dirty="0" err="1">
                          <a:solidFill>
                            <a:schemeClr val="tx1"/>
                          </a:solidFill>
                          <a:latin typeface="+mn-lt"/>
                          <a:ea typeface="+mn-ea"/>
                          <a:cs typeface="Arial" panose="020B0604020202020204" pitchFamily="34" charset="0"/>
                        </a:rPr>
                        <a:t>йил</a:t>
                      </a:r>
                      <a:r>
                        <a:rPr lang="ru-RU" sz="1000" b="0" kern="1200" noProof="0" dirty="0">
                          <a:solidFill>
                            <a:schemeClr val="tx1"/>
                          </a:solidFill>
                          <a:latin typeface="+mn-lt"/>
                          <a:ea typeface="+mn-ea"/>
                          <a:cs typeface="Arial" panose="020B0604020202020204" pitchFamily="34" charset="0"/>
                        </a:rPr>
                        <a:t> </a:t>
                      </a:r>
                      <a:r>
                        <a:rPr lang="ru-RU" sz="1000" b="0" kern="1200" noProof="0" dirty="0" err="1">
                          <a:solidFill>
                            <a:schemeClr val="tx1"/>
                          </a:solidFill>
                          <a:latin typeface="+mn-lt"/>
                          <a:ea typeface="+mn-ea"/>
                          <a:cs typeface="Arial" panose="020B0604020202020204" pitchFamily="34" charset="0"/>
                        </a:rPr>
                        <a:t>вафот</a:t>
                      </a:r>
                      <a:r>
                        <a:rPr lang="ru-RU" sz="1000" b="0" kern="1200" noProof="0" dirty="0">
                          <a:solidFill>
                            <a:schemeClr val="tx1"/>
                          </a:solidFill>
                          <a:latin typeface="+mn-lt"/>
                          <a:ea typeface="+mn-ea"/>
                          <a:cs typeface="Arial" panose="020B0604020202020204" pitchFamily="34" charset="0"/>
                        </a:rPr>
                        <a:t> </a:t>
                      </a:r>
                      <a:r>
                        <a:rPr lang="ru-RU" sz="1000" b="0" kern="1200" noProof="0" dirty="0" err="1">
                          <a:solidFill>
                            <a:schemeClr val="tx1"/>
                          </a:solidFill>
                          <a:latin typeface="+mn-lt"/>
                          <a:ea typeface="+mn-ea"/>
                          <a:cs typeface="Arial" panose="020B0604020202020204" pitchFamily="34" charset="0"/>
                        </a:rPr>
                        <a:t>этган</a:t>
                      </a:r>
                      <a:endParaRPr lang="ru-RU" sz="1000" b="0" kern="1200" noProof="0" dirty="0">
                        <a:solidFill>
                          <a:schemeClr val="tx1"/>
                        </a:solidFill>
                        <a:latin typeface="+mn-lt"/>
                        <a:ea typeface="+mn-ea"/>
                        <a:cs typeface="Arial" panose="020B0604020202020204" pitchFamily="34" charset="0"/>
                      </a:endParaRPr>
                    </a:p>
                    <a:p>
                      <a:pPr algn="l">
                        <a:lnSpc>
                          <a:spcPct val="85000"/>
                        </a:lnSpc>
                      </a:pPr>
                      <a:r>
                        <a:rPr lang="uz-Cyrl-UZ" sz="900" b="0" kern="1200" noProof="0" dirty="0">
                          <a:solidFill>
                            <a:schemeClr val="tx1"/>
                          </a:solidFill>
                          <a:effectLst/>
                          <a:latin typeface="+mn-lt"/>
                          <a:ea typeface="+mn-ea"/>
                          <a:cs typeface="+mn-cs"/>
                        </a:rPr>
                        <a:t>Т</a:t>
                      </a:r>
                      <a:r>
                        <a:rPr lang="ru-RU" sz="900" b="0" kern="1200" noProof="0" dirty="0" err="1">
                          <a:solidFill>
                            <a:schemeClr val="tx1"/>
                          </a:solidFill>
                          <a:effectLst/>
                          <a:latin typeface="+mn-lt"/>
                          <a:ea typeface="+mn-ea"/>
                          <a:cs typeface="+mn-cs"/>
                        </a:rPr>
                        <a:t>адбиркор</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8347">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483681">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2006 й. </a:t>
                      </a:r>
                      <a:r>
                        <a:rPr lang="ru-RU" sz="900" b="0" kern="1200" noProof="0" dirty="0" err="1">
                          <a:solidFill>
                            <a:schemeClr val="tx1"/>
                          </a:solidFill>
                          <a:latin typeface="+mn-lt"/>
                          <a:ea typeface="+mn-ea"/>
                          <a:cs typeface="+mn-cs"/>
                        </a:rPr>
                        <a:t>Андижон</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Университети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сиртқи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6135">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Мусиқий таълим</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5310">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5310">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60164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228044268"/>
              </p:ext>
            </p:extLst>
          </p:nvPr>
        </p:nvGraphicFramePr>
        <p:xfrm>
          <a:off x="3690455" y="865689"/>
          <a:ext cx="3037020" cy="5853893"/>
        </p:xfrm>
        <a:graphic>
          <a:graphicData uri="http://schemas.openxmlformats.org/drawingml/2006/table">
            <a:tbl>
              <a:tblPr firstRow="1" bandRow="1">
                <a:tableStyleId>{C083E6E3-FA7D-4D7B-A595-EF9225AFEA82}</a:tableStyleId>
              </a:tblPr>
              <a:tblGrid>
                <a:gridCol w="1458268">
                  <a:extLst>
                    <a:ext uri="{9D8B030D-6E8A-4147-A177-3AD203B41FA5}">
                      <a16:colId xmlns:a16="http://schemas.microsoft.com/office/drawing/2014/main" val="2715609854"/>
                    </a:ext>
                  </a:extLst>
                </a:gridCol>
                <a:gridCol w="1578752">
                  <a:extLst>
                    <a:ext uri="{9D8B030D-6E8A-4147-A177-3AD203B41FA5}">
                      <a16:colId xmlns:a16="http://schemas.microsoft.com/office/drawing/2014/main" val="546443978"/>
                    </a:ext>
                  </a:extLst>
                </a:gridCol>
              </a:tblGrid>
              <a:tr h="307363">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91646">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2011 йилдан буён Нафақада</a:t>
                      </a:r>
                      <a:r>
                        <a:rPr lang="uz-Cyrl-UZ" sz="900" b="1" kern="1200" dirty="0">
                          <a:solidFill>
                            <a:schemeClr val="tx1"/>
                          </a:solidFill>
                          <a:effectLst/>
                          <a:latin typeface="+mn-lt"/>
                          <a:ea typeface="+mn-ea"/>
                          <a:cs typeface="+mn-cs"/>
                        </a:rPr>
                        <a:t>, </a:t>
                      </a:r>
                      <a:r>
                        <a:rPr lang="uz-Cyrl-UZ" sz="900" b="0" kern="1200" dirty="0">
                          <a:solidFill>
                            <a:schemeClr val="tx1"/>
                          </a:solidFill>
                          <a:effectLst/>
                          <a:latin typeface="+mn-lt"/>
                          <a:ea typeface="+mn-ea"/>
                          <a:cs typeface="+mn-cs"/>
                        </a:rPr>
                        <a:t>Андижон вилоят мусиқали драма театри, Етакчи </a:t>
                      </a:r>
                      <a:r>
                        <a:rPr lang="uz-Cyrl-UZ" sz="900" b="0" kern="1200" dirty="0" smtClean="0">
                          <a:solidFill>
                            <a:schemeClr val="tx1"/>
                          </a:solidFill>
                          <a:effectLst/>
                          <a:latin typeface="+mn-lt"/>
                          <a:ea typeface="+mn-ea"/>
                          <a:cs typeface="+mn-cs"/>
                        </a:rPr>
                        <a:t>саҳна </a:t>
                      </a:r>
                      <a:r>
                        <a:rPr lang="uz-Cyrl-UZ" sz="900" b="0" kern="1200" dirty="0">
                          <a:solidFill>
                            <a:schemeClr val="tx1"/>
                          </a:solidFill>
                          <a:effectLst/>
                          <a:latin typeface="+mn-lt"/>
                          <a:ea typeface="+mn-ea"/>
                          <a:cs typeface="+mn-cs"/>
                        </a:rPr>
                        <a:t>устаси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29346">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9742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47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387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11497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noProof="0" dirty="0">
                        <a:effectLst/>
                        <a:latin typeface="+mn-lt"/>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йўқ.</a:t>
                      </a:r>
                      <a:endParaRPr lang="uz-Cyrl-UZ" sz="900" noProof="0" dirty="0">
                        <a:effectLst/>
                        <a:latin typeface="+mn-lt"/>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p>
                      <a:pPr algn="l">
                        <a:lnSpc>
                          <a:spcPct val="107000"/>
                        </a:lnSpc>
                        <a:spcAft>
                          <a:spcPts val="0"/>
                        </a:spcAft>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13510">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13510">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2024 й. Андижон шахар касалхонасида даволанган</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13510">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41949">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2719">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834071">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1987 й. Ўзбекистонда хизмат </a:t>
                      </a:r>
                      <a:r>
                        <a:rPr lang="uz-Cyrl-UZ" sz="900" noProof="0" dirty="0" smtClean="0">
                          <a:effectLst/>
                          <a:latin typeface="+mn-lt"/>
                          <a:ea typeface="Calibri" panose="020F0502020204030204" pitchFamily="34" charset="0"/>
                          <a:cs typeface="Times New Roman" panose="02020603050405020304" pitchFamily="18" charset="0"/>
                        </a:rPr>
                        <a:t>кўрсатган </a:t>
                      </a:r>
                      <a:r>
                        <a:rPr lang="uz-Cyrl-UZ" sz="900" noProof="0" dirty="0">
                          <a:effectLst/>
                          <a:latin typeface="+mn-lt"/>
                          <a:ea typeface="Calibri" panose="020F0502020204030204" pitchFamily="34" charset="0"/>
                          <a:cs typeface="Times New Roman" panose="02020603050405020304" pitchFamily="18" charset="0"/>
                        </a:rPr>
                        <a:t>артист</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4171822123"/>
              </p:ext>
            </p:extLst>
          </p:nvPr>
        </p:nvGraphicFramePr>
        <p:xfrm>
          <a:off x="6916029" y="865689"/>
          <a:ext cx="2845482" cy="5837276"/>
        </p:xfrm>
        <a:graphic>
          <a:graphicData uri="http://schemas.openxmlformats.org/drawingml/2006/table">
            <a:tbl>
              <a:tblPr firstRow="1" bandRow="1">
                <a:tableStyleId>{C083E6E3-FA7D-4D7B-A595-EF9225AFEA82}</a:tableStyleId>
              </a:tblPr>
              <a:tblGrid>
                <a:gridCol w="2845482">
                  <a:extLst>
                    <a:ext uri="{9D8B030D-6E8A-4147-A177-3AD203B41FA5}">
                      <a16:colId xmlns:a16="http://schemas.microsoft.com/office/drawing/2014/main" val="2715609854"/>
                    </a:ext>
                  </a:extLst>
                </a:gridCol>
              </a:tblGrid>
              <a:tr h="242679">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2146">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478892">
                <a:tc>
                  <a:txBody>
                    <a:bodyPr/>
                    <a:lstStyle/>
                    <a:p>
                      <a:pPr marL="0" indent="179388" algn="just"/>
                      <a:r>
                        <a:rPr lang="uz-Cyrl-UZ" sz="900" b="0" kern="1200" dirty="0">
                          <a:solidFill>
                            <a:schemeClr val="tx1"/>
                          </a:solidFill>
                          <a:effectLst/>
                          <a:latin typeface="+mn-lt"/>
                          <a:ea typeface="+mn-ea"/>
                          <a:cs typeface="+mn-cs"/>
                        </a:rPr>
                        <a:t>М.Бойматова исътедодли актёр сифатида “Бобур”да малика Байда, “Чўлпон”да Солиҳа, “Алпомишнинг қайтиши”да Кунтуғмишбека, “Юсуф ва Зулайҳо”да Зулайҳо, “Тохир ва Зуҳра”да Зуҳра, “Гулсара”да Гулсара, “Нодирабегим”да Нодирабегим, “Холисхон”да Холисхон, “Меҳробдан чаён”да Раъно, “Фарғона тонг отгунча”да Ҳаётхон, “Гулсиёҳ”да Амал, “Дийдор”да Зеби, “Садоқат”да Маҳбуба, “Она қизим”да Чарос, “Сув келтирган азиз”да Зуҳра, “Оқибат”да Анзират, “Қилмиш-қидирмиш”да инжиқ кампир, “Маккора”да Салима опа, “Оқ халатли фаришталар”да Меҳри ҳола, “Тўйлар муборак”да Кимё ҳола, “Танҳо юлдуз”да Жамила, “Танҳо юлдуз-2”да Жамила,  “Аёл кечирмайди”да Мастура Ҳамидовна ва бошқа 100 дан ортиқ ролларни маҳорат билан ижро этиб мутахассислар эътирофи ва томошабинлар олқишига сазовор бўлди</a:t>
                      </a:r>
                      <a:r>
                        <a:rPr lang="uz-Cyrl-UZ" sz="900" b="0" kern="1200" dirty="0" smtClean="0">
                          <a:solidFill>
                            <a:schemeClr val="tx1"/>
                          </a:solidFill>
                          <a:effectLst/>
                          <a:latin typeface="+mn-lt"/>
                          <a:ea typeface="+mn-ea"/>
                          <a:cs typeface="+mn-cs"/>
                        </a:rPr>
                        <a:t>. </a:t>
                      </a:r>
                    </a:p>
                    <a:p>
                      <a:pPr marL="0" indent="179388" algn="just"/>
                      <a:r>
                        <a:rPr lang="uz-Cyrl-UZ" sz="900" b="0" kern="1200" dirty="0" smtClean="0">
                          <a:solidFill>
                            <a:schemeClr val="tx1"/>
                          </a:solidFill>
                          <a:effectLst/>
                          <a:latin typeface="+mn-lt"/>
                          <a:ea typeface="+mn-ea"/>
                          <a:cs typeface="+mn-cs"/>
                        </a:rPr>
                        <a:t>У </a:t>
                      </a:r>
                      <a:r>
                        <a:rPr lang="uz-Cyrl-UZ" sz="900" b="0" kern="1200" dirty="0">
                          <a:solidFill>
                            <a:schemeClr val="tx1"/>
                          </a:solidFill>
                          <a:effectLst/>
                          <a:latin typeface="+mn-lt"/>
                          <a:ea typeface="+mn-ea"/>
                          <a:cs typeface="+mn-cs"/>
                        </a:rPr>
                        <a:t>театр билан бир қаторда кино соҳасида ҳам самарали фаолият кўрсатиб келади. М.Бойматова “Бозор кўрмаган йигит”да Муҳайёнинг опаси, “Меҳробдан чаён”да Қумри, “Бурч”да Инженер хотин, “Жаҳолат қурбони”, “Чимилдиқ ортидаги фарёд”да Она, “Қуюн”да Она каби образлари билан видеофильмларда, “Қонли олишув”да Наимнинг хотини, “Сенсан севарим”, “Силсила”, “Ойсиз тунлар”да Она, “Гумон”да Қайнона, “Хўп бўлади жоним”да Қўшни, “Рух 5.13”да Она сингари турли талқиндаги образларни маромига етказиб ижро этди.Бундан ташқари, Андижон телерадиокомпаниясининг “Инсон ўзинг” деб номланган кўрсатувида </a:t>
                      </a:r>
                      <a:r>
                        <a:rPr lang="uz-Cyrl-UZ" sz="900" b="0" kern="1200" dirty="0" smtClean="0">
                          <a:solidFill>
                            <a:schemeClr val="tx1"/>
                          </a:solidFill>
                          <a:effectLst/>
                          <a:latin typeface="+mn-lt"/>
                          <a:ea typeface="+mn-ea"/>
                          <a:cs typeface="+mn-cs"/>
                        </a:rPr>
                        <a:t>мунтазам </a:t>
                      </a:r>
                      <a:r>
                        <a:rPr lang="uz-Cyrl-UZ" sz="900" b="0" kern="1200" dirty="0">
                          <a:solidFill>
                            <a:schemeClr val="tx1"/>
                          </a:solidFill>
                          <a:effectLst/>
                          <a:latin typeface="+mn-lt"/>
                          <a:ea typeface="+mn-ea"/>
                          <a:cs typeface="+mn-cs"/>
                        </a:rPr>
                        <a:t>иштирок этиб келади</a:t>
                      </a:r>
                      <a:r>
                        <a:rPr lang="uz-Cyrl-UZ" sz="900" b="0" kern="1200" dirty="0" smtClean="0">
                          <a:solidFill>
                            <a:schemeClr val="tx1"/>
                          </a:solidFill>
                          <a:effectLst/>
                          <a:latin typeface="+mn-lt"/>
                          <a:ea typeface="+mn-ea"/>
                          <a:cs typeface="+mn-cs"/>
                        </a:rPr>
                        <a:t>.</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0358">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900" b="0"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900" b="0"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13201">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a:effectLst/>
                          <a:latin typeface="+mn-lt"/>
                          <a:ea typeface="Calibri" panose="020F0502020204030204" pitchFamily="34" charset="0"/>
                          <a:cs typeface="Times New Roman" panose="02020603050405020304" pitchFamily="18" charset="0"/>
                        </a:rPr>
                        <a:t>Республикамизда</a:t>
                      </a:r>
                      <a:r>
                        <a:rPr lang="uz-Cyrl-UZ" sz="900" b="0" baseline="0" dirty="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a:extLst>
              <a:ext uri="{FF2B5EF4-FFF2-40B4-BE49-F238E27FC236}">
                <a16:creationId xmlns:a16="http://schemas.microsoft.com/office/drawing/2014/main" id="{5EB746B0-38BA-4EE5-BD73-B469BA9E3BB5}"/>
              </a:ext>
            </a:extLst>
          </p:cNvPr>
          <p:cNvPicPr>
            <a:picLocks noChangeAspect="1"/>
          </p:cNvPicPr>
          <p:nvPr/>
        </p:nvPicPr>
        <p:blipFill>
          <a:blip r:embed="rId2"/>
          <a:stretch>
            <a:fillRect/>
          </a:stretch>
        </p:blipFill>
        <p:spPr>
          <a:xfrm>
            <a:off x="247330" y="1141686"/>
            <a:ext cx="889260" cy="1063128"/>
          </a:xfrm>
          <a:prstGeom prst="rect">
            <a:avLst/>
          </a:prstGeom>
        </p:spPr>
      </p:pic>
    </p:spTree>
    <p:extLst>
      <p:ext uri="{BB962C8B-B14F-4D97-AF65-F5344CB8AC3E}">
        <p14:creationId xmlns:p14="http://schemas.microsoft.com/office/powerpoint/2010/main" val="1015669631"/>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4088329026"/>
              </p:ext>
            </p:extLst>
          </p:nvPr>
        </p:nvGraphicFramePr>
        <p:xfrm>
          <a:off x="144489" y="865698"/>
          <a:ext cx="3427547" cy="5862273"/>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837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285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Ю</a:t>
                      </a:r>
                      <a:r>
                        <a:rPr lang="ru-RU" sz="900" b="0" kern="1200" dirty="0">
                          <a:solidFill>
                            <a:schemeClr val="tx1"/>
                          </a:solidFill>
                          <a:latin typeface="+mn-lt"/>
                          <a:ea typeface="+mn-ea"/>
                          <a:cs typeface="+mn-cs"/>
                        </a:rPr>
                        <a:t>НУСОВ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285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Хабибулло</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285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Акбарович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285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285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07.04.1961</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285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Андижон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5699">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23433">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ўғил, 2 нафар қиз фарзанди бор, ҳозирда нафақада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5699">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36217">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ЮНУСОВ Акбар</a:t>
                      </a:r>
                    </a:p>
                    <a:p>
                      <a:pPr algn="l">
                        <a:lnSpc>
                          <a:spcPct val="85000"/>
                        </a:lnSpc>
                      </a:pPr>
                      <a:r>
                        <a:rPr lang="uz-Cyrl-UZ" sz="900" b="0" kern="1200" noProof="0" dirty="0">
                          <a:solidFill>
                            <a:schemeClr val="tx1"/>
                          </a:solidFill>
                          <a:latin typeface="+mn-lt"/>
                          <a:ea typeface="+mn-ea"/>
                          <a:cs typeface="Arial" panose="020B0604020202020204" pitchFamily="34" charset="0"/>
                        </a:rPr>
                        <a:t>1910 йил, Андижон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1982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uz-Cyrl-UZ" sz="800" kern="1200" dirty="0">
                          <a:solidFill>
                            <a:schemeClr val="tx1"/>
                          </a:solidFill>
                          <a:effectLst/>
                          <a:latin typeface="+mn-lt"/>
                          <a:ea typeface="+mn-ea"/>
                          <a:cs typeface="+mn-cs"/>
                        </a:rPr>
                        <a:t>Андижон вилояти умумий овқатланиш тармоғи ғазначиси</a:t>
                      </a:r>
                      <a:endParaRPr lang="ru-RU" sz="8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40895">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ЮНУСОВА Махбубахон</a:t>
                      </a:r>
                    </a:p>
                    <a:p>
                      <a:pPr algn="l">
                        <a:lnSpc>
                          <a:spcPct val="85000"/>
                        </a:lnSpc>
                      </a:pPr>
                      <a:r>
                        <a:rPr lang="uz-Cyrl-UZ" sz="900" b="0" kern="1200" noProof="0" dirty="0">
                          <a:solidFill>
                            <a:schemeClr val="tx1"/>
                          </a:solidFill>
                          <a:latin typeface="+mn-lt"/>
                          <a:ea typeface="+mn-ea"/>
                          <a:cs typeface="Arial" panose="020B0604020202020204" pitchFamily="34" charset="0"/>
                        </a:rPr>
                        <a:t>1920 йил, Андижон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2002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uz-Cyrl-UZ" sz="900" b="0" kern="1200" noProof="0" dirty="0">
                          <a:solidFill>
                            <a:schemeClr val="tx1"/>
                          </a:solidFill>
                          <a:latin typeface="+mn-lt"/>
                          <a:ea typeface="+mn-ea"/>
                          <a:cs typeface="Arial" panose="020B0604020202020204" pitchFamily="34" charset="0"/>
                        </a:rPr>
                        <a:t>Уй бекаси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40895">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ЮНУСОВА Дилбархон Нўгайбаевна</a:t>
                      </a:r>
                    </a:p>
                    <a:p>
                      <a:pPr algn="l">
                        <a:lnSpc>
                          <a:spcPct val="85000"/>
                        </a:lnSpc>
                      </a:pPr>
                      <a:r>
                        <a:rPr lang="uz-Cyrl-UZ" sz="900" b="0" kern="1200" noProof="0" dirty="0">
                          <a:solidFill>
                            <a:schemeClr val="tx1"/>
                          </a:solidFill>
                          <a:latin typeface="+mn-lt"/>
                          <a:ea typeface="+mn-ea"/>
                          <a:cs typeface="Arial" panose="020B0604020202020204" pitchFamily="34" charset="0"/>
                        </a:rPr>
                        <a:t>1966 йил, Андижон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Уй бекаси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1931">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37045">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1983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маданият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80060">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оммавий байрамлар режиссёрлиги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9679">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9679">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75517">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776110139"/>
              </p:ext>
            </p:extLst>
          </p:nvPr>
        </p:nvGraphicFramePr>
        <p:xfrm>
          <a:off x="3674526" y="865689"/>
          <a:ext cx="3172841" cy="578678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6232">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49684">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2014 йилдан буён Нафақада</a:t>
                      </a:r>
                      <a:r>
                        <a:rPr lang="uz-Cyrl-UZ" sz="900" b="1" kern="1200" dirty="0">
                          <a:solidFill>
                            <a:schemeClr val="tx1"/>
                          </a:solidFill>
                          <a:effectLst/>
                          <a:latin typeface="+mn-lt"/>
                          <a:ea typeface="+mn-ea"/>
                          <a:cs typeface="+mn-cs"/>
                        </a:rPr>
                        <a:t>, </a:t>
                      </a:r>
                      <a:r>
                        <a:rPr lang="uz-Cyrl-UZ" sz="900" b="0" kern="1200" dirty="0">
                          <a:solidFill>
                            <a:schemeClr val="tx1"/>
                          </a:solidFill>
                          <a:effectLst/>
                          <a:latin typeface="+mn-lt"/>
                          <a:ea typeface="+mn-ea"/>
                          <a:cs typeface="+mn-cs"/>
                        </a:rPr>
                        <a:t>Андижон вилоят мусиқали драма театри, Етакчи сахна устаси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0888">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596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48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14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528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1983-й.х.в – Андижон вилоят мусиқали драма театри актёри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8407">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840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2025 й. “Ором” сиҳатгоҳида даволанган</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840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467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2699">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944991">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2001 й. Ўзбекистонда хизмат </a:t>
                      </a:r>
                      <a:r>
                        <a:rPr lang="uz-Cyrl-UZ" sz="900" noProof="0" dirty="0" smtClean="0">
                          <a:effectLst/>
                          <a:latin typeface="+mn-lt"/>
                          <a:ea typeface="Calibri" panose="020F0502020204030204" pitchFamily="34" charset="0"/>
                          <a:cs typeface="Times New Roman" panose="02020603050405020304" pitchFamily="18" charset="0"/>
                        </a:rPr>
                        <a:t>кўрсатган </a:t>
                      </a:r>
                      <a:r>
                        <a:rPr lang="uz-Cyrl-UZ" sz="900" noProof="0" dirty="0">
                          <a:effectLst/>
                          <a:latin typeface="+mn-lt"/>
                          <a:ea typeface="Calibri" panose="020F0502020204030204" pitchFamily="34" charset="0"/>
                          <a:cs typeface="Times New Roman" panose="02020603050405020304" pitchFamily="18" charset="0"/>
                        </a:rPr>
                        <a:t>артист</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756428240"/>
              </p:ext>
            </p:extLst>
          </p:nvPr>
        </p:nvGraphicFramePr>
        <p:xfrm>
          <a:off x="6949857" y="784453"/>
          <a:ext cx="2817247" cy="5889620"/>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25013">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6511">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505846">
                <a:tc>
                  <a:txBody>
                    <a:bodyPr/>
                    <a:lstStyle/>
                    <a:p>
                      <a:pPr marL="0" indent="179388" algn="just"/>
                      <a:r>
                        <a:rPr lang="uz-Cyrl-UZ" sz="900" b="0" kern="1200" dirty="0" smtClean="0">
                          <a:solidFill>
                            <a:schemeClr val="tx1"/>
                          </a:solidFill>
                          <a:effectLst/>
                          <a:latin typeface="+mn-lt"/>
                          <a:ea typeface="+mn-ea"/>
                          <a:cs typeface="+mn-cs"/>
                        </a:rPr>
                        <a:t>Унинг </a:t>
                      </a:r>
                      <a:r>
                        <a:rPr lang="uz-Cyrl-UZ" sz="900" b="0" kern="1200" dirty="0">
                          <a:solidFill>
                            <a:schemeClr val="tx1"/>
                          </a:solidFill>
                          <a:effectLst/>
                          <a:latin typeface="+mn-lt"/>
                          <a:ea typeface="+mn-ea"/>
                          <a:cs typeface="+mn-cs"/>
                        </a:rPr>
                        <a:t>ижросидаги “Бобур” спектаклида Аҳмад Чошнагир, “Умр эгови”да Найнов, “Элфалик меҳмон”да Санжар, “Ғаройиб дори”да Аҳмад Лағмон, “Унутилган одам”да Қотил бола, “Тобутдан товуш”да Юсуф, “Тоҳир ва Зуҳра”да Жуманиёз, “Афанди ё шоҳ”да Алиш, “Хазон бўлган ёшлигим”да Рустам, “Охирги сўз”да Қўчқорбойвачча, “Чорраҳа”да Мурод, “Зебунисо”да Шаҳзода Мурод, “Лайли ва Мажнун”да Ибн Салом, “Ноёб нусха”да Носир, “Миркомилбой”да Бидилин, “Онаизор”да Телик, “Бир кам дунё”да Мурод, “Дийдор”да Ғуломжон, “Тиригида асранг инсонни”да Пўлатжон, “Тирик етимлар”да Бутир, “Олтин юрак”да Соли, “Темир хотин”да Олимтой, “Бир кам юз тилло”да Эшмат, “Элфурушнинг ўлими”да Шоҳ Мурод, “Ричард III”да Кетсби, “Шайтон ва Фаришта”да Қобил, “Алпомишни қайтиши”да Ултонтоз, “Излаб”да Шердор, “Ой тутилган кечалар”да Сотқин, “Ғалвиршоҳ салтанатининг ҳангомалари”да Ғалвиршоҳ, “Тўда”да тўдабоши Суҳроб, “Чархикажрафтор”да Фарҳод Иноғомов, “Дилрабонинг она тумори”да Сарвар, “Шайтоннинг гапига кириб”да Раҳим, “Жаннатнинг эшига бор...”да Расул, “Танҳо юлдуз”да Мурод, “Оқ халатли фаришталар”да Шокиржон Абдуллаев каби турли талқиндаги катта ва кичик роллари орқали мутахассислар эътирофига ва томошабинлар олқишига сазовор бўлди.У ўзининг роллари орқали келжак авлод онгида ватанга муҳаббат, садоқат, ота-онага ва катталарга ҳурмат, кичикларга иззат каби тарбиявий ғояларни сингдириш орқали мамлакатимиз ёшларининг маънавий муҳитини янада шакллантиришда ўзининг салмоқли ҳиссасини қўшиб </a:t>
                      </a:r>
                      <a:r>
                        <a:rPr lang="uz-Cyrl-UZ" sz="900" b="0" kern="1200" dirty="0" smtClean="0">
                          <a:solidFill>
                            <a:schemeClr val="tx1"/>
                          </a:solidFill>
                          <a:effectLst/>
                          <a:latin typeface="+mn-lt"/>
                          <a:ea typeface="+mn-ea"/>
                          <a:cs typeface="+mn-cs"/>
                        </a:rPr>
                        <a:t>келмоқда.</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7360">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7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7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68564">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800" b="0" dirty="0">
                          <a:effectLst/>
                          <a:latin typeface="+mn-lt"/>
                          <a:ea typeface="Calibri" panose="020F0502020204030204" pitchFamily="34" charset="0"/>
                          <a:cs typeface="Times New Roman" panose="02020603050405020304" pitchFamily="18" charset="0"/>
                        </a:rPr>
                        <a:t>Республикамизда</a:t>
                      </a:r>
                      <a:r>
                        <a:rPr lang="uz-Cyrl-UZ" sz="800" b="0" baseline="0" dirty="0">
                          <a:effectLst/>
                          <a:latin typeface="+mn-lt"/>
                          <a:ea typeface="Calibri" panose="020F0502020204030204" pitchFamily="34" charset="0"/>
                          <a:cs typeface="Times New Roman" panose="02020603050405020304" pitchFamily="18" charset="0"/>
                        </a:rPr>
                        <a:t> </a:t>
                      </a:r>
                      <a:r>
                        <a:rPr lang="uz-Cyrl-UZ" sz="800" b="0" baseline="0" dirty="0" smtClean="0">
                          <a:effectLst/>
                          <a:latin typeface="+mn-lt"/>
                          <a:ea typeface="Calibri" panose="020F0502020204030204" pitchFamily="34" charset="0"/>
                          <a:cs typeface="Times New Roman" panose="02020603050405020304" pitchFamily="18" charset="0"/>
                        </a:rPr>
                        <a:t>ўтказиб </a:t>
                      </a:r>
                      <a:r>
                        <a:rPr lang="uz-Cyrl-UZ" sz="800" b="0" baseline="0" dirty="0">
                          <a:effectLst/>
                          <a:latin typeface="+mn-lt"/>
                          <a:ea typeface="Calibri" panose="020F0502020204030204" pitchFamily="34" charset="0"/>
                          <a:cs typeface="Times New Roman" panose="02020603050405020304" pitchFamily="18" charset="0"/>
                        </a:rPr>
                        <a:t>келинадиган барча оммавий мадаий тадбирлар ва давлат тадбирлари, шунингдек, давлат қабулларида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a:extLst>
              <a:ext uri="{FF2B5EF4-FFF2-40B4-BE49-F238E27FC236}">
                <a16:creationId xmlns:a16="http://schemas.microsoft.com/office/drawing/2014/main" id="{C4BB34DA-413F-4DAA-86CB-F418D7EB2A50}"/>
              </a:ext>
            </a:extLst>
          </p:cNvPr>
          <p:cNvPicPr>
            <a:picLocks noChangeAspect="1"/>
          </p:cNvPicPr>
          <p:nvPr/>
        </p:nvPicPr>
        <p:blipFill>
          <a:blip r:embed="rId2"/>
          <a:stretch>
            <a:fillRect/>
          </a:stretch>
        </p:blipFill>
        <p:spPr>
          <a:xfrm>
            <a:off x="243908" y="1149585"/>
            <a:ext cx="904503" cy="1063776"/>
          </a:xfrm>
          <a:prstGeom prst="rect">
            <a:avLst/>
          </a:prstGeom>
        </p:spPr>
      </p:pic>
    </p:spTree>
    <p:extLst>
      <p:ext uri="{BB962C8B-B14F-4D97-AF65-F5344CB8AC3E}">
        <p14:creationId xmlns:p14="http://schemas.microsoft.com/office/powerpoint/2010/main" val="371341230"/>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992487799"/>
              </p:ext>
            </p:extLst>
          </p:nvPr>
        </p:nvGraphicFramePr>
        <p:xfrm>
          <a:off x="144489" y="865702"/>
          <a:ext cx="3427547" cy="5801926"/>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36261">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470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АЙТНИЯЗОВА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470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Элиза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470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Байниязовна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470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470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11.10.1970</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470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Тахиятош 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4203">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09723">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3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4203">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766309">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90000"/>
                        </a:lnSpc>
                      </a:pPr>
                      <a:r>
                        <a:rPr lang="ru-RU" sz="900" kern="1200" dirty="0" err="1" smtClean="0">
                          <a:solidFill>
                            <a:schemeClr val="tx1"/>
                          </a:solidFill>
                          <a:effectLst/>
                          <a:latin typeface="+mn-lt"/>
                          <a:ea typeface="+mn-ea"/>
                          <a:cs typeface="+mn-cs"/>
                        </a:rPr>
                        <a:t>Айтниязов</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Байнияз</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Айтниязович</a:t>
                      </a:r>
                      <a:r>
                        <a:rPr lang="ru-RU" sz="900" kern="1200" dirty="0" smtClean="0">
                          <a:solidFill>
                            <a:schemeClr val="tx1"/>
                          </a:solidFill>
                          <a:effectLst/>
                          <a:latin typeface="+mn-lt"/>
                          <a:ea typeface="+mn-ea"/>
                          <a:cs typeface="+mn-cs"/>
                        </a:rPr>
                        <a:t> </a:t>
                      </a:r>
                      <a:r>
                        <a:rPr lang="uz-Cyrl-UZ" sz="900" b="0" kern="1200" noProof="0" dirty="0" smtClean="0">
                          <a:solidFill>
                            <a:schemeClr val="tx1"/>
                          </a:solidFill>
                          <a:latin typeface="+mn-lt"/>
                          <a:ea typeface="+mn-ea"/>
                          <a:cs typeface="Arial" panose="020B0604020202020204" pitchFamily="34" charset="0"/>
                        </a:rPr>
                        <a:t>1934 йил, </a:t>
                      </a:r>
                      <a:r>
                        <a:rPr lang="uz-Cyrl-UZ" sz="900" b="0" kern="1200" dirty="0" smtClean="0">
                          <a:solidFill>
                            <a:schemeClr val="tx1"/>
                          </a:solidFill>
                          <a:latin typeface="+mn-lt"/>
                          <a:ea typeface="+mn-ea"/>
                          <a:cs typeface="+mn-cs"/>
                        </a:rPr>
                        <a:t>Тахиятош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kern="1200" dirty="0" smtClean="0">
                          <a:solidFill>
                            <a:schemeClr val="tx1"/>
                          </a:solidFill>
                          <a:effectLst/>
                          <a:latin typeface="+mn-lt"/>
                          <a:ea typeface="+mn-ea"/>
                          <a:cs typeface="+mn-cs"/>
                        </a:rPr>
                        <a:t>2005 й</a:t>
                      </a:r>
                      <a:r>
                        <a:rPr lang="uz-Cyrl-UZ" sz="900" kern="1200" dirty="0" smtClean="0">
                          <a:solidFill>
                            <a:schemeClr val="tx1"/>
                          </a:solidFill>
                          <a:effectLst/>
                          <a:latin typeface="+mn-lt"/>
                          <a:ea typeface="+mn-ea"/>
                          <a:cs typeface="+mn-cs"/>
                        </a:rPr>
                        <a:t>ил</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вафот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этган</a:t>
                      </a:r>
                      <a:r>
                        <a:rPr lang="ru-RU" sz="900" kern="1200" dirty="0" smtClean="0">
                          <a:solidFill>
                            <a:schemeClr val="tx1"/>
                          </a:solidFill>
                          <a:effectLst/>
                          <a:latin typeface="+mn-lt"/>
                          <a:ea typeface="+mn-ea"/>
                          <a:cs typeface="+mn-cs"/>
                        </a:rPr>
                        <a:t> (</a:t>
                      </a:r>
                      <a:r>
                        <a:rPr lang="ca-ES"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ор</a:t>
                      </a:r>
                      <a:r>
                        <a:rPr lang="ca-ES" sz="900" kern="1200" dirty="0" smtClean="0">
                          <a:solidFill>
                            <a:schemeClr val="tx1"/>
                          </a:solidFill>
                          <a:effectLst/>
                          <a:latin typeface="+mn-lt"/>
                          <a:ea typeface="+mn-ea"/>
                          <a:cs typeface="+mn-cs"/>
                        </a:rPr>
                        <a:t>ақ</a:t>
                      </a:r>
                      <a:r>
                        <a:rPr lang="ru-RU" sz="900" kern="1200" dirty="0" err="1" smtClean="0">
                          <a:solidFill>
                            <a:schemeClr val="tx1"/>
                          </a:solidFill>
                          <a:effectLst/>
                          <a:latin typeface="+mn-lt"/>
                          <a:ea typeface="+mn-ea"/>
                          <a:cs typeface="+mn-cs"/>
                        </a:rPr>
                        <a:t>алпо</a:t>
                      </a:r>
                      <a:r>
                        <a:rPr lang="ca-ES" sz="900" kern="1200" dirty="0" smtClean="0">
                          <a:solidFill>
                            <a:schemeClr val="tx1"/>
                          </a:solidFill>
                          <a:effectLst/>
                          <a:latin typeface="+mn-lt"/>
                          <a:ea typeface="+mn-ea"/>
                          <a:cs typeface="+mn-cs"/>
                        </a:rPr>
                        <a:t>ғ</a:t>
                      </a:r>
                      <a:r>
                        <a:rPr lang="ru-RU" sz="900" kern="1200" dirty="0" err="1" smtClean="0">
                          <a:solidFill>
                            <a:schemeClr val="tx1"/>
                          </a:solidFill>
                          <a:effectLst/>
                          <a:latin typeface="+mn-lt"/>
                          <a:ea typeface="+mn-ea"/>
                          <a:cs typeface="+mn-cs"/>
                        </a:rPr>
                        <a:t>истон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Республикаси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Тахият</a:t>
                      </a:r>
                      <a:r>
                        <a:rPr lang="ca-ES" sz="900" kern="1200" dirty="0" smtClean="0">
                          <a:solidFill>
                            <a:schemeClr val="tx1"/>
                          </a:solidFill>
                          <a:effectLst/>
                          <a:latin typeface="+mn-lt"/>
                          <a:ea typeface="+mn-ea"/>
                          <a:cs typeface="+mn-cs"/>
                        </a:rPr>
                        <a:t>ош</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ша</a:t>
                      </a:r>
                      <a:r>
                        <a:rPr lang="ca-ES" sz="900" kern="1200" dirty="0" smtClean="0">
                          <a:solidFill>
                            <a:schemeClr val="tx1"/>
                          </a:solidFill>
                          <a:effectLst/>
                          <a:latin typeface="+mn-lt"/>
                          <a:ea typeface="+mn-ea"/>
                          <a:cs typeface="+mn-cs"/>
                        </a:rPr>
                        <a:t>ҳ</a:t>
                      </a:r>
                      <a:r>
                        <a:rPr lang="ru-RU" sz="900" kern="1200" dirty="0" err="1" smtClean="0">
                          <a:solidFill>
                            <a:schemeClr val="tx1"/>
                          </a:solidFill>
                          <a:effectLst/>
                          <a:latin typeface="+mn-lt"/>
                          <a:ea typeface="+mn-ea"/>
                          <a:cs typeface="+mn-cs"/>
                        </a:rPr>
                        <a:t>ри</a:t>
                      </a:r>
                      <a:r>
                        <a:rPr lang="ru-RU" sz="900" kern="1200" dirty="0" smtClean="0">
                          <a:solidFill>
                            <a:schemeClr val="tx1"/>
                          </a:solidFill>
                          <a:effectLst/>
                          <a:latin typeface="+mn-lt"/>
                          <a:ea typeface="+mn-ea"/>
                          <a:cs typeface="+mn-cs"/>
                        </a:rPr>
                        <a:t> Псих</a:t>
                      </a:r>
                      <a:r>
                        <a:rPr lang="ca-ES" sz="900" kern="1200" dirty="0" smtClean="0">
                          <a:solidFill>
                            <a:schemeClr val="tx1"/>
                          </a:solidFill>
                          <a:effectLst/>
                          <a:latin typeface="+mn-lt"/>
                          <a:ea typeface="+mn-ea"/>
                          <a:cs typeface="+mn-cs"/>
                        </a:rPr>
                        <a:t>о</a:t>
                      </a:r>
                      <a:r>
                        <a:rPr lang="ru-RU" sz="900" kern="1200" dirty="0" smtClean="0">
                          <a:solidFill>
                            <a:schemeClr val="tx1"/>
                          </a:solidFill>
                          <a:effectLst/>
                          <a:latin typeface="+mn-lt"/>
                          <a:ea typeface="+mn-ea"/>
                          <a:cs typeface="+mn-cs"/>
                        </a:rPr>
                        <a:t>диспансер</a:t>
                      </a:r>
                      <a:r>
                        <a:rPr lang="uz-Cyrl-UZ" sz="900" kern="1200" dirty="0" smtClean="0">
                          <a:solidFill>
                            <a:schemeClr val="tx1"/>
                          </a:solidFill>
                          <a:effectLst/>
                          <a:latin typeface="+mn-lt"/>
                          <a:ea typeface="+mn-ea"/>
                          <a:cs typeface="+mn-cs"/>
                        </a:rPr>
                        <a:t>и</a:t>
                      </a:r>
                      <a:r>
                        <a:rPr lang="ru-RU" sz="900" kern="1200" dirty="0" smtClean="0">
                          <a:solidFill>
                            <a:schemeClr val="tx1"/>
                          </a:solidFill>
                          <a:effectLst/>
                          <a:latin typeface="+mn-lt"/>
                          <a:ea typeface="+mn-ea"/>
                          <a:cs typeface="+mn-cs"/>
                        </a:rPr>
                        <a:t> бош </a:t>
                      </a:r>
                      <a:r>
                        <a:rPr lang="ca-ES" sz="900" kern="1200" dirty="0" smtClean="0">
                          <a:solidFill>
                            <a:schemeClr val="tx1"/>
                          </a:solidFill>
                          <a:effectLst/>
                          <a:latin typeface="+mn-lt"/>
                          <a:ea typeface="+mn-ea"/>
                          <a:cs typeface="+mn-cs"/>
                        </a:rPr>
                        <a:t>ҳ</a:t>
                      </a:r>
                      <a:r>
                        <a:rPr lang="ru-RU" sz="900" kern="1200" dirty="0" err="1" smtClean="0">
                          <a:solidFill>
                            <a:schemeClr val="tx1"/>
                          </a:solidFill>
                          <a:effectLst/>
                          <a:latin typeface="+mn-lt"/>
                          <a:ea typeface="+mn-ea"/>
                          <a:cs typeface="+mn-cs"/>
                        </a:rPr>
                        <a:t>исобчи</a:t>
                      </a:r>
                      <a:r>
                        <a:rPr lang="uz-Cyrl-UZ" sz="900" kern="1200" dirty="0" smtClean="0">
                          <a:solidFill>
                            <a:schemeClr val="tx1"/>
                          </a:solidFill>
                          <a:effectLst/>
                          <a:latin typeface="+mn-lt"/>
                          <a:ea typeface="+mn-ea"/>
                          <a:cs typeface="+mn-cs"/>
                        </a:rPr>
                        <a:t>си</a:t>
                      </a:r>
                      <a:r>
                        <a:rPr lang="ru-RU" sz="900" kern="1200" dirty="0" smtClean="0">
                          <a:solidFill>
                            <a:schemeClr val="tx1"/>
                          </a:solidFill>
                          <a:effectLst/>
                          <a:latin typeface="+mn-lt"/>
                          <a:ea typeface="+mn-ea"/>
                          <a:cs typeface="+mn-cs"/>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20396">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kern="1200" dirty="0" err="1" smtClean="0">
                          <a:solidFill>
                            <a:schemeClr val="tx1"/>
                          </a:solidFill>
                          <a:effectLst/>
                          <a:latin typeface="+mn-lt"/>
                          <a:ea typeface="+mn-ea"/>
                          <a:cs typeface="+mn-cs"/>
                        </a:rPr>
                        <a:t>Айтниязова</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(Дауленова) </a:t>
                      </a:r>
                      <a:r>
                        <a:rPr lang="ru-RU" sz="900" kern="1200" dirty="0" err="1" smtClean="0">
                          <a:solidFill>
                            <a:schemeClr val="tx1"/>
                          </a:solidFill>
                          <a:effectLst/>
                          <a:latin typeface="+mn-lt"/>
                          <a:ea typeface="+mn-ea"/>
                          <a:cs typeface="+mn-cs"/>
                        </a:rPr>
                        <a:t>Карима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Ибрагимовна</a:t>
                      </a:r>
                      <a:r>
                        <a:rPr lang="ru-RU" sz="900" kern="1200" dirty="0" smtClean="0">
                          <a:solidFill>
                            <a:schemeClr val="tx1"/>
                          </a:solidFill>
                          <a:effectLst/>
                          <a:latin typeface="+mn-lt"/>
                          <a:ea typeface="+mn-ea"/>
                          <a:cs typeface="+mn-cs"/>
                        </a:rPr>
                        <a:t> </a:t>
                      </a:r>
                      <a:r>
                        <a:rPr lang="uz-Cyrl-UZ" sz="900" b="0" kern="1200" noProof="0" dirty="0" smtClean="0">
                          <a:solidFill>
                            <a:schemeClr val="tx1"/>
                          </a:solidFill>
                          <a:latin typeface="+mn-lt"/>
                          <a:ea typeface="+mn-ea"/>
                          <a:cs typeface="Arial" panose="020B0604020202020204" pitchFamily="34" charset="0"/>
                        </a:rPr>
                        <a:t>1941 йил, </a:t>
                      </a:r>
                      <a:r>
                        <a:rPr lang="uz-Cyrl-UZ" sz="900" b="0" kern="1200" dirty="0" smtClean="0">
                          <a:solidFill>
                            <a:schemeClr val="tx1"/>
                          </a:solidFill>
                          <a:latin typeface="+mn-lt"/>
                          <a:ea typeface="+mn-ea"/>
                          <a:cs typeface="+mn-cs"/>
                        </a:rPr>
                        <a:t>Тахиятош тумани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ca-ES" sz="900" kern="1200" dirty="0" smtClean="0">
                          <a:solidFill>
                            <a:schemeClr val="tx1"/>
                          </a:solidFill>
                          <a:effectLst/>
                          <a:latin typeface="+mn-lt"/>
                          <a:ea typeface="+mn-ea"/>
                          <a:cs typeface="+mn-cs"/>
                        </a:rPr>
                        <a:t>Пенсияда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Тахиат</a:t>
                      </a:r>
                      <a:r>
                        <a:rPr lang="ca-ES" sz="900" kern="1200" dirty="0" smtClean="0">
                          <a:solidFill>
                            <a:schemeClr val="tx1"/>
                          </a:solidFill>
                          <a:effectLst/>
                          <a:latin typeface="+mn-lt"/>
                          <a:ea typeface="+mn-ea"/>
                          <a:cs typeface="+mn-cs"/>
                        </a:rPr>
                        <a:t>ош</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ша</a:t>
                      </a:r>
                      <a:r>
                        <a:rPr lang="ca-ES" sz="900" kern="1200" dirty="0" smtClean="0">
                          <a:solidFill>
                            <a:schemeClr val="tx1"/>
                          </a:solidFill>
                          <a:effectLst/>
                          <a:latin typeface="+mn-lt"/>
                          <a:ea typeface="+mn-ea"/>
                          <a:cs typeface="+mn-cs"/>
                        </a:rPr>
                        <a:t>ҳ</a:t>
                      </a:r>
                      <a:r>
                        <a:rPr lang="ru-RU" sz="900" kern="1200" dirty="0" err="1" smtClean="0">
                          <a:solidFill>
                            <a:schemeClr val="tx1"/>
                          </a:solidFill>
                          <a:effectLst/>
                          <a:latin typeface="+mn-lt"/>
                          <a:ea typeface="+mn-ea"/>
                          <a:cs typeface="+mn-cs"/>
                        </a:rPr>
                        <a:t>ри</a:t>
                      </a:r>
                      <a:r>
                        <a:rPr lang="ru-RU" sz="900" kern="1200" dirty="0" smtClean="0">
                          <a:solidFill>
                            <a:schemeClr val="tx1"/>
                          </a:solidFill>
                          <a:effectLst/>
                          <a:latin typeface="+mn-lt"/>
                          <a:ea typeface="+mn-ea"/>
                          <a:cs typeface="+mn-cs"/>
                        </a:rPr>
                        <a:t> «Весна» </a:t>
                      </a:r>
                      <a:r>
                        <a:rPr lang="ru-RU" sz="900" kern="1200" dirty="0" err="1" smtClean="0">
                          <a:solidFill>
                            <a:schemeClr val="tx1"/>
                          </a:solidFill>
                          <a:effectLst/>
                          <a:latin typeface="+mn-lt"/>
                          <a:ea typeface="+mn-ea"/>
                          <a:cs typeface="+mn-cs"/>
                        </a:rPr>
                        <a:t>кинотеатри</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раҳбари</a:t>
                      </a:r>
                      <a:r>
                        <a:rPr lang="ru-RU" sz="900" kern="1200" dirty="0" smtClean="0">
                          <a:solidFill>
                            <a:schemeClr val="tx1"/>
                          </a:solidFill>
                          <a:effectLst/>
                          <a:latin typeface="+mn-lt"/>
                          <a:ea typeface="+mn-ea"/>
                          <a:cs typeface="+mn-cs"/>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766309">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b="0" kern="1200" dirty="0" err="1" smtClean="0">
                          <a:solidFill>
                            <a:schemeClr val="tx1"/>
                          </a:solidFill>
                          <a:effectLst/>
                          <a:latin typeface="+mn-lt"/>
                          <a:ea typeface="+mn-ea"/>
                          <a:cs typeface="+mn-cs"/>
                        </a:rPr>
                        <a:t>Орынбаев</a:t>
                      </a:r>
                      <a:r>
                        <a:rPr lang="ru-RU" sz="900" b="0" kern="1200" dirty="0" smtClean="0">
                          <a:solidFill>
                            <a:schemeClr val="tx1"/>
                          </a:solidFill>
                          <a:effectLst/>
                          <a:latin typeface="+mn-lt"/>
                          <a:ea typeface="+mn-ea"/>
                          <a:cs typeface="+mn-cs"/>
                        </a:rPr>
                        <a:t> Еркин </a:t>
                      </a:r>
                      <a:r>
                        <a:rPr lang="ru-RU" sz="900" b="0" kern="1200" dirty="0" err="1" smtClean="0">
                          <a:solidFill>
                            <a:schemeClr val="tx1"/>
                          </a:solidFill>
                          <a:effectLst/>
                          <a:latin typeface="+mn-lt"/>
                          <a:ea typeface="+mn-ea"/>
                          <a:cs typeface="+mn-cs"/>
                        </a:rPr>
                        <a:t>Максетбаевичм</a:t>
                      </a:r>
                      <a:r>
                        <a:rPr lang="ru-RU" sz="900" b="0" kern="1200" dirty="0" smtClean="0">
                          <a:solidFill>
                            <a:schemeClr val="tx1"/>
                          </a:solidFill>
                          <a:effectLst/>
                          <a:latin typeface="+mn-lt"/>
                          <a:ea typeface="+mn-ea"/>
                          <a:cs typeface="+mn-cs"/>
                        </a:rPr>
                        <a:t> </a:t>
                      </a:r>
                      <a:r>
                        <a:rPr lang="uz-Cyrl-UZ" sz="900" b="0" kern="1200" noProof="0" dirty="0" smtClean="0">
                          <a:solidFill>
                            <a:schemeClr val="tx1"/>
                          </a:solidFill>
                          <a:latin typeface="+mn-lt"/>
                          <a:ea typeface="+mn-ea"/>
                          <a:cs typeface="Arial" panose="020B0604020202020204" pitchFamily="34" charset="0"/>
                        </a:rPr>
                        <a:t>1974 йил, Нукус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dirty="0" smtClean="0">
                          <a:solidFill>
                            <a:schemeClr val="tx1"/>
                          </a:solidFill>
                          <a:effectLst/>
                          <a:latin typeface="+mn-lt"/>
                          <a:ea typeface="+mn-ea"/>
                          <a:cs typeface="+mn-cs"/>
                        </a:rPr>
                        <a:t>2021 </a:t>
                      </a:r>
                      <a:r>
                        <a:rPr lang="ru-RU" sz="900" b="0" kern="1200" dirty="0" err="1" smtClean="0">
                          <a:solidFill>
                            <a:schemeClr val="tx1"/>
                          </a:solidFill>
                          <a:effectLst/>
                          <a:latin typeface="+mn-lt"/>
                          <a:ea typeface="+mn-ea"/>
                          <a:cs typeface="+mn-cs"/>
                        </a:rPr>
                        <a:t>йил</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вафот</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этган</a:t>
                      </a:r>
                      <a:r>
                        <a:rPr lang="ru-RU" sz="900" b="0" kern="1200" dirty="0" smtClean="0">
                          <a:solidFill>
                            <a:schemeClr val="tx1"/>
                          </a:solidFill>
                          <a:effectLst/>
                          <a:latin typeface="+mn-lt"/>
                          <a:ea typeface="+mn-ea"/>
                          <a:cs typeface="+mn-cs"/>
                        </a:rPr>
                        <a:t> (Берда</a:t>
                      </a:r>
                      <a:r>
                        <a:rPr lang="ca-ES" sz="900" b="0" kern="1200" dirty="0" smtClean="0">
                          <a:solidFill>
                            <a:schemeClr val="tx1"/>
                          </a:solidFill>
                          <a:effectLst/>
                          <a:latin typeface="+mn-lt"/>
                          <a:ea typeface="+mn-ea"/>
                          <a:cs typeface="+mn-cs"/>
                        </a:rPr>
                        <a:t>қ</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номидаги</a:t>
                      </a:r>
                      <a:r>
                        <a:rPr lang="ru-RU" sz="900" b="0" kern="1200" dirty="0" smtClean="0">
                          <a:solidFill>
                            <a:schemeClr val="tx1"/>
                          </a:solidFill>
                          <a:effectLst/>
                          <a:latin typeface="+mn-lt"/>
                          <a:ea typeface="+mn-ea"/>
                          <a:cs typeface="+mn-cs"/>
                        </a:rPr>
                        <a:t> </a:t>
                      </a:r>
                      <a:r>
                        <a:rPr lang="ca-ES" sz="900" b="0" kern="1200" dirty="0" smtClean="0">
                          <a:solidFill>
                            <a:schemeClr val="tx1"/>
                          </a:solidFill>
                          <a:effectLst/>
                          <a:latin typeface="+mn-lt"/>
                          <a:ea typeface="+mn-ea"/>
                          <a:cs typeface="+mn-cs"/>
                        </a:rPr>
                        <a:t>Қ</a:t>
                      </a:r>
                      <a:r>
                        <a:rPr lang="ru-RU" sz="900" b="0" kern="1200" dirty="0" smtClean="0">
                          <a:solidFill>
                            <a:schemeClr val="tx1"/>
                          </a:solidFill>
                          <a:effectLst/>
                          <a:latin typeface="+mn-lt"/>
                          <a:ea typeface="+mn-ea"/>
                          <a:cs typeface="+mn-cs"/>
                        </a:rPr>
                        <a:t>ора</a:t>
                      </a:r>
                      <a:r>
                        <a:rPr lang="ca-ES" sz="900" b="0" kern="1200" dirty="0" smtClean="0">
                          <a:solidFill>
                            <a:schemeClr val="tx1"/>
                          </a:solidFill>
                          <a:effectLst/>
                          <a:latin typeface="+mn-lt"/>
                          <a:ea typeface="+mn-ea"/>
                          <a:cs typeface="+mn-cs"/>
                        </a:rPr>
                        <a:t>қ</a:t>
                      </a:r>
                      <a:r>
                        <a:rPr lang="ru-RU" sz="900" b="0" kern="1200" dirty="0" err="1" smtClean="0">
                          <a:solidFill>
                            <a:schemeClr val="tx1"/>
                          </a:solidFill>
                          <a:effectLst/>
                          <a:latin typeface="+mn-lt"/>
                          <a:ea typeface="+mn-ea"/>
                          <a:cs typeface="+mn-cs"/>
                        </a:rPr>
                        <a:t>алпо</a:t>
                      </a:r>
                      <a:r>
                        <a:rPr lang="ca-ES" sz="900" b="0" kern="1200" dirty="0" smtClean="0">
                          <a:solidFill>
                            <a:schemeClr val="tx1"/>
                          </a:solidFill>
                          <a:effectLst/>
                          <a:latin typeface="+mn-lt"/>
                          <a:ea typeface="+mn-ea"/>
                          <a:cs typeface="+mn-cs"/>
                        </a:rPr>
                        <a:t>қ</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давлат</a:t>
                      </a:r>
                      <a:r>
                        <a:rPr lang="ru-RU" sz="900" b="0" kern="1200" dirty="0" smtClean="0">
                          <a:solidFill>
                            <a:schemeClr val="tx1"/>
                          </a:solidFill>
                          <a:effectLst/>
                          <a:latin typeface="+mn-lt"/>
                          <a:ea typeface="+mn-ea"/>
                          <a:cs typeface="+mn-cs"/>
                        </a:rPr>
                        <a:t> академик </a:t>
                      </a:r>
                      <a:r>
                        <a:rPr lang="ru-RU" sz="900" b="0" kern="1200" dirty="0" err="1" smtClean="0">
                          <a:solidFill>
                            <a:schemeClr val="tx1"/>
                          </a:solidFill>
                          <a:effectLst/>
                          <a:latin typeface="+mn-lt"/>
                          <a:ea typeface="+mn-ea"/>
                          <a:cs typeface="+mn-cs"/>
                        </a:rPr>
                        <a:t>муси</a:t>
                      </a:r>
                      <a:r>
                        <a:rPr lang="ca-ES" sz="900" b="0" kern="1200" dirty="0" smtClean="0">
                          <a:solidFill>
                            <a:schemeClr val="tx1"/>
                          </a:solidFill>
                          <a:effectLst/>
                          <a:latin typeface="+mn-lt"/>
                          <a:ea typeface="+mn-ea"/>
                          <a:cs typeface="+mn-cs"/>
                        </a:rPr>
                        <a:t>қали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театри</a:t>
                      </a:r>
                      <a:r>
                        <a:rPr lang="ru-RU" sz="900" b="0" kern="1200" dirty="0" smtClean="0">
                          <a:solidFill>
                            <a:schemeClr val="tx1"/>
                          </a:solidFill>
                          <a:effectLst/>
                          <a:latin typeface="+mn-lt"/>
                          <a:ea typeface="+mn-ea"/>
                          <a:cs typeface="+mn-cs"/>
                        </a:rPr>
                        <a:t> оркестр </a:t>
                      </a:r>
                      <a:r>
                        <a:rPr lang="ru-RU" sz="900" b="0" kern="1200" dirty="0" err="1" smtClean="0">
                          <a:solidFill>
                            <a:schemeClr val="tx1"/>
                          </a:solidFill>
                          <a:effectLst/>
                          <a:latin typeface="+mn-lt"/>
                          <a:ea typeface="+mn-ea"/>
                          <a:cs typeface="+mn-cs"/>
                        </a:rPr>
                        <a:t>артисти</a:t>
                      </a:r>
                      <a:r>
                        <a:rPr lang="ru-RU" sz="900" b="0" kern="1200" dirty="0" smtClean="0">
                          <a:solidFill>
                            <a:schemeClr val="tx1"/>
                          </a:solidFill>
                          <a:effectLst/>
                          <a:latin typeface="+mn-lt"/>
                          <a:ea typeface="+mn-ea"/>
                          <a:cs typeface="+mn-cs"/>
                        </a:rPr>
                        <a:t>)</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1595">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44783">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1995 й. М.Ашрафий номидаги Тошкент давлат  консерваторияси (кундузги)</a:t>
                      </a:r>
                      <a:endParaRPr lang="ru-RU" sz="90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09131">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опера ва концерт ашулачиси, ўқитувчи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5093">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доцент</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5093">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23791">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407370043"/>
              </p:ext>
            </p:extLst>
          </p:nvPr>
        </p:nvGraphicFramePr>
        <p:xfrm>
          <a:off x="3674526" y="865689"/>
          <a:ext cx="3172841" cy="5745114"/>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25515">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00829">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1985 йилдан буён: Бердақ номидаги Қорақалпоқ давлат академик мусиқали театри</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Вокал артисти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42891">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908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29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473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6674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endParaRPr lang="uz-Cyrl-UZ" sz="900" b="0" kern="1200" noProof="0" dirty="0" smtClean="0">
                        <a:solidFill>
                          <a:schemeClr val="tx1"/>
                        </a:solidFill>
                        <a:latin typeface="+mn-lt"/>
                        <a:ea typeface="+mn-ea"/>
                        <a:cs typeface="+mn-cs"/>
                      </a:endParaRPr>
                    </a:p>
                    <a:p>
                      <a:pPr marL="0" marR="0" indent="0" algn="l" defTabSz="914400" rtl="0" eaLnBrk="1" fontAlgn="auto" latinLnBrk="0" hangingPunct="1">
                        <a:lnSpc>
                          <a:spcPct val="107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smtClean="0">
                        <a:solidFill>
                          <a:schemeClr val="tx1"/>
                        </a:solidFill>
                        <a:latin typeface="+mn-lt"/>
                        <a:ea typeface="+mn-ea"/>
                        <a:cs typeface="+mn-cs"/>
                      </a:endParaRPr>
                    </a:p>
                    <a:p>
                      <a:pPr algn="l">
                        <a:lnSpc>
                          <a:spcPct val="107000"/>
                        </a:lnSpc>
                        <a:spcAft>
                          <a:spcPts val="0"/>
                        </a:spcAft>
                      </a:pP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87429">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8742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8562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2025 йил</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5623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5281">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21098">
                <a:tc gridSpan="2">
                  <a:txBody>
                    <a:bodyPr/>
                    <a:lstStyle/>
                    <a:p>
                      <a:r>
                        <a:rPr lang="uz-Cyrl-UZ" sz="900" b="0" kern="1200" dirty="0" smtClean="0">
                          <a:solidFill>
                            <a:schemeClr val="tx1"/>
                          </a:solidFill>
                          <a:effectLst/>
                          <a:latin typeface="+mn-lt"/>
                          <a:ea typeface="+mn-ea"/>
                          <a:cs typeface="+mn-cs"/>
                        </a:rPr>
                        <a:t>1999 й. “</a:t>
                      </a:r>
                      <a:r>
                        <a:rPr lang="ca-ES" sz="900" b="0" kern="1200" dirty="0" smtClean="0">
                          <a:solidFill>
                            <a:schemeClr val="tx1"/>
                          </a:solidFill>
                          <a:effectLst/>
                          <a:latin typeface="+mn-lt"/>
                          <a:ea typeface="+mn-ea"/>
                          <a:cs typeface="+mn-cs"/>
                        </a:rPr>
                        <a:t>Қ</a:t>
                      </a:r>
                      <a:r>
                        <a:rPr lang="uz-Cyrl-UZ" sz="900" b="0" kern="1200" dirty="0" smtClean="0">
                          <a:solidFill>
                            <a:schemeClr val="tx1"/>
                          </a:solidFill>
                          <a:effectLst/>
                          <a:latin typeface="+mn-lt"/>
                          <a:ea typeface="+mn-ea"/>
                          <a:cs typeface="+mn-cs"/>
                        </a:rPr>
                        <a:t>ора</a:t>
                      </a:r>
                      <a:r>
                        <a:rPr lang="ca-ES" sz="900" b="0" kern="1200" dirty="0" smtClean="0">
                          <a:solidFill>
                            <a:schemeClr val="tx1"/>
                          </a:solidFill>
                          <a:effectLst/>
                          <a:latin typeface="+mn-lt"/>
                          <a:ea typeface="+mn-ea"/>
                          <a:cs typeface="+mn-cs"/>
                        </a:rPr>
                        <a:t>қ</a:t>
                      </a:r>
                      <a:r>
                        <a:rPr lang="uz-Cyrl-UZ" sz="900" b="0" kern="1200" dirty="0" smtClean="0">
                          <a:solidFill>
                            <a:schemeClr val="tx1"/>
                          </a:solidFill>
                          <a:effectLst/>
                          <a:latin typeface="+mn-lt"/>
                          <a:ea typeface="+mn-ea"/>
                          <a:cs typeface="+mn-cs"/>
                        </a:rPr>
                        <a:t>алпо</a:t>
                      </a:r>
                      <a:r>
                        <a:rPr lang="ca-ES" sz="900" b="0" kern="1200" dirty="0" smtClean="0">
                          <a:solidFill>
                            <a:schemeClr val="tx1"/>
                          </a:solidFill>
                          <a:effectLst/>
                          <a:latin typeface="+mn-lt"/>
                          <a:ea typeface="+mn-ea"/>
                          <a:cs typeface="+mn-cs"/>
                        </a:rPr>
                        <a:t>ғ</a:t>
                      </a:r>
                      <a:r>
                        <a:rPr lang="uz-Cyrl-UZ" sz="900" b="0" kern="1200" dirty="0" smtClean="0">
                          <a:solidFill>
                            <a:schemeClr val="tx1"/>
                          </a:solidFill>
                          <a:effectLst/>
                          <a:latin typeface="+mn-lt"/>
                          <a:ea typeface="+mn-ea"/>
                          <a:cs typeface="+mn-cs"/>
                        </a:rPr>
                        <a:t>истон </a:t>
                      </a:r>
                      <a:r>
                        <a:rPr lang="ru-RU" sz="900" b="0" kern="1200" dirty="0" err="1" smtClean="0">
                          <a:solidFill>
                            <a:schemeClr val="tx1"/>
                          </a:solidFill>
                          <a:effectLst/>
                          <a:latin typeface="+mn-lt"/>
                          <a:ea typeface="+mn-ea"/>
                          <a:cs typeface="+mn-cs"/>
                        </a:rPr>
                        <a:t>Республикаси</a:t>
                      </a:r>
                      <a:r>
                        <a:rPr lang="uz-Cyrl-UZ" sz="900" b="0" kern="1200" dirty="0" smtClean="0">
                          <a:solidFill>
                            <a:schemeClr val="tx1"/>
                          </a:solidFill>
                          <a:effectLst/>
                          <a:latin typeface="+mn-lt"/>
                          <a:ea typeface="+mn-ea"/>
                          <a:cs typeface="+mn-cs"/>
                        </a:rPr>
                        <a:t>га хизмат кўрсатган артист” </a:t>
                      </a:r>
                      <a:endParaRPr lang="ru-RU" sz="900" b="0" kern="1200" dirty="0" smtClean="0">
                        <a:solidFill>
                          <a:schemeClr val="tx1"/>
                        </a:solidFill>
                        <a:effectLst/>
                        <a:latin typeface="+mn-lt"/>
                        <a:ea typeface="+mn-ea"/>
                        <a:cs typeface="+mn-cs"/>
                      </a:endParaRPr>
                    </a:p>
                    <a:p>
                      <a:r>
                        <a:rPr lang="uz-Cyrl-UZ" sz="900" b="0" kern="1200" dirty="0" smtClean="0">
                          <a:solidFill>
                            <a:schemeClr val="tx1"/>
                          </a:solidFill>
                          <a:effectLst/>
                          <a:latin typeface="+mn-lt"/>
                          <a:ea typeface="+mn-ea"/>
                          <a:cs typeface="+mn-cs"/>
                        </a:rPr>
                        <a:t>2005 й. “Ўзбекистон</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Республикасид</a:t>
                      </a:r>
                      <a:r>
                        <a:rPr lang="uz-Cyrl-UZ" sz="900" b="0" kern="1200" dirty="0" smtClean="0">
                          <a:solidFill>
                            <a:schemeClr val="tx1"/>
                          </a:solidFill>
                          <a:effectLst/>
                          <a:latin typeface="+mn-lt"/>
                          <a:ea typeface="+mn-ea"/>
                          <a:cs typeface="+mn-cs"/>
                        </a:rPr>
                        <a:t>а хизмат кўрсатган артист”</a:t>
                      </a:r>
                    </a:p>
                    <a:p>
                      <a:r>
                        <a:rPr lang="ru-RU" sz="900" b="0" kern="1200" dirty="0" smtClean="0">
                          <a:solidFill>
                            <a:schemeClr val="tx1"/>
                          </a:solidFill>
                          <a:effectLst/>
                          <a:latin typeface="+mn-lt"/>
                          <a:ea typeface="+mn-ea"/>
                          <a:cs typeface="+mn-cs"/>
                        </a:rPr>
                        <a:t>2022 й. </a:t>
                      </a:r>
                      <a:r>
                        <a:rPr lang="en-US" sz="900" b="0" kern="1200" dirty="0" smtClean="0">
                          <a:solidFill>
                            <a:schemeClr val="tx1"/>
                          </a:solidFill>
                          <a:effectLst/>
                          <a:latin typeface="+mn-lt"/>
                          <a:ea typeface="+mn-ea"/>
                          <a:cs typeface="+mn-cs"/>
                        </a:rPr>
                        <a:t>“</a:t>
                      </a:r>
                      <a:r>
                        <a:rPr lang="ru-RU" sz="900" b="0" kern="1200" dirty="0" err="1" smtClean="0">
                          <a:solidFill>
                            <a:schemeClr val="tx1"/>
                          </a:solidFill>
                          <a:effectLst/>
                          <a:latin typeface="+mn-lt"/>
                          <a:ea typeface="+mn-ea"/>
                          <a:cs typeface="+mn-cs"/>
                        </a:rPr>
                        <a:t>Маданият</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ва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санъат</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фидокори</a:t>
                      </a:r>
                      <a:r>
                        <a:rPr lang="en-US"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кўкрак</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нишони</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921156088"/>
              </p:ext>
            </p:extLst>
          </p:nvPr>
        </p:nvGraphicFramePr>
        <p:xfrm>
          <a:off x="6944264" y="865689"/>
          <a:ext cx="2817247" cy="5745113"/>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40653">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9205">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544571">
                <a:tc>
                  <a:txBody>
                    <a:bodyPr/>
                    <a:lstStyle/>
                    <a:p>
                      <a:pPr marL="0" indent="179388" algn="just"/>
                      <a:r>
                        <a:rPr lang="uz-Cyrl-UZ" sz="900" b="0" kern="1200" dirty="0" smtClean="0">
                          <a:solidFill>
                            <a:schemeClr val="tx1"/>
                          </a:solidFill>
                          <a:effectLst/>
                          <a:latin typeface="+mn-lt"/>
                          <a:ea typeface="+mn-ea"/>
                          <a:cs typeface="+mn-cs"/>
                        </a:rPr>
                        <a:t>Театрда сахналаштирилган «Майсаранинг ҳийласи» операсида Ойхон, «Алеко» операсида Земфира, «Адолатга қиёнат» мусиқали драмасида Анар, Н.Давқараевнинг «Алпомиш» мусиқали драмасида Ханзада, “Тумарис” да Тумарис образларин маҳорат билан ижро этди.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1994 йили А.Навоий номидаги  Давлат академик катта театри иш фолиятида  сахналаштирилган операларидан “Мадам баттерфлейда”да Мадам, 1996 йили “Лайли ва Мажнун”да Лайли, 1997 йили “Фауст”да Маргарита, 1998 йили “Айда”да Жрица, “Кармен”да Микаэлла ва бошқа роллари билан томошабинлар кўнглидан жой олди.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2000 йили “Ўзбекистон - Ватаним маним” конкурсида совринли II ўринни,  2002 йили Назира Ахмедова номидаги вокалистлар конкурси лауреати, 2008 йили Ашхабад шаҳрида ўтказилган “Мусиқа инсоннинг руҳий бойлиги” мусиқали фестивалида иштирок этди.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2013 йили Мустақиллигимиз байрами олдидан ўтказилган “Ватан” хақидаги қўшиқ конкурсида “Йилнинг энг яхши қўшиқчиси”, 2014 йили Қорақалпоғистон Республикасида ўтказилган “Ардақлаў-2014” фестивалида “Энг яхши опера ижрочиси” номинациялари ғолиби.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Бу иқтидорли хонанда опералардан ариялар ижро этиш билан, миллий қушиқларни, эстрада жанрларда ҳам қушиқлар ижро этиб келади. Республикамиз миқёсида ўтказилаётган Мустақиллик, “Наврўз” умумхалқ байрамлари ва барча маданий-маърифий тадбирларнинг фаол иштирокчиси.</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631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54365">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ўтказилиб келадиган барча оммавий мадаий тадбирларда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a:picLocks noChangeAspect="1"/>
          </p:cNvPicPr>
          <p:nvPr/>
        </p:nvPicPr>
        <p:blipFill>
          <a:blip r:embed="rId2"/>
          <a:stretch>
            <a:fillRect/>
          </a:stretch>
        </p:blipFill>
        <p:spPr>
          <a:xfrm>
            <a:off x="297247" y="1165951"/>
            <a:ext cx="777174" cy="1054736"/>
          </a:xfrm>
          <a:prstGeom prst="rect">
            <a:avLst/>
          </a:prstGeom>
        </p:spPr>
      </p:pic>
    </p:spTree>
    <p:extLst>
      <p:ext uri="{BB962C8B-B14F-4D97-AF65-F5344CB8AC3E}">
        <p14:creationId xmlns:p14="http://schemas.microsoft.com/office/powerpoint/2010/main" val="2019179893"/>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443874242"/>
              </p:ext>
            </p:extLst>
          </p:nvPr>
        </p:nvGraphicFramePr>
        <p:xfrm>
          <a:off x="144489" y="811587"/>
          <a:ext cx="3427547" cy="5882828"/>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УЗАКБЕРГЕНОВ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Базарбай</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Жумабаевич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Коракалпок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kern="1200" dirty="0" smtClean="0">
                          <a:solidFill>
                            <a:schemeClr val="tx1"/>
                          </a:solidFill>
                          <a:effectLst/>
                          <a:latin typeface="+mn-lt"/>
                          <a:ea typeface="+mn-ea"/>
                          <a:cs typeface="+mn-cs"/>
                        </a:rPr>
                        <a:t>01.09.1957</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uz-Cyrl-UZ" sz="800" kern="1200" dirty="0" smtClean="0">
                          <a:solidFill>
                            <a:schemeClr val="tx1"/>
                          </a:solidFill>
                          <a:effectLst/>
                          <a:latin typeface="+mn-lt"/>
                          <a:ea typeface="+mn-ea"/>
                          <a:cs typeface="+mn-cs"/>
                        </a:rPr>
                        <a:t> </a:t>
                      </a:r>
                      <a:r>
                        <a:rPr lang="ru-RU" sz="800" kern="1200" dirty="0" smtClean="0">
                          <a:solidFill>
                            <a:schemeClr val="tx1"/>
                          </a:solidFill>
                          <a:effectLst/>
                          <a:latin typeface="+mn-lt"/>
                          <a:ea typeface="+mn-ea"/>
                          <a:cs typeface="+mn-cs"/>
                        </a:rPr>
                        <a:t>Нукус </a:t>
                      </a:r>
                      <a:r>
                        <a:rPr lang="ru-RU" sz="800" kern="1200" dirty="0" err="1" smtClean="0">
                          <a:solidFill>
                            <a:schemeClr val="tx1"/>
                          </a:solidFill>
                          <a:effectLst/>
                          <a:latin typeface="+mn-lt"/>
                          <a:ea typeface="+mn-ea"/>
                          <a:cs typeface="+mn-cs"/>
                        </a:rPr>
                        <a:t>тумани</a:t>
                      </a:r>
                      <a:endParaRPr lang="uz-Cyrl-UZ" sz="8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4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ишта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ru-RU" sz="800" kern="1200" dirty="0" smtClean="0">
                          <a:solidFill>
                            <a:schemeClr val="tx1"/>
                          </a:solidFill>
                          <a:effectLst/>
                          <a:latin typeface="+mn-lt"/>
                          <a:ea typeface="+mn-ea"/>
                          <a:cs typeface="+mn-cs"/>
                        </a:rPr>
                        <a:t>Уза</a:t>
                      </a:r>
                      <a:r>
                        <a:rPr lang="ca-ES" sz="800" kern="1200" dirty="0" smtClean="0">
                          <a:solidFill>
                            <a:schemeClr val="tx1"/>
                          </a:solidFill>
                          <a:effectLst/>
                          <a:latin typeface="+mn-lt"/>
                          <a:ea typeface="+mn-ea"/>
                          <a:cs typeface="+mn-cs"/>
                        </a:rPr>
                        <a:t>қ</a:t>
                      </a:r>
                      <a:r>
                        <a:rPr lang="ru-RU" sz="800" kern="1200" dirty="0" err="1" smtClean="0">
                          <a:solidFill>
                            <a:schemeClr val="tx1"/>
                          </a:solidFill>
                          <a:effectLst/>
                          <a:latin typeface="+mn-lt"/>
                          <a:ea typeface="+mn-ea"/>
                          <a:cs typeface="+mn-cs"/>
                        </a:rPr>
                        <a:t>бергенов</a:t>
                      </a:r>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Жумабой</a:t>
                      </a:r>
                      <a:r>
                        <a:rPr lang="ru-RU" sz="800" kern="1200" dirty="0" smtClean="0">
                          <a:solidFill>
                            <a:schemeClr val="tx1"/>
                          </a:solidFill>
                          <a:effectLst/>
                          <a:latin typeface="+mn-lt"/>
                          <a:ea typeface="+mn-ea"/>
                          <a:cs typeface="+mn-cs"/>
                        </a:rPr>
                        <a:t> 1929 </a:t>
                      </a:r>
                      <a:r>
                        <a:rPr lang="ru-RU" sz="800" kern="1200" dirty="0" err="1" smtClean="0">
                          <a:solidFill>
                            <a:schemeClr val="tx1"/>
                          </a:solidFill>
                          <a:effectLst/>
                          <a:latin typeface="+mn-lt"/>
                          <a:ea typeface="+mn-ea"/>
                          <a:cs typeface="+mn-cs"/>
                        </a:rPr>
                        <a:t>йил</a:t>
                      </a:r>
                      <a:r>
                        <a:rPr lang="uz-Cyrl-UZ" sz="800" kern="1200" dirty="0" smtClean="0">
                          <a:solidFill>
                            <a:schemeClr val="tx1"/>
                          </a:solidFill>
                          <a:effectLst/>
                          <a:latin typeface="+mn-lt"/>
                          <a:ea typeface="+mn-ea"/>
                          <a:cs typeface="+mn-cs"/>
                        </a:rPr>
                        <a:t>, </a:t>
                      </a:r>
                      <a:r>
                        <a:rPr lang="ru-RU" sz="800" kern="1200" dirty="0" smtClean="0">
                          <a:solidFill>
                            <a:schemeClr val="tx1"/>
                          </a:solidFill>
                          <a:effectLst/>
                          <a:latin typeface="+mn-lt"/>
                          <a:ea typeface="+mn-ea"/>
                          <a:cs typeface="+mn-cs"/>
                        </a:rPr>
                        <a:t>Нукус </a:t>
                      </a:r>
                      <a:r>
                        <a:rPr lang="ru-RU" sz="800" kern="1200" dirty="0" err="1" smtClean="0">
                          <a:solidFill>
                            <a:schemeClr val="tx1"/>
                          </a:solidFill>
                          <a:effectLst/>
                          <a:latin typeface="+mn-lt"/>
                          <a:ea typeface="+mn-ea"/>
                          <a:cs typeface="+mn-cs"/>
                        </a:rPr>
                        <a:t>тумани</a:t>
                      </a:r>
                      <a:endParaRPr lang="uz-Cyrl-UZ" sz="8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kern="1200" dirty="0" smtClean="0">
                          <a:solidFill>
                            <a:schemeClr val="tx1"/>
                          </a:solidFill>
                          <a:effectLst/>
                          <a:latin typeface="+mn-lt"/>
                          <a:ea typeface="+mn-ea"/>
                          <a:cs typeface="+mn-cs"/>
                        </a:rPr>
                        <a:t>2007 </a:t>
                      </a:r>
                      <a:r>
                        <a:rPr lang="ru-RU" sz="800" kern="1200" dirty="0" err="1" smtClean="0">
                          <a:solidFill>
                            <a:schemeClr val="tx1"/>
                          </a:solidFill>
                          <a:effectLst/>
                          <a:latin typeface="+mn-lt"/>
                          <a:ea typeface="+mn-ea"/>
                          <a:cs typeface="+mn-cs"/>
                        </a:rPr>
                        <a:t>йил</a:t>
                      </a:r>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вафот</a:t>
                      </a:r>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этган</a:t>
                      </a:r>
                      <a:r>
                        <a:rPr lang="ru-RU" sz="800" kern="1200" dirty="0" smtClean="0">
                          <a:solidFill>
                            <a:schemeClr val="tx1"/>
                          </a:solidFill>
                          <a:effectLst/>
                          <a:latin typeface="+mn-lt"/>
                          <a:ea typeface="+mn-ea"/>
                          <a:cs typeface="+mn-cs"/>
                        </a:rPr>
                        <a:t> (Нукус </a:t>
                      </a:r>
                      <a:r>
                        <a:rPr lang="ru-RU" sz="800" kern="1200" dirty="0" err="1" smtClean="0">
                          <a:solidFill>
                            <a:schemeClr val="tx1"/>
                          </a:solidFill>
                          <a:effectLst/>
                          <a:latin typeface="+mn-lt"/>
                          <a:ea typeface="+mn-ea"/>
                          <a:cs typeface="+mn-cs"/>
                        </a:rPr>
                        <a:t>тумани</a:t>
                      </a:r>
                      <a:r>
                        <a:rPr lang="ru-RU" sz="800" kern="1200" dirty="0" smtClean="0">
                          <a:solidFill>
                            <a:schemeClr val="tx1"/>
                          </a:solidFill>
                          <a:effectLst/>
                          <a:latin typeface="+mn-lt"/>
                          <a:ea typeface="+mn-ea"/>
                          <a:cs typeface="+mn-cs"/>
                        </a:rPr>
                        <a:t> О</a:t>
                      </a:r>
                      <a:r>
                        <a:rPr lang="ca-ES" sz="800" kern="1200" dirty="0" smtClean="0">
                          <a:solidFill>
                            <a:schemeClr val="tx1"/>
                          </a:solidFill>
                          <a:effectLst/>
                          <a:latin typeface="+mn-lt"/>
                          <a:ea typeface="+mn-ea"/>
                          <a:cs typeface="+mn-cs"/>
                        </a:rPr>
                        <a:t>қ</a:t>
                      </a:r>
                      <a:r>
                        <a:rPr lang="ru-RU" sz="800" kern="1200" dirty="0" err="1" smtClean="0">
                          <a:solidFill>
                            <a:schemeClr val="tx1"/>
                          </a:solidFill>
                          <a:effectLst/>
                          <a:latin typeface="+mn-lt"/>
                          <a:ea typeface="+mn-ea"/>
                          <a:cs typeface="+mn-cs"/>
                        </a:rPr>
                        <a:t>ман</a:t>
                      </a:r>
                      <a:r>
                        <a:rPr lang="uz-Cyrl-UZ" sz="800" kern="1200" dirty="0" smtClean="0">
                          <a:solidFill>
                            <a:schemeClr val="tx1"/>
                          </a:solidFill>
                          <a:effectLst/>
                          <a:latin typeface="+mn-lt"/>
                          <a:ea typeface="+mn-ea"/>
                          <a:cs typeface="+mn-cs"/>
                        </a:rPr>
                        <a:t>ғ</a:t>
                      </a:r>
                      <a:r>
                        <a:rPr lang="ru-RU" sz="800" kern="1200" dirty="0" err="1" smtClean="0">
                          <a:solidFill>
                            <a:schemeClr val="tx1"/>
                          </a:solidFill>
                          <a:effectLst/>
                          <a:latin typeface="+mn-lt"/>
                          <a:ea typeface="+mn-ea"/>
                          <a:cs typeface="+mn-cs"/>
                        </a:rPr>
                        <a:t>ит</a:t>
                      </a:r>
                      <a:r>
                        <a:rPr lang="ru-RU" sz="800" kern="1200" dirty="0" smtClean="0">
                          <a:solidFill>
                            <a:schemeClr val="tx1"/>
                          </a:solidFill>
                          <a:effectLst/>
                          <a:latin typeface="+mn-lt"/>
                          <a:ea typeface="+mn-ea"/>
                          <a:cs typeface="+mn-cs"/>
                        </a:rPr>
                        <a:t> фермер </a:t>
                      </a:r>
                      <a:r>
                        <a:rPr lang="uz-Cyrl-UZ" sz="800" kern="1200" dirty="0" smtClean="0">
                          <a:solidFill>
                            <a:schemeClr val="tx1"/>
                          </a:solidFill>
                          <a:effectLst/>
                          <a:latin typeface="+mn-lt"/>
                          <a:ea typeface="+mn-ea"/>
                          <a:cs typeface="+mn-cs"/>
                        </a:rPr>
                        <a:t>хўжалиги</a:t>
                      </a:r>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ишчи</a:t>
                      </a:r>
                      <a:r>
                        <a:rPr lang="uz-Cyrl-UZ" sz="800" kern="1200" dirty="0" smtClean="0">
                          <a:solidFill>
                            <a:schemeClr val="tx1"/>
                          </a:solidFill>
                          <a:effectLst/>
                          <a:latin typeface="+mn-lt"/>
                          <a:ea typeface="+mn-ea"/>
                          <a:cs typeface="+mn-cs"/>
                        </a:rPr>
                        <a:t>си</a:t>
                      </a:r>
                      <a:r>
                        <a:rPr lang="ru-RU" sz="800" kern="1200" dirty="0" smtClean="0">
                          <a:solidFill>
                            <a:schemeClr val="tx1"/>
                          </a:solidFill>
                          <a:effectLst/>
                          <a:latin typeface="+mn-lt"/>
                          <a:ea typeface="+mn-ea"/>
                          <a:cs typeface="+mn-cs"/>
                        </a:rPr>
                        <a:t>)</a:t>
                      </a:r>
                      <a:endParaRPr lang="ru-RU" sz="8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Даулетмуратова</a:t>
                      </a:r>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Санегул</a:t>
                      </a:r>
                      <a:r>
                        <a:rPr lang="ru-RU" sz="800" kern="1200" dirty="0" smtClean="0">
                          <a:solidFill>
                            <a:schemeClr val="tx1"/>
                          </a:solidFill>
                          <a:effectLst/>
                          <a:latin typeface="+mn-lt"/>
                          <a:ea typeface="+mn-ea"/>
                          <a:cs typeface="+mn-cs"/>
                        </a:rPr>
                        <a:t> 1936</a:t>
                      </a:r>
                      <a:r>
                        <a:rPr lang="uz-Cyrl-UZ" sz="800" kern="1200" dirty="0" smtClean="0">
                          <a:solidFill>
                            <a:schemeClr val="tx1"/>
                          </a:solidFill>
                          <a:effectLst/>
                          <a:latin typeface="+mn-lt"/>
                          <a:ea typeface="+mn-ea"/>
                          <a:cs typeface="+mn-cs"/>
                        </a:rPr>
                        <a:t> йил, </a:t>
                      </a:r>
                      <a:r>
                        <a:rPr lang="ru-RU" sz="800" kern="1200" dirty="0" smtClean="0">
                          <a:solidFill>
                            <a:schemeClr val="tx1"/>
                          </a:solidFill>
                          <a:effectLst/>
                          <a:latin typeface="+mn-lt"/>
                          <a:ea typeface="+mn-ea"/>
                          <a:cs typeface="+mn-cs"/>
                        </a:rPr>
                        <a:t>Нукус </a:t>
                      </a:r>
                      <a:r>
                        <a:rPr lang="ru-RU" sz="800" kern="1200" dirty="0" err="1" smtClean="0">
                          <a:solidFill>
                            <a:schemeClr val="tx1"/>
                          </a:solidFill>
                          <a:effectLst/>
                          <a:latin typeface="+mn-lt"/>
                          <a:ea typeface="+mn-ea"/>
                          <a:cs typeface="+mn-cs"/>
                        </a:rPr>
                        <a:t>тумани</a:t>
                      </a:r>
                      <a:endParaRPr lang="uz-Cyrl-UZ" sz="8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ru-RU" sz="800" kern="1200" dirty="0" smtClean="0">
                          <a:solidFill>
                            <a:schemeClr val="tx1"/>
                          </a:solidFill>
                          <a:effectLst/>
                          <a:latin typeface="+mn-lt"/>
                          <a:ea typeface="+mn-ea"/>
                          <a:cs typeface="+mn-cs"/>
                        </a:rPr>
                        <a:t>2013 </a:t>
                      </a:r>
                      <a:r>
                        <a:rPr lang="ru-RU" sz="800" kern="1200" dirty="0" err="1" smtClean="0">
                          <a:solidFill>
                            <a:schemeClr val="tx1"/>
                          </a:solidFill>
                          <a:effectLst/>
                          <a:latin typeface="+mn-lt"/>
                          <a:ea typeface="+mn-ea"/>
                          <a:cs typeface="+mn-cs"/>
                        </a:rPr>
                        <a:t>йил</a:t>
                      </a:r>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вафот</a:t>
                      </a:r>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этган</a:t>
                      </a:r>
                      <a:r>
                        <a:rPr lang="ru-RU" sz="800" kern="1200" dirty="0" smtClean="0">
                          <a:solidFill>
                            <a:schemeClr val="tx1"/>
                          </a:solidFill>
                          <a:effectLst/>
                          <a:latin typeface="+mn-lt"/>
                          <a:ea typeface="+mn-ea"/>
                          <a:cs typeface="+mn-cs"/>
                        </a:rPr>
                        <a:t> (Нукус </a:t>
                      </a:r>
                      <a:r>
                        <a:rPr lang="ru-RU" sz="800" kern="1200" dirty="0" err="1" smtClean="0">
                          <a:solidFill>
                            <a:schemeClr val="tx1"/>
                          </a:solidFill>
                          <a:effectLst/>
                          <a:latin typeface="+mn-lt"/>
                          <a:ea typeface="+mn-ea"/>
                          <a:cs typeface="+mn-cs"/>
                        </a:rPr>
                        <a:t>тумани</a:t>
                      </a:r>
                      <a:r>
                        <a:rPr lang="ru-RU" sz="800" kern="1200" dirty="0" smtClean="0">
                          <a:solidFill>
                            <a:schemeClr val="tx1"/>
                          </a:solidFill>
                          <a:effectLst/>
                          <a:latin typeface="+mn-lt"/>
                          <a:ea typeface="+mn-ea"/>
                          <a:cs typeface="+mn-cs"/>
                        </a:rPr>
                        <a:t> </a:t>
                      </a:r>
                      <a:r>
                        <a:rPr lang="ca-ES" sz="800" kern="1200" dirty="0" smtClean="0">
                          <a:solidFill>
                            <a:schemeClr val="tx1"/>
                          </a:solidFill>
                          <a:effectLst/>
                          <a:latin typeface="+mn-lt"/>
                          <a:ea typeface="+mn-ea"/>
                          <a:cs typeface="+mn-cs"/>
                        </a:rPr>
                        <a:t>Оқ</a:t>
                      </a:r>
                      <a:r>
                        <a:rPr lang="ru-RU" sz="800" kern="1200" dirty="0" err="1" smtClean="0">
                          <a:solidFill>
                            <a:schemeClr val="tx1"/>
                          </a:solidFill>
                          <a:effectLst/>
                          <a:latin typeface="+mn-lt"/>
                          <a:ea typeface="+mn-ea"/>
                          <a:cs typeface="+mn-cs"/>
                        </a:rPr>
                        <a:t>ман</a:t>
                      </a:r>
                      <a:r>
                        <a:rPr lang="uz-Cyrl-UZ" sz="800" kern="1200" dirty="0" smtClean="0">
                          <a:solidFill>
                            <a:schemeClr val="tx1"/>
                          </a:solidFill>
                          <a:effectLst/>
                          <a:latin typeface="+mn-lt"/>
                          <a:ea typeface="+mn-ea"/>
                          <a:cs typeface="+mn-cs"/>
                        </a:rPr>
                        <a:t>ғ</a:t>
                      </a:r>
                      <a:r>
                        <a:rPr lang="ru-RU" sz="800" kern="1200" dirty="0" err="1" smtClean="0">
                          <a:solidFill>
                            <a:schemeClr val="tx1"/>
                          </a:solidFill>
                          <a:effectLst/>
                          <a:latin typeface="+mn-lt"/>
                          <a:ea typeface="+mn-ea"/>
                          <a:cs typeface="+mn-cs"/>
                        </a:rPr>
                        <a:t>ит</a:t>
                      </a:r>
                      <a:r>
                        <a:rPr lang="ru-RU" sz="800" kern="1200" dirty="0" smtClean="0">
                          <a:solidFill>
                            <a:schemeClr val="tx1"/>
                          </a:solidFill>
                          <a:effectLst/>
                          <a:latin typeface="+mn-lt"/>
                          <a:ea typeface="+mn-ea"/>
                          <a:cs typeface="+mn-cs"/>
                        </a:rPr>
                        <a:t> фермер </a:t>
                      </a:r>
                      <a:r>
                        <a:rPr lang="uz-Cyrl-UZ" sz="800" kern="1200" dirty="0" smtClean="0">
                          <a:solidFill>
                            <a:schemeClr val="tx1"/>
                          </a:solidFill>
                          <a:effectLst/>
                          <a:latin typeface="+mn-lt"/>
                          <a:ea typeface="+mn-ea"/>
                          <a:cs typeface="+mn-cs"/>
                        </a:rPr>
                        <a:t>хўжалиги</a:t>
                      </a:r>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ичши</a:t>
                      </a:r>
                      <a:r>
                        <a:rPr lang="uz-Cyrl-UZ" sz="800" kern="1200" dirty="0" smtClean="0">
                          <a:solidFill>
                            <a:schemeClr val="tx1"/>
                          </a:solidFill>
                          <a:effectLst/>
                          <a:latin typeface="+mn-lt"/>
                          <a:ea typeface="+mn-ea"/>
                          <a:cs typeface="+mn-cs"/>
                        </a:rPr>
                        <a:t>си</a:t>
                      </a:r>
                      <a:r>
                        <a:rPr lang="ru-RU" sz="800" kern="1200" dirty="0" smtClean="0">
                          <a:solidFill>
                            <a:schemeClr val="tx1"/>
                          </a:solidFill>
                          <a:effectLst/>
                          <a:latin typeface="+mn-lt"/>
                          <a:ea typeface="+mn-ea"/>
                          <a:cs typeface="+mn-cs"/>
                        </a:rPr>
                        <a:t>)</a:t>
                      </a:r>
                      <a:endParaRPr lang="uz-Cyrl-UZ" sz="8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ru-RU" sz="800" kern="1200" dirty="0" err="1" smtClean="0">
                          <a:solidFill>
                            <a:schemeClr val="tx1"/>
                          </a:solidFill>
                          <a:effectLst/>
                          <a:latin typeface="+mn-lt"/>
                          <a:ea typeface="+mn-ea"/>
                          <a:cs typeface="+mn-cs"/>
                        </a:rPr>
                        <a:t>Айназарова</a:t>
                      </a:r>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Зийнахан</a:t>
                      </a:r>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Бисембаевна</a:t>
                      </a:r>
                      <a:r>
                        <a:rPr lang="ru-RU" sz="800" kern="1200" dirty="0" smtClean="0">
                          <a:solidFill>
                            <a:schemeClr val="tx1"/>
                          </a:solidFill>
                          <a:effectLst/>
                          <a:latin typeface="+mn-lt"/>
                          <a:ea typeface="+mn-ea"/>
                          <a:cs typeface="+mn-cs"/>
                        </a:rPr>
                        <a:t> 1963 </a:t>
                      </a:r>
                      <a:r>
                        <a:rPr lang="ru-RU" sz="800" kern="1200" dirty="0" err="1" smtClean="0">
                          <a:solidFill>
                            <a:schemeClr val="tx1"/>
                          </a:solidFill>
                          <a:effectLst/>
                          <a:latin typeface="+mn-lt"/>
                          <a:ea typeface="+mn-ea"/>
                          <a:cs typeface="+mn-cs"/>
                        </a:rPr>
                        <a:t>йил</a:t>
                      </a:r>
                      <a:r>
                        <a:rPr lang="uz-Cyrl-UZ" sz="800" kern="1200" dirty="0" smtClean="0">
                          <a:solidFill>
                            <a:schemeClr val="tx1"/>
                          </a:solidFill>
                          <a:effectLst/>
                          <a:latin typeface="+mn-lt"/>
                          <a:ea typeface="+mn-ea"/>
                          <a:cs typeface="+mn-cs"/>
                        </a:rPr>
                        <a:t>, </a:t>
                      </a:r>
                      <a:r>
                        <a:rPr lang="ru-RU" sz="800" kern="1200" dirty="0" smtClean="0">
                          <a:solidFill>
                            <a:schemeClr val="tx1"/>
                          </a:solidFill>
                          <a:effectLst/>
                          <a:latin typeface="+mn-lt"/>
                          <a:ea typeface="+mn-ea"/>
                          <a:cs typeface="+mn-cs"/>
                        </a:rPr>
                        <a:t>Нукус </a:t>
                      </a:r>
                      <a:r>
                        <a:rPr lang="ru-RU" sz="800" kern="1200" dirty="0" err="1" smtClean="0">
                          <a:solidFill>
                            <a:schemeClr val="tx1"/>
                          </a:solidFill>
                          <a:effectLst/>
                          <a:latin typeface="+mn-lt"/>
                          <a:ea typeface="+mn-ea"/>
                          <a:cs typeface="+mn-cs"/>
                        </a:rPr>
                        <a:t>ша</a:t>
                      </a:r>
                      <a:r>
                        <a:rPr lang="ca-ES" sz="800" kern="1200" dirty="0" smtClean="0">
                          <a:solidFill>
                            <a:schemeClr val="tx1"/>
                          </a:solidFill>
                          <a:effectLst/>
                          <a:latin typeface="+mn-lt"/>
                          <a:ea typeface="+mn-ea"/>
                          <a:cs typeface="+mn-cs"/>
                        </a:rPr>
                        <a:t>ҳ</a:t>
                      </a:r>
                      <a:r>
                        <a:rPr lang="ru-RU" sz="800" kern="1200" dirty="0" err="1" smtClean="0">
                          <a:solidFill>
                            <a:schemeClr val="tx1"/>
                          </a:solidFill>
                          <a:effectLst/>
                          <a:latin typeface="+mn-lt"/>
                          <a:ea typeface="+mn-ea"/>
                          <a:cs typeface="+mn-cs"/>
                        </a:rPr>
                        <a:t>ри</a:t>
                      </a:r>
                      <a:endParaRPr lang="uz-Cyrl-UZ" sz="8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kern="1200" dirty="0" err="1" smtClean="0">
                          <a:solidFill>
                            <a:schemeClr val="tx1"/>
                          </a:solidFill>
                          <a:effectLst/>
                          <a:latin typeface="+mn-lt"/>
                          <a:ea typeface="+mn-ea"/>
                          <a:cs typeface="+mn-cs"/>
                        </a:rPr>
                        <a:t>Напакада</a:t>
                      </a:r>
                      <a:r>
                        <a:rPr lang="ru-RU" sz="800" kern="1200" dirty="0" smtClean="0">
                          <a:solidFill>
                            <a:schemeClr val="tx1"/>
                          </a:solidFill>
                          <a:effectLst/>
                          <a:latin typeface="+mn-lt"/>
                          <a:ea typeface="+mn-ea"/>
                          <a:cs typeface="+mn-cs"/>
                        </a:rPr>
                        <a:t>(Берда</a:t>
                      </a:r>
                      <a:r>
                        <a:rPr lang="ca-ES" sz="800" kern="1200" dirty="0" smtClean="0">
                          <a:solidFill>
                            <a:schemeClr val="tx1"/>
                          </a:solidFill>
                          <a:effectLst/>
                          <a:latin typeface="+mn-lt"/>
                          <a:ea typeface="+mn-ea"/>
                          <a:cs typeface="+mn-cs"/>
                        </a:rPr>
                        <a:t>қ</a:t>
                      </a:r>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номидаги</a:t>
                      </a:r>
                      <a:r>
                        <a:rPr lang="ru-RU" sz="800" kern="1200" dirty="0" smtClean="0">
                          <a:solidFill>
                            <a:schemeClr val="tx1"/>
                          </a:solidFill>
                          <a:effectLst/>
                          <a:latin typeface="+mn-lt"/>
                          <a:ea typeface="+mn-ea"/>
                          <a:cs typeface="+mn-cs"/>
                        </a:rPr>
                        <a:t> </a:t>
                      </a:r>
                      <a:r>
                        <a:rPr lang="ca-ES" sz="800" kern="1200" dirty="0" smtClean="0">
                          <a:solidFill>
                            <a:schemeClr val="tx1"/>
                          </a:solidFill>
                          <a:effectLst/>
                          <a:latin typeface="+mn-lt"/>
                          <a:ea typeface="+mn-ea"/>
                          <a:cs typeface="+mn-cs"/>
                        </a:rPr>
                        <a:t>Қ</a:t>
                      </a:r>
                      <a:r>
                        <a:rPr lang="ru-RU" sz="800" kern="1200" dirty="0" smtClean="0">
                          <a:solidFill>
                            <a:schemeClr val="tx1"/>
                          </a:solidFill>
                          <a:effectLst/>
                          <a:latin typeface="+mn-lt"/>
                          <a:ea typeface="+mn-ea"/>
                          <a:cs typeface="+mn-cs"/>
                        </a:rPr>
                        <a:t>ора</a:t>
                      </a:r>
                      <a:r>
                        <a:rPr lang="ca-ES" sz="800" kern="1200" dirty="0" smtClean="0">
                          <a:solidFill>
                            <a:schemeClr val="tx1"/>
                          </a:solidFill>
                          <a:effectLst/>
                          <a:latin typeface="+mn-lt"/>
                          <a:ea typeface="+mn-ea"/>
                          <a:cs typeface="+mn-cs"/>
                        </a:rPr>
                        <a:t>қ</a:t>
                      </a:r>
                      <a:r>
                        <a:rPr lang="ru-RU" sz="800" kern="1200" dirty="0" err="1" smtClean="0">
                          <a:solidFill>
                            <a:schemeClr val="tx1"/>
                          </a:solidFill>
                          <a:effectLst/>
                          <a:latin typeface="+mn-lt"/>
                          <a:ea typeface="+mn-ea"/>
                          <a:cs typeface="+mn-cs"/>
                        </a:rPr>
                        <a:t>алпо</a:t>
                      </a:r>
                      <a:r>
                        <a:rPr lang="ca-ES" sz="800" kern="1200" dirty="0" smtClean="0">
                          <a:solidFill>
                            <a:schemeClr val="tx1"/>
                          </a:solidFill>
                          <a:effectLst/>
                          <a:latin typeface="+mn-lt"/>
                          <a:ea typeface="+mn-ea"/>
                          <a:cs typeface="+mn-cs"/>
                        </a:rPr>
                        <a:t>қ</a:t>
                      </a:r>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давлат</a:t>
                      </a:r>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университети</a:t>
                      </a:r>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катта</a:t>
                      </a:r>
                      <a:r>
                        <a:rPr lang="ru-RU" sz="800" kern="1200" dirty="0" smtClean="0">
                          <a:solidFill>
                            <a:schemeClr val="tx1"/>
                          </a:solidFill>
                          <a:effectLst/>
                          <a:latin typeface="+mn-lt"/>
                          <a:ea typeface="+mn-ea"/>
                          <a:cs typeface="+mn-cs"/>
                        </a:rPr>
                        <a:t> лаборант</a:t>
                      </a:r>
                      <a:r>
                        <a:rPr lang="uz-Cyrl-UZ" sz="800" kern="1200" dirty="0" smtClean="0">
                          <a:solidFill>
                            <a:schemeClr val="tx1"/>
                          </a:solidFill>
                          <a:effectLst/>
                          <a:latin typeface="+mn-lt"/>
                          <a:ea typeface="+mn-ea"/>
                          <a:cs typeface="+mn-cs"/>
                        </a:rPr>
                        <a:t>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48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kern="1200" dirty="0" smtClean="0">
                          <a:solidFill>
                            <a:schemeClr val="tx1"/>
                          </a:solidFill>
                          <a:effectLst/>
                          <a:latin typeface="+mn-lt"/>
                          <a:ea typeface="+mn-ea"/>
                          <a:cs typeface="+mn-cs"/>
                        </a:rPr>
                        <a:t>1985 й. Тошкент театр ва рассомлик санъати   институти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6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kern="1200" dirty="0" smtClean="0">
                          <a:solidFill>
                            <a:schemeClr val="tx1"/>
                          </a:solidFill>
                          <a:effectLst/>
                          <a:latin typeface="+mn-lt"/>
                          <a:ea typeface="+mn-ea"/>
                          <a:cs typeface="+mn-cs"/>
                        </a:rPr>
                        <a:t>муси</a:t>
                      </a:r>
                      <a:r>
                        <a:rPr lang="ca-ES" sz="800" kern="1200" dirty="0" smtClean="0">
                          <a:solidFill>
                            <a:schemeClr val="tx1"/>
                          </a:solidFill>
                          <a:effectLst/>
                          <a:latin typeface="+mn-lt"/>
                          <a:ea typeface="+mn-ea"/>
                          <a:cs typeface="+mn-cs"/>
                        </a:rPr>
                        <a:t>қ</a:t>
                      </a:r>
                      <a:r>
                        <a:rPr lang="uz-Cyrl-UZ" sz="800" kern="1200" dirty="0" smtClean="0">
                          <a:solidFill>
                            <a:schemeClr val="tx1"/>
                          </a:solidFill>
                          <a:effectLst/>
                          <a:latin typeface="+mn-lt"/>
                          <a:ea typeface="+mn-ea"/>
                          <a:cs typeface="+mn-cs"/>
                        </a:rPr>
                        <a:t>али театр акт</a:t>
                      </a:r>
                      <a:r>
                        <a:rPr lang="ca-ES" sz="800" kern="1200" dirty="0" smtClean="0">
                          <a:solidFill>
                            <a:schemeClr val="tx1"/>
                          </a:solidFill>
                          <a:effectLst/>
                          <a:latin typeface="+mn-lt"/>
                          <a:ea typeface="+mn-ea"/>
                          <a:cs typeface="+mn-cs"/>
                        </a:rPr>
                        <a:t>ё</a:t>
                      </a:r>
                      <a:r>
                        <a:rPr lang="uz-Cyrl-UZ" sz="800" kern="1200" dirty="0" smtClean="0">
                          <a:solidFill>
                            <a:schemeClr val="tx1"/>
                          </a:solidFill>
                          <a:effectLst/>
                          <a:latin typeface="+mn-lt"/>
                          <a:ea typeface="+mn-ea"/>
                          <a:cs typeface="+mn-cs"/>
                        </a:rPr>
                        <a:t>ри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254369">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045057962"/>
              </p:ext>
            </p:extLst>
          </p:nvPr>
        </p:nvGraphicFramePr>
        <p:xfrm>
          <a:off x="3674526" y="865689"/>
          <a:ext cx="3172841" cy="5837115"/>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0299">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44935">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1985 йилдан буён </a:t>
                      </a:r>
                      <a:r>
                        <a:rPr lang="uz-Cyrl-UZ" sz="900" b="1" kern="1200" dirty="0" smtClean="0">
                          <a:solidFill>
                            <a:schemeClr val="tx1"/>
                          </a:solidFill>
                          <a:effectLst/>
                          <a:latin typeface="+mn-lt"/>
                          <a:ea typeface="+mn-ea"/>
                          <a:cs typeface="+mn-cs"/>
                        </a:rPr>
                        <a:t> Берда</a:t>
                      </a:r>
                      <a:r>
                        <a:rPr lang="ca-ES" sz="900" b="1" kern="1200" dirty="0" smtClean="0">
                          <a:solidFill>
                            <a:schemeClr val="tx1"/>
                          </a:solidFill>
                          <a:effectLst/>
                          <a:latin typeface="+mn-lt"/>
                          <a:ea typeface="+mn-ea"/>
                          <a:cs typeface="+mn-cs"/>
                        </a:rPr>
                        <a:t>қ</a:t>
                      </a:r>
                      <a:r>
                        <a:rPr lang="uz-Cyrl-UZ" sz="900" b="1" kern="1200" dirty="0" smtClean="0">
                          <a:solidFill>
                            <a:schemeClr val="tx1"/>
                          </a:solidFill>
                          <a:effectLst/>
                          <a:latin typeface="+mn-lt"/>
                          <a:ea typeface="+mn-ea"/>
                          <a:cs typeface="+mn-cs"/>
                        </a:rPr>
                        <a:t> номидаги </a:t>
                      </a:r>
                      <a:r>
                        <a:rPr lang="ca-ES" sz="900" b="1" kern="1200" dirty="0" smtClean="0">
                          <a:solidFill>
                            <a:schemeClr val="tx1"/>
                          </a:solidFill>
                          <a:effectLst/>
                          <a:latin typeface="+mn-lt"/>
                          <a:ea typeface="+mn-ea"/>
                          <a:cs typeface="+mn-cs"/>
                        </a:rPr>
                        <a:t>Қ</a:t>
                      </a:r>
                      <a:r>
                        <a:rPr lang="uz-Cyrl-UZ" sz="900" b="1" kern="1200" dirty="0" smtClean="0">
                          <a:solidFill>
                            <a:schemeClr val="tx1"/>
                          </a:solidFill>
                          <a:effectLst/>
                          <a:latin typeface="+mn-lt"/>
                          <a:ea typeface="+mn-ea"/>
                          <a:cs typeface="+mn-cs"/>
                        </a:rPr>
                        <a:t>ора</a:t>
                      </a:r>
                      <a:r>
                        <a:rPr lang="ca-ES" sz="900" b="1" kern="1200" dirty="0" smtClean="0">
                          <a:solidFill>
                            <a:schemeClr val="tx1"/>
                          </a:solidFill>
                          <a:effectLst/>
                          <a:latin typeface="+mn-lt"/>
                          <a:ea typeface="+mn-ea"/>
                          <a:cs typeface="+mn-cs"/>
                        </a:rPr>
                        <a:t>қ</a:t>
                      </a:r>
                      <a:r>
                        <a:rPr lang="uz-Cyrl-UZ" sz="900" b="1" kern="1200" dirty="0" smtClean="0">
                          <a:solidFill>
                            <a:schemeClr val="tx1"/>
                          </a:solidFill>
                          <a:effectLst/>
                          <a:latin typeface="+mn-lt"/>
                          <a:ea typeface="+mn-ea"/>
                          <a:cs typeface="+mn-cs"/>
                        </a:rPr>
                        <a:t>алпо</a:t>
                      </a:r>
                      <a:r>
                        <a:rPr lang="ca-ES" sz="900" b="1" kern="1200" dirty="0" smtClean="0">
                          <a:solidFill>
                            <a:schemeClr val="tx1"/>
                          </a:solidFill>
                          <a:effectLst/>
                          <a:latin typeface="+mn-lt"/>
                          <a:ea typeface="+mn-ea"/>
                          <a:cs typeface="+mn-cs"/>
                        </a:rPr>
                        <a:t>қ</a:t>
                      </a:r>
                      <a:r>
                        <a:rPr lang="uz-Cyrl-UZ" sz="900" b="1" kern="1200" dirty="0" smtClean="0">
                          <a:solidFill>
                            <a:schemeClr val="tx1"/>
                          </a:solidFill>
                          <a:effectLst/>
                          <a:latin typeface="+mn-lt"/>
                          <a:ea typeface="+mn-ea"/>
                          <a:cs typeface="+mn-cs"/>
                        </a:rPr>
                        <a:t> давлат академик муси</a:t>
                      </a:r>
                      <a:r>
                        <a:rPr lang="ca-ES" sz="900" b="1" kern="1200" dirty="0" smtClean="0">
                          <a:solidFill>
                            <a:schemeClr val="tx1"/>
                          </a:solidFill>
                          <a:effectLst/>
                          <a:latin typeface="+mn-lt"/>
                          <a:ea typeface="+mn-ea"/>
                          <a:cs typeface="+mn-cs"/>
                        </a:rPr>
                        <a:t>қали</a:t>
                      </a:r>
                      <a:r>
                        <a:rPr lang="uz-Cyrl-UZ" sz="900" b="1" kern="1200" smtClean="0">
                          <a:solidFill>
                            <a:schemeClr val="tx1"/>
                          </a:solidFill>
                          <a:effectLst/>
                          <a:latin typeface="+mn-lt"/>
                          <a:ea typeface="+mn-ea"/>
                          <a:cs typeface="+mn-cs"/>
                        </a:rPr>
                        <a:t> театрининг </a:t>
                      </a:r>
                      <a:r>
                        <a:rPr lang="uz-Cyrl-UZ" sz="900" b="1" kern="1200" noProof="0" smtClean="0">
                          <a:solidFill>
                            <a:schemeClr val="tx1"/>
                          </a:solidFill>
                          <a:latin typeface="+mn-lt"/>
                          <a:ea typeface="+mn-ea"/>
                          <a:cs typeface="+mn-cs"/>
                        </a:rPr>
                        <a:t>вокал </a:t>
                      </a:r>
                      <a:r>
                        <a:rPr lang="uz-Cyrl-UZ" sz="900" b="1" kern="1200" noProof="0" dirty="0" smtClean="0">
                          <a:solidFill>
                            <a:schemeClr val="tx1"/>
                          </a:solidFill>
                          <a:latin typeface="+mn-lt"/>
                          <a:ea typeface="+mn-ea"/>
                          <a:cs typeface="+mn-cs"/>
                        </a:rPr>
                        <a:t>артисти</a:t>
                      </a:r>
                      <a:endParaRPr lang="uz-Cyrl-UZ" sz="900" b="1"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3923">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858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41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357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0610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1985 й-х.в – Бердак номидаги Коракалпок давлат академик мусикали театри вокал артисти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0484">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048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2018 й. Нукус шахри “Тахиатош” сиҳатгоҳида даволанган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859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7875">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5513">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966739">
                <a:tc gridSpan="2">
                  <a:txBody>
                    <a:bodyPr/>
                    <a:lstStyle/>
                    <a:p>
                      <a:r>
                        <a:rPr lang="uz-Cyrl-UZ" sz="900" kern="1200" dirty="0" smtClean="0">
                          <a:solidFill>
                            <a:schemeClr val="tx1"/>
                          </a:solidFill>
                          <a:effectLst/>
                          <a:latin typeface="+mn-lt"/>
                          <a:ea typeface="+mn-ea"/>
                          <a:cs typeface="+mn-cs"/>
                        </a:rPr>
                        <a:t>1996 й. “Ўзбекистон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Республикасид</a:t>
                      </a:r>
                      <a:r>
                        <a:rPr lang="uz-Cyrl-UZ" sz="900" kern="1200" dirty="0" smtClean="0">
                          <a:solidFill>
                            <a:schemeClr val="tx1"/>
                          </a:solidFill>
                          <a:effectLst/>
                          <a:latin typeface="+mn-lt"/>
                          <a:ea typeface="+mn-ea"/>
                          <a:cs typeface="+mn-cs"/>
                        </a:rPr>
                        <a:t>а хизмат кўрсатган артист”</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2012 й. “Ўзбекистон </a:t>
                      </a:r>
                      <a:r>
                        <a:rPr lang="ru-RU" sz="900" kern="1200" dirty="0" err="1" smtClean="0">
                          <a:solidFill>
                            <a:schemeClr val="tx1"/>
                          </a:solidFill>
                          <a:effectLst/>
                          <a:latin typeface="+mn-lt"/>
                          <a:ea typeface="+mn-ea"/>
                          <a:cs typeface="+mn-cs"/>
                        </a:rPr>
                        <a:t>Республикаси</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хал</a:t>
                      </a:r>
                      <a:r>
                        <a:rPr lang="ca-ES" sz="900" kern="1200" dirty="0" smtClean="0">
                          <a:solidFill>
                            <a:schemeClr val="tx1"/>
                          </a:solidFill>
                          <a:effectLst/>
                          <a:latin typeface="+mn-lt"/>
                          <a:ea typeface="+mn-ea"/>
                          <a:cs typeface="+mn-cs"/>
                        </a:rPr>
                        <a:t>қ </a:t>
                      </a:r>
                      <a:r>
                        <a:rPr lang="uz-Cyrl-UZ" sz="900" kern="1200" dirty="0" smtClean="0">
                          <a:solidFill>
                            <a:schemeClr val="tx1"/>
                          </a:solidFill>
                          <a:effectLst/>
                          <a:latin typeface="+mn-lt"/>
                          <a:ea typeface="+mn-ea"/>
                          <a:cs typeface="+mn-cs"/>
                        </a:rPr>
                        <a:t>артисти”</a:t>
                      </a:r>
                      <a:endParaRPr lang="uz-Cyrl-UZ" sz="10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409342944"/>
              </p:ext>
            </p:extLst>
          </p:nvPr>
        </p:nvGraphicFramePr>
        <p:xfrm>
          <a:off x="6949856" y="683361"/>
          <a:ext cx="2956143" cy="5994276"/>
        </p:xfrm>
        <a:graphic>
          <a:graphicData uri="http://schemas.openxmlformats.org/drawingml/2006/table">
            <a:tbl>
              <a:tblPr firstRow="1" bandRow="1">
                <a:tableStyleId>{C083E6E3-FA7D-4D7B-A595-EF9225AFEA82}</a:tableStyleId>
              </a:tblPr>
              <a:tblGrid>
                <a:gridCol w="2956143">
                  <a:extLst>
                    <a:ext uri="{9D8B030D-6E8A-4147-A177-3AD203B41FA5}">
                      <a16:colId xmlns:a16="http://schemas.microsoft.com/office/drawing/2014/main" val="2715609854"/>
                    </a:ext>
                  </a:extLst>
                </a:gridCol>
              </a:tblGrid>
              <a:tr h="194226">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179279">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37200">
                <a:tc>
                  <a:txBody>
                    <a:bodyPr/>
                    <a:lstStyle/>
                    <a:p>
                      <a:pPr marL="0" indent="179388" algn="just">
                        <a:lnSpc>
                          <a:spcPct val="100000"/>
                        </a:lnSpc>
                      </a:pPr>
                      <a:r>
                        <a:rPr lang="ru-RU" sz="900" dirty="0" smtClean="0"/>
                        <a:t>«</a:t>
                      </a:r>
                      <a:r>
                        <a:rPr lang="ru-RU" sz="900" dirty="0" err="1" smtClean="0"/>
                        <a:t>Мангу</a:t>
                      </a:r>
                      <a:r>
                        <a:rPr lang="ru-RU" sz="900" dirty="0" smtClean="0"/>
                        <a:t> </a:t>
                      </a:r>
                      <a:r>
                        <a:rPr lang="ru-RU" sz="900" dirty="0" err="1" smtClean="0"/>
                        <a:t>булоқ»да</a:t>
                      </a:r>
                      <a:r>
                        <a:rPr lang="ru-RU" sz="900" dirty="0" smtClean="0"/>
                        <a:t> </a:t>
                      </a:r>
                      <a:r>
                        <a:rPr lang="ru-RU" sz="900" dirty="0" err="1" smtClean="0"/>
                        <a:t>Искандар</a:t>
                      </a:r>
                      <a:r>
                        <a:rPr lang="ru-RU" sz="900" dirty="0" smtClean="0"/>
                        <a:t>, «</a:t>
                      </a:r>
                      <a:r>
                        <a:rPr lang="ru-RU" sz="900" dirty="0" err="1" smtClean="0"/>
                        <a:t>Бердақ»да</a:t>
                      </a:r>
                      <a:r>
                        <a:rPr lang="ru-RU" sz="900" dirty="0" smtClean="0"/>
                        <a:t> </a:t>
                      </a:r>
                      <a:r>
                        <a:rPr lang="ru-RU" sz="900" dirty="0" err="1" smtClean="0"/>
                        <a:t>Ерназар</a:t>
                      </a:r>
                      <a:r>
                        <a:rPr lang="ru-RU" sz="900" dirty="0" smtClean="0"/>
                        <a:t> </a:t>
                      </a:r>
                      <a:r>
                        <a:rPr lang="ru-RU" sz="900" dirty="0" err="1" smtClean="0"/>
                        <a:t>Алакўз</a:t>
                      </a:r>
                      <a:r>
                        <a:rPr lang="ru-RU" sz="900" dirty="0" smtClean="0"/>
                        <a:t>, «</a:t>
                      </a:r>
                      <a:r>
                        <a:rPr lang="ru-RU" sz="900" dirty="0" err="1" smtClean="0"/>
                        <a:t>Ажинияз</a:t>
                      </a:r>
                      <a:r>
                        <a:rPr lang="ru-RU" sz="900" dirty="0" smtClean="0"/>
                        <a:t>» </a:t>
                      </a:r>
                      <a:r>
                        <a:rPr lang="ru-RU" sz="900" dirty="0" err="1" smtClean="0"/>
                        <a:t>операсида</a:t>
                      </a:r>
                      <a:r>
                        <a:rPr lang="ru-RU" sz="900" dirty="0" smtClean="0"/>
                        <a:t> </a:t>
                      </a:r>
                      <a:r>
                        <a:rPr lang="ru-RU" sz="900" dirty="0" err="1" smtClean="0"/>
                        <a:t>шарқ</a:t>
                      </a:r>
                      <a:r>
                        <a:rPr lang="ru-RU" sz="900" dirty="0" smtClean="0"/>
                        <a:t> </a:t>
                      </a:r>
                      <a:r>
                        <a:rPr lang="ru-RU" sz="900" dirty="0" err="1" smtClean="0"/>
                        <a:t>подшаси</a:t>
                      </a:r>
                      <a:r>
                        <a:rPr lang="ru-RU" sz="900" dirty="0" smtClean="0"/>
                        <a:t>, «</a:t>
                      </a:r>
                      <a:r>
                        <a:rPr lang="ru-RU" sz="900" dirty="0" err="1" smtClean="0"/>
                        <a:t>Ханума»да</a:t>
                      </a:r>
                      <a:r>
                        <a:rPr lang="ru-RU" sz="900" dirty="0" smtClean="0"/>
                        <a:t> Князь, «</a:t>
                      </a:r>
                      <a:r>
                        <a:rPr lang="ru-RU" sz="900" dirty="0" err="1" smtClean="0"/>
                        <a:t>Шарьяр»да</a:t>
                      </a:r>
                      <a:r>
                        <a:rPr lang="ru-RU" sz="900" dirty="0" smtClean="0"/>
                        <a:t> </a:t>
                      </a:r>
                      <a:r>
                        <a:rPr lang="ru-RU" sz="900" dirty="0" err="1" smtClean="0"/>
                        <a:t>Шасуар</a:t>
                      </a:r>
                      <a:r>
                        <a:rPr lang="ru-RU" sz="900" dirty="0" smtClean="0"/>
                        <a:t>, «</a:t>
                      </a:r>
                      <a:r>
                        <a:rPr lang="ru-RU" sz="900" dirty="0" err="1" smtClean="0"/>
                        <a:t>Жон</a:t>
                      </a:r>
                      <a:r>
                        <a:rPr lang="ru-RU" sz="900" dirty="0" smtClean="0"/>
                        <a:t> </a:t>
                      </a:r>
                      <a:r>
                        <a:rPr lang="ru-RU" sz="900" dirty="0" err="1" smtClean="0"/>
                        <a:t>қизлар»да</a:t>
                      </a:r>
                      <a:r>
                        <a:rPr lang="ru-RU" sz="900" dirty="0" smtClean="0"/>
                        <a:t> </a:t>
                      </a:r>
                      <a:r>
                        <a:rPr lang="ru-RU" sz="900" dirty="0" err="1" smtClean="0"/>
                        <a:t>Абдуқадир</a:t>
                      </a:r>
                      <a:r>
                        <a:rPr lang="ru-RU" sz="900" dirty="0" smtClean="0"/>
                        <a:t>, «</a:t>
                      </a:r>
                      <a:r>
                        <a:rPr lang="ru-RU" sz="900" dirty="0" err="1" smtClean="0"/>
                        <a:t>Адолатга</a:t>
                      </a:r>
                      <a:r>
                        <a:rPr lang="ru-RU" sz="900" dirty="0" smtClean="0"/>
                        <a:t> </a:t>
                      </a:r>
                      <a:r>
                        <a:rPr lang="ru-RU" sz="900" dirty="0" err="1" smtClean="0"/>
                        <a:t>қиёнат»да</a:t>
                      </a:r>
                      <a:r>
                        <a:rPr lang="ru-RU" sz="900" dirty="0" smtClean="0"/>
                        <a:t> </a:t>
                      </a:r>
                      <a:r>
                        <a:rPr lang="ru-RU" sz="900" dirty="0" err="1" smtClean="0"/>
                        <a:t>Патша</a:t>
                      </a:r>
                      <a:r>
                        <a:rPr lang="ru-RU" sz="900" dirty="0" smtClean="0"/>
                        <a:t>, «</a:t>
                      </a:r>
                      <a:r>
                        <a:rPr lang="ru-RU" sz="900" dirty="0" err="1" smtClean="0"/>
                        <a:t>Сохипқирон»да</a:t>
                      </a:r>
                      <a:r>
                        <a:rPr lang="ru-RU" sz="900" dirty="0" smtClean="0"/>
                        <a:t> Амир </a:t>
                      </a:r>
                      <a:r>
                        <a:rPr lang="ru-RU" sz="900" dirty="0" err="1" smtClean="0"/>
                        <a:t>Темур</a:t>
                      </a:r>
                      <a:r>
                        <a:rPr lang="ru-RU" sz="900" dirty="0" smtClean="0"/>
                        <a:t>, «</a:t>
                      </a:r>
                      <a:r>
                        <a:rPr lang="ru-RU" sz="900" dirty="0" err="1" smtClean="0"/>
                        <a:t>Суймаганга</a:t>
                      </a:r>
                      <a:r>
                        <a:rPr lang="ru-RU" sz="900" dirty="0" smtClean="0"/>
                        <a:t> </a:t>
                      </a:r>
                      <a:r>
                        <a:rPr lang="ru-RU" sz="900" dirty="0" err="1" smtClean="0"/>
                        <a:t>суйканма»да</a:t>
                      </a:r>
                      <a:r>
                        <a:rPr lang="ru-RU" sz="900" dirty="0" smtClean="0"/>
                        <a:t> </a:t>
                      </a:r>
                      <a:r>
                        <a:rPr lang="ru-RU" sz="900" dirty="0" err="1" smtClean="0"/>
                        <a:t>Ғодалақ</a:t>
                      </a:r>
                      <a:r>
                        <a:rPr lang="ru-RU" sz="900" dirty="0" smtClean="0"/>
                        <a:t>, «</a:t>
                      </a:r>
                      <a:r>
                        <a:rPr lang="ru-RU" sz="900" dirty="0" err="1" smtClean="0"/>
                        <a:t>Ўришга</a:t>
                      </a:r>
                      <a:r>
                        <a:rPr lang="ru-RU" sz="900" dirty="0" smtClean="0"/>
                        <a:t> </a:t>
                      </a:r>
                      <a:r>
                        <a:rPr lang="ru-RU" sz="900" dirty="0" err="1" smtClean="0"/>
                        <a:t>налат»да</a:t>
                      </a:r>
                      <a:r>
                        <a:rPr lang="ru-RU" sz="900" dirty="0" smtClean="0"/>
                        <a:t> </a:t>
                      </a:r>
                      <a:r>
                        <a:rPr lang="ru-RU" sz="900" dirty="0" err="1" smtClean="0"/>
                        <a:t>Сапар</a:t>
                      </a:r>
                      <a:r>
                        <a:rPr lang="ru-RU" sz="900" dirty="0" smtClean="0"/>
                        <a:t> </a:t>
                      </a:r>
                      <a:r>
                        <a:rPr lang="ru-RU" sz="900" dirty="0" err="1" smtClean="0"/>
                        <a:t>ота</a:t>
                      </a:r>
                      <a:r>
                        <a:rPr lang="ru-RU" sz="900" dirty="0" smtClean="0"/>
                        <a:t>, «</a:t>
                      </a:r>
                      <a:r>
                        <a:rPr lang="ru-RU" sz="900" dirty="0" err="1" smtClean="0"/>
                        <a:t>Кечиккан</a:t>
                      </a:r>
                      <a:r>
                        <a:rPr lang="ru-RU" sz="900" dirty="0" smtClean="0"/>
                        <a:t> </a:t>
                      </a:r>
                      <a:r>
                        <a:rPr lang="ru-RU" sz="900" dirty="0" err="1" smtClean="0"/>
                        <a:t>мухаббат»да</a:t>
                      </a:r>
                      <a:r>
                        <a:rPr lang="ru-RU" sz="900" dirty="0" smtClean="0"/>
                        <a:t> </a:t>
                      </a:r>
                      <a:r>
                        <a:rPr lang="ru-RU" sz="900" dirty="0" err="1" smtClean="0"/>
                        <a:t>Қадир</a:t>
                      </a:r>
                      <a:r>
                        <a:rPr lang="ru-RU" sz="900" dirty="0" smtClean="0"/>
                        <a:t>, «</a:t>
                      </a:r>
                      <a:r>
                        <a:rPr lang="ru-RU" sz="900" dirty="0" err="1" smtClean="0"/>
                        <a:t>Маст</a:t>
                      </a:r>
                      <a:r>
                        <a:rPr lang="ru-RU" sz="900" dirty="0" smtClean="0"/>
                        <a:t> </a:t>
                      </a:r>
                      <a:r>
                        <a:rPr lang="ru-RU" sz="900" dirty="0" err="1" smtClean="0"/>
                        <a:t>келинчаклар»да</a:t>
                      </a:r>
                      <a:r>
                        <a:rPr lang="ru-RU" sz="900" dirty="0" smtClean="0"/>
                        <a:t> Салим, «</a:t>
                      </a:r>
                      <a:r>
                        <a:rPr lang="ru-RU" sz="900" dirty="0" err="1" smtClean="0"/>
                        <a:t>Қизиқчилар</a:t>
                      </a:r>
                      <a:r>
                        <a:rPr lang="ru-RU" sz="900" dirty="0" smtClean="0"/>
                        <a:t> </a:t>
                      </a:r>
                      <a:r>
                        <a:rPr lang="ru-RU" sz="900" dirty="0" err="1" smtClean="0"/>
                        <a:t>касалхонада»да</a:t>
                      </a:r>
                      <a:r>
                        <a:rPr lang="ru-RU" sz="900" dirty="0" smtClean="0"/>
                        <a:t> Палым , «</a:t>
                      </a:r>
                      <a:r>
                        <a:rPr lang="ru-RU" sz="900" dirty="0" err="1" smtClean="0"/>
                        <a:t>Палакнинг</a:t>
                      </a:r>
                      <a:r>
                        <a:rPr lang="ru-RU" sz="900" dirty="0" smtClean="0"/>
                        <a:t> </a:t>
                      </a:r>
                      <a:r>
                        <a:rPr lang="ru-RU" sz="900" dirty="0" err="1" smtClean="0"/>
                        <a:t>гардичи»да</a:t>
                      </a:r>
                      <a:r>
                        <a:rPr lang="ru-RU" sz="900" dirty="0" smtClean="0"/>
                        <a:t> </a:t>
                      </a:r>
                      <a:r>
                        <a:rPr lang="ru-RU" sz="900" dirty="0" err="1" smtClean="0"/>
                        <a:t>Чол</a:t>
                      </a:r>
                      <a:r>
                        <a:rPr lang="ru-RU" sz="900" dirty="0" smtClean="0"/>
                        <a:t>, «</a:t>
                      </a:r>
                      <a:r>
                        <a:rPr lang="ru-RU" sz="900" dirty="0" err="1" smtClean="0"/>
                        <a:t>Кўлма</a:t>
                      </a:r>
                      <a:r>
                        <a:rPr lang="ru-RU" sz="900" dirty="0" smtClean="0"/>
                        <a:t> </a:t>
                      </a:r>
                      <a:r>
                        <a:rPr lang="ru-RU" sz="900" dirty="0" err="1" smtClean="0"/>
                        <a:t>менга»да</a:t>
                      </a:r>
                      <a:r>
                        <a:rPr lang="ru-RU" sz="900" dirty="0" smtClean="0"/>
                        <a:t> </a:t>
                      </a:r>
                      <a:r>
                        <a:rPr lang="ru-RU" sz="900" dirty="0" err="1" smtClean="0"/>
                        <a:t>Барлиқбой</a:t>
                      </a:r>
                      <a:r>
                        <a:rPr lang="ru-RU" sz="900" dirty="0" smtClean="0"/>
                        <a:t>, «</a:t>
                      </a:r>
                      <a:r>
                        <a:rPr lang="ru-RU" sz="900" dirty="0" err="1" smtClean="0"/>
                        <a:t>Алпомиш»да</a:t>
                      </a:r>
                      <a:r>
                        <a:rPr lang="ru-RU" sz="900" dirty="0" smtClean="0"/>
                        <a:t> </a:t>
                      </a:r>
                      <a:r>
                        <a:rPr lang="ru-RU" sz="900" dirty="0" err="1" smtClean="0"/>
                        <a:t>Байсари</a:t>
                      </a:r>
                      <a:r>
                        <a:rPr lang="ru-RU" sz="900" dirty="0" smtClean="0"/>
                        <a:t>, «</a:t>
                      </a:r>
                      <a:r>
                        <a:rPr lang="ru-RU" sz="900" dirty="0" err="1" smtClean="0"/>
                        <a:t>Тумарис»да</a:t>
                      </a:r>
                      <a:r>
                        <a:rPr lang="ru-RU" sz="900" dirty="0" smtClean="0"/>
                        <a:t> Кир </a:t>
                      </a:r>
                      <a:r>
                        <a:rPr lang="ru-RU" sz="900" dirty="0" err="1" smtClean="0"/>
                        <a:t>подшаси</a:t>
                      </a:r>
                      <a:r>
                        <a:rPr lang="ru-RU" sz="900" dirty="0" smtClean="0"/>
                        <a:t>, «</a:t>
                      </a:r>
                      <a:r>
                        <a:rPr lang="ru-RU" sz="900" dirty="0" err="1" smtClean="0"/>
                        <a:t>Ўжарлар»да</a:t>
                      </a:r>
                      <a:r>
                        <a:rPr lang="ru-RU" sz="900" dirty="0" smtClean="0"/>
                        <a:t> </a:t>
                      </a:r>
                      <a:r>
                        <a:rPr lang="ru-RU" sz="900" dirty="0" err="1" smtClean="0"/>
                        <a:t>Халмурат</a:t>
                      </a:r>
                      <a:r>
                        <a:rPr lang="ru-RU" sz="900" dirty="0" smtClean="0"/>
                        <a:t>, «</a:t>
                      </a:r>
                      <a:r>
                        <a:rPr lang="ru-RU" sz="900" dirty="0" err="1" smtClean="0"/>
                        <a:t>Имон»да</a:t>
                      </a:r>
                      <a:r>
                        <a:rPr lang="ru-RU" sz="900" dirty="0" smtClean="0"/>
                        <a:t> </a:t>
                      </a:r>
                      <a:r>
                        <a:rPr lang="ru-RU" sz="900" dirty="0" err="1" smtClean="0"/>
                        <a:t>Ж.Комилов</a:t>
                      </a:r>
                      <a:r>
                        <a:rPr lang="ru-RU" sz="900" dirty="0" smtClean="0"/>
                        <a:t>, «</a:t>
                      </a:r>
                      <a:r>
                        <a:rPr lang="ru-RU" sz="900" dirty="0" err="1" smtClean="0"/>
                        <a:t>Нур</a:t>
                      </a:r>
                      <a:r>
                        <a:rPr lang="ru-RU" sz="900" dirty="0" smtClean="0"/>
                        <a:t> </a:t>
                      </a:r>
                      <a:r>
                        <a:rPr lang="ru-RU" sz="900" dirty="0" err="1" smtClean="0"/>
                        <a:t>сояда</a:t>
                      </a:r>
                      <a:r>
                        <a:rPr lang="ru-RU" sz="900" dirty="0" smtClean="0"/>
                        <a:t> </a:t>
                      </a:r>
                      <a:r>
                        <a:rPr lang="ru-RU" sz="900" dirty="0" err="1" smtClean="0"/>
                        <a:t>қолмайди»да</a:t>
                      </a:r>
                      <a:r>
                        <a:rPr lang="ru-RU" sz="900" dirty="0" smtClean="0"/>
                        <a:t> </a:t>
                      </a:r>
                      <a:r>
                        <a:rPr lang="ru-RU" sz="900" dirty="0" err="1" smtClean="0"/>
                        <a:t>Чори</a:t>
                      </a:r>
                      <a:r>
                        <a:rPr lang="ru-RU" sz="900" dirty="0" smtClean="0"/>
                        <a:t> боба, «</a:t>
                      </a:r>
                      <a:r>
                        <a:rPr lang="ru-RU" sz="900" dirty="0" err="1" smtClean="0"/>
                        <a:t>Ғориб</a:t>
                      </a:r>
                      <a:r>
                        <a:rPr lang="ru-RU" sz="900" dirty="0" smtClean="0"/>
                        <a:t> </a:t>
                      </a:r>
                      <a:r>
                        <a:rPr lang="ru-RU" sz="900" dirty="0" err="1" smtClean="0"/>
                        <a:t>очиқ»да</a:t>
                      </a:r>
                      <a:r>
                        <a:rPr lang="ru-RU" sz="900" dirty="0" smtClean="0"/>
                        <a:t> </a:t>
                      </a:r>
                      <a:r>
                        <a:rPr lang="ru-RU" sz="900" dirty="0" err="1" smtClean="0"/>
                        <a:t>Шахаббаз</a:t>
                      </a:r>
                      <a:r>
                        <a:rPr lang="ru-RU" sz="900" dirty="0" smtClean="0"/>
                        <a:t>, «</a:t>
                      </a:r>
                      <a:r>
                        <a:rPr lang="ru-RU" sz="900" dirty="0" err="1" smtClean="0"/>
                        <a:t>Саховат</a:t>
                      </a:r>
                      <a:r>
                        <a:rPr lang="ru-RU" sz="900" dirty="0" smtClean="0"/>
                        <a:t> </a:t>
                      </a:r>
                      <a:r>
                        <a:rPr lang="ru-RU" sz="900" dirty="0" err="1" smtClean="0"/>
                        <a:t>боғи»драмасида</a:t>
                      </a:r>
                      <a:r>
                        <a:rPr lang="ru-RU" sz="900" dirty="0" smtClean="0"/>
                        <a:t> </a:t>
                      </a:r>
                      <a:r>
                        <a:rPr lang="ru-RU" sz="900" dirty="0" err="1" smtClean="0"/>
                        <a:t>Вакил</a:t>
                      </a:r>
                      <a:r>
                        <a:rPr lang="ru-RU" sz="900" dirty="0" smtClean="0"/>
                        <a:t>, </a:t>
                      </a:r>
                      <a:r>
                        <a:rPr lang="ru-RU" sz="900" dirty="0" err="1" smtClean="0"/>
                        <a:t>У.Азимнинг</a:t>
                      </a:r>
                      <a:r>
                        <a:rPr lang="ru-RU" sz="900" dirty="0" smtClean="0"/>
                        <a:t> “</a:t>
                      </a:r>
                      <a:r>
                        <a:rPr lang="ru-RU" sz="900" dirty="0" err="1" smtClean="0"/>
                        <a:t>Бир</a:t>
                      </a:r>
                      <a:r>
                        <a:rPr lang="ru-RU" sz="900" dirty="0" smtClean="0"/>
                        <a:t> </a:t>
                      </a:r>
                      <a:r>
                        <a:rPr lang="ru-RU" sz="900" dirty="0" err="1" smtClean="0"/>
                        <a:t>қадам</a:t>
                      </a:r>
                      <a:r>
                        <a:rPr lang="ru-RU" sz="900" dirty="0" smtClean="0"/>
                        <a:t> </a:t>
                      </a:r>
                      <a:r>
                        <a:rPr lang="ru-RU" sz="900" dirty="0" err="1" smtClean="0"/>
                        <a:t>йўл</a:t>
                      </a:r>
                      <a:r>
                        <a:rPr lang="ru-RU" sz="900" dirty="0" smtClean="0"/>
                        <a:t>” </a:t>
                      </a:r>
                      <a:r>
                        <a:rPr lang="ru-RU" sz="900" dirty="0" err="1" smtClean="0"/>
                        <a:t>драмасида</a:t>
                      </a:r>
                      <a:r>
                        <a:rPr lang="ru-RU" sz="900" dirty="0" smtClean="0"/>
                        <a:t> </a:t>
                      </a:r>
                      <a:r>
                        <a:rPr lang="ru-RU" sz="900" dirty="0" err="1" smtClean="0"/>
                        <a:t>Қари</a:t>
                      </a:r>
                      <a:r>
                        <a:rPr lang="ru-RU" sz="900" dirty="0" smtClean="0"/>
                        <a:t>, </a:t>
                      </a:r>
                      <a:r>
                        <a:rPr lang="ru-RU" sz="900" dirty="0" err="1" smtClean="0"/>
                        <a:t>Асатилло</a:t>
                      </a:r>
                      <a:r>
                        <a:rPr lang="ru-RU" sz="900" dirty="0" smtClean="0"/>
                        <a:t> </a:t>
                      </a:r>
                      <a:r>
                        <a:rPr lang="ru-RU" sz="900" dirty="0" err="1" smtClean="0"/>
                        <a:t>Холиковнинг</a:t>
                      </a:r>
                      <a:r>
                        <a:rPr lang="ru-RU" sz="900" dirty="0" smtClean="0"/>
                        <a:t> “</a:t>
                      </a:r>
                      <a:r>
                        <a:rPr lang="ru-RU" sz="900" dirty="0" err="1" smtClean="0"/>
                        <a:t>Прокурорнинг</a:t>
                      </a:r>
                      <a:r>
                        <a:rPr lang="ru-RU" sz="900" dirty="0" smtClean="0"/>
                        <a:t> </a:t>
                      </a:r>
                      <a:r>
                        <a:rPr lang="ru-RU" sz="900" dirty="0" err="1" smtClean="0"/>
                        <a:t>бир</a:t>
                      </a:r>
                      <a:r>
                        <a:rPr lang="ru-RU" sz="900" dirty="0" smtClean="0"/>
                        <a:t> </a:t>
                      </a:r>
                      <a:r>
                        <a:rPr lang="ru-RU" sz="900" dirty="0" err="1" smtClean="0"/>
                        <a:t>куни</a:t>
                      </a:r>
                      <a:r>
                        <a:rPr lang="ru-RU" sz="900" dirty="0" smtClean="0"/>
                        <a:t>” </a:t>
                      </a:r>
                      <a:r>
                        <a:rPr lang="ru-RU" sz="900" dirty="0" err="1" smtClean="0"/>
                        <a:t>драмасида</a:t>
                      </a:r>
                      <a:r>
                        <a:rPr lang="ru-RU" sz="900" dirty="0" smtClean="0"/>
                        <a:t> </a:t>
                      </a:r>
                      <a:r>
                        <a:rPr lang="ru-RU" sz="900" dirty="0" err="1" smtClean="0"/>
                        <a:t>Рейимбай</a:t>
                      </a:r>
                      <a:r>
                        <a:rPr lang="ru-RU" sz="900" dirty="0" smtClean="0"/>
                        <a:t> </a:t>
                      </a:r>
                      <a:r>
                        <a:rPr lang="ru-RU" sz="900" dirty="0" err="1" smtClean="0"/>
                        <a:t>ота</a:t>
                      </a:r>
                      <a:r>
                        <a:rPr lang="ru-RU" sz="900" dirty="0" smtClean="0"/>
                        <a:t>, </a:t>
                      </a:r>
                      <a:r>
                        <a:rPr lang="ru-RU" sz="900" dirty="0" err="1" smtClean="0"/>
                        <a:t>ва</a:t>
                      </a:r>
                      <a:r>
                        <a:rPr lang="ru-RU" sz="900" dirty="0" smtClean="0"/>
                        <a:t> </a:t>
                      </a:r>
                      <a:r>
                        <a:rPr lang="ru-RU" sz="900" dirty="0" err="1" smtClean="0"/>
                        <a:t>бошқада</a:t>
                      </a:r>
                      <a:r>
                        <a:rPr lang="ru-RU" sz="900" dirty="0" smtClean="0"/>
                        <a:t> </a:t>
                      </a:r>
                      <a:r>
                        <a:rPr lang="ru-RU" sz="900" dirty="0" err="1" smtClean="0"/>
                        <a:t>спектаклларда</a:t>
                      </a:r>
                      <a:r>
                        <a:rPr lang="ru-RU" sz="900" dirty="0" smtClean="0"/>
                        <a:t> </a:t>
                      </a:r>
                      <a:r>
                        <a:rPr lang="ru-RU" sz="900" dirty="0" err="1" smtClean="0"/>
                        <a:t>ёрқин</a:t>
                      </a:r>
                      <a:r>
                        <a:rPr lang="ru-RU" sz="900" dirty="0" smtClean="0"/>
                        <a:t> </a:t>
                      </a:r>
                      <a:r>
                        <a:rPr lang="ru-RU" sz="900" dirty="0" err="1" smtClean="0"/>
                        <a:t>образларни</a:t>
                      </a:r>
                      <a:r>
                        <a:rPr lang="ru-RU" sz="900" dirty="0" smtClean="0"/>
                        <a:t> </a:t>
                      </a:r>
                      <a:r>
                        <a:rPr lang="ru-RU" sz="900" dirty="0" err="1" smtClean="0"/>
                        <a:t>яратиб</a:t>
                      </a:r>
                      <a:r>
                        <a:rPr lang="ru-RU" sz="900" dirty="0" smtClean="0"/>
                        <a:t>, </a:t>
                      </a:r>
                      <a:r>
                        <a:rPr lang="ru-RU" sz="900" dirty="0" err="1" smtClean="0"/>
                        <a:t>томошабинлар</a:t>
                      </a:r>
                      <a:r>
                        <a:rPr lang="ru-RU" sz="900" dirty="0" smtClean="0"/>
                        <a:t> </a:t>
                      </a:r>
                      <a:r>
                        <a:rPr lang="ru-RU" sz="900" dirty="0" err="1" smtClean="0"/>
                        <a:t>кўнгилларидан</a:t>
                      </a:r>
                      <a:r>
                        <a:rPr lang="ru-RU" sz="900" dirty="0" smtClean="0"/>
                        <a:t> </a:t>
                      </a:r>
                      <a:r>
                        <a:rPr lang="ru-RU" sz="900" dirty="0" err="1" smtClean="0"/>
                        <a:t>жой</a:t>
                      </a:r>
                      <a:r>
                        <a:rPr lang="ru-RU" sz="900" dirty="0" smtClean="0"/>
                        <a:t> </a:t>
                      </a:r>
                      <a:r>
                        <a:rPr lang="ru-RU" sz="900" dirty="0" err="1" smtClean="0"/>
                        <a:t>олди</a:t>
                      </a:r>
                      <a:r>
                        <a:rPr lang="ru-RU" sz="900" dirty="0" smtClean="0"/>
                        <a:t>.</a:t>
                      </a:r>
                    </a:p>
                    <a:p>
                      <a:pPr marL="0" indent="179388" algn="just">
                        <a:lnSpc>
                          <a:spcPct val="100000"/>
                        </a:lnSpc>
                      </a:pPr>
                      <a:r>
                        <a:rPr lang="ru-RU" sz="900" dirty="0" smtClean="0"/>
                        <a:t>    1996 </a:t>
                      </a:r>
                      <a:r>
                        <a:rPr lang="ru-RU" sz="900" dirty="0" err="1" smtClean="0"/>
                        <a:t>йил</a:t>
                      </a:r>
                      <a:r>
                        <a:rPr lang="ru-RU" sz="900" dirty="0" smtClean="0"/>
                        <a:t> </a:t>
                      </a:r>
                      <a:r>
                        <a:rPr lang="ru-RU" sz="900" dirty="0" err="1" smtClean="0"/>
                        <a:t>А.Тимурнинг</a:t>
                      </a:r>
                      <a:r>
                        <a:rPr lang="ru-RU" sz="900" dirty="0" smtClean="0"/>
                        <a:t> 660 </a:t>
                      </a:r>
                      <a:r>
                        <a:rPr lang="ru-RU" sz="900" dirty="0" err="1" smtClean="0"/>
                        <a:t>йиилигига</a:t>
                      </a:r>
                      <a:r>
                        <a:rPr lang="ru-RU" sz="900" dirty="0" smtClean="0"/>
                        <a:t> </a:t>
                      </a:r>
                      <a:r>
                        <a:rPr lang="ru-RU" sz="900" dirty="0" err="1" smtClean="0"/>
                        <a:t>бағишланган</a:t>
                      </a:r>
                      <a:r>
                        <a:rPr lang="ru-RU" sz="900" dirty="0" smtClean="0"/>
                        <a:t>  </a:t>
                      </a:r>
                      <a:r>
                        <a:rPr lang="ru-RU" sz="900" dirty="0" err="1" smtClean="0"/>
                        <a:t>Ўзбекистон</a:t>
                      </a:r>
                      <a:r>
                        <a:rPr lang="ru-RU" sz="900" dirty="0" smtClean="0"/>
                        <a:t> </a:t>
                      </a:r>
                      <a:r>
                        <a:rPr lang="ru-RU" sz="900" dirty="0" err="1" smtClean="0"/>
                        <a:t>Республикаси</a:t>
                      </a:r>
                      <a:r>
                        <a:rPr lang="ru-RU" sz="900" dirty="0" smtClean="0"/>
                        <a:t> </a:t>
                      </a:r>
                      <a:r>
                        <a:rPr lang="ru-RU" sz="900" dirty="0" err="1" smtClean="0"/>
                        <a:t>театрлари</a:t>
                      </a:r>
                      <a:r>
                        <a:rPr lang="ru-RU" sz="900" dirty="0" smtClean="0"/>
                        <a:t> </a:t>
                      </a:r>
                      <a:r>
                        <a:rPr lang="ru-RU" sz="900" dirty="0" err="1" smtClean="0"/>
                        <a:t>фестивалида</a:t>
                      </a:r>
                      <a:r>
                        <a:rPr lang="ru-RU" sz="900" dirty="0" smtClean="0"/>
                        <a:t> «</a:t>
                      </a:r>
                      <a:r>
                        <a:rPr lang="ru-RU" sz="900" dirty="0" err="1" smtClean="0"/>
                        <a:t>Соҳибқирон</a:t>
                      </a:r>
                      <a:r>
                        <a:rPr lang="ru-RU" sz="900" dirty="0" smtClean="0"/>
                        <a:t>» </a:t>
                      </a:r>
                      <a:r>
                        <a:rPr lang="ru-RU" sz="900" dirty="0" err="1" smtClean="0"/>
                        <a:t>драмасидаги</a:t>
                      </a:r>
                      <a:r>
                        <a:rPr lang="ru-RU" sz="900" dirty="0" smtClean="0"/>
                        <a:t> Амир </a:t>
                      </a:r>
                      <a:r>
                        <a:rPr lang="ru-RU" sz="900" dirty="0" err="1" smtClean="0"/>
                        <a:t>Темур</a:t>
                      </a:r>
                      <a:r>
                        <a:rPr lang="ru-RU" sz="900" dirty="0" smtClean="0"/>
                        <a:t> роли </a:t>
                      </a:r>
                      <a:r>
                        <a:rPr lang="ru-RU" sz="900" dirty="0" err="1" smtClean="0"/>
                        <a:t>учун</a:t>
                      </a:r>
                      <a:r>
                        <a:rPr lang="ru-RU" sz="900" dirty="0" smtClean="0"/>
                        <a:t> «</a:t>
                      </a:r>
                      <a:r>
                        <a:rPr lang="ru-RU" sz="900" dirty="0" err="1" smtClean="0"/>
                        <a:t>Энг</a:t>
                      </a:r>
                      <a:r>
                        <a:rPr lang="ru-RU" sz="900" dirty="0" smtClean="0"/>
                        <a:t> </a:t>
                      </a:r>
                      <a:r>
                        <a:rPr lang="ru-RU" sz="900" dirty="0" err="1" smtClean="0"/>
                        <a:t>яхши</a:t>
                      </a:r>
                      <a:r>
                        <a:rPr lang="ru-RU" sz="900" dirty="0" smtClean="0"/>
                        <a:t> Амир Тимур </a:t>
                      </a:r>
                      <a:r>
                        <a:rPr lang="ru-RU" sz="900" dirty="0" err="1" smtClean="0"/>
                        <a:t>образини</a:t>
                      </a:r>
                      <a:r>
                        <a:rPr lang="ru-RU" sz="900" dirty="0" smtClean="0"/>
                        <a:t> </a:t>
                      </a:r>
                      <a:r>
                        <a:rPr lang="ru-RU" sz="900" dirty="0" err="1" smtClean="0"/>
                        <a:t>яратувчи</a:t>
                      </a:r>
                      <a:r>
                        <a:rPr lang="ru-RU" sz="900" dirty="0" smtClean="0"/>
                        <a:t>» </a:t>
                      </a:r>
                      <a:r>
                        <a:rPr lang="ru-RU" sz="900" dirty="0" err="1" smtClean="0"/>
                        <a:t>номинацияси</a:t>
                      </a:r>
                      <a:r>
                        <a:rPr lang="ru-RU" sz="900" dirty="0" smtClean="0"/>
                        <a:t> </a:t>
                      </a:r>
                      <a:r>
                        <a:rPr lang="ru-RU" sz="900" dirty="0" err="1" smtClean="0"/>
                        <a:t>ғолиби</a:t>
                      </a:r>
                      <a:r>
                        <a:rPr lang="ru-RU" sz="900" dirty="0" smtClean="0"/>
                        <a:t> </a:t>
                      </a:r>
                      <a:r>
                        <a:rPr lang="ru-RU" sz="900" dirty="0" err="1" smtClean="0"/>
                        <a:t>бўлди</a:t>
                      </a:r>
                      <a:r>
                        <a:rPr lang="ru-RU" sz="900" dirty="0" smtClean="0"/>
                        <a:t>.</a:t>
                      </a:r>
                    </a:p>
                    <a:p>
                      <a:pPr marL="0" indent="179388" algn="just">
                        <a:lnSpc>
                          <a:spcPct val="100000"/>
                        </a:lnSpc>
                      </a:pPr>
                      <a:r>
                        <a:rPr lang="ru-RU" sz="900" dirty="0" smtClean="0"/>
                        <a:t>2013 </a:t>
                      </a:r>
                      <a:r>
                        <a:rPr lang="ru-RU" sz="900" dirty="0" err="1" smtClean="0"/>
                        <a:t>йил</a:t>
                      </a:r>
                      <a:r>
                        <a:rPr lang="ru-RU" sz="900" dirty="0" smtClean="0"/>
                        <a:t> </a:t>
                      </a:r>
                      <a:r>
                        <a:rPr lang="ru-RU" sz="900" dirty="0" err="1" smtClean="0"/>
                        <a:t>Тошкент</a:t>
                      </a:r>
                      <a:r>
                        <a:rPr lang="ru-RU" sz="900" dirty="0" smtClean="0"/>
                        <a:t> </a:t>
                      </a:r>
                      <a:r>
                        <a:rPr lang="ru-RU" sz="900" dirty="0" err="1" smtClean="0"/>
                        <a:t>шаҳрида</a:t>
                      </a:r>
                      <a:r>
                        <a:rPr lang="ru-RU" sz="900" dirty="0" smtClean="0"/>
                        <a:t> театр </a:t>
                      </a:r>
                      <a:r>
                        <a:rPr lang="ru-RU" sz="900" dirty="0" err="1" smtClean="0"/>
                        <a:t>жамоаси</a:t>
                      </a:r>
                      <a:r>
                        <a:rPr lang="ru-RU" sz="900" dirty="0" smtClean="0"/>
                        <a:t> </a:t>
                      </a:r>
                      <a:r>
                        <a:rPr lang="ru-RU" sz="900" dirty="0" err="1" smtClean="0"/>
                        <a:t>билан</a:t>
                      </a:r>
                      <a:r>
                        <a:rPr lang="ru-RU" sz="900" dirty="0" smtClean="0"/>
                        <a:t> </a:t>
                      </a:r>
                      <a:r>
                        <a:rPr lang="ru-RU" sz="900" dirty="0" err="1" smtClean="0"/>
                        <a:t>гастрол</a:t>
                      </a:r>
                      <a:r>
                        <a:rPr lang="ru-RU" sz="900" dirty="0" smtClean="0"/>
                        <a:t> </a:t>
                      </a:r>
                      <a:r>
                        <a:rPr lang="ru-RU" sz="900" dirty="0" err="1" smtClean="0"/>
                        <a:t>сафарида</a:t>
                      </a:r>
                      <a:r>
                        <a:rPr lang="ru-RU" sz="900" dirty="0" smtClean="0"/>
                        <a:t> </a:t>
                      </a:r>
                      <a:r>
                        <a:rPr lang="ru-RU" sz="900" dirty="0" err="1" smtClean="0"/>
                        <a:t>бўлиб</a:t>
                      </a:r>
                      <a:r>
                        <a:rPr lang="ru-RU" sz="900" dirty="0" smtClean="0"/>
                        <a:t> «</a:t>
                      </a:r>
                      <a:r>
                        <a:rPr lang="ru-RU" sz="900" dirty="0" err="1" smtClean="0"/>
                        <a:t>Алпомиш</a:t>
                      </a:r>
                      <a:r>
                        <a:rPr lang="ru-RU" sz="900" dirty="0" smtClean="0"/>
                        <a:t>», «</a:t>
                      </a:r>
                      <a:r>
                        <a:rPr lang="ru-RU" sz="900" dirty="0" err="1" smtClean="0"/>
                        <a:t>Интилганга</a:t>
                      </a:r>
                      <a:r>
                        <a:rPr lang="ru-RU" sz="900" dirty="0" smtClean="0"/>
                        <a:t> толе ёр», «</a:t>
                      </a:r>
                      <a:r>
                        <a:rPr lang="ru-RU" sz="900" dirty="0" err="1" smtClean="0"/>
                        <a:t>Келин</a:t>
                      </a:r>
                      <a:r>
                        <a:rPr lang="ru-RU" sz="900" dirty="0" smtClean="0"/>
                        <a:t>» </a:t>
                      </a:r>
                      <a:r>
                        <a:rPr lang="ru-RU" sz="900" dirty="0" err="1" smtClean="0"/>
                        <a:t>спектаклларида</a:t>
                      </a:r>
                      <a:r>
                        <a:rPr lang="ru-RU" sz="900" dirty="0" smtClean="0"/>
                        <a:t> </a:t>
                      </a:r>
                      <a:r>
                        <a:rPr lang="ru-RU" sz="900" dirty="0" err="1" smtClean="0"/>
                        <a:t>роллар</a:t>
                      </a:r>
                      <a:r>
                        <a:rPr lang="ru-RU" sz="900" dirty="0" smtClean="0"/>
                        <a:t> </a:t>
                      </a:r>
                      <a:r>
                        <a:rPr lang="ru-RU" sz="900" dirty="0" err="1" smtClean="0"/>
                        <a:t>ижро</a:t>
                      </a:r>
                      <a:r>
                        <a:rPr lang="ru-RU" sz="900" dirty="0" smtClean="0"/>
                        <a:t> </a:t>
                      </a:r>
                      <a:r>
                        <a:rPr lang="ru-RU" sz="900" dirty="0" err="1" smtClean="0"/>
                        <a:t>этди</a:t>
                      </a:r>
                      <a:r>
                        <a:rPr lang="ru-RU" sz="900" dirty="0" smtClean="0"/>
                        <a:t>. </a:t>
                      </a:r>
                      <a:r>
                        <a:rPr lang="ru-RU" sz="900" dirty="0" err="1" smtClean="0"/>
                        <a:t>Шунингдек</a:t>
                      </a:r>
                      <a:r>
                        <a:rPr lang="ru-RU" sz="900" dirty="0" smtClean="0"/>
                        <a:t>,</a:t>
                      </a:r>
                      <a:r>
                        <a:rPr lang="ru-RU" sz="900" baseline="0" dirty="0" smtClean="0"/>
                        <a:t> «</a:t>
                      </a:r>
                      <a:r>
                        <a:rPr lang="ru-RU" sz="900" dirty="0" err="1" smtClean="0"/>
                        <a:t>Сизни</a:t>
                      </a:r>
                      <a:r>
                        <a:rPr lang="ru-RU" sz="900" dirty="0" smtClean="0"/>
                        <a:t> </a:t>
                      </a:r>
                      <a:r>
                        <a:rPr lang="ru-RU" sz="900" dirty="0" err="1" smtClean="0"/>
                        <a:t>кўйлаймиз</a:t>
                      </a:r>
                      <a:r>
                        <a:rPr lang="ru-RU" sz="900" dirty="0" smtClean="0"/>
                        <a:t> </a:t>
                      </a:r>
                      <a:r>
                        <a:rPr lang="ru-RU" sz="900" dirty="0" err="1" smtClean="0"/>
                        <a:t>замондаш</a:t>
                      </a:r>
                      <a:r>
                        <a:rPr lang="ru-RU" sz="900" dirty="0" smtClean="0"/>
                        <a:t>» </a:t>
                      </a:r>
                      <a:r>
                        <a:rPr lang="ru-RU" sz="900" dirty="0" err="1" smtClean="0"/>
                        <a:t>деб</a:t>
                      </a:r>
                      <a:r>
                        <a:rPr lang="ru-RU" sz="900" dirty="0" smtClean="0"/>
                        <a:t> </a:t>
                      </a:r>
                      <a:r>
                        <a:rPr lang="ru-RU" sz="900" dirty="0" err="1" smtClean="0"/>
                        <a:t>номланган</a:t>
                      </a:r>
                      <a:r>
                        <a:rPr lang="ru-RU" sz="900" dirty="0" smtClean="0"/>
                        <a:t> Республика </a:t>
                      </a:r>
                      <a:r>
                        <a:rPr lang="ru-RU" sz="900" dirty="0" err="1" smtClean="0"/>
                        <a:t>театрларининг</a:t>
                      </a:r>
                      <a:r>
                        <a:rPr lang="ru-RU" sz="900" dirty="0" smtClean="0"/>
                        <a:t> </a:t>
                      </a:r>
                      <a:r>
                        <a:rPr lang="en-US" sz="900" dirty="0" smtClean="0"/>
                        <a:t>II-</a:t>
                      </a:r>
                      <a:r>
                        <a:rPr lang="ru-RU" sz="900" dirty="0" err="1" smtClean="0"/>
                        <a:t>фестивалида</a:t>
                      </a:r>
                      <a:r>
                        <a:rPr lang="ru-RU" sz="900" dirty="0" smtClean="0"/>
                        <a:t> </a:t>
                      </a:r>
                      <a:r>
                        <a:rPr lang="ru-RU" sz="900" dirty="0" err="1" smtClean="0"/>
                        <a:t>Қ.Нарқабилнинг</a:t>
                      </a:r>
                      <a:r>
                        <a:rPr lang="ru-RU" sz="900" dirty="0" smtClean="0"/>
                        <a:t> «</a:t>
                      </a:r>
                      <a:r>
                        <a:rPr lang="ru-RU" sz="900" dirty="0" err="1" smtClean="0"/>
                        <a:t>Нур</a:t>
                      </a:r>
                      <a:r>
                        <a:rPr lang="ru-RU" sz="900" dirty="0" smtClean="0"/>
                        <a:t> </a:t>
                      </a:r>
                      <a:r>
                        <a:rPr lang="ru-RU" sz="900" dirty="0" err="1" smtClean="0"/>
                        <a:t>сояда</a:t>
                      </a:r>
                      <a:r>
                        <a:rPr lang="ru-RU" sz="900" dirty="0" smtClean="0"/>
                        <a:t> </a:t>
                      </a:r>
                      <a:r>
                        <a:rPr lang="ru-RU" sz="900" dirty="0" err="1" smtClean="0"/>
                        <a:t>қолмайди</a:t>
                      </a:r>
                      <a:r>
                        <a:rPr lang="ru-RU" sz="900" dirty="0" smtClean="0"/>
                        <a:t>» </a:t>
                      </a:r>
                      <a:r>
                        <a:rPr lang="ru-RU" sz="900" dirty="0" err="1" smtClean="0"/>
                        <a:t>спектаклида</a:t>
                      </a:r>
                      <a:r>
                        <a:rPr lang="ru-RU" sz="900" dirty="0" smtClean="0"/>
                        <a:t> </a:t>
                      </a:r>
                      <a:r>
                        <a:rPr lang="ru-RU" sz="900" dirty="0" err="1" smtClean="0"/>
                        <a:t>Чори</a:t>
                      </a:r>
                      <a:r>
                        <a:rPr lang="ru-RU" sz="900" dirty="0" smtClean="0"/>
                        <a:t> бобо роли </a:t>
                      </a:r>
                      <a:r>
                        <a:rPr lang="ru-RU" sz="900" dirty="0" err="1" smtClean="0"/>
                        <a:t>билан</a:t>
                      </a:r>
                      <a:r>
                        <a:rPr lang="ru-RU" sz="900" dirty="0" smtClean="0"/>
                        <a:t>, 2016 </a:t>
                      </a:r>
                      <a:r>
                        <a:rPr lang="ru-RU" sz="900" dirty="0" err="1" smtClean="0"/>
                        <a:t>йил</a:t>
                      </a:r>
                      <a:r>
                        <a:rPr lang="ru-RU" sz="900" dirty="0" smtClean="0"/>
                        <a:t> «</a:t>
                      </a:r>
                      <a:r>
                        <a:rPr lang="ru-RU" sz="900" dirty="0" err="1" smtClean="0"/>
                        <a:t>Ажинияз</a:t>
                      </a:r>
                      <a:r>
                        <a:rPr lang="ru-RU" sz="900" dirty="0" smtClean="0"/>
                        <a:t>», «</a:t>
                      </a:r>
                      <a:r>
                        <a:rPr lang="ru-RU" sz="900" dirty="0" err="1" smtClean="0"/>
                        <a:t>Тумарис</a:t>
                      </a:r>
                      <a:r>
                        <a:rPr lang="ru-RU" sz="900" dirty="0" smtClean="0"/>
                        <a:t>» </a:t>
                      </a:r>
                      <a:r>
                        <a:rPr lang="ru-RU" sz="900" dirty="0" err="1" smtClean="0"/>
                        <a:t>опералари</a:t>
                      </a:r>
                      <a:r>
                        <a:rPr lang="ru-RU" sz="900" dirty="0" smtClean="0"/>
                        <a:t> </a:t>
                      </a:r>
                      <a:r>
                        <a:rPr lang="ru-RU" sz="900" dirty="0" err="1" smtClean="0"/>
                        <a:t>билан</a:t>
                      </a:r>
                      <a:r>
                        <a:rPr lang="ru-RU" sz="900" dirty="0" smtClean="0"/>
                        <a:t> </a:t>
                      </a:r>
                      <a:r>
                        <a:rPr lang="ru-RU" sz="900" dirty="0" err="1" smtClean="0"/>
                        <a:t>қатнашиб</a:t>
                      </a:r>
                      <a:r>
                        <a:rPr lang="ru-RU" sz="900" dirty="0" smtClean="0"/>
                        <a:t> </a:t>
                      </a:r>
                      <a:r>
                        <a:rPr lang="ru-RU" sz="900" dirty="0" err="1" smtClean="0"/>
                        <a:t>Шарқ</a:t>
                      </a:r>
                      <a:r>
                        <a:rPr lang="ru-RU" sz="900" dirty="0" smtClean="0"/>
                        <a:t> </a:t>
                      </a:r>
                      <a:r>
                        <a:rPr lang="ru-RU" sz="900" dirty="0" err="1" smtClean="0"/>
                        <a:t>ва</a:t>
                      </a:r>
                      <a:r>
                        <a:rPr lang="ru-RU" sz="900" dirty="0" smtClean="0"/>
                        <a:t> Кир </a:t>
                      </a:r>
                      <a:r>
                        <a:rPr lang="ru-RU" sz="900" dirty="0" err="1" smtClean="0"/>
                        <a:t>подшаси</a:t>
                      </a:r>
                      <a:r>
                        <a:rPr lang="ru-RU" sz="900" dirty="0" smtClean="0"/>
                        <a:t>, 2018 </a:t>
                      </a:r>
                      <a:r>
                        <a:rPr lang="ru-RU" sz="900" dirty="0" err="1" smtClean="0"/>
                        <a:t>йили</a:t>
                      </a:r>
                      <a:r>
                        <a:rPr lang="ru-RU" sz="900" dirty="0" smtClean="0"/>
                        <a:t> </a:t>
                      </a:r>
                      <a:r>
                        <a:rPr lang="ru-RU" sz="900" dirty="0" err="1" smtClean="0"/>
                        <a:t>сахналаштирилган</a:t>
                      </a:r>
                      <a:r>
                        <a:rPr lang="ru-RU" sz="900" dirty="0" smtClean="0"/>
                        <a:t> </a:t>
                      </a:r>
                      <a:r>
                        <a:rPr lang="ru-RU" sz="900" dirty="0" err="1" smtClean="0"/>
                        <a:t>Т.Алланазаров</a:t>
                      </a:r>
                      <a:r>
                        <a:rPr lang="ru-RU" sz="900" dirty="0" smtClean="0"/>
                        <a:t> </a:t>
                      </a:r>
                      <a:r>
                        <a:rPr lang="ru-RU" sz="900" dirty="0" err="1" smtClean="0"/>
                        <a:t>А.Бегимовларнинг</a:t>
                      </a:r>
                      <a:r>
                        <a:rPr lang="ru-RU" sz="900" dirty="0" smtClean="0"/>
                        <a:t> “ </a:t>
                      </a:r>
                      <a:r>
                        <a:rPr lang="ru-RU" sz="900" dirty="0" err="1" smtClean="0"/>
                        <a:t>Ғориб</a:t>
                      </a:r>
                      <a:r>
                        <a:rPr lang="ru-RU" sz="900" dirty="0" smtClean="0"/>
                        <a:t> </a:t>
                      </a:r>
                      <a:r>
                        <a:rPr lang="ru-RU" sz="900" dirty="0" err="1" smtClean="0"/>
                        <a:t>очиқ</a:t>
                      </a:r>
                      <a:r>
                        <a:rPr lang="ru-RU" sz="900" dirty="0" smtClean="0"/>
                        <a:t>” </a:t>
                      </a:r>
                      <a:r>
                        <a:rPr lang="ru-RU" sz="900" dirty="0" err="1" smtClean="0"/>
                        <a:t>мусиқали</a:t>
                      </a:r>
                      <a:r>
                        <a:rPr lang="ru-RU" sz="900" dirty="0" smtClean="0"/>
                        <a:t> </a:t>
                      </a:r>
                      <a:r>
                        <a:rPr lang="ru-RU" sz="900" dirty="0" err="1" smtClean="0"/>
                        <a:t>драмасида</a:t>
                      </a:r>
                      <a:r>
                        <a:rPr lang="ru-RU" sz="900" dirty="0" smtClean="0"/>
                        <a:t> </a:t>
                      </a:r>
                      <a:r>
                        <a:rPr lang="ru-RU" sz="900" dirty="0" err="1" smtClean="0"/>
                        <a:t>Шахаббаз</a:t>
                      </a:r>
                      <a:r>
                        <a:rPr lang="ru-RU" sz="900" dirty="0" smtClean="0"/>
                        <a:t>, 2019 </a:t>
                      </a:r>
                      <a:r>
                        <a:rPr lang="ru-RU" sz="900" dirty="0" err="1" smtClean="0"/>
                        <a:t>йили</a:t>
                      </a:r>
                      <a:r>
                        <a:rPr lang="ru-RU" sz="900" dirty="0" smtClean="0"/>
                        <a:t> </a:t>
                      </a:r>
                      <a:r>
                        <a:rPr lang="ru-RU" sz="900" dirty="0" err="1" smtClean="0"/>
                        <a:t>К.Каримовнинг</a:t>
                      </a:r>
                      <a:r>
                        <a:rPr lang="ru-RU" sz="900" dirty="0" smtClean="0"/>
                        <a:t> “</a:t>
                      </a:r>
                      <a:r>
                        <a:rPr lang="ru-RU" sz="900" dirty="0" err="1" smtClean="0"/>
                        <a:t>Саховат</a:t>
                      </a:r>
                      <a:r>
                        <a:rPr lang="ru-RU" sz="900" dirty="0" smtClean="0"/>
                        <a:t> </a:t>
                      </a:r>
                      <a:r>
                        <a:rPr lang="ru-RU" sz="900" dirty="0" err="1" smtClean="0"/>
                        <a:t>боғи</a:t>
                      </a:r>
                      <a:r>
                        <a:rPr lang="ru-RU" sz="900" dirty="0" smtClean="0"/>
                        <a:t>” </a:t>
                      </a:r>
                      <a:r>
                        <a:rPr lang="ru-RU" sz="900" dirty="0" err="1" smtClean="0"/>
                        <a:t>драмасида</a:t>
                      </a:r>
                      <a:r>
                        <a:rPr lang="ru-RU" sz="900" dirty="0" smtClean="0"/>
                        <a:t> </a:t>
                      </a:r>
                      <a:r>
                        <a:rPr lang="ru-RU" sz="900" dirty="0" err="1" smtClean="0"/>
                        <a:t>Вакил</a:t>
                      </a:r>
                      <a:r>
                        <a:rPr lang="ru-RU" sz="900" dirty="0" smtClean="0"/>
                        <a:t> </a:t>
                      </a:r>
                      <a:r>
                        <a:rPr lang="ru-RU" sz="900" dirty="0" err="1" smtClean="0"/>
                        <a:t>образларин</a:t>
                      </a:r>
                      <a:r>
                        <a:rPr lang="ru-RU" sz="900" dirty="0" smtClean="0"/>
                        <a:t> </a:t>
                      </a:r>
                      <a:r>
                        <a:rPr lang="ru-RU" sz="900" dirty="0" err="1" smtClean="0"/>
                        <a:t>юксак</a:t>
                      </a:r>
                      <a:r>
                        <a:rPr lang="ru-RU" sz="900" dirty="0" smtClean="0"/>
                        <a:t> </a:t>
                      </a:r>
                      <a:r>
                        <a:rPr lang="ru-RU" sz="900" dirty="0" err="1" smtClean="0"/>
                        <a:t>бадиий</a:t>
                      </a:r>
                      <a:r>
                        <a:rPr lang="ru-RU" sz="900" dirty="0" smtClean="0"/>
                        <a:t> </a:t>
                      </a:r>
                      <a:r>
                        <a:rPr lang="ru-RU" sz="900" dirty="0" err="1" smtClean="0"/>
                        <a:t>маҳорат</a:t>
                      </a:r>
                      <a:r>
                        <a:rPr lang="ru-RU" sz="900" dirty="0" smtClean="0"/>
                        <a:t> </a:t>
                      </a:r>
                      <a:r>
                        <a:rPr lang="ru-RU" sz="900" dirty="0" err="1" smtClean="0"/>
                        <a:t>билан</a:t>
                      </a:r>
                      <a:r>
                        <a:rPr lang="ru-RU" sz="900" dirty="0" smtClean="0"/>
                        <a:t> </a:t>
                      </a:r>
                      <a:r>
                        <a:rPr lang="ru-RU" sz="900" dirty="0" err="1" smtClean="0"/>
                        <a:t>ижро</a:t>
                      </a:r>
                      <a:r>
                        <a:rPr lang="ru-RU" sz="900" dirty="0" smtClean="0"/>
                        <a:t> </a:t>
                      </a:r>
                      <a:r>
                        <a:rPr lang="ru-RU" sz="900" dirty="0" err="1" smtClean="0"/>
                        <a:t>этиб</a:t>
                      </a:r>
                      <a:r>
                        <a:rPr lang="ru-RU" sz="900" dirty="0" smtClean="0"/>
                        <a:t> </a:t>
                      </a:r>
                      <a:r>
                        <a:rPr lang="ru-RU" sz="900" dirty="0" err="1" smtClean="0"/>
                        <a:t>томошабинларда</a:t>
                      </a:r>
                      <a:r>
                        <a:rPr lang="ru-RU" sz="900" dirty="0" smtClean="0"/>
                        <a:t> </a:t>
                      </a:r>
                      <a:r>
                        <a:rPr lang="ru-RU" sz="900" dirty="0" err="1" smtClean="0"/>
                        <a:t>ёрқин</a:t>
                      </a:r>
                      <a:r>
                        <a:rPr lang="ru-RU" sz="900" dirty="0" smtClean="0"/>
                        <a:t>  </a:t>
                      </a:r>
                      <a:r>
                        <a:rPr lang="ru-RU" sz="900" dirty="0" err="1" smtClean="0"/>
                        <a:t>таассурот</a:t>
                      </a:r>
                      <a:r>
                        <a:rPr lang="ru-RU" sz="900" dirty="0" smtClean="0"/>
                        <a:t> </a:t>
                      </a:r>
                      <a:r>
                        <a:rPr lang="ru-RU" sz="900" dirty="0" err="1" smtClean="0"/>
                        <a:t>қолдирди</a:t>
                      </a:r>
                      <a:r>
                        <a:rPr lang="ru-RU" sz="900" dirty="0" smtClean="0"/>
                        <a:t>.</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25511">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199643">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smtClean="0">
                          <a:effectLst/>
                          <a:latin typeface="+mn-lt"/>
                          <a:ea typeface="Calibri" panose="020F0502020204030204" pitchFamily="34" charset="0"/>
                          <a:cs typeface="Times New Roman" panose="02020603050405020304" pitchFamily="18" charset="0"/>
                        </a:rPr>
                        <a:t>Республикамизда</a:t>
                      </a:r>
                      <a:r>
                        <a:rPr lang="uz-Cyrl-UZ" sz="8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a:picLocks noChangeAspect="1"/>
          </p:cNvPicPr>
          <p:nvPr/>
        </p:nvPicPr>
        <p:blipFill>
          <a:blip r:embed="rId2"/>
          <a:stretch>
            <a:fillRect/>
          </a:stretch>
        </p:blipFill>
        <p:spPr>
          <a:xfrm>
            <a:off x="273411" y="1143092"/>
            <a:ext cx="814256" cy="1076234"/>
          </a:xfrm>
          <a:prstGeom prst="rect">
            <a:avLst/>
          </a:prstGeom>
        </p:spPr>
      </p:pic>
    </p:spTree>
    <p:extLst>
      <p:ext uri="{BB962C8B-B14F-4D97-AF65-F5344CB8AC3E}">
        <p14:creationId xmlns:p14="http://schemas.microsoft.com/office/powerpoint/2010/main" val="3054270955"/>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700980535"/>
              </p:ext>
            </p:extLst>
          </p:nvPr>
        </p:nvGraphicFramePr>
        <p:xfrm>
          <a:off x="144489" y="865702"/>
          <a:ext cx="3427547" cy="5911030"/>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39791">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619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1" kern="1200" dirty="0" smtClean="0">
                          <a:solidFill>
                            <a:schemeClr val="tx1"/>
                          </a:solidFill>
                          <a:effectLst/>
                          <a:latin typeface="+mn-lt"/>
                          <a:ea typeface="+mn-ea"/>
                          <a:cs typeface="+mn-cs"/>
                        </a:rPr>
                        <a:t>БАЙМУРЗАЕВ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619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1" kern="1200" dirty="0" smtClean="0">
                          <a:solidFill>
                            <a:schemeClr val="tx1"/>
                          </a:solidFill>
                          <a:effectLst/>
                          <a:latin typeface="+mn-lt"/>
                          <a:ea typeface="+mn-ea"/>
                          <a:cs typeface="+mn-cs"/>
                        </a:rPr>
                        <a:t>Баутдин</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619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800" b="1" kern="1200" dirty="0" smtClean="0">
                          <a:solidFill>
                            <a:schemeClr val="tx1"/>
                          </a:solidFill>
                          <a:effectLst/>
                          <a:latin typeface="+mn-lt"/>
                          <a:ea typeface="+mn-ea"/>
                          <a:cs typeface="+mn-cs"/>
                        </a:rPr>
                        <a:t>Абдиқадирович</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619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ора</a:t>
                      </a:r>
                      <a:r>
                        <a:rPr lang="uz-Cyrl-UZ" sz="900" kern="1200" dirty="0" smtClean="0">
                          <a:solidFill>
                            <a:schemeClr val="tx1"/>
                          </a:solidFill>
                          <a:effectLst/>
                          <a:latin typeface="+mn-lt"/>
                          <a:ea typeface="+mn-ea"/>
                          <a:cs typeface="+mn-cs"/>
                        </a:rPr>
                        <a:t>қ</a:t>
                      </a:r>
                      <a:r>
                        <a:rPr lang="ru-RU" sz="900" kern="1200" dirty="0" err="1" smtClean="0">
                          <a:solidFill>
                            <a:schemeClr val="tx1"/>
                          </a:solidFill>
                          <a:effectLst/>
                          <a:latin typeface="+mn-lt"/>
                          <a:ea typeface="+mn-ea"/>
                          <a:cs typeface="+mn-cs"/>
                        </a:rPr>
                        <a:t>алпо</a:t>
                      </a:r>
                      <a:r>
                        <a:rPr lang="uz-Cyrl-UZ" sz="900" kern="1200" dirty="0" smtClean="0">
                          <a:solidFill>
                            <a:schemeClr val="tx1"/>
                          </a:solidFill>
                          <a:effectLst/>
                          <a:latin typeface="+mn-lt"/>
                          <a:ea typeface="+mn-ea"/>
                          <a:cs typeface="+mn-cs"/>
                        </a:rPr>
                        <a:t>қ</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619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11.01.1955</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619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Чимбой 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7552">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0879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ва 2  нафар  </a:t>
                      </a:r>
                      <a:r>
                        <a:rPr lang="uz-Cyrl-UZ" sz="900" kern="1200" dirty="0" smtClean="0">
                          <a:solidFill>
                            <a:schemeClr val="tx1"/>
                          </a:solidFill>
                          <a:effectLst/>
                          <a:latin typeface="+mn-lt"/>
                          <a:ea typeface="+mn-ea"/>
                          <a:cs typeface="+mn-cs"/>
                        </a:rPr>
                        <a:t>қиз </a:t>
                      </a:r>
                      <a:r>
                        <a:rPr lang="uz-Cyrl-UZ" sz="900" b="0" kern="1200" noProof="0" dirty="0" smtClean="0">
                          <a:solidFill>
                            <a:schemeClr val="tx1"/>
                          </a:solidFill>
                          <a:latin typeface="+mn-lt"/>
                          <a:ea typeface="+mn-ea"/>
                          <a:cs typeface="+mn-cs"/>
                        </a:rPr>
                        <a:t>фарзанди бор</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7552">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17683">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ru-RU" sz="900" dirty="0" err="1" smtClean="0">
                          <a:effectLst/>
                          <a:latin typeface="+mj-lt"/>
                          <a:ea typeface="Times New Roman" panose="02020603050405020304" pitchFamily="18" charset="0"/>
                        </a:rPr>
                        <a:t>Баймурзаев</a:t>
                      </a:r>
                      <a:r>
                        <a:rPr lang="ru-RU" sz="900" dirty="0" smtClean="0">
                          <a:effectLst/>
                          <a:latin typeface="+mj-lt"/>
                          <a:ea typeface="Times New Roman" panose="02020603050405020304" pitchFamily="18" charset="0"/>
                        </a:rPr>
                        <a:t> </a:t>
                      </a:r>
                      <a:r>
                        <a:rPr lang="ru-RU" sz="900" dirty="0" err="1" smtClean="0">
                          <a:effectLst/>
                          <a:latin typeface="+mj-lt"/>
                          <a:ea typeface="Times New Roman" panose="02020603050405020304" pitchFamily="18" charset="0"/>
                        </a:rPr>
                        <a:t>Абди</a:t>
                      </a:r>
                      <a:r>
                        <a:rPr lang="uz-Cyrl-UZ" sz="900" dirty="0" smtClean="0">
                          <a:effectLst/>
                          <a:latin typeface="+mj-lt"/>
                          <a:ea typeface="Times New Roman" panose="02020603050405020304" pitchFamily="18" charset="0"/>
                        </a:rPr>
                        <a:t>қа</a:t>
                      </a:r>
                      <a:r>
                        <a:rPr lang="ru-RU" sz="900" dirty="0" err="1" smtClean="0">
                          <a:effectLst/>
                          <a:latin typeface="+mj-lt"/>
                          <a:ea typeface="Times New Roman" panose="02020603050405020304" pitchFamily="18" charset="0"/>
                        </a:rPr>
                        <a:t>дир</a:t>
                      </a:r>
                      <a:endParaRPr lang="ru-RU" sz="900" dirty="0" smtClean="0">
                        <a:effectLst/>
                        <a:latin typeface="+mj-lt"/>
                        <a:ea typeface="Times New Roman" panose="02020603050405020304" pitchFamily="18" charset="0"/>
                      </a:endParaRPr>
                    </a:p>
                    <a:p>
                      <a:pPr algn="l">
                        <a:lnSpc>
                          <a:spcPct val="85000"/>
                        </a:lnSpc>
                      </a:pPr>
                      <a:r>
                        <a:rPr lang="uz-Cyrl-UZ" sz="900" b="0" kern="1200" noProof="0" dirty="0" smtClean="0">
                          <a:solidFill>
                            <a:schemeClr val="tx1"/>
                          </a:solidFill>
                          <a:latin typeface="+mj-lt"/>
                          <a:ea typeface="+mn-ea"/>
                          <a:cs typeface="Arial" panose="020B0604020202020204" pitchFamily="34" charset="0"/>
                        </a:rPr>
                        <a:t>1927 йил, Чимбой тумани</a:t>
                      </a:r>
                    </a:p>
                    <a:p>
                      <a:pPr algn="l">
                        <a:lnSpc>
                          <a:spcPct val="85000"/>
                        </a:lnSpc>
                      </a:pPr>
                      <a:endParaRPr lang="uz-Cyrl-UZ" sz="900" b="0" kern="1200" noProof="0" dirty="0">
                        <a:solidFill>
                          <a:schemeClr val="tx1"/>
                        </a:solidFill>
                        <a:latin typeface="+mj-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spcAft>
                          <a:spcPts val="0"/>
                        </a:spcAft>
                      </a:pPr>
                      <a:r>
                        <a:rPr lang="ru-RU" sz="900" kern="1200" dirty="0" smtClean="0">
                          <a:solidFill>
                            <a:schemeClr val="tx1"/>
                          </a:solidFill>
                          <a:effectLst/>
                          <a:latin typeface="+mj-lt"/>
                          <a:ea typeface="+mn-ea"/>
                          <a:cs typeface="+mn-cs"/>
                        </a:rPr>
                        <a:t>1994 </a:t>
                      </a:r>
                      <a:r>
                        <a:rPr lang="ru-RU" sz="900" kern="1200" dirty="0" err="1" smtClean="0">
                          <a:solidFill>
                            <a:schemeClr val="tx1"/>
                          </a:solidFill>
                          <a:effectLst/>
                          <a:latin typeface="+mj-lt"/>
                          <a:ea typeface="+mn-ea"/>
                          <a:cs typeface="+mn-cs"/>
                        </a:rPr>
                        <a:t>йил</a:t>
                      </a:r>
                      <a:r>
                        <a:rPr lang="ru-RU" sz="900" kern="1200" dirty="0" smtClean="0">
                          <a:solidFill>
                            <a:schemeClr val="tx1"/>
                          </a:solidFill>
                          <a:effectLst/>
                          <a:latin typeface="+mj-lt"/>
                          <a:ea typeface="+mn-ea"/>
                          <a:cs typeface="+mn-cs"/>
                        </a:rPr>
                        <a:t> </a:t>
                      </a:r>
                      <a:r>
                        <a:rPr lang="ru-RU" sz="900" kern="1200" dirty="0" err="1" smtClean="0">
                          <a:solidFill>
                            <a:schemeClr val="tx1"/>
                          </a:solidFill>
                          <a:effectLst/>
                          <a:latin typeface="+mj-lt"/>
                          <a:ea typeface="+mn-ea"/>
                          <a:cs typeface="+mn-cs"/>
                        </a:rPr>
                        <a:t>вафот</a:t>
                      </a:r>
                      <a:r>
                        <a:rPr lang="ru-RU" sz="900" kern="1200" dirty="0" smtClean="0">
                          <a:solidFill>
                            <a:schemeClr val="tx1"/>
                          </a:solidFill>
                          <a:effectLst/>
                          <a:latin typeface="+mj-lt"/>
                          <a:ea typeface="+mn-ea"/>
                          <a:cs typeface="+mn-cs"/>
                        </a:rPr>
                        <a:t> </a:t>
                      </a:r>
                      <a:r>
                        <a:rPr lang="ru-RU" sz="900" kern="1200" dirty="0" err="1" smtClean="0">
                          <a:solidFill>
                            <a:schemeClr val="tx1"/>
                          </a:solidFill>
                          <a:effectLst/>
                          <a:latin typeface="+mj-lt"/>
                          <a:ea typeface="+mn-ea"/>
                          <a:cs typeface="+mn-cs"/>
                        </a:rPr>
                        <a:t>этган</a:t>
                      </a:r>
                      <a:r>
                        <a:rPr lang="ru-RU" sz="900" kern="1200" dirty="0" smtClean="0">
                          <a:solidFill>
                            <a:schemeClr val="tx1"/>
                          </a:solidFill>
                          <a:effectLst/>
                          <a:latin typeface="+mj-lt"/>
                          <a:ea typeface="+mn-ea"/>
                          <a:cs typeface="+mn-cs"/>
                        </a:rPr>
                        <a:t> (РАЙПО бош </a:t>
                      </a:r>
                      <a:r>
                        <a:rPr lang="ru-RU" sz="900" kern="1200" dirty="0" err="1" smtClean="0">
                          <a:solidFill>
                            <a:schemeClr val="tx1"/>
                          </a:solidFill>
                          <a:effectLst/>
                          <a:latin typeface="+mj-lt"/>
                          <a:ea typeface="+mn-ea"/>
                          <a:cs typeface="+mn-cs"/>
                        </a:rPr>
                        <a:t>хисобчиси</a:t>
                      </a:r>
                      <a:r>
                        <a:rPr lang="ru-RU" sz="900" kern="1200" dirty="0" smtClean="0">
                          <a:solidFill>
                            <a:schemeClr val="tx1"/>
                          </a:solidFill>
                          <a:effectLst/>
                          <a:latin typeface="+mj-lt"/>
                          <a:ea typeface="+mn-ea"/>
                          <a:cs typeface="+mn-cs"/>
                        </a:rPr>
                        <a:t>)</a:t>
                      </a:r>
                      <a:endParaRPr lang="ru-RU" sz="900" dirty="0">
                        <a:effectLst/>
                        <a:latin typeface="+mj-lt"/>
                        <a:ea typeface="Times New Roman" panose="02020603050405020304" pitchFamily="18"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97227">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ru-RU" sz="900" dirty="0" err="1" smtClean="0">
                          <a:effectLst/>
                          <a:latin typeface="+mj-lt"/>
                          <a:ea typeface="Times New Roman" panose="02020603050405020304" pitchFamily="18" charset="0"/>
                        </a:rPr>
                        <a:t>Жалалова</a:t>
                      </a:r>
                      <a:r>
                        <a:rPr lang="ru-RU" sz="900" dirty="0" smtClean="0">
                          <a:effectLst/>
                          <a:latin typeface="+mj-lt"/>
                          <a:ea typeface="Times New Roman" panose="02020603050405020304" pitchFamily="18" charset="0"/>
                        </a:rPr>
                        <a:t> </a:t>
                      </a:r>
                      <a:r>
                        <a:rPr lang="uz-Cyrl-UZ" sz="900" dirty="0" smtClean="0">
                          <a:effectLst/>
                          <a:latin typeface="+mj-lt"/>
                          <a:ea typeface="Times New Roman" panose="02020603050405020304" pitchFamily="18" charset="0"/>
                        </a:rPr>
                        <a:t>О</a:t>
                      </a:r>
                      <a:r>
                        <a:rPr lang="ru-RU" sz="900" dirty="0" smtClean="0">
                          <a:effectLst/>
                          <a:latin typeface="+mj-lt"/>
                          <a:ea typeface="Times New Roman" panose="02020603050405020304" pitchFamily="18" charset="0"/>
                        </a:rPr>
                        <a:t>разгул</a:t>
                      </a:r>
                    </a:p>
                    <a:p>
                      <a:pPr algn="l">
                        <a:lnSpc>
                          <a:spcPct val="85000"/>
                        </a:lnSpc>
                      </a:pPr>
                      <a:r>
                        <a:rPr lang="uz-Cyrl-UZ" sz="900" b="0" kern="1200" noProof="0" dirty="0" smtClean="0">
                          <a:solidFill>
                            <a:schemeClr val="tx1"/>
                          </a:solidFill>
                          <a:latin typeface="+mj-lt"/>
                          <a:ea typeface="+mn-ea"/>
                          <a:cs typeface="Arial" panose="020B0604020202020204" pitchFamily="34" charset="0"/>
                        </a:rPr>
                        <a:t>1930 йил, Чимбой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spcAft>
                          <a:spcPts val="0"/>
                        </a:spcAft>
                      </a:pPr>
                      <a:r>
                        <a:rPr lang="ru-RU" sz="900" kern="1200" dirty="0" smtClean="0">
                          <a:solidFill>
                            <a:schemeClr val="tx1"/>
                          </a:solidFill>
                          <a:effectLst/>
                          <a:latin typeface="+mj-lt"/>
                          <a:ea typeface="+mn-ea"/>
                          <a:cs typeface="+mn-cs"/>
                        </a:rPr>
                        <a:t>1994 </a:t>
                      </a:r>
                      <a:r>
                        <a:rPr lang="ru-RU" sz="900" kern="1200" dirty="0" err="1" smtClean="0">
                          <a:solidFill>
                            <a:schemeClr val="tx1"/>
                          </a:solidFill>
                          <a:effectLst/>
                          <a:latin typeface="+mj-lt"/>
                          <a:ea typeface="+mn-ea"/>
                          <a:cs typeface="+mn-cs"/>
                        </a:rPr>
                        <a:t>йил</a:t>
                      </a:r>
                      <a:r>
                        <a:rPr lang="ru-RU" sz="900" kern="1200" dirty="0" smtClean="0">
                          <a:solidFill>
                            <a:schemeClr val="tx1"/>
                          </a:solidFill>
                          <a:effectLst/>
                          <a:latin typeface="+mj-lt"/>
                          <a:ea typeface="+mn-ea"/>
                          <a:cs typeface="+mn-cs"/>
                        </a:rPr>
                        <a:t> </a:t>
                      </a:r>
                      <a:r>
                        <a:rPr lang="ru-RU" sz="900" kern="1200" dirty="0" err="1" smtClean="0">
                          <a:solidFill>
                            <a:schemeClr val="tx1"/>
                          </a:solidFill>
                          <a:effectLst/>
                          <a:latin typeface="+mj-lt"/>
                          <a:ea typeface="+mn-ea"/>
                          <a:cs typeface="+mn-cs"/>
                        </a:rPr>
                        <a:t>вафот</a:t>
                      </a:r>
                      <a:r>
                        <a:rPr lang="ru-RU" sz="900" kern="1200" dirty="0" smtClean="0">
                          <a:solidFill>
                            <a:schemeClr val="tx1"/>
                          </a:solidFill>
                          <a:effectLst/>
                          <a:latin typeface="+mj-lt"/>
                          <a:ea typeface="+mn-ea"/>
                          <a:cs typeface="+mn-cs"/>
                        </a:rPr>
                        <a:t> </a:t>
                      </a:r>
                      <a:r>
                        <a:rPr lang="ru-RU" sz="900" kern="1200" dirty="0" err="1" smtClean="0">
                          <a:solidFill>
                            <a:schemeClr val="tx1"/>
                          </a:solidFill>
                          <a:effectLst/>
                          <a:latin typeface="+mj-lt"/>
                          <a:ea typeface="+mn-ea"/>
                          <a:cs typeface="+mn-cs"/>
                        </a:rPr>
                        <a:t>этган</a:t>
                      </a:r>
                      <a:r>
                        <a:rPr lang="ru-RU" sz="900" kern="1200" dirty="0" smtClean="0">
                          <a:solidFill>
                            <a:schemeClr val="tx1"/>
                          </a:solidFill>
                          <a:effectLst/>
                          <a:latin typeface="+mj-lt"/>
                          <a:ea typeface="+mn-ea"/>
                          <a:cs typeface="+mn-cs"/>
                        </a:rPr>
                        <a:t> (</a:t>
                      </a:r>
                      <a:r>
                        <a:rPr lang="uz-Cyrl-UZ" sz="900" kern="1200" dirty="0" smtClean="0">
                          <a:solidFill>
                            <a:schemeClr val="tx1"/>
                          </a:solidFill>
                          <a:effectLst/>
                          <a:latin typeface="+mj-lt"/>
                          <a:ea typeface="+mn-ea"/>
                          <a:cs typeface="+mn-cs"/>
                        </a:rPr>
                        <a:t>Чимбой тумани </a:t>
                      </a:r>
                      <a:r>
                        <a:rPr lang="ru-RU" sz="900" kern="1200" dirty="0" err="1" smtClean="0">
                          <a:solidFill>
                            <a:schemeClr val="tx1"/>
                          </a:solidFill>
                          <a:effectLst/>
                          <a:latin typeface="+mj-lt"/>
                          <a:ea typeface="+mn-ea"/>
                          <a:cs typeface="+mn-cs"/>
                        </a:rPr>
                        <a:t>Кенес</a:t>
                      </a:r>
                      <a:r>
                        <a:rPr lang="ru-RU" sz="900" kern="1200" dirty="0" smtClean="0">
                          <a:solidFill>
                            <a:schemeClr val="tx1"/>
                          </a:solidFill>
                          <a:effectLst/>
                          <a:latin typeface="+mj-lt"/>
                          <a:ea typeface="+mn-ea"/>
                          <a:cs typeface="+mn-cs"/>
                        </a:rPr>
                        <a:t> </a:t>
                      </a:r>
                      <a:r>
                        <a:rPr lang="uz-Cyrl-UZ" sz="900" kern="1200" dirty="0" smtClean="0">
                          <a:solidFill>
                            <a:schemeClr val="tx1"/>
                          </a:solidFill>
                          <a:effectLst/>
                          <a:latin typeface="+mj-lt"/>
                          <a:ea typeface="+mn-ea"/>
                          <a:cs typeface="+mn-cs"/>
                        </a:rPr>
                        <a:t>хўжалиги</a:t>
                      </a:r>
                      <a:r>
                        <a:rPr lang="ru-RU" sz="900" kern="1200" dirty="0" smtClean="0">
                          <a:solidFill>
                            <a:schemeClr val="tx1"/>
                          </a:solidFill>
                          <a:effectLst/>
                          <a:latin typeface="+mj-lt"/>
                          <a:ea typeface="+mn-ea"/>
                          <a:cs typeface="+mn-cs"/>
                        </a:rPr>
                        <a:t> </a:t>
                      </a:r>
                      <a:r>
                        <a:rPr lang="ru-RU" sz="900" kern="1200" dirty="0" err="1" smtClean="0">
                          <a:solidFill>
                            <a:schemeClr val="tx1"/>
                          </a:solidFill>
                          <a:effectLst/>
                          <a:latin typeface="+mj-lt"/>
                          <a:ea typeface="+mn-ea"/>
                          <a:cs typeface="+mn-cs"/>
                        </a:rPr>
                        <a:t>бо</a:t>
                      </a:r>
                      <a:r>
                        <a:rPr lang="uz-Cyrl-UZ" sz="900" kern="1200" dirty="0" smtClean="0">
                          <a:solidFill>
                            <a:schemeClr val="tx1"/>
                          </a:solidFill>
                          <a:effectLst/>
                          <a:latin typeface="+mj-lt"/>
                          <a:ea typeface="+mn-ea"/>
                          <a:cs typeface="+mn-cs"/>
                        </a:rPr>
                        <a:t>ғб</a:t>
                      </a:r>
                      <a:r>
                        <a:rPr lang="ru-RU" sz="900" kern="1200" dirty="0" smtClean="0">
                          <a:solidFill>
                            <a:schemeClr val="tx1"/>
                          </a:solidFill>
                          <a:effectLst/>
                          <a:latin typeface="+mj-lt"/>
                          <a:ea typeface="+mn-ea"/>
                          <a:cs typeface="+mn-cs"/>
                        </a:rPr>
                        <a:t>он</a:t>
                      </a:r>
                      <a:r>
                        <a:rPr lang="uz-Cyrl-UZ" sz="900" kern="1200" dirty="0" smtClean="0">
                          <a:solidFill>
                            <a:schemeClr val="tx1"/>
                          </a:solidFill>
                          <a:effectLst/>
                          <a:latin typeface="+mj-lt"/>
                          <a:ea typeface="+mn-ea"/>
                          <a:cs typeface="+mn-cs"/>
                        </a:rPr>
                        <a:t>и</a:t>
                      </a:r>
                      <a:r>
                        <a:rPr lang="ru-RU" sz="900" kern="1200" dirty="0" smtClean="0">
                          <a:solidFill>
                            <a:schemeClr val="tx1"/>
                          </a:solidFill>
                          <a:effectLst/>
                          <a:latin typeface="+mj-lt"/>
                          <a:ea typeface="+mn-ea"/>
                          <a:cs typeface="+mn-cs"/>
                        </a:rPr>
                        <a:t>) </a:t>
                      </a:r>
                      <a:endParaRPr lang="ru-RU" sz="900" dirty="0">
                        <a:effectLst/>
                        <a:latin typeface="+mj-lt"/>
                        <a:ea typeface="Times New Roman" panose="02020603050405020304" pitchFamily="18"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32179">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kern="1200" dirty="0" err="1" smtClean="0">
                          <a:solidFill>
                            <a:schemeClr val="tx1"/>
                          </a:solidFill>
                          <a:effectLst/>
                          <a:latin typeface="+mj-lt"/>
                          <a:ea typeface="+mn-ea"/>
                          <a:cs typeface="+mn-cs"/>
                        </a:rPr>
                        <a:t>Пиязова</a:t>
                      </a:r>
                      <a:r>
                        <a:rPr lang="ru-RU" sz="900" kern="1200" dirty="0" smtClean="0">
                          <a:solidFill>
                            <a:schemeClr val="tx1"/>
                          </a:solidFill>
                          <a:effectLst/>
                          <a:latin typeface="+mj-lt"/>
                          <a:ea typeface="+mn-ea"/>
                          <a:cs typeface="+mn-cs"/>
                        </a:rPr>
                        <a:t> </a:t>
                      </a:r>
                      <a:r>
                        <a:rPr lang="ru-RU" sz="900" kern="1200" dirty="0" err="1" smtClean="0">
                          <a:solidFill>
                            <a:schemeClr val="tx1"/>
                          </a:solidFill>
                          <a:effectLst/>
                          <a:latin typeface="+mj-lt"/>
                          <a:ea typeface="+mn-ea"/>
                          <a:cs typeface="+mn-cs"/>
                        </a:rPr>
                        <a:t>Азиза</a:t>
                      </a:r>
                      <a:r>
                        <a:rPr lang="ru-RU" sz="900" kern="1200" dirty="0" smtClean="0">
                          <a:solidFill>
                            <a:schemeClr val="tx1"/>
                          </a:solidFill>
                          <a:effectLst/>
                          <a:latin typeface="+mj-lt"/>
                          <a:ea typeface="+mn-ea"/>
                          <a:cs typeface="+mn-cs"/>
                        </a:rPr>
                        <a:t> </a:t>
                      </a:r>
                      <a:r>
                        <a:rPr lang="uz-Cyrl-UZ" sz="900" b="0" kern="1200" noProof="0" dirty="0" smtClean="0">
                          <a:solidFill>
                            <a:schemeClr val="tx1"/>
                          </a:solidFill>
                          <a:latin typeface="+mj-lt"/>
                          <a:ea typeface="+mn-ea"/>
                          <a:cs typeface="Arial" panose="020B0604020202020204" pitchFamily="34" charset="0"/>
                        </a:rPr>
                        <a:t>1960 йил, </a:t>
                      </a:r>
                      <a:r>
                        <a:rPr lang="ru-RU" sz="900" kern="1200" dirty="0" smtClean="0">
                          <a:solidFill>
                            <a:schemeClr val="tx1"/>
                          </a:solidFill>
                          <a:effectLst/>
                          <a:latin typeface="+mj-lt"/>
                          <a:ea typeface="+mn-ea"/>
                          <a:cs typeface="+mn-cs"/>
                        </a:rPr>
                        <a:t>Нукус </a:t>
                      </a:r>
                      <a:r>
                        <a:rPr lang="ru-RU" sz="900" kern="1200" dirty="0" err="1" smtClean="0">
                          <a:solidFill>
                            <a:schemeClr val="tx1"/>
                          </a:solidFill>
                          <a:effectLst/>
                          <a:latin typeface="+mj-lt"/>
                          <a:ea typeface="+mn-ea"/>
                          <a:cs typeface="+mn-cs"/>
                        </a:rPr>
                        <a:t>ша</a:t>
                      </a:r>
                      <a:r>
                        <a:rPr lang="uz-Cyrl-UZ" sz="900" kern="1200" dirty="0" smtClean="0">
                          <a:solidFill>
                            <a:schemeClr val="tx1"/>
                          </a:solidFill>
                          <a:effectLst/>
                          <a:latin typeface="+mj-lt"/>
                          <a:ea typeface="+mn-ea"/>
                          <a:cs typeface="+mn-cs"/>
                        </a:rPr>
                        <a:t>ҳ</a:t>
                      </a:r>
                      <a:r>
                        <a:rPr lang="ru-RU" sz="900" kern="1200" dirty="0" err="1" smtClean="0">
                          <a:solidFill>
                            <a:schemeClr val="tx1"/>
                          </a:solidFill>
                          <a:effectLst/>
                          <a:latin typeface="+mj-lt"/>
                          <a:ea typeface="+mn-ea"/>
                          <a:cs typeface="+mn-cs"/>
                        </a:rPr>
                        <a:t>ри</a:t>
                      </a:r>
                      <a:endParaRPr lang="uz-Cyrl-UZ" sz="900" b="0" kern="1200" noProof="0" dirty="0" smtClean="0">
                        <a:solidFill>
                          <a:schemeClr val="tx1"/>
                        </a:solidFill>
                        <a:latin typeface="+mj-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kern="1200" dirty="0" smtClean="0">
                          <a:solidFill>
                            <a:schemeClr val="tx1"/>
                          </a:solidFill>
                          <a:effectLst/>
                          <a:latin typeface="+mj-lt"/>
                          <a:ea typeface="+mn-ea"/>
                          <a:cs typeface="+mn-cs"/>
                        </a:rPr>
                        <a:t>Пенсияда</a:t>
                      </a:r>
                      <a:r>
                        <a:rPr lang="ru-RU" sz="900" kern="1200" dirty="0" smtClean="0">
                          <a:solidFill>
                            <a:schemeClr val="tx1"/>
                          </a:solidFill>
                          <a:effectLst/>
                          <a:latin typeface="+mj-lt"/>
                          <a:ea typeface="+mn-ea"/>
                          <a:cs typeface="+mn-cs"/>
                        </a:rPr>
                        <a:t> (Берда</a:t>
                      </a:r>
                      <a:r>
                        <a:rPr lang="uz-Cyrl-UZ" sz="900" kern="1200" dirty="0" smtClean="0">
                          <a:solidFill>
                            <a:schemeClr val="tx1"/>
                          </a:solidFill>
                          <a:effectLst/>
                          <a:latin typeface="+mj-lt"/>
                          <a:ea typeface="+mn-ea"/>
                          <a:cs typeface="+mn-cs"/>
                        </a:rPr>
                        <a:t>қ номидаги Қорақалпоқ давлат мусиқали</a:t>
                      </a:r>
                      <a:r>
                        <a:rPr lang="ru-RU" sz="900" kern="1200" dirty="0" smtClean="0">
                          <a:solidFill>
                            <a:schemeClr val="tx1"/>
                          </a:solidFill>
                          <a:effectLst/>
                          <a:latin typeface="+mj-lt"/>
                          <a:ea typeface="+mn-ea"/>
                          <a:cs typeface="+mn-cs"/>
                        </a:rPr>
                        <a:t> театр</a:t>
                      </a:r>
                      <a:r>
                        <a:rPr lang="uz-Cyrl-UZ" sz="900" kern="1200" dirty="0" smtClean="0">
                          <a:solidFill>
                            <a:schemeClr val="tx1"/>
                          </a:solidFill>
                          <a:effectLst/>
                          <a:latin typeface="+mj-lt"/>
                          <a:ea typeface="+mn-ea"/>
                          <a:cs typeface="+mn-cs"/>
                        </a:rPr>
                        <a:t>и</a:t>
                      </a:r>
                      <a:r>
                        <a:rPr lang="ru-RU" sz="900" kern="1200" dirty="0" smtClean="0">
                          <a:solidFill>
                            <a:schemeClr val="tx1"/>
                          </a:solidFill>
                          <a:effectLst/>
                          <a:latin typeface="+mj-lt"/>
                          <a:ea typeface="+mn-ea"/>
                          <a:cs typeface="+mn-cs"/>
                        </a:rPr>
                        <a:t> </a:t>
                      </a:r>
                      <a:r>
                        <a:rPr lang="ru-RU" sz="900" kern="1200" dirty="0" err="1" smtClean="0">
                          <a:solidFill>
                            <a:schemeClr val="tx1"/>
                          </a:solidFill>
                          <a:effectLst/>
                          <a:latin typeface="+mj-lt"/>
                          <a:ea typeface="+mn-ea"/>
                          <a:cs typeface="+mn-cs"/>
                        </a:rPr>
                        <a:t>актрисаси</a:t>
                      </a:r>
                      <a:r>
                        <a:rPr lang="ru-RU" sz="900" kern="1200" dirty="0" smtClean="0">
                          <a:solidFill>
                            <a:schemeClr val="tx1"/>
                          </a:solidFill>
                          <a:effectLst/>
                          <a:latin typeface="+mj-lt"/>
                          <a:ea typeface="+mn-ea"/>
                          <a:cs typeface="+mn-cs"/>
                        </a:rPr>
                        <a:t>)</a:t>
                      </a:r>
                      <a:endParaRPr lang="uz-Cyrl-UZ" sz="900" b="0" kern="1200" noProof="0" dirty="0">
                        <a:solidFill>
                          <a:schemeClr val="tx1"/>
                        </a:solidFill>
                        <a:latin typeface="+mj-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4606">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15026">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kern="1200" dirty="0" smtClean="0">
                          <a:solidFill>
                            <a:schemeClr val="tx1"/>
                          </a:solidFill>
                          <a:effectLst/>
                          <a:latin typeface="+mn-lt"/>
                          <a:ea typeface="+mn-ea"/>
                          <a:cs typeface="+mn-cs"/>
                        </a:rPr>
                        <a:t>19</a:t>
                      </a:r>
                      <a:r>
                        <a:rPr lang="uz-Cyrl-UZ" sz="900" kern="1200" dirty="0" smtClean="0">
                          <a:solidFill>
                            <a:schemeClr val="tx1"/>
                          </a:solidFill>
                          <a:effectLst/>
                          <a:latin typeface="+mn-lt"/>
                          <a:ea typeface="+mn-ea"/>
                          <a:cs typeface="+mn-cs"/>
                        </a:rPr>
                        <a:t>77 </a:t>
                      </a:r>
                      <a:r>
                        <a:rPr lang="ru-RU" sz="900" kern="1200" dirty="0" smtClean="0">
                          <a:solidFill>
                            <a:schemeClr val="tx1"/>
                          </a:solidFill>
                          <a:effectLst/>
                          <a:latin typeface="+mn-lt"/>
                          <a:ea typeface="+mn-ea"/>
                          <a:cs typeface="+mn-cs"/>
                        </a:rPr>
                        <a:t>й. </a:t>
                      </a:r>
                      <a:r>
                        <a:rPr lang="ru-RU" sz="900" kern="1200" dirty="0" err="1" smtClean="0">
                          <a:solidFill>
                            <a:schemeClr val="tx1"/>
                          </a:solidFill>
                          <a:effectLst/>
                          <a:latin typeface="+mn-lt"/>
                          <a:ea typeface="+mn-ea"/>
                          <a:cs typeface="+mn-cs"/>
                        </a:rPr>
                        <a:t>Тошкент</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театр ва рассомлик</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санъат</a:t>
                      </a:r>
                      <a:r>
                        <a:rPr lang="uz-Cyrl-UZ" sz="900" kern="1200" dirty="0" smtClean="0">
                          <a:solidFill>
                            <a:schemeClr val="tx1"/>
                          </a:solidFill>
                          <a:effectLst/>
                          <a:latin typeface="+mn-lt"/>
                          <a:ea typeface="+mn-ea"/>
                          <a:cs typeface="+mn-cs"/>
                        </a:rPr>
                        <a:t>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институти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кундузги</a:t>
                      </a:r>
                      <a:r>
                        <a:rPr lang="ru-RU" sz="900" kern="1200" dirty="0" smtClean="0">
                          <a:solidFill>
                            <a:schemeClr val="tx1"/>
                          </a:solidFill>
                          <a:effectLst/>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0380">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ва кино </a:t>
                      </a:r>
                      <a:r>
                        <a:rPr lang="ru-RU" sz="900" kern="1200" dirty="0" smtClean="0">
                          <a:solidFill>
                            <a:schemeClr val="tx1"/>
                          </a:solidFill>
                          <a:effectLst/>
                          <a:latin typeface="+mn-lt"/>
                          <a:ea typeface="+mn-ea"/>
                          <a:cs typeface="+mn-cs"/>
                        </a:rPr>
                        <a:t>актёр</a:t>
                      </a:r>
                      <a:r>
                        <a:rPr lang="uz-Cyrl-UZ" sz="900" kern="1200" dirty="0" smtClean="0">
                          <a:solidFill>
                            <a:schemeClr val="tx1"/>
                          </a:solidFill>
                          <a:effectLst/>
                          <a:latin typeface="+mn-lt"/>
                          <a:ea typeface="+mn-ea"/>
                          <a:cs typeface="+mn-cs"/>
                        </a:rPr>
                        <a:t>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8629">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8629">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27365">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133673879"/>
              </p:ext>
            </p:extLst>
          </p:nvPr>
        </p:nvGraphicFramePr>
        <p:xfrm>
          <a:off x="3674526" y="865690"/>
          <a:ext cx="3172841" cy="5897143"/>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13588">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14437">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2022 йилдан буён </a:t>
                      </a:r>
                      <a:r>
                        <a:rPr lang="ru-RU" sz="900" b="1" kern="1200" dirty="0" smtClean="0">
                          <a:solidFill>
                            <a:schemeClr val="tx1"/>
                          </a:solidFill>
                          <a:effectLst/>
                          <a:latin typeface="+mn-lt"/>
                          <a:ea typeface="+mn-ea"/>
                          <a:cs typeface="+mn-cs"/>
                        </a:rPr>
                        <a:t>Берда</a:t>
                      </a:r>
                      <a:r>
                        <a:rPr lang="uz-Cyrl-UZ" sz="900" b="1" kern="1200" dirty="0" smtClean="0">
                          <a:solidFill>
                            <a:schemeClr val="tx1"/>
                          </a:solidFill>
                          <a:effectLst/>
                          <a:latin typeface="+mn-lt"/>
                          <a:ea typeface="+mn-ea"/>
                          <a:cs typeface="+mn-cs"/>
                        </a:rPr>
                        <a:t>қ номидаги Қорақалпоқ давлат мусиқали</a:t>
                      </a:r>
                      <a:r>
                        <a:rPr lang="ru-RU" sz="900" b="1" kern="1200" dirty="0" smtClean="0">
                          <a:solidFill>
                            <a:schemeClr val="tx1"/>
                          </a:solidFill>
                          <a:effectLst/>
                          <a:latin typeface="+mn-lt"/>
                          <a:ea typeface="+mn-ea"/>
                          <a:cs typeface="+mn-cs"/>
                        </a:rPr>
                        <a:t> театр</a:t>
                      </a:r>
                      <a:r>
                        <a:rPr lang="uz-Cyrl-UZ" sz="900" b="1" kern="1200" dirty="0" smtClean="0">
                          <a:solidFill>
                            <a:schemeClr val="tx1"/>
                          </a:solidFill>
                          <a:effectLst/>
                          <a:latin typeface="+mn-lt"/>
                          <a:ea typeface="+mn-ea"/>
                          <a:cs typeface="+mn-cs"/>
                        </a:rPr>
                        <a:t>и</a:t>
                      </a:r>
                      <a:r>
                        <a:rPr lang="uz-Cyrl-UZ" sz="900" b="1" kern="1200" noProof="0" dirty="0" smtClean="0">
                          <a:solidFill>
                            <a:schemeClr val="tx1"/>
                          </a:solidFill>
                          <a:latin typeface="+mn-lt"/>
                          <a:ea typeface="+mn-ea"/>
                          <a:cs typeface="+mn-cs"/>
                        </a:rPr>
                        <a:t> саҳналаштирувчи режиссёр</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3993">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142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46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759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smtClean="0">
                        <a:solidFill>
                          <a:schemeClr val="tx1"/>
                        </a:solidFill>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3498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endParaRPr lang="uz-Cyrl-UZ" sz="900" b="0" kern="1200" noProof="0" dirty="0" smtClean="0">
                        <a:solidFill>
                          <a:schemeClr val="tx1"/>
                        </a:solidFill>
                        <a:latin typeface="+mn-lt"/>
                        <a:ea typeface="+mn-ea"/>
                        <a:cs typeface="+mn-cs"/>
                      </a:endParaRPr>
                    </a:p>
                    <a:p>
                      <a:pPr marL="0" marR="0" indent="0" algn="l" defTabSz="914400" rtl="0" eaLnBrk="1" fontAlgn="auto" latinLnBrk="0" hangingPunct="1">
                        <a:lnSpc>
                          <a:spcPct val="107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smtClean="0">
                        <a:solidFill>
                          <a:schemeClr val="tx1"/>
                        </a:solidFill>
                        <a:latin typeface="+mn-lt"/>
                        <a:ea typeface="+mn-ea"/>
                        <a:cs typeface="+mn-cs"/>
                      </a:endParaRPr>
                    </a:p>
                    <a:p>
                      <a:pPr algn="l">
                        <a:lnSpc>
                          <a:spcPct val="107000"/>
                        </a:lnSpc>
                        <a:spcAft>
                          <a:spcPts val="0"/>
                        </a:spcAft>
                      </a:pP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78749">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55749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2025 й. </a:t>
                      </a:r>
                      <a:r>
                        <a:rPr lang="ru-RU" sz="900" kern="1200" dirty="0" smtClean="0">
                          <a:solidFill>
                            <a:schemeClr val="tx1"/>
                          </a:solidFill>
                          <a:effectLst/>
                          <a:latin typeface="+mn-lt"/>
                          <a:ea typeface="+mn-ea"/>
                          <a:cs typeface="+mn-cs"/>
                        </a:rPr>
                        <a:t>Нукус </a:t>
                      </a:r>
                      <a:r>
                        <a:rPr lang="ru-RU" sz="900" kern="1200" dirty="0" err="1" smtClean="0">
                          <a:solidFill>
                            <a:schemeClr val="tx1"/>
                          </a:solidFill>
                          <a:effectLst/>
                          <a:latin typeface="+mn-lt"/>
                          <a:ea typeface="+mn-ea"/>
                          <a:cs typeface="+mn-cs"/>
                        </a:rPr>
                        <a:t>ша</a:t>
                      </a:r>
                      <a:r>
                        <a:rPr lang="uz-Cyrl-UZ" sz="900" kern="1200" dirty="0" smtClean="0">
                          <a:solidFill>
                            <a:schemeClr val="tx1"/>
                          </a:solidFill>
                          <a:effectLst/>
                          <a:latin typeface="+mn-lt"/>
                          <a:ea typeface="+mn-ea"/>
                          <a:cs typeface="+mn-cs"/>
                        </a:rPr>
                        <a:t>ҳ</a:t>
                      </a:r>
                      <a:r>
                        <a:rPr lang="ru-RU" sz="900" kern="1200" dirty="0" err="1" smtClean="0">
                          <a:solidFill>
                            <a:schemeClr val="tx1"/>
                          </a:solidFill>
                          <a:effectLst/>
                          <a:latin typeface="+mn-lt"/>
                          <a:ea typeface="+mn-ea"/>
                          <a:cs typeface="+mn-cs"/>
                        </a:rPr>
                        <a:t>ри</a:t>
                      </a:r>
                      <a:endParaRPr lang="uz-Cyrl-UZ" sz="900" b="0" kern="1200" noProof="0" dirty="0" smtClean="0">
                        <a:solidFill>
                          <a:schemeClr val="tx1"/>
                        </a:solidFill>
                        <a:latin typeface="+mn-lt"/>
                        <a:ea typeface="+mn-ea"/>
                        <a:cs typeface="Arial" panose="020B0604020202020204" pitchFamily="34" charset="0"/>
                      </a:endParaRPr>
                    </a:p>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Халмуратов номидаги “Республика</a:t>
                      </a:r>
                      <a:r>
                        <a:rPr lang="uz-Cyrl-UZ" sz="900" kern="1200" baseline="0" noProof="0" dirty="0" smtClean="0">
                          <a:solidFill>
                            <a:schemeClr val="tx1"/>
                          </a:solidFill>
                          <a:effectLst/>
                          <a:latin typeface="+mn-lt"/>
                          <a:ea typeface="Calibri" panose="020F0502020204030204" pitchFamily="34" charset="0"/>
                          <a:cs typeface="Times New Roman" panose="02020603050405020304" pitchFamily="18" charset="0"/>
                        </a:rPr>
                        <a:t> шифохонаси</a:t>
                      </a: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”да</a:t>
                      </a:r>
                      <a:r>
                        <a:rPr lang="uz-Cyrl-UZ" sz="900" kern="1200" baseline="0" noProof="0" dirty="0" smtClean="0">
                          <a:solidFill>
                            <a:schemeClr val="tx1"/>
                          </a:solidFill>
                          <a:effectLst/>
                          <a:latin typeface="+mn-lt"/>
                          <a:ea typeface="Calibri" panose="020F0502020204030204" pitchFamily="34" charset="0"/>
                          <a:cs typeface="Times New Roman" panose="02020603050405020304" pitchFamily="18" charset="0"/>
                        </a:rPr>
                        <a:t> </a:t>
                      </a: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даволанган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7874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kern="1200" noProof="0" dirty="0" smtClean="0">
                          <a:solidFill>
                            <a:schemeClr val="tx1"/>
                          </a:solidFill>
                          <a:effectLst/>
                          <a:latin typeface="+mn-lt"/>
                          <a:ea typeface="Calibri" panose="020F0502020204030204" pitchFamily="34" charset="0"/>
                          <a:cs typeface="Times New Roman" panose="02020603050405020304" pitchFamily="18" charset="0"/>
                        </a:rPr>
                        <a:t>2025-йилда </a:t>
                      </a:r>
                      <a:r>
                        <a:rPr lang="uz-Cyrl-UZ" sz="900" b="0" i="0" kern="1200" noProof="0" dirty="0" smtClean="0">
                          <a:solidFill>
                            <a:schemeClr val="tx1"/>
                          </a:solidFill>
                          <a:effectLst/>
                          <a:latin typeface="+mn-lt"/>
                          <a:ea typeface="Calibri" panose="020F0502020204030204" pitchFamily="34" charset="0"/>
                          <a:cs typeface="Times New Roman" panose="02020603050405020304" pitchFamily="18" charset="0"/>
                        </a:rPr>
                        <a:t>ўтган</a:t>
                      </a:r>
                      <a:endParaRPr lang="uz-Cyrl-UZ" sz="900" b="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4684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702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947050">
                <a:tc gridSpan="2">
                  <a:txBody>
                    <a:bodyPr/>
                    <a:lstStyle/>
                    <a:p>
                      <a:r>
                        <a:rPr lang="uz-Cyrl-UZ" sz="900" kern="1200" dirty="0" smtClean="0">
                          <a:solidFill>
                            <a:schemeClr val="tx1"/>
                          </a:solidFill>
                          <a:effectLst/>
                          <a:latin typeface="+mn-lt"/>
                          <a:ea typeface="+mn-ea"/>
                          <a:cs typeface="+mn-cs"/>
                        </a:rPr>
                        <a:t>1991 й. “Қорақалпоғистон Республикаси Жўқорғи Кенгеси фахрий ёрлиғи” </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1996 й. “Қорақалпоғистон Республикасида хизмат кўрсатган санъат арбоби”</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442604658"/>
              </p:ext>
            </p:extLst>
          </p:nvPr>
        </p:nvGraphicFramePr>
        <p:xfrm>
          <a:off x="6949857" y="869287"/>
          <a:ext cx="2817247" cy="5907505"/>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35777">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2129">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721373">
                <a:tc>
                  <a:txBody>
                    <a:bodyPr/>
                    <a:lstStyle/>
                    <a:p>
                      <a:pPr marL="0" indent="179388" algn="just"/>
                      <a:r>
                        <a:rPr lang="uz-Cyrl-UZ" sz="900" b="0" kern="1200" dirty="0" smtClean="0">
                          <a:solidFill>
                            <a:schemeClr val="tx1"/>
                          </a:solidFill>
                          <a:effectLst/>
                          <a:latin typeface="+mn-lt"/>
                          <a:ea typeface="+mn-ea"/>
                          <a:cs typeface="+mn-cs"/>
                        </a:rPr>
                        <a:t>У режиссёрлик фаолияти давомида «Мухаббат гўзаллиги», «Зўраки табиб», «Қыянет»,  «Болкондаги назалим», «Беш кунлик дунё, «Умирбек ва тозча», «Шарьяр», «Бадўўа», «Завол», «Палакнинг гардиши», «Ғориб очиқ», «Аязий» ва бошқа да бир қанча асарларини сахналаштириб ўзига хос услуби билан томошабинларимиз томонидан юқори баҳолар олишга муяссар бўлдилар.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У сахналаштирган ҳар бир спектаклида </a:t>
                      </a:r>
                      <a:r>
                        <a:rPr lang="uk-UA" sz="900" b="0" kern="1200" dirty="0" err="1" smtClean="0">
                          <a:solidFill>
                            <a:schemeClr val="tx1"/>
                          </a:solidFill>
                          <a:effectLst/>
                          <a:latin typeface="+mn-lt"/>
                          <a:ea typeface="+mn-ea"/>
                          <a:cs typeface="+mn-cs"/>
                        </a:rPr>
                        <a:t>миллийлик</a:t>
                      </a:r>
                      <a:r>
                        <a:rPr lang="uk-UA" sz="900" b="0" kern="1200" dirty="0" smtClean="0">
                          <a:solidFill>
                            <a:schemeClr val="tx1"/>
                          </a:solidFill>
                          <a:effectLst/>
                          <a:latin typeface="+mn-lt"/>
                          <a:ea typeface="+mn-ea"/>
                          <a:cs typeface="+mn-cs"/>
                        </a:rPr>
                        <a:t>, </a:t>
                      </a:r>
                      <a:r>
                        <a:rPr lang="uk-UA" sz="900" b="0" kern="1200" dirty="0" err="1" smtClean="0">
                          <a:solidFill>
                            <a:schemeClr val="tx1"/>
                          </a:solidFill>
                          <a:effectLst/>
                          <a:latin typeface="+mn-lt"/>
                          <a:ea typeface="+mn-ea"/>
                          <a:cs typeface="+mn-cs"/>
                        </a:rPr>
                        <a:t>Ватанпарварлик</a:t>
                      </a:r>
                      <a:r>
                        <a:rPr lang="uk-UA" sz="900" b="0" kern="1200" dirty="0" smtClean="0">
                          <a:solidFill>
                            <a:schemeClr val="tx1"/>
                          </a:solidFill>
                          <a:effectLst/>
                          <a:latin typeface="+mn-lt"/>
                          <a:ea typeface="+mn-ea"/>
                          <a:cs typeface="+mn-cs"/>
                        </a:rPr>
                        <a:t>, </a:t>
                      </a:r>
                      <a:r>
                        <a:rPr lang="uk-UA" sz="900" b="0" kern="1200" dirty="0" err="1" smtClean="0">
                          <a:solidFill>
                            <a:schemeClr val="tx1"/>
                          </a:solidFill>
                          <a:effectLst/>
                          <a:latin typeface="+mn-lt"/>
                          <a:ea typeface="+mn-ea"/>
                          <a:cs typeface="+mn-cs"/>
                        </a:rPr>
                        <a:t>дўстлик</a:t>
                      </a:r>
                      <a:r>
                        <a:rPr lang="uk-UA" sz="900" b="0" kern="1200" dirty="0" smtClean="0">
                          <a:solidFill>
                            <a:schemeClr val="tx1"/>
                          </a:solidFill>
                          <a:effectLst/>
                          <a:latin typeface="+mn-lt"/>
                          <a:ea typeface="+mn-ea"/>
                          <a:cs typeface="+mn-cs"/>
                        </a:rPr>
                        <a:t>, </a:t>
                      </a:r>
                      <a:r>
                        <a:rPr lang="uk-UA" sz="900" b="0" kern="1200" dirty="0" err="1" smtClean="0">
                          <a:solidFill>
                            <a:schemeClr val="tx1"/>
                          </a:solidFill>
                          <a:effectLst/>
                          <a:latin typeface="+mn-lt"/>
                          <a:ea typeface="+mn-ea"/>
                          <a:cs typeface="+mn-cs"/>
                        </a:rPr>
                        <a:t>ме</a:t>
                      </a:r>
                      <a:r>
                        <a:rPr lang="uz-Cyrl-UZ" sz="900" b="0" kern="1200" dirty="0" smtClean="0">
                          <a:solidFill>
                            <a:schemeClr val="tx1"/>
                          </a:solidFill>
                          <a:effectLst/>
                          <a:latin typeface="+mn-lt"/>
                          <a:ea typeface="+mn-ea"/>
                          <a:cs typeface="+mn-cs"/>
                        </a:rPr>
                        <a:t>ҳ</a:t>
                      </a:r>
                      <a:r>
                        <a:rPr lang="uk-UA" sz="900" b="0" kern="1200" dirty="0" err="1" smtClean="0">
                          <a:solidFill>
                            <a:schemeClr val="tx1"/>
                          </a:solidFill>
                          <a:effectLst/>
                          <a:latin typeface="+mn-lt"/>
                          <a:ea typeface="+mn-ea"/>
                          <a:cs typeface="+mn-cs"/>
                        </a:rPr>
                        <a:t>натсеварлик</a:t>
                      </a:r>
                      <a:r>
                        <a:rPr lang="uk-UA" sz="900" b="0" kern="1200" dirty="0" smtClean="0">
                          <a:solidFill>
                            <a:schemeClr val="tx1"/>
                          </a:solidFill>
                          <a:effectLst/>
                          <a:latin typeface="+mn-lt"/>
                          <a:ea typeface="+mn-ea"/>
                          <a:cs typeface="+mn-cs"/>
                        </a:rPr>
                        <a:t>, </a:t>
                      </a:r>
                      <a:r>
                        <a:rPr lang="uk-UA" sz="900" b="0" kern="1200" dirty="0" err="1" smtClean="0">
                          <a:solidFill>
                            <a:schemeClr val="tx1"/>
                          </a:solidFill>
                          <a:effectLst/>
                          <a:latin typeface="+mn-lt"/>
                          <a:ea typeface="+mn-ea"/>
                          <a:cs typeface="+mn-cs"/>
                        </a:rPr>
                        <a:t>миллий</a:t>
                      </a:r>
                      <a:r>
                        <a:rPr lang="uk-UA" sz="900" b="0" kern="1200" dirty="0" smtClean="0">
                          <a:solidFill>
                            <a:schemeClr val="tx1"/>
                          </a:solidFill>
                          <a:effectLst/>
                          <a:latin typeface="+mn-lt"/>
                          <a:ea typeface="+mn-ea"/>
                          <a:cs typeface="+mn-cs"/>
                        </a:rPr>
                        <a:t> </a:t>
                      </a:r>
                      <a:r>
                        <a:rPr lang="uk-UA" sz="900" b="0" kern="1200" dirty="0" err="1" smtClean="0">
                          <a:solidFill>
                            <a:schemeClr val="tx1"/>
                          </a:solidFill>
                          <a:effectLst/>
                          <a:latin typeface="+mn-lt"/>
                          <a:ea typeface="+mn-ea"/>
                          <a:cs typeface="+mn-cs"/>
                        </a:rPr>
                        <a:t>қадриятлар</a:t>
                      </a:r>
                      <a:r>
                        <a:rPr lang="uk-UA" sz="900" b="0" kern="1200" dirty="0" smtClean="0">
                          <a:solidFill>
                            <a:schemeClr val="tx1"/>
                          </a:solidFill>
                          <a:effectLst/>
                          <a:latin typeface="+mn-lt"/>
                          <a:ea typeface="+mn-ea"/>
                          <a:cs typeface="+mn-cs"/>
                        </a:rPr>
                        <a:t>  </a:t>
                      </a:r>
                      <a:r>
                        <a:rPr lang="uk-UA" sz="900" b="0" kern="1200" dirty="0" err="1" smtClean="0">
                          <a:solidFill>
                            <a:schemeClr val="tx1"/>
                          </a:solidFill>
                          <a:effectLst/>
                          <a:latin typeface="+mn-lt"/>
                          <a:ea typeface="+mn-ea"/>
                          <a:cs typeface="+mn-cs"/>
                        </a:rPr>
                        <a:t>мужассамлашган</a:t>
                      </a:r>
                      <a:r>
                        <a:rPr lang="uk-UA" sz="900" b="0" kern="1200" dirty="0" smtClean="0">
                          <a:solidFill>
                            <a:schemeClr val="tx1"/>
                          </a:solidFill>
                          <a:effectLst/>
                          <a:latin typeface="+mn-lt"/>
                          <a:ea typeface="+mn-ea"/>
                          <a:cs typeface="+mn-cs"/>
                        </a:rPr>
                        <a:t>.</a:t>
                      </a:r>
                      <a:r>
                        <a:rPr lang="uz-Cyrl-UZ" sz="900" b="0" kern="1200" dirty="0" smtClean="0">
                          <a:solidFill>
                            <a:schemeClr val="tx1"/>
                          </a:solidFill>
                          <a:effectLst/>
                          <a:latin typeface="+mn-lt"/>
                          <a:ea typeface="+mn-ea"/>
                          <a:cs typeface="+mn-cs"/>
                        </a:rPr>
                        <a:t>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Шунингдек «Қорақалпоқфильм» киностудиясида суратга олинган «Ўғри», «Қўшнилар», «Ўмрнинг уч фасли», «Маргия», «Қайсар» кинофильмларнинг ва ўн бир сериалик болаларга бағишланган «Тулкишек» сатиралик фильмнинг, 50 ортиқ  хужжатли фильмларининг режиссери.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Б.Баймурзаев 1992-2000 йиллар оралиғида Республика миқёсида ўтказиладиган Мустақиллик, Наврўз умумхалқ байрамларин юқори савияда сахналаштириб, томошабинларнинг ва мутахасисстларнинг олқишига сазовор бўлди.</a:t>
                      </a:r>
                      <a:endParaRPr lang="ru-RU" sz="900" b="0" kern="1200" dirty="0" smtClean="0">
                        <a:solidFill>
                          <a:schemeClr val="tx1"/>
                        </a:solidFill>
                        <a:effectLst/>
                        <a:latin typeface="+mn-lt"/>
                        <a:ea typeface="+mn-ea"/>
                        <a:cs typeface="+mn-cs"/>
                      </a:endParaRPr>
                    </a:p>
                    <a:p>
                      <a:pPr marL="0" indent="179388" algn="just"/>
                      <a:r>
                        <a:rPr lang="uz-Cyrl-UZ" sz="900" b="0" i="0" kern="1200" dirty="0" smtClean="0">
                          <a:solidFill>
                            <a:schemeClr val="tx1"/>
                          </a:solidFill>
                          <a:effectLst/>
                          <a:latin typeface="+mn-lt"/>
                          <a:ea typeface="+mn-ea"/>
                          <a:cs typeface="+mn-cs"/>
                        </a:rPr>
                        <a:t>Театримизнинг 90 йиллик юбилей кечасининг ташкиллаштириш ишларин  юқори даражада таёрлаб, юбилей кечасининг ўтишида ўз ҳиссасини қўшди. </a:t>
                      </a:r>
                      <a:endParaRPr lang="ru-RU" sz="900" b="0" i="1" kern="1200" dirty="0" smtClean="0">
                        <a:solidFill>
                          <a:schemeClr val="tx1"/>
                        </a:solidFill>
                        <a:effectLst/>
                        <a:latin typeface="+mn-lt"/>
                        <a:ea typeface="+mn-ea"/>
                        <a:cs typeface="+mn-cs"/>
                      </a:endParaRPr>
                    </a:p>
                    <a:p>
                      <a:pPr marL="0" indent="179388" algn="just"/>
                      <a:r>
                        <a:rPr lang="uz-Cyrl-UZ" sz="900" b="0" i="0" kern="1200" dirty="0" smtClean="0">
                          <a:solidFill>
                            <a:schemeClr val="tx1"/>
                          </a:solidFill>
                          <a:effectLst/>
                          <a:latin typeface="+mn-lt"/>
                          <a:ea typeface="+mn-ea"/>
                          <a:cs typeface="+mn-cs"/>
                        </a:rPr>
                        <a:t>Меҳнатсеварлиги, изланувчанлиги, атрофдагиларга айниқса, ёшларга бўлган алоҳида эътибори билан театр жамоасининг ҳурмат- эътиборини қозонган.</a:t>
                      </a:r>
                      <a:endParaRPr lang="ru-RU" sz="900" b="0" i="1" kern="1200" dirty="0" smtClean="0">
                        <a:solidFill>
                          <a:schemeClr val="tx1"/>
                        </a:solidFill>
                        <a:effectLst/>
                        <a:latin typeface="+mn-lt"/>
                        <a:ea typeface="+mn-ea"/>
                        <a:cs typeface="+mn-cs"/>
                      </a:endParaRPr>
                    </a:p>
                    <a:p>
                      <a:pPr marL="0" indent="179388" algn="just"/>
                      <a:r>
                        <a:rPr lang="uz-Cyrl-UZ" sz="900" b="0" i="0" kern="1200" dirty="0" smtClean="0">
                          <a:solidFill>
                            <a:schemeClr val="tx1"/>
                          </a:solidFill>
                          <a:effectLst/>
                          <a:latin typeface="+mn-lt"/>
                          <a:ea typeface="+mn-ea"/>
                          <a:cs typeface="+mn-cs"/>
                        </a:rPr>
                        <a:t>Б.Баймурзаев маданиятимиз ва санъатимизнинг ривожланишида ўзининг кўч ва ғайратини аямасдан қўшиб келаётган иқтидорли режиссёри.</a:t>
                      </a:r>
                      <a:endParaRPr lang="ru-RU" sz="900" b="0" i="1"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63008">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45158">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ўтказилиб келадиган барча оммавий мадаий тадбирларида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a:picLocks noChangeAspect="1"/>
          </p:cNvPicPr>
          <p:nvPr/>
        </p:nvPicPr>
        <p:blipFill>
          <a:blip r:embed="rId2"/>
          <a:stretch>
            <a:fillRect/>
          </a:stretch>
        </p:blipFill>
        <p:spPr>
          <a:xfrm>
            <a:off x="247829" y="1131832"/>
            <a:ext cx="872312" cy="1086815"/>
          </a:xfrm>
          <a:prstGeom prst="rect">
            <a:avLst/>
          </a:prstGeom>
        </p:spPr>
      </p:pic>
    </p:spTree>
    <p:extLst>
      <p:ext uri="{BB962C8B-B14F-4D97-AF65-F5344CB8AC3E}">
        <p14:creationId xmlns:p14="http://schemas.microsoft.com/office/powerpoint/2010/main" val="1731231220"/>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148263216"/>
              </p:ext>
            </p:extLst>
          </p:nvPr>
        </p:nvGraphicFramePr>
        <p:xfrm>
          <a:off x="144489" y="865702"/>
          <a:ext cx="3427547" cy="5832254"/>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37015">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5291">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effectLst/>
                          <a:latin typeface="+mn-lt"/>
                          <a:ea typeface="+mn-ea"/>
                          <a:cs typeface="+mn-cs"/>
                        </a:rPr>
                        <a:t>ДАУЛЕТОВА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619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900" b="0" kern="1200" dirty="0" err="1" smtClean="0">
                          <a:solidFill>
                            <a:schemeClr val="tx1"/>
                          </a:solidFill>
                          <a:effectLst/>
                          <a:latin typeface="+mn-lt"/>
                          <a:ea typeface="+mn-ea"/>
                          <a:cs typeface="+mn-cs"/>
                        </a:rPr>
                        <a:t>Сапаргул</a:t>
                      </a:r>
                      <a:r>
                        <a:rPr lang="uz-Cyrl-UZ" sz="900" b="0" kern="1200" dirty="0" smtClean="0">
                          <a:solidFill>
                            <a:schemeClr val="tx1"/>
                          </a:solidFill>
                          <a:effectLst/>
                          <a:latin typeface="+mn-lt"/>
                          <a:ea typeface="+mn-ea"/>
                          <a:cs typeface="+mn-cs"/>
                        </a:rPr>
                        <a:t>ь</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619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900" b="0" kern="1200" dirty="0" err="1" smtClean="0">
                          <a:solidFill>
                            <a:schemeClr val="tx1"/>
                          </a:solidFill>
                          <a:effectLst/>
                          <a:latin typeface="+mn-lt"/>
                          <a:ea typeface="+mn-ea"/>
                          <a:cs typeface="+mn-cs"/>
                        </a:rPr>
                        <a:t>Абди</a:t>
                      </a:r>
                      <a:r>
                        <a:rPr lang="uz-Cyrl-UZ" sz="900" b="0" kern="1200" dirty="0" smtClean="0">
                          <a:solidFill>
                            <a:schemeClr val="tx1"/>
                          </a:solidFill>
                          <a:effectLst/>
                          <a:latin typeface="+mn-lt"/>
                          <a:ea typeface="+mn-ea"/>
                          <a:cs typeface="+mn-cs"/>
                        </a:rPr>
                        <a:t>шерипов</a:t>
                      </a:r>
                      <a:r>
                        <a:rPr lang="ru-RU" sz="900" b="0" kern="1200" dirty="0" smtClean="0">
                          <a:solidFill>
                            <a:schemeClr val="tx1"/>
                          </a:solidFill>
                          <a:effectLst/>
                          <a:latin typeface="+mn-lt"/>
                          <a:ea typeface="+mn-ea"/>
                          <a:cs typeface="+mn-cs"/>
                        </a:rPr>
                        <a:t>на </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5291">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kern="1200" dirty="0" smtClean="0">
                          <a:solidFill>
                            <a:schemeClr val="tx1"/>
                          </a:solidFill>
                          <a:effectLst/>
                          <a:latin typeface="+mn-lt"/>
                          <a:ea typeface="+mn-ea"/>
                          <a:cs typeface="+mn-cs"/>
                        </a:rPr>
                        <a:t>қорақалпоқ</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529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05.12.1953</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529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Кегейли 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4919">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45884">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ва 1 нафар қиз</a:t>
                      </a:r>
                      <a:r>
                        <a:rPr lang="uz-Cyrl-UZ" sz="900" b="0" kern="1200" baseline="0" noProof="0" dirty="0" smtClean="0">
                          <a:solidFill>
                            <a:schemeClr val="tx1"/>
                          </a:solidFill>
                          <a:latin typeface="+mn-lt"/>
                          <a:ea typeface="+mn-ea"/>
                          <a:cs typeface="+mn-cs"/>
                        </a:rPr>
                        <a:t> </a:t>
                      </a:r>
                      <a:r>
                        <a:rPr lang="uz-Cyrl-UZ" sz="900" b="0" kern="1200" noProof="0" dirty="0" smtClean="0">
                          <a:solidFill>
                            <a:schemeClr val="tx1"/>
                          </a:solidFill>
                          <a:latin typeface="+mn-lt"/>
                          <a:ea typeface="+mn-ea"/>
                          <a:cs typeface="+mn-cs"/>
                        </a:rPr>
                        <a:t>фарзанди бор</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4919">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37411">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kern="1200" dirty="0" err="1" smtClean="0">
                          <a:solidFill>
                            <a:schemeClr val="tx1"/>
                          </a:solidFill>
                          <a:effectLst/>
                          <a:latin typeface="+mn-lt"/>
                          <a:ea typeface="+mn-ea"/>
                          <a:cs typeface="+mn-cs"/>
                        </a:rPr>
                        <a:t>Даулетов</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Абдишерип</a:t>
                      </a:r>
                      <a:r>
                        <a:rPr lang="ru-RU" sz="900" kern="1200" dirty="0" smtClean="0">
                          <a:solidFill>
                            <a:schemeClr val="tx1"/>
                          </a:solidFill>
                          <a:effectLst/>
                          <a:latin typeface="+mn-lt"/>
                          <a:ea typeface="+mn-ea"/>
                          <a:cs typeface="+mn-cs"/>
                        </a:rPr>
                        <a:t> </a:t>
                      </a:r>
                      <a:r>
                        <a:rPr lang="uz-Cyrl-UZ" sz="900" b="0" kern="1200" noProof="0" dirty="0" smtClean="0">
                          <a:solidFill>
                            <a:schemeClr val="tx1"/>
                          </a:solidFill>
                          <a:latin typeface="+mn-lt"/>
                          <a:ea typeface="+mn-ea"/>
                          <a:cs typeface="Arial" panose="020B0604020202020204" pitchFamily="34" charset="0"/>
                        </a:rPr>
                        <a:t>1898 йил, Кегейли тумани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kern="1200" dirty="0" smtClean="0">
                          <a:solidFill>
                            <a:schemeClr val="tx1"/>
                          </a:solidFill>
                          <a:effectLst/>
                          <a:latin typeface="+mn-lt"/>
                          <a:ea typeface="+mn-ea"/>
                          <a:cs typeface="+mn-cs"/>
                        </a:rPr>
                        <a:t>1966 </a:t>
                      </a:r>
                      <a:r>
                        <a:rPr lang="ru-RU" sz="900" kern="1200" dirty="0" err="1" smtClean="0">
                          <a:solidFill>
                            <a:schemeClr val="tx1"/>
                          </a:solidFill>
                          <a:effectLst/>
                          <a:latin typeface="+mn-lt"/>
                          <a:ea typeface="+mn-ea"/>
                          <a:cs typeface="+mn-cs"/>
                        </a:rPr>
                        <a:t>йил</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вафот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этган</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Кегейли тумани “Дарвозақум” фермер хўжалиги </a:t>
                      </a:r>
                      <a:r>
                        <a:rPr lang="ru-RU" sz="900" kern="1200" dirty="0" err="1" smtClean="0">
                          <a:solidFill>
                            <a:schemeClr val="tx1"/>
                          </a:solidFill>
                          <a:effectLst/>
                          <a:latin typeface="+mn-lt"/>
                          <a:ea typeface="+mn-ea"/>
                          <a:cs typeface="+mn-cs"/>
                        </a:rPr>
                        <a:t>ишчи</a:t>
                      </a:r>
                      <a:r>
                        <a:rPr lang="uz-Cyrl-UZ" sz="900" kern="1200" dirty="0" smtClean="0">
                          <a:solidFill>
                            <a:schemeClr val="tx1"/>
                          </a:solidFill>
                          <a:effectLst/>
                          <a:latin typeface="+mn-lt"/>
                          <a:ea typeface="+mn-ea"/>
                          <a:cs typeface="+mn-cs"/>
                        </a:rPr>
                        <a:t>си</a:t>
                      </a:r>
                      <a:r>
                        <a:rPr lang="ru-RU" sz="900" kern="1200" dirty="0" smtClean="0">
                          <a:solidFill>
                            <a:schemeClr val="tx1"/>
                          </a:solidFill>
                          <a:effectLst/>
                          <a:latin typeface="+mn-lt"/>
                          <a:ea typeface="+mn-ea"/>
                          <a:cs typeface="+mn-cs"/>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37411">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kern="1200" dirty="0" smtClean="0">
                          <a:solidFill>
                            <a:schemeClr val="tx1"/>
                          </a:solidFill>
                          <a:effectLst/>
                          <a:latin typeface="+mn-lt"/>
                          <a:ea typeface="+mn-ea"/>
                          <a:cs typeface="+mn-cs"/>
                        </a:rPr>
                        <a:t>Убайдуллаева </a:t>
                      </a:r>
                      <a:r>
                        <a:rPr lang="ru-RU" sz="900" kern="1200" dirty="0" err="1" smtClean="0">
                          <a:solidFill>
                            <a:schemeClr val="tx1"/>
                          </a:solidFill>
                          <a:effectLst/>
                          <a:latin typeface="+mn-lt"/>
                          <a:ea typeface="+mn-ea"/>
                          <a:cs typeface="+mn-cs"/>
                        </a:rPr>
                        <a:t>Ажар</a:t>
                      </a:r>
                      <a:r>
                        <a:rPr lang="ru-RU" sz="900" kern="1200" dirty="0" smtClean="0">
                          <a:solidFill>
                            <a:schemeClr val="tx1"/>
                          </a:solidFill>
                          <a:effectLst/>
                          <a:latin typeface="+mn-lt"/>
                          <a:ea typeface="+mn-ea"/>
                          <a:cs typeface="+mn-cs"/>
                        </a:rPr>
                        <a:t> </a:t>
                      </a:r>
                      <a:r>
                        <a:rPr lang="uz-Cyrl-UZ" sz="900" b="0" kern="1200" noProof="0" dirty="0" smtClean="0">
                          <a:solidFill>
                            <a:schemeClr val="tx1"/>
                          </a:solidFill>
                          <a:latin typeface="+mn-lt"/>
                          <a:ea typeface="+mn-ea"/>
                          <a:cs typeface="Arial" panose="020B0604020202020204" pitchFamily="34" charset="0"/>
                        </a:rPr>
                        <a:t>1903 йил, Кегейли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kern="1200" dirty="0" smtClean="0">
                          <a:solidFill>
                            <a:schemeClr val="tx1"/>
                          </a:solidFill>
                          <a:effectLst/>
                          <a:latin typeface="+mn-lt"/>
                          <a:ea typeface="+mn-ea"/>
                          <a:cs typeface="+mn-cs"/>
                        </a:rPr>
                        <a:t>1987 </a:t>
                      </a:r>
                      <a:r>
                        <a:rPr lang="ru-RU" sz="900" kern="1200" dirty="0" err="1" smtClean="0">
                          <a:solidFill>
                            <a:schemeClr val="tx1"/>
                          </a:solidFill>
                          <a:effectLst/>
                          <a:latin typeface="+mn-lt"/>
                          <a:ea typeface="+mn-ea"/>
                          <a:cs typeface="+mn-cs"/>
                        </a:rPr>
                        <a:t>йил</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вафот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этган</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Кегейли тумани “Дарвозақум” фермер хўжалиги </a:t>
                      </a:r>
                      <a:r>
                        <a:rPr lang="ru-RU" sz="900" kern="1200" dirty="0" err="1" smtClean="0">
                          <a:solidFill>
                            <a:schemeClr val="tx1"/>
                          </a:solidFill>
                          <a:effectLst/>
                          <a:latin typeface="+mn-lt"/>
                          <a:ea typeface="+mn-ea"/>
                          <a:cs typeface="+mn-cs"/>
                        </a:rPr>
                        <a:t>ишчи</a:t>
                      </a:r>
                      <a:r>
                        <a:rPr lang="uz-Cyrl-UZ" sz="900" kern="1200" dirty="0" smtClean="0">
                          <a:solidFill>
                            <a:schemeClr val="tx1"/>
                          </a:solidFill>
                          <a:effectLst/>
                          <a:latin typeface="+mn-lt"/>
                          <a:ea typeface="+mn-ea"/>
                          <a:cs typeface="+mn-cs"/>
                        </a:rPr>
                        <a:t>си</a:t>
                      </a:r>
                      <a:r>
                        <a:rPr lang="ru-RU" sz="900" kern="1200" dirty="0" smtClean="0">
                          <a:solidFill>
                            <a:schemeClr val="tx1"/>
                          </a:solidFill>
                          <a:effectLst/>
                          <a:latin typeface="+mn-lt"/>
                          <a:ea typeface="+mn-ea"/>
                          <a:cs typeface="+mn-cs"/>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640168">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kern="1200" dirty="0" err="1" smtClean="0">
                          <a:solidFill>
                            <a:schemeClr val="tx1"/>
                          </a:solidFill>
                          <a:effectLst/>
                          <a:latin typeface="+mn-lt"/>
                          <a:ea typeface="+mn-ea"/>
                          <a:cs typeface="+mn-cs"/>
                        </a:rPr>
                        <a:t>Абденов</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Жангабай</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Зарипбаевич</a:t>
                      </a:r>
                      <a:r>
                        <a:rPr lang="ru-RU" sz="900" kern="1200" dirty="0" smtClean="0">
                          <a:solidFill>
                            <a:schemeClr val="tx1"/>
                          </a:solidFill>
                          <a:effectLst/>
                          <a:latin typeface="+mn-lt"/>
                          <a:ea typeface="+mn-ea"/>
                          <a:cs typeface="+mn-cs"/>
                        </a:rPr>
                        <a:t> </a:t>
                      </a:r>
                      <a:r>
                        <a:rPr lang="uz-Cyrl-UZ" sz="900" b="0" kern="1200" noProof="0" dirty="0" smtClean="0">
                          <a:solidFill>
                            <a:schemeClr val="tx1"/>
                          </a:solidFill>
                          <a:latin typeface="+mn-lt"/>
                          <a:ea typeface="+mn-ea"/>
                          <a:cs typeface="Arial" panose="020B0604020202020204" pitchFamily="34" charset="0"/>
                        </a:rPr>
                        <a:t>1952 йил, Кегейли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ru-RU" sz="900" kern="1200" dirty="0" smtClean="0">
                          <a:solidFill>
                            <a:schemeClr val="tx1"/>
                          </a:solidFill>
                          <a:effectLst/>
                          <a:latin typeface="+mn-lt"/>
                          <a:ea typeface="+mn-ea"/>
                          <a:cs typeface="+mn-cs"/>
                        </a:rPr>
                        <a:t>2024 </a:t>
                      </a:r>
                      <a:r>
                        <a:rPr lang="ru-RU" sz="900" kern="1200" dirty="0" err="1" smtClean="0">
                          <a:solidFill>
                            <a:schemeClr val="tx1"/>
                          </a:solidFill>
                          <a:effectLst/>
                          <a:latin typeface="+mn-lt"/>
                          <a:ea typeface="+mn-ea"/>
                          <a:cs typeface="+mn-cs"/>
                        </a:rPr>
                        <a:t>йил</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вафот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этган</a:t>
                      </a:r>
                      <a:r>
                        <a:rPr lang="ru-RU" sz="900" kern="1200" dirty="0" smtClean="0">
                          <a:solidFill>
                            <a:schemeClr val="tx1"/>
                          </a:solidFill>
                          <a:effectLst/>
                          <a:latin typeface="+mn-lt"/>
                          <a:ea typeface="+mn-ea"/>
                          <a:cs typeface="+mn-cs"/>
                        </a:rPr>
                        <a:t> (</a:t>
                      </a:r>
                      <a:r>
                        <a:rPr lang="ca-ES" sz="900" kern="1200" dirty="0" smtClean="0">
                          <a:solidFill>
                            <a:schemeClr val="tx1"/>
                          </a:solidFill>
                          <a:effectLst/>
                          <a:latin typeface="+mn-lt"/>
                          <a:ea typeface="+mn-ea"/>
                          <a:cs typeface="+mn-cs"/>
                        </a:rPr>
                        <a:t>“Арал Лада” </a:t>
                      </a:r>
                      <a:r>
                        <a:rPr lang="uz-Cyrl-UZ" sz="900" kern="1200" dirty="0" smtClean="0">
                          <a:solidFill>
                            <a:schemeClr val="tx1"/>
                          </a:solidFill>
                          <a:effectLst/>
                          <a:latin typeface="+mn-lt"/>
                          <a:ea typeface="+mn-ea"/>
                          <a:cs typeface="+mn-cs"/>
                        </a:rPr>
                        <a:t>х</a:t>
                      </a:r>
                      <a:r>
                        <a:rPr lang="ca-ES" sz="900" kern="1200" dirty="0" smtClean="0">
                          <a:solidFill>
                            <a:schemeClr val="tx1"/>
                          </a:solidFill>
                          <a:effectLst/>
                          <a:latin typeface="+mn-lt"/>
                          <a:ea typeface="+mn-ea"/>
                          <a:cs typeface="+mn-cs"/>
                        </a:rPr>
                        <a:t>усусий автомобил</a:t>
                      </a:r>
                      <a:r>
                        <a:rPr lang="uz-Cyrl-UZ" sz="900" kern="1200" dirty="0" smtClean="0">
                          <a:solidFill>
                            <a:schemeClr val="tx1"/>
                          </a:solidFill>
                          <a:effectLst/>
                          <a:latin typeface="+mn-lt"/>
                          <a:ea typeface="+mn-ea"/>
                          <a:cs typeface="+mn-cs"/>
                        </a:rPr>
                        <a:t>ь</a:t>
                      </a:r>
                      <a:r>
                        <a:rPr lang="ca-ES" sz="900" kern="1200" dirty="0" smtClean="0">
                          <a:solidFill>
                            <a:schemeClr val="tx1"/>
                          </a:solidFill>
                          <a:effectLst/>
                          <a:latin typeface="+mn-lt"/>
                          <a:ea typeface="+mn-ea"/>
                          <a:cs typeface="+mn-cs"/>
                        </a:rPr>
                        <a:t> </a:t>
                      </a:r>
                      <a:r>
                        <a:rPr lang="ru-RU" sz="900" kern="1200" dirty="0" smtClean="0">
                          <a:solidFill>
                            <a:schemeClr val="tx1"/>
                          </a:solidFill>
                          <a:effectLst/>
                          <a:latin typeface="+mn-lt"/>
                          <a:ea typeface="+mn-ea"/>
                          <a:cs typeface="+mn-cs"/>
                        </a:rPr>
                        <a:t>у</a:t>
                      </a:r>
                      <a:r>
                        <a:rPr lang="ca-ES" sz="900" kern="1200" dirty="0" smtClean="0">
                          <a:solidFill>
                            <a:schemeClr val="tx1"/>
                          </a:solidFill>
                          <a:effectLst/>
                          <a:latin typeface="+mn-lt"/>
                          <a:ea typeface="+mn-ea"/>
                          <a:cs typeface="+mn-cs"/>
                        </a:rPr>
                        <a:t>стаханаси қ</a:t>
                      </a:r>
                      <a:r>
                        <a:rPr lang="ru-RU" sz="900" kern="1200" dirty="0" smtClean="0">
                          <a:solidFill>
                            <a:schemeClr val="tx1"/>
                          </a:solidFill>
                          <a:effectLst/>
                          <a:latin typeface="+mn-lt"/>
                          <a:ea typeface="+mn-ea"/>
                          <a:cs typeface="+mn-cs"/>
                        </a:rPr>
                        <a:t>ор</a:t>
                      </a:r>
                      <a:r>
                        <a:rPr lang="uz-Cyrl-UZ" sz="900" kern="1200" dirty="0" smtClean="0">
                          <a:solidFill>
                            <a:schemeClr val="tx1"/>
                          </a:solidFill>
                          <a:effectLst/>
                          <a:latin typeface="+mn-lt"/>
                          <a:ea typeface="+mn-ea"/>
                          <a:cs typeface="+mn-cs"/>
                        </a:rPr>
                        <a:t>о</a:t>
                      </a:r>
                      <a:r>
                        <a:rPr lang="ru-RU" sz="900" kern="1200" dirty="0" err="1" smtClean="0">
                          <a:solidFill>
                            <a:schemeClr val="tx1"/>
                          </a:solidFill>
                          <a:effectLst/>
                          <a:latin typeface="+mn-lt"/>
                          <a:ea typeface="+mn-ea"/>
                          <a:cs typeface="+mn-cs"/>
                        </a:rPr>
                        <a:t>вул</a:t>
                      </a:r>
                      <a:r>
                        <a:rPr lang="uz-Cyrl-UZ" sz="900" kern="1200" dirty="0" smtClean="0">
                          <a:solidFill>
                            <a:schemeClr val="tx1"/>
                          </a:solidFill>
                          <a:effectLst/>
                          <a:latin typeface="+mn-lt"/>
                          <a:ea typeface="+mn-ea"/>
                          <a:cs typeface="+mn-cs"/>
                        </a:rPr>
                        <a:t>и</a:t>
                      </a:r>
                      <a:r>
                        <a:rPr lang="ru-RU" sz="900" kern="1200" dirty="0" smtClean="0">
                          <a:solidFill>
                            <a:schemeClr val="tx1"/>
                          </a:solidFill>
                          <a:effectLst/>
                          <a:latin typeface="+mn-lt"/>
                          <a:ea typeface="+mn-ea"/>
                          <a:cs typeface="+mn-cs"/>
                        </a:rPr>
                        <a:t>)</a:t>
                      </a:r>
                    </a:p>
                    <a:p>
                      <a:pPr algn="l">
                        <a:lnSpc>
                          <a:spcPct val="85000"/>
                        </a:lnSpc>
                      </a:pP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2238">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15117">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1977 й. Тошкент давлат театр ва рассомлик санъати институти (кундузги)</a:t>
                      </a:r>
                      <a:endParaRPr lang="ru-RU" sz="90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26458">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ва кино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606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606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57942">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287992790"/>
              </p:ext>
            </p:extLst>
          </p:nvPr>
        </p:nvGraphicFramePr>
        <p:xfrm>
          <a:off x="3674526" y="865689"/>
          <a:ext cx="3172841" cy="585850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269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11880">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1993 йилдан буён </a:t>
                      </a:r>
                      <a:r>
                        <a:rPr lang="ru-RU" sz="900" b="1" kern="1200" dirty="0" smtClean="0">
                          <a:solidFill>
                            <a:schemeClr val="tx1"/>
                          </a:solidFill>
                          <a:effectLst/>
                          <a:latin typeface="+mn-lt"/>
                          <a:ea typeface="+mn-ea"/>
                          <a:cs typeface="+mn-cs"/>
                        </a:rPr>
                        <a:t>Берда</a:t>
                      </a:r>
                      <a:r>
                        <a:rPr lang="uz-Cyrl-UZ" sz="900" b="1" kern="1200" dirty="0" smtClean="0">
                          <a:solidFill>
                            <a:schemeClr val="tx1"/>
                          </a:solidFill>
                          <a:effectLst/>
                          <a:latin typeface="+mn-lt"/>
                          <a:ea typeface="+mn-ea"/>
                          <a:cs typeface="+mn-cs"/>
                        </a:rPr>
                        <a:t>қ номидаги Қорақалпоқ давлат мусиқали</a:t>
                      </a:r>
                      <a:r>
                        <a:rPr lang="ru-RU" sz="900" b="1" kern="1200" dirty="0" smtClean="0">
                          <a:solidFill>
                            <a:schemeClr val="tx1"/>
                          </a:solidFill>
                          <a:effectLst/>
                          <a:latin typeface="+mn-lt"/>
                          <a:ea typeface="+mn-ea"/>
                          <a:cs typeface="+mn-cs"/>
                        </a:rPr>
                        <a:t> театр</a:t>
                      </a:r>
                      <a:r>
                        <a:rPr lang="uz-Cyrl-UZ" sz="900" b="1" kern="1200" dirty="0" smtClean="0">
                          <a:solidFill>
                            <a:schemeClr val="tx1"/>
                          </a:solidFill>
                          <a:effectLst/>
                          <a:latin typeface="+mn-lt"/>
                          <a:ea typeface="+mn-ea"/>
                          <a:cs typeface="+mn-cs"/>
                        </a:rPr>
                        <a:t>и </a:t>
                      </a:r>
                      <a:r>
                        <a:rPr lang="uz-Cyrl-UZ" sz="900" b="1" kern="1200" noProof="0" dirty="0" smtClean="0">
                          <a:solidFill>
                            <a:schemeClr val="tx1"/>
                          </a:solidFill>
                          <a:latin typeface="+mn-lt"/>
                          <a:ea typeface="+mn-ea"/>
                          <a:cs typeface="+mn-cs"/>
                        </a:rPr>
                        <a:t>вокал артисти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48250">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369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48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902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8586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3771">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377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smtClean="0">
                        <a:solidFill>
                          <a:schemeClr val="tx1"/>
                        </a:solidFill>
                        <a:latin typeface="+mn-lt"/>
                        <a:ea typeface="+mn-ea"/>
                        <a:cs typeface="+mn-cs"/>
                      </a:endParaRPr>
                    </a:p>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192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2025-йил</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189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0251">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65694">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2016 й. “Қорақалпоғистон Республикаси халқ артисти”</a:t>
                      </a:r>
                      <a:endParaRPr lang="ru-RU" sz="900" kern="1200" dirty="0" smtClean="0">
                        <a:solidFill>
                          <a:schemeClr val="tx1"/>
                        </a:solidFill>
                        <a:effectLst/>
                        <a:latin typeface="+mn-lt"/>
                        <a:ea typeface="+mn-ea"/>
                        <a:cs typeface="+mn-cs"/>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4075920507"/>
              </p:ext>
            </p:extLst>
          </p:nvPr>
        </p:nvGraphicFramePr>
        <p:xfrm>
          <a:off x="6949857" y="869287"/>
          <a:ext cx="2817247" cy="5854903"/>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45814">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6695">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28874">
                <a:tc>
                  <a:txBody>
                    <a:bodyPr/>
                    <a:lstStyle/>
                    <a:p>
                      <a:pPr marL="0" indent="179388" algn="just"/>
                      <a:r>
                        <a:rPr lang="uz-Cyrl-UZ" sz="900" b="0" kern="1200" dirty="0" smtClean="0">
                          <a:solidFill>
                            <a:schemeClr val="tx1"/>
                          </a:solidFill>
                          <a:effectLst/>
                          <a:latin typeface="+mn-lt"/>
                          <a:ea typeface="+mn-ea"/>
                          <a:cs typeface="+mn-cs"/>
                        </a:rPr>
                        <a:t>У узоқ йиллик ижодий фаолияти давомида 60 дан зиёд ранг-баранг характердаги образларни моҳирона яратиб, мутахассис ва томошабинлар олқишига сазовор бўлган. У юксак бадиий маҳорат билан ижро этган роллар ўзининг таъсирчанлиги билан ҳар қандай томошабинни ўзига ром этади. Жумладан, “Суймаганга суйканма” да Гулсанам, “Яраланган юраклар” да Карима, “Урушга лаънат” да Зарнигул, “Соҳибқирон” да Туркан ханум, “Ота тақдири” да Оңалхан, “Завол” да она, “Кечиккан муҳаббат” да Шоҳсанам, “Шарьяр” да Ақдаўлет, “Тирик етимлар” да Жақсибийке, “Адолатга ҳиёнат” да Назли, “Кўланка” да Айхан, “Алпомиш” да Ақбилек , “Имон”да  Рисолат, </a:t>
                      </a:r>
                      <a:r>
                        <a:rPr lang="uz-Latn-UZ" sz="900" b="0" kern="1200" dirty="0" smtClean="0">
                          <a:solidFill>
                            <a:schemeClr val="tx1"/>
                          </a:solidFill>
                          <a:effectLst/>
                          <a:latin typeface="+mn-lt"/>
                          <a:ea typeface="+mn-ea"/>
                          <a:cs typeface="+mn-cs"/>
                        </a:rPr>
                        <a:t>“</a:t>
                      </a:r>
                      <a:r>
                        <a:rPr lang="uz-Cyrl-UZ" sz="900" b="0" kern="1200" dirty="0" smtClean="0">
                          <a:solidFill>
                            <a:schemeClr val="tx1"/>
                          </a:solidFill>
                          <a:effectLst/>
                          <a:latin typeface="+mn-lt"/>
                          <a:ea typeface="+mn-ea"/>
                          <a:cs typeface="+mn-cs"/>
                        </a:rPr>
                        <a:t>Ғариб ошиқ</a:t>
                      </a:r>
                      <a:r>
                        <a:rPr lang="uz-Latn-UZ" sz="900" b="0" kern="1200" dirty="0" smtClean="0">
                          <a:solidFill>
                            <a:schemeClr val="tx1"/>
                          </a:solidFill>
                          <a:effectLst/>
                          <a:latin typeface="+mn-lt"/>
                          <a:ea typeface="+mn-ea"/>
                          <a:cs typeface="+mn-cs"/>
                        </a:rPr>
                        <a:t>”</a:t>
                      </a:r>
                      <a:r>
                        <a:rPr lang="uz-Cyrl-UZ" sz="900" b="0" kern="1200" dirty="0" smtClean="0">
                          <a:solidFill>
                            <a:schemeClr val="tx1"/>
                          </a:solidFill>
                          <a:effectLst/>
                          <a:latin typeface="+mn-lt"/>
                          <a:ea typeface="+mn-ea"/>
                          <a:cs typeface="+mn-cs"/>
                        </a:rPr>
                        <a:t>да бош қаҳрамон Шасанемнинг онаси Гулсанем, “Ман, Бувим, Илико ва Илларион” комедиясида Ольга, Асатилло Холиковнинг </a:t>
                      </a:r>
                      <a:r>
                        <a:rPr lang="uz-Latn-UZ" sz="900" b="0" kern="1200" dirty="0" smtClean="0">
                          <a:solidFill>
                            <a:schemeClr val="tx1"/>
                          </a:solidFill>
                          <a:effectLst/>
                          <a:latin typeface="+mn-lt"/>
                          <a:ea typeface="+mn-ea"/>
                          <a:cs typeface="+mn-cs"/>
                        </a:rPr>
                        <a:t>“</a:t>
                      </a:r>
                      <a:r>
                        <a:rPr lang="uz-Cyrl-UZ" sz="900" b="0" kern="1200" dirty="0" smtClean="0">
                          <a:solidFill>
                            <a:schemeClr val="tx1"/>
                          </a:solidFill>
                          <a:effectLst/>
                          <a:latin typeface="+mn-lt"/>
                          <a:ea typeface="+mn-ea"/>
                          <a:cs typeface="+mn-cs"/>
                        </a:rPr>
                        <a:t>Прокурорнинг бир куни</a:t>
                      </a:r>
                      <a:r>
                        <a:rPr lang="uz-Latn-UZ" sz="900" b="0" kern="1200" dirty="0" smtClean="0">
                          <a:solidFill>
                            <a:schemeClr val="tx1"/>
                          </a:solidFill>
                          <a:effectLst/>
                          <a:latin typeface="+mn-lt"/>
                          <a:ea typeface="+mn-ea"/>
                          <a:cs typeface="+mn-cs"/>
                        </a:rPr>
                        <a:t>”</a:t>
                      </a:r>
                      <a:r>
                        <a:rPr lang="uz-Cyrl-UZ" sz="900" b="0" kern="1200" dirty="0" smtClean="0">
                          <a:solidFill>
                            <a:schemeClr val="tx1"/>
                          </a:solidFill>
                          <a:effectLst/>
                          <a:latin typeface="+mn-lt"/>
                          <a:ea typeface="+mn-ea"/>
                          <a:cs typeface="+mn-cs"/>
                        </a:rPr>
                        <a:t> драмасида Улбос опа, Т.Қайипбергеновнинг “Қорақалпоқ қизи” драмасида Пийрипатпа,  сингари образлари томошабинларда ёрқин таассурот қолдирган.</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2011 йили Тошкент шаҳрида ўтказилган “Сени куйлаймиз, замондош” Республика I-кўрик фестивалида “Интилганга толе ёр” спектаклида ижро этган она роли томошабинлар ва мутахассислар томонидан ижобий баҳоланди.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С.Даулетова театр жамоаси билан мунтазам равишда ижодий сафарларда бўлиб, дала меҳнаткашлари, мактаб, лицей ва коллеж ўқувчилари, талабалар билан ижодий учрашувларда ёшларни ватанпарварликка ундовчи, уларни эзгу ғоялар сари етакловчи фикр-мулоҳазалари билан ўртоқлашади</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940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64111">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ўтказилиб турадиган барча оммавий мадаий тадбирларда фаол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a:picLocks noChangeAspect="1"/>
          </p:cNvPicPr>
          <p:nvPr/>
        </p:nvPicPr>
        <p:blipFill>
          <a:blip r:embed="rId2"/>
          <a:stretch>
            <a:fillRect/>
          </a:stretch>
        </p:blipFill>
        <p:spPr>
          <a:xfrm>
            <a:off x="290581" y="1176429"/>
            <a:ext cx="791459" cy="1052985"/>
          </a:xfrm>
          <a:prstGeom prst="rect">
            <a:avLst/>
          </a:prstGeom>
        </p:spPr>
      </p:pic>
    </p:spTree>
    <p:extLst>
      <p:ext uri="{BB962C8B-B14F-4D97-AF65-F5344CB8AC3E}">
        <p14:creationId xmlns:p14="http://schemas.microsoft.com/office/powerpoint/2010/main" val="3539470805"/>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132568429"/>
              </p:ext>
            </p:extLst>
          </p:nvPr>
        </p:nvGraphicFramePr>
        <p:xfrm>
          <a:off x="144489" y="896940"/>
          <a:ext cx="3427547" cy="5856198"/>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4449">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21637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ru-RU" sz="900" b="0" kern="1200" dirty="0" smtClean="0">
                          <a:solidFill>
                            <a:schemeClr val="tx1"/>
                          </a:solidFill>
                          <a:effectLst/>
                          <a:latin typeface="+mn-lt"/>
                          <a:ea typeface="+mn-ea"/>
                          <a:cs typeface="+mn-cs"/>
                        </a:rPr>
                        <a:t>ЖУМАНИЯЗОВА</a:t>
                      </a:r>
                      <a:endParaRPr lang="ru-RU" sz="900" b="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110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err="1" smtClean="0">
                          <a:solidFill>
                            <a:schemeClr val="tx1"/>
                          </a:solidFill>
                          <a:effectLst/>
                          <a:latin typeface="+mn-lt"/>
                          <a:ea typeface="+mn-ea"/>
                          <a:cs typeface="+mn-cs"/>
                        </a:rPr>
                        <a:t>Гулсара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20078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ru-RU" sz="800" b="0" kern="1200" dirty="0" err="1" smtClean="0">
                          <a:solidFill>
                            <a:schemeClr val="tx1"/>
                          </a:solidFill>
                          <a:effectLst/>
                          <a:latin typeface="+mn-lt"/>
                          <a:ea typeface="+mn-ea"/>
                          <a:cs typeface="+mn-cs"/>
                        </a:rPr>
                        <a:t>Каражановна</a:t>
                      </a:r>
                      <a:endParaRPr lang="ru-RU" sz="800" b="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110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kern="1200" dirty="0" smtClean="0">
                          <a:solidFill>
                            <a:schemeClr val="tx1"/>
                          </a:solidFill>
                          <a:effectLst/>
                          <a:latin typeface="+mn-lt"/>
                          <a:ea typeface="+mn-ea"/>
                          <a:cs typeface="+mn-cs"/>
                        </a:rPr>
                        <a:t>қорақалпоқ</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110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26.05.1965</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110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Чимбой 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973">
                <a:tc gridSpan="5">
                  <a:txBody>
                    <a:bodyPr/>
                    <a:lstStyle/>
                    <a:p>
                      <a:pPr algn="ctr"/>
                      <a:r>
                        <a:rPr lang="uz-Cyrl-UZ" sz="1000" b="0"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56730">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973">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0"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771615">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b="1" kern="1200" dirty="0" err="1" smtClean="0">
                          <a:solidFill>
                            <a:schemeClr val="tx1"/>
                          </a:solidFill>
                          <a:effectLst/>
                          <a:latin typeface="+mn-lt"/>
                          <a:ea typeface="+mn-ea"/>
                          <a:cs typeface="+mn-cs"/>
                        </a:rPr>
                        <a:t>Жуманиязов</a:t>
                      </a:r>
                      <a:r>
                        <a:rPr lang="ru-RU" sz="900" b="1" kern="1200" dirty="0" smtClean="0">
                          <a:solidFill>
                            <a:schemeClr val="tx1"/>
                          </a:solidFill>
                          <a:effectLst/>
                          <a:latin typeface="+mn-lt"/>
                          <a:ea typeface="+mn-ea"/>
                          <a:cs typeface="+mn-cs"/>
                        </a:rPr>
                        <a:t> </a:t>
                      </a:r>
                      <a:r>
                        <a:rPr lang="ca-ES" sz="900" b="1" kern="1200" dirty="0" smtClean="0">
                          <a:solidFill>
                            <a:schemeClr val="tx1"/>
                          </a:solidFill>
                          <a:effectLst/>
                          <a:latin typeface="+mn-lt"/>
                          <a:ea typeface="+mn-ea"/>
                          <a:cs typeface="+mn-cs"/>
                        </a:rPr>
                        <a:t>Қ</a:t>
                      </a:r>
                      <a:r>
                        <a:rPr lang="ru-RU" sz="900" b="1" kern="1200" dirty="0" err="1" smtClean="0">
                          <a:solidFill>
                            <a:schemeClr val="tx1"/>
                          </a:solidFill>
                          <a:effectLst/>
                          <a:latin typeface="+mn-lt"/>
                          <a:ea typeface="+mn-ea"/>
                          <a:cs typeface="+mn-cs"/>
                        </a:rPr>
                        <a:t>аражан</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1927 йил, </a:t>
                      </a:r>
                      <a:r>
                        <a:rPr lang="ru-RU" sz="900" kern="1200" dirty="0" err="1" smtClean="0">
                          <a:solidFill>
                            <a:schemeClr val="tx1"/>
                          </a:solidFill>
                          <a:effectLst/>
                          <a:latin typeface="+mn-lt"/>
                          <a:ea typeface="+mn-ea"/>
                          <a:cs typeface="+mn-cs"/>
                        </a:rPr>
                        <a:t>Тахтак</a:t>
                      </a:r>
                      <a:r>
                        <a:rPr lang="uz-Cyrl-UZ" sz="900" kern="1200" dirty="0" smtClean="0">
                          <a:solidFill>
                            <a:schemeClr val="tx1"/>
                          </a:solidFill>
                          <a:effectLst/>
                          <a:latin typeface="+mn-lt"/>
                          <a:ea typeface="+mn-ea"/>
                          <a:cs typeface="+mn-cs"/>
                        </a:rPr>
                        <a:t>ў</a:t>
                      </a:r>
                      <a:r>
                        <a:rPr lang="ru-RU" sz="900" kern="1200" dirty="0" smtClean="0">
                          <a:solidFill>
                            <a:schemeClr val="tx1"/>
                          </a:solidFill>
                          <a:effectLst/>
                          <a:latin typeface="+mn-lt"/>
                          <a:ea typeface="+mn-ea"/>
                          <a:cs typeface="+mn-cs"/>
                        </a:rPr>
                        <a:t>пир </a:t>
                      </a:r>
                      <a:r>
                        <a:rPr lang="ru-RU" sz="900" kern="1200" dirty="0" err="1" smtClean="0">
                          <a:solidFill>
                            <a:schemeClr val="tx1"/>
                          </a:solidFill>
                          <a:effectLst/>
                          <a:latin typeface="+mn-lt"/>
                          <a:ea typeface="+mn-ea"/>
                          <a:cs typeface="+mn-cs"/>
                        </a:rPr>
                        <a:t>тумани</a:t>
                      </a:r>
                      <a:endParaRPr lang="uz-Cyrl-UZ"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ts val="1200"/>
                        </a:lnSpc>
                        <a:spcAft>
                          <a:spcPts val="0"/>
                        </a:spcAft>
                      </a:pPr>
                      <a:r>
                        <a:rPr lang="uz-Cyrl-UZ" sz="900" dirty="0">
                          <a:effectLst/>
                          <a:latin typeface="+mn-lt"/>
                          <a:ea typeface="Times New Roman" panose="02020603050405020304" pitchFamily="18" charset="0"/>
                        </a:rPr>
                        <a:t>2001 йил вафот этган (Тахтакўпир тумани, Дауқара фермер хўжалиги 1-бўлими раиси)</a:t>
                      </a:r>
                      <a:endParaRPr lang="ru-RU" sz="900" dirty="0">
                        <a:effectLst/>
                        <a:latin typeface="+mn-lt"/>
                        <a:ea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771615">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b="1" kern="1200" dirty="0" err="1" smtClean="0">
                          <a:solidFill>
                            <a:schemeClr val="tx1"/>
                          </a:solidFill>
                          <a:effectLst/>
                          <a:latin typeface="+mn-lt"/>
                          <a:ea typeface="+mn-ea"/>
                          <a:cs typeface="+mn-cs"/>
                        </a:rPr>
                        <a:t>Шамшетова</a:t>
                      </a:r>
                      <a:r>
                        <a:rPr lang="ru-RU" sz="900" b="1" kern="1200" dirty="0" smtClean="0">
                          <a:solidFill>
                            <a:schemeClr val="tx1"/>
                          </a:solidFill>
                          <a:effectLst/>
                          <a:latin typeface="+mn-lt"/>
                          <a:ea typeface="+mn-ea"/>
                          <a:cs typeface="+mn-cs"/>
                        </a:rPr>
                        <a:t> </a:t>
                      </a:r>
                      <a:r>
                        <a:rPr lang="ru-RU" sz="900" b="1" kern="1200" dirty="0" err="1" smtClean="0">
                          <a:solidFill>
                            <a:schemeClr val="tx1"/>
                          </a:solidFill>
                          <a:effectLst/>
                          <a:latin typeface="+mn-lt"/>
                          <a:ea typeface="+mn-ea"/>
                          <a:cs typeface="+mn-cs"/>
                        </a:rPr>
                        <a:t>Тилеухан</a:t>
                      </a:r>
                      <a:r>
                        <a:rPr lang="ru-RU" sz="900" b="1" kern="1200" dirty="0" smtClean="0">
                          <a:solidFill>
                            <a:schemeClr val="tx1"/>
                          </a:solidFill>
                          <a:effectLst/>
                          <a:latin typeface="+mn-lt"/>
                          <a:ea typeface="+mn-ea"/>
                          <a:cs typeface="+mn-cs"/>
                        </a:rPr>
                        <a:t> </a:t>
                      </a:r>
                    </a:p>
                    <a:p>
                      <a:pPr algn="l">
                        <a:lnSpc>
                          <a:spcPct val="85000"/>
                        </a:lnSpc>
                      </a:pPr>
                      <a:r>
                        <a:rPr lang="uz-Cyrl-UZ" sz="900" b="0" kern="1200" noProof="0" dirty="0" smtClean="0">
                          <a:solidFill>
                            <a:schemeClr val="tx1"/>
                          </a:solidFill>
                          <a:latin typeface="+mn-lt"/>
                          <a:ea typeface="+mn-ea"/>
                          <a:cs typeface="Arial" panose="020B0604020202020204" pitchFamily="34" charset="0"/>
                        </a:rPr>
                        <a:t>1932 йил, </a:t>
                      </a:r>
                      <a:r>
                        <a:rPr lang="ru-RU" sz="900" kern="1200" dirty="0" err="1" smtClean="0">
                          <a:solidFill>
                            <a:schemeClr val="tx1"/>
                          </a:solidFill>
                          <a:effectLst/>
                          <a:latin typeface="+mn-lt"/>
                          <a:ea typeface="+mn-ea"/>
                          <a:cs typeface="+mn-cs"/>
                        </a:rPr>
                        <a:t>Тахтак</a:t>
                      </a:r>
                      <a:r>
                        <a:rPr lang="uz-Cyrl-UZ" sz="900" kern="1200" dirty="0" smtClean="0">
                          <a:solidFill>
                            <a:schemeClr val="tx1"/>
                          </a:solidFill>
                          <a:effectLst/>
                          <a:latin typeface="+mn-lt"/>
                          <a:ea typeface="+mn-ea"/>
                          <a:cs typeface="+mn-cs"/>
                        </a:rPr>
                        <a:t>ў</a:t>
                      </a:r>
                      <a:r>
                        <a:rPr lang="ru-RU" sz="900" kern="1200" dirty="0" smtClean="0">
                          <a:solidFill>
                            <a:schemeClr val="tx1"/>
                          </a:solidFill>
                          <a:effectLst/>
                          <a:latin typeface="+mn-lt"/>
                          <a:ea typeface="+mn-ea"/>
                          <a:cs typeface="+mn-cs"/>
                        </a:rPr>
                        <a:t>пир </a:t>
                      </a:r>
                      <a:r>
                        <a:rPr lang="ru-RU" sz="900" kern="1200" dirty="0" err="1" smtClean="0">
                          <a:solidFill>
                            <a:schemeClr val="tx1"/>
                          </a:solidFill>
                          <a:effectLst/>
                          <a:latin typeface="+mn-lt"/>
                          <a:ea typeface="+mn-ea"/>
                          <a:cs typeface="+mn-cs"/>
                        </a:rPr>
                        <a:t>тумани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ts val="1200"/>
                        </a:lnSpc>
                        <a:spcAft>
                          <a:spcPts val="0"/>
                        </a:spcAft>
                      </a:pPr>
                      <a:r>
                        <a:rPr lang="uz-Cyrl-UZ" sz="900" dirty="0">
                          <a:effectLst/>
                          <a:latin typeface="+mn-lt"/>
                          <a:ea typeface="Times New Roman" panose="02020603050405020304" pitchFamily="18" charset="0"/>
                        </a:rPr>
                        <a:t>2004 йил вафот этган (Тахтакўпир тумани, Даўқара фермер хўжалиги 1-бўлими ишчиси)</a:t>
                      </a:r>
                      <a:endParaRPr lang="ru-RU" sz="900" dirty="0">
                        <a:effectLst/>
                        <a:latin typeface="+mn-lt"/>
                        <a:ea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315664">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p>
                    <a:p>
                      <a:pPr algn="l">
                        <a:lnSpc>
                          <a:spcPct val="85000"/>
                        </a:lnSpc>
                      </a:pP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8581">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85839">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1988 й. Тошкент театр ва рассомлик санъати институти (кундузги)</a:t>
                      </a:r>
                      <a:endParaRPr lang="ru-RU" sz="90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6378">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a:t>
                      </a:r>
                      <a:r>
                        <a:rPr lang="uz-Cyrl-UZ" sz="900" b="1"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театри ва кино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5664">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доцент</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5664">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02689">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936686173"/>
              </p:ext>
            </p:extLst>
          </p:nvPr>
        </p:nvGraphicFramePr>
        <p:xfrm>
          <a:off x="3674526" y="865690"/>
          <a:ext cx="3172841" cy="5874875"/>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5328">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12476">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1988 йилдан буён </a:t>
                      </a:r>
                      <a:r>
                        <a:rPr lang="ru-RU" sz="900" kern="1200" dirty="0" smtClean="0">
                          <a:solidFill>
                            <a:schemeClr val="tx1"/>
                          </a:solidFill>
                          <a:effectLst/>
                          <a:latin typeface="+mn-lt"/>
                          <a:ea typeface="+mn-ea"/>
                          <a:cs typeface="+mn-cs"/>
                        </a:rPr>
                        <a:t>Берда</a:t>
                      </a:r>
                      <a:r>
                        <a:rPr lang="uz-Cyrl-UZ" sz="900" kern="1200" dirty="0" smtClean="0">
                          <a:solidFill>
                            <a:schemeClr val="tx1"/>
                          </a:solidFill>
                          <a:effectLst/>
                          <a:latin typeface="+mn-lt"/>
                          <a:ea typeface="+mn-ea"/>
                          <a:cs typeface="+mn-cs"/>
                        </a:rPr>
                        <a:t>қ номидаги Қорақалпоқ давлат мусиқали</a:t>
                      </a:r>
                      <a:r>
                        <a:rPr lang="ru-RU" sz="900" kern="1200" dirty="0" smtClean="0">
                          <a:solidFill>
                            <a:schemeClr val="tx1"/>
                          </a:solidFill>
                          <a:effectLst/>
                          <a:latin typeface="+mn-lt"/>
                          <a:ea typeface="+mn-ea"/>
                          <a:cs typeface="+mn-cs"/>
                        </a:rPr>
                        <a:t> театр</a:t>
                      </a:r>
                      <a:r>
                        <a:rPr lang="uz-Cyrl-UZ" sz="900" kern="1200" dirty="0" smtClean="0">
                          <a:solidFill>
                            <a:schemeClr val="tx1"/>
                          </a:solidFill>
                          <a:effectLst/>
                          <a:latin typeface="+mn-lt"/>
                          <a:ea typeface="+mn-ea"/>
                          <a:cs typeface="+mn-cs"/>
                        </a:rPr>
                        <a:t>и </a:t>
                      </a:r>
                      <a:r>
                        <a:rPr lang="uz-Cyrl-UZ" sz="900" b="0" kern="1200" noProof="0" dirty="0" smtClean="0">
                          <a:solidFill>
                            <a:schemeClr val="tx1"/>
                          </a:solidFill>
                          <a:latin typeface="+mn-lt"/>
                          <a:ea typeface="+mn-ea"/>
                          <a:cs typeface="+mn-cs"/>
                        </a:rPr>
                        <a:t>вокал артисти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0214">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538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37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9150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p>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287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endParaRPr lang="uz-Cyrl-UZ" sz="900" kern="1200" noProof="0" dirty="0" smtClean="0">
                        <a:solidFill>
                          <a:schemeClr val="tx1"/>
                        </a:solidFill>
                        <a:effectLst/>
                        <a:latin typeface="+mn-lt"/>
                        <a:ea typeface="Calibri" panose="020F0502020204030204" pitchFamily="34" charset="0"/>
                        <a:cs typeface="Times New Roman" panose="02020603050405020304" pitchFamily="18" charset="0"/>
                      </a:endParaRPr>
                    </a:p>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p>
                    <a:p>
                      <a:pPr algn="l">
                        <a:lnSpc>
                          <a:spcPct val="107000"/>
                        </a:lnSpc>
                        <a:spcAft>
                          <a:spcPts val="0"/>
                        </a:spcAft>
                      </a:pP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6095">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6095">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2025 йил профилактика учун даволанган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423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2025-йилда</a:t>
                      </a:r>
                      <a:r>
                        <a:rPr lang="uz-Cyrl-UZ" sz="900" kern="1200" baseline="0" noProof="0" dirty="0" smtClean="0">
                          <a:solidFill>
                            <a:schemeClr val="tx1"/>
                          </a:solidFill>
                          <a:effectLst/>
                          <a:latin typeface="+mn-lt"/>
                          <a:ea typeface="Calibri" panose="020F0502020204030204" pitchFamily="34" charset="0"/>
                          <a:cs typeface="Times New Roman" panose="02020603050405020304" pitchFamily="18" charset="0"/>
                        </a:rPr>
                        <a:t> </a:t>
                      </a: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ўтган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396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2073">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82032">
                <a:tc gridSpan="2">
                  <a:txBody>
                    <a:bodyPr/>
                    <a:lstStyle/>
                    <a:p>
                      <a:r>
                        <a:rPr lang="uz-Cyrl-UZ" sz="900" kern="1200" dirty="0" smtClean="0">
                          <a:solidFill>
                            <a:schemeClr val="tx1"/>
                          </a:solidFill>
                          <a:effectLst/>
                          <a:latin typeface="+mn-lt"/>
                          <a:ea typeface="+mn-ea"/>
                          <a:cs typeface="+mn-cs"/>
                        </a:rPr>
                        <a:t>2012 й.  Қорақалпоғистон Республикаси Жўқорғи Кенгеси “Фаҳрий ёрлиги”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2021 й. “Дўстлик ордени” соҳиби</a:t>
                      </a:r>
                      <a:endParaRPr lang="ru-RU" sz="900" kern="1200" dirty="0" smtClean="0">
                        <a:solidFill>
                          <a:schemeClr val="tx1"/>
                        </a:solidFill>
                        <a:effectLst/>
                        <a:latin typeface="+mn-lt"/>
                        <a:ea typeface="+mn-ea"/>
                        <a:cs typeface="+mn-cs"/>
                      </a:endParaRPr>
                    </a:p>
                    <a:p>
                      <a:r>
                        <a:rPr lang="uz-Latn-UZ" sz="900" kern="1200" dirty="0" smtClean="0">
                          <a:solidFill>
                            <a:schemeClr val="tx1"/>
                          </a:solidFill>
                          <a:effectLst/>
                          <a:latin typeface="+mn-lt"/>
                          <a:ea typeface="+mn-ea"/>
                          <a:cs typeface="+mn-cs"/>
                        </a:rPr>
                        <a:t>2022 </a:t>
                      </a:r>
                      <a:r>
                        <a:rPr lang="uz-Cyrl-UZ" sz="900" kern="1200" dirty="0" smtClean="0">
                          <a:solidFill>
                            <a:schemeClr val="tx1"/>
                          </a:solidFill>
                          <a:effectLst/>
                          <a:latin typeface="+mn-lt"/>
                          <a:ea typeface="+mn-ea"/>
                          <a:cs typeface="+mn-cs"/>
                        </a:rPr>
                        <a:t>й. “Қ</a:t>
                      </a:r>
                      <a:r>
                        <a:rPr lang="ru-RU" sz="900" kern="1200" dirty="0" smtClean="0">
                          <a:solidFill>
                            <a:schemeClr val="tx1"/>
                          </a:solidFill>
                          <a:effectLst/>
                          <a:latin typeface="+mn-lt"/>
                          <a:ea typeface="+mn-ea"/>
                          <a:cs typeface="+mn-cs"/>
                        </a:rPr>
                        <a:t>о</a:t>
                      </a:r>
                      <a:r>
                        <a:rPr lang="uz-Cyrl-UZ" sz="900" kern="1200" dirty="0" smtClean="0">
                          <a:solidFill>
                            <a:schemeClr val="tx1"/>
                          </a:solidFill>
                          <a:effectLst/>
                          <a:latin typeface="+mn-lt"/>
                          <a:ea typeface="+mn-ea"/>
                          <a:cs typeface="+mn-cs"/>
                        </a:rPr>
                        <a:t>рақалп</a:t>
                      </a:r>
                      <a:r>
                        <a:rPr lang="ru-RU" sz="900" kern="1200" dirty="0" smtClean="0">
                          <a:solidFill>
                            <a:schemeClr val="tx1"/>
                          </a:solidFill>
                          <a:effectLst/>
                          <a:latin typeface="+mn-lt"/>
                          <a:ea typeface="+mn-ea"/>
                          <a:cs typeface="+mn-cs"/>
                        </a:rPr>
                        <a:t>о</a:t>
                      </a:r>
                      <a:r>
                        <a:rPr lang="uz-Cyrl-UZ" sz="900" kern="1200" dirty="0" smtClean="0">
                          <a:solidFill>
                            <a:schemeClr val="tx1"/>
                          </a:solidFill>
                          <a:effectLst/>
                          <a:latin typeface="+mn-lt"/>
                          <a:ea typeface="+mn-ea"/>
                          <a:cs typeface="+mn-cs"/>
                        </a:rPr>
                        <a:t>ғ</a:t>
                      </a:r>
                      <a:r>
                        <a:rPr lang="ru-RU" sz="900" kern="1200" dirty="0" err="1" smtClean="0">
                          <a:solidFill>
                            <a:schemeClr val="tx1"/>
                          </a:solidFill>
                          <a:effectLst/>
                          <a:latin typeface="+mn-lt"/>
                          <a:ea typeface="+mn-ea"/>
                          <a:cs typeface="+mn-cs"/>
                        </a:rPr>
                        <a:t>истон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Республикасид</a:t>
                      </a:r>
                      <a:r>
                        <a:rPr lang="uz-Cyrl-UZ" sz="900" kern="1200" dirty="0" smtClean="0">
                          <a:solidFill>
                            <a:schemeClr val="tx1"/>
                          </a:solidFill>
                          <a:effectLst/>
                          <a:latin typeface="+mn-lt"/>
                          <a:ea typeface="+mn-ea"/>
                          <a:cs typeface="+mn-cs"/>
                        </a:rPr>
                        <a:t>а хизмат кўрсатган артист” </a:t>
                      </a:r>
                    </a:p>
                    <a:p>
                      <a:r>
                        <a:rPr lang="uz-Cyrl-UZ" sz="900" kern="1200" dirty="0" smtClean="0">
                          <a:solidFill>
                            <a:schemeClr val="tx1"/>
                          </a:solidFill>
                          <a:effectLst/>
                          <a:latin typeface="+mn-lt"/>
                          <a:ea typeface="+mn-ea"/>
                          <a:cs typeface="+mn-cs"/>
                        </a:rPr>
                        <a:t>202</a:t>
                      </a:r>
                      <a:r>
                        <a:rPr lang="uz-Latn-UZ" sz="900" kern="1200" dirty="0" smtClean="0">
                          <a:solidFill>
                            <a:schemeClr val="tx1"/>
                          </a:solidFill>
                          <a:effectLst/>
                          <a:latin typeface="+mn-lt"/>
                          <a:ea typeface="+mn-ea"/>
                          <a:cs typeface="+mn-cs"/>
                        </a:rPr>
                        <a:t>0</a:t>
                      </a:r>
                      <a:r>
                        <a:rPr lang="uz-Cyrl-UZ" sz="900" kern="1200" dirty="0" smtClean="0">
                          <a:solidFill>
                            <a:schemeClr val="tx1"/>
                          </a:solidFill>
                          <a:effectLst/>
                          <a:latin typeface="+mn-lt"/>
                          <a:ea typeface="+mn-ea"/>
                          <a:cs typeface="+mn-cs"/>
                        </a:rPr>
                        <a:t> й</a:t>
                      </a:r>
                      <a:r>
                        <a:rPr lang="uz-Latn-UZ"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“Маданият ва санъат фидойиси” кўкрак нишони</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457190691"/>
              </p:ext>
            </p:extLst>
          </p:nvPr>
        </p:nvGraphicFramePr>
        <p:xfrm>
          <a:off x="6949857" y="736542"/>
          <a:ext cx="2817247" cy="5983040"/>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24649">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5983">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766787">
                <a:tc>
                  <a:txBody>
                    <a:bodyPr/>
                    <a:lstStyle/>
                    <a:p>
                      <a:pPr marL="0" indent="179388" algn="just"/>
                      <a:r>
                        <a:rPr lang="uz-Cyrl-UZ" sz="900" kern="1200" dirty="0" smtClean="0">
                          <a:solidFill>
                            <a:schemeClr val="tx1"/>
                          </a:solidFill>
                          <a:effectLst/>
                          <a:latin typeface="+mn-lt"/>
                          <a:ea typeface="+mn-ea"/>
                          <a:cs typeface="+mn-cs"/>
                        </a:rPr>
                        <a:t>Г.Жуманиязова театр саҳнасида 40 дан ортиқ роллар ижро этди. Жумладан, </a:t>
                      </a:r>
                      <a:r>
                        <a:rPr lang="uz-Latn-UZ" sz="900" kern="1200" dirty="0" smtClean="0">
                          <a:solidFill>
                            <a:schemeClr val="tx1"/>
                          </a:solidFill>
                          <a:effectLst/>
                          <a:latin typeface="+mn-lt"/>
                          <a:ea typeface="+mn-ea"/>
                          <a:cs typeface="+mn-cs"/>
                        </a:rPr>
                        <a:t>“</a:t>
                      </a:r>
                      <a:r>
                        <a:rPr lang="uz-Cyrl-UZ" sz="900" kern="1200" dirty="0" smtClean="0">
                          <a:solidFill>
                            <a:schemeClr val="tx1"/>
                          </a:solidFill>
                          <a:effectLst/>
                          <a:latin typeface="+mn-lt"/>
                          <a:ea typeface="+mn-ea"/>
                          <a:cs typeface="+mn-cs"/>
                        </a:rPr>
                        <a:t>Едиге</a:t>
                      </a:r>
                      <a:r>
                        <a:rPr lang="uz-Latn-UZ" sz="900" kern="1200" dirty="0" smtClean="0">
                          <a:solidFill>
                            <a:schemeClr val="tx1"/>
                          </a:solidFill>
                          <a:effectLst/>
                          <a:latin typeface="+mn-lt"/>
                          <a:ea typeface="+mn-ea"/>
                          <a:cs typeface="+mn-cs"/>
                        </a:rPr>
                        <a:t>”</a:t>
                      </a:r>
                      <a:r>
                        <a:rPr lang="uz-Cyrl-UZ" sz="900" kern="1200" dirty="0" smtClean="0">
                          <a:solidFill>
                            <a:schemeClr val="tx1"/>
                          </a:solidFill>
                          <a:effectLst/>
                          <a:latin typeface="+mn-lt"/>
                          <a:ea typeface="+mn-ea"/>
                          <a:cs typeface="+mn-cs"/>
                        </a:rPr>
                        <a:t> мусиқали драмасида </a:t>
                      </a:r>
                      <a:r>
                        <a:rPr lang="uz-Cyrl-UZ" sz="900" b="1" kern="1200" dirty="0" smtClean="0">
                          <a:solidFill>
                            <a:schemeClr val="tx1"/>
                          </a:solidFill>
                          <a:effectLst/>
                          <a:latin typeface="+mn-lt"/>
                          <a:ea typeface="+mn-ea"/>
                          <a:cs typeface="+mn-cs"/>
                        </a:rPr>
                        <a:t>Қорасоч,</a:t>
                      </a:r>
                      <a:r>
                        <a:rPr lang="uz-Cyrl-UZ" sz="900" kern="1200" dirty="0" smtClean="0">
                          <a:solidFill>
                            <a:schemeClr val="tx1"/>
                          </a:solidFill>
                          <a:effectLst/>
                          <a:latin typeface="+mn-lt"/>
                          <a:ea typeface="+mn-ea"/>
                          <a:cs typeface="+mn-cs"/>
                        </a:rPr>
                        <a:t> “Инжиқнинг муҳаббати” да </a:t>
                      </a:r>
                      <a:r>
                        <a:rPr lang="uz-Cyrl-UZ" sz="900" b="1" kern="1200" dirty="0" smtClean="0">
                          <a:solidFill>
                            <a:schemeClr val="tx1"/>
                          </a:solidFill>
                          <a:effectLst/>
                          <a:latin typeface="+mn-lt"/>
                          <a:ea typeface="+mn-ea"/>
                          <a:cs typeface="+mn-cs"/>
                        </a:rPr>
                        <a:t>Айжамал,</a:t>
                      </a:r>
                      <a:r>
                        <a:rPr lang="uz-Cyrl-UZ" sz="900" kern="1200" dirty="0" smtClean="0">
                          <a:solidFill>
                            <a:schemeClr val="tx1"/>
                          </a:solidFill>
                          <a:effectLst/>
                          <a:latin typeface="+mn-lt"/>
                          <a:ea typeface="+mn-ea"/>
                          <a:cs typeface="+mn-cs"/>
                        </a:rPr>
                        <a:t> “Кўланка”да </a:t>
                      </a:r>
                      <a:r>
                        <a:rPr lang="uz-Cyrl-UZ" sz="900" b="1" kern="1200" dirty="0" smtClean="0">
                          <a:solidFill>
                            <a:schemeClr val="tx1"/>
                          </a:solidFill>
                          <a:effectLst/>
                          <a:latin typeface="+mn-lt"/>
                          <a:ea typeface="+mn-ea"/>
                          <a:cs typeface="+mn-cs"/>
                        </a:rPr>
                        <a:t>Назли,</a:t>
                      </a:r>
                      <a:r>
                        <a:rPr lang="uz-Cyrl-UZ" sz="900" kern="1200" dirty="0" smtClean="0">
                          <a:solidFill>
                            <a:schemeClr val="tx1"/>
                          </a:solidFill>
                          <a:effectLst/>
                          <a:latin typeface="+mn-lt"/>
                          <a:ea typeface="+mn-ea"/>
                          <a:cs typeface="+mn-cs"/>
                        </a:rPr>
                        <a:t> “Энага”да </a:t>
                      </a:r>
                      <a:r>
                        <a:rPr lang="uz-Cyrl-UZ" sz="900" b="1" kern="1200" dirty="0" smtClean="0">
                          <a:solidFill>
                            <a:schemeClr val="tx1"/>
                          </a:solidFill>
                          <a:effectLst/>
                          <a:latin typeface="+mn-lt"/>
                          <a:ea typeface="+mn-ea"/>
                          <a:cs typeface="+mn-cs"/>
                        </a:rPr>
                        <a:t>Салима,</a:t>
                      </a:r>
                      <a:r>
                        <a:rPr lang="uz-Cyrl-UZ" sz="900" kern="1200" dirty="0" smtClean="0">
                          <a:solidFill>
                            <a:schemeClr val="tx1"/>
                          </a:solidFill>
                          <a:effectLst/>
                          <a:latin typeface="+mn-lt"/>
                          <a:ea typeface="+mn-ea"/>
                          <a:cs typeface="+mn-cs"/>
                        </a:rPr>
                        <a:t> “Кечиккан муҳаббат”да </a:t>
                      </a:r>
                      <a:r>
                        <a:rPr lang="uz-Cyrl-UZ" sz="900" b="1" kern="1200" dirty="0" smtClean="0">
                          <a:solidFill>
                            <a:schemeClr val="tx1"/>
                          </a:solidFill>
                          <a:effectLst/>
                          <a:latin typeface="+mn-lt"/>
                          <a:ea typeface="+mn-ea"/>
                          <a:cs typeface="+mn-cs"/>
                        </a:rPr>
                        <a:t>Урунгул</a:t>
                      </a:r>
                      <a:r>
                        <a:rPr lang="uz-Cyrl-UZ" sz="900" kern="1200" dirty="0" smtClean="0">
                          <a:solidFill>
                            <a:schemeClr val="tx1"/>
                          </a:solidFill>
                          <a:effectLst/>
                          <a:latin typeface="+mn-lt"/>
                          <a:ea typeface="+mn-ea"/>
                          <a:cs typeface="+mn-cs"/>
                        </a:rPr>
                        <a:t>, “Ғариб очиқ”да </a:t>
                      </a:r>
                      <a:r>
                        <a:rPr lang="uz-Cyrl-UZ" sz="900" b="1" kern="1200" dirty="0" smtClean="0">
                          <a:solidFill>
                            <a:schemeClr val="tx1"/>
                          </a:solidFill>
                          <a:effectLst/>
                          <a:latin typeface="+mn-lt"/>
                          <a:ea typeface="+mn-ea"/>
                          <a:cs typeface="+mn-cs"/>
                        </a:rPr>
                        <a:t>Ҳурлиха</a:t>
                      </a:r>
                      <a:r>
                        <a:rPr lang="uz-Cyrl-UZ" sz="900" kern="1200" dirty="0" smtClean="0">
                          <a:solidFill>
                            <a:schemeClr val="tx1"/>
                          </a:solidFill>
                          <a:effectLst/>
                          <a:latin typeface="+mn-lt"/>
                          <a:ea typeface="+mn-ea"/>
                          <a:cs typeface="+mn-cs"/>
                        </a:rPr>
                        <a:t> ва Ғарибнинг онаси </a:t>
                      </a:r>
                      <a:r>
                        <a:rPr lang="uz-Cyrl-UZ" sz="900" b="1" kern="1200" dirty="0" smtClean="0">
                          <a:solidFill>
                            <a:schemeClr val="tx1"/>
                          </a:solidFill>
                          <a:effectLst/>
                          <a:latin typeface="+mn-lt"/>
                          <a:ea typeface="+mn-ea"/>
                          <a:cs typeface="+mn-cs"/>
                        </a:rPr>
                        <a:t>Абадан,</a:t>
                      </a:r>
                      <a:r>
                        <a:rPr lang="uz-Cyrl-UZ" sz="900" kern="1200" dirty="0" smtClean="0">
                          <a:solidFill>
                            <a:schemeClr val="tx1"/>
                          </a:solidFill>
                          <a:effectLst/>
                          <a:latin typeface="+mn-lt"/>
                          <a:ea typeface="+mn-ea"/>
                          <a:cs typeface="+mn-cs"/>
                        </a:rPr>
                        <a:t> “Шарьяр”да </a:t>
                      </a:r>
                      <a:r>
                        <a:rPr lang="uz-Cyrl-UZ" sz="900" b="1" kern="1200" dirty="0" smtClean="0">
                          <a:solidFill>
                            <a:schemeClr val="tx1"/>
                          </a:solidFill>
                          <a:effectLst/>
                          <a:latin typeface="+mn-lt"/>
                          <a:ea typeface="+mn-ea"/>
                          <a:cs typeface="+mn-cs"/>
                        </a:rPr>
                        <a:t>Ялмоғиз кампир</a:t>
                      </a:r>
                      <a:r>
                        <a:rPr lang="uz-Cyrl-UZ" sz="900" kern="1200" dirty="0" smtClean="0">
                          <a:solidFill>
                            <a:schemeClr val="tx1"/>
                          </a:solidFill>
                          <a:effectLst/>
                          <a:latin typeface="+mn-lt"/>
                          <a:ea typeface="+mn-ea"/>
                          <a:cs typeface="+mn-cs"/>
                        </a:rPr>
                        <a:t>, “Уч буйдоқ”да </a:t>
                      </a:r>
                      <a:r>
                        <a:rPr lang="uz-Cyrl-UZ" sz="900" b="1" kern="1200" dirty="0" smtClean="0">
                          <a:solidFill>
                            <a:schemeClr val="tx1"/>
                          </a:solidFill>
                          <a:effectLst/>
                          <a:latin typeface="+mn-lt"/>
                          <a:ea typeface="+mn-ea"/>
                          <a:cs typeface="+mn-cs"/>
                        </a:rPr>
                        <a:t>Кунсулу</a:t>
                      </a:r>
                      <a:r>
                        <a:rPr lang="uz-Cyrl-UZ" sz="900" b="0" kern="1200" baseline="0" dirty="0" smtClean="0">
                          <a:solidFill>
                            <a:schemeClr val="tx1"/>
                          </a:solidFill>
                          <a:effectLst/>
                          <a:latin typeface="+mn-lt"/>
                          <a:ea typeface="+mn-ea"/>
                          <a:cs typeface="+mn-cs"/>
                        </a:rPr>
                        <a:t> каби </a:t>
                      </a:r>
                      <a:r>
                        <a:rPr lang="uz-Cyrl-UZ" sz="900" kern="1200" dirty="0" smtClean="0">
                          <a:solidFill>
                            <a:schemeClr val="tx1"/>
                          </a:solidFill>
                          <a:effectLst/>
                          <a:latin typeface="+mn-lt"/>
                          <a:ea typeface="+mn-ea"/>
                          <a:cs typeface="+mn-cs"/>
                        </a:rPr>
                        <a:t>ролларин ижро этиб томошабинлар олқишига сазовор бўлди.</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2000-йили Тошкент шаҳрида ўтказилган Қорақалпоғистон Республикаси маданият ва санъат кунларида, 2001- йили Хоразм вилоятида ўтказилган Қорақалпоғистон  Республикаси маданияти ва санъати кунларининг фаол иштирокчисига айланган. </a:t>
                      </a:r>
                      <a:endParaRPr lang="ru-RU" sz="900" kern="1200" dirty="0" smtClean="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Г.Жуманиязова 2009-йил Миср Араб Республикасида ўтказилган XXI-Халқаро экспереминтал театрлар фестивалида театр жамоаси билан </a:t>
                      </a:r>
                      <a:r>
                        <a:rPr lang="uz-Cyrl-UZ" sz="900" b="1" kern="1200" dirty="0" smtClean="0">
                          <a:solidFill>
                            <a:schemeClr val="tx1"/>
                          </a:solidFill>
                          <a:effectLst/>
                          <a:latin typeface="+mn-lt"/>
                          <a:ea typeface="+mn-ea"/>
                          <a:cs typeface="+mn-cs"/>
                        </a:rPr>
                        <a:t>“Энг сулув келинчак”</a:t>
                      </a:r>
                      <a:r>
                        <a:rPr lang="uz-Cyrl-UZ" sz="900" kern="1200" dirty="0" smtClean="0">
                          <a:solidFill>
                            <a:schemeClr val="tx1"/>
                          </a:solidFill>
                          <a:effectLst/>
                          <a:latin typeface="+mn-lt"/>
                          <a:ea typeface="+mn-ea"/>
                          <a:cs typeface="+mn-cs"/>
                        </a:rPr>
                        <a:t> спектакли билан қатнашиб, уни ижросидаги </a:t>
                      </a:r>
                      <a:r>
                        <a:rPr lang="uz-Cyrl-UZ" sz="900" b="1" kern="1200" dirty="0" smtClean="0">
                          <a:solidFill>
                            <a:schemeClr val="tx1"/>
                          </a:solidFill>
                          <a:effectLst/>
                          <a:latin typeface="+mn-lt"/>
                          <a:ea typeface="+mn-ea"/>
                          <a:cs typeface="+mn-cs"/>
                        </a:rPr>
                        <a:t>Зуҳра</a:t>
                      </a:r>
                      <a:r>
                        <a:rPr lang="uz-Cyrl-UZ" sz="900" kern="1200" dirty="0" smtClean="0">
                          <a:solidFill>
                            <a:schemeClr val="tx1"/>
                          </a:solidFill>
                          <a:effectLst/>
                          <a:latin typeface="+mn-lt"/>
                          <a:ea typeface="+mn-ea"/>
                          <a:cs typeface="+mn-cs"/>
                        </a:rPr>
                        <a:t> образи мутахассислар томонидан эътироф этилди. </a:t>
                      </a:r>
                      <a:endParaRPr lang="ru-RU" sz="900" kern="1200" dirty="0" smtClean="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2016-йил май ойида Тошкент шаҳри А.Навоий номидаги Ўзбекистон давлат Академик катта театрида “Ажиниёз”, “Тумарис” опералари  билан, 2016- йил декабрь ойида Тошкент шаҳрида И.Султоннинг “Имон” спектаклидаги Айша роли билан, 2018- йил Бухора ва Навоий вилоятларида “Гул олмаган жанонлар” спектаклида Зухра роли ва Хоразм вилоятида Танҳо юлдуз спектаклида Жамила роли билан, 2019-йил Тошкент шаҳрида Ч.Айтматовнинг “Жамила” спектаклида Гулзада роли билан қатнашиб мутахассис ва томошабинлар олқишига сазовор бўлди. 2025- йили театр жамоаси билан Тахтакўпир, Чимбой туманларида “Совға” Шоу интермедияларда қизиқарли роллар ижро этиб томошабинлар олқишига сазовор бўлди.</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9452">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377021">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800" b="0" dirty="0" smtClean="0">
                          <a:effectLst/>
                          <a:latin typeface="+mn-lt"/>
                          <a:ea typeface="Calibri" panose="020F0502020204030204" pitchFamily="34" charset="0"/>
                          <a:cs typeface="Times New Roman" panose="02020603050405020304" pitchFamily="18" charset="0"/>
                        </a:rPr>
                        <a:t>Республикамизда</a:t>
                      </a:r>
                      <a:r>
                        <a:rPr lang="uz-Cyrl-UZ" sz="800" b="0" baseline="0" dirty="0" smtClean="0">
                          <a:effectLst/>
                          <a:latin typeface="+mn-lt"/>
                          <a:ea typeface="Calibri" panose="020F0502020204030204" pitchFamily="34" charset="0"/>
                          <a:cs typeface="Times New Roman" panose="02020603050405020304" pitchFamily="18" charset="0"/>
                        </a:rPr>
                        <a:t> ўтказилиб келинадиган барча оммавий маданий тадбирлар ва давлат тадбирларида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291441" y="1176429"/>
            <a:ext cx="789738" cy="1052985"/>
          </a:xfrm>
          <a:prstGeom prst="rect">
            <a:avLst/>
          </a:prstGeom>
        </p:spPr>
      </p:pic>
    </p:spTree>
    <p:extLst>
      <p:ext uri="{BB962C8B-B14F-4D97-AF65-F5344CB8AC3E}">
        <p14:creationId xmlns:p14="http://schemas.microsoft.com/office/powerpoint/2010/main" val="1610302851"/>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43117369"/>
              </p:ext>
            </p:extLst>
          </p:nvPr>
        </p:nvGraphicFramePr>
        <p:xfrm>
          <a:off x="144489" y="865703"/>
          <a:ext cx="3427547" cy="5879046"/>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1305">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8644">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Аскаров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864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Рахат</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864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Сапарбаевич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8644">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kern="1200" dirty="0" smtClean="0">
                          <a:solidFill>
                            <a:schemeClr val="tx1"/>
                          </a:solidFill>
                          <a:effectLst/>
                          <a:latin typeface="+mn-lt"/>
                          <a:ea typeface="+mn-ea"/>
                          <a:cs typeface="+mn-cs"/>
                        </a:rPr>
                        <a:t>қорақалпоқ</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974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900" kern="1200" dirty="0" smtClean="0">
                          <a:solidFill>
                            <a:schemeClr val="tx1"/>
                          </a:solidFill>
                          <a:effectLst/>
                          <a:latin typeface="+mn-lt"/>
                          <a:ea typeface="+mn-ea"/>
                          <a:cs typeface="+mn-cs"/>
                        </a:rPr>
                        <a:t>22.02.1977</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864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Нукус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8989">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70542">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3 </a:t>
                      </a:r>
                      <a:r>
                        <a:rPr lang="uz-Cyrl-UZ" sz="900" kern="1200" dirty="0" smtClean="0">
                          <a:solidFill>
                            <a:schemeClr val="tx1"/>
                          </a:solidFill>
                          <a:effectLst/>
                          <a:latin typeface="+mn-lt"/>
                          <a:ea typeface="+mn-ea"/>
                          <a:cs typeface="+mn-cs"/>
                        </a:rPr>
                        <a:t>қ</a:t>
                      </a:r>
                      <a:r>
                        <a:rPr lang="uz-Cyrl-UZ" sz="900" b="0" kern="1200" noProof="0" dirty="0" smtClean="0">
                          <a:solidFill>
                            <a:schemeClr val="tx1"/>
                          </a:solidFill>
                          <a:latin typeface="+mn-lt"/>
                          <a:ea typeface="+mn-ea"/>
                          <a:cs typeface="+mn-cs"/>
                        </a:rPr>
                        <a:t>из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8989">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767785">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ru-RU" sz="900" b="1" kern="1200" dirty="0" smtClean="0">
                          <a:solidFill>
                            <a:schemeClr val="tx1"/>
                          </a:solidFill>
                          <a:effectLst/>
                          <a:latin typeface="+mn-lt"/>
                          <a:ea typeface="+mn-ea"/>
                          <a:cs typeface="+mn-cs"/>
                        </a:rPr>
                        <a:t>Аскаров </a:t>
                      </a:r>
                      <a:r>
                        <a:rPr lang="ru-RU" sz="900" b="1" kern="1200" dirty="0" err="1" smtClean="0">
                          <a:solidFill>
                            <a:schemeClr val="tx1"/>
                          </a:solidFill>
                          <a:effectLst/>
                          <a:latin typeface="+mn-lt"/>
                          <a:ea typeface="+mn-ea"/>
                          <a:cs typeface="+mn-cs"/>
                        </a:rPr>
                        <a:t>Сапарбай</a:t>
                      </a:r>
                      <a:endParaRPr lang="ru-RU" sz="900" b="1" kern="1200" dirty="0" smtClean="0">
                        <a:solidFill>
                          <a:schemeClr val="tx1"/>
                        </a:solidFill>
                        <a:effectLst/>
                        <a:latin typeface="+mn-lt"/>
                        <a:ea typeface="+mn-ea"/>
                        <a:cs typeface="+mn-cs"/>
                      </a:endParaRPr>
                    </a:p>
                    <a:p>
                      <a:r>
                        <a:rPr lang="ru-RU" sz="900" b="1" kern="1200" dirty="0" err="1" smtClean="0">
                          <a:solidFill>
                            <a:schemeClr val="tx1"/>
                          </a:solidFill>
                          <a:effectLst/>
                          <a:latin typeface="+mn-lt"/>
                          <a:ea typeface="+mn-ea"/>
                          <a:cs typeface="+mn-cs"/>
                        </a:rPr>
                        <a:t>Юлдашевич</a:t>
                      </a:r>
                      <a:r>
                        <a:rPr lang="ru-RU" sz="900" b="1" kern="1200" dirty="0" smtClean="0">
                          <a:solidFill>
                            <a:schemeClr val="tx1"/>
                          </a:solidFill>
                          <a:effectLst/>
                          <a:latin typeface="+mn-lt"/>
                          <a:ea typeface="+mn-ea"/>
                          <a:cs typeface="+mn-cs"/>
                        </a:rPr>
                        <a:t> </a:t>
                      </a:r>
                    </a:p>
                    <a:p>
                      <a:r>
                        <a:rPr lang="uz-Cyrl-UZ" sz="900" b="0" kern="1200" noProof="0" dirty="0" smtClean="0">
                          <a:solidFill>
                            <a:schemeClr val="tx1"/>
                          </a:solidFill>
                          <a:latin typeface="+mn-lt"/>
                          <a:ea typeface="+mn-ea"/>
                          <a:cs typeface="Arial" panose="020B0604020202020204" pitchFamily="34" charset="0"/>
                        </a:rPr>
                        <a:t>1950 йил, Кегейли тумани</a:t>
                      </a: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ru-RU" sz="900" kern="1200" dirty="0" smtClean="0">
                          <a:solidFill>
                            <a:schemeClr val="tx1"/>
                          </a:solidFill>
                          <a:effectLst/>
                          <a:latin typeface="+mn-lt"/>
                          <a:ea typeface="+mn-ea"/>
                          <a:cs typeface="+mn-cs"/>
                        </a:rPr>
                        <a:t>2003 </a:t>
                      </a:r>
                      <a:r>
                        <a:rPr lang="ru-RU" sz="900" kern="1200" dirty="0" err="1" smtClean="0">
                          <a:solidFill>
                            <a:schemeClr val="tx1"/>
                          </a:solidFill>
                          <a:effectLst/>
                          <a:latin typeface="+mn-lt"/>
                          <a:ea typeface="+mn-ea"/>
                          <a:cs typeface="+mn-cs"/>
                        </a:rPr>
                        <a:t>йи</a:t>
                      </a:r>
                      <a:r>
                        <a:rPr lang="uz-Cyrl-UZ" sz="900" kern="1200" dirty="0" smtClean="0">
                          <a:solidFill>
                            <a:schemeClr val="tx1"/>
                          </a:solidFill>
                          <a:effectLst/>
                          <a:latin typeface="+mn-lt"/>
                          <a:ea typeface="+mn-ea"/>
                          <a:cs typeface="+mn-cs"/>
                        </a:rPr>
                        <a:t>л</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вафот</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э</a:t>
                      </a:r>
                      <a:r>
                        <a:rPr lang="ru-RU" sz="900" kern="1200" dirty="0" err="1" smtClean="0">
                          <a:solidFill>
                            <a:schemeClr val="tx1"/>
                          </a:solidFill>
                          <a:effectLst/>
                          <a:latin typeface="+mn-lt"/>
                          <a:ea typeface="+mn-ea"/>
                          <a:cs typeface="+mn-cs"/>
                        </a:rPr>
                        <a:t>тган</a:t>
                      </a:r>
                      <a:r>
                        <a:rPr lang="ru-RU" sz="900" kern="1200" dirty="0" smtClean="0">
                          <a:solidFill>
                            <a:schemeClr val="tx1"/>
                          </a:solidFill>
                          <a:effectLst/>
                          <a:latin typeface="+mn-lt"/>
                          <a:ea typeface="+mn-ea"/>
                          <a:cs typeface="+mn-cs"/>
                        </a:rPr>
                        <a:t> </a:t>
                      </a:r>
                    </a:p>
                    <a:p>
                      <a:r>
                        <a:rPr lang="uz-Cyrl-UZ" sz="900" kern="1200" dirty="0" smtClean="0">
                          <a:solidFill>
                            <a:schemeClr val="tx1"/>
                          </a:solidFill>
                          <a:effectLst/>
                          <a:latin typeface="+mn-lt"/>
                          <a:ea typeface="+mn-ea"/>
                          <a:cs typeface="+mn-cs"/>
                        </a:rPr>
                        <a:t>(</a:t>
                      </a:r>
                      <a:r>
                        <a:rPr lang="ru-RU" sz="900" kern="1200" dirty="0" smtClean="0">
                          <a:solidFill>
                            <a:schemeClr val="tx1"/>
                          </a:solidFill>
                          <a:effectLst/>
                          <a:latin typeface="+mn-lt"/>
                          <a:ea typeface="+mn-ea"/>
                          <a:cs typeface="+mn-cs"/>
                        </a:rPr>
                        <a:t>Нукус нон </a:t>
                      </a:r>
                      <a:r>
                        <a:rPr lang="uz-Cyrl-UZ" sz="900" kern="1200" dirty="0" smtClean="0">
                          <a:solidFill>
                            <a:schemeClr val="tx1"/>
                          </a:solidFill>
                          <a:effectLst/>
                          <a:latin typeface="+mn-lt"/>
                          <a:ea typeface="+mn-ea"/>
                          <a:cs typeface="+mn-cs"/>
                        </a:rPr>
                        <a:t>ва нон ўнимлари </a:t>
                      </a:r>
                      <a:r>
                        <a:rPr lang="ru-RU" sz="900" kern="1200" dirty="0" smtClean="0">
                          <a:solidFill>
                            <a:schemeClr val="tx1"/>
                          </a:solidFill>
                          <a:effectLst/>
                          <a:latin typeface="+mn-lt"/>
                          <a:ea typeface="+mn-ea"/>
                          <a:cs typeface="+mn-cs"/>
                        </a:rPr>
                        <a:t>комбинат </a:t>
                      </a:r>
                      <a:r>
                        <a:rPr lang="ru-RU" sz="900" kern="1200" dirty="0" err="1" smtClean="0">
                          <a:solidFill>
                            <a:schemeClr val="tx1"/>
                          </a:solidFill>
                          <a:effectLst/>
                          <a:latin typeface="+mn-lt"/>
                          <a:ea typeface="+mn-ea"/>
                          <a:cs typeface="+mn-cs"/>
                        </a:rPr>
                        <a:t>дир</a:t>
                      </a:r>
                      <a:r>
                        <a:rPr lang="uz-Cyrl-UZ" sz="900" kern="1200" dirty="0" smtClean="0">
                          <a:solidFill>
                            <a:schemeClr val="tx1"/>
                          </a:solidFill>
                          <a:effectLst/>
                          <a:latin typeface="+mn-lt"/>
                          <a:ea typeface="+mn-ea"/>
                          <a:cs typeface="+mn-cs"/>
                        </a:rPr>
                        <a:t>ектори ў</a:t>
                      </a:r>
                      <a:r>
                        <a:rPr lang="ru-RU" sz="900" kern="1200" dirty="0" err="1" smtClean="0">
                          <a:solidFill>
                            <a:schemeClr val="tx1"/>
                          </a:solidFill>
                          <a:effectLst/>
                          <a:latin typeface="+mn-lt"/>
                          <a:ea typeface="+mn-ea"/>
                          <a:cs typeface="+mn-cs"/>
                        </a:rPr>
                        <a:t>ринбосари</a:t>
                      </a:r>
                      <a:r>
                        <a:rPr lang="uz-Cyrl-UZ" sz="900" kern="1200" dirty="0" smtClean="0">
                          <a:solidFill>
                            <a:schemeClr val="tx1"/>
                          </a:solidFill>
                          <a:effectLst/>
                          <a:latin typeface="+mn-lt"/>
                          <a:ea typeface="+mn-ea"/>
                          <a:cs typeface="+mn-cs"/>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90690">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b="1" kern="1200" dirty="0" err="1" smtClean="0">
                          <a:solidFill>
                            <a:schemeClr val="tx1"/>
                          </a:solidFill>
                          <a:effectLst/>
                          <a:latin typeface="+mn-lt"/>
                          <a:ea typeface="+mn-ea"/>
                          <a:cs typeface="+mn-cs"/>
                        </a:rPr>
                        <a:t>Турамбетова</a:t>
                      </a:r>
                      <a:r>
                        <a:rPr lang="ru-RU" sz="900" b="1" kern="1200" dirty="0" smtClean="0">
                          <a:solidFill>
                            <a:schemeClr val="tx1"/>
                          </a:solidFill>
                          <a:effectLst/>
                          <a:latin typeface="+mn-lt"/>
                          <a:ea typeface="+mn-ea"/>
                          <a:cs typeface="+mn-cs"/>
                        </a:rPr>
                        <a:t> </a:t>
                      </a:r>
                      <a:r>
                        <a:rPr lang="ru-RU" sz="900" b="1" kern="1200" dirty="0" err="1" smtClean="0">
                          <a:solidFill>
                            <a:schemeClr val="tx1"/>
                          </a:solidFill>
                          <a:effectLst/>
                          <a:latin typeface="+mn-lt"/>
                          <a:ea typeface="+mn-ea"/>
                          <a:cs typeface="+mn-cs"/>
                        </a:rPr>
                        <a:t>Қалжан</a:t>
                      </a:r>
                      <a:r>
                        <a:rPr lang="ru-RU" sz="900" b="1" kern="1200" dirty="0" smtClean="0">
                          <a:solidFill>
                            <a:schemeClr val="tx1"/>
                          </a:solidFill>
                          <a:effectLst/>
                          <a:latin typeface="+mn-lt"/>
                          <a:ea typeface="+mn-ea"/>
                          <a:cs typeface="+mn-cs"/>
                        </a:rPr>
                        <a:t> </a:t>
                      </a:r>
                      <a:r>
                        <a:rPr lang="ru-RU" sz="900" b="1" kern="1200" dirty="0" err="1" smtClean="0">
                          <a:solidFill>
                            <a:schemeClr val="tx1"/>
                          </a:solidFill>
                          <a:effectLst/>
                          <a:latin typeface="+mn-lt"/>
                          <a:ea typeface="+mn-ea"/>
                          <a:cs typeface="+mn-cs"/>
                        </a:rPr>
                        <a:t>Турамбетовн</a:t>
                      </a:r>
                      <a:r>
                        <a:rPr lang="ru-RU" sz="900" kern="1200" dirty="0" err="1" smtClean="0">
                          <a:solidFill>
                            <a:schemeClr val="tx1"/>
                          </a:solidFill>
                          <a:effectLst/>
                          <a:latin typeface="+mn-lt"/>
                          <a:ea typeface="+mn-ea"/>
                          <a:cs typeface="+mn-cs"/>
                        </a:rPr>
                        <a:t>а</a:t>
                      </a:r>
                      <a:endParaRPr lang="ru-RU" sz="900" kern="1200" dirty="0" smtClean="0">
                        <a:solidFill>
                          <a:schemeClr val="tx1"/>
                        </a:solidFill>
                        <a:effectLst/>
                        <a:latin typeface="+mn-lt"/>
                        <a:ea typeface="+mn-ea"/>
                        <a:cs typeface="+mn-cs"/>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1951 йил, Нукус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Пенсияда </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a:t>
                      </a:r>
                      <a:r>
                        <a:rPr lang="ru-RU" sz="900" kern="1200" dirty="0" smtClean="0">
                          <a:solidFill>
                            <a:schemeClr val="tx1"/>
                          </a:solidFill>
                          <a:effectLst/>
                          <a:latin typeface="+mn-lt"/>
                          <a:ea typeface="+mn-ea"/>
                          <a:cs typeface="+mn-cs"/>
                        </a:rPr>
                        <a:t>Нукус нон </a:t>
                      </a:r>
                      <a:r>
                        <a:rPr lang="ru-RU" sz="900" kern="1200" dirty="0" err="1" smtClean="0">
                          <a:solidFill>
                            <a:schemeClr val="tx1"/>
                          </a:solidFill>
                          <a:effectLst/>
                          <a:latin typeface="+mn-lt"/>
                          <a:ea typeface="+mn-ea"/>
                          <a:cs typeface="+mn-cs"/>
                        </a:rPr>
                        <a:t>комбинати</a:t>
                      </a:r>
                      <a:r>
                        <a:rPr lang="ru-RU" sz="900" kern="1200" dirty="0" smtClean="0">
                          <a:solidFill>
                            <a:schemeClr val="tx1"/>
                          </a:solidFill>
                          <a:effectLst/>
                          <a:latin typeface="+mn-lt"/>
                          <a:ea typeface="+mn-ea"/>
                          <a:cs typeface="+mn-cs"/>
                        </a:rPr>
                        <a:t> цехи </a:t>
                      </a:r>
                      <a:r>
                        <a:rPr lang="ru-RU" sz="900" kern="1200" dirty="0" err="1" smtClean="0">
                          <a:solidFill>
                            <a:schemeClr val="tx1"/>
                          </a:solidFill>
                          <a:effectLst/>
                          <a:latin typeface="+mn-lt"/>
                          <a:ea typeface="+mn-ea"/>
                          <a:cs typeface="+mn-cs"/>
                        </a:rPr>
                        <a:t>мудири</a:t>
                      </a:r>
                      <a:r>
                        <a:rPr lang="uz-Cyrl-UZ" sz="900" kern="1200" dirty="0" smtClean="0">
                          <a:solidFill>
                            <a:schemeClr val="tx1"/>
                          </a:solidFill>
                          <a:effectLst/>
                          <a:latin typeface="+mn-lt"/>
                          <a:ea typeface="+mn-ea"/>
                          <a:cs typeface="+mn-cs"/>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29370">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b="1" kern="1200" dirty="0" err="1" smtClean="0">
                          <a:solidFill>
                            <a:schemeClr val="tx1"/>
                          </a:solidFill>
                          <a:effectLst/>
                          <a:latin typeface="+mn-lt"/>
                          <a:ea typeface="+mn-ea"/>
                          <a:cs typeface="+mn-cs"/>
                        </a:rPr>
                        <a:t>Рейимбаева</a:t>
                      </a:r>
                      <a:r>
                        <a:rPr lang="ru-RU" sz="900" b="1" kern="1200" dirty="0" smtClean="0">
                          <a:solidFill>
                            <a:schemeClr val="tx1"/>
                          </a:solidFill>
                          <a:effectLst/>
                          <a:latin typeface="+mn-lt"/>
                          <a:ea typeface="+mn-ea"/>
                          <a:cs typeface="+mn-cs"/>
                        </a:rPr>
                        <a:t> </a:t>
                      </a:r>
                      <a:r>
                        <a:rPr lang="ru-RU" sz="900" b="1" kern="1200" dirty="0" err="1" smtClean="0">
                          <a:solidFill>
                            <a:schemeClr val="tx1"/>
                          </a:solidFill>
                          <a:effectLst/>
                          <a:latin typeface="+mn-lt"/>
                          <a:ea typeface="+mn-ea"/>
                          <a:cs typeface="+mn-cs"/>
                        </a:rPr>
                        <a:t>Мухаббат</a:t>
                      </a:r>
                      <a:r>
                        <a:rPr lang="ru-RU" sz="900" b="1" kern="1200" dirty="0" smtClean="0">
                          <a:solidFill>
                            <a:schemeClr val="tx1"/>
                          </a:solidFill>
                          <a:effectLst/>
                          <a:latin typeface="+mn-lt"/>
                          <a:ea typeface="+mn-ea"/>
                          <a:cs typeface="+mn-cs"/>
                        </a:rPr>
                        <a:t> </a:t>
                      </a:r>
                      <a:r>
                        <a:rPr lang="ru-RU" sz="900" b="1" kern="1200" dirty="0" err="1" smtClean="0">
                          <a:solidFill>
                            <a:schemeClr val="tx1"/>
                          </a:solidFill>
                          <a:effectLst/>
                          <a:latin typeface="+mn-lt"/>
                          <a:ea typeface="+mn-ea"/>
                          <a:cs typeface="+mn-cs"/>
                        </a:rPr>
                        <a:t>Тилепбаевна</a:t>
                      </a:r>
                      <a:endParaRPr lang="ru-RU" sz="900" b="1" kern="1200" dirty="0" smtClean="0">
                        <a:solidFill>
                          <a:schemeClr val="tx1"/>
                        </a:solidFill>
                        <a:effectLst/>
                        <a:latin typeface="+mn-lt"/>
                        <a:ea typeface="+mn-ea"/>
                        <a:cs typeface="+mn-cs"/>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1979 йил, </a:t>
                      </a:r>
                      <a:r>
                        <a:rPr lang="uz-Cyrl-UZ" sz="900" kern="1200" dirty="0" smtClean="0">
                          <a:solidFill>
                            <a:schemeClr val="tx1"/>
                          </a:solidFill>
                          <a:effectLst/>
                          <a:latin typeface="+mn-lt"/>
                          <a:ea typeface="+mn-ea"/>
                          <a:cs typeface="+mn-cs"/>
                        </a:rPr>
                        <a:t>Қ</a:t>
                      </a:r>
                      <a:r>
                        <a:rPr lang="ru-RU" sz="900" kern="1200" dirty="0" err="1" smtClean="0">
                          <a:solidFill>
                            <a:schemeClr val="tx1"/>
                          </a:solidFill>
                          <a:effectLst/>
                          <a:latin typeface="+mn-lt"/>
                          <a:ea typeface="+mn-ea"/>
                          <a:cs typeface="+mn-cs"/>
                        </a:rPr>
                        <a:t>анлик</a:t>
                      </a:r>
                      <a:r>
                        <a:rPr lang="uz-Cyrl-UZ" sz="900" kern="1200" dirty="0" smtClean="0">
                          <a:solidFill>
                            <a:schemeClr val="tx1"/>
                          </a:solidFill>
                          <a:effectLst/>
                          <a:latin typeface="+mn-lt"/>
                          <a:ea typeface="+mn-ea"/>
                          <a:cs typeface="+mn-cs"/>
                        </a:rPr>
                        <a:t>ў</a:t>
                      </a:r>
                      <a:r>
                        <a:rPr lang="ru-RU" sz="900" kern="1200" dirty="0" smtClean="0">
                          <a:solidFill>
                            <a:schemeClr val="tx1"/>
                          </a:solidFill>
                          <a:effectLst/>
                          <a:latin typeface="+mn-lt"/>
                          <a:ea typeface="+mn-ea"/>
                          <a:cs typeface="+mn-cs"/>
                        </a:rPr>
                        <a:t>л </a:t>
                      </a:r>
                      <a:r>
                        <a:rPr lang="ru-RU" sz="900" kern="1200" dirty="0" err="1" smtClean="0">
                          <a:solidFill>
                            <a:schemeClr val="tx1"/>
                          </a:solidFill>
                          <a:effectLst/>
                          <a:latin typeface="+mn-lt"/>
                          <a:ea typeface="+mn-ea"/>
                          <a:cs typeface="+mn-cs"/>
                        </a:rPr>
                        <a:t>тумани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Уй бекаси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5898">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57470">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2004 й. К.Бегзод номидаги миллий рассомлик ва дизайн институти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магистри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45077">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дастгоҳли ранг тасвир</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1605">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1605">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46761">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709817128"/>
              </p:ext>
            </p:extLst>
          </p:nvPr>
        </p:nvGraphicFramePr>
        <p:xfrm>
          <a:off x="3674526" y="865690"/>
          <a:ext cx="3172841" cy="5895837"/>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8071">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26532">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2014 йилдан буён  </a:t>
                      </a:r>
                      <a:r>
                        <a:rPr lang="ru-RU" sz="900" kern="1200" dirty="0" smtClean="0">
                          <a:solidFill>
                            <a:schemeClr val="tx1"/>
                          </a:solidFill>
                          <a:effectLst/>
                          <a:latin typeface="+mn-lt"/>
                          <a:ea typeface="+mn-ea"/>
                          <a:cs typeface="+mn-cs"/>
                        </a:rPr>
                        <a:t>Берда</a:t>
                      </a:r>
                      <a:r>
                        <a:rPr lang="uz-Cyrl-UZ" sz="900" kern="1200" dirty="0" smtClean="0">
                          <a:solidFill>
                            <a:schemeClr val="tx1"/>
                          </a:solidFill>
                          <a:effectLst/>
                          <a:latin typeface="+mn-lt"/>
                          <a:ea typeface="+mn-ea"/>
                          <a:cs typeface="+mn-cs"/>
                        </a:rPr>
                        <a:t>қ номидаги Қорақалпоқ давлат мусиқали</a:t>
                      </a:r>
                      <a:r>
                        <a:rPr lang="ru-RU" sz="900" kern="1200" dirty="0" smtClean="0">
                          <a:solidFill>
                            <a:schemeClr val="tx1"/>
                          </a:solidFill>
                          <a:effectLst/>
                          <a:latin typeface="+mn-lt"/>
                          <a:ea typeface="+mn-ea"/>
                          <a:cs typeface="+mn-cs"/>
                        </a:rPr>
                        <a:t> театр</a:t>
                      </a:r>
                      <a:r>
                        <a:rPr lang="uz-Cyrl-UZ" sz="900" kern="1200" dirty="0" smtClean="0">
                          <a:solidFill>
                            <a:schemeClr val="tx1"/>
                          </a:solidFill>
                          <a:effectLst/>
                          <a:latin typeface="+mn-lt"/>
                          <a:ea typeface="+mn-ea"/>
                          <a:cs typeface="+mn-cs"/>
                        </a:rPr>
                        <a:t>и </a:t>
                      </a:r>
                      <a:r>
                        <a:rPr lang="uz-Cyrl-UZ" sz="900" b="1" kern="1200" noProof="0" dirty="0" smtClean="0">
                          <a:solidFill>
                            <a:schemeClr val="tx1"/>
                          </a:solidFill>
                          <a:latin typeface="+mn-lt"/>
                          <a:ea typeface="+mn-ea"/>
                          <a:cs typeface="+mn-cs"/>
                        </a:rPr>
                        <a:t>саҳналаштирувчи рассом</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2261">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715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21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224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Latn-UZ" sz="900" b="0" noProof="0" dirty="0" smtClean="0">
                          <a:effectLst/>
                          <a:latin typeface="+mn-lt"/>
                          <a:ea typeface="Calibri" panose="020F0502020204030204" pitchFamily="34" charset="0"/>
                          <a:cs typeface="Times New Roman" panose="02020603050405020304" pitchFamily="18" charset="0"/>
                        </a:rPr>
                        <a:t>3 </a:t>
                      </a:r>
                      <a:r>
                        <a:rPr lang="ru-RU" sz="900" b="0" noProof="0" dirty="0" err="1" smtClean="0">
                          <a:effectLst/>
                          <a:latin typeface="+mn-lt"/>
                          <a:ea typeface="Calibri" panose="020F0502020204030204" pitchFamily="34" charset="0"/>
                          <a:cs typeface="Times New Roman" panose="02020603050405020304" pitchFamily="18" charset="0"/>
                        </a:rPr>
                        <a:t>йил</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0017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i="0" kern="1200" smtClean="0">
                          <a:solidFill>
                            <a:schemeClr val="tx1"/>
                          </a:solidFill>
                          <a:effectLst/>
                          <a:latin typeface="+mn-lt"/>
                          <a:ea typeface="+mn-ea"/>
                          <a:cs typeface="+mn-cs"/>
                        </a:rPr>
                        <a:t>Ўзбекистон Бадиий Академияси Қорақалпоғистон бўлими раҳбари</a:t>
                      </a: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8517">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851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Latn-UZ" sz="900" kern="1200" noProof="0" dirty="0" smtClean="0">
                          <a:solidFill>
                            <a:schemeClr val="tx1"/>
                          </a:solidFill>
                          <a:effectLst/>
                          <a:latin typeface="+mn-lt"/>
                          <a:ea typeface="Calibri" panose="020F0502020204030204" pitchFamily="34" charset="0"/>
                          <a:cs typeface="Times New Roman" panose="02020603050405020304" pitchFamily="18" charset="0"/>
                        </a:rPr>
                        <a:t>-</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664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612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3971">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50509">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2014 й. “Қорақалпоғистон Республикаси </a:t>
                      </a:r>
                      <a:r>
                        <a:rPr lang="ru-RU" sz="900" kern="1200" dirty="0" smtClean="0">
                          <a:solidFill>
                            <a:schemeClr val="tx1"/>
                          </a:solidFill>
                          <a:effectLst/>
                          <a:latin typeface="+mn-lt"/>
                          <a:ea typeface="+mn-ea"/>
                          <a:cs typeface="+mn-cs"/>
                        </a:rPr>
                        <a:t>“</a:t>
                      </a:r>
                      <a:r>
                        <a:rPr lang="uz-Cyrl-UZ" sz="900" kern="1200" dirty="0" smtClean="0">
                          <a:solidFill>
                            <a:schemeClr val="tx1"/>
                          </a:solidFill>
                          <a:effectLst/>
                          <a:latin typeface="+mn-lt"/>
                          <a:ea typeface="+mn-ea"/>
                          <a:cs typeface="+mn-cs"/>
                        </a:rPr>
                        <a:t>Санъат арбоби</a:t>
                      </a:r>
                      <a:r>
                        <a:rPr lang="ru-RU" sz="900" kern="1200" dirty="0" smtClean="0">
                          <a:solidFill>
                            <a:schemeClr val="tx1"/>
                          </a:solidFill>
                          <a:effectLst/>
                          <a:latin typeface="+mn-lt"/>
                          <a:ea typeface="+mn-ea"/>
                          <a:cs typeface="+mn-cs"/>
                        </a:rPr>
                        <a:t>” </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056912059"/>
              </p:ext>
            </p:extLst>
          </p:nvPr>
        </p:nvGraphicFramePr>
        <p:xfrm>
          <a:off x="6949857" y="869285"/>
          <a:ext cx="2817247" cy="5875463"/>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41814">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0889">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458547">
                <a:tc>
                  <a:txBody>
                    <a:bodyPr/>
                    <a:lstStyle/>
                    <a:p>
                      <a:pPr marL="0" indent="179388" algn="just"/>
                      <a:r>
                        <a:rPr lang="uz-Cyrl-UZ" sz="900" b="0" i="0" kern="1200" dirty="0" smtClean="0">
                          <a:solidFill>
                            <a:schemeClr val="tx1"/>
                          </a:solidFill>
                          <a:effectLst/>
                          <a:latin typeface="+mn-lt"/>
                          <a:ea typeface="+mn-ea"/>
                          <a:cs typeface="+mn-cs"/>
                        </a:rPr>
                        <a:t>Р.Асқаров 1999 йили Тошкент шаҳрида “Замандошларим” деб номланган ўзининг шахсий кўргазмасин ўтказди.</a:t>
                      </a:r>
                      <a:endParaRPr lang="ru-RU" sz="900" b="1" i="1" kern="1200" dirty="0" smtClean="0">
                        <a:solidFill>
                          <a:schemeClr val="tx1"/>
                        </a:solidFill>
                        <a:effectLst/>
                        <a:latin typeface="+mn-lt"/>
                        <a:ea typeface="+mn-ea"/>
                        <a:cs typeface="+mn-cs"/>
                      </a:endParaRPr>
                    </a:p>
                    <a:p>
                      <a:pPr marL="0" indent="179388" algn="just"/>
                      <a:r>
                        <a:rPr lang="uz-Cyrl-UZ" sz="900" b="0" i="0" kern="1200" dirty="0" smtClean="0">
                          <a:solidFill>
                            <a:schemeClr val="tx1"/>
                          </a:solidFill>
                          <a:effectLst/>
                          <a:latin typeface="+mn-lt"/>
                          <a:ea typeface="+mn-ea"/>
                          <a:cs typeface="+mn-cs"/>
                        </a:rPr>
                        <a:t>Шунингдек 1999 йил Тошкент шаҳри ёш рассомларнинг танловида “Энг яхши портретчи” номинацияси ғолиби.</a:t>
                      </a:r>
                      <a:endParaRPr lang="ru-RU" sz="900" b="1" i="1" kern="1200" dirty="0" smtClean="0">
                        <a:solidFill>
                          <a:schemeClr val="tx1"/>
                        </a:solidFill>
                        <a:effectLst/>
                        <a:latin typeface="+mn-lt"/>
                        <a:ea typeface="+mn-ea"/>
                        <a:cs typeface="+mn-cs"/>
                      </a:endParaRPr>
                    </a:p>
                    <a:p>
                      <a:pPr marL="0" indent="179388" algn="just"/>
                      <a:r>
                        <a:rPr lang="uz-Cyrl-UZ" sz="900" b="0" i="0" kern="1200" dirty="0" smtClean="0">
                          <a:solidFill>
                            <a:schemeClr val="tx1"/>
                          </a:solidFill>
                          <a:effectLst/>
                          <a:latin typeface="+mn-lt"/>
                          <a:ea typeface="+mn-ea"/>
                          <a:cs typeface="+mn-cs"/>
                        </a:rPr>
                        <a:t>2000-2001 йиллари Ўзбекистон Республикаси Президентининг иқтидорли ёшларни қуллаб-қувватлаш “Умид” жамгармасининг грант ғолиби бўлиб, Италиянинг Флоренция шаҳридаги Италия бадиий академияси рассомлик бўлимида таълим олди.</a:t>
                      </a:r>
                      <a:endParaRPr lang="ru-RU" sz="900" b="1" i="1" kern="1200" dirty="0" smtClean="0">
                        <a:solidFill>
                          <a:schemeClr val="tx1"/>
                        </a:solidFill>
                        <a:effectLst/>
                        <a:latin typeface="+mn-lt"/>
                        <a:ea typeface="+mn-ea"/>
                        <a:cs typeface="+mn-cs"/>
                      </a:endParaRPr>
                    </a:p>
                    <a:p>
                      <a:pPr marL="0" indent="179388" algn="just"/>
                      <a:r>
                        <a:rPr lang="uz-Cyrl-UZ" sz="900" b="0" i="0" kern="1200" dirty="0" smtClean="0">
                          <a:solidFill>
                            <a:schemeClr val="tx1"/>
                          </a:solidFill>
                          <a:effectLst/>
                          <a:latin typeface="+mn-lt"/>
                          <a:ea typeface="+mn-ea"/>
                          <a:cs typeface="+mn-cs"/>
                        </a:rPr>
                        <a:t>2004 йил К.Бегзод номидаги Миллий рассомлик ва дизайн институти ўқитувчиси, 2005 йили тасвирий санъат факультети декани ўринбосари, 2007 йили рассомчилик кафедрасининг катта ўқитувчиси, 2009 йили Ўзбекистон Бадиий Академияси кўргазмалар дирекциясининг бош директори ўринбосари, 2009 й</a:t>
                      </a:r>
                      <a:r>
                        <a:rPr lang="uz-Cyrl-UZ" sz="900" b="0" i="0" kern="1200" baseline="0" dirty="0" smtClean="0">
                          <a:solidFill>
                            <a:schemeClr val="tx1"/>
                          </a:solidFill>
                          <a:effectLst/>
                          <a:latin typeface="+mn-lt"/>
                          <a:ea typeface="+mn-ea"/>
                          <a:cs typeface="+mn-cs"/>
                        </a:rPr>
                        <a:t> </a:t>
                      </a:r>
                      <a:r>
                        <a:rPr lang="uz-Cyrl-UZ" sz="900" b="0" i="0" kern="1200" dirty="0" smtClean="0">
                          <a:solidFill>
                            <a:schemeClr val="tx1"/>
                          </a:solidFill>
                          <a:effectLst/>
                          <a:latin typeface="+mn-lt"/>
                          <a:ea typeface="+mn-ea"/>
                          <a:cs typeface="+mn-cs"/>
                        </a:rPr>
                        <a:t>Ўзбекистон Бадиий Академияси Қорақалпоғистон бўлими раҳбари, 2012 йили С.Хўжаниёзов номидаги қорақалпоқ давлат ёш томошабинлар театри бош рассоми лавозимларда ишлаган.</a:t>
                      </a:r>
                      <a:endParaRPr lang="ru-RU" sz="900" b="1" i="1" kern="1200" dirty="0" smtClean="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У “Ана қызым, ақылым”, “Сарғайған жетер муратқа”, “Танҳа юлдуз”,“Имон” бошқада спектаклларда сахналаштирувчи рассом бўлиб безашда ўз ҳиссасини қўшиб келмоқда</a:t>
                      </a:r>
                      <a:endParaRPr lang="ru-RU" sz="900" kern="1200" dirty="0" smtClean="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Унинг спектаклларга яратган декорациялари, эскизлари, изланувчанглигининг ўзи етарли даражада етук маъноли ижодлар бўлиб ҳисобланади. </a:t>
                      </a:r>
                      <a:endParaRPr lang="ru-RU" sz="900" kern="1200" dirty="0" smtClean="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66032">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58181">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uz-Cyrl-UZ" sz="800" kern="1200" noProof="0" dirty="0" smtClean="0">
                        <a:solidFill>
                          <a:schemeClr val="tx1"/>
                        </a:solidFill>
                        <a:effectLst/>
                        <a:latin typeface="+mn-lt"/>
                        <a:ea typeface="Calibri" panose="020F0502020204030204" pitchFamily="34" charset="0"/>
                        <a:cs typeface="Times New Roman" panose="02020603050405020304" pitchFamily="18" charset="0"/>
                      </a:endParaRPr>
                    </a:p>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i="0" kern="1200" dirty="0" smtClean="0">
                          <a:solidFill>
                            <a:schemeClr val="tx1"/>
                          </a:solidFill>
                          <a:effectLst/>
                          <a:latin typeface="+mn-lt"/>
                          <a:ea typeface="+mn-ea"/>
                          <a:cs typeface="+mn-cs"/>
                        </a:rPr>
                        <a:t>2011-2018 йиллари Нукус шаҳри ўтказилган “Наврўз”, “Мустақиллик” байрамларининг бош рассоми.</a:t>
                      </a:r>
                      <a:endParaRPr lang="ru-RU" sz="800" b="1" i="1" kern="1200" dirty="0" smtClean="0">
                        <a:solidFill>
                          <a:schemeClr val="tx1"/>
                        </a:solidFill>
                        <a:effectLst/>
                        <a:latin typeface="+mn-lt"/>
                        <a:ea typeface="+mn-ea"/>
                        <a:cs typeface="+mn-cs"/>
                      </a:endParaRPr>
                    </a:p>
                    <a:p>
                      <a:pPr marL="0" marR="0" lvl="0" indent="0" algn="just" defTabSz="914400" rtl="0" eaLnBrk="1" fontAlgn="auto" latinLnBrk="0" hangingPunct="1">
                        <a:lnSpc>
                          <a:spcPct val="107000"/>
                        </a:lnSpc>
                        <a:spcBef>
                          <a:spcPts val="0"/>
                        </a:spcBef>
                        <a:spcAft>
                          <a:spcPts val="0"/>
                        </a:spcAft>
                        <a:buClrTx/>
                        <a:buSzTx/>
                        <a:buFontTx/>
                        <a:buNone/>
                        <a:tabLst/>
                        <a:defRPr/>
                      </a:pPr>
                      <a:endParaRPr lang="uz-Cyrl-UZ" sz="800" kern="1200" noProof="0" dirty="0" smtClean="0">
                        <a:solidFill>
                          <a:schemeClr val="tx1"/>
                        </a:solidFill>
                        <a:effectLst/>
                        <a:latin typeface="+mn-lt"/>
                        <a:ea typeface="Calibri" panose="020F0502020204030204" pitchFamily="34" charset="0"/>
                        <a:cs typeface="Times New Roman" panose="02020603050405020304" pitchFamily="18" charset="0"/>
                      </a:endParaRPr>
                    </a:p>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a:picLocks noChangeAspect="1"/>
          </p:cNvPicPr>
          <p:nvPr/>
        </p:nvPicPr>
        <p:blipFill>
          <a:blip r:embed="rId2"/>
          <a:stretch>
            <a:fillRect/>
          </a:stretch>
        </p:blipFill>
        <p:spPr>
          <a:xfrm>
            <a:off x="283506" y="1111521"/>
            <a:ext cx="872194" cy="1137210"/>
          </a:xfrm>
          <a:prstGeom prst="rect">
            <a:avLst/>
          </a:prstGeom>
        </p:spPr>
      </p:pic>
    </p:spTree>
    <p:extLst>
      <p:ext uri="{BB962C8B-B14F-4D97-AF65-F5344CB8AC3E}">
        <p14:creationId xmlns:p14="http://schemas.microsoft.com/office/powerpoint/2010/main" val="3089990707"/>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686114262"/>
              </p:ext>
            </p:extLst>
          </p:nvPr>
        </p:nvGraphicFramePr>
        <p:xfrm>
          <a:off x="144489" y="865699"/>
          <a:ext cx="3427547" cy="5887439"/>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8291">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279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ca-ES" sz="900" b="0" kern="1200" dirty="0" smtClean="0">
                          <a:solidFill>
                            <a:schemeClr val="tx1"/>
                          </a:solidFill>
                          <a:effectLst/>
                          <a:latin typeface="+mn-lt"/>
                          <a:ea typeface="+mn-ea"/>
                          <a:cs typeface="+mn-cs"/>
                        </a:rPr>
                        <a:t>ҚОС</a:t>
                      </a:r>
                      <a:r>
                        <a:rPr lang="ru-RU" sz="900" b="0" kern="1200" dirty="0" smtClean="0">
                          <a:solidFill>
                            <a:schemeClr val="tx1"/>
                          </a:solidFill>
                          <a:effectLst/>
                          <a:latin typeface="+mn-lt"/>
                          <a:ea typeface="+mn-ea"/>
                          <a:cs typeface="+mn-cs"/>
                        </a:rPr>
                        <a:t>Ы</a:t>
                      </a:r>
                      <a:r>
                        <a:rPr lang="ca-ES" sz="900" b="0" kern="1200" dirty="0" smtClean="0">
                          <a:solidFill>
                            <a:schemeClr val="tx1"/>
                          </a:solidFill>
                          <a:effectLst/>
                          <a:latin typeface="+mn-lt"/>
                          <a:ea typeface="+mn-ea"/>
                          <a:cs typeface="+mn-cs"/>
                        </a:rPr>
                        <a:t>МБЕТОВ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279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Омирбай</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279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Сарсенбаевич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279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kern="1200" dirty="0" smtClean="0">
                          <a:solidFill>
                            <a:schemeClr val="tx1"/>
                          </a:solidFill>
                          <a:effectLst/>
                          <a:latin typeface="+mn-lt"/>
                          <a:ea typeface="+mn-ea"/>
                          <a:cs typeface="+mn-cs"/>
                        </a:rPr>
                        <a:t>қорақалпоқ</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279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21.04.1963</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0154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smtClean="0">
                          <a:solidFill>
                            <a:schemeClr val="tx1"/>
                          </a:solidFill>
                          <a:effectLst/>
                          <a:latin typeface="+mn-lt"/>
                          <a:ea typeface="+mn-ea"/>
                          <a:cs typeface="+mn-cs"/>
                        </a:rPr>
                        <a:t>Қ</a:t>
                      </a:r>
                      <a:r>
                        <a:rPr lang="ca-ES" sz="900" kern="1200" dirty="0" smtClean="0">
                          <a:solidFill>
                            <a:schemeClr val="tx1"/>
                          </a:solidFill>
                          <a:effectLst/>
                          <a:latin typeface="+mn-lt"/>
                          <a:ea typeface="+mn-ea"/>
                          <a:cs typeface="+mn-cs"/>
                        </a:rPr>
                        <a:t>ора</a:t>
                      </a:r>
                      <a:r>
                        <a:rPr lang="uz-Cyrl-UZ" sz="900" kern="1200" dirty="0" smtClean="0">
                          <a:solidFill>
                            <a:schemeClr val="tx1"/>
                          </a:solidFill>
                          <a:effectLst/>
                          <a:latin typeface="+mn-lt"/>
                          <a:ea typeface="+mn-ea"/>
                          <a:cs typeface="+mn-cs"/>
                        </a:rPr>
                        <a:t>ў</a:t>
                      </a:r>
                      <a:r>
                        <a:rPr lang="ca-ES" sz="900" kern="1200" dirty="0" smtClean="0">
                          <a:solidFill>
                            <a:schemeClr val="tx1"/>
                          </a:solidFill>
                          <a:effectLst/>
                          <a:latin typeface="+mn-lt"/>
                          <a:ea typeface="+mn-ea"/>
                          <a:cs typeface="+mn-cs"/>
                        </a:rPr>
                        <a:t>з</a:t>
                      </a:r>
                      <a:r>
                        <a:rPr lang="ru-RU" sz="900" kern="1200" dirty="0" smtClean="0">
                          <a:solidFill>
                            <a:schemeClr val="tx1"/>
                          </a:solidFill>
                          <a:effectLst/>
                          <a:latin typeface="+mn-lt"/>
                          <a:ea typeface="+mn-ea"/>
                          <a:cs typeface="+mn-cs"/>
                        </a:rPr>
                        <a:t>а</a:t>
                      </a:r>
                      <a:r>
                        <a:rPr lang="ca-ES" sz="900" kern="1200" dirty="0" smtClean="0">
                          <a:solidFill>
                            <a:schemeClr val="tx1"/>
                          </a:solidFill>
                          <a:effectLst/>
                          <a:latin typeface="+mn-lt"/>
                          <a:ea typeface="+mn-ea"/>
                          <a:cs typeface="+mn-cs"/>
                        </a:rPr>
                        <a:t>к</a:t>
                      </a:r>
                      <a:r>
                        <a:rPr lang="uz-Cyrl-UZ" sz="900" kern="1200" dirty="0" smtClean="0">
                          <a:solidFill>
                            <a:schemeClr val="tx1"/>
                          </a:solidFill>
                          <a:effectLst/>
                          <a:latin typeface="+mn-lt"/>
                          <a:ea typeface="+mn-ea"/>
                          <a:cs typeface="+mn-cs"/>
                        </a:rPr>
                        <a:t> тумани</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5619">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23289">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4 нафар </a:t>
                      </a:r>
                      <a:r>
                        <a:rPr lang="uz-Cyrl-UZ" sz="900" kern="1200" dirty="0" smtClean="0">
                          <a:solidFill>
                            <a:schemeClr val="tx1"/>
                          </a:solidFill>
                          <a:effectLst/>
                          <a:latin typeface="+mn-lt"/>
                          <a:ea typeface="+mn-ea"/>
                          <a:cs typeface="+mn-cs"/>
                        </a:rPr>
                        <a:t>қиз ва 1 нафар </a:t>
                      </a:r>
                      <a:r>
                        <a:rPr lang="uz-Cyrl-UZ" sz="900" b="0" kern="1200" noProof="0" dirty="0" smtClean="0">
                          <a:solidFill>
                            <a:schemeClr val="tx1"/>
                          </a:solidFill>
                          <a:latin typeface="+mn-lt"/>
                          <a:ea typeface="+mn-ea"/>
                          <a:cs typeface="+mn-cs"/>
                        </a:rPr>
                        <a:t>ўғил фарзанди бор</a:t>
                      </a:r>
                      <a:r>
                        <a:rPr lang="uz-Cyrl-UZ" sz="900" b="0" kern="1200" noProof="0" smtClean="0">
                          <a:solidFill>
                            <a:schemeClr val="tx1"/>
                          </a:solidFill>
                          <a:latin typeface="+mn-lt"/>
                          <a:ea typeface="+mn-ea"/>
                          <a:cs typeface="+mn-cs"/>
                        </a:rPr>
                        <a:t>, ҳозирда ишта</a:t>
                      </a:r>
                      <a:endParaRPr lang="uz-Cyrl-UZ" sz="900" b="0" kern="1200" noProof="0" dirty="0" smtClean="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5619">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5104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ca-ES" sz="900" kern="1200" dirty="0" smtClean="0">
                          <a:solidFill>
                            <a:schemeClr val="tx1"/>
                          </a:solidFill>
                          <a:effectLst/>
                          <a:latin typeface="+mn-lt"/>
                          <a:ea typeface="+mn-ea"/>
                          <a:cs typeface="+mn-cs"/>
                        </a:rPr>
                        <a:t>Қос</a:t>
                      </a:r>
                      <a:r>
                        <a:rPr lang="ru-RU" sz="900" kern="1200" dirty="0" smtClean="0">
                          <a:solidFill>
                            <a:schemeClr val="tx1"/>
                          </a:solidFill>
                          <a:effectLst/>
                          <a:latin typeface="+mn-lt"/>
                          <a:ea typeface="+mn-ea"/>
                          <a:cs typeface="+mn-cs"/>
                        </a:rPr>
                        <a:t>ы</a:t>
                      </a:r>
                      <a:r>
                        <a:rPr lang="ca-ES" sz="900" kern="1200" dirty="0" smtClean="0">
                          <a:solidFill>
                            <a:schemeClr val="tx1"/>
                          </a:solidFill>
                          <a:effectLst/>
                          <a:latin typeface="+mn-lt"/>
                          <a:ea typeface="+mn-ea"/>
                          <a:cs typeface="+mn-cs"/>
                        </a:rPr>
                        <a:t>мбетов Сарсенба</a:t>
                      </a:r>
                      <a:r>
                        <a:rPr lang="ru-RU" sz="900" kern="1200" dirty="0" smtClean="0">
                          <a:solidFill>
                            <a:schemeClr val="tx1"/>
                          </a:solidFill>
                          <a:effectLst/>
                          <a:latin typeface="+mn-lt"/>
                          <a:ea typeface="+mn-ea"/>
                          <a:cs typeface="+mn-cs"/>
                        </a:rPr>
                        <a:t>й </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1932 йил, </a:t>
                      </a:r>
                      <a:r>
                        <a:rPr lang="uz-Cyrl-UZ" sz="900" kern="1200" dirty="0" smtClean="0">
                          <a:solidFill>
                            <a:schemeClr val="tx1"/>
                          </a:solidFill>
                          <a:effectLst/>
                          <a:latin typeface="+mn-lt"/>
                          <a:ea typeface="+mn-ea"/>
                          <a:cs typeface="+mn-cs"/>
                        </a:rPr>
                        <a:t>Қ</a:t>
                      </a:r>
                      <a:r>
                        <a:rPr lang="ca-ES" sz="900" kern="1200" dirty="0" smtClean="0">
                          <a:solidFill>
                            <a:schemeClr val="tx1"/>
                          </a:solidFill>
                          <a:effectLst/>
                          <a:latin typeface="+mn-lt"/>
                          <a:ea typeface="+mn-ea"/>
                          <a:cs typeface="+mn-cs"/>
                        </a:rPr>
                        <a:t>ора</a:t>
                      </a:r>
                      <a:r>
                        <a:rPr lang="uz-Cyrl-UZ" sz="900" kern="1200" dirty="0" smtClean="0">
                          <a:solidFill>
                            <a:schemeClr val="tx1"/>
                          </a:solidFill>
                          <a:effectLst/>
                          <a:latin typeface="+mn-lt"/>
                          <a:ea typeface="+mn-ea"/>
                          <a:cs typeface="+mn-cs"/>
                        </a:rPr>
                        <a:t>ў</a:t>
                      </a:r>
                      <a:r>
                        <a:rPr lang="ca-ES" sz="900" kern="1200" dirty="0" smtClean="0">
                          <a:solidFill>
                            <a:schemeClr val="tx1"/>
                          </a:solidFill>
                          <a:effectLst/>
                          <a:latin typeface="+mn-lt"/>
                          <a:ea typeface="+mn-ea"/>
                          <a:cs typeface="+mn-cs"/>
                        </a:rPr>
                        <a:t>з</a:t>
                      </a:r>
                      <a:r>
                        <a:rPr lang="ru-RU" sz="900" kern="1200" dirty="0" smtClean="0">
                          <a:solidFill>
                            <a:schemeClr val="tx1"/>
                          </a:solidFill>
                          <a:effectLst/>
                          <a:latin typeface="+mn-lt"/>
                          <a:ea typeface="+mn-ea"/>
                          <a:cs typeface="+mn-cs"/>
                        </a:rPr>
                        <a:t>а</a:t>
                      </a:r>
                      <a:r>
                        <a:rPr lang="ca-ES" sz="900" kern="1200" dirty="0" smtClean="0">
                          <a:solidFill>
                            <a:schemeClr val="tx1"/>
                          </a:solidFill>
                          <a:effectLst/>
                          <a:latin typeface="+mn-lt"/>
                          <a:ea typeface="+mn-ea"/>
                          <a:cs typeface="+mn-cs"/>
                        </a:rPr>
                        <a:t>к</a:t>
                      </a:r>
                      <a:r>
                        <a:rPr lang="uz-Cyrl-UZ" sz="900" kern="1200" dirty="0" smtClean="0">
                          <a:solidFill>
                            <a:schemeClr val="tx1"/>
                          </a:solidFill>
                          <a:effectLst/>
                          <a:latin typeface="+mn-lt"/>
                          <a:ea typeface="+mn-ea"/>
                          <a:cs typeface="+mn-cs"/>
                        </a:rPr>
                        <a:t> тумани</a:t>
                      </a:r>
                      <a:endParaRPr lang="uz-Cyrl-UZ"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kern="1200" dirty="0" smtClean="0">
                          <a:solidFill>
                            <a:schemeClr val="tx1"/>
                          </a:solidFill>
                          <a:effectLst/>
                          <a:latin typeface="+mn-lt"/>
                          <a:ea typeface="+mn-ea"/>
                          <a:cs typeface="+mn-cs"/>
                        </a:rPr>
                        <a:t>2009 </a:t>
                      </a:r>
                      <a:r>
                        <a:rPr lang="ru-RU" sz="900" kern="1200" dirty="0" err="1" smtClean="0">
                          <a:solidFill>
                            <a:schemeClr val="tx1"/>
                          </a:solidFill>
                          <a:effectLst/>
                          <a:latin typeface="+mn-lt"/>
                          <a:ea typeface="+mn-ea"/>
                          <a:cs typeface="+mn-cs"/>
                        </a:rPr>
                        <a:t>йил</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вафот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этган</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ора</a:t>
                      </a:r>
                      <a:r>
                        <a:rPr lang="uz-Cyrl-UZ" sz="900" kern="1200" dirty="0" smtClean="0">
                          <a:solidFill>
                            <a:schemeClr val="tx1"/>
                          </a:solidFill>
                          <a:effectLst/>
                          <a:latin typeface="+mn-lt"/>
                          <a:ea typeface="+mn-ea"/>
                          <a:cs typeface="+mn-cs"/>
                        </a:rPr>
                        <a:t>ў</a:t>
                      </a:r>
                      <a:r>
                        <a:rPr lang="ru-RU" sz="900" kern="1200" dirty="0" err="1" smtClean="0">
                          <a:solidFill>
                            <a:schemeClr val="tx1"/>
                          </a:solidFill>
                          <a:effectLst/>
                          <a:latin typeface="+mn-lt"/>
                          <a:ea typeface="+mn-ea"/>
                          <a:cs typeface="+mn-cs"/>
                        </a:rPr>
                        <a:t>зяк</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тумани</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ора</a:t>
                      </a:r>
                      <a:r>
                        <a:rPr lang="uz-Cyrl-UZ" sz="900" kern="1200" dirty="0" smtClean="0">
                          <a:solidFill>
                            <a:schemeClr val="tx1"/>
                          </a:solidFill>
                          <a:effectLst/>
                          <a:latin typeface="+mn-lt"/>
                          <a:ea typeface="+mn-ea"/>
                          <a:cs typeface="+mn-cs"/>
                        </a:rPr>
                        <a:t>ў</a:t>
                      </a:r>
                      <a:r>
                        <a:rPr lang="ru-RU" sz="900" kern="1200" dirty="0" err="1" smtClean="0">
                          <a:solidFill>
                            <a:schemeClr val="tx1"/>
                          </a:solidFill>
                          <a:effectLst/>
                          <a:latin typeface="+mn-lt"/>
                          <a:ea typeface="+mn-ea"/>
                          <a:cs typeface="+mn-cs"/>
                        </a:rPr>
                        <a:t>зак</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хўжалиги </a:t>
                      </a:r>
                      <a:r>
                        <a:rPr lang="ru-RU" sz="900" kern="1200" dirty="0" err="1" smtClean="0">
                          <a:solidFill>
                            <a:schemeClr val="tx1"/>
                          </a:solidFill>
                          <a:effectLst/>
                          <a:latin typeface="+mn-lt"/>
                          <a:ea typeface="+mn-ea"/>
                          <a:cs typeface="+mn-cs"/>
                        </a:rPr>
                        <a:t>ичши</a:t>
                      </a:r>
                      <a:r>
                        <a:rPr lang="uz-Cyrl-UZ" sz="900" kern="1200" dirty="0" smtClean="0">
                          <a:solidFill>
                            <a:schemeClr val="tx1"/>
                          </a:solidFill>
                          <a:effectLst/>
                          <a:latin typeface="+mn-lt"/>
                          <a:ea typeface="+mn-ea"/>
                          <a:cs typeface="+mn-cs"/>
                        </a:rPr>
                        <a:t>си</a:t>
                      </a:r>
                      <a:r>
                        <a:rPr lang="ca-ES" sz="900" kern="1200" dirty="0" smtClean="0">
                          <a:solidFill>
                            <a:schemeClr val="tx1"/>
                          </a:solidFill>
                          <a:effectLst/>
                          <a:latin typeface="+mn-lt"/>
                          <a:ea typeface="+mn-ea"/>
                          <a:cs typeface="+mn-cs"/>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40744">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kern="1200" dirty="0" err="1" smtClean="0">
                          <a:solidFill>
                            <a:schemeClr val="tx1"/>
                          </a:solidFill>
                          <a:effectLst/>
                          <a:latin typeface="+mn-lt"/>
                          <a:ea typeface="+mn-ea"/>
                          <a:cs typeface="+mn-cs"/>
                        </a:rPr>
                        <a:t>Алланиязова</a:t>
                      </a:r>
                      <a:r>
                        <a:rPr lang="ru-RU" sz="900" kern="1200" dirty="0" smtClean="0">
                          <a:solidFill>
                            <a:schemeClr val="tx1"/>
                          </a:solidFill>
                          <a:effectLst/>
                          <a:latin typeface="+mn-lt"/>
                          <a:ea typeface="+mn-ea"/>
                          <a:cs typeface="+mn-cs"/>
                        </a:rPr>
                        <a:t> Тол</a:t>
                      </a:r>
                      <a:r>
                        <a:rPr lang="ca-ES" sz="900" kern="1200" dirty="0" smtClean="0">
                          <a:solidFill>
                            <a:schemeClr val="tx1"/>
                          </a:solidFill>
                          <a:effectLst/>
                          <a:latin typeface="+mn-lt"/>
                          <a:ea typeface="+mn-ea"/>
                          <a:cs typeface="+mn-cs"/>
                        </a:rPr>
                        <a:t>ғ</a:t>
                      </a:r>
                      <a:r>
                        <a:rPr lang="ru-RU" sz="900" kern="1200" dirty="0" err="1" smtClean="0">
                          <a:solidFill>
                            <a:schemeClr val="tx1"/>
                          </a:solidFill>
                          <a:effectLst/>
                          <a:latin typeface="+mn-lt"/>
                          <a:ea typeface="+mn-ea"/>
                          <a:cs typeface="+mn-cs"/>
                        </a:rPr>
                        <a:t>анай</a:t>
                      </a:r>
                      <a:r>
                        <a:rPr lang="ru-RU" sz="900" kern="1200" dirty="0" smtClean="0">
                          <a:solidFill>
                            <a:schemeClr val="tx1"/>
                          </a:solidFill>
                          <a:effectLst/>
                          <a:latin typeface="+mn-lt"/>
                          <a:ea typeface="+mn-ea"/>
                          <a:cs typeface="+mn-cs"/>
                        </a:rPr>
                        <a:t> </a:t>
                      </a:r>
                      <a:r>
                        <a:rPr lang="uz-Cyrl-UZ" sz="900" b="0" kern="1200" noProof="0" dirty="0" smtClean="0">
                          <a:solidFill>
                            <a:schemeClr val="tx1"/>
                          </a:solidFill>
                          <a:latin typeface="+mn-lt"/>
                          <a:ea typeface="+mn-ea"/>
                          <a:cs typeface="Arial" panose="020B0604020202020204" pitchFamily="34" charset="0"/>
                        </a:rPr>
                        <a:t>1942 йил, </a:t>
                      </a:r>
                      <a:r>
                        <a:rPr lang="uz-Cyrl-UZ" sz="900" kern="1200" dirty="0" smtClean="0">
                          <a:solidFill>
                            <a:schemeClr val="tx1"/>
                          </a:solidFill>
                          <a:effectLst/>
                          <a:latin typeface="+mn-lt"/>
                          <a:ea typeface="+mn-ea"/>
                          <a:cs typeface="+mn-cs"/>
                        </a:rPr>
                        <a:t>Қ</a:t>
                      </a:r>
                      <a:r>
                        <a:rPr lang="ca-ES" sz="900" kern="1200" dirty="0" smtClean="0">
                          <a:solidFill>
                            <a:schemeClr val="tx1"/>
                          </a:solidFill>
                          <a:effectLst/>
                          <a:latin typeface="+mn-lt"/>
                          <a:ea typeface="+mn-ea"/>
                          <a:cs typeface="+mn-cs"/>
                        </a:rPr>
                        <a:t>ора</a:t>
                      </a:r>
                      <a:r>
                        <a:rPr lang="uz-Cyrl-UZ" sz="900" kern="1200" dirty="0" smtClean="0">
                          <a:solidFill>
                            <a:schemeClr val="tx1"/>
                          </a:solidFill>
                          <a:effectLst/>
                          <a:latin typeface="+mn-lt"/>
                          <a:ea typeface="+mn-ea"/>
                          <a:cs typeface="+mn-cs"/>
                        </a:rPr>
                        <a:t>ў</a:t>
                      </a:r>
                      <a:r>
                        <a:rPr lang="ca-ES" sz="900" kern="1200" dirty="0" smtClean="0">
                          <a:solidFill>
                            <a:schemeClr val="tx1"/>
                          </a:solidFill>
                          <a:effectLst/>
                          <a:latin typeface="+mn-lt"/>
                          <a:ea typeface="+mn-ea"/>
                          <a:cs typeface="+mn-cs"/>
                        </a:rPr>
                        <a:t>з</a:t>
                      </a:r>
                      <a:r>
                        <a:rPr lang="ru-RU" sz="900" kern="1200" dirty="0" smtClean="0">
                          <a:solidFill>
                            <a:schemeClr val="tx1"/>
                          </a:solidFill>
                          <a:effectLst/>
                          <a:latin typeface="+mn-lt"/>
                          <a:ea typeface="+mn-ea"/>
                          <a:cs typeface="+mn-cs"/>
                        </a:rPr>
                        <a:t>а</a:t>
                      </a:r>
                      <a:r>
                        <a:rPr lang="ca-ES" sz="900" kern="1200" dirty="0" smtClean="0">
                          <a:solidFill>
                            <a:schemeClr val="tx1"/>
                          </a:solidFill>
                          <a:effectLst/>
                          <a:latin typeface="+mn-lt"/>
                          <a:ea typeface="+mn-ea"/>
                          <a:cs typeface="+mn-cs"/>
                        </a:rPr>
                        <a:t>к</a:t>
                      </a:r>
                      <a:r>
                        <a:rPr lang="uz-Cyrl-UZ" sz="900" kern="1200" dirty="0" smtClean="0">
                          <a:solidFill>
                            <a:schemeClr val="tx1"/>
                          </a:solidFill>
                          <a:effectLst/>
                          <a:latin typeface="+mn-lt"/>
                          <a:ea typeface="+mn-ea"/>
                          <a:cs typeface="+mn-cs"/>
                        </a:rPr>
                        <a:t> тумани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ca-ES" sz="900" kern="1200" dirty="0" smtClean="0">
                          <a:solidFill>
                            <a:schemeClr val="tx1"/>
                          </a:solidFill>
                          <a:effectLst/>
                          <a:latin typeface="+mn-lt"/>
                          <a:ea typeface="+mn-ea"/>
                          <a:cs typeface="+mn-cs"/>
                        </a:rPr>
                        <a:t>Пенсияда (</a:t>
                      </a:r>
                      <a:r>
                        <a:rPr lang="uz-Cyrl-UZ"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ора</a:t>
                      </a:r>
                      <a:r>
                        <a:rPr lang="uz-Cyrl-UZ" sz="900" kern="1200" dirty="0" smtClean="0">
                          <a:solidFill>
                            <a:schemeClr val="tx1"/>
                          </a:solidFill>
                          <a:effectLst/>
                          <a:latin typeface="+mn-lt"/>
                          <a:ea typeface="+mn-ea"/>
                          <a:cs typeface="+mn-cs"/>
                        </a:rPr>
                        <a:t>ў</a:t>
                      </a:r>
                      <a:r>
                        <a:rPr lang="ru-RU" sz="900" kern="1200" dirty="0" err="1" smtClean="0">
                          <a:solidFill>
                            <a:schemeClr val="tx1"/>
                          </a:solidFill>
                          <a:effectLst/>
                          <a:latin typeface="+mn-lt"/>
                          <a:ea typeface="+mn-ea"/>
                          <a:cs typeface="+mn-cs"/>
                        </a:rPr>
                        <a:t>зак</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тумани</a:t>
                      </a:r>
                      <a:r>
                        <a:rPr lang="uz-Cyrl-UZ" sz="900" kern="1200" dirty="0" smtClean="0">
                          <a:solidFill>
                            <a:schemeClr val="tx1"/>
                          </a:solidFill>
                          <a:effectLst/>
                          <a:latin typeface="+mn-lt"/>
                          <a:ea typeface="+mn-ea"/>
                          <a:cs typeface="+mn-cs"/>
                        </a:rPr>
                        <a:t> Қ</a:t>
                      </a:r>
                      <a:r>
                        <a:rPr lang="ru-RU" sz="900" kern="1200" dirty="0" smtClean="0">
                          <a:solidFill>
                            <a:schemeClr val="tx1"/>
                          </a:solidFill>
                          <a:effectLst/>
                          <a:latin typeface="+mn-lt"/>
                          <a:ea typeface="+mn-ea"/>
                          <a:cs typeface="+mn-cs"/>
                        </a:rPr>
                        <a:t>ора</a:t>
                      </a:r>
                      <a:r>
                        <a:rPr lang="uz-Cyrl-UZ" sz="900" kern="1200" dirty="0" smtClean="0">
                          <a:solidFill>
                            <a:schemeClr val="tx1"/>
                          </a:solidFill>
                          <a:effectLst/>
                          <a:latin typeface="+mn-lt"/>
                          <a:ea typeface="+mn-ea"/>
                          <a:cs typeface="+mn-cs"/>
                        </a:rPr>
                        <a:t>ў</a:t>
                      </a:r>
                      <a:r>
                        <a:rPr lang="ru-RU" sz="900" kern="1200" dirty="0" err="1" smtClean="0">
                          <a:solidFill>
                            <a:schemeClr val="tx1"/>
                          </a:solidFill>
                          <a:effectLst/>
                          <a:latin typeface="+mn-lt"/>
                          <a:ea typeface="+mn-ea"/>
                          <a:cs typeface="+mn-cs"/>
                        </a:rPr>
                        <a:t>зак</a:t>
                      </a:r>
                      <a:r>
                        <a:rPr lang="ru-RU" sz="900" kern="1200" dirty="0" smtClean="0">
                          <a:solidFill>
                            <a:schemeClr val="tx1"/>
                          </a:solidFill>
                          <a:effectLst/>
                          <a:latin typeface="+mn-lt"/>
                          <a:ea typeface="+mn-ea"/>
                          <a:cs typeface="+mn-cs"/>
                        </a:rPr>
                        <a:t> х</a:t>
                      </a:r>
                      <a:r>
                        <a:rPr lang="uz-Cyrl-UZ" sz="900" kern="1200" dirty="0" smtClean="0">
                          <a:solidFill>
                            <a:schemeClr val="tx1"/>
                          </a:solidFill>
                          <a:effectLst/>
                          <a:latin typeface="+mn-lt"/>
                          <a:ea typeface="+mn-ea"/>
                          <a:cs typeface="+mn-cs"/>
                        </a:rPr>
                        <a:t>ў</a:t>
                      </a:r>
                      <a:r>
                        <a:rPr lang="ru-RU" sz="900" kern="1200" dirty="0" err="1" smtClean="0">
                          <a:solidFill>
                            <a:schemeClr val="tx1"/>
                          </a:solidFill>
                          <a:effectLst/>
                          <a:latin typeface="+mn-lt"/>
                          <a:ea typeface="+mn-ea"/>
                          <a:cs typeface="+mn-cs"/>
                        </a:rPr>
                        <a:t>жалиги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ичши</a:t>
                      </a:r>
                      <a:r>
                        <a:rPr lang="uz-Cyrl-UZ" sz="900" kern="1200" dirty="0" smtClean="0">
                          <a:solidFill>
                            <a:schemeClr val="tx1"/>
                          </a:solidFill>
                          <a:effectLst/>
                          <a:latin typeface="+mn-lt"/>
                          <a:ea typeface="+mn-ea"/>
                          <a:cs typeface="+mn-cs"/>
                        </a:rPr>
                        <a:t>си</a:t>
                      </a:r>
                      <a:r>
                        <a:rPr lang="ca-ES" sz="900" kern="1200" dirty="0" smtClean="0">
                          <a:solidFill>
                            <a:schemeClr val="tx1"/>
                          </a:solidFill>
                          <a:effectLst/>
                          <a:latin typeface="+mn-lt"/>
                          <a:ea typeface="+mn-ea"/>
                          <a:cs typeface="+mn-cs"/>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40744">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ca-ES" sz="900" kern="1200" dirty="0" smtClean="0">
                          <a:solidFill>
                            <a:schemeClr val="tx1"/>
                          </a:solidFill>
                          <a:effectLst/>
                          <a:latin typeface="+mn-lt"/>
                          <a:ea typeface="+mn-ea"/>
                          <a:cs typeface="+mn-cs"/>
                        </a:rPr>
                        <a:t>Қалимбетова Бийбимарьям Мадреймовна</a:t>
                      </a:r>
                      <a:endParaRPr lang="ru-RU" sz="900" kern="1200" dirty="0" smtClean="0">
                        <a:solidFill>
                          <a:schemeClr val="tx1"/>
                        </a:solidFill>
                        <a:effectLst/>
                        <a:latin typeface="+mn-lt"/>
                        <a:ea typeface="+mn-ea"/>
                        <a:cs typeface="+mn-cs"/>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1963 йил, </a:t>
                      </a:r>
                      <a:r>
                        <a:rPr lang="uz-Cyrl-UZ" sz="900" kern="1200" dirty="0" smtClean="0">
                          <a:solidFill>
                            <a:schemeClr val="tx1"/>
                          </a:solidFill>
                          <a:effectLst/>
                          <a:latin typeface="+mn-lt"/>
                          <a:ea typeface="+mn-ea"/>
                          <a:cs typeface="+mn-cs"/>
                        </a:rPr>
                        <a:t>Қ</a:t>
                      </a:r>
                      <a:r>
                        <a:rPr lang="ca-ES" sz="900" kern="1200" dirty="0" smtClean="0">
                          <a:solidFill>
                            <a:schemeClr val="tx1"/>
                          </a:solidFill>
                          <a:effectLst/>
                          <a:latin typeface="+mn-lt"/>
                          <a:ea typeface="+mn-ea"/>
                          <a:cs typeface="+mn-cs"/>
                        </a:rPr>
                        <a:t>ора</a:t>
                      </a:r>
                      <a:r>
                        <a:rPr lang="uz-Cyrl-UZ" sz="900" kern="1200" dirty="0" smtClean="0">
                          <a:solidFill>
                            <a:schemeClr val="tx1"/>
                          </a:solidFill>
                          <a:effectLst/>
                          <a:latin typeface="+mn-lt"/>
                          <a:ea typeface="+mn-ea"/>
                          <a:cs typeface="+mn-cs"/>
                        </a:rPr>
                        <a:t>ў</a:t>
                      </a:r>
                      <a:r>
                        <a:rPr lang="ca-ES" sz="900" kern="1200" dirty="0" smtClean="0">
                          <a:solidFill>
                            <a:schemeClr val="tx1"/>
                          </a:solidFill>
                          <a:effectLst/>
                          <a:latin typeface="+mn-lt"/>
                          <a:ea typeface="+mn-ea"/>
                          <a:cs typeface="+mn-cs"/>
                        </a:rPr>
                        <a:t>з</a:t>
                      </a:r>
                      <a:r>
                        <a:rPr lang="ru-RU" sz="900" kern="1200" dirty="0" smtClean="0">
                          <a:solidFill>
                            <a:schemeClr val="tx1"/>
                          </a:solidFill>
                          <a:effectLst/>
                          <a:latin typeface="+mn-lt"/>
                          <a:ea typeface="+mn-ea"/>
                          <a:cs typeface="+mn-cs"/>
                        </a:rPr>
                        <a:t>а</a:t>
                      </a:r>
                      <a:r>
                        <a:rPr lang="ca-ES" sz="900" kern="1200" dirty="0" smtClean="0">
                          <a:solidFill>
                            <a:schemeClr val="tx1"/>
                          </a:solidFill>
                          <a:effectLst/>
                          <a:latin typeface="+mn-lt"/>
                          <a:ea typeface="+mn-ea"/>
                          <a:cs typeface="+mn-cs"/>
                        </a:rPr>
                        <a:t>к</a:t>
                      </a:r>
                      <a:r>
                        <a:rPr lang="uz-Cyrl-UZ" sz="900" kern="1200" dirty="0" smtClean="0">
                          <a:solidFill>
                            <a:schemeClr val="tx1"/>
                          </a:solidFill>
                          <a:effectLst/>
                          <a:latin typeface="+mn-lt"/>
                          <a:ea typeface="+mn-ea"/>
                          <a:cs typeface="+mn-cs"/>
                        </a:rPr>
                        <a:t> тумани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Уй бекаси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1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36827">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198</a:t>
                      </a:r>
                      <a:r>
                        <a:rPr lang="ca-ES" sz="900" kern="1200" dirty="0" smtClean="0">
                          <a:solidFill>
                            <a:schemeClr val="tx1"/>
                          </a:solidFill>
                          <a:effectLst/>
                          <a:latin typeface="+mn-lt"/>
                          <a:ea typeface="+mn-ea"/>
                          <a:cs typeface="+mn-cs"/>
                        </a:rPr>
                        <a:t>5</a:t>
                      </a:r>
                      <a:r>
                        <a:rPr lang="ru-RU" sz="900" kern="1200" dirty="0" smtClean="0">
                          <a:solidFill>
                            <a:schemeClr val="tx1"/>
                          </a:solidFill>
                          <a:effectLst/>
                          <a:latin typeface="+mn-lt"/>
                          <a:ea typeface="+mn-ea"/>
                          <a:cs typeface="+mn-cs"/>
                        </a:rPr>
                        <a:t> й</a:t>
                      </a:r>
                      <a:r>
                        <a:rPr lang="uz-Cyrl-UZ" sz="900" kern="1200" dirty="0" smtClean="0">
                          <a:solidFill>
                            <a:schemeClr val="tx1"/>
                          </a:solidFill>
                          <a:effectLst/>
                          <a:latin typeface="+mn-lt"/>
                          <a:ea typeface="+mn-ea"/>
                          <a:cs typeface="+mn-cs"/>
                        </a:rPr>
                        <a:t>.</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Тошкент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давлат</a:t>
                      </a:r>
                      <a:r>
                        <a:rPr lang="ru-RU" sz="900" kern="1200" dirty="0" smtClean="0">
                          <a:solidFill>
                            <a:schemeClr val="tx1"/>
                          </a:solidFill>
                          <a:effectLst/>
                          <a:latin typeface="+mn-lt"/>
                          <a:ea typeface="+mn-ea"/>
                          <a:cs typeface="+mn-cs"/>
                        </a:rPr>
                        <a:t> театр </a:t>
                      </a:r>
                      <a:r>
                        <a:rPr lang="ru-RU" sz="900" kern="1200" dirty="0" err="1" smtClean="0">
                          <a:solidFill>
                            <a:schemeClr val="tx1"/>
                          </a:solidFill>
                          <a:effectLst/>
                          <a:latin typeface="+mn-lt"/>
                          <a:ea typeface="+mn-ea"/>
                          <a:cs typeface="+mn-cs"/>
                        </a:rPr>
                        <a:t>ва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рассомлик</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институти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кундузги</a:t>
                      </a:r>
                      <a:r>
                        <a:rPr lang="ru-RU" sz="900" kern="1200" dirty="0" smtClean="0">
                          <a:solidFill>
                            <a:schemeClr val="tx1"/>
                          </a:solidFill>
                          <a:effectLst/>
                          <a:latin typeface="+mn-lt"/>
                          <a:ea typeface="+mn-ea"/>
                          <a:cs typeface="+mn-cs"/>
                        </a:rPr>
                        <a:t>)</a:t>
                      </a:r>
                      <a:endParaRPr lang="ru-RU" sz="90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9965">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м</a:t>
                      </a:r>
                      <a:r>
                        <a:rPr lang="ca-ES" sz="900" kern="1200" dirty="0" smtClean="0">
                          <a:solidFill>
                            <a:schemeClr val="tx1"/>
                          </a:solidFill>
                          <a:effectLst/>
                          <a:latin typeface="+mn-lt"/>
                          <a:ea typeface="+mn-ea"/>
                          <a:cs typeface="+mn-cs"/>
                        </a:rPr>
                        <a:t>усиқали театр </a:t>
                      </a:r>
                      <a:r>
                        <a:rPr lang="ru-RU" sz="900" kern="1200" dirty="0" err="1" smtClean="0">
                          <a:solidFill>
                            <a:schemeClr val="tx1"/>
                          </a:solidFill>
                          <a:effectLst/>
                          <a:latin typeface="+mn-lt"/>
                          <a:ea typeface="+mn-ea"/>
                          <a:cs typeface="+mn-cs"/>
                        </a:rPr>
                        <a:t>актери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9570">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профессор</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9570">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78793">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796136540"/>
              </p:ext>
            </p:extLst>
          </p:nvPr>
        </p:nvGraphicFramePr>
        <p:xfrm>
          <a:off x="3674526" y="865689"/>
          <a:ext cx="3172841" cy="5907794"/>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5845">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20295">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ru-RU" sz="900" kern="1200" dirty="0" smtClean="0">
                          <a:solidFill>
                            <a:schemeClr val="tx1"/>
                          </a:solidFill>
                          <a:effectLst/>
                          <a:latin typeface="+mn-lt"/>
                          <a:ea typeface="+mn-ea"/>
                          <a:cs typeface="+mn-cs"/>
                        </a:rPr>
                        <a:t>1985 </a:t>
                      </a:r>
                      <a:r>
                        <a:rPr lang="ru-RU" sz="900" kern="1200" dirty="0" err="1" smtClean="0">
                          <a:solidFill>
                            <a:schemeClr val="tx1"/>
                          </a:solidFill>
                          <a:effectLst/>
                          <a:latin typeface="+mn-lt"/>
                          <a:ea typeface="+mn-ea"/>
                          <a:cs typeface="+mn-cs"/>
                        </a:rPr>
                        <a:t>йилдан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буён</a:t>
                      </a:r>
                      <a:r>
                        <a:rPr lang="ru-RU" sz="900" kern="1200" dirty="0" smtClean="0">
                          <a:solidFill>
                            <a:schemeClr val="tx1"/>
                          </a:solidFill>
                          <a:effectLst/>
                          <a:latin typeface="+mn-lt"/>
                          <a:ea typeface="+mn-ea"/>
                          <a:cs typeface="+mn-cs"/>
                        </a:rPr>
                        <a:t>:</a:t>
                      </a:r>
                      <a:r>
                        <a:rPr lang="ru-RU" sz="900" kern="1200" baseline="0" dirty="0" smtClean="0">
                          <a:solidFill>
                            <a:schemeClr val="tx1"/>
                          </a:solidFill>
                          <a:effectLst/>
                          <a:latin typeface="+mn-lt"/>
                          <a:ea typeface="+mn-ea"/>
                          <a:cs typeface="+mn-cs"/>
                        </a:rPr>
                        <a:t> </a:t>
                      </a:r>
                      <a:r>
                        <a:rPr lang="ru-RU" sz="900" kern="1200" dirty="0" smtClean="0">
                          <a:solidFill>
                            <a:schemeClr val="tx1"/>
                          </a:solidFill>
                          <a:effectLst/>
                          <a:latin typeface="+mn-lt"/>
                          <a:ea typeface="+mn-ea"/>
                          <a:cs typeface="+mn-cs"/>
                        </a:rPr>
                        <a:t>Берда</a:t>
                      </a:r>
                      <a:r>
                        <a:rPr lang="uz-Cyrl-UZ" sz="900" kern="1200" dirty="0" smtClean="0">
                          <a:solidFill>
                            <a:schemeClr val="tx1"/>
                          </a:solidFill>
                          <a:effectLst/>
                          <a:latin typeface="+mn-lt"/>
                          <a:ea typeface="+mn-ea"/>
                          <a:cs typeface="+mn-cs"/>
                        </a:rPr>
                        <a:t>қ номидаги Қорақалпоқ давлат мусиқали</a:t>
                      </a:r>
                      <a:r>
                        <a:rPr lang="ru-RU" sz="900" kern="1200" dirty="0" smtClean="0">
                          <a:solidFill>
                            <a:schemeClr val="tx1"/>
                          </a:solidFill>
                          <a:effectLst/>
                          <a:latin typeface="+mn-lt"/>
                          <a:ea typeface="+mn-ea"/>
                          <a:cs typeface="+mn-cs"/>
                        </a:rPr>
                        <a:t> театр</a:t>
                      </a:r>
                      <a:r>
                        <a:rPr lang="uz-Cyrl-UZ" sz="900" kern="1200" dirty="0" smtClean="0">
                          <a:solidFill>
                            <a:schemeClr val="tx1"/>
                          </a:solidFill>
                          <a:effectLst/>
                          <a:latin typeface="+mn-lt"/>
                          <a:ea typeface="+mn-ea"/>
                          <a:cs typeface="+mn-cs"/>
                        </a:rPr>
                        <a:t>и </a:t>
                      </a:r>
                      <a:r>
                        <a:rPr lang="uz-Cyrl-UZ" sz="900" b="0" kern="1200" noProof="0" dirty="0" smtClean="0">
                          <a:solidFill>
                            <a:schemeClr val="tx1"/>
                          </a:solidFill>
                          <a:latin typeface="+mn-lt"/>
                          <a:ea typeface="+mn-ea"/>
                          <a:cs typeface="+mn-cs"/>
                        </a:rPr>
                        <a:t>Вокал артисти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0600">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572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38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091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424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ru-RU" sz="900" kern="1200" dirty="0" smtClean="0">
                          <a:solidFill>
                            <a:schemeClr val="tx1"/>
                          </a:solidFill>
                          <a:effectLst/>
                          <a:latin typeface="+mn-lt"/>
                          <a:ea typeface="+mn-ea"/>
                          <a:cs typeface="+mn-cs"/>
                        </a:rPr>
                        <a:t>2</a:t>
                      </a:r>
                      <a:r>
                        <a:rPr lang="ca-ES" sz="900" kern="1200" dirty="0" smtClean="0">
                          <a:solidFill>
                            <a:schemeClr val="tx1"/>
                          </a:solidFill>
                          <a:effectLst/>
                          <a:latin typeface="+mn-lt"/>
                          <a:ea typeface="+mn-ea"/>
                          <a:cs typeface="+mn-cs"/>
                        </a:rPr>
                        <a:t>008-2013 йй</a:t>
                      </a:r>
                      <a:r>
                        <a:rPr lang="uz-Cyrl-UZ" sz="900" kern="1200" dirty="0" smtClean="0">
                          <a:solidFill>
                            <a:schemeClr val="tx1"/>
                          </a:solidFill>
                          <a:effectLst/>
                          <a:latin typeface="+mn-lt"/>
                          <a:ea typeface="+mn-ea"/>
                          <a:cs typeface="+mn-cs"/>
                        </a:rPr>
                        <a:t>. - Ў</a:t>
                      </a:r>
                      <a:r>
                        <a:rPr lang="ca-ES" sz="900" kern="1200" dirty="0" smtClean="0">
                          <a:solidFill>
                            <a:schemeClr val="tx1"/>
                          </a:solidFill>
                          <a:effectLst/>
                          <a:latin typeface="+mn-lt"/>
                          <a:ea typeface="+mn-ea"/>
                          <a:cs typeface="+mn-cs"/>
                        </a:rPr>
                        <a:t>збекистон давлат саньат ва маданият институти Нукус филиали дире</a:t>
                      </a:r>
                      <a:r>
                        <a:rPr lang="ru-RU" sz="900" kern="1200" dirty="0" err="1" smtClean="0">
                          <a:solidFill>
                            <a:schemeClr val="tx1"/>
                          </a:solidFill>
                          <a:effectLst/>
                          <a:latin typeface="+mn-lt"/>
                          <a:ea typeface="+mn-ea"/>
                          <a:cs typeface="+mn-cs"/>
                        </a:rPr>
                        <a:t>ктори</a:t>
                      </a: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6551">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655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2024 й. “2-сонли стоционар” шифохонасида даволанган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468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2024 й</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4368">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2431">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85238">
                <a:tc gridSpan="2">
                  <a:txBody>
                    <a:bodyPr/>
                    <a:lstStyle/>
                    <a:p>
                      <a:r>
                        <a:rPr lang="uz-Cyrl-UZ" sz="900" kern="1200" dirty="0" smtClean="0">
                          <a:solidFill>
                            <a:schemeClr val="tx1"/>
                          </a:solidFill>
                          <a:effectLst/>
                          <a:latin typeface="+mn-lt"/>
                          <a:ea typeface="+mn-ea"/>
                          <a:cs typeface="+mn-cs"/>
                        </a:rPr>
                        <a:t>1997 й. “Ў</a:t>
                      </a:r>
                      <a:r>
                        <a:rPr lang="ru-RU" sz="900" kern="1200" dirty="0" err="1" smtClean="0">
                          <a:solidFill>
                            <a:schemeClr val="tx1"/>
                          </a:solidFill>
                          <a:effectLst/>
                          <a:latin typeface="+mn-lt"/>
                          <a:ea typeface="+mn-ea"/>
                          <a:cs typeface="+mn-cs"/>
                        </a:rPr>
                        <a:t>збекистон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Республикасида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хизмат</a:t>
                      </a:r>
                      <a:r>
                        <a:rPr lang="ru-RU" sz="900" kern="1200" dirty="0" smtClean="0">
                          <a:solidFill>
                            <a:schemeClr val="tx1"/>
                          </a:solidFill>
                          <a:effectLst/>
                          <a:latin typeface="+mn-lt"/>
                          <a:ea typeface="+mn-ea"/>
                          <a:cs typeface="+mn-cs"/>
                        </a:rPr>
                        <a:t> к</a:t>
                      </a:r>
                      <a:r>
                        <a:rPr lang="uz-Cyrl-UZ" sz="900" kern="1200" dirty="0" smtClean="0">
                          <a:solidFill>
                            <a:schemeClr val="tx1"/>
                          </a:solidFill>
                          <a:effectLst/>
                          <a:latin typeface="+mn-lt"/>
                          <a:ea typeface="+mn-ea"/>
                          <a:cs typeface="+mn-cs"/>
                        </a:rPr>
                        <a:t>ў</a:t>
                      </a:r>
                      <a:r>
                        <a:rPr lang="ru-RU" sz="900" kern="1200" dirty="0" err="1" smtClean="0">
                          <a:solidFill>
                            <a:schemeClr val="tx1"/>
                          </a:solidFill>
                          <a:effectLst/>
                          <a:latin typeface="+mn-lt"/>
                          <a:ea typeface="+mn-ea"/>
                          <a:cs typeface="+mn-cs"/>
                        </a:rPr>
                        <a:t>рсатган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артисти</a:t>
                      </a:r>
                      <a:r>
                        <a:rPr lang="uz-Cyrl-UZ" sz="900" kern="1200" dirty="0" smtClean="0">
                          <a:solidFill>
                            <a:schemeClr val="tx1"/>
                          </a:solidFill>
                          <a:effectLst/>
                          <a:latin typeface="+mn-lt"/>
                          <a:ea typeface="+mn-ea"/>
                          <a:cs typeface="+mn-cs"/>
                        </a:rPr>
                        <a:t>” </a:t>
                      </a:r>
                      <a:endParaRPr lang="ru-RU" sz="900" kern="1200" dirty="0" smtClean="0">
                        <a:solidFill>
                          <a:schemeClr val="tx1"/>
                        </a:solidFill>
                        <a:effectLst/>
                        <a:latin typeface="+mn-lt"/>
                        <a:ea typeface="+mn-ea"/>
                        <a:cs typeface="+mn-cs"/>
                      </a:endParaRPr>
                    </a:p>
                    <a:p>
                      <a:r>
                        <a:rPr lang="ru-RU" sz="900" kern="1200" dirty="0" smtClean="0">
                          <a:solidFill>
                            <a:schemeClr val="tx1"/>
                          </a:solidFill>
                          <a:effectLst/>
                          <a:latin typeface="+mn-lt"/>
                          <a:ea typeface="+mn-ea"/>
                          <a:cs typeface="+mn-cs"/>
                        </a:rPr>
                        <a:t>2000 й. </a:t>
                      </a:r>
                      <a:r>
                        <a:rPr lang="uz-Cyrl-UZ" sz="900" kern="1200" dirty="0" smtClean="0">
                          <a:solidFill>
                            <a:schemeClr val="tx1"/>
                          </a:solidFill>
                          <a:effectLst/>
                          <a:latin typeface="+mn-lt"/>
                          <a:ea typeface="+mn-ea"/>
                          <a:cs typeface="+mn-cs"/>
                        </a:rPr>
                        <a:t>“</a:t>
                      </a:r>
                      <a:r>
                        <a:rPr lang="ca-ES" sz="900" kern="1200" dirty="0" smtClean="0">
                          <a:solidFill>
                            <a:schemeClr val="tx1"/>
                          </a:solidFill>
                          <a:effectLst/>
                          <a:latin typeface="+mn-lt"/>
                          <a:ea typeface="+mn-ea"/>
                          <a:cs typeface="+mn-cs"/>
                        </a:rPr>
                        <a:t>Қорақалпоғистон Республикаси </a:t>
                      </a:r>
                      <a:r>
                        <a:rPr lang="uz-Cyrl-UZ" sz="900" kern="1200" dirty="0" smtClean="0">
                          <a:solidFill>
                            <a:schemeClr val="tx1"/>
                          </a:solidFill>
                          <a:effectLst/>
                          <a:latin typeface="+mn-lt"/>
                          <a:ea typeface="+mn-ea"/>
                          <a:cs typeface="+mn-cs"/>
                        </a:rPr>
                        <a:t>х</a:t>
                      </a:r>
                      <a:r>
                        <a:rPr lang="ca-ES" sz="900" kern="1200" dirty="0" smtClean="0">
                          <a:solidFill>
                            <a:schemeClr val="tx1"/>
                          </a:solidFill>
                          <a:effectLst/>
                          <a:latin typeface="+mn-lt"/>
                          <a:ea typeface="+mn-ea"/>
                          <a:cs typeface="+mn-cs"/>
                        </a:rPr>
                        <a:t>алқ артисти</a:t>
                      </a:r>
                      <a:r>
                        <a:rPr lang="uz-Cyrl-UZ" sz="900" kern="1200" dirty="0" smtClean="0">
                          <a:solidFill>
                            <a:schemeClr val="tx1"/>
                          </a:solidFill>
                          <a:effectLst/>
                          <a:latin typeface="+mn-lt"/>
                          <a:ea typeface="+mn-ea"/>
                          <a:cs typeface="+mn-cs"/>
                        </a:rPr>
                        <a:t>”</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2021 й.“Ўзбекистон Республикаси мустақиллигининг 30 йиллиги” эсдалик нишони</a:t>
                      </a:r>
                      <a:endParaRPr lang="ru-RU" sz="900" kern="1200" dirty="0" smtClean="0">
                        <a:solidFill>
                          <a:schemeClr val="tx1"/>
                        </a:solidFill>
                        <a:effectLst/>
                        <a:latin typeface="+mn-lt"/>
                        <a:ea typeface="+mn-ea"/>
                        <a:cs typeface="+mn-cs"/>
                      </a:endParaRPr>
                    </a:p>
                    <a:p>
                      <a:r>
                        <a:rPr lang="ru-RU" sz="900" kern="1200" dirty="0" smtClean="0">
                          <a:solidFill>
                            <a:schemeClr val="tx1"/>
                          </a:solidFill>
                          <a:effectLst/>
                          <a:latin typeface="+mn-lt"/>
                          <a:ea typeface="+mn-ea"/>
                          <a:cs typeface="+mn-cs"/>
                        </a:rPr>
                        <a:t>2023 й.</a:t>
                      </a:r>
                      <a:r>
                        <a:rPr lang="uz-Latn-UZ" sz="900" kern="1200" dirty="0" smtClean="0">
                          <a:solidFill>
                            <a:schemeClr val="tx1"/>
                          </a:solidFill>
                          <a:effectLst/>
                          <a:latin typeface="+mn-lt"/>
                          <a:ea typeface="+mn-ea"/>
                          <a:cs typeface="+mn-cs"/>
                        </a:rPr>
                        <a:t>“</a:t>
                      </a:r>
                      <a:r>
                        <a:rPr lang="ru-RU" sz="900" kern="1200" dirty="0" err="1" smtClean="0">
                          <a:solidFill>
                            <a:schemeClr val="tx1"/>
                          </a:solidFill>
                          <a:effectLst/>
                          <a:latin typeface="+mn-lt"/>
                          <a:ea typeface="+mn-ea"/>
                          <a:cs typeface="+mn-cs"/>
                        </a:rPr>
                        <a:t>Маданият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санъат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фидокори</a:t>
                      </a:r>
                      <a:r>
                        <a:rPr lang="uz-Latn-UZ" sz="900" kern="1200" dirty="0" smtClean="0">
                          <a:solidFill>
                            <a:schemeClr val="tx1"/>
                          </a:solidFill>
                          <a:effectLst/>
                          <a:latin typeface="+mn-lt"/>
                          <a:ea typeface="+mn-ea"/>
                          <a:cs typeface="+mn-cs"/>
                        </a:rPr>
                        <a:t>”</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кўкрак</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нишони</a:t>
                      </a:r>
                      <a:endParaRPr lang="ru-RU" sz="900" kern="1200" dirty="0" smtClean="0">
                        <a:solidFill>
                          <a:schemeClr val="tx1"/>
                        </a:solidFill>
                        <a:effectLst/>
                        <a:latin typeface="+mn-lt"/>
                        <a:ea typeface="+mn-ea"/>
                        <a:cs typeface="+mn-cs"/>
                      </a:endParaRPr>
                    </a:p>
                    <a:p>
                      <a:r>
                        <a:rPr lang="ru-RU" sz="900" kern="1200" dirty="0" smtClean="0">
                          <a:solidFill>
                            <a:schemeClr val="tx1"/>
                          </a:solidFill>
                          <a:effectLst/>
                          <a:latin typeface="+mn-lt"/>
                          <a:ea typeface="+mn-ea"/>
                          <a:cs typeface="+mn-cs"/>
                        </a:rPr>
                        <a:t>2025 й.</a:t>
                      </a:r>
                      <a:r>
                        <a:rPr lang="uz-Latn-UZ" sz="900" kern="1200" dirty="0" smtClean="0">
                          <a:solidFill>
                            <a:schemeClr val="tx1"/>
                          </a:solidFill>
                          <a:effectLst/>
                          <a:latin typeface="+mn-lt"/>
                          <a:ea typeface="+mn-ea"/>
                          <a:cs typeface="+mn-cs"/>
                        </a:rPr>
                        <a:t>“</a:t>
                      </a:r>
                      <a:r>
                        <a:rPr lang="ru-RU" sz="900" kern="1200" dirty="0" smtClean="0">
                          <a:solidFill>
                            <a:schemeClr val="tx1"/>
                          </a:solidFill>
                          <a:effectLst/>
                          <a:latin typeface="+mn-lt"/>
                          <a:ea typeface="+mn-ea"/>
                          <a:cs typeface="+mn-cs"/>
                        </a:rPr>
                        <a:t>Кинематография </a:t>
                      </a:r>
                      <a:r>
                        <a:rPr lang="ru-RU" sz="900" kern="1200" dirty="0" err="1" smtClean="0">
                          <a:solidFill>
                            <a:schemeClr val="tx1"/>
                          </a:solidFill>
                          <a:effectLst/>
                          <a:latin typeface="+mn-lt"/>
                          <a:ea typeface="+mn-ea"/>
                          <a:cs typeface="+mn-cs"/>
                        </a:rPr>
                        <a:t>фидокори</a:t>
                      </a:r>
                      <a:r>
                        <a:rPr lang="uz-Latn-UZ" sz="900" kern="1200" dirty="0" smtClean="0">
                          <a:solidFill>
                            <a:schemeClr val="tx1"/>
                          </a:solidFill>
                          <a:effectLst/>
                          <a:latin typeface="+mn-lt"/>
                          <a:ea typeface="+mn-ea"/>
                          <a:cs typeface="+mn-cs"/>
                        </a:rPr>
                        <a:t>”</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кўкрак</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нишони</a:t>
                      </a:r>
                      <a:endParaRPr lang="ru-RU" sz="900" kern="1200" dirty="0" smtClean="0">
                        <a:solidFill>
                          <a:schemeClr val="tx1"/>
                        </a:solidFill>
                        <a:effectLst/>
                        <a:latin typeface="+mn-lt"/>
                        <a:ea typeface="+mn-ea"/>
                        <a:cs typeface="+mn-cs"/>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730460997"/>
              </p:ext>
            </p:extLst>
          </p:nvPr>
        </p:nvGraphicFramePr>
        <p:xfrm>
          <a:off x="6949857" y="869285"/>
          <a:ext cx="2817247" cy="5883852"/>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4728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882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68275">
                <a:tc>
                  <a:txBody>
                    <a:bodyPr/>
                    <a:lstStyle/>
                    <a:p>
                      <a:pPr marL="0" indent="179388" algn="just"/>
                      <a:r>
                        <a:rPr lang="uz-Cyrl-UZ" sz="900" kern="1200" dirty="0" smtClean="0">
                          <a:solidFill>
                            <a:schemeClr val="tx1"/>
                          </a:solidFill>
                          <a:effectLst/>
                          <a:latin typeface="+mn-lt"/>
                          <a:ea typeface="+mn-ea"/>
                          <a:cs typeface="+mn-cs"/>
                        </a:rPr>
                        <a:t>У театрда ижро этган ролларидан </a:t>
                      </a:r>
                      <a:r>
                        <a:rPr lang="uz-Cyrl-UZ" sz="900" b="1" kern="1200" dirty="0" smtClean="0">
                          <a:solidFill>
                            <a:schemeClr val="tx1"/>
                          </a:solidFill>
                          <a:effectLst/>
                          <a:latin typeface="+mn-lt"/>
                          <a:ea typeface="+mn-ea"/>
                          <a:cs typeface="+mn-cs"/>
                        </a:rPr>
                        <a:t>«Майсаранинг найранглари» </a:t>
                      </a:r>
                      <a:r>
                        <a:rPr lang="uz-Cyrl-UZ" sz="900" kern="1200" dirty="0" smtClean="0">
                          <a:solidFill>
                            <a:schemeClr val="tx1"/>
                          </a:solidFill>
                          <a:effectLst/>
                          <a:latin typeface="+mn-lt"/>
                          <a:ea typeface="+mn-ea"/>
                          <a:cs typeface="+mn-cs"/>
                        </a:rPr>
                        <a:t>операсида Мўлла Дўст, </a:t>
                      </a:r>
                      <a:r>
                        <a:rPr lang="uz-Cyrl-UZ" sz="900" b="1" kern="1200" dirty="0" smtClean="0">
                          <a:solidFill>
                            <a:schemeClr val="tx1"/>
                          </a:solidFill>
                          <a:effectLst/>
                          <a:latin typeface="+mn-lt"/>
                          <a:ea typeface="+mn-ea"/>
                          <a:cs typeface="+mn-cs"/>
                        </a:rPr>
                        <a:t>«Ўжарлар»</a:t>
                      </a:r>
                      <a:r>
                        <a:rPr lang="uz-Cyrl-UZ" sz="900" kern="1200" dirty="0" smtClean="0">
                          <a:solidFill>
                            <a:schemeClr val="tx1"/>
                          </a:solidFill>
                          <a:effectLst/>
                          <a:latin typeface="+mn-lt"/>
                          <a:ea typeface="+mn-ea"/>
                          <a:cs typeface="+mn-cs"/>
                        </a:rPr>
                        <a:t>да Айтжан, </a:t>
                      </a:r>
                      <a:r>
                        <a:rPr lang="uz-Cyrl-UZ" sz="900" b="1" kern="1200" dirty="0" smtClean="0">
                          <a:solidFill>
                            <a:schemeClr val="tx1"/>
                          </a:solidFill>
                          <a:effectLst/>
                          <a:latin typeface="+mn-lt"/>
                          <a:ea typeface="+mn-ea"/>
                          <a:cs typeface="+mn-cs"/>
                        </a:rPr>
                        <a:t>«Қиёнат»</a:t>
                      </a:r>
                      <a:r>
                        <a:rPr lang="uz-Cyrl-UZ" sz="900" kern="1200" dirty="0" smtClean="0">
                          <a:solidFill>
                            <a:schemeClr val="tx1"/>
                          </a:solidFill>
                          <a:effectLst/>
                          <a:latin typeface="+mn-lt"/>
                          <a:ea typeface="+mn-ea"/>
                          <a:cs typeface="+mn-cs"/>
                        </a:rPr>
                        <a:t>да қаровул, </a:t>
                      </a:r>
                      <a:r>
                        <a:rPr lang="uz-Cyrl-UZ" sz="900" b="1" kern="1200" dirty="0" smtClean="0">
                          <a:solidFill>
                            <a:schemeClr val="tx1"/>
                          </a:solidFill>
                          <a:effectLst/>
                          <a:latin typeface="+mn-lt"/>
                          <a:ea typeface="+mn-ea"/>
                          <a:cs typeface="+mn-cs"/>
                        </a:rPr>
                        <a:t>«Балкондаги назалим»</a:t>
                      </a:r>
                      <a:r>
                        <a:rPr lang="uz-Cyrl-UZ" sz="900" kern="1200" dirty="0" smtClean="0">
                          <a:solidFill>
                            <a:schemeClr val="tx1"/>
                          </a:solidFill>
                          <a:effectLst/>
                          <a:latin typeface="+mn-lt"/>
                          <a:ea typeface="+mn-ea"/>
                          <a:cs typeface="+mn-cs"/>
                        </a:rPr>
                        <a:t>да Аттилио, </a:t>
                      </a:r>
                      <a:r>
                        <a:rPr lang="uz-Cyrl-UZ" sz="900" b="1" kern="1200" dirty="0" smtClean="0">
                          <a:solidFill>
                            <a:schemeClr val="tx1"/>
                          </a:solidFill>
                          <a:effectLst/>
                          <a:latin typeface="+mn-lt"/>
                          <a:ea typeface="+mn-ea"/>
                          <a:cs typeface="+mn-cs"/>
                        </a:rPr>
                        <a:t>«Хўжа Насратдин ўлмайди»</a:t>
                      </a:r>
                      <a:r>
                        <a:rPr lang="uz-Cyrl-UZ" sz="900" kern="1200" dirty="0" smtClean="0">
                          <a:solidFill>
                            <a:schemeClr val="tx1"/>
                          </a:solidFill>
                          <a:effectLst/>
                          <a:latin typeface="+mn-lt"/>
                          <a:ea typeface="+mn-ea"/>
                          <a:cs typeface="+mn-cs"/>
                        </a:rPr>
                        <a:t>да Хўжа Насратдин, </a:t>
                      </a:r>
                      <a:r>
                        <a:rPr lang="uz-Cyrl-UZ" sz="900" b="1" kern="1200" dirty="0" smtClean="0">
                          <a:solidFill>
                            <a:schemeClr val="tx1"/>
                          </a:solidFill>
                          <a:effectLst/>
                          <a:latin typeface="+mn-lt"/>
                          <a:ea typeface="+mn-ea"/>
                          <a:cs typeface="+mn-cs"/>
                        </a:rPr>
                        <a:t>«Ханума»</a:t>
                      </a:r>
                      <a:r>
                        <a:rPr lang="uz-Cyrl-UZ" sz="900" kern="1200" dirty="0" smtClean="0">
                          <a:solidFill>
                            <a:schemeClr val="tx1"/>
                          </a:solidFill>
                          <a:effectLst/>
                          <a:latin typeface="+mn-lt"/>
                          <a:ea typeface="+mn-ea"/>
                          <a:cs typeface="+mn-cs"/>
                        </a:rPr>
                        <a:t>да Котэ,  </a:t>
                      </a:r>
                      <a:r>
                        <a:rPr lang="uz-Cyrl-UZ" sz="900" b="1" kern="1200" dirty="0" smtClean="0">
                          <a:solidFill>
                            <a:schemeClr val="tx1"/>
                          </a:solidFill>
                          <a:effectLst/>
                          <a:latin typeface="+mn-lt"/>
                          <a:ea typeface="+mn-ea"/>
                          <a:cs typeface="+mn-cs"/>
                        </a:rPr>
                        <a:t>«Ўмирбек ва Тозча»</a:t>
                      </a:r>
                      <a:r>
                        <a:rPr lang="uz-Cyrl-UZ" sz="900" kern="1200" dirty="0" smtClean="0">
                          <a:solidFill>
                            <a:schemeClr val="tx1"/>
                          </a:solidFill>
                          <a:effectLst/>
                          <a:latin typeface="+mn-lt"/>
                          <a:ea typeface="+mn-ea"/>
                          <a:cs typeface="+mn-cs"/>
                        </a:rPr>
                        <a:t>да Умирбек,  </a:t>
                      </a:r>
                      <a:r>
                        <a:rPr lang="uz-Cyrl-UZ" sz="900" b="1" kern="1200" dirty="0" smtClean="0">
                          <a:solidFill>
                            <a:schemeClr val="tx1"/>
                          </a:solidFill>
                          <a:effectLst/>
                          <a:latin typeface="+mn-lt"/>
                          <a:ea typeface="+mn-ea"/>
                          <a:cs typeface="+mn-cs"/>
                        </a:rPr>
                        <a:t>«Ғариб очиқ</a:t>
                      </a:r>
                      <a:r>
                        <a:rPr lang="uz-Cyrl-UZ" sz="900" kern="1200" dirty="0" smtClean="0">
                          <a:solidFill>
                            <a:schemeClr val="tx1"/>
                          </a:solidFill>
                          <a:effectLst/>
                          <a:latin typeface="+mn-lt"/>
                          <a:ea typeface="+mn-ea"/>
                          <a:cs typeface="+mn-cs"/>
                        </a:rPr>
                        <a:t>»да Ғариб, </a:t>
                      </a:r>
                      <a:r>
                        <a:rPr lang="uz-Cyrl-UZ" sz="900" b="1" kern="1200" dirty="0" smtClean="0">
                          <a:solidFill>
                            <a:schemeClr val="tx1"/>
                          </a:solidFill>
                          <a:effectLst/>
                          <a:latin typeface="+mn-lt"/>
                          <a:ea typeface="+mn-ea"/>
                          <a:cs typeface="+mn-cs"/>
                        </a:rPr>
                        <a:t>«Адолатга қиёнат»</a:t>
                      </a:r>
                      <a:r>
                        <a:rPr lang="uz-Cyrl-UZ" sz="900" kern="1200" dirty="0" smtClean="0">
                          <a:solidFill>
                            <a:schemeClr val="tx1"/>
                          </a:solidFill>
                          <a:effectLst/>
                          <a:latin typeface="+mn-lt"/>
                          <a:ea typeface="+mn-ea"/>
                          <a:cs typeface="+mn-cs"/>
                        </a:rPr>
                        <a:t>да Хан, </a:t>
                      </a:r>
                      <a:r>
                        <a:rPr lang="uz-Cyrl-UZ" sz="900" b="1" kern="1200" dirty="0" smtClean="0">
                          <a:solidFill>
                            <a:schemeClr val="tx1"/>
                          </a:solidFill>
                          <a:effectLst/>
                          <a:latin typeface="+mn-lt"/>
                          <a:ea typeface="+mn-ea"/>
                          <a:cs typeface="+mn-cs"/>
                        </a:rPr>
                        <a:t>«Афандининг беш қотини»</a:t>
                      </a:r>
                      <a:r>
                        <a:rPr lang="uz-Cyrl-UZ" sz="900" kern="1200" dirty="0" smtClean="0">
                          <a:solidFill>
                            <a:schemeClr val="tx1"/>
                          </a:solidFill>
                          <a:effectLst/>
                          <a:latin typeface="+mn-lt"/>
                          <a:ea typeface="+mn-ea"/>
                          <a:cs typeface="+mn-cs"/>
                        </a:rPr>
                        <a:t>да Акбар, </a:t>
                      </a:r>
                      <a:r>
                        <a:rPr lang="uz-Cyrl-UZ" sz="900" b="1" kern="1200" dirty="0" smtClean="0">
                          <a:solidFill>
                            <a:schemeClr val="tx1"/>
                          </a:solidFill>
                          <a:effectLst/>
                          <a:latin typeface="+mn-lt"/>
                          <a:ea typeface="+mn-ea"/>
                          <a:cs typeface="+mn-cs"/>
                        </a:rPr>
                        <a:t>“Алпомиш”</a:t>
                      </a:r>
                      <a:r>
                        <a:rPr lang="uz-Cyrl-UZ" sz="900" kern="1200" dirty="0" smtClean="0">
                          <a:solidFill>
                            <a:schemeClr val="tx1"/>
                          </a:solidFill>
                          <a:effectLst/>
                          <a:latin typeface="+mn-lt"/>
                          <a:ea typeface="+mn-ea"/>
                          <a:cs typeface="+mn-cs"/>
                        </a:rPr>
                        <a:t>да Кўкаман, </a:t>
                      </a:r>
                      <a:r>
                        <a:rPr lang="uz-Cyrl-UZ" sz="900" b="1" kern="1200" dirty="0" smtClean="0">
                          <a:solidFill>
                            <a:schemeClr val="tx1"/>
                          </a:solidFill>
                          <a:effectLst/>
                          <a:latin typeface="+mn-lt"/>
                          <a:ea typeface="+mn-ea"/>
                          <a:cs typeface="+mn-cs"/>
                        </a:rPr>
                        <a:t>“Ажиниёз”</a:t>
                      </a:r>
                      <a:r>
                        <a:rPr lang="uz-Cyrl-UZ" sz="900" kern="1200" dirty="0" smtClean="0">
                          <a:solidFill>
                            <a:schemeClr val="tx1"/>
                          </a:solidFill>
                          <a:effectLst/>
                          <a:latin typeface="+mn-lt"/>
                          <a:ea typeface="+mn-ea"/>
                          <a:cs typeface="+mn-cs"/>
                        </a:rPr>
                        <a:t> операсида Улама, </a:t>
                      </a:r>
                      <a:r>
                        <a:rPr lang="uz-Cyrl-UZ" sz="900" b="1" kern="1200" dirty="0" smtClean="0">
                          <a:solidFill>
                            <a:schemeClr val="tx1"/>
                          </a:solidFill>
                          <a:effectLst/>
                          <a:latin typeface="+mn-lt"/>
                          <a:ea typeface="+mn-ea"/>
                          <a:cs typeface="+mn-cs"/>
                        </a:rPr>
                        <a:t>“Уч буйдоқ”</a:t>
                      </a:r>
                      <a:r>
                        <a:rPr lang="uz-Cyrl-UZ" sz="900" kern="1200" dirty="0" smtClean="0">
                          <a:solidFill>
                            <a:schemeClr val="tx1"/>
                          </a:solidFill>
                          <a:effectLst/>
                          <a:latin typeface="+mn-lt"/>
                          <a:ea typeface="+mn-ea"/>
                          <a:cs typeface="+mn-cs"/>
                        </a:rPr>
                        <a:t>да Ҳасен, </a:t>
                      </a:r>
                      <a:r>
                        <a:rPr lang="uz-Cyrl-UZ" sz="900" b="1" kern="1200" dirty="0" smtClean="0">
                          <a:solidFill>
                            <a:schemeClr val="tx1"/>
                          </a:solidFill>
                          <a:effectLst/>
                          <a:latin typeface="+mn-lt"/>
                          <a:ea typeface="+mn-ea"/>
                          <a:cs typeface="+mn-cs"/>
                        </a:rPr>
                        <a:t>“Пошша”</a:t>
                      </a:r>
                      <a:r>
                        <a:rPr lang="uz-Cyrl-UZ" sz="900" kern="1200" dirty="0" smtClean="0">
                          <a:solidFill>
                            <a:schemeClr val="tx1"/>
                          </a:solidFill>
                          <a:effectLst/>
                          <a:latin typeface="+mn-lt"/>
                          <a:ea typeface="+mn-ea"/>
                          <a:cs typeface="+mn-cs"/>
                        </a:rPr>
                        <a:t>да Омирбай, </a:t>
                      </a:r>
                      <a:r>
                        <a:rPr lang="uz-Cyrl-UZ" sz="900" b="1" kern="1200" dirty="0" smtClean="0">
                          <a:solidFill>
                            <a:schemeClr val="tx1"/>
                          </a:solidFill>
                          <a:effectLst/>
                          <a:latin typeface="+mn-lt"/>
                          <a:ea typeface="+mn-ea"/>
                          <a:cs typeface="+mn-cs"/>
                        </a:rPr>
                        <a:t>“Танҳо юлдуз”</a:t>
                      </a:r>
                      <a:r>
                        <a:rPr lang="uz-Cyrl-UZ" sz="900" kern="1200" dirty="0" smtClean="0">
                          <a:solidFill>
                            <a:schemeClr val="tx1"/>
                          </a:solidFill>
                          <a:effectLst/>
                          <a:latin typeface="+mn-lt"/>
                          <a:ea typeface="+mn-ea"/>
                          <a:cs typeface="+mn-cs"/>
                        </a:rPr>
                        <a:t>да Мурат, </a:t>
                      </a:r>
                      <a:r>
                        <a:rPr lang="uz-Cyrl-UZ" sz="900" b="1" kern="1200" dirty="0" smtClean="0">
                          <a:solidFill>
                            <a:schemeClr val="tx1"/>
                          </a:solidFill>
                          <a:effectLst/>
                          <a:latin typeface="+mn-lt"/>
                          <a:ea typeface="+mn-ea"/>
                          <a:cs typeface="+mn-cs"/>
                        </a:rPr>
                        <a:t>“Бердақ”</a:t>
                      </a:r>
                      <a:r>
                        <a:rPr lang="uz-Cyrl-UZ" sz="900" kern="1200" dirty="0" smtClean="0">
                          <a:solidFill>
                            <a:schemeClr val="tx1"/>
                          </a:solidFill>
                          <a:effectLst/>
                          <a:latin typeface="+mn-lt"/>
                          <a:ea typeface="+mn-ea"/>
                          <a:cs typeface="+mn-cs"/>
                        </a:rPr>
                        <a:t>да Нурмурат ахун, </a:t>
                      </a:r>
                      <a:r>
                        <a:rPr lang="uz-Cyrl-UZ" sz="900" b="1" kern="1200" dirty="0" smtClean="0">
                          <a:solidFill>
                            <a:schemeClr val="tx1"/>
                          </a:solidFill>
                          <a:effectLst/>
                          <a:latin typeface="+mn-lt"/>
                          <a:ea typeface="+mn-ea"/>
                          <a:cs typeface="+mn-cs"/>
                        </a:rPr>
                        <a:t>“Едиге”</a:t>
                      </a:r>
                      <a:r>
                        <a:rPr lang="uz-Cyrl-UZ" sz="900" kern="1200" dirty="0" smtClean="0">
                          <a:solidFill>
                            <a:schemeClr val="tx1"/>
                          </a:solidFill>
                          <a:effectLst/>
                          <a:latin typeface="+mn-lt"/>
                          <a:ea typeface="+mn-ea"/>
                          <a:cs typeface="+mn-cs"/>
                        </a:rPr>
                        <a:t>да Тохтамис подшо, “</a:t>
                      </a:r>
                      <a:r>
                        <a:rPr lang="uz-Cyrl-UZ" sz="900" b="1" kern="1200" dirty="0" smtClean="0">
                          <a:solidFill>
                            <a:schemeClr val="tx1"/>
                          </a:solidFill>
                          <a:effectLst/>
                          <a:latin typeface="+mn-lt"/>
                          <a:ea typeface="+mn-ea"/>
                          <a:cs typeface="+mn-cs"/>
                        </a:rPr>
                        <a:t>Ўришга налат”</a:t>
                      </a:r>
                      <a:r>
                        <a:rPr lang="uz-Cyrl-UZ" sz="900" kern="1200" dirty="0" smtClean="0">
                          <a:solidFill>
                            <a:schemeClr val="tx1"/>
                          </a:solidFill>
                          <a:effectLst/>
                          <a:latin typeface="+mn-lt"/>
                          <a:ea typeface="+mn-ea"/>
                          <a:cs typeface="+mn-cs"/>
                        </a:rPr>
                        <a:t> да Сапар ота</a:t>
                      </a:r>
                      <a:r>
                        <a:rPr lang="uz-Latn-UZ" sz="900" kern="1200" dirty="0" smtClean="0">
                          <a:solidFill>
                            <a:schemeClr val="tx1"/>
                          </a:solidFill>
                          <a:effectLst/>
                          <a:latin typeface="+mn-lt"/>
                          <a:ea typeface="+mn-ea"/>
                          <a:cs typeface="+mn-cs"/>
                        </a:rPr>
                        <a:t>, </a:t>
                      </a:r>
                      <a:r>
                        <a:rPr lang="uz-Cyrl-UZ" sz="900" b="1" kern="1200" dirty="0" smtClean="0">
                          <a:solidFill>
                            <a:schemeClr val="tx1"/>
                          </a:solidFill>
                          <a:effectLst/>
                          <a:latin typeface="+mn-lt"/>
                          <a:ea typeface="+mn-ea"/>
                          <a:cs typeface="+mn-cs"/>
                        </a:rPr>
                        <a:t>“Аязий”</a:t>
                      </a:r>
                      <a:r>
                        <a:rPr lang="uz-Cyrl-UZ" sz="900" kern="1200" dirty="0" smtClean="0">
                          <a:solidFill>
                            <a:schemeClr val="tx1"/>
                          </a:solidFill>
                          <a:effectLst/>
                          <a:latin typeface="+mn-lt"/>
                          <a:ea typeface="+mn-ea"/>
                          <a:cs typeface="+mn-cs"/>
                        </a:rPr>
                        <a:t> да Амет Шамуратов, </a:t>
                      </a:r>
                      <a:r>
                        <a:rPr lang="uz-Cyrl-UZ" sz="900" b="1" kern="1200" dirty="0" smtClean="0">
                          <a:solidFill>
                            <a:schemeClr val="tx1"/>
                          </a:solidFill>
                          <a:effectLst/>
                          <a:latin typeface="+mn-lt"/>
                          <a:ea typeface="+mn-ea"/>
                          <a:cs typeface="+mn-cs"/>
                        </a:rPr>
                        <a:t>“Ўтган кунларда”</a:t>
                      </a:r>
                      <a:r>
                        <a:rPr lang="uz-Cyrl-UZ" sz="900" kern="1200" dirty="0" smtClean="0">
                          <a:solidFill>
                            <a:schemeClr val="tx1"/>
                          </a:solidFill>
                          <a:effectLst/>
                          <a:latin typeface="+mn-lt"/>
                          <a:ea typeface="+mn-ea"/>
                          <a:cs typeface="+mn-cs"/>
                        </a:rPr>
                        <a:t> Юсупбек хажы каби роллари орқали томошабинлар кўнглидан жой олиб мутахассислар этиборига тушди. 2014 йилнинг якуний бўйича Тошкент шаҳрида ўтказилган </a:t>
                      </a:r>
                      <a:r>
                        <a:rPr lang="uz-Cyrl-UZ" sz="900" b="1" kern="1200" dirty="0" smtClean="0">
                          <a:solidFill>
                            <a:schemeClr val="tx1"/>
                          </a:solidFill>
                          <a:effectLst/>
                          <a:latin typeface="+mn-lt"/>
                          <a:ea typeface="+mn-ea"/>
                          <a:cs typeface="+mn-cs"/>
                        </a:rPr>
                        <a:t>«Эътироф-2014»</a:t>
                      </a:r>
                      <a:r>
                        <a:rPr lang="uz-Cyrl-UZ" sz="900" kern="1200" dirty="0" smtClean="0">
                          <a:solidFill>
                            <a:schemeClr val="tx1"/>
                          </a:solidFill>
                          <a:effectLst/>
                          <a:latin typeface="+mn-lt"/>
                          <a:ea typeface="+mn-ea"/>
                          <a:cs typeface="+mn-cs"/>
                        </a:rPr>
                        <a:t> танловида иштирок этиб К.Наркобилнинг  «Сув кўрмай этик ечма» спектаклиндаги Чари шаққон образи билан </a:t>
                      </a:r>
                      <a:r>
                        <a:rPr lang="uz-Cyrl-UZ" sz="900" b="1" kern="1200" dirty="0" smtClean="0">
                          <a:solidFill>
                            <a:schemeClr val="tx1"/>
                          </a:solidFill>
                          <a:effectLst/>
                          <a:latin typeface="+mn-lt"/>
                          <a:ea typeface="+mn-ea"/>
                          <a:cs typeface="+mn-cs"/>
                        </a:rPr>
                        <a:t>«Йилнинг энг яхши эркак роли»</a:t>
                      </a:r>
                      <a:r>
                        <a:rPr lang="uz-Cyrl-UZ" sz="900" kern="1200" dirty="0" smtClean="0">
                          <a:solidFill>
                            <a:schemeClr val="tx1"/>
                          </a:solidFill>
                          <a:effectLst/>
                          <a:latin typeface="+mn-lt"/>
                          <a:ea typeface="+mn-ea"/>
                          <a:cs typeface="+mn-cs"/>
                        </a:rPr>
                        <a:t>  номинацияси билан тақдирланди.</a:t>
                      </a:r>
                      <a:endParaRPr lang="ru-RU" sz="900" kern="1200" dirty="0" smtClean="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2015 йил июнь ойида М.Нызановнинг «Пошша» спектаклида Ўмирбой, 2016 йил май ойида Тошкент шаҳри А.Навоий номидаги Ўзбекистон давлат Академик катта театрида «Ажиниёз», «Тумарис» опералари ва симфоник оркестри жамоаси, 2017 йил март ойида К.Рахмановнинг «Едиге» спектаклида Тўқтамис подшо, 2017 йил ноябрь ойида Бухоро, 2018 йил Навоий вилоятларида театр ижодий жамоаси билан иштирок этиб, </a:t>
                      </a:r>
                      <a:r>
                        <a:rPr lang="uz-Cyrl-UZ" sz="900" b="1" kern="1200" dirty="0" smtClean="0">
                          <a:solidFill>
                            <a:schemeClr val="tx1"/>
                          </a:solidFill>
                          <a:effectLst/>
                          <a:latin typeface="+mn-lt"/>
                          <a:ea typeface="+mn-ea"/>
                          <a:cs typeface="+mn-cs"/>
                        </a:rPr>
                        <a:t>«Танҳо юлдуз»</a:t>
                      </a:r>
                      <a:r>
                        <a:rPr lang="uz-Cyrl-UZ" sz="900" kern="1200" dirty="0" smtClean="0">
                          <a:solidFill>
                            <a:schemeClr val="tx1"/>
                          </a:solidFill>
                          <a:effectLst/>
                          <a:latin typeface="+mn-lt"/>
                          <a:ea typeface="+mn-ea"/>
                          <a:cs typeface="+mn-cs"/>
                        </a:rPr>
                        <a:t> спектаклидаги </a:t>
                      </a:r>
                      <a:r>
                        <a:rPr lang="uz-Cyrl-UZ" sz="900" b="1" kern="1200" dirty="0" smtClean="0">
                          <a:solidFill>
                            <a:schemeClr val="tx1"/>
                          </a:solidFill>
                          <a:effectLst/>
                          <a:latin typeface="+mn-lt"/>
                          <a:ea typeface="+mn-ea"/>
                          <a:cs typeface="+mn-cs"/>
                        </a:rPr>
                        <a:t>Мурат</a:t>
                      </a:r>
                      <a:r>
                        <a:rPr lang="uz-Cyrl-UZ" sz="900" kern="1200" dirty="0" smtClean="0">
                          <a:solidFill>
                            <a:schemeClr val="tx1"/>
                          </a:solidFill>
                          <a:effectLst/>
                          <a:latin typeface="+mn-lt"/>
                          <a:ea typeface="+mn-ea"/>
                          <a:cs typeface="+mn-cs"/>
                        </a:rPr>
                        <a:t> бош қаҳрамон роли билан қатнашиб гастрол сафарининг юқори савияда ўтишида ўз ҳиссасин қўшди.</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64732">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44737">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ўтказилиб келинадиган барча оммавий мадаий тадбирлар ва давлат тадбирларида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a:picLocks noChangeAspect="1"/>
          </p:cNvPicPr>
          <p:nvPr/>
        </p:nvPicPr>
        <p:blipFill>
          <a:blip r:embed="rId2"/>
          <a:stretch>
            <a:fillRect/>
          </a:stretch>
        </p:blipFill>
        <p:spPr>
          <a:xfrm>
            <a:off x="242678" y="1124040"/>
            <a:ext cx="902458" cy="1097667"/>
          </a:xfrm>
          <a:prstGeom prst="rect">
            <a:avLst/>
          </a:prstGeom>
        </p:spPr>
      </p:pic>
    </p:spTree>
    <p:extLst>
      <p:ext uri="{BB962C8B-B14F-4D97-AF65-F5344CB8AC3E}">
        <p14:creationId xmlns:p14="http://schemas.microsoft.com/office/powerpoint/2010/main" val="3679547596"/>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4254123763"/>
              </p:ext>
            </p:extLst>
          </p:nvPr>
        </p:nvGraphicFramePr>
        <p:xfrm>
          <a:off x="144489" y="865702"/>
          <a:ext cx="3427547" cy="5837102"/>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145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876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ЗАРЕТДИНОВ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876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Курбанбай</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876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ХХХ</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876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kern="1200" dirty="0" smtClean="0">
                          <a:solidFill>
                            <a:schemeClr val="tx1"/>
                          </a:solidFill>
                          <a:effectLst/>
                          <a:latin typeface="+mn-lt"/>
                          <a:ea typeface="+mn-ea"/>
                          <a:cs typeface="+mn-cs"/>
                        </a:rPr>
                        <a:t>қора</a:t>
                      </a:r>
                      <a:r>
                        <a:rPr lang="ca-ES" sz="900" kern="1200" dirty="0" smtClean="0">
                          <a:solidFill>
                            <a:schemeClr val="tx1"/>
                          </a:solidFill>
                          <a:effectLst/>
                          <a:latin typeface="+mn-lt"/>
                          <a:ea typeface="+mn-ea"/>
                          <a:cs typeface="+mn-cs"/>
                        </a:rPr>
                        <a:t>қ</a:t>
                      </a:r>
                      <a:r>
                        <a:rPr lang="uz-Cyrl-UZ" sz="900" kern="1200" dirty="0" smtClean="0">
                          <a:solidFill>
                            <a:schemeClr val="tx1"/>
                          </a:solidFill>
                          <a:effectLst/>
                          <a:latin typeface="+mn-lt"/>
                          <a:ea typeface="+mn-ea"/>
                          <a:cs typeface="+mn-cs"/>
                        </a:rPr>
                        <a:t>алпо</a:t>
                      </a:r>
                      <a:r>
                        <a:rPr lang="ca-ES" sz="900" kern="1200" dirty="0" smtClean="0">
                          <a:solidFill>
                            <a:schemeClr val="tx1"/>
                          </a:solidFill>
                          <a:effectLst/>
                          <a:latin typeface="+mn-lt"/>
                          <a:ea typeface="+mn-ea"/>
                          <a:cs typeface="+mn-cs"/>
                        </a:rPr>
                        <a:t>қ</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876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25.02.1951</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876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Кегейли 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913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0991">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3 нафар ўғил 1 нафар </a:t>
                      </a:r>
                      <a:r>
                        <a:rPr lang="uz-Cyrl-UZ" sz="900" b="0" kern="1200" dirty="0" smtClean="0">
                          <a:solidFill>
                            <a:schemeClr val="tx1"/>
                          </a:solidFill>
                          <a:effectLst/>
                          <a:latin typeface="+mn-lt"/>
                          <a:ea typeface="+mn-ea"/>
                          <a:cs typeface="+mn-cs"/>
                        </a:rPr>
                        <a:t>қиз</a:t>
                      </a:r>
                      <a:r>
                        <a:rPr lang="uz-Cyrl-UZ" sz="900" b="0" kern="1200" noProof="0" dirty="0" smtClean="0">
                          <a:solidFill>
                            <a:schemeClr val="tx1"/>
                          </a:solidFill>
                          <a:latin typeface="+mn-lt"/>
                          <a:ea typeface="+mn-ea"/>
                          <a:cs typeface="+mn-cs"/>
                        </a:rPr>
                        <a:t> фарзанди   бор  </a:t>
                      </a:r>
                      <a:br>
                        <a:rPr lang="uz-Cyrl-UZ" sz="900" b="0" kern="1200" noProof="0" dirty="0" smtClean="0">
                          <a:solidFill>
                            <a:schemeClr val="tx1"/>
                          </a:solidFill>
                          <a:latin typeface="+mn-lt"/>
                          <a:ea typeface="+mn-ea"/>
                          <a:cs typeface="+mn-cs"/>
                        </a:rPr>
                      </a:b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913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47471">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1000" b="1" kern="1200" dirty="0" err="1" smtClean="0">
                          <a:solidFill>
                            <a:schemeClr val="tx1"/>
                          </a:solidFill>
                          <a:effectLst/>
                          <a:latin typeface="+mn-lt"/>
                          <a:ea typeface="+mn-ea"/>
                          <a:cs typeface="+mn-cs"/>
                        </a:rPr>
                        <a:t>Лепесов</a:t>
                      </a:r>
                      <a:r>
                        <a:rPr lang="ru-RU" sz="1000" b="1" kern="1200" dirty="0" smtClean="0">
                          <a:solidFill>
                            <a:schemeClr val="tx1"/>
                          </a:solidFill>
                          <a:effectLst/>
                          <a:latin typeface="+mn-lt"/>
                          <a:ea typeface="+mn-ea"/>
                          <a:cs typeface="+mn-cs"/>
                        </a:rPr>
                        <a:t> </a:t>
                      </a:r>
                      <a:r>
                        <a:rPr lang="ru-RU" sz="1000" b="1" kern="1200" dirty="0" err="1" smtClean="0">
                          <a:solidFill>
                            <a:schemeClr val="tx1"/>
                          </a:solidFill>
                          <a:effectLst/>
                          <a:latin typeface="+mn-lt"/>
                          <a:ea typeface="+mn-ea"/>
                          <a:cs typeface="+mn-cs"/>
                        </a:rPr>
                        <a:t>Заретдин</a:t>
                      </a:r>
                      <a:r>
                        <a:rPr lang="ru-RU" sz="1000" b="1" kern="1200" dirty="0" smtClean="0">
                          <a:solidFill>
                            <a:schemeClr val="tx1"/>
                          </a:solidFill>
                          <a:effectLst/>
                          <a:latin typeface="+mn-lt"/>
                          <a:ea typeface="+mn-ea"/>
                          <a:cs typeface="+mn-cs"/>
                        </a:rPr>
                        <a:t> </a:t>
                      </a:r>
                      <a:r>
                        <a:rPr lang="uz-Cyrl-UZ" sz="900" b="0" kern="1200" noProof="0" dirty="0" smtClean="0">
                          <a:solidFill>
                            <a:schemeClr val="tx1"/>
                          </a:solidFill>
                          <a:latin typeface="+mn-lt"/>
                          <a:ea typeface="+mn-ea"/>
                          <a:cs typeface="Arial" panose="020B0604020202020204" pitchFamily="34" charset="0"/>
                        </a:rPr>
                        <a:t>1914 йил, Кегейли</a:t>
                      </a:r>
                      <a:r>
                        <a:rPr lang="uz-Cyrl-UZ" sz="900" b="0" kern="1200" baseline="0" noProof="0" dirty="0" smtClean="0">
                          <a:solidFill>
                            <a:schemeClr val="tx1"/>
                          </a:solidFill>
                          <a:latin typeface="+mn-lt"/>
                          <a:ea typeface="+mn-ea"/>
                          <a:cs typeface="Arial" panose="020B0604020202020204" pitchFamily="34" charset="0"/>
                        </a:rPr>
                        <a:t> тумани</a:t>
                      </a:r>
                      <a:endParaRPr lang="uz-Cyrl-UZ"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1973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Б.Каримбердиев</a:t>
                      </a:r>
                      <a:r>
                        <a:rPr lang="ru-RU" sz="900" b="0" kern="1200" noProof="0" dirty="0" smtClean="0">
                          <a:solidFill>
                            <a:schemeClr val="tx1"/>
                          </a:solidFill>
                          <a:latin typeface="+mn-lt"/>
                          <a:ea typeface="+mn-ea"/>
                          <a:cs typeface="Arial" panose="020B0604020202020204" pitchFamily="34" charset="0"/>
                        </a:rPr>
                        <a:t> </a:t>
                      </a:r>
                      <a:r>
                        <a:rPr lang="ru-RU" sz="900" b="0" kern="1200" dirty="0" smtClean="0">
                          <a:solidFill>
                            <a:schemeClr val="tx1"/>
                          </a:solidFill>
                          <a:effectLst/>
                          <a:latin typeface="+mn-lt"/>
                          <a:ea typeface="+mn-ea"/>
                          <a:cs typeface="+mn-cs"/>
                        </a:rPr>
                        <a:t>х</a:t>
                      </a:r>
                      <a:r>
                        <a:rPr lang="uz-Cyrl-UZ" sz="900" b="0" kern="1200" dirty="0" smtClean="0">
                          <a:solidFill>
                            <a:schemeClr val="tx1"/>
                          </a:solidFill>
                          <a:effectLst/>
                          <a:latin typeface="+mn-lt"/>
                          <a:ea typeface="+mn-ea"/>
                          <a:cs typeface="+mn-cs"/>
                        </a:rPr>
                        <a:t>ў</a:t>
                      </a:r>
                      <a:r>
                        <a:rPr lang="ru-RU" sz="900" b="0" kern="1200" dirty="0" err="1" smtClean="0">
                          <a:solidFill>
                            <a:schemeClr val="tx1"/>
                          </a:solidFill>
                          <a:effectLst/>
                          <a:latin typeface="+mn-lt"/>
                          <a:ea typeface="+mn-ea"/>
                          <a:cs typeface="+mn-cs"/>
                        </a:rPr>
                        <a:t>жалиги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бирлашмаси</a:t>
                      </a:r>
                      <a:r>
                        <a:rPr lang="ru-RU" sz="900" b="0" kern="1200" dirty="0" smtClean="0">
                          <a:solidFill>
                            <a:schemeClr val="tx1"/>
                          </a:solidFill>
                          <a:effectLst/>
                          <a:latin typeface="+mn-lt"/>
                          <a:ea typeface="+mn-ea"/>
                          <a:cs typeface="+mn-cs"/>
                        </a:rPr>
                        <a:t> механизатор</a:t>
                      </a:r>
                      <a:r>
                        <a:rPr lang="uz-Cyrl-UZ" sz="900" b="0" kern="1200" dirty="0" smtClean="0">
                          <a:solidFill>
                            <a:schemeClr val="tx1"/>
                          </a:solidFill>
                          <a:effectLst/>
                          <a:latin typeface="+mn-lt"/>
                          <a:ea typeface="+mn-ea"/>
                          <a:cs typeface="+mn-cs"/>
                        </a:rPr>
                        <a:t>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47471">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1000" b="1" kern="1200" dirty="0" err="1" smtClean="0">
                          <a:solidFill>
                            <a:schemeClr val="tx1"/>
                          </a:solidFill>
                          <a:effectLst/>
                          <a:latin typeface="+mn-lt"/>
                          <a:ea typeface="+mn-ea"/>
                          <a:cs typeface="+mn-cs"/>
                        </a:rPr>
                        <a:t>Кулбаева</a:t>
                      </a:r>
                      <a:r>
                        <a:rPr lang="ru-RU" sz="1000" b="1" kern="1200" dirty="0" smtClean="0">
                          <a:solidFill>
                            <a:schemeClr val="tx1"/>
                          </a:solidFill>
                          <a:effectLst/>
                          <a:latin typeface="+mn-lt"/>
                          <a:ea typeface="+mn-ea"/>
                          <a:cs typeface="+mn-cs"/>
                        </a:rPr>
                        <a:t> </a:t>
                      </a:r>
                      <a:r>
                        <a:rPr lang="ru-RU" sz="1000" b="1" kern="1200" dirty="0" err="1" smtClean="0">
                          <a:solidFill>
                            <a:schemeClr val="tx1"/>
                          </a:solidFill>
                          <a:effectLst/>
                          <a:latin typeface="+mn-lt"/>
                          <a:ea typeface="+mn-ea"/>
                          <a:cs typeface="+mn-cs"/>
                        </a:rPr>
                        <a:t>Пердегул</a:t>
                      </a:r>
                      <a:r>
                        <a:rPr lang="uz-Latn-UZ" sz="1000" b="1" kern="1200" dirty="0" smtClean="0">
                          <a:solidFill>
                            <a:schemeClr val="tx1"/>
                          </a:solidFill>
                          <a:effectLst/>
                          <a:latin typeface="+mn-lt"/>
                          <a:ea typeface="+mn-ea"/>
                          <a:cs typeface="+mn-cs"/>
                        </a:rPr>
                        <a:t> </a:t>
                      </a:r>
                      <a:r>
                        <a:rPr lang="uz-Cyrl-UZ" sz="900" b="0" kern="1200" noProof="0" dirty="0" smtClean="0">
                          <a:solidFill>
                            <a:schemeClr val="tx1"/>
                          </a:solidFill>
                          <a:latin typeface="+mn-lt"/>
                          <a:ea typeface="+mn-ea"/>
                          <a:cs typeface="Arial" panose="020B0604020202020204" pitchFamily="34" charset="0"/>
                        </a:rPr>
                        <a:t>1920 йил, </a:t>
                      </a:r>
                      <a:r>
                        <a:rPr lang="ru-RU" sz="900" b="0" kern="1200" noProof="0" dirty="0" err="1" smtClean="0">
                          <a:solidFill>
                            <a:schemeClr val="tx1"/>
                          </a:solidFill>
                          <a:latin typeface="+mn-lt"/>
                          <a:ea typeface="+mn-ea"/>
                          <a:cs typeface="Arial" panose="020B0604020202020204" pitchFamily="34" charset="0"/>
                        </a:rPr>
                        <a:t>Кегейли</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тумани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1997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Б.Каримбердиев</a:t>
                      </a:r>
                      <a:r>
                        <a:rPr lang="ru-RU" sz="900" b="0" kern="1200" noProof="0" dirty="0" smtClean="0">
                          <a:solidFill>
                            <a:schemeClr val="tx1"/>
                          </a:solidFill>
                          <a:latin typeface="+mn-lt"/>
                          <a:ea typeface="+mn-ea"/>
                          <a:cs typeface="Arial" panose="020B0604020202020204" pitchFamily="34" charset="0"/>
                        </a:rPr>
                        <a:t> </a:t>
                      </a:r>
                      <a:r>
                        <a:rPr lang="ru-RU" sz="900" b="0" kern="1200" dirty="0" smtClean="0">
                          <a:solidFill>
                            <a:schemeClr val="tx1"/>
                          </a:solidFill>
                          <a:effectLst/>
                          <a:latin typeface="+mn-lt"/>
                          <a:ea typeface="+mn-ea"/>
                          <a:cs typeface="+mn-cs"/>
                        </a:rPr>
                        <a:t>х</a:t>
                      </a:r>
                      <a:r>
                        <a:rPr lang="uz-Cyrl-UZ" sz="900" b="0" kern="1200" dirty="0" smtClean="0">
                          <a:solidFill>
                            <a:schemeClr val="tx1"/>
                          </a:solidFill>
                          <a:effectLst/>
                          <a:latin typeface="+mn-lt"/>
                          <a:ea typeface="+mn-ea"/>
                          <a:cs typeface="+mn-cs"/>
                        </a:rPr>
                        <a:t>ў</a:t>
                      </a:r>
                      <a:r>
                        <a:rPr lang="ru-RU" sz="900" b="0" kern="1200" dirty="0" err="1" smtClean="0">
                          <a:solidFill>
                            <a:schemeClr val="tx1"/>
                          </a:solidFill>
                          <a:effectLst/>
                          <a:latin typeface="+mn-lt"/>
                          <a:ea typeface="+mn-ea"/>
                          <a:cs typeface="+mn-cs"/>
                        </a:rPr>
                        <a:t>жалиги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бирлашмаси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ишчиси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55819">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1000" b="1" kern="1200" dirty="0" err="1" smtClean="0">
                          <a:solidFill>
                            <a:schemeClr val="tx1"/>
                          </a:solidFill>
                          <a:effectLst/>
                          <a:latin typeface="+mn-lt"/>
                          <a:ea typeface="+mn-ea"/>
                          <a:cs typeface="+mn-cs"/>
                        </a:rPr>
                        <a:t>Бекмуратова</a:t>
                      </a:r>
                      <a:r>
                        <a:rPr lang="ru-RU" sz="1000" b="1" kern="1200" dirty="0" smtClean="0">
                          <a:solidFill>
                            <a:schemeClr val="tx1"/>
                          </a:solidFill>
                          <a:effectLst/>
                          <a:latin typeface="+mn-lt"/>
                          <a:ea typeface="+mn-ea"/>
                          <a:cs typeface="+mn-cs"/>
                        </a:rPr>
                        <a:t> Ба</a:t>
                      </a:r>
                      <a:r>
                        <a:rPr lang="ca-ES" sz="1000" b="1" kern="1200" dirty="0" smtClean="0">
                          <a:solidFill>
                            <a:schemeClr val="tx1"/>
                          </a:solidFill>
                          <a:effectLst/>
                          <a:latin typeface="+mn-lt"/>
                          <a:ea typeface="+mn-ea"/>
                          <a:cs typeface="+mn-cs"/>
                        </a:rPr>
                        <a:t>ғ</a:t>
                      </a:r>
                      <a:r>
                        <a:rPr lang="ru-RU" sz="1000" b="1" kern="1200" dirty="0" err="1" smtClean="0">
                          <a:solidFill>
                            <a:schemeClr val="tx1"/>
                          </a:solidFill>
                          <a:effectLst/>
                          <a:latin typeface="+mn-lt"/>
                          <a:ea typeface="+mn-ea"/>
                          <a:cs typeface="+mn-cs"/>
                        </a:rPr>
                        <a:t>дагул</a:t>
                      </a:r>
                      <a:r>
                        <a:rPr lang="ru-RU" sz="1000" b="1" kern="1200" dirty="0" smtClean="0">
                          <a:solidFill>
                            <a:schemeClr val="tx1"/>
                          </a:solidFill>
                          <a:effectLst/>
                          <a:latin typeface="+mn-lt"/>
                          <a:ea typeface="+mn-ea"/>
                          <a:cs typeface="+mn-cs"/>
                        </a:rPr>
                        <a:t> </a:t>
                      </a:r>
                      <a:r>
                        <a:rPr lang="ru-RU" sz="1000" b="1" kern="1200" dirty="0" err="1" smtClean="0">
                          <a:solidFill>
                            <a:schemeClr val="tx1"/>
                          </a:solidFill>
                          <a:effectLst/>
                          <a:latin typeface="+mn-lt"/>
                          <a:ea typeface="+mn-ea"/>
                          <a:cs typeface="+mn-cs"/>
                        </a:rPr>
                        <a:t>Турдимамбетовна</a:t>
                      </a:r>
                      <a:r>
                        <a:rPr lang="ru-RU" sz="1000" b="1" kern="1200" dirty="0" smtClean="0">
                          <a:solidFill>
                            <a:schemeClr val="tx1"/>
                          </a:solidFill>
                          <a:effectLst/>
                          <a:latin typeface="+mn-lt"/>
                          <a:ea typeface="+mn-ea"/>
                          <a:cs typeface="+mn-cs"/>
                        </a:rPr>
                        <a:t> </a:t>
                      </a:r>
                      <a:r>
                        <a:rPr lang="uz-Cyrl-UZ" sz="900" b="0" kern="1200" noProof="0" dirty="0" smtClean="0">
                          <a:solidFill>
                            <a:schemeClr val="tx1"/>
                          </a:solidFill>
                          <a:latin typeface="+mn-lt"/>
                          <a:ea typeface="+mn-ea"/>
                          <a:cs typeface="Arial" panose="020B0604020202020204" pitchFamily="34" charset="0"/>
                        </a:rPr>
                        <a:t>1954 йил, Кегейли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ru-RU" sz="900" b="0" kern="1200" noProof="0" dirty="0" smtClean="0">
                          <a:solidFill>
                            <a:schemeClr val="tx1"/>
                          </a:solidFill>
                          <a:latin typeface="+mn-lt"/>
                          <a:ea typeface="+mn-ea"/>
                          <a:cs typeface="Arial" panose="020B0604020202020204" pitchFamily="34" charset="0"/>
                        </a:rPr>
                        <a:t>2021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(Уй бекаси)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6024">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6569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dirty="0" smtClean="0">
                          <a:solidFill>
                            <a:schemeClr val="tx1"/>
                          </a:solidFill>
                          <a:effectLst/>
                          <a:latin typeface="+mn-lt"/>
                          <a:ea typeface="+mn-ea"/>
                          <a:cs typeface="+mn-cs"/>
                        </a:rPr>
                        <a:t>1977 й. М.Ашрафий номидаги Тошкент давлат консерваторияси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48693">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Хор дирижёрлиги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179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профессор</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179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19074">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4242816009"/>
              </p:ext>
            </p:extLst>
          </p:nvPr>
        </p:nvGraphicFramePr>
        <p:xfrm>
          <a:off x="3674526" y="865689"/>
          <a:ext cx="3172841" cy="5820337"/>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22550">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11097">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1989 йилдан буён </a:t>
                      </a:r>
                      <a:r>
                        <a:rPr lang="ru-RU" sz="900" kern="1200" dirty="0" smtClean="0">
                          <a:solidFill>
                            <a:schemeClr val="tx1"/>
                          </a:solidFill>
                          <a:effectLst/>
                          <a:latin typeface="+mn-lt"/>
                          <a:ea typeface="+mn-ea"/>
                          <a:cs typeface="+mn-cs"/>
                        </a:rPr>
                        <a:t>Берда</a:t>
                      </a:r>
                      <a:r>
                        <a:rPr lang="uz-Cyrl-UZ" sz="900" kern="1200" dirty="0" smtClean="0">
                          <a:solidFill>
                            <a:schemeClr val="tx1"/>
                          </a:solidFill>
                          <a:effectLst/>
                          <a:latin typeface="+mn-lt"/>
                          <a:ea typeface="+mn-ea"/>
                          <a:cs typeface="+mn-cs"/>
                        </a:rPr>
                        <a:t>қ номидаги Қорақалпоқ давлат мусиқали</a:t>
                      </a:r>
                      <a:r>
                        <a:rPr lang="ru-RU" sz="900" kern="1200" dirty="0" smtClean="0">
                          <a:solidFill>
                            <a:schemeClr val="tx1"/>
                          </a:solidFill>
                          <a:effectLst/>
                          <a:latin typeface="+mn-lt"/>
                          <a:ea typeface="+mn-ea"/>
                          <a:cs typeface="+mn-cs"/>
                        </a:rPr>
                        <a:t> театр</a:t>
                      </a:r>
                      <a:r>
                        <a:rPr lang="uz-Cyrl-UZ" sz="900" kern="1200" dirty="0" smtClean="0">
                          <a:solidFill>
                            <a:schemeClr val="tx1"/>
                          </a:solidFill>
                          <a:effectLst/>
                          <a:latin typeface="+mn-lt"/>
                          <a:ea typeface="+mn-ea"/>
                          <a:cs typeface="+mn-cs"/>
                        </a:rPr>
                        <a:t>и </a:t>
                      </a:r>
                      <a:r>
                        <a:rPr lang="uz-Cyrl-UZ" sz="900" b="1" kern="1200" noProof="0" dirty="0" smtClean="0">
                          <a:solidFill>
                            <a:schemeClr val="tx1"/>
                          </a:solidFill>
                          <a:latin typeface="+mn-lt"/>
                          <a:ea typeface="+mn-ea"/>
                          <a:cs typeface="+mn-cs"/>
                        </a:rPr>
                        <a:t>бош дирижёр</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40679">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718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57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8039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0" kern="1200" noProof="0" smtClean="0">
                          <a:solidFill>
                            <a:schemeClr val="tx1"/>
                          </a:solidFill>
                          <a:latin typeface="+mn-lt"/>
                          <a:ea typeface="+mn-ea"/>
                          <a:cs typeface="+mn-cs"/>
                        </a:rPr>
                        <a:t>6 йил</a:t>
                      </a:r>
                      <a:endParaRPr lang="uz-Cyrl-UZ" sz="900" b="0" kern="1200" noProof="0" dirty="0" smtClean="0">
                        <a:solidFill>
                          <a:schemeClr val="tx1"/>
                        </a:solidFill>
                        <a:latin typeface="+mn-lt"/>
                        <a:ea typeface="+mn-ea"/>
                        <a:cs typeface="+mn-cs"/>
                      </a:endParaRPr>
                    </a:p>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5884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ru-RU" sz="900" kern="1200" dirty="0" smtClean="0">
                          <a:solidFill>
                            <a:schemeClr val="tx1"/>
                          </a:solidFill>
                          <a:effectLst/>
                          <a:latin typeface="+mn-lt"/>
                          <a:ea typeface="+mn-ea"/>
                          <a:cs typeface="+mn-cs"/>
                        </a:rPr>
                        <a:t>1975-1981 </a:t>
                      </a:r>
                      <a:r>
                        <a:rPr lang="ru-RU" sz="900" kern="1200" dirty="0" err="1" smtClean="0">
                          <a:solidFill>
                            <a:schemeClr val="tx1"/>
                          </a:solidFill>
                          <a:effectLst/>
                          <a:latin typeface="+mn-lt"/>
                          <a:ea typeface="+mn-ea"/>
                          <a:cs typeface="+mn-cs"/>
                        </a:rPr>
                        <a:t>йй</a:t>
                      </a:r>
                      <a:r>
                        <a:rPr lang="uz-Cyrl-UZ" sz="900" kern="1200" dirty="0" smtClean="0">
                          <a:solidFill>
                            <a:schemeClr val="tx1"/>
                          </a:solidFill>
                          <a:effectLst/>
                          <a:latin typeface="+mn-lt"/>
                          <a:ea typeface="+mn-ea"/>
                          <a:cs typeface="+mn-cs"/>
                        </a:rPr>
                        <a:t>. - </a:t>
                      </a:r>
                      <a:r>
                        <a:rPr lang="ru-RU" sz="900" kern="1200" dirty="0" err="1" smtClean="0">
                          <a:solidFill>
                            <a:schemeClr val="tx1"/>
                          </a:solidFill>
                          <a:effectLst/>
                          <a:latin typeface="+mn-lt"/>
                          <a:ea typeface="+mn-ea"/>
                          <a:cs typeface="+mn-cs"/>
                        </a:rPr>
                        <a:t>Ж.Шамуратов</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номидаги</a:t>
                      </a:r>
                      <a:r>
                        <a:rPr lang="ru-RU" sz="900" kern="1200" dirty="0" smtClean="0">
                          <a:solidFill>
                            <a:schemeClr val="tx1"/>
                          </a:solidFill>
                          <a:effectLst/>
                          <a:latin typeface="+mn-lt"/>
                          <a:ea typeface="+mn-ea"/>
                          <a:cs typeface="+mn-cs"/>
                        </a:rPr>
                        <a:t> Нукус </a:t>
                      </a:r>
                      <a:r>
                        <a:rPr lang="ru-RU" sz="900" kern="1200" dirty="0" err="1" smtClean="0">
                          <a:solidFill>
                            <a:schemeClr val="tx1"/>
                          </a:solidFill>
                          <a:effectLst/>
                          <a:latin typeface="+mn-lt"/>
                          <a:ea typeface="+mn-ea"/>
                          <a:cs typeface="+mn-cs"/>
                        </a:rPr>
                        <a:t>давлат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саньат</a:t>
                      </a:r>
                      <a:r>
                        <a:rPr lang="ru-RU" sz="900" kern="1200" dirty="0" smtClean="0">
                          <a:solidFill>
                            <a:schemeClr val="tx1"/>
                          </a:solidFill>
                          <a:effectLst/>
                          <a:latin typeface="+mn-lt"/>
                          <a:ea typeface="+mn-ea"/>
                          <a:cs typeface="+mn-cs"/>
                        </a:rPr>
                        <a:t> коллежи </a:t>
                      </a:r>
                      <a:r>
                        <a:rPr lang="uz-Cyrl-UZ" sz="900" kern="1200" dirty="0" smtClean="0">
                          <a:solidFill>
                            <a:schemeClr val="tx1"/>
                          </a:solidFill>
                          <a:effectLst/>
                          <a:latin typeface="+mn-lt"/>
                          <a:ea typeface="+mn-ea"/>
                          <a:cs typeface="+mn-cs"/>
                        </a:rPr>
                        <a:t>ўқи</a:t>
                      </a:r>
                      <a:r>
                        <a:rPr lang="ru-RU" sz="900" kern="1200" dirty="0" err="1" smtClean="0">
                          <a:solidFill>
                            <a:schemeClr val="tx1"/>
                          </a:solidFill>
                          <a:effectLst/>
                          <a:latin typeface="+mn-lt"/>
                          <a:ea typeface="+mn-ea"/>
                          <a:cs typeface="+mn-cs"/>
                        </a:rPr>
                        <a:t>тувчиси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a:t>
                      </a:r>
                      <a:r>
                        <a:rPr lang="ru-RU" sz="900" kern="1200" dirty="0" smtClean="0">
                          <a:solidFill>
                            <a:schemeClr val="tx1"/>
                          </a:solidFill>
                          <a:effectLst/>
                          <a:latin typeface="+mn-lt"/>
                          <a:ea typeface="+mn-ea"/>
                          <a:cs typeface="+mn-cs"/>
                        </a:rPr>
                        <a:t> директор </a:t>
                      </a:r>
                      <a:r>
                        <a:rPr lang="uz-Cyrl-UZ" sz="900" kern="1200" dirty="0" smtClean="0">
                          <a:solidFill>
                            <a:schemeClr val="tx1"/>
                          </a:solidFill>
                          <a:effectLst/>
                          <a:latin typeface="+mn-lt"/>
                          <a:ea typeface="+mn-ea"/>
                          <a:cs typeface="+mn-cs"/>
                        </a:rPr>
                        <a:t>ў</a:t>
                      </a:r>
                      <a:r>
                        <a:rPr lang="ru-RU" sz="900" kern="1200" dirty="0" err="1" smtClean="0">
                          <a:solidFill>
                            <a:schemeClr val="tx1"/>
                          </a:solidFill>
                          <a:effectLst/>
                          <a:latin typeface="+mn-lt"/>
                          <a:ea typeface="+mn-ea"/>
                          <a:cs typeface="+mn-cs"/>
                        </a:rPr>
                        <a:t>ринбосари</a:t>
                      </a:r>
                      <a:endParaRPr lang="ru-RU" sz="900" kern="1200" dirty="0" smtClean="0">
                        <a:solidFill>
                          <a:schemeClr val="tx1"/>
                        </a:solidFill>
                        <a:effectLst/>
                        <a:latin typeface="+mn-lt"/>
                        <a:ea typeface="+mn-ea"/>
                        <a:cs typeface="+mn-cs"/>
                      </a:endParaRPr>
                    </a:p>
                    <a:p>
                      <a:pPr algn="l">
                        <a:lnSpc>
                          <a:spcPct val="107000"/>
                        </a:lnSpc>
                        <a:spcAft>
                          <a:spcPts val="0"/>
                        </a:spcAft>
                      </a:pP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8481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8481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solidFill>
                            <a:schemeClr val="tx1"/>
                          </a:solidFill>
                          <a:latin typeface="+mn-lt"/>
                        </a:rPr>
                        <a:t>Ҳ</a:t>
                      </a: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ар йили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83023">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solidFill>
                            <a:schemeClr val="tx1"/>
                          </a:solidFill>
                          <a:latin typeface="+mn-lt"/>
                        </a:rPr>
                        <a:t>Ҳ</a:t>
                      </a: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ар йили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5390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323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24208">
                <a:tc gridSpan="2">
                  <a:txBody>
                    <a:bodyPr/>
                    <a:lstStyle/>
                    <a:p>
                      <a:r>
                        <a:rPr lang="uz-Cyrl-UZ" sz="900" kern="1200" dirty="0" smtClean="0">
                          <a:solidFill>
                            <a:schemeClr val="tx1"/>
                          </a:solidFill>
                          <a:effectLst/>
                          <a:latin typeface="+mn-lt"/>
                          <a:ea typeface="+mn-ea"/>
                          <a:cs typeface="+mn-cs"/>
                        </a:rPr>
                        <a:t>1991 й. “Қорақалпоғистон санъат арбоби”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1998 й. “Бердақ номидаги давлат мукофоти совриндори” </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2000 й. “Ўзбекистон санъат арбоби”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4266669619"/>
              </p:ext>
            </p:extLst>
          </p:nvPr>
        </p:nvGraphicFramePr>
        <p:xfrm>
          <a:off x="6949857" y="869288"/>
          <a:ext cx="2817247" cy="5770375"/>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59563">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7664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526187">
                <a:tc>
                  <a:txBody>
                    <a:bodyPr/>
                    <a:lstStyle/>
                    <a:p>
                      <a:pPr marL="0" indent="179388" algn="just"/>
                      <a:r>
                        <a:rPr lang="uz-Cyrl-UZ" sz="900" b="0" i="0" kern="1200" dirty="0" smtClean="0">
                          <a:solidFill>
                            <a:schemeClr val="tx1"/>
                          </a:solidFill>
                          <a:effectLst/>
                          <a:latin typeface="+mn-lt"/>
                          <a:ea typeface="+mn-ea"/>
                          <a:cs typeface="+mn-cs"/>
                        </a:rPr>
                        <a:t>У бастакор сифатида лирик ва тарихий мавзуларда қўшиқлар ва оркестр учун мусиқалар яратиб, ўз мухлисларига эга. «Тумарис», «Дайи қиз», «Бахор», «Булбил», «Устоз», «Бегжаб фожиаси», «Назлымхан сулыў» ва бошқада асарларнинг муаллифи.</a:t>
                      </a:r>
                      <a:endParaRPr lang="ru-RU" sz="900" b="0" i="1" kern="1200" dirty="0" smtClean="0">
                        <a:solidFill>
                          <a:schemeClr val="tx1"/>
                        </a:solidFill>
                        <a:effectLst/>
                        <a:latin typeface="+mn-lt"/>
                        <a:ea typeface="+mn-ea"/>
                        <a:cs typeface="+mn-cs"/>
                      </a:endParaRPr>
                    </a:p>
                    <a:p>
                      <a:pPr marL="0" indent="179388" algn="just"/>
                      <a:r>
                        <a:rPr lang="uz-Cyrl-UZ" sz="900" b="0" i="0" kern="1200" dirty="0" smtClean="0">
                          <a:solidFill>
                            <a:schemeClr val="tx1"/>
                          </a:solidFill>
                          <a:effectLst/>
                          <a:latin typeface="+mn-lt"/>
                          <a:ea typeface="+mn-ea"/>
                          <a:cs typeface="+mn-cs"/>
                        </a:rPr>
                        <a:t> «Ажинияз» операсида, «Айжамал» балетида, «Майсаранинг хийласи», «Алеко», “Бердаš”, “Едиге”, “"ориб очиš”  мусиšали спектаклларнинг, “Тумарис”, “Гулайим” опералари ва театрда сахналаштирган бошšа да мусиқий спектаклларда маҳорат билан дирижёрлик этиб, томошабинларни қойил қолдирди. </a:t>
                      </a:r>
                      <a:r>
                        <a:rPr lang="ru-RU" sz="900" b="0" i="0" kern="1200" dirty="0" err="1" smtClean="0">
                          <a:solidFill>
                            <a:schemeClr val="tx1"/>
                          </a:solidFill>
                          <a:effectLst/>
                          <a:latin typeface="+mn-lt"/>
                          <a:ea typeface="+mn-ea"/>
                          <a:cs typeface="+mn-cs"/>
                        </a:rPr>
                        <a:t>О.Абдурахмановнинг</a:t>
                      </a:r>
                      <a:r>
                        <a:rPr lang="ru-RU" sz="900" b="0" i="0" kern="1200" dirty="0" smtClean="0">
                          <a:solidFill>
                            <a:schemeClr val="tx1"/>
                          </a:solidFill>
                          <a:effectLst/>
                          <a:latin typeface="+mn-lt"/>
                          <a:ea typeface="+mn-ea"/>
                          <a:cs typeface="+mn-cs"/>
                        </a:rPr>
                        <a:t> </a:t>
                      </a:r>
                      <a:r>
                        <a:rPr lang="uz-Cyrl-UZ" sz="900" b="0" i="0" kern="1200" dirty="0" smtClean="0">
                          <a:solidFill>
                            <a:schemeClr val="tx1"/>
                          </a:solidFill>
                          <a:effectLst/>
                          <a:latin typeface="+mn-lt"/>
                          <a:ea typeface="+mn-ea"/>
                          <a:cs typeface="+mn-cs"/>
                        </a:rPr>
                        <a:t>“Ў</a:t>
                      </a:r>
                      <a:r>
                        <a:rPr lang="ru-RU" sz="900" b="0" i="0" kern="1200" dirty="0" err="1" smtClean="0">
                          <a:solidFill>
                            <a:schemeClr val="tx1"/>
                          </a:solidFill>
                          <a:effectLst/>
                          <a:latin typeface="+mn-lt"/>
                          <a:ea typeface="+mn-ea"/>
                          <a:cs typeface="+mn-cs"/>
                        </a:rPr>
                        <a:t>жарлар</a:t>
                      </a:r>
                      <a:r>
                        <a:rPr lang="uz-Cyrl-UZ" sz="900" b="0" i="0" kern="1200" dirty="0" smtClean="0">
                          <a:solidFill>
                            <a:schemeClr val="tx1"/>
                          </a:solidFill>
                          <a:effectLst/>
                          <a:latin typeface="+mn-lt"/>
                          <a:ea typeface="+mn-ea"/>
                          <a:cs typeface="+mn-cs"/>
                        </a:rPr>
                        <a:t>”, К.Рахмановнинг “Ёр висоли” спектаклларига мусиқа басталади</a:t>
                      </a:r>
                      <a:r>
                        <a:rPr lang="ru-RU" sz="900" b="0" i="0" kern="1200" dirty="0" smtClean="0">
                          <a:solidFill>
                            <a:schemeClr val="tx1"/>
                          </a:solidFill>
                          <a:effectLst/>
                          <a:latin typeface="+mn-lt"/>
                          <a:ea typeface="+mn-ea"/>
                          <a:cs typeface="+mn-cs"/>
                        </a:rPr>
                        <a:t>.</a:t>
                      </a:r>
                      <a:endParaRPr lang="ru-RU" sz="900" b="0" i="1"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2013 йил Тошкент шаҳрида театр жамоаси билан гастроль сафарида бўлиб “Алпомиш” спектакли дирижери, 2013 йил театрда сахналаштирилган «Тумарис» операси ва 2015 йил «Қирққиз» балетининг муаллифи.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Қорақалпоғистон Республикаси Маданият ва спорт ишлари вазирлигининг 2015 йил якуни бўйича “Эътироф” танловининг “Йилнинг энг яхши бастакори” номинацияси ғолиби. 2017 йил “Бердақ”, 2018 йил “Едиге” тарийхий мусиšали спектаклининг ва 2019 йил «Гулайим» операсининг муаллифи.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К.Заретдинов миллий маданиятимизнинг юксалишига ҳамда ривожланишига ўзининг хиссасини қўшиб келаётган устоз дирижёр.</a:t>
                      </a:r>
                      <a:endParaRPr lang="ru-RU" sz="900" b="0" kern="1200" dirty="0" smtClean="0">
                        <a:solidFill>
                          <a:schemeClr val="tx1"/>
                        </a:solidFill>
                        <a:effectLst/>
                        <a:latin typeface="+mn-lt"/>
                        <a:ea typeface="+mn-ea"/>
                        <a:cs typeface="+mn-cs"/>
                      </a:endParaRPr>
                    </a:p>
                    <a:p>
                      <a:pPr algn="just">
                        <a:lnSpc>
                          <a:spcPct val="85000"/>
                        </a:lnSpc>
                      </a:pP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67733">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35617">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p:cNvPicPr>
            <a:picLocks noChangeAspect="1"/>
          </p:cNvPicPr>
          <p:nvPr/>
        </p:nvPicPr>
        <p:blipFill>
          <a:blip r:embed="rId2"/>
          <a:stretch>
            <a:fillRect/>
          </a:stretch>
        </p:blipFill>
        <p:spPr>
          <a:xfrm>
            <a:off x="239090" y="1098459"/>
            <a:ext cx="910441" cy="1107096"/>
          </a:xfrm>
          <a:prstGeom prst="rect">
            <a:avLst/>
          </a:prstGeom>
        </p:spPr>
      </p:pic>
    </p:spTree>
    <p:extLst>
      <p:ext uri="{BB962C8B-B14F-4D97-AF65-F5344CB8AC3E}">
        <p14:creationId xmlns:p14="http://schemas.microsoft.com/office/powerpoint/2010/main" val="400731293"/>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544705458"/>
              </p:ext>
            </p:extLst>
          </p:nvPr>
        </p:nvGraphicFramePr>
        <p:xfrm>
          <a:off x="144489" y="865704"/>
          <a:ext cx="3427547" cy="5919655"/>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3921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7009">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САПАЕВА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700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Мырзагул</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700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Жуманазаровна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7009">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КОРАКАЛПОК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700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25..07.1962</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700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Чимбай 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7004">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49090">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3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2 ўғил, 1 киз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ишта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7004">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775882">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kern="1200" dirty="0" smtClean="0">
                          <a:solidFill>
                            <a:schemeClr val="tx1"/>
                          </a:solidFill>
                          <a:effectLst/>
                          <a:latin typeface="+mn-lt"/>
                          <a:ea typeface="+mn-ea"/>
                          <a:cs typeface="+mn-cs"/>
                        </a:rPr>
                        <a:t>САПАЕВ </a:t>
                      </a:r>
                      <a:r>
                        <a:rPr lang="ru-RU" sz="900" kern="1200" dirty="0" err="1" smtClean="0">
                          <a:solidFill>
                            <a:schemeClr val="tx1"/>
                          </a:solidFill>
                          <a:effectLst/>
                          <a:latin typeface="+mn-lt"/>
                          <a:ea typeface="+mn-ea"/>
                          <a:cs typeface="+mn-cs"/>
                        </a:rPr>
                        <a:t>Жуманазар</a:t>
                      </a:r>
                      <a:r>
                        <a:rPr lang="ru-RU" sz="900" kern="1200" dirty="0" smtClean="0">
                          <a:solidFill>
                            <a:schemeClr val="tx1"/>
                          </a:solidFill>
                          <a:effectLst/>
                          <a:latin typeface="+mn-lt"/>
                          <a:ea typeface="+mn-ea"/>
                          <a:cs typeface="+mn-cs"/>
                        </a:rPr>
                        <a:t> </a:t>
                      </a:r>
                      <a:r>
                        <a:rPr lang="uz-Cyrl-UZ" sz="900" b="0" kern="1200" noProof="0" dirty="0" smtClean="0">
                          <a:solidFill>
                            <a:schemeClr val="tx1"/>
                          </a:solidFill>
                          <a:latin typeface="+mn-lt"/>
                          <a:ea typeface="+mn-ea"/>
                          <a:cs typeface="Arial" panose="020B0604020202020204" pitchFamily="34" charset="0"/>
                        </a:rPr>
                        <a:t>1910 йил, Чимбой тумани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kern="1200" dirty="0" smtClean="0">
                          <a:solidFill>
                            <a:schemeClr val="tx1"/>
                          </a:solidFill>
                          <a:effectLst/>
                          <a:latin typeface="+mn-lt"/>
                          <a:ea typeface="+mn-ea"/>
                          <a:cs typeface="+mn-cs"/>
                        </a:rPr>
                        <a:t>1986 </a:t>
                      </a:r>
                      <a:r>
                        <a:rPr lang="ru-RU" sz="900" kern="1200" dirty="0" err="1" smtClean="0">
                          <a:solidFill>
                            <a:schemeClr val="tx1"/>
                          </a:solidFill>
                          <a:effectLst/>
                          <a:latin typeface="+mn-lt"/>
                          <a:ea typeface="+mn-ea"/>
                          <a:cs typeface="+mn-cs"/>
                        </a:rPr>
                        <a:t>йил</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вафот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этган</a:t>
                      </a:r>
                      <a:r>
                        <a:rPr lang="ru-RU" sz="900" kern="1200" dirty="0" smtClean="0">
                          <a:solidFill>
                            <a:schemeClr val="tx1"/>
                          </a:solidFill>
                          <a:effectLst/>
                          <a:latin typeface="+mn-lt"/>
                          <a:ea typeface="+mn-ea"/>
                          <a:cs typeface="+mn-cs"/>
                        </a:rPr>
                        <a:t> (</a:t>
                      </a:r>
                      <a:r>
                        <a:rPr lang="ca-ES"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ор</a:t>
                      </a:r>
                      <a:r>
                        <a:rPr lang="ca-ES" sz="900" kern="1200" dirty="0" smtClean="0">
                          <a:solidFill>
                            <a:schemeClr val="tx1"/>
                          </a:solidFill>
                          <a:effectLst/>
                          <a:latin typeface="+mn-lt"/>
                          <a:ea typeface="+mn-ea"/>
                          <a:cs typeface="+mn-cs"/>
                        </a:rPr>
                        <a:t>ақ</a:t>
                      </a:r>
                      <a:r>
                        <a:rPr lang="ru-RU" sz="900" kern="1200" dirty="0" err="1" smtClean="0">
                          <a:solidFill>
                            <a:schemeClr val="tx1"/>
                          </a:solidFill>
                          <a:effectLst/>
                          <a:latin typeface="+mn-lt"/>
                          <a:ea typeface="+mn-ea"/>
                          <a:cs typeface="+mn-cs"/>
                        </a:rPr>
                        <a:t>алпо</a:t>
                      </a:r>
                      <a:r>
                        <a:rPr lang="ca-ES" sz="900" kern="1200" dirty="0" smtClean="0">
                          <a:solidFill>
                            <a:schemeClr val="tx1"/>
                          </a:solidFill>
                          <a:effectLst/>
                          <a:latin typeface="+mn-lt"/>
                          <a:ea typeface="+mn-ea"/>
                          <a:cs typeface="+mn-cs"/>
                        </a:rPr>
                        <a:t>ғ</a:t>
                      </a:r>
                      <a:r>
                        <a:rPr lang="ru-RU" sz="900" kern="1200" dirty="0" err="1" smtClean="0">
                          <a:solidFill>
                            <a:schemeClr val="tx1"/>
                          </a:solidFill>
                          <a:effectLst/>
                          <a:latin typeface="+mn-lt"/>
                          <a:ea typeface="+mn-ea"/>
                          <a:cs typeface="+mn-cs"/>
                        </a:rPr>
                        <a:t>истон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Республикаси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Чимбой</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тумани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Кенес</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хўжалиги</a:t>
                      </a:r>
                      <a:r>
                        <a:rPr lang="ru-RU" sz="900" kern="1200" dirty="0" smtClean="0">
                          <a:solidFill>
                            <a:schemeClr val="tx1"/>
                          </a:solidFill>
                          <a:effectLst/>
                          <a:latin typeface="+mn-lt"/>
                          <a:ea typeface="+mn-ea"/>
                          <a:cs typeface="+mn-cs"/>
                        </a:rPr>
                        <a:t> б</a:t>
                      </a:r>
                      <a:r>
                        <a:rPr lang="uz-Cyrl-UZ" sz="900" kern="1200" dirty="0" smtClean="0">
                          <a:solidFill>
                            <a:schemeClr val="tx1"/>
                          </a:solidFill>
                          <a:effectLst/>
                          <a:latin typeface="+mn-lt"/>
                          <a:ea typeface="+mn-ea"/>
                          <a:cs typeface="+mn-cs"/>
                        </a:rPr>
                        <a:t>ў</a:t>
                      </a:r>
                      <a:r>
                        <a:rPr lang="ru-RU" sz="900" kern="1200" dirty="0" err="1" smtClean="0">
                          <a:solidFill>
                            <a:schemeClr val="tx1"/>
                          </a:solidFill>
                          <a:effectLst/>
                          <a:latin typeface="+mn-lt"/>
                          <a:ea typeface="+mn-ea"/>
                          <a:cs typeface="+mn-cs"/>
                        </a:rPr>
                        <a:t>лим</a:t>
                      </a:r>
                      <a:r>
                        <a:rPr lang="uz-Cyrl-UZ" sz="900" kern="1200" dirty="0" smtClean="0">
                          <a:solidFill>
                            <a:schemeClr val="tx1"/>
                          </a:solidFill>
                          <a:effectLst/>
                          <a:latin typeface="+mn-lt"/>
                          <a:ea typeface="+mn-ea"/>
                          <a:cs typeface="+mn-cs"/>
                        </a:rPr>
                        <a:t>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бошли</a:t>
                      </a:r>
                      <a:r>
                        <a:rPr lang="uz-Cyrl-UZ" sz="900" kern="1200" dirty="0" smtClean="0">
                          <a:solidFill>
                            <a:schemeClr val="tx1"/>
                          </a:solidFill>
                          <a:effectLst/>
                          <a:latin typeface="+mn-lt"/>
                          <a:ea typeface="+mn-ea"/>
                          <a:cs typeface="+mn-cs"/>
                        </a:rPr>
                        <a:t>ғи</a:t>
                      </a:r>
                      <a:r>
                        <a:rPr lang="ru-RU" sz="900" kern="1200" dirty="0" smtClean="0">
                          <a:solidFill>
                            <a:schemeClr val="tx1"/>
                          </a:solidFill>
                          <a:effectLst/>
                          <a:latin typeface="+mn-lt"/>
                          <a:ea typeface="+mn-ea"/>
                          <a:cs typeface="+mn-cs"/>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659137">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kern="1200" dirty="0" smtClean="0">
                          <a:solidFill>
                            <a:schemeClr val="tx1"/>
                          </a:solidFill>
                          <a:effectLst/>
                          <a:latin typeface="+mn-lt"/>
                          <a:ea typeface="+mn-ea"/>
                          <a:cs typeface="+mn-cs"/>
                        </a:rPr>
                        <a:t>НАРТАЕВА </a:t>
                      </a:r>
                      <a:r>
                        <a:rPr lang="ru-RU" sz="900" kern="1200" dirty="0" err="1" smtClean="0">
                          <a:solidFill>
                            <a:schemeClr val="tx1"/>
                          </a:solidFill>
                          <a:effectLst/>
                          <a:latin typeface="+mn-lt"/>
                          <a:ea typeface="+mn-ea"/>
                          <a:cs typeface="+mn-cs"/>
                        </a:rPr>
                        <a:t>Арзыгул</a:t>
                      </a:r>
                      <a:r>
                        <a:rPr lang="ru-RU" sz="900" kern="1200" dirty="0" smtClean="0">
                          <a:solidFill>
                            <a:schemeClr val="tx1"/>
                          </a:solidFill>
                          <a:effectLst/>
                          <a:latin typeface="+mn-lt"/>
                          <a:ea typeface="+mn-ea"/>
                          <a:cs typeface="+mn-cs"/>
                        </a:rPr>
                        <a:t> </a:t>
                      </a:r>
                      <a:r>
                        <a:rPr lang="uz-Cyrl-UZ" sz="900" b="0" kern="1200" noProof="0" dirty="0" smtClean="0">
                          <a:solidFill>
                            <a:schemeClr val="tx1"/>
                          </a:solidFill>
                          <a:latin typeface="+mn-lt"/>
                          <a:ea typeface="+mn-ea"/>
                          <a:cs typeface="Arial" panose="020B0604020202020204" pitchFamily="34" charset="0"/>
                        </a:rPr>
                        <a:t>1955 йил, Чимбой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kern="1200" dirty="0" smtClean="0">
                          <a:solidFill>
                            <a:schemeClr val="tx1"/>
                          </a:solidFill>
                          <a:effectLst/>
                          <a:latin typeface="+mn-lt"/>
                          <a:ea typeface="+mn-ea"/>
                          <a:cs typeface="+mn-cs"/>
                        </a:rPr>
                        <a:t>1997 </a:t>
                      </a:r>
                      <a:r>
                        <a:rPr lang="ru-RU" sz="900" kern="1200" dirty="0" err="1" smtClean="0">
                          <a:solidFill>
                            <a:schemeClr val="tx1"/>
                          </a:solidFill>
                          <a:effectLst/>
                          <a:latin typeface="+mn-lt"/>
                          <a:ea typeface="+mn-ea"/>
                          <a:cs typeface="+mn-cs"/>
                        </a:rPr>
                        <a:t>йил</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вафот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этган</a:t>
                      </a:r>
                      <a:r>
                        <a:rPr lang="ru-RU" sz="900" kern="1200" dirty="0" smtClean="0">
                          <a:solidFill>
                            <a:schemeClr val="tx1"/>
                          </a:solidFill>
                          <a:effectLst/>
                          <a:latin typeface="+mn-lt"/>
                          <a:ea typeface="+mn-ea"/>
                          <a:cs typeface="+mn-cs"/>
                        </a:rPr>
                        <a:t> (</a:t>
                      </a:r>
                      <a:r>
                        <a:rPr lang="ca-ES"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ор</a:t>
                      </a:r>
                      <a:r>
                        <a:rPr lang="ca-ES" sz="900" kern="1200" dirty="0" smtClean="0">
                          <a:solidFill>
                            <a:schemeClr val="tx1"/>
                          </a:solidFill>
                          <a:effectLst/>
                          <a:latin typeface="+mn-lt"/>
                          <a:ea typeface="+mn-ea"/>
                          <a:cs typeface="+mn-cs"/>
                        </a:rPr>
                        <a:t>ақ</a:t>
                      </a:r>
                      <a:r>
                        <a:rPr lang="ru-RU" sz="900" kern="1200" dirty="0" err="1" smtClean="0">
                          <a:solidFill>
                            <a:schemeClr val="tx1"/>
                          </a:solidFill>
                          <a:effectLst/>
                          <a:latin typeface="+mn-lt"/>
                          <a:ea typeface="+mn-ea"/>
                          <a:cs typeface="+mn-cs"/>
                        </a:rPr>
                        <a:t>алпо</a:t>
                      </a:r>
                      <a:r>
                        <a:rPr lang="ca-ES" sz="900" kern="1200" dirty="0" smtClean="0">
                          <a:solidFill>
                            <a:schemeClr val="tx1"/>
                          </a:solidFill>
                          <a:effectLst/>
                          <a:latin typeface="+mn-lt"/>
                          <a:ea typeface="+mn-ea"/>
                          <a:cs typeface="+mn-cs"/>
                        </a:rPr>
                        <a:t>ғ</a:t>
                      </a:r>
                      <a:r>
                        <a:rPr lang="ru-RU" sz="900" kern="1200" dirty="0" err="1" smtClean="0">
                          <a:solidFill>
                            <a:schemeClr val="tx1"/>
                          </a:solidFill>
                          <a:effectLst/>
                          <a:latin typeface="+mn-lt"/>
                          <a:ea typeface="+mn-ea"/>
                          <a:cs typeface="+mn-cs"/>
                        </a:rPr>
                        <a:t>истон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Республикаси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Чимбой</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тумани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Кенес</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хўжалиги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ишчи</a:t>
                      </a:r>
                      <a:r>
                        <a:rPr lang="uz-Cyrl-UZ" sz="900" kern="1200" dirty="0" smtClean="0">
                          <a:solidFill>
                            <a:schemeClr val="tx1"/>
                          </a:solidFill>
                          <a:effectLst/>
                          <a:latin typeface="+mn-lt"/>
                          <a:ea typeface="+mn-ea"/>
                          <a:cs typeface="+mn-cs"/>
                        </a:rPr>
                        <a:t>си</a:t>
                      </a:r>
                      <a:r>
                        <a:rPr lang="ru-RU" sz="900" kern="1200" dirty="0" smtClean="0">
                          <a:solidFill>
                            <a:schemeClr val="tx1"/>
                          </a:solidFill>
                          <a:effectLst/>
                          <a:latin typeface="+mn-lt"/>
                          <a:ea typeface="+mn-ea"/>
                          <a:cs typeface="+mn-cs"/>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659137">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kern="1200" dirty="0" smtClean="0">
                          <a:solidFill>
                            <a:schemeClr val="tx1"/>
                          </a:solidFill>
                          <a:effectLst/>
                          <a:latin typeface="+mn-lt"/>
                          <a:ea typeface="+mn-ea"/>
                          <a:cs typeface="+mn-cs"/>
                        </a:rPr>
                        <a:t>УЗАКБАЕВ </a:t>
                      </a:r>
                      <a:r>
                        <a:rPr lang="ru-RU" sz="900" kern="1200" dirty="0" err="1" smtClean="0">
                          <a:solidFill>
                            <a:schemeClr val="tx1"/>
                          </a:solidFill>
                          <a:effectLst/>
                          <a:latin typeface="+mn-lt"/>
                          <a:ea typeface="+mn-ea"/>
                          <a:cs typeface="+mn-cs"/>
                        </a:rPr>
                        <a:t>Сарсенбай</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Узакбоевич</a:t>
                      </a:r>
                      <a:r>
                        <a:rPr lang="ru-RU" sz="900" kern="1200" dirty="0" smtClean="0">
                          <a:solidFill>
                            <a:schemeClr val="tx1"/>
                          </a:solidFill>
                          <a:effectLst/>
                          <a:latin typeface="+mn-lt"/>
                          <a:ea typeface="+mn-ea"/>
                          <a:cs typeface="+mn-cs"/>
                        </a:rPr>
                        <a:t> </a:t>
                      </a:r>
                      <a:r>
                        <a:rPr lang="uz-Cyrl-UZ" sz="900" b="0" kern="1200" noProof="0" dirty="0" smtClean="0">
                          <a:solidFill>
                            <a:schemeClr val="tx1"/>
                          </a:solidFill>
                          <a:latin typeface="+mn-lt"/>
                          <a:ea typeface="+mn-ea"/>
                          <a:cs typeface="Arial" panose="020B0604020202020204" pitchFamily="34" charset="0"/>
                        </a:rPr>
                        <a:t>1958 йил, Чимбой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kern="1200" dirty="0" smtClean="0">
                          <a:solidFill>
                            <a:schemeClr val="tx1"/>
                          </a:solidFill>
                          <a:effectLst/>
                          <a:latin typeface="+mn-lt"/>
                          <a:ea typeface="+mn-ea"/>
                          <a:cs typeface="+mn-cs"/>
                        </a:rPr>
                        <a:t>2020 </a:t>
                      </a:r>
                      <a:r>
                        <a:rPr lang="ru-RU" sz="900" kern="1200" dirty="0" err="1" smtClean="0">
                          <a:solidFill>
                            <a:schemeClr val="tx1"/>
                          </a:solidFill>
                          <a:effectLst/>
                          <a:latin typeface="+mn-lt"/>
                          <a:ea typeface="+mn-ea"/>
                          <a:cs typeface="+mn-cs"/>
                        </a:rPr>
                        <a:t>йил</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вафот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этган</a:t>
                      </a:r>
                      <a:r>
                        <a:rPr lang="ru-RU" sz="900" kern="1200" dirty="0" smtClean="0">
                          <a:solidFill>
                            <a:schemeClr val="tx1"/>
                          </a:solidFill>
                          <a:effectLst/>
                          <a:latin typeface="+mn-lt"/>
                          <a:ea typeface="+mn-ea"/>
                          <a:cs typeface="+mn-cs"/>
                        </a:rPr>
                        <a:t> (Берда</a:t>
                      </a:r>
                      <a:r>
                        <a:rPr lang="ca-ES"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номидаги</a:t>
                      </a:r>
                      <a:r>
                        <a:rPr lang="ru-RU" sz="900" kern="1200" dirty="0" smtClean="0">
                          <a:solidFill>
                            <a:schemeClr val="tx1"/>
                          </a:solidFill>
                          <a:effectLst/>
                          <a:latin typeface="+mn-lt"/>
                          <a:ea typeface="+mn-ea"/>
                          <a:cs typeface="+mn-cs"/>
                        </a:rPr>
                        <a:t> </a:t>
                      </a:r>
                      <a:r>
                        <a:rPr lang="ca-ES"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ора</a:t>
                      </a:r>
                      <a:r>
                        <a:rPr lang="ca-ES" sz="900" kern="1200" dirty="0" smtClean="0">
                          <a:solidFill>
                            <a:schemeClr val="tx1"/>
                          </a:solidFill>
                          <a:effectLst/>
                          <a:latin typeface="+mn-lt"/>
                          <a:ea typeface="+mn-ea"/>
                          <a:cs typeface="+mn-cs"/>
                        </a:rPr>
                        <a:t>қ</a:t>
                      </a:r>
                      <a:r>
                        <a:rPr lang="ru-RU" sz="900" kern="1200" dirty="0" err="1" smtClean="0">
                          <a:solidFill>
                            <a:schemeClr val="tx1"/>
                          </a:solidFill>
                          <a:effectLst/>
                          <a:latin typeface="+mn-lt"/>
                          <a:ea typeface="+mn-ea"/>
                          <a:cs typeface="+mn-cs"/>
                        </a:rPr>
                        <a:t>алпо</a:t>
                      </a:r>
                      <a:r>
                        <a:rPr lang="ca-ES"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давлат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муси</a:t>
                      </a:r>
                      <a:r>
                        <a:rPr lang="ca-ES" sz="900" kern="1200" dirty="0" smtClean="0">
                          <a:solidFill>
                            <a:schemeClr val="tx1"/>
                          </a:solidFill>
                          <a:effectLst/>
                          <a:latin typeface="+mn-lt"/>
                          <a:ea typeface="+mn-ea"/>
                          <a:cs typeface="+mn-cs"/>
                        </a:rPr>
                        <a:t>қали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театри</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режиссёри)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4113">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33829">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kern="1200" dirty="0" smtClean="0">
                          <a:solidFill>
                            <a:schemeClr val="tx1"/>
                          </a:solidFill>
                          <a:effectLst/>
                          <a:latin typeface="+mn-lt"/>
                          <a:ea typeface="+mn-ea"/>
                          <a:cs typeface="+mn-cs"/>
                        </a:rPr>
                        <a:t>1985й. Тошкент давлат театр ва рассомлик санъати институти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196483">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kern="1200" dirty="0" smtClean="0">
                          <a:solidFill>
                            <a:schemeClr val="tx1"/>
                          </a:solidFill>
                          <a:effectLst/>
                          <a:latin typeface="+mn-lt"/>
                          <a:ea typeface="+mn-ea"/>
                          <a:cs typeface="+mn-cs"/>
                        </a:rPr>
                        <a:t>муси</a:t>
                      </a:r>
                      <a:r>
                        <a:rPr lang="ca-ES" sz="800" kern="1200" dirty="0" smtClean="0">
                          <a:solidFill>
                            <a:schemeClr val="tx1"/>
                          </a:solidFill>
                          <a:effectLst/>
                          <a:latin typeface="+mn-lt"/>
                          <a:ea typeface="+mn-ea"/>
                          <a:cs typeface="+mn-cs"/>
                        </a:rPr>
                        <a:t>қ</a:t>
                      </a:r>
                      <a:r>
                        <a:rPr lang="uz-Cyrl-UZ" sz="800" kern="1200" dirty="0" smtClean="0">
                          <a:solidFill>
                            <a:schemeClr val="tx1"/>
                          </a:solidFill>
                          <a:effectLst/>
                          <a:latin typeface="+mn-lt"/>
                          <a:ea typeface="+mn-ea"/>
                          <a:cs typeface="+mn-cs"/>
                        </a:rPr>
                        <a:t>а</a:t>
                      </a:r>
                      <a:r>
                        <a:rPr lang="ca-ES" sz="800" kern="1200" dirty="0" smtClean="0">
                          <a:solidFill>
                            <a:schemeClr val="tx1"/>
                          </a:solidFill>
                          <a:effectLst/>
                          <a:latin typeface="+mn-lt"/>
                          <a:ea typeface="+mn-ea"/>
                          <a:cs typeface="+mn-cs"/>
                        </a:rPr>
                        <a:t>ли</a:t>
                      </a:r>
                      <a:r>
                        <a:rPr lang="uz-Cyrl-UZ" sz="800" kern="1200" dirty="0" smtClean="0">
                          <a:solidFill>
                            <a:schemeClr val="tx1"/>
                          </a:solidFill>
                          <a:effectLst/>
                          <a:latin typeface="+mn-lt"/>
                          <a:ea typeface="+mn-ea"/>
                          <a:cs typeface="+mn-cs"/>
                        </a:rPr>
                        <a:t> театр акт</a:t>
                      </a:r>
                      <a:r>
                        <a:rPr lang="ca-ES" sz="800" kern="1200" dirty="0" smtClean="0">
                          <a:solidFill>
                            <a:schemeClr val="tx1"/>
                          </a:solidFill>
                          <a:effectLst/>
                          <a:latin typeface="+mn-lt"/>
                          <a:ea typeface="+mn-ea"/>
                          <a:cs typeface="+mn-cs"/>
                        </a:rPr>
                        <a:t>ё</a:t>
                      </a:r>
                      <a:r>
                        <a:rPr lang="uz-Cyrl-UZ" sz="800" kern="1200" dirty="0" smtClean="0">
                          <a:solidFill>
                            <a:schemeClr val="tx1"/>
                          </a:solidFill>
                          <a:effectLst/>
                          <a:latin typeface="+mn-lt"/>
                          <a:ea typeface="+mn-ea"/>
                          <a:cs typeface="+mn-cs"/>
                        </a:rPr>
                        <a:t>ри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8903">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профессор</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8903">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08903">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906718130"/>
              </p:ext>
            </p:extLst>
          </p:nvPr>
        </p:nvGraphicFramePr>
        <p:xfrm>
          <a:off x="3674526" y="865689"/>
          <a:ext cx="3172841" cy="591967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27279">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652557">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smtClean="0">
                          <a:solidFill>
                            <a:schemeClr val="tx1"/>
                          </a:solidFill>
                          <a:effectLst/>
                          <a:latin typeface="+mn-lt"/>
                          <a:ea typeface="+mn-ea"/>
                          <a:cs typeface="+mn-cs"/>
                        </a:rPr>
                        <a:t>1985 йилдан буён - Берда</a:t>
                      </a:r>
                      <a:r>
                        <a:rPr lang="ca-ES" sz="900" kern="1200" dirty="0" smtClean="0">
                          <a:solidFill>
                            <a:schemeClr val="tx1"/>
                          </a:solidFill>
                          <a:effectLst/>
                          <a:latin typeface="+mn-lt"/>
                          <a:ea typeface="+mn-ea"/>
                          <a:cs typeface="+mn-cs"/>
                        </a:rPr>
                        <a:t>қ</a:t>
                      </a:r>
                      <a:r>
                        <a:rPr lang="uz-Cyrl-UZ" sz="900" kern="1200" dirty="0" smtClean="0">
                          <a:solidFill>
                            <a:schemeClr val="tx1"/>
                          </a:solidFill>
                          <a:effectLst/>
                          <a:latin typeface="+mn-lt"/>
                          <a:ea typeface="+mn-ea"/>
                          <a:cs typeface="+mn-cs"/>
                        </a:rPr>
                        <a:t> номидаги </a:t>
                      </a:r>
                      <a:r>
                        <a:rPr lang="ca-ES" sz="900" kern="1200" dirty="0" smtClean="0">
                          <a:solidFill>
                            <a:schemeClr val="tx1"/>
                          </a:solidFill>
                          <a:effectLst/>
                          <a:latin typeface="+mn-lt"/>
                          <a:ea typeface="+mn-ea"/>
                          <a:cs typeface="+mn-cs"/>
                        </a:rPr>
                        <a:t>Қ</a:t>
                      </a:r>
                      <a:r>
                        <a:rPr lang="uz-Cyrl-UZ" sz="900" kern="1200" dirty="0" smtClean="0">
                          <a:solidFill>
                            <a:schemeClr val="tx1"/>
                          </a:solidFill>
                          <a:effectLst/>
                          <a:latin typeface="+mn-lt"/>
                          <a:ea typeface="+mn-ea"/>
                          <a:cs typeface="+mn-cs"/>
                        </a:rPr>
                        <a:t>ора</a:t>
                      </a:r>
                      <a:r>
                        <a:rPr lang="ca-ES" sz="900" kern="1200" dirty="0" smtClean="0">
                          <a:solidFill>
                            <a:schemeClr val="tx1"/>
                          </a:solidFill>
                          <a:effectLst/>
                          <a:latin typeface="+mn-lt"/>
                          <a:ea typeface="+mn-ea"/>
                          <a:cs typeface="+mn-cs"/>
                        </a:rPr>
                        <a:t>қ</a:t>
                      </a:r>
                      <a:r>
                        <a:rPr lang="uz-Cyrl-UZ" sz="900" kern="1200" dirty="0" smtClean="0">
                          <a:solidFill>
                            <a:schemeClr val="tx1"/>
                          </a:solidFill>
                          <a:effectLst/>
                          <a:latin typeface="+mn-lt"/>
                          <a:ea typeface="+mn-ea"/>
                          <a:cs typeface="+mn-cs"/>
                        </a:rPr>
                        <a:t>алпо</a:t>
                      </a:r>
                      <a:r>
                        <a:rPr lang="ca-ES" sz="900" kern="1200" dirty="0" smtClean="0">
                          <a:solidFill>
                            <a:schemeClr val="tx1"/>
                          </a:solidFill>
                          <a:effectLst/>
                          <a:latin typeface="+mn-lt"/>
                          <a:ea typeface="+mn-ea"/>
                          <a:cs typeface="+mn-cs"/>
                        </a:rPr>
                        <a:t>қ</a:t>
                      </a:r>
                      <a:r>
                        <a:rPr lang="uz-Cyrl-UZ" sz="900" kern="1200" dirty="0" smtClean="0">
                          <a:solidFill>
                            <a:schemeClr val="tx1"/>
                          </a:solidFill>
                          <a:effectLst/>
                          <a:latin typeface="+mn-lt"/>
                          <a:ea typeface="+mn-ea"/>
                          <a:cs typeface="+mn-cs"/>
                        </a:rPr>
                        <a:t> давлат академик муси</a:t>
                      </a:r>
                      <a:r>
                        <a:rPr lang="ca-ES" sz="900" kern="1200" dirty="0" smtClean="0">
                          <a:solidFill>
                            <a:schemeClr val="tx1"/>
                          </a:solidFill>
                          <a:effectLst/>
                          <a:latin typeface="+mn-lt"/>
                          <a:ea typeface="+mn-ea"/>
                          <a:cs typeface="+mn-cs"/>
                        </a:rPr>
                        <a:t>қали</a:t>
                      </a:r>
                      <a:r>
                        <a:rPr lang="uz-Cyrl-UZ" sz="900" kern="1200" dirty="0" smtClean="0">
                          <a:solidFill>
                            <a:schemeClr val="tx1"/>
                          </a:solidFill>
                          <a:effectLst/>
                          <a:latin typeface="+mn-lt"/>
                          <a:ea typeface="+mn-ea"/>
                          <a:cs typeface="+mn-cs"/>
                        </a:rPr>
                        <a:t> театрининг вокал артисти</a:t>
                      </a:r>
                      <a:endParaRPr lang="ru-RU" sz="900" kern="1200" dirty="0">
                        <a:solidFill>
                          <a:schemeClr val="tx1"/>
                        </a:solidFill>
                        <a:effectLst/>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44208">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021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40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578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7143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0668">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0668">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2025 й. “Турон” сиҳатгоҳида даволанган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0668">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2025й.</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5762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6502">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32052">
                <a:tc gridSpan="2">
                  <a:txBody>
                    <a:bodyPr/>
                    <a:lstStyle/>
                    <a:p>
                      <a:r>
                        <a:rPr lang="uz-Cyrl-UZ" sz="900" kern="1200" dirty="0" smtClean="0">
                          <a:solidFill>
                            <a:schemeClr val="tx1"/>
                          </a:solidFill>
                          <a:effectLst/>
                          <a:latin typeface="+mn-lt"/>
                          <a:ea typeface="+mn-ea"/>
                          <a:cs typeface="+mn-cs"/>
                        </a:rPr>
                        <a:t>1987 й. “</a:t>
                      </a:r>
                      <a:r>
                        <a:rPr lang="ca-ES" sz="900" kern="1200" dirty="0" smtClean="0">
                          <a:solidFill>
                            <a:schemeClr val="tx1"/>
                          </a:solidFill>
                          <a:effectLst/>
                          <a:latin typeface="+mn-lt"/>
                          <a:ea typeface="+mn-ea"/>
                          <a:cs typeface="+mn-cs"/>
                        </a:rPr>
                        <a:t>Қ</a:t>
                      </a:r>
                      <a:r>
                        <a:rPr lang="uz-Cyrl-UZ" sz="900" kern="1200" dirty="0" smtClean="0">
                          <a:solidFill>
                            <a:schemeClr val="tx1"/>
                          </a:solidFill>
                          <a:effectLst/>
                          <a:latin typeface="+mn-lt"/>
                          <a:ea typeface="+mn-ea"/>
                          <a:cs typeface="+mn-cs"/>
                        </a:rPr>
                        <a:t>ора</a:t>
                      </a:r>
                      <a:r>
                        <a:rPr lang="ca-ES" sz="900" kern="1200" dirty="0" smtClean="0">
                          <a:solidFill>
                            <a:schemeClr val="tx1"/>
                          </a:solidFill>
                          <a:effectLst/>
                          <a:latin typeface="+mn-lt"/>
                          <a:ea typeface="+mn-ea"/>
                          <a:cs typeface="+mn-cs"/>
                        </a:rPr>
                        <a:t>қ</a:t>
                      </a:r>
                      <a:r>
                        <a:rPr lang="uz-Cyrl-UZ" sz="900" kern="1200" dirty="0" smtClean="0">
                          <a:solidFill>
                            <a:schemeClr val="tx1"/>
                          </a:solidFill>
                          <a:effectLst/>
                          <a:latin typeface="+mn-lt"/>
                          <a:ea typeface="+mn-ea"/>
                          <a:cs typeface="+mn-cs"/>
                        </a:rPr>
                        <a:t>алпо</a:t>
                      </a:r>
                      <a:r>
                        <a:rPr lang="ca-ES" sz="900" kern="1200" dirty="0" smtClean="0">
                          <a:solidFill>
                            <a:schemeClr val="tx1"/>
                          </a:solidFill>
                          <a:effectLst/>
                          <a:latin typeface="+mn-lt"/>
                          <a:ea typeface="+mn-ea"/>
                          <a:cs typeface="+mn-cs"/>
                        </a:rPr>
                        <a:t>ғ</a:t>
                      </a:r>
                      <a:r>
                        <a:rPr lang="uz-Cyrl-UZ" sz="900" kern="1200" dirty="0" smtClean="0">
                          <a:solidFill>
                            <a:schemeClr val="tx1"/>
                          </a:solidFill>
                          <a:effectLst/>
                          <a:latin typeface="+mn-lt"/>
                          <a:ea typeface="+mn-ea"/>
                          <a:cs typeface="+mn-cs"/>
                        </a:rPr>
                        <a:t>истон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Республикаси</a:t>
                      </a:r>
                      <a:r>
                        <a:rPr lang="uz-Cyrl-UZ" sz="900" kern="1200" dirty="0" smtClean="0">
                          <a:solidFill>
                            <a:schemeClr val="tx1"/>
                          </a:solidFill>
                          <a:effectLst/>
                          <a:latin typeface="+mn-lt"/>
                          <a:ea typeface="+mn-ea"/>
                          <a:cs typeface="+mn-cs"/>
                        </a:rPr>
                        <a:t>га хизмат кўрсатган артист” </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1993 й. “Ўзбекистон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Республикасида</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хизмат кўрсаткан артист”</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1994 й. “Туркманистон Республикасига хизмат кўрсатган артист”</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2000 й. “Ўзбекистон </a:t>
                      </a:r>
                      <a:r>
                        <a:rPr lang="ru-RU" sz="900" kern="1200" dirty="0" err="1" smtClean="0">
                          <a:solidFill>
                            <a:schemeClr val="tx1"/>
                          </a:solidFill>
                          <a:effectLst/>
                          <a:latin typeface="+mn-lt"/>
                          <a:ea typeface="+mn-ea"/>
                          <a:cs typeface="+mn-cs"/>
                        </a:rPr>
                        <a:t>Республикаси</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хал</a:t>
                      </a:r>
                      <a:r>
                        <a:rPr lang="ca-ES" sz="900" kern="1200" dirty="0" smtClean="0">
                          <a:solidFill>
                            <a:schemeClr val="tx1"/>
                          </a:solidFill>
                          <a:effectLst/>
                          <a:latin typeface="+mn-lt"/>
                          <a:ea typeface="+mn-ea"/>
                          <a:cs typeface="+mn-cs"/>
                        </a:rPr>
                        <a:t>қ</a:t>
                      </a:r>
                      <a:r>
                        <a:rPr lang="uz-Cyrl-UZ" sz="900" kern="1200" dirty="0" smtClean="0">
                          <a:solidFill>
                            <a:schemeClr val="tx1"/>
                          </a:solidFill>
                          <a:effectLst/>
                          <a:latin typeface="+mn-lt"/>
                          <a:ea typeface="+mn-ea"/>
                          <a:cs typeface="+mn-cs"/>
                        </a:rPr>
                        <a:t> артисти” </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2020 й. “Меҳнат шухрат</a:t>
                      </a:r>
                      <a:r>
                        <a:rPr lang="ru-RU" sz="900" kern="1200" dirty="0" smtClean="0">
                          <a:solidFill>
                            <a:schemeClr val="tx1"/>
                          </a:solidFill>
                          <a:effectLst/>
                          <a:latin typeface="+mn-lt"/>
                          <a:ea typeface="+mn-ea"/>
                          <a:cs typeface="+mn-cs"/>
                        </a:rPr>
                        <a:t>и</a:t>
                      </a:r>
                      <a:r>
                        <a:rPr lang="uz-Cyrl-UZ" sz="900" kern="1200" dirty="0" smtClean="0">
                          <a:solidFill>
                            <a:schemeClr val="tx1"/>
                          </a:solidFill>
                          <a:effectLst/>
                          <a:latin typeface="+mn-lt"/>
                          <a:ea typeface="+mn-ea"/>
                          <a:cs typeface="+mn-cs"/>
                        </a:rPr>
                        <a:t>” ордени</a:t>
                      </a:r>
                      <a:endParaRPr lang="ru-RU" sz="900" kern="1200" dirty="0" smtClean="0">
                        <a:solidFill>
                          <a:schemeClr val="tx1"/>
                        </a:solidFill>
                        <a:effectLst/>
                        <a:latin typeface="+mn-lt"/>
                        <a:ea typeface="+mn-ea"/>
                        <a:cs typeface="+mn-cs"/>
                      </a:endParaRPr>
                    </a:p>
                    <a:p>
                      <a:r>
                        <a:rPr lang="uz-Latn-UZ" sz="900" kern="1200" dirty="0" smtClean="0">
                          <a:solidFill>
                            <a:schemeClr val="tx1"/>
                          </a:solidFill>
                          <a:effectLst/>
                          <a:latin typeface="+mn-lt"/>
                          <a:ea typeface="+mn-ea"/>
                          <a:cs typeface="+mn-cs"/>
                        </a:rPr>
                        <a:t>2022 </a:t>
                      </a:r>
                      <a:r>
                        <a:rPr lang="uz-Cyrl-UZ" sz="900" kern="1200" dirty="0" smtClean="0">
                          <a:solidFill>
                            <a:schemeClr val="tx1"/>
                          </a:solidFill>
                          <a:effectLst/>
                          <a:latin typeface="+mn-lt"/>
                          <a:ea typeface="+mn-ea"/>
                          <a:cs typeface="+mn-cs"/>
                        </a:rPr>
                        <a:t>й. </a:t>
                      </a:r>
                      <a:r>
                        <a:rPr lang="uz-Latn-UZ" sz="900" kern="1200" dirty="0" smtClean="0">
                          <a:solidFill>
                            <a:schemeClr val="tx1"/>
                          </a:solidFill>
                          <a:effectLst/>
                          <a:latin typeface="+mn-lt"/>
                          <a:ea typeface="+mn-ea"/>
                          <a:cs typeface="+mn-cs"/>
                        </a:rPr>
                        <a:t>“</a:t>
                      </a:r>
                      <a:r>
                        <a:rPr lang="uz-Cyrl-UZ" sz="900" kern="1200" dirty="0" smtClean="0">
                          <a:solidFill>
                            <a:schemeClr val="tx1"/>
                          </a:solidFill>
                          <a:effectLst/>
                          <a:latin typeface="+mn-lt"/>
                          <a:ea typeface="+mn-ea"/>
                          <a:cs typeface="+mn-cs"/>
                        </a:rPr>
                        <a:t>Қорақалпоғистон </a:t>
                      </a:r>
                      <a:r>
                        <a:rPr lang="ru-RU" sz="900" kern="1200" dirty="0" err="1" smtClean="0">
                          <a:solidFill>
                            <a:schemeClr val="tx1"/>
                          </a:solidFill>
                          <a:effectLst/>
                          <a:latin typeface="+mn-lt"/>
                          <a:ea typeface="+mn-ea"/>
                          <a:cs typeface="+mn-cs"/>
                        </a:rPr>
                        <a:t>Республикаси</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ҳалқ артисти</a:t>
                      </a:r>
                      <a:r>
                        <a:rPr lang="uz-Latn-UZ" sz="900" kern="1200" dirty="0" smtClean="0">
                          <a:solidFill>
                            <a:schemeClr val="tx1"/>
                          </a:solidFill>
                          <a:effectLst/>
                          <a:latin typeface="+mn-lt"/>
                          <a:ea typeface="+mn-ea"/>
                          <a:cs typeface="+mn-cs"/>
                        </a:rPr>
                        <a:t>”</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155314477"/>
              </p:ext>
            </p:extLst>
          </p:nvPr>
        </p:nvGraphicFramePr>
        <p:xfrm>
          <a:off x="6949857" y="869287"/>
          <a:ext cx="2817247" cy="5925072"/>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3676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3559">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599753">
                <a:tc>
                  <a:txBody>
                    <a:bodyPr/>
                    <a:lstStyle/>
                    <a:p>
                      <a:pPr marL="0" indent="179388" algn="just"/>
                      <a:r>
                        <a:rPr lang="uz-Cyrl-UZ" sz="900" kern="1200" dirty="0" smtClean="0">
                          <a:solidFill>
                            <a:schemeClr val="tx1"/>
                          </a:solidFill>
                          <a:effectLst/>
                          <a:latin typeface="+mn-lt"/>
                          <a:ea typeface="+mn-ea"/>
                          <a:cs typeface="+mn-cs"/>
                        </a:rPr>
                        <a:t> Унинг «Ажинияз»да </a:t>
                      </a:r>
                      <a:r>
                        <a:rPr lang="uz-Cyrl-UZ" sz="900" b="1" kern="1200" dirty="0" smtClean="0">
                          <a:solidFill>
                            <a:schemeClr val="tx1"/>
                          </a:solidFill>
                          <a:effectLst/>
                          <a:latin typeface="+mn-lt"/>
                          <a:ea typeface="+mn-ea"/>
                          <a:cs typeface="+mn-cs"/>
                        </a:rPr>
                        <a:t>Айборек</a:t>
                      </a:r>
                      <a:r>
                        <a:rPr lang="uz-Cyrl-UZ" sz="900" kern="1200" dirty="0" smtClean="0">
                          <a:solidFill>
                            <a:schemeClr val="tx1"/>
                          </a:solidFill>
                          <a:effectLst/>
                          <a:latin typeface="+mn-lt"/>
                          <a:ea typeface="+mn-ea"/>
                          <a:cs typeface="+mn-cs"/>
                        </a:rPr>
                        <a:t>, «Суймаганга суйканма»да </a:t>
                      </a:r>
                      <a:r>
                        <a:rPr lang="uz-Cyrl-UZ" sz="900" b="1" kern="1200" dirty="0" smtClean="0">
                          <a:solidFill>
                            <a:schemeClr val="tx1"/>
                          </a:solidFill>
                          <a:effectLst/>
                          <a:latin typeface="+mn-lt"/>
                          <a:ea typeface="+mn-ea"/>
                          <a:cs typeface="+mn-cs"/>
                        </a:rPr>
                        <a:t>Айсанам</a:t>
                      </a:r>
                      <a:r>
                        <a:rPr lang="uz-Cyrl-UZ" sz="900" kern="1200" dirty="0" smtClean="0">
                          <a:solidFill>
                            <a:schemeClr val="tx1"/>
                          </a:solidFill>
                          <a:effectLst/>
                          <a:latin typeface="+mn-lt"/>
                          <a:ea typeface="+mn-ea"/>
                          <a:cs typeface="+mn-cs"/>
                        </a:rPr>
                        <a:t>, «Ханума»да </a:t>
                      </a:r>
                      <a:r>
                        <a:rPr lang="uz-Cyrl-UZ" sz="900" b="1" kern="1200" dirty="0" smtClean="0">
                          <a:solidFill>
                            <a:schemeClr val="tx1"/>
                          </a:solidFill>
                          <a:effectLst/>
                          <a:latin typeface="+mn-lt"/>
                          <a:ea typeface="+mn-ea"/>
                          <a:cs typeface="+mn-cs"/>
                        </a:rPr>
                        <a:t>Ханума</a:t>
                      </a:r>
                      <a:r>
                        <a:rPr lang="uz-Cyrl-UZ" sz="900" kern="1200" dirty="0" smtClean="0">
                          <a:solidFill>
                            <a:schemeClr val="tx1"/>
                          </a:solidFill>
                          <a:effectLst/>
                          <a:latin typeface="+mn-lt"/>
                          <a:ea typeface="+mn-ea"/>
                          <a:cs typeface="+mn-cs"/>
                        </a:rPr>
                        <a:t>, «Ғариб очиқ» мусиқали драмасида </a:t>
                      </a:r>
                      <a:r>
                        <a:rPr lang="uz-Cyrl-UZ" sz="900" b="1" kern="1200" dirty="0" smtClean="0">
                          <a:solidFill>
                            <a:schemeClr val="tx1"/>
                          </a:solidFill>
                          <a:effectLst/>
                          <a:latin typeface="+mn-lt"/>
                          <a:ea typeface="+mn-ea"/>
                          <a:cs typeface="+mn-cs"/>
                        </a:rPr>
                        <a:t>Шаҳсанам </a:t>
                      </a:r>
                      <a:r>
                        <a:rPr lang="uz-Cyrl-UZ" sz="900" kern="1200" dirty="0" smtClean="0">
                          <a:solidFill>
                            <a:schemeClr val="tx1"/>
                          </a:solidFill>
                          <a:effectLst/>
                          <a:latin typeface="+mn-lt"/>
                          <a:ea typeface="+mn-ea"/>
                          <a:cs typeface="+mn-cs"/>
                        </a:rPr>
                        <a:t>ва</a:t>
                      </a:r>
                      <a:r>
                        <a:rPr lang="uz-Cyrl-UZ" sz="900" b="1" kern="1200" dirty="0" smtClean="0">
                          <a:solidFill>
                            <a:schemeClr val="tx1"/>
                          </a:solidFill>
                          <a:effectLst/>
                          <a:latin typeface="+mn-lt"/>
                          <a:ea typeface="+mn-ea"/>
                          <a:cs typeface="+mn-cs"/>
                        </a:rPr>
                        <a:t> Ғарибнинг онаси Абадан</a:t>
                      </a:r>
                      <a:r>
                        <a:rPr lang="uz-Cyrl-UZ" sz="900" kern="1200" dirty="0" smtClean="0">
                          <a:solidFill>
                            <a:schemeClr val="tx1"/>
                          </a:solidFill>
                          <a:effectLst/>
                          <a:latin typeface="+mn-lt"/>
                          <a:ea typeface="+mn-ea"/>
                          <a:cs typeface="+mn-cs"/>
                        </a:rPr>
                        <a:t>, «Майсаранинг ҳийласи»да </a:t>
                      </a:r>
                      <a:r>
                        <a:rPr lang="uz-Cyrl-UZ" sz="900" b="1" kern="1200" dirty="0" smtClean="0">
                          <a:solidFill>
                            <a:schemeClr val="tx1"/>
                          </a:solidFill>
                          <a:effectLst/>
                          <a:latin typeface="+mn-lt"/>
                          <a:ea typeface="+mn-ea"/>
                          <a:cs typeface="+mn-cs"/>
                        </a:rPr>
                        <a:t>Майсара</a:t>
                      </a:r>
                      <a:r>
                        <a:rPr lang="uz-Cyrl-UZ" sz="900" kern="1200" dirty="0" smtClean="0">
                          <a:solidFill>
                            <a:schemeClr val="tx1"/>
                          </a:solidFill>
                          <a:effectLst/>
                          <a:latin typeface="+mn-lt"/>
                          <a:ea typeface="+mn-ea"/>
                          <a:cs typeface="+mn-cs"/>
                        </a:rPr>
                        <a:t>, «Шарьяр»да </a:t>
                      </a:r>
                      <a:r>
                        <a:rPr lang="uz-Cyrl-UZ" sz="900" b="1" kern="1200" dirty="0" smtClean="0">
                          <a:solidFill>
                            <a:schemeClr val="tx1"/>
                          </a:solidFill>
                          <a:effectLst/>
                          <a:latin typeface="+mn-lt"/>
                          <a:ea typeface="+mn-ea"/>
                          <a:cs typeface="+mn-cs"/>
                        </a:rPr>
                        <a:t>Гулшара</a:t>
                      </a:r>
                      <a:r>
                        <a:rPr lang="uz-Cyrl-UZ" sz="900" kern="1200" dirty="0" smtClean="0">
                          <a:solidFill>
                            <a:schemeClr val="tx1"/>
                          </a:solidFill>
                          <a:effectLst/>
                          <a:latin typeface="+mn-lt"/>
                          <a:ea typeface="+mn-ea"/>
                          <a:cs typeface="+mn-cs"/>
                        </a:rPr>
                        <a:t>, «Алпомиш»да </a:t>
                      </a:r>
                      <a:r>
                        <a:rPr lang="uz-Cyrl-UZ" sz="900" b="1" kern="1200" dirty="0" smtClean="0">
                          <a:solidFill>
                            <a:schemeClr val="tx1"/>
                          </a:solidFill>
                          <a:effectLst/>
                          <a:latin typeface="+mn-lt"/>
                          <a:ea typeface="+mn-ea"/>
                          <a:cs typeface="+mn-cs"/>
                        </a:rPr>
                        <a:t>Алтинсоч</a:t>
                      </a:r>
                      <a:r>
                        <a:rPr lang="uz-Cyrl-UZ" sz="900" kern="1200" dirty="0" smtClean="0">
                          <a:solidFill>
                            <a:schemeClr val="tx1"/>
                          </a:solidFill>
                          <a:effectLst/>
                          <a:latin typeface="+mn-lt"/>
                          <a:ea typeface="+mn-ea"/>
                          <a:cs typeface="+mn-cs"/>
                        </a:rPr>
                        <a:t>, «Энг сулув келинчак»да </a:t>
                      </a:r>
                      <a:r>
                        <a:rPr lang="uz-Cyrl-UZ" sz="900" b="1" kern="1200" dirty="0" smtClean="0">
                          <a:solidFill>
                            <a:schemeClr val="tx1"/>
                          </a:solidFill>
                          <a:effectLst/>
                          <a:latin typeface="+mn-lt"/>
                          <a:ea typeface="+mn-ea"/>
                          <a:cs typeface="+mn-cs"/>
                        </a:rPr>
                        <a:t>Гулпарчин, </a:t>
                      </a:r>
                      <a:r>
                        <a:rPr lang="uz-Cyrl-UZ" sz="900" kern="1200" dirty="0" smtClean="0">
                          <a:solidFill>
                            <a:schemeClr val="tx1"/>
                          </a:solidFill>
                          <a:effectLst/>
                          <a:latin typeface="+mn-lt"/>
                          <a:ea typeface="+mn-ea"/>
                          <a:cs typeface="+mn-cs"/>
                        </a:rPr>
                        <a:t>«Аязий»да </a:t>
                      </a:r>
                      <a:r>
                        <a:rPr lang="uz-Cyrl-UZ" sz="900" b="1" kern="1200" dirty="0" smtClean="0">
                          <a:solidFill>
                            <a:schemeClr val="tx1"/>
                          </a:solidFill>
                          <a:effectLst/>
                          <a:latin typeface="+mn-lt"/>
                          <a:ea typeface="+mn-ea"/>
                          <a:cs typeface="+mn-cs"/>
                        </a:rPr>
                        <a:t>Айымхан Шамуратова</a:t>
                      </a:r>
                      <a:r>
                        <a:rPr lang="uz-Cyrl-UZ" sz="900" kern="1200" dirty="0" smtClean="0">
                          <a:solidFill>
                            <a:schemeClr val="tx1"/>
                          </a:solidFill>
                          <a:effectLst/>
                          <a:latin typeface="+mn-lt"/>
                          <a:ea typeface="+mn-ea"/>
                          <a:cs typeface="+mn-cs"/>
                        </a:rPr>
                        <a:t> «Ана»да </a:t>
                      </a:r>
                      <a:r>
                        <a:rPr lang="uz-Cyrl-UZ" sz="900" b="1" kern="1200" dirty="0" smtClean="0">
                          <a:solidFill>
                            <a:schemeClr val="tx1"/>
                          </a:solidFill>
                          <a:effectLst/>
                          <a:latin typeface="+mn-lt"/>
                          <a:ea typeface="+mn-ea"/>
                          <a:cs typeface="+mn-cs"/>
                        </a:rPr>
                        <a:t>Ана, </a:t>
                      </a:r>
                      <a:r>
                        <a:rPr lang="uz-Cyrl-UZ" sz="900" kern="1200" dirty="0" smtClean="0">
                          <a:solidFill>
                            <a:schemeClr val="tx1"/>
                          </a:solidFill>
                          <a:effectLst/>
                          <a:latin typeface="+mn-lt"/>
                          <a:ea typeface="+mn-ea"/>
                          <a:cs typeface="+mn-cs"/>
                        </a:rPr>
                        <a:t>«Ўткан кунлар»да Әптап айым сингари образлари билан халқимизнинг юрагидан  ўрин олди.</a:t>
                      </a:r>
                      <a:endParaRPr lang="ru-RU" sz="900" kern="1200" dirty="0" smtClean="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2008 йили Ашхабад шаҳрида ўтказилган </a:t>
                      </a:r>
                      <a:r>
                        <a:rPr lang="uz-Cyrl-UZ" sz="900" b="1" kern="1200" dirty="0" smtClean="0">
                          <a:solidFill>
                            <a:schemeClr val="tx1"/>
                          </a:solidFill>
                          <a:effectLst/>
                          <a:latin typeface="+mn-lt"/>
                          <a:ea typeface="+mn-ea"/>
                          <a:cs typeface="+mn-cs"/>
                        </a:rPr>
                        <a:t>«Мусиқа инсоннинг руҳий бойлиги»</a:t>
                      </a:r>
                      <a:r>
                        <a:rPr lang="uz-Cyrl-UZ" sz="900" kern="1200" dirty="0" smtClean="0">
                          <a:solidFill>
                            <a:schemeClr val="tx1"/>
                          </a:solidFill>
                          <a:effectLst/>
                          <a:latin typeface="+mn-lt"/>
                          <a:ea typeface="+mn-ea"/>
                          <a:cs typeface="+mn-cs"/>
                        </a:rPr>
                        <a:t> мусиқали фестивали, 2011 йил </a:t>
                      </a:r>
                      <a:r>
                        <a:rPr lang="uz-Cyrl-UZ" sz="900" b="1" kern="1200" dirty="0" smtClean="0">
                          <a:solidFill>
                            <a:schemeClr val="tx1"/>
                          </a:solidFill>
                          <a:effectLst/>
                          <a:latin typeface="+mn-lt"/>
                          <a:ea typeface="+mn-ea"/>
                          <a:cs typeface="+mn-cs"/>
                        </a:rPr>
                        <a:t>«Сени куйлаймиз замондош!»</a:t>
                      </a:r>
                      <a:r>
                        <a:rPr lang="uz-Cyrl-UZ" sz="900" kern="1200" dirty="0" smtClean="0">
                          <a:solidFill>
                            <a:schemeClr val="tx1"/>
                          </a:solidFill>
                          <a:effectLst/>
                          <a:latin typeface="+mn-lt"/>
                          <a:ea typeface="+mn-ea"/>
                          <a:cs typeface="+mn-cs"/>
                        </a:rPr>
                        <a:t> деб номланган Республика театрларининг I-фестивали, 2013 йил Тошкент шаҳри театр жамоаси билан «Олпомиш», «Интилганга тўла ёр» спектакллари билан гастрол сафари, 2014</a:t>
                      </a:r>
                      <a:r>
                        <a:rPr lang="ru-RU" sz="900" kern="1200" dirty="0" smtClean="0">
                          <a:solidFill>
                            <a:schemeClr val="tx1"/>
                          </a:solidFill>
                          <a:effectLst/>
                          <a:latin typeface="+mn-lt"/>
                          <a:ea typeface="+mn-ea"/>
                          <a:cs typeface="+mn-cs"/>
                        </a:rPr>
                        <a:t>-</a:t>
                      </a:r>
                      <a:r>
                        <a:rPr lang="uz-Cyrl-UZ" sz="900" kern="1200" dirty="0" smtClean="0">
                          <a:solidFill>
                            <a:schemeClr val="tx1"/>
                          </a:solidFill>
                          <a:effectLst/>
                          <a:latin typeface="+mn-lt"/>
                          <a:ea typeface="+mn-ea"/>
                          <a:cs typeface="+mn-cs"/>
                        </a:rPr>
                        <a:t>йил</a:t>
                      </a:r>
                      <a:r>
                        <a:rPr lang="ru-RU" sz="900" kern="1200" dirty="0" smtClean="0">
                          <a:solidFill>
                            <a:schemeClr val="tx1"/>
                          </a:solidFill>
                          <a:effectLst/>
                          <a:latin typeface="+mn-lt"/>
                          <a:ea typeface="+mn-ea"/>
                          <a:cs typeface="+mn-cs"/>
                        </a:rPr>
                        <a:t>и</a:t>
                      </a:r>
                      <a:r>
                        <a:rPr lang="uz-Cyrl-UZ" sz="900" kern="1200" dirty="0" smtClean="0">
                          <a:solidFill>
                            <a:schemeClr val="tx1"/>
                          </a:solidFill>
                          <a:effectLst/>
                          <a:latin typeface="+mn-lt"/>
                          <a:ea typeface="+mn-ea"/>
                          <a:cs typeface="+mn-cs"/>
                        </a:rPr>
                        <a:t> Туркменстан Республикаси Ашхабад шаҳрида ўтказилган </a:t>
                      </a:r>
                      <a:r>
                        <a:rPr lang="uz-Cyrl-UZ" sz="900" b="1" kern="1200" dirty="0" smtClean="0">
                          <a:solidFill>
                            <a:schemeClr val="tx1"/>
                          </a:solidFill>
                          <a:effectLst/>
                          <a:latin typeface="+mn-lt"/>
                          <a:ea typeface="+mn-ea"/>
                          <a:cs typeface="+mn-cs"/>
                        </a:rPr>
                        <a:t>«Театр санъати - асримизнинг бахти»</a:t>
                      </a:r>
                      <a:r>
                        <a:rPr lang="uz-Cyrl-UZ" sz="900" kern="1200" dirty="0" smtClean="0">
                          <a:solidFill>
                            <a:schemeClr val="tx1"/>
                          </a:solidFill>
                          <a:effectLst/>
                          <a:latin typeface="+mn-lt"/>
                          <a:ea typeface="+mn-ea"/>
                          <a:cs typeface="+mn-cs"/>
                        </a:rPr>
                        <a:t> II-Халқаро театрлар фестивали, 2014 йил Тошкент шаҳрида ўтказилган Ўзбекистан Республикаси Мустақиллигининг 23 йиллиги, 2014</a:t>
                      </a:r>
                      <a:r>
                        <a:rPr lang="ru-RU" sz="900" kern="1200" dirty="0" smtClean="0">
                          <a:solidFill>
                            <a:schemeClr val="tx1"/>
                          </a:solidFill>
                          <a:effectLst/>
                          <a:latin typeface="+mn-lt"/>
                          <a:ea typeface="+mn-ea"/>
                          <a:cs typeface="+mn-cs"/>
                        </a:rPr>
                        <a:t>-</a:t>
                      </a:r>
                      <a:r>
                        <a:rPr lang="uz-Cyrl-UZ" sz="900" kern="1200" dirty="0" smtClean="0">
                          <a:solidFill>
                            <a:schemeClr val="tx1"/>
                          </a:solidFill>
                          <a:effectLst/>
                          <a:latin typeface="+mn-lt"/>
                          <a:ea typeface="+mn-ea"/>
                          <a:cs typeface="+mn-cs"/>
                        </a:rPr>
                        <a:t>йил</a:t>
                      </a:r>
                      <a:r>
                        <a:rPr lang="ru-RU" sz="900" kern="1200" dirty="0" smtClean="0">
                          <a:solidFill>
                            <a:schemeClr val="tx1"/>
                          </a:solidFill>
                          <a:effectLst/>
                          <a:latin typeface="+mn-lt"/>
                          <a:ea typeface="+mn-ea"/>
                          <a:cs typeface="+mn-cs"/>
                        </a:rPr>
                        <a:t>и</a:t>
                      </a:r>
                      <a:r>
                        <a:rPr lang="uz-Cyrl-UZ" sz="900" kern="1200" dirty="0" smtClean="0">
                          <a:solidFill>
                            <a:schemeClr val="tx1"/>
                          </a:solidFill>
                          <a:effectLst/>
                          <a:latin typeface="+mn-lt"/>
                          <a:ea typeface="+mn-ea"/>
                          <a:cs typeface="+mn-cs"/>
                        </a:rPr>
                        <a:t> Ўзбек Миллий Академик театри 100 йиллиги концерт дастури, 2015</a:t>
                      </a:r>
                      <a:r>
                        <a:rPr lang="ru-RU" sz="900" kern="1200" dirty="0" smtClean="0">
                          <a:solidFill>
                            <a:schemeClr val="tx1"/>
                          </a:solidFill>
                          <a:effectLst/>
                          <a:latin typeface="+mn-lt"/>
                          <a:ea typeface="+mn-ea"/>
                          <a:cs typeface="+mn-cs"/>
                        </a:rPr>
                        <a:t>-</a:t>
                      </a:r>
                      <a:r>
                        <a:rPr lang="uz-Cyrl-UZ" sz="900" kern="1200" dirty="0" smtClean="0">
                          <a:solidFill>
                            <a:schemeClr val="tx1"/>
                          </a:solidFill>
                          <a:effectLst/>
                          <a:latin typeface="+mn-lt"/>
                          <a:ea typeface="+mn-ea"/>
                          <a:cs typeface="+mn-cs"/>
                        </a:rPr>
                        <a:t> йил Тошкент шаҳрида «Ватан ҳимоячилари» кунига боғишланган концерт дастури,  2015</a:t>
                      </a:r>
                      <a:r>
                        <a:rPr lang="ru-RU" sz="900" kern="1200" dirty="0" smtClean="0">
                          <a:solidFill>
                            <a:schemeClr val="tx1"/>
                          </a:solidFill>
                          <a:effectLst/>
                          <a:latin typeface="+mn-lt"/>
                          <a:ea typeface="+mn-ea"/>
                          <a:cs typeface="+mn-cs"/>
                        </a:rPr>
                        <a:t>-</a:t>
                      </a:r>
                      <a:r>
                        <a:rPr lang="uz-Cyrl-UZ" sz="900" kern="1200" dirty="0" smtClean="0">
                          <a:solidFill>
                            <a:schemeClr val="tx1"/>
                          </a:solidFill>
                          <a:effectLst/>
                          <a:latin typeface="+mn-lt"/>
                          <a:ea typeface="+mn-ea"/>
                          <a:cs typeface="+mn-cs"/>
                        </a:rPr>
                        <a:t> йил Самарқанд шаҳрида ўтказилган «</a:t>
                      </a:r>
                      <a:r>
                        <a:rPr lang="uz-Cyrl-UZ" sz="900" b="1" kern="1200" dirty="0" smtClean="0">
                          <a:solidFill>
                            <a:schemeClr val="tx1"/>
                          </a:solidFill>
                          <a:effectLst/>
                          <a:latin typeface="+mn-lt"/>
                          <a:ea typeface="+mn-ea"/>
                          <a:cs typeface="+mn-cs"/>
                        </a:rPr>
                        <a:t>Шарқ тароналари»</a:t>
                      </a:r>
                      <a:r>
                        <a:rPr lang="uz-Cyrl-UZ" sz="900" kern="1200" dirty="0" smtClean="0">
                          <a:solidFill>
                            <a:schemeClr val="tx1"/>
                          </a:solidFill>
                          <a:effectLst/>
                          <a:latin typeface="+mn-lt"/>
                          <a:ea typeface="+mn-ea"/>
                          <a:cs typeface="+mn-cs"/>
                        </a:rPr>
                        <a:t> халқаро фестивали иштирокчиси. </a:t>
                      </a:r>
                      <a:endParaRPr lang="ru-RU" sz="900" kern="1200" dirty="0" smtClean="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2021</a:t>
                      </a:r>
                      <a:r>
                        <a:rPr lang="ru-RU" sz="900" kern="1200" dirty="0" smtClean="0">
                          <a:solidFill>
                            <a:schemeClr val="tx1"/>
                          </a:solidFill>
                          <a:effectLst/>
                          <a:latin typeface="+mn-lt"/>
                          <a:ea typeface="+mn-ea"/>
                          <a:cs typeface="+mn-cs"/>
                        </a:rPr>
                        <a:t>-</a:t>
                      </a:r>
                      <a:r>
                        <a:rPr lang="uz-Cyrl-UZ" sz="900" kern="1200" dirty="0" smtClean="0">
                          <a:solidFill>
                            <a:schemeClr val="tx1"/>
                          </a:solidFill>
                          <a:effectLst/>
                          <a:latin typeface="+mn-lt"/>
                          <a:ea typeface="+mn-ea"/>
                          <a:cs typeface="+mn-cs"/>
                        </a:rPr>
                        <a:t>йил 1-17</a:t>
                      </a:r>
                      <a:r>
                        <a:rPr lang="ru-RU" sz="900" kern="1200" dirty="0" smtClean="0">
                          <a:solidFill>
                            <a:schemeClr val="tx1"/>
                          </a:solidFill>
                          <a:effectLst/>
                          <a:latin typeface="+mn-lt"/>
                          <a:ea typeface="+mn-ea"/>
                          <a:cs typeface="+mn-cs"/>
                        </a:rPr>
                        <a:t>-</a:t>
                      </a:r>
                      <a:r>
                        <a:rPr lang="uz-Cyrl-UZ" sz="900" kern="1200" dirty="0" smtClean="0">
                          <a:solidFill>
                            <a:schemeClr val="tx1"/>
                          </a:solidFill>
                          <a:effectLst/>
                          <a:latin typeface="+mn-lt"/>
                          <a:ea typeface="+mn-ea"/>
                          <a:cs typeface="+mn-cs"/>
                        </a:rPr>
                        <a:t>июль кунлари Туркия давлати, Трабзон шаҳрида ўтказилган «XXI – Халқаро Қора денгиз театрлар фестивали»да Ч.Айтматовнинг </a:t>
                      </a:r>
                      <a:r>
                        <a:rPr lang="uz-Cyrl-UZ" sz="900" b="1" kern="1200" dirty="0" smtClean="0">
                          <a:solidFill>
                            <a:schemeClr val="tx1"/>
                          </a:solidFill>
                          <a:effectLst/>
                          <a:latin typeface="+mn-lt"/>
                          <a:ea typeface="+mn-ea"/>
                          <a:cs typeface="+mn-cs"/>
                        </a:rPr>
                        <a:t>“Жамила”</a:t>
                      </a:r>
                      <a:r>
                        <a:rPr lang="uz-Cyrl-UZ" sz="900" kern="1200" dirty="0" smtClean="0">
                          <a:solidFill>
                            <a:schemeClr val="tx1"/>
                          </a:solidFill>
                          <a:effectLst/>
                          <a:latin typeface="+mn-lt"/>
                          <a:ea typeface="+mn-ea"/>
                          <a:cs typeface="+mn-cs"/>
                        </a:rPr>
                        <a:t> спектакли билан қатнашди.</a:t>
                      </a:r>
                    </a:p>
                    <a:p>
                      <a:pPr marL="0" indent="179388" algn="just"/>
                      <a:r>
                        <a:rPr lang="ru-RU" sz="900" kern="1200" dirty="0" smtClean="0">
                          <a:solidFill>
                            <a:schemeClr val="tx1"/>
                          </a:solidFill>
                          <a:effectLst/>
                          <a:latin typeface="+mn-lt"/>
                          <a:ea typeface="+mn-ea"/>
                          <a:cs typeface="+mn-cs"/>
                        </a:rPr>
                        <a:t>2025-йили </a:t>
                      </a:r>
                      <a:r>
                        <a:rPr lang="ru-RU" sz="900" b="1" kern="1200" dirty="0" err="1" smtClean="0">
                          <a:solidFill>
                            <a:schemeClr val="tx1"/>
                          </a:solidFill>
                          <a:effectLst/>
                          <a:latin typeface="+mn-lt"/>
                          <a:ea typeface="+mn-ea"/>
                          <a:cs typeface="+mn-cs"/>
                        </a:rPr>
                        <a:t>С</a:t>
                      </a:r>
                      <a:r>
                        <a:rPr lang="ru-RU" sz="900" kern="1200" dirty="0" err="1" smtClean="0">
                          <a:solidFill>
                            <a:schemeClr val="tx1"/>
                          </a:solidFill>
                          <a:effectLst/>
                          <a:latin typeface="+mn-lt"/>
                          <a:ea typeface="+mn-ea"/>
                          <a:cs typeface="+mn-cs"/>
                        </a:rPr>
                        <a:t>.Хожаниязовнинг</a:t>
                      </a:r>
                      <a:r>
                        <a:rPr lang="ru-RU" sz="900" kern="1200" dirty="0" smtClean="0">
                          <a:solidFill>
                            <a:schemeClr val="tx1"/>
                          </a:solidFill>
                          <a:effectLst/>
                          <a:latin typeface="+mn-lt"/>
                          <a:ea typeface="+mn-ea"/>
                          <a:cs typeface="+mn-cs"/>
                        </a:rPr>
                        <a:t> </a:t>
                      </a:r>
                      <a:r>
                        <a:rPr lang="en-US" sz="900" kern="1200" dirty="0" smtClean="0">
                          <a:solidFill>
                            <a:schemeClr val="tx1"/>
                          </a:solidFill>
                          <a:effectLst/>
                          <a:latin typeface="+mn-lt"/>
                          <a:ea typeface="+mn-ea"/>
                          <a:cs typeface="+mn-cs"/>
                        </a:rPr>
                        <a:t>“</a:t>
                      </a:r>
                      <a:r>
                        <a:rPr lang="ru-RU" sz="900" kern="1200" dirty="0" err="1" smtClean="0">
                          <a:solidFill>
                            <a:schemeClr val="tx1"/>
                          </a:solidFill>
                          <a:effectLst/>
                          <a:latin typeface="+mn-lt"/>
                          <a:ea typeface="+mn-ea"/>
                          <a:cs typeface="+mn-cs"/>
                        </a:rPr>
                        <a:t>Суймаганга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суйканма</a:t>
                      </a:r>
                      <a:r>
                        <a:rPr lang="en-US" sz="900" kern="1200" dirty="0" smtClean="0">
                          <a:solidFill>
                            <a:schemeClr val="tx1"/>
                          </a:solidFill>
                          <a:effectLst/>
                          <a:latin typeface="+mn-lt"/>
                          <a:ea typeface="+mn-ea"/>
                          <a:cs typeface="+mn-cs"/>
                        </a:rPr>
                        <a:t>”</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муси</a:t>
                      </a:r>
                      <a:r>
                        <a:rPr lang="uz-Cyrl-UZ"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али </a:t>
                      </a:r>
                      <a:r>
                        <a:rPr lang="ru-RU" sz="900" kern="1200" dirty="0" err="1" smtClean="0">
                          <a:solidFill>
                            <a:schemeClr val="tx1"/>
                          </a:solidFill>
                          <a:effectLst/>
                          <a:latin typeface="+mn-lt"/>
                          <a:ea typeface="+mn-ea"/>
                          <a:cs typeface="+mn-cs"/>
                        </a:rPr>
                        <a:t>комедиясида</a:t>
                      </a:r>
                      <a:r>
                        <a:rPr lang="ru-RU" sz="900" kern="1200" dirty="0" smtClean="0">
                          <a:solidFill>
                            <a:schemeClr val="tx1"/>
                          </a:solidFill>
                          <a:effectLst/>
                          <a:latin typeface="+mn-lt"/>
                          <a:ea typeface="+mn-ea"/>
                          <a:cs typeface="+mn-cs"/>
                        </a:rPr>
                        <a:t> </a:t>
                      </a:r>
                      <a:r>
                        <a:rPr lang="ru-RU" sz="900" b="1" kern="1200" dirty="0" err="1" smtClean="0">
                          <a:solidFill>
                            <a:schemeClr val="tx1"/>
                          </a:solidFill>
                          <a:effectLst/>
                          <a:latin typeface="+mn-lt"/>
                          <a:ea typeface="+mn-ea"/>
                          <a:cs typeface="+mn-cs"/>
                        </a:rPr>
                        <a:t>Паршагул</a:t>
                      </a:r>
                      <a:r>
                        <a:rPr lang="ru-RU" sz="900" b="1"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ролини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махорат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билан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ижро</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этти</a:t>
                      </a:r>
                      <a:r>
                        <a:rPr lang="ru-RU" sz="900" kern="1200" dirty="0" smtClean="0">
                          <a:solidFill>
                            <a:schemeClr val="tx1"/>
                          </a:solidFill>
                          <a:effectLst/>
                          <a:latin typeface="+mn-lt"/>
                          <a:ea typeface="+mn-ea"/>
                          <a:cs typeface="+mn-cs"/>
                        </a:rPr>
                        <a:t>.</a:t>
                      </a:r>
                      <a:endParaRPr lang="ru-RU" sz="9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37751">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9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9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98249">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a:picLocks noChangeAspect="1"/>
          </p:cNvPicPr>
          <p:nvPr/>
        </p:nvPicPr>
        <p:blipFill rotWithShape="1">
          <a:blip r:embed="rId2"/>
          <a:srcRect l="5294" t="4309" r="6817" b="18102"/>
          <a:stretch/>
        </p:blipFill>
        <p:spPr>
          <a:xfrm>
            <a:off x="196553" y="1119499"/>
            <a:ext cx="957129" cy="1102408"/>
          </a:xfrm>
          <a:prstGeom prst="rect">
            <a:avLst/>
          </a:prstGeom>
        </p:spPr>
      </p:pic>
    </p:spTree>
    <p:extLst>
      <p:ext uri="{BB962C8B-B14F-4D97-AF65-F5344CB8AC3E}">
        <p14:creationId xmlns:p14="http://schemas.microsoft.com/office/powerpoint/2010/main" val="3234088999"/>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247184578"/>
              </p:ext>
            </p:extLst>
          </p:nvPr>
        </p:nvGraphicFramePr>
        <p:xfrm>
          <a:off x="144489" y="865703"/>
          <a:ext cx="3427547" cy="5919659"/>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2278">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405">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800" b="0" kern="1200" dirty="0" smtClean="0">
                          <a:solidFill>
                            <a:schemeClr val="tx1"/>
                          </a:solidFill>
                          <a:effectLst/>
                          <a:latin typeface="+mn-lt"/>
                          <a:ea typeface="+mn-ea"/>
                          <a:cs typeface="+mn-cs"/>
                        </a:rPr>
                        <a:t>МАМБЕТМУРАТОВ</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40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err="1" smtClean="0">
                          <a:solidFill>
                            <a:schemeClr val="tx1"/>
                          </a:solidFill>
                          <a:effectLst/>
                          <a:latin typeface="+mn-lt"/>
                          <a:ea typeface="+mn-ea"/>
                          <a:cs typeface="+mn-cs"/>
                        </a:rPr>
                        <a:t>Далибай</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40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err="1" smtClean="0">
                          <a:solidFill>
                            <a:schemeClr val="tx1"/>
                          </a:solidFill>
                          <a:effectLst/>
                          <a:latin typeface="+mn-lt"/>
                          <a:ea typeface="+mn-ea"/>
                          <a:cs typeface="+mn-cs"/>
                        </a:rPr>
                        <a:t>Жумагалиевич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405">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kern="1200" dirty="0" smtClean="0">
                          <a:solidFill>
                            <a:schemeClr val="tx1"/>
                          </a:solidFill>
                          <a:effectLst/>
                          <a:latin typeface="+mn-lt"/>
                          <a:ea typeface="+mn-ea"/>
                          <a:cs typeface="+mn-cs"/>
                        </a:rPr>
                        <a:t>қора</a:t>
                      </a:r>
                      <a:r>
                        <a:rPr lang="ca-ES" sz="900" kern="1200" dirty="0" smtClean="0">
                          <a:solidFill>
                            <a:schemeClr val="tx1"/>
                          </a:solidFill>
                          <a:effectLst/>
                          <a:latin typeface="+mn-lt"/>
                          <a:ea typeface="+mn-ea"/>
                          <a:cs typeface="+mn-cs"/>
                        </a:rPr>
                        <a:t>қ</a:t>
                      </a:r>
                      <a:r>
                        <a:rPr lang="uz-Cyrl-UZ" sz="900" kern="1200" dirty="0" smtClean="0">
                          <a:solidFill>
                            <a:schemeClr val="tx1"/>
                          </a:solidFill>
                          <a:effectLst/>
                          <a:latin typeface="+mn-lt"/>
                          <a:ea typeface="+mn-ea"/>
                          <a:cs typeface="+mn-cs"/>
                        </a:rPr>
                        <a:t>алпо</a:t>
                      </a:r>
                      <a:r>
                        <a:rPr lang="ca-ES" sz="900" kern="1200" dirty="0" smtClean="0">
                          <a:solidFill>
                            <a:schemeClr val="tx1"/>
                          </a:solidFill>
                          <a:effectLst/>
                          <a:latin typeface="+mn-lt"/>
                          <a:ea typeface="+mn-ea"/>
                          <a:cs typeface="+mn-cs"/>
                        </a:rPr>
                        <a:t>қ</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40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kern="1200" dirty="0" smtClean="0">
                          <a:solidFill>
                            <a:schemeClr val="tx1"/>
                          </a:solidFill>
                          <a:effectLst/>
                          <a:latin typeface="+mn-lt"/>
                          <a:ea typeface="+mn-ea"/>
                          <a:cs typeface="+mn-cs"/>
                        </a:rPr>
                        <a:t>07.01.1954</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41119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uz-Cyrl-UZ" sz="800" kern="1200" dirty="0" smtClean="0">
                          <a:solidFill>
                            <a:schemeClr val="tx1"/>
                          </a:solidFill>
                          <a:effectLst/>
                          <a:latin typeface="+mn-lt"/>
                          <a:ea typeface="+mn-ea"/>
                          <a:cs typeface="+mn-cs"/>
                        </a:rPr>
                        <a:t>Кегейли тумани</a:t>
                      </a:r>
                      <a:endParaRPr lang="ru-RU" sz="80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9913">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53563">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Latn-UZ" sz="900" b="0" kern="1200" noProof="0" dirty="0" smtClean="0">
                          <a:solidFill>
                            <a:schemeClr val="tx1"/>
                          </a:solidFill>
                          <a:latin typeface="+mn-lt"/>
                          <a:ea typeface="+mn-ea"/>
                          <a:cs typeface="+mn-cs"/>
                        </a:rPr>
                        <a:t>4</a:t>
                      </a:r>
                      <a:r>
                        <a:rPr lang="uz-Cyrl-UZ" sz="900" b="0" kern="1200" noProof="0" dirty="0" smtClean="0">
                          <a:solidFill>
                            <a:schemeClr val="tx1"/>
                          </a:solidFill>
                          <a:latin typeface="+mn-lt"/>
                          <a:ea typeface="+mn-ea"/>
                          <a:cs typeface="+mn-cs"/>
                        </a:rPr>
                        <a:t> нафар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9913">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49342">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b="1" kern="1200" dirty="0" err="1" smtClean="0">
                          <a:solidFill>
                            <a:schemeClr val="tx1"/>
                          </a:solidFill>
                          <a:effectLst/>
                          <a:latin typeface="+mn-lt"/>
                          <a:ea typeface="+mn-ea"/>
                          <a:cs typeface="+mn-cs"/>
                        </a:rPr>
                        <a:t>Мамбетмуратов</a:t>
                      </a:r>
                      <a:r>
                        <a:rPr lang="ru-RU" sz="900" b="1" kern="1200" dirty="0" smtClean="0">
                          <a:solidFill>
                            <a:schemeClr val="tx1"/>
                          </a:solidFill>
                          <a:effectLst/>
                          <a:latin typeface="+mn-lt"/>
                          <a:ea typeface="+mn-ea"/>
                          <a:cs typeface="+mn-cs"/>
                        </a:rPr>
                        <a:t> </a:t>
                      </a:r>
                      <a:r>
                        <a:rPr lang="ru-RU" sz="900" b="1" kern="1200" dirty="0" err="1" smtClean="0">
                          <a:solidFill>
                            <a:schemeClr val="tx1"/>
                          </a:solidFill>
                          <a:effectLst/>
                          <a:latin typeface="+mn-lt"/>
                          <a:ea typeface="+mn-ea"/>
                          <a:cs typeface="+mn-cs"/>
                        </a:rPr>
                        <a:t>Жумагали</a:t>
                      </a:r>
                      <a:r>
                        <a:rPr lang="uz-Latn-UZ" sz="900" b="1" kern="1200" dirty="0" smtClean="0">
                          <a:solidFill>
                            <a:schemeClr val="tx1"/>
                          </a:solidFill>
                          <a:effectLst/>
                          <a:latin typeface="+mn-lt"/>
                          <a:ea typeface="+mn-ea"/>
                          <a:cs typeface="+mn-cs"/>
                        </a:rPr>
                        <a:t> </a:t>
                      </a:r>
                      <a:r>
                        <a:rPr lang="ru-RU" sz="900" kern="1200" dirty="0" smtClean="0">
                          <a:solidFill>
                            <a:schemeClr val="tx1"/>
                          </a:solidFill>
                          <a:effectLst/>
                          <a:latin typeface="+mn-lt"/>
                          <a:ea typeface="+mn-ea"/>
                          <a:cs typeface="+mn-cs"/>
                        </a:rPr>
                        <a:t>1929 </a:t>
                      </a:r>
                      <a:r>
                        <a:rPr lang="ru-RU" sz="900" kern="1200" dirty="0" err="1" smtClean="0">
                          <a:solidFill>
                            <a:schemeClr val="tx1"/>
                          </a:solidFill>
                          <a:effectLst/>
                          <a:latin typeface="+mn-lt"/>
                          <a:ea typeface="+mn-ea"/>
                          <a:cs typeface="+mn-cs"/>
                        </a:rPr>
                        <a:t>йил</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Кегейли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тумани</a:t>
                      </a: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kern="1200" dirty="0" err="1" smtClean="0">
                          <a:solidFill>
                            <a:schemeClr val="tx1"/>
                          </a:solidFill>
                          <a:effectLst/>
                          <a:latin typeface="+mn-lt"/>
                          <a:ea typeface="+mn-ea"/>
                          <a:cs typeface="+mn-cs"/>
                        </a:rPr>
                        <a:t>Пенсияда</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(Тах</a:t>
                      </a:r>
                      <a:r>
                        <a:rPr lang="ca-ES" sz="900" kern="1200" dirty="0" smtClean="0">
                          <a:solidFill>
                            <a:schemeClr val="tx1"/>
                          </a:solidFill>
                          <a:effectLst/>
                          <a:latin typeface="+mn-lt"/>
                          <a:ea typeface="+mn-ea"/>
                          <a:cs typeface="+mn-cs"/>
                        </a:rPr>
                        <a:t>и</a:t>
                      </a:r>
                      <a:r>
                        <a:rPr lang="uz-Cyrl-UZ" sz="900" kern="1200" dirty="0" smtClean="0">
                          <a:solidFill>
                            <a:schemeClr val="tx1"/>
                          </a:solidFill>
                          <a:effectLst/>
                          <a:latin typeface="+mn-lt"/>
                          <a:ea typeface="+mn-ea"/>
                          <a:cs typeface="+mn-cs"/>
                        </a:rPr>
                        <a:t>ата</a:t>
                      </a:r>
                      <a:r>
                        <a:rPr lang="ca-ES" sz="900" kern="1200" dirty="0" smtClean="0">
                          <a:solidFill>
                            <a:schemeClr val="tx1"/>
                          </a:solidFill>
                          <a:effectLst/>
                          <a:latin typeface="+mn-lt"/>
                          <a:ea typeface="+mn-ea"/>
                          <a:cs typeface="+mn-cs"/>
                        </a:rPr>
                        <a:t>ш</a:t>
                      </a:r>
                      <a:r>
                        <a:rPr lang="uz-Cyrl-UZ" sz="900" kern="1200" dirty="0" smtClean="0">
                          <a:solidFill>
                            <a:schemeClr val="tx1"/>
                          </a:solidFill>
                          <a:effectLst/>
                          <a:latin typeface="+mn-lt"/>
                          <a:ea typeface="+mn-ea"/>
                          <a:cs typeface="+mn-cs"/>
                        </a:rPr>
                        <a:t> ша</a:t>
                      </a:r>
                      <a:r>
                        <a:rPr lang="ca-ES" sz="900" kern="1200" dirty="0" smtClean="0">
                          <a:solidFill>
                            <a:schemeClr val="tx1"/>
                          </a:solidFill>
                          <a:effectLst/>
                          <a:latin typeface="+mn-lt"/>
                          <a:ea typeface="+mn-ea"/>
                          <a:cs typeface="+mn-cs"/>
                        </a:rPr>
                        <a:t>ҳ</a:t>
                      </a:r>
                      <a:r>
                        <a:rPr lang="uz-Cyrl-UZ" sz="900" kern="1200" dirty="0" smtClean="0">
                          <a:solidFill>
                            <a:schemeClr val="tx1"/>
                          </a:solidFill>
                          <a:effectLst/>
                          <a:latin typeface="+mn-lt"/>
                          <a:ea typeface="+mn-ea"/>
                          <a:cs typeface="+mn-cs"/>
                        </a:rPr>
                        <a:t>ри ихтисодиёт бошқармаси бош инженери)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66758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b="1" kern="1200" dirty="0" smtClean="0">
                          <a:solidFill>
                            <a:schemeClr val="tx1"/>
                          </a:solidFill>
                          <a:effectLst/>
                          <a:latin typeface="+mn-lt"/>
                          <a:ea typeface="+mn-ea"/>
                          <a:cs typeface="+mn-cs"/>
                        </a:rPr>
                        <a:t>Алиева </a:t>
                      </a:r>
                      <a:r>
                        <a:rPr lang="ru-RU" sz="900" b="1" kern="1200" dirty="0" err="1" smtClean="0">
                          <a:solidFill>
                            <a:schemeClr val="tx1"/>
                          </a:solidFill>
                          <a:effectLst/>
                          <a:latin typeface="+mn-lt"/>
                          <a:ea typeface="+mn-ea"/>
                          <a:cs typeface="+mn-cs"/>
                        </a:rPr>
                        <a:t>Муслима</a:t>
                      </a:r>
                      <a:endParaRPr lang="uz-Latn-UZ" sz="900" b="1" kern="1200" dirty="0" smtClean="0">
                        <a:solidFill>
                          <a:schemeClr val="tx1"/>
                        </a:solidFill>
                        <a:effectLst/>
                        <a:latin typeface="+mn-lt"/>
                        <a:ea typeface="+mn-ea"/>
                        <a:cs typeface="+mn-cs"/>
                      </a:endParaRPr>
                    </a:p>
                    <a:p>
                      <a:pPr algn="l">
                        <a:lnSpc>
                          <a:spcPct val="85000"/>
                        </a:lnSpc>
                      </a:pPr>
                      <a:r>
                        <a:rPr lang="ru-RU" sz="900" kern="1200" dirty="0" smtClean="0">
                          <a:solidFill>
                            <a:schemeClr val="tx1"/>
                          </a:solidFill>
                          <a:effectLst/>
                          <a:latin typeface="+mn-lt"/>
                          <a:ea typeface="+mn-ea"/>
                          <a:cs typeface="+mn-cs"/>
                        </a:rPr>
                        <a:t>1934 </a:t>
                      </a:r>
                      <a:r>
                        <a:rPr lang="ru-RU" sz="900" kern="1200" dirty="0" err="1" smtClean="0">
                          <a:solidFill>
                            <a:schemeClr val="tx1"/>
                          </a:solidFill>
                          <a:effectLst/>
                          <a:latin typeface="+mn-lt"/>
                          <a:ea typeface="+mn-ea"/>
                          <a:cs typeface="+mn-cs"/>
                        </a:rPr>
                        <a:t>йил</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Қораўзак</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тумани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kern="1200" dirty="0" err="1" smtClean="0">
                          <a:solidFill>
                            <a:schemeClr val="tx1"/>
                          </a:solidFill>
                          <a:effectLst/>
                          <a:latin typeface="+mn-lt"/>
                          <a:ea typeface="+mn-ea"/>
                          <a:cs typeface="+mn-cs"/>
                        </a:rPr>
                        <a:t>Пенси</a:t>
                      </a:r>
                      <a:r>
                        <a:rPr lang="uz-Cyrl-UZ" sz="900" kern="1200" dirty="0" smtClean="0">
                          <a:solidFill>
                            <a:schemeClr val="tx1"/>
                          </a:solidFill>
                          <a:effectLst/>
                          <a:latin typeface="+mn-lt"/>
                          <a:ea typeface="+mn-ea"/>
                          <a:cs typeface="+mn-cs"/>
                        </a:rPr>
                        <a:t>яда </a:t>
                      </a:r>
                      <a:r>
                        <a:rPr lang="ru-RU" sz="900" kern="1200" dirty="0" smtClean="0">
                          <a:solidFill>
                            <a:schemeClr val="tx1"/>
                          </a:solidFill>
                          <a:effectLst/>
                          <a:latin typeface="+mn-lt"/>
                          <a:ea typeface="+mn-ea"/>
                          <a:cs typeface="+mn-cs"/>
                        </a:rPr>
                        <a:t>(</a:t>
                      </a:r>
                      <a:r>
                        <a:rPr lang="ru-RU" sz="900" kern="1200" dirty="0" err="1" smtClean="0">
                          <a:solidFill>
                            <a:schemeClr val="tx1"/>
                          </a:solidFill>
                          <a:effectLst/>
                          <a:latin typeface="+mn-lt"/>
                          <a:ea typeface="+mn-ea"/>
                          <a:cs typeface="+mn-cs"/>
                        </a:rPr>
                        <a:t>Коракалпо</a:t>
                      </a:r>
                      <a:r>
                        <a:rPr lang="uz-Cyrl-UZ" sz="900" kern="1200" dirty="0" smtClean="0">
                          <a:solidFill>
                            <a:schemeClr val="tx1"/>
                          </a:solidFill>
                          <a:effectLst/>
                          <a:latin typeface="+mn-lt"/>
                          <a:ea typeface="+mn-ea"/>
                          <a:cs typeface="+mn-cs"/>
                        </a:rPr>
                        <a:t>ғ</a:t>
                      </a:r>
                      <a:r>
                        <a:rPr lang="ru-RU" sz="900" kern="1200" dirty="0" err="1" smtClean="0">
                          <a:solidFill>
                            <a:schemeClr val="tx1"/>
                          </a:solidFill>
                          <a:effectLst/>
                          <a:latin typeface="+mn-lt"/>
                          <a:ea typeface="+mn-ea"/>
                          <a:cs typeface="+mn-cs"/>
                        </a:rPr>
                        <a:t>истон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Республикаси</a:t>
                      </a:r>
                      <a:r>
                        <a:rPr lang="uz-Cyrl-UZ"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Телерадиокомпанияси</a:t>
                      </a:r>
                      <a:r>
                        <a:rPr lang="ru-RU" sz="900" kern="1200" dirty="0" smtClean="0">
                          <a:solidFill>
                            <a:schemeClr val="tx1"/>
                          </a:solidFill>
                          <a:effectLst/>
                          <a:latin typeface="+mn-lt"/>
                          <a:ea typeface="+mn-ea"/>
                          <a:cs typeface="+mn-cs"/>
                        </a:rPr>
                        <a:t> редактор</a:t>
                      </a:r>
                      <a:r>
                        <a:rPr lang="uz-Cyrl-UZ" sz="900" kern="1200" dirty="0" smtClean="0">
                          <a:solidFill>
                            <a:schemeClr val="tx1"/>
                          </a:solidFill>
                          <a:effectLst/>
                          <a:latin typeface="+mn-lt"/>
                          <a:ea typeface="+mn-ea"/>
                          <a:cs typeface="+mn-cs"/>
                        </a:rPr>
                        <a:t>и</a:t>
                      </a:r>
                      <a:r>
                        <a:rPr lang="ru-RU" sz="900" kern="1200" dirty="0" smtClean="0">
                          <a:solidFill>
                            <a:schemeClr val="tx1"/>
                          </a:solidFill>
                          <a:effectLst/>
                          <a:latin typeface="+mn-lt"/>
                          <a:ea typeface="+mn-ea"/>
                          <a:cs typeface="+mn-cs"/>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92669">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ru-RU" sz="900" b="1" kern="1200" dirty="0" err="1" smtClean="0">
                          <a:solidFill>
                            <a:schemeClr val="tx1"/>
                          </a:solidFill>
                          <a:effectLst/>
                          <a:latin typeface="+mn-lt"/>
                          <a:ea typeface="+mn-ea"/>
                          <a:cs typeface="+mn-cs"/>
                        </a:rPr>
                        <a:t>Музапова</a:t>
                      </a:r>
                      <a:r>
                        <a:rPr lang="ru-RU" sz="900" b="1" kern="1200" dirty="0" smtClean="0">
                          <a:solidFill>
                            <a:schemeClr val="tx1"/>
                          </a:solidFill>
                          <a:effectLst/>
                          <a:latin typeface="+mn-lt"/>
                          <a:ea typeface="+mn-ea"/>
                          <a:cs typeface="+mn-cs"/>
                        </a:rPr>
                        <a:t> </a:t>
                      </a:r>
                      <a:r>
                        <a:rPr lang="ru-RU" sz="900" b="1" kern="1200" dirty="0" err="1" smtClean="0">
                          <a:solidFill>
                            <a:schemeClr val="tx1"/>
                          </a:solidFill>
                          <a:effectLst/>
                          <a:latin typeface="+mn-lt"/>
                          <a:ea typeface="+mn-ea"/>
                          <a:cs typeface="+mn-cs"/>
                        </a:rPr>
                        <a:t>Гулчехра</a:t>
                      </a:r>
                      <a:endParaRPr lang="ru-RU" sz="900" b="1" kern="1200" dirty="0" smtClean="0">
                        <a:solidFill>
                          <a:schemeClr val="tx1"/>
                        </a:solidFill>
                        <a:effectLst/>
                        <a:latin typeface="+mn-lt"/>
                        <a:ea typeface="+mn-ea"/>
                        <a:cs typeface="+mn-cs"/>
                      </a:endParaRPr>
                    </a:p>
                    <a:p>
                      <a:r>
                        <a:rPr lang="ru-RU" sz="900" b="1" kern="1200" dirty="0" err="1" smtClean="0">
                          <a:solidFill>
                            <a:schemeClr val="tx1"/>
                          </a:solidFill>
                          <a:effectLst/>
                          <a:latin typeface="+mn-lt"/>
                          <a:ea typeface="+mn-ea"/>
                          <a:cs typeface="+mn-cs"/>
                        </a:rPr>
                        <a:t>Мамбетшариповна</a:t>
                      </a:r>
                      <a:r>
                        <a:rPr lang="uz-Latn-UZ" sz="900" b="1" kern="1200" dirty="0" smtClean="0">
                          <a:solidFill>
                            <a:schemeClr val="tx1"/>
                          </a:solidFill>
                          <a:effectLst/>
                          <a:latin typeface="+mn-lt"/>
                          <a:ea typeface="+mn-ea"/>
                          <a:cs typeface="+mn-cs"/>
                        </a:rPr>
                        <a:t> </a:t>
                      </a:r>
                    </a:p>
                    <a:p>
                      <a:r>
                        <a:rPr lang="ru-RU" sz="900" kern="1200" dirty="0" smtClean="0">
                          <a:solidFill>
                            <a:schemeClr val="tx1"/>
                          </a:solidFill>
                          <a:effectLst/>
                          <a:latin typeface="+mn-lt"/>
                          <a:ea typeface="+mn-ea"/>
                          <a:cs typeface="+mn-cs"/>
                        </a:rPr>
                        <a:t>1957 </a:t>
                      </a:r>
                      <a:r>
                        <a:rPr lang="ru-RU" sz="900" kern="1200" dirty="0" err="1" smtClean="0">
                          <a:solidFill>
                            <a:schemeClr val="tx1"/>
                          </a:solidFill>
                          <a:effectLst/>
                          <a:latin typeface="+mn-lt"/>
                          <a:ea typeface="+mn-ea"/>
                          <a:cs typeface="+mn-cs"/>
                        </a:rPr>
                        <a:t>йил</a:t>
                      </a:r>
                      <a:r>
                        <a:rPr lang="ru-RU" sz="900" kern="1200" dirty="0" smtClean="0">
                          <a:solidFill>
                            <a:schemeClr val="tx1"/>
                          </a:solidFill>
                          <a:effectLst/>
                          <a:latin typeface="+mn-lt"/>
                          <a:ea typeface="+mn-ea"/>
                          <a:cs typeface="+mn-cs"/>
                        </a:rPr>
                        <a:t>, Нукус </a:t>
                      </a:r>
                      <a:r>
                        <a:rPr lang="ru-RU" sz="900" kern="1200" dirty="0" err="1" smtClean="0">
                          <a:solidFill>
                            <a:schemeClr val="tx1"/>
                          </a:solidFill>
                          <a:effectLst/>
                          <a:latin typeface="+mn-lt"/>
                          <a:ea typeface="+mn-ea"/>
                          <a:cs typeface="+mn-cs"/>
                        </a:rPr>
                        <a:t>шахри</a:t>
                      </a:r>
                      <a:endParaRPr lang="uz-Latn-UZ" sz="900" b="1" kern="1200" dirty="0" smtClean="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kern="1200" dirty="0" smtClean="0">
                          <a:solidFill>
                            <a:schemeClr val="tx1"/>
                          </a:solidFill>
                          <a:effectLst/>
                          <a:latin typeface="+mn-lt"/>
                          <a:ea typeface="+mn-ea"/>
                          <a:cs typeface="+mn-cs"/>
                        </a:rPr>
                        <a:t>(Нукус  </a:t>
                      </a:r>
                      <a:r>
                        <a:rPr lang="ru-RU" sz="900" kern="1200" dirty="0" err="1" smtClean="0">
                          <a:solidFill>
                            <a:schemeClr val="tx1"/>
                          </a:solidFill>
                          <a:effectLst/>
                          <a:latin typeface="+mn-lt"/>
                          <a:ea typeface="+mn-ea"/>
                          <a:cs typeface="+mn-cs"/>
                        </a:rPr>
                        <a:t>Глэьр</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мусиқали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мактаби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уқитувчиси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Уй</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бекаси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672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436411">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1973 й. Нукус мусиқали ушелище </a:t>
                      </a:r>
                      <a:r>
                        <a:rPr lang="ru-RU" sz="900" b="1" kern="1200" dirty="0" smtClean="0">
                          <a:solidFill>
                            <a:schemeClr val="tx1"/>
                          </a:solidFill>
                          <a:effectLst/>
                          <a:latin typeface="+mn-lt"/>
                          <a:ea typeface="+mn-ea"/>
                          <a:cs typeface="+mn-cs"/>
                        </a:rPr>
                        <a:t>(</a:t>
                      </a:r>
                      <a:r>
                        <a:rPr lang="ru-RU" sz="900" kern="1200" dirty="0" err="1" smtClean="0">
                          <a:solidFill>
                            <a:schemeClr val="tx1"/>
                          </a:solidFill>
                          <a:effectLst/>
                          <a:latin typeface="+mn-lt"/>
                          <a:ea typeface="+mn-ea"/>
                          <a:cs typeface="+mn-cs"/>
                        </a:rPr>
                        <a:t>кундузги</a:t>
                      </a:r>
                      <a:r>
                        <a:rPr lang="ru-RU" sz="900" b="1" kern="1200" dirty="0" smtClean="0">
                          <a:solidFill>
                            <a:schemeClr val="tx1"/>
                          </a:solidFill>
                          <a:effectLst/>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4457">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вокал артисти </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2862">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2862">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12862">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231968762"/>
              </p:ext>
            </p:extLst>
          </p:nvPr>
        </p:nvGraphicFramePr>
        <p:xfrm>
          <a:off x="3633108" y="854006"/>
          <a:ext cx="3257549" cy="5931354"/>
        </p:xfrm>
        <a:graphic>
          <a:graphicData uri="http://schemas.openxmlformats.org/drawingml/2006/table">
            <a:tbl>
              <a:tblPr firstRow="1" bandRow="1">
                <a:tableStyleId>{C083E6E3-FA7D-4D7B-A595-EF9225AFEA82}</a:tableStyleId>
              </a:tblPr>
              <a:tblGrid>
                <a:gridCol w="1538661">
                  <a:extLst>
                    <a:ext uri="{9D8B030D-6E8A-4147-A177-3AD203B41FA5}">
                      <a16:colId xmlns:a16="http://schemas.microsoft.com/office/drawing/2014/main" val="2715609854"/>
                    </a:ext>
                  </a:extLst>
                </a:gridCol>
                <a:gridCol w="1718888">
                  <a:extLst>
                    <a:ext uri="{9D8B030D-6E8A-4147-A177-3AD203B41FA5}">
                      <a16:colId xmlns:a16="http://schemas.microsoft.com/office/drawing/2014/main" val="546443978"/>
                    </a:ext>
                  </a:extLst>
                </a:gridCol>
              </a:tblGrid>
              <a:tr h="334191">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99293">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ru-RU" sz="900" b="1" kern="1200" dirty="0" smtClean="0">
                          <a:solidFill>
                            <a:schemeClr val="tx1"/>
                          </a:solidFill>
                          <a:effectLst/>
                          <a:latin typeface="+mn-lt"/>
                          <a:ea typeface="+mn-ea"/>
                          <a:cs typeface="+mn-cs"/>
                        </a:rPr>
                        <a:t>20</a:t>
                      </a:r>
                      <a:r>
                        <a:rPr lang="uz-Latn-UZ" sz="900" b="1" kern="1200" dirty="0" smtClean="0">
                          <a:solidFill>
                            <a:schemeClr val="tx1"/>
                          </a:solidFill>
                          <a:effectLst/>
                          <a:latin typeface="+mn-lt"/>
                          <a:ea typeface="+mn-ea"/>
                          <a:cs typeface="+mn-cs"/>
                        </a:rPr>
                        <a:t>2</a:t>
                      </a:r>
                      <a:r>
                        <a:rPr lang="ru-RU" sz="900" b="1" kern="1200" dirty="0" smtClean="0">
                          <a:solidFill>
                            <a:schemeClr val="tx1"/>
                          </a:solidFill>
                          <a:effectLst/>
                          <a:latin typeface="+mn-lt"/>
                          <a:ea typeface="+mn-ea"/>
                          <a:cs typeface="+mn-cs"/>
                        </a:rPr>
                        <a:t>4 </a:t>
                      </a:r>
                      <a:r>
                        <a:rPr lang="ru-RU" sz="900" b="1" kern="1200" dirty="0" err="1" smtClean="0">
                          <a:solidFill>
                            <a:schemeClr val="tx1"/>
                          </a:solidFill>
                          <a:effectLst/>
                          <a:latin typeface="+mn-lt"/>
                          <a:ea typeface="+mn-ea"/>
                          <a:cs typeface="+mn-cs"/>
                        </a:rPr>
                        <a:t>йилдан</a:t>
                      </a:r>
                      <a:r>
                        <a:rPr lang="ru-RU" sz="900" b="1" kern="1200" dirty="0" smtClean="0">
                          <a:solidFill>
                            <a:schemeClr val="tx1"/>
                          </a:solidFill>
                          <a:effectLst/>
                          <a:latin typeface="+mn-lt"/>
                          <a:ea typeface="+mn-ea"/>
                          <a:cs typeface="+mn-cs"/>
                        </a:rPr>
                        <a:t> </a:t>
                      </a:r>
                      <a:r>
                        <a:rPr lang="ru-RU" sz="900" b="1" kern="1200" dirty="0" err="1" smtClean="0">
                          <a:solidFill>
                            <a:schemeClr val="tx1"/>
                          </a:solidFill>
                          <a:effectLst/>
                          <a:latin typeface="+mn-lt"/>
                          <a:ea typeface="+mn-ea"/>
                          <a:cs typeface="+mn-cs"/>
                        </a:rPr>
                        <a:t>буён</a:t>
                      </a:r>
                      <a:r>
                        <a:rPr lang="ru-RU" sz="900" b="1" kern="1200" dirty="0" smtClean="0">
                          <a:solidFill>
                            <a:schemeClr val="tx1"/>
                          </a:solidFill>
                          <a:effectLst/>
                          <a:latin typeface="+mn-lt"/>
                          <a:ea typeface="+mn-ea"/>
                          <a:cs typeface="+mn-cs"/>
                        </a:rPr>
                        <a:t> Берда</a:t>
                      </a:r>
                      <a:r>
                        <a:rPr lang="uz-Cyrl-UZ" sz="900" b="1" kern="1200" dirty="0" smtClean="0">
                          <a:solidFill>
                            <a:schemeClr val="tx1"/>
                          </a:solidFill>
                          <a:effectLst/>
                          <a:latin typeface="+mn-lt"/>
                          <a:ea typeface="+mn-ea"/>
                          <a:cs typeface="+mn-cs"/>
                        </a:rPr>
                        <a:t>қ номидаги Қорақалпоқ давлат мусиқали</a:t>
                      </a:r>
                      <a:r>
                        <a:rPr lang="ru-RU" sz="900" b="1" kern="1200" dirty="0" smtClean="0">
                          <a:solidFill>
                            <a:schemeClr val="tx1"/>
                          </a:solidFill>
                          <a:effectLst/>
                          <a:latin typeface="+mn-lt"/>
                          <a:ea typeface="+mn-ea"/>
                          <a:cs typeface="+mn-cs"/>
                        </a:rPr>
                        <a:t> театр</a:t>
                      </a:r>
                      <a:r>
                        <a:rPr lang="uz-Cyrl-UZ" sz="900" b="1" kern="1200" dirty="0" smtClean="0">
                          <a:solidFill>
                            <a:schemeClr val="tx1"/>
                          </a:solidFill>
                          <a:effectLst/>
                          <a:latin typeface="+mn-lt"/>
                          <a:ea typeface="+mn-ea"/>
                          <a:cs typeface="+mn-cs"/>
                        </a:rPr>
                        <a:t>и</a:t>
                      </a:r>
                      <a:r>
                        <a:rPr lang="ru-RU" sz="900" b="1" kern="1200" dirty="0" smtClean="0">
                          <a:solidFill>
                            <a:schemeClr val="tx1"/>
                          </a:solidFill>
                          <a:effectLst/>
                          <a:latin typeface="+mn-lt"/>
                          <a:ea typeface="+mn-ea"/>
                          <a:cs typeface="+mn-cs"/>
                        </a:rPr>
                        <a:t> вокал </a:t>
                      </a:r>
                      <a:r>
                        <a:rPr lang="ru-RU" sz="900" b="1" kern="1200" dirty="0" err="1" smtClean="0">
                          <a:solidFill>
                            <a:schemeClr val="tx1"/>
                          </a:solidFill>
                          <a:effectLst/>
                          <a:latin typeface="+mn-lt"/>
                          <a:ea typeface="+mn-ea"/>
                          <a:cs typeface="+mn-cs"/>
                        </a:rPr>
                        <a:t>артисти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49366">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465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dirty="0" smtClean="0">
                          <a:solidFill>
                            <a:schemeClr val="tx1"/>
                          </a:solidFill>
                          <a:effectLst/>
                          <a:latin typeface="+mn-lt"/>
                          <a:ea typeface="+mn-ea"/>
                          <a:cs typeface="+mn-cs"/>
                        </a:rPr>
                        <a:t>28 йил</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30890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smtClean="0">
                        <a:solidFill>
                          <a:schemeClr val="tx1"/>
                        </a:solidFill>
                        <a:latin typeface="+mn-lt"/>
                        <a:ea typeface="+mn-ea"/>
                        <a:cs typeface="+mn-cs"/>
                      </a:endParaRPr>
                    </a:p>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35988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smtClean="0">
                        <a:solidFill>
                          <a:schemeClr val="tx1"/>
                        </a:solidFill>
                        <a:latin typeface="+mn-lt"/>
                        <a:ea typeface="+mn-ea"/>
                        <a:cs typeface="+mn-cs"/>
                      </a:endParaRPr>
                    </a:p>
                    <a:p>
                      <a:pPr algn="l">
                        <a:lnSpc>
                          <a:spcPct val="107000"/>
                        </a:lnSpc>
                        <a:spcAft>
                          <a:spcPts val="0"/>
                        </a:spcAft>
                      </a:pP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25989">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2598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smtClean="0">
                          <a:solidFill>
                            <a:schemeClr val="tx1"/>
                          </a:solidFill>
                          <a:effectLst/>
                          <a:latin typeface="+mn-lt"/>
                          <a:ea typeface="Calibri" panose="020F0502020204030204" pitchFamily="34" charset="0"/>
                          <a:cs typeface="Times New Roman" panose="02020603050405020304" pitchFamily="18" charset="0"/>
                        </a:rPr>
                        <a:t>Йўқ</a:t>
                      </a:r>
                    </a:p>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2598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306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1286">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492737">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1999 йил “</a:t>
                      </a:r>
                      <a:r>
                        <a:rPr lang="ca-ES" sz="900" kern="1200" dirty="0" smtClean="0">
                          <a:solidFill>
                            <a:schemeClr val="tx1"/>
                          </a:solidFill>
                          <a:effectLst/>
                          <a:latin typeface="+mn-lt"/>
                          <a:ea typeface="+mn-ea"/>
                          <a:cs typeface="+mn-cs"/>
                        </a:rPr>
                        <a:t>Қорақалпоғистон Республикаси</a:t>
                      </a:r>
                      <a:r>
                        <a:rPr lang="uz-Cyrl-UZ" sz="900" kern="1200" dirty="0" smtClean="0">
                          <a:solidFill>
                            <a:schemeClr val="tx1"/>
                          </a:solidFill>
                          <a:effectLst/>
                          <a:latin typeface="+mn-lt"/>
                          <a:ea typeface="+mn-ea"/>
                          <a:cs typeface="+mn-cs"/>
                        </a:rPr>
                        <a:t>га хизмат курсатган артист</a:t>
                      </a:r>
                      <a:r>
                        <a:rPr lang="uz-Cyrl-UZ" sz="900" b="1" kern="1200" dirty="0" smtClean="0">
                          <a:solidFill>
                            <a:schemeClr val="tx1"/>
                          </a:solidFill>
                          <a:effectLst/>
                          <a:latin typeface="+mn-lt"/>
                          <a:ea typeface="+mn-ea"/>
                          <a:cs typeface="+mn-cs"/>
                        </a:rPr>
                        <a:t>”</a:t>
                      </a:r>
                      <a:endParaRPr lang="uz-Latn-UZ" sz="900" b="1" kern="1200" dirty="0" smtClean="0">
                        <a:solidFill>
                          <a:schemeClr val="tx1"/>
                        </a:solidFill>
                        <a:effectLst/>
                        <a:latin typeface="+mn-lt"/>
                        <a:ea typeface="+mn-ea"/>
                        <a:cs typeface="+mn-cs"/>
                      </a:endParaRP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2024</a:t>
                      </a:r>
                      <a:r>
                        <a:rPr lang="uz-Latn-UZ"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йил “</a:t>
                      </a:r>
                      <a:r>
                        <a:rPr lang="ru-RU" sz="900" kern="1200" dirty="0" err="1" smtClean="0">
                          <a:solidFill>
                            <a:schemeClr val="tx1"/>
                          </a:solidFill>
                          <a:effectLst/>
                          <a:latin typeface="+mn-lt"/>
                          <a:ea typeface="+mn-ea"/>
                          <a:cs typeface="+mn-cs"/>
                        </a:rPr>
                        <a:t>Қорақалпоғистон</a:t>
                      </a:r>
                      <a:r>
                        <a:rPr lang="uz-Cyrl-UZ" sz="900" kern="1200" dirty="0" smtClean="0">
                          <a:solidFill>
                            <a:schemeClr val="tx1"/>
                          </a:solidFill>
                          <a:effectLst/>
                          <a:latin typeface="+mn-lt"/>
                          <a:ea typeface="+mn-ea"/>
                          <a:cs typeface="+mn-cs"/>
                        </a:rPr>
                        <a:t> Республикаси халқ артисти” унвонлари билан тақдирланган.</a:t>
                      </a:r>
                      <a:endParaRPr lang="ru-RU" sz="900" kern="1200" dirty="0" smtClean="0">
                        <a:solidFill>
                          <a:schemeClr val="tx1"/>
                        </a:solidFill>
                        <a:effectLst/>
                        <a:latin typeface="+mn-lt"/>
                        <a:ea typeface="+mn-ea"/>
                        <a:cs typeface="+mn-cs"/>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019375889"/>
              </p:ext>
            </p:extLst>
          </p:nvPr>
        </p:nvGraphicFramePr>
        <p:xfrm>
          <a:off x="6949858" y="854008"/>
          <a:ext cx="2811653" cy="5941007"/>
        </p:xfrm>
        <a:graphic>
          <a:graphicData uri="http://schemas.openxmlformats.org/drawingml/2006/table">
            <a:tbl>
              <a:tblPr firstRow="1" bandRow="1">
                <a:tableStyleId>{C083E6E3-FA7D-4D7B-A595-EF9225AFEA82}</a:tableStyleId>
              </a:tblPr>
              <a:tblGrid>
                <a:gridCol w="2811653">
                  <a:extLst>
                    <a:ext uri="{9D8B030D-6E8A-4147-A177-3AD203B41FA5}">
                      <a16:colId xmlns:a16="http://schemas.microsoft.com/office/drawing/2014/main" val="2715609854"/>
                    </a:ext>
                  </a:extLst>
                </a:gridCol>
              </a:tblGrid>
              <a:tr h="237405">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4492">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12244">
                <a:tc>
                  <a:txBody>
                    <a:bodyPr/>
                    <a:lstStyle/>
                    <a:p>
                      <a:pPr marL="0" indent="179388" algn="just"/>
                      <a:r>
                        <a:rPr lang="uz-Cyrl-UZ" sz="900" kern="1200" dirty="0" smtClean="0">
                          <a:solidFill>
                            <a:schemeClr val="tx1"/>
                          </a:solidFill>
                          <a:effectLst/>
                          <a:latin typeface="+mn-lt"/>
                          <a:ea typeface="+mn-ea"/>
                          <a:cs typeface="+mn-cs"/>
                        </a:rPr>
                        <a:t>Д.Мамбетмуратов қорақалпоқ қўшиқчилиқ саньатида ҳам ўз ижодий йўлига ва алоҳида ўрнига эга ижодкор. Унинг репертуаридан миллий қорақалпоқ, лирик ва эстрада жанрида қўшиқлар ижро этиб қелмоқда. </a:t>
                      </a:r>
                      <a:endParaRPr lang="ru-RU" sz="900" kern="1200" dirty="0" smtClean="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Унинг ижро этган ҳар бир қўшиқларида </a:t>
                      </a:r>
                      <a:r>
                        <a:rPr lang="uk-UA" sz="900" kern="1200" dirty="0" err="1" smtClean="0">
                          <a:solidFill>
                            <a:schemeClr val="tx1"/>
                          </a:solidFill>
                          <a:effectLst/>
                          <a:latin typeface="+mn-lt"/>
                          <a:ea typeface="+mn-ea"/>
                          <a:cs typeface="+mn-cs"/>
                        </a:rPr>
                        <a:t>муста</a:t>
                      </a:r>
                      <a:r>
                        <a:rPr lang="uz-Cyrl-UZ" sz="900" kern="1200" dirty="0" smtClean="0">
                          <a:solidFill>
                            <a:schemeClr val="tx1"/>
                          </a:solidFill>
                          <a:effectLst/>
                          <a:latin typeface="+mn-lt"/>
                          <a:ea typeface="+mn-ea"/>
                          <a:cs typeface="+mn-cs"/>
                        </a:rPr>
                        <a:t>қи</a:t>
                      </a:r>
                      <a:r>
                        <a:rPr lang="uk-UA" sz="900" kern="1200" dirty="0" err="1" smtClean="0">
                          <a:solidFill>
                            <a:schemeClr val="tx1"/>
                          </a:solidFill>
                          <a:effectLst/>
                          <a:latin typeface="+mn-lt"/>
                          <a:ea typeface="+mn-ea"/>
                          <a:cs typeface="+mn-cs"/>
                        </a:rPr>
                        <a:t>ллик</a:t>
                      </a:r>
                      <a:r>
                        <a:rPr lang="uk-UA" sz="900" kern="1200" dirty="0" smtClean="0">
                          <a:solidFill>
                            <a:schemeClr val="tx1"/>
                          </a:solidFill>
                          <a:effectLst/>
                          <a:latin typeface="+mn-lt"/>
                          <a:ea typeface="+mn-ea"/>
                          <a:cs typeface="+mn-cs"/>
                        </a:rPr>
                        <a:t> </a:t>
                      </a:r>
                      <a:r>
                        <a:rPr lang="uk-UA" sz="900" kern="1200" dirty="0" err="1" smtClean="0">
                          <a:solidFill>
                            <a:schemeClr val="tx1"/>
                          </a:solidFill>
                          <a:effectLst/>
                          <a:latin typeface="+mn-lt"/>
                          <a:ea typeface="+mn-ea"/>
                          <a:cs typeface="+mn-cs"/>
                        </a:rPr>
                        <a:t>ғоялари</a:t>
                      </a:r>
                      <a:r>
                        <a:rPr lang="uk-UA" sz="900" kern="1200" dirty="0" smtClean="0">
                          <a:solidFill>
                            <a:schemeClr val="tx1"/>
                          </a:solidFill>
                          <a:effectLst/>
                          <a:latin typeface="+mn-lt"/>
                          <a:ea typeface="+mn-ea"/>
                          <a:cs typeface="+mn-cs"/>
                        </a:rPr>
                        <a:t>, </a:t>
                      </a:r>
                      <a:r>
                        <a:rPr lang="uk-UA" sz="900" kern="1200" dirty="0" err="1" smtClean="0">
                          <a:solidFill>
                            <a:schemeClr val="tx1"/>
                          </a:solidFill>
                          <a:effectLst/>
                          <a:latin typeface="+mn-lt"/>
                          <a:ea typeface="+mn-ea"/>
                          <a:cs typeface="+mn-cs"/>
                        </a:rPr>
                        <a:t>миллийлик</a:t>
                      </a:r>
                      <a:r>
                        <a:rPr lang="uk-UA" sz="900" kern="1200" dirty="0" smtClean="0">
                          <a:solidFill>
                            <a:schemeClr val="tx1"/>
                          </a:solidFill>
                          <a:effectLst/>
                          <a:latin typeface="+mn-lt"/>
                          <a:ea typeface="+mn-ea"/>
                          <a:cs typeface="+mn-cs"/>
                        </a:rPr>
                        <a:t>, </a:t>
                      </a:r>
                      <a:r>
                        <a:rPr lang="uk-UA" sz="900" kern="1200" dirty="0" err="1" smtClean="0">
                          <a:solidFill>
                            <a:schemeClr val="tx1"/>
                          </a:solidFill>
                          <a:effectLst/>
                          <a:latin typeface="+mn-lt"/>
                          <a:ea typeface="+mn-ea"/>
                          <a:cs typeface="+mn-cs"/>
                        </a:rPr>
                        <a:t>ватанпарварлик</a:t>
                      </a:r>
                      <a:r>
                        <a:rPr lang="uk-UA" sz="900" kern="1200" dirty="0" smtClean="0">
                          <a:solidFill>
                            <a:schemeClr val="tx1"/>
                          </a:solidFill>
                          <a:effectLst/>
                          <a:latin typeface="+mn-lt"/>
                          <a:ea typeface="+mn-ea"/>
                          <a:cs typeface="+mn-cs"/>
                        </a:rPr>
                        <a:t>, </a:t>
                      </a:r>
                      <a:r>
                        <a:rPr lang="uk-UA" sz="900" kern="1200" dirty="0" err="1" smtClean="0">
                          <a:solidFill>
                            <a:schemeClr val="tx1"/>
                          </a:solidFill>
                          <a:effectLst/>
                          <a:latin typeface="+mn-lt"/>
                          <a:ea typeface="+mn-ea"/>
                          <a:cs typeface="+mn-cs"/>
                        </a:rPr>
                        <a:t>дўстлик</a:t>
                      </a:r>
                      <a:r>
                        <a:rPr lang="uk-UA" sz="900" kern="1200" dirty="0" smtClean="0">
                          <a:solidFill>
                            <a:schemeClr val="tx1"/>
                          </a:solidFill>
                          <a:effectLst/>
                          <a:latin typeface="+mn-lt"/>
                          <a:ea typeface="+mn-ea"/>
                          <a:cs typeface="+mn-cs"/>
                        </a:rPr>
                        <a:t>, </a:t>
                      </a:r>
                      <a:r>
                        <a:rPr lang="uk-UA" sz="900" kern="1200" dirty="0" err="1" smtClean="0">
                          <a:solidFill>
                            <a:schemeClr val="tx1"/>
                          </a:solidFill>
                          <a:effectLst/>
                          <a:latin typeface="+mn-lt"/>
                          <a:ea typeface="+mn-ea"/>
                          <a:cs typeface="+mn-cs"/>
                        </a:rPr>
                        <a:t>меҳнатсеварлик</a:t>
                      </a:r>
                      <a:r>
                        <a:rPr lang="uk-UA" sz="900" kern="1200" dirty="0" smtClean="0">
                          <a:solidFill>
                            <a:schemeClr val="tx1"/>
                          </a:solidFill>
                          <a:effectLst/>
                          <a:latin typeface="+mn-lt"/>
                          <a:ea typeface="+mn-ea"/>
                          <a:cs typeface="+mn-cs"/>
                        </a:rPr>
                        <a:t>, </a:t>
                      </a:r>
                      <a:r>
                        <a:rPr lang="uk-UA" sz="900" kern="1200" dirty="0" err="1" smtClean="0">
                          <a:solidFill>
                            <a:schemeClr val="tx1"/>
                          </a:solidFill>
                          <a:effectLst/>
                          <a:latin typeface="+mn-lt"/>
                          <a:ea typeface="+mn-ea"/>
                          <a:cs typeface="+mn-cs"/>
                        </a:rPr>
                        <a:t>миллий</a:t>
                      </a:r>
                      <a:r>
                        <a:rPr lang="uk-UA" sz="900" kern="1200" dirty="0" smtClean="0">
                          <a:solidFill>
                            <a:schemeClr val="tx1"/>
                          </a:solidFill>
                          <a:effectLst/>
                          <a:latin typeface="+mn-lt"/>
                          <a:ea typeface="+mn-ea"/>
                          <a:cs typeface="+mn-cs"/>
                        </a:rPr>
                        <a:t> </a:t>
                      </a:r>
                      <a:r>
                        <a:rPr lang="uk-UA" sz="900" kern="1200" dirty="0" err="1" smtClean="0">
                          <a:solidFill>
                            <a:schemeClr val="tx1"/>
                          </a:solidFill>
                          <a:effectLst/>
                          <a:latin typeface="+mn-lt"/>
                          <a:ea typeface="+mn-ea"/>
                          <a:cs typeface="+mn-cs"/>
                        </a:rPr>
                        <a:t>қадриятларимиз</a:t>
                      </a:r>
                      <a:r>
                        <a:rPr lang="uk-UA" sz="900" kern="1200" dirty="0" smtClean="0">
                          <a:solidFill>
                            <a:schemeClr val="tx1"/>
                          </a:solidFill>
                          <a:effectLst/>
                          <a:latin typeface="+mn-lt"/>
                          <a:ea typeface="+mn-ea"/>
                          <a:cs typeface="+mn-cs"/>
                        </a:rPr>
                        <a:t> ва </a:t>
                      </a:r>
                      <a:r>
                        <a:rPr lang="uk-UA" sz="900" kern="1200" dirty="0" err="1" smtClean="0">
                          <a:solidFill>
                            <a:schemeClr val="tx1"/>
                          </a:solidFill>
                          <a:effectLst/>
                          <a:latin typeface="+mn-lt"/>
                          <a:ea typeface="+mn-ea"/>
                          <a:cs typeface="+mn-cs"/>
                        </a:rPr>
                        <a:t>маънавий</a:t>
                      </a:r>
                      <a:r>
                        <a:rPr lang="uk-UA" sz="900" kern="1200" dirty="0" smtClean="0">
                          <a:solidFill>
                            <a:schemeClr val="tx1"/>
                          </a:solidFill>
                          <a:effectLst/>
                          <a:latin typeface="+mn-lt"/>
                          <a:ea typeface="+mn-ea"/>
                          <a:cs typeface="+mn-cs"/>
                        </a:rPr>
                        <a:t> </a:t>
                      </a:r>
                      <a:r>
                        <a:rPr lang="uk-UA" sz="900" kern="1200" dirty="0" err="1" smtClean="0">
                          <a:solidFill>
                            <a:schemeClr val="tx1"/>
                          </a:solidFill>
                          <a:effectLst/>
                          <a:latin typeface="+mn-lt"/>
                          <a:ea typeface="+mn-ea"/>
                          <a:cs typeface="+mn-cs"/>
                        </a:rPr>
                        <a:t>баркамоллик</a:t>
                      </a:r>
                      <a:r>
                        <a:rPr lang="uk-UA" sz="900" kern="1200" dirty="0" smtClean="0">
                          <a:solidFill>
                            <a:schemeClr val="tx1"/>
                          </a:solidFill>
                          <a:effectLst/>
                          <a:latin typeface="+mn-lt"/>
                          <a:ea typeface="+mn-ea"/>
                          <a:cs typeface="+mn-cs"/>
                        </a:rPr>
                        <a:t> </a:t>
                      </a:r>
                      <a:r>
                        <a:rPr lang="uk-UA" sz="900" kern="1200" dirty="0" err="1" smtClean="0">
                          <a:solidFill>
                            <a:schemeClr val="tx1"/>
                          </a:solidFill>
                          <a:effectLst/>
                          <a:latin typeface="+mn-lt"/>
                          <a:ea typeface="+mn-ea"/>
                          <a:cs typeface="+mn-cs"/>
                        </a:rPr>
                        <a:t>тўйғулари</a:t>
                      </a:r>
                      <a:r>
                        <a:rPr lang="uk-UA" sz="900" kern="1200" dirty="0" smtClean="0">
                          <a:solidFill>
                            <a:schemeClr val="tx1"/>
                          </a:solidFill>
                          <a:effectLst/>
                          <a:latin typeface="+mn-lt"/>
                          <a:ea typeface="+mn-ea"/>
                          <a:cs typeface="+mn-cs"/>
                        </a:rPr>
                        <a:t> </a:t>
                      </a:r>
                      <a:r>
                        <a:rPr lang="uk-UA" sz="900" kern="1200" dirty="0" err="1" smtClean="0">
                          <a:solidFill>
                            <a:schemeClr val="tx1"/>
                          </a:solidFill>
                          <a:effectLst/>
                          <a:latin typeface="+mn-lt"/>
                          <a:ea typeface="+mn-ea"/>
                          <a:cs typeface="+mn-cs"/>
                        </a:rPr>
                        <a:t>мужассамлашган</a:t>
                      </a:r>
                      <a:r>
                        <a:rPr lang="uk-UA" sz="900" kern="1200" dirty="0" smtClean="0">
                          <a:solidFill>
                            <a:schemeClr val="tx1"/>
                          </a:solidFill>
                          <a:effectLst/>
                          <a:latin typeface="+mn-lt"/>
                          <a:ea typeface="+mn-ea"/>
                          <a:cs typeface="+mn-cs"/>
                        </a:rPr>
                        <a:t>.</a:t>
                      </a:r>
                      <a:endParaRPr lang="ru-RU" sz="900" kern="1200" dirty="0" smtClean="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У Татарстон, Башқурстон ва Қозоғистон республикаси, Тошкент шаҳрида, Хоразм вилоятида ўтказилган “Маданият кунлари” да фаол иштирок этган.    </a:t>
                      </a:r>
                      <a:endParaRPr lang="ru-RU" sz="900" kern="1200" dirty="0" smtClean="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Республика миқёсида ўтказилган маданий тадбирлар, байрам дастурларининг иштирокчиси.</a:t>
                      </a:r>
                      <a:endParaRPr lang="ru-RU" sz="900" kern="1200" dirty="0" smtClean="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Шу билан бирга театрда сахналаштирилган “Аралим манинг” моно операсида образини яратди.  </a:t>
                      </a:r>
                      <a:endParaRPr lang="ru-RU" sz="900" kern="1200" dirty="0" smtClean="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2024-йили Туркия Республикасида Халқаро туркий маданият ташкилоти-ТУРКСОЙ билан ҳамкорликда қорақалпоқ ҳалқ шоири ва мутафаккири Ажиниёз Қосыбай ўғлининг 200 йиллигини кенг нишонлаш бўйича “Айт сен Ажиниёзнинг қошиқларидан” концерт дастурини ташкил этиш ва ўтказиш бўйича Ўзбекистон Республикаси делегацияси билан қатнашиб қайтди. Бу иқтидорли хонанда қорақалпоқ халқининг миллий қушиқчилиқ санъатини ривожлантириш йўлида фидокорона меҳнатлари билан бирга республикамиз ёшлари орасида миллий санъатимизни ривожланиши учун ёшлар орасида шогирдлар тайёрлаб ўзининг бор маҳоратини ўргатиб келмоқда.</a:t>
                      </a:r>
                      <a:endParaRPr lang="ru-RU" sz="900" kern="1200" dirty="0" smtClean="0">
                        <a:solidFill>
                          <a:schemeClr val="tx1"/>
                        </a:solidFill>
                        <a:effectLst/>
                        <a:latin typeface="+mn-lt"/>
                        <a:ea typeface="+mn-ea"/>
                        <a:cs typeface="+mn-cs"/>
                      </a:endParaRPr>
                    </a:p>
                    <a:p>
                      <a:endParaRPr lang="ru-RU" sz="900" kern="1200" dirty="0" smtClean="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3413">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83798">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ўтказилиб келадиган барча оммавий мадаий тадбирларида доимий иштирок этиб келади.</a:t>
                      </a:r>
                      <a:endParaRPr lang="ru-RU" sz="900" b="0" dirty="0" smtClean="0">
                        <a:effectLst/>
                        <a:latin typeface="+mn-lt"/>
                        <a:ea typeface="Calibri" panose="020F0502020204030204" pitchFamily="34" charset="0"/>
                        <a:cs typeface="Times New Roman" panose="02020603050405020304" pitchFamily="18" charset="0"/>
                      </a:endParaRPr>
                    </a:p>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Изображение 57" descr="HB7A4306"/>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20539" y="1240107"/>
            <a:ext cx="930625" cy="11989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77853829"/>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187183858"/>
              </p:ext>
            </p:extLst>
          </p:nvPr>
        </p:nvGraphicFramePr>
        <p:xfrm>
          <a:off x="144489" y="865702"/>
          <a:ext cx="3427547" cy="5869653"/>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05420">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59503">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КУТЕКЕЕВА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6674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900" b="0" kern="1200" dirty="0" smtClean="0">
                          <a:solidFill>
                            <a:schemeClr val="tx1"/>
                          </a:solidFill>
                          <a:latin typeface="+mn-lt"/>
                          <a:ea typeface="+mn-ea"/>
                          <a:cs typeface="+mn-cs"/>
                        </a:rPr>
                        <a:t>Роза </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5950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err="1" smtClean="0">
                          <a:solidFill>
                            <a:schemeClr val="tx1"/>
                          </a:solidFill>
                          <a:latin typeface="+mn-lt"/>
                          <a:ea typeface="+mn-ea"/>
                          <a:cs typeface="+mn-cs"/>
                        </a:rPr>
                        <a:t>Артиковна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59503">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kern="1200" dirty="0" smtClean="0">
                          <a:solidFill>
                            <a:schemeClr val="tx1"/>
                          </a:solidFill>
                          <a:effectLst/>
                          <a:latin typeface="+mn-lt"/>
                          <a:ea typeface="+mn-ea"/>
                          <a:cs typeface="+mn-cs"/>
                        </a:rPr>
                        <a:t>қора</a:t>
                      </a:r>
                      <a:r>
                        <a:rPr lang="ca-ES" sz="900" kern="1200" dirty="0" smtClean="0">
                          <a:solidFill>
                            <a:schemeClr val="tx1"/>
                          </a:solidFill>
                          <a:effectLst/>
                          <a:latin typeface="+mn-lt"/>
                          <a:ea typeface="+mn-ea"/>
                          <a:cs typeface="+mn-cs"/>
                        </a:rPr>
                        <a:t>қ</a:t>
                      </a:r>
                      <a:r>
                        <a:rPr lang="uz-Cyrl-UZ" sz="900" kern="1200" dirty="0" smtClean="0">
                          <a:solidFill>
                            <a:schemeClr val="tx1"/>
                          </a:solidFill>
                          <a:effectLst/>
                          <a:latin typeface="+mn-lt"/>
                          <a:ea typeface="+mn-ea"/>
                          <a:cs typeface="+mn-cs"/>
                        </a:rPr>
                        <a:t>алпо</a:t>
                      </a:r>
                      <a:r>
                        <a:rPr lang="ca-ES" sz="900" kern="1200" dirty="0" smtClean="0">
                          <a:solidFill>
                            <a:schemeClr val="tx1"/>
                          </a:solidFill>
                          <a:effectLst/>
                          <a:latin typeface="+mn-lt"/>
                          <a:ea typeface="+mn-ea"/>
                          <a:cs typeface="+mn-cs"/>
                        </a:rPr>
                        <a:t>қ</a:t>
                      </a:r>
                      <a:r>
                        <a:rPr lang="uz-Cyrl-UZ" sz="900" kern="1200" dirty="0" smtClean="0">
                          <a:solidFill>
                            <a:schemeClr val="tx1"/>
                          </a:solidFill>
                          <a:effectLst/>
                          <a:latin typeface="+mn-lt"/>
                          <a:ea typeface="+mn-ea"/>
                          <a:cs typeface="+mn-cs"/>
                        </a:rPr>
                        <a:t>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6674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smtClean="0">
                          <a:solidFill>
                            <a:schemeClr val="tx1"/>
                          </a:solidFill>
                          <a:effectLst/>
                          <a:latin typeface="+mn-lt"/>
                          <a:ea typeface="+mn-ea"/>
                          <a:cs typeface="+mn-cs"/>
                        </a:rPr>
                        <a:t>12.01.1965</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6674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smtClean="0">
                          <a:solidFill>
                            <a:schemeClr val="tx1"/>
                          </a:solidFill>
                          <a:latin typeface="+mn-lt"/>
                          <a:ea typeface="+mn-ea"/>
                          <a:cs typeface="+mn-cs"/>
                        </a:rPr>
                        <a:t>Канликул тумани</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194935">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50201">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1 киз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ишда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194935">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54209">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kern="1200" dirty="0" err="1" smtClean="0">
                          <a:solidFill>
                            <a:schemeClr val="tx1"/>
                          </a:solidFill>
                          <a:effectLst/>
                          <a:latin typeface="+mn-lt"/>
                          <a:ea typeface="+mn-ea"/>
                          <a:cs typeface="+mn-cs"/>
                        </a:rPr>
                        <a:t>Раметов</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Турганбай</a:t>
                      </a:r>
                      <a:endParaRPr lang="ru-RU" sz="900" kern="1200" dirty="0" smtClean="0">
                        <a:solidFill>
                          <a:schemeClr val="tx1"/>
                        </a:solidFill>
                        <a:effectLst/>
                        <a:latin typeface="+mn-lt"/>
                        <a:ea typeface="+mn-ea"/>
                        <a:cs typeface="+mn-cs"/>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1930 йил, Кегейли тумани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kern="1200" dirty="0" smtClean="0">
                          <a:solidFill>
                            <a:schemeClr val="tx1"/>
                          </a:solidFill>
                          <a:effectLst/>
                          <a:latin typeface="+mn-lt"/>
                          <a:ea typeface="+mn-ea"/>
                          <a:cs typeface="+mn-cs"/>
                        </a:rPr>
                        <a:t>1973 </a:t>
                      </a:r>
                      <a:r>
                        <a:rPr lang="ru-RU" sz="900" kern="1200" dirty="0" err="1" smtClean="0">
                          <a:solidFill>
                            <a:schemeClr val="tx1"/>
                          </a:solidFill>
                          <a:effectLst/>
                          <a:latin typeface="+mn-lt"/>
                          <a:ea typeface="+mn-ea"/>
                          <a:cs typeface="+mn-cs"/>
                        </a:rPr>
                        <a:t>йил</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вафот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этган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Кегейли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тумани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Кегейли</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фермер хўжалиги</a:t>
                      </a:r>
                      <a:r>
                        <a:rPr lang="ru-RU" sz="900" kern="1200" dirty="0" smtClean="0">
                          <a:solidFill>
                            <a:schemeClr val="tx1"/>
                          </a:solidFill>
                          <a:effectLst/>
                          <a:latin typeface="+mn-lt"/>
                          <a:ea typeface="+mn-ea"/>
                          <a:cs typeface="+mn-cs"/>
                        </a:rPr>
                        <a:t> трактор </a:t>
                      </a:r>
                      <a:r>
                        <a:rPr lang="ca-ES" sz="900" kern="1200" dirty="0" smtClean="0">
                          <a:solidFill>
                            <a:schemeClr val="tx1"/>
                          </a:solidFill>
                          <a:effectLst/>
                          <a:latin typeface="+mn-lt"/>
                          <a:ea typeface="+mn-ea"/>
                          <a:cs typeface="+mn-cs"/>
                        </a:rPr>
                        <a:t>ҳ</a:t>
                      </a:r>
                      <a:r>
                        <a:rPr lang="ru-RU" sz="900" kern="1200" dirty="0" err="1" smtClean="0">
                          <a:solidFill>
                            <a:schemeClr val="tx1"/>
                          </a:solidFill>
                          <a:effectLst/>
                          <a:latin typeface="+mn-lt"/>
                          <a:ea typeface="+mn-ea"/>
                          <a:cs typeface="+mn-cs"/>
                        </a:rPr>
                        <a:t>айдовчиси</a:t>
                      </a:r>
                      <a:r>
                        <a:rPr lang="ru-RU" sz="900" kern="1200" dirty="0" smtClean="0">
                          <a:solidFill>
                            <a:schemeClr val="tx1"/>
                          </a:solidFill>
                          <a:effectLst/>
                          <a:latin typeface="+mn-lt"/>
                          <a:ea typeface="+mn-ea"/>
                          <a:cs typeface="+mn-cs"/>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55898">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ru-RU" sz="900" kern="1200" dirty="0" err="1" smtClean="0">
                          <a:solidFill>
                            <a:schemeClr val="tx1"/>
                          </a:solidFill>
                          <a:effectLst/>
                          <a:latin typeface="+mn-lt"/>
                          <a:ea typeface="+mn-ea"/>
                          <a:cs typeface="+mn-cs"/>
                        </a:rPr>
                        <a:t>Артыкова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Мырзагул</a:t>
                      </a:r>
                      <a:r>
                        <a:rPr lang="ru-RU" sz="1800" kern="1200" dirty="0" smtClean="0">
                          <a:solidFill>
                            <a:schemeClr val="tx1"/>
                          </a:solidFill>
                          <a:effectLst/>
                          <a:latin typeface="+mn-lt"/>
                          <a:ea typeface="+mn-ea"/>
                          <a:cs typeface="+mn-cs"/>
                        </a:rPr>
                        <a:t> </a:t>
                      </a:r>
                    </a:p>
                    <a:p>
                      <a:pPr marL="0" marR="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1930 йил, Кегейли тумани</a:t>
                      </a:r>
                    </a:p>
                    <a:p>
                      <a:pPr algn="l">
                        <a:lnSpc>
                          <a:spcPct val="85000"/>
                        </a:lnSpc>
                      </a:pP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kern="1200" dirty="0" smtClean="0">
                          <a:solidFill>
                            <a:schemeClr val="tx1"/>
                          </a:solidFill>
                          <a:effectLst/>
                          <a:latin typeface="+mn-lt"/>
                          <a:ea typeface="+mn-ea"/>
                          <a:cs typeface="+mn-cs"/>
                        </a:rPr>
                        <a:t>2004 </a:t>
                      </a:r>
                      <a:r>
                        <a:rPr lang="ru-RU" sz="900" kern="1200" dirty="0" err="1" smtClean="0">
                          <a:solidFill>
                            <a:schemeClr val="tx1"/>
                          </a:solidFill>
                          <a:effectLst/>
                          <a:latin typeface="+mn-lt"/>
                          <a:ea typeface="+mn-ea"/>
                          <a:cs typeface="+mn-cs"/>
                        </a:rPr>
                        <a:t>йил</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вафот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этган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Кег</a:t>
                      </a:r>
                      <a:r>
                        <a:rPr lang="uz-Cyrl-UZ" sz="900" kern="1200" dirty="0" smtClean="0">
                          <a:solidFill>
                            <a:schemeClr val="tx1"/>
                          </a:solidFill>
                          <a:effectLst/>
                          <a:latin typeface="+mn-lt"/>
                          <a:ea typeface="+mn-ea"/>
                          <a:cs typeface="+mn-cs"/>
                        </a:rPr>
                        <a:t>е</a:t>
                      </a:r>
                      <a:r>
                        <a:rPr lang="ru-RU" sz="900" kern="1200" dirty="0" err="1" smtClean="0">
                          <a:solidFill>
                            <a:schemeClr val="tx1"/>
                          </a:solidFill>
                          <a:effectLst/>
                          <a:latin typeface="+mn-lt"/>
                          <a:ea typeface="+mn-ea"/>
                          <a:cs typeface="+mn-cs"/>
                        </a:rPr>
                        <a:t>йли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тумани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Кег</a:t>
                      </a:r>
                      <a:r>
                        <a:rPr lang="uz-Cyrl-UZ" sz="900" kern="1200" dirty="0" smtClean="0">
                          <a:solidFill>
                            <a:schemeClr val="tx1"/>
                          </a:solidFill>
                          <a:effectLst/>
                          <a:latin typeface="+mn-lt"/>
                          <a:ea typeface="+mn-ea"/>
                          <a:cs typeface="+mn-cs"/>
                        </a:rPr>
                        <a:t>е</a:t>
                      </a:r>
                      <a:r>
                        <a:rPr lang="ru-RU" sz="900" kern="1200" dirty="0" err="1" smtClean="0">
                          <a:solidFill>
                            <a:schemeClr val="tx1"/>
                          </a:solidFill>
                          <a:effectLst/>
                          <a:latin typeface="+mn-lt"/>
                          <a:ea typeface="+mn-ea"/>
                          <a:cs typeface="+mn-cs"/>
                        </a:rPr>
                        <a:t>йли</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фермер хўжалиги </a:t>
                      </a:r>
                      <a:r>
                        <a:rPr lang="ru-RU" sz="900" kern="1200" dirty="0" err="1" smtClean="0">
                          <a:solidFill>
                            <a:schemeClr val="tx1"/>
                          </a:solidFill>
                          <a:effectLst/>
                          <a:latin typeface="+mn-lt"/>
                          <a:ea typeface="+mn-ea"/>
                          <a:cs typeface="+mn-cs"/>
                        </a:rPr>
                        <a:t>ишчи</a:t>
                      </a:r>
                      <a:r>
                        <a:rPr lang="uz-Cyrl-UZ" sz="900" kern="1200" dirty="0" smtClean="0">
                          <a:solidFill>
                            <a:schemeClr val="tx1"/>
                          </a:solidFill>
                          <a:effectLst/>
                          <a:latin typeface="+mn-lt"/>
                          <a:ea typeface="+mn-ea"/>
                          <a:cs typeface="+mn-cs"/>
                        </a:rPr>
                        <a:t>си</a:t>
                      </a:r>
                      <a:r>
                        <a:rPr lang="ru-RU" sz="900" kern="1200" dirty="0" smtClean="0">
                          <a:solidFill>
                            <a:schemeClr val="tx1"/>
                          </a:solidFill>
                          <a:effectLst/>
                          <a:latin typeface="+mn-lt"/>
                          <a:ea typeface="+mn-ea"/>
                          <a:cs typeface="+mn-cs"/>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55898">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b="1" kern="1200" dirty="0" smtClean="0">
                          <a:solidFill>
                            <a:schemeClr val="tx1"/>
                          </a:solidFill>
                          <a:effectLst/>
                          <a:latin typeface="+mn-lt"/>
                          <a:ea typeface="+mn-ea"/>
                          <a:cs typeface="+mn-cs"/>
                        </a:rPr>
                        <a:t>Сайтов </a:t>
                      </a:r>
                      <a:r>
                        <a:rPr lang="ca-ES" sz="900" b="1" kern="1200" dirty="0" smtClean="0">
                          <a:solidFill>
                            <a:schemeClr val="tx1"/>
                          </a:solidFill>
                          <a:effectLst/>
                          <a:latin typeface="+mn-lt"/>
                          <a:ea typeface="+mn-ea"/>
                          <a:cs typeface="+mn-cs"/>
                        </a:rPr>
                        <a:t>Ғ</a:t>
                      </a:r>
                      <a:r>
                        <a:rPr lang="ru-RU" sz="900" b="1" kern="1200" dirty="0" err="1" smtClean="0">
                          <a:solidFill>
                            <a:schemeClr val="tx1"/>
                          </a:solidFill>
                          <a:effectLst/>
                          <a:latin typeface="+mn-lt"/>
                          <a:ea typeface="+mn-ea"/>
                          <a:cs typeface="+mn-cs"/>
                        </a:rPr>
                        <a:t>айрат</a:t>
                      </a:r>
                      <a:r>
                        <a:rPr lang="uz-Cyrl-UZ" sz="900" b="1" kern="1200" dirty="0" smtClean="0">
                          <a:solidFill>
                            <a:schemeClr val="tx1"/>
                          </a:solidFill>
                          <a:effectLst/>
                          <a:latin typeface="+mn-lt"/>
                          <a:ea typeface="+mn-ea"/>
                          <a:cs typeface="+mn-cs"/>
                        </a:rPr>
                        <a:t>дин </a:t>
                      </a:r>
                      <a:r>
                        <a:rPr lang="ru-RU" sz="900" b="1" kern="1200" dirty="0" err="1" smtClean="0">
                          <a:solidFill>
                            <a:schemeClr val="tx1"/>
                          </a:solidFill>
                          <a:effectLst/>
                          <a:latin typeface="+mn-lt"/>
                          <a:ea typeface="+mn-ea"/>
                          <a:cs typeface="+mn-cs"/>
                        </a:rPr>
                        <a:t>Алиевич</a:t>
                      </a:r>
                      <a:r>
                        <a:rPr lang="ru-RU" sz="900" b="1" kern="1200" dirty="0" smtClean="0">
                          <a:solidFill>
                            <a:schemeClr val="tx1"/>
                          </a:solidFill>
                          <a:effectLst/>
                          <a:latin typeface="+mn-lt"/>
                          <a:ea typeface="+mn-ea"/>
                          <a:cs typeface="+mn-cs"/>
                        </a:rPr>
                        <a:t> </a:t>
                      </a:r>
                      <a:r>
                        <a:rPr lang="uz-Cyrl-UZ" sz="900" b="0" kern="1200" noProof="0" dirty="0" smtClean="0">
                          <a:solidFill>
                            <a:schemeClr val="tx1"/>
                          </a:solidFill>
                          <a:latin typeface="+mn-lt"/>
                          <a:ea typeface="+mn-ea"/>
                          <a:cs typeface="Arial" panose="020B0604020202020204" pitchFamily="34" charset="0"/>
                        </a:rPr>
                        <a:t>1965 йил, Канликул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l">
                        <a:lnSpc>
                          <a:spcPct val="85000"/>
                        </a:lnSpc>
                      </a:pPr>
                      <a:r>
                        <a:rPr lang="uz-Cyrl-UZ" sz="900" b="0" kern="1200" noProof="0" dirty="0" smtClean="0">
                          <a:solidFill>
                            <a:schemeClr val="tx1"/>
                          </a:solidFill>
                          <a:latin typeface="+mn-lt"/>
                          <a:ea typeface="+mn-ea"/>
                          <a:cs typeface="+mn-cs"/>
                        </a:rPr>
                        <a:t>Бердак номидаги Коракалпок давлат академик мусикали театри вокал артисти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75278">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26869">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1991 й. М.Ашрафий номидаги Тошкент давлат консерваторияси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31625">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яккахон ашулачи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64391">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64391">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66108">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097664816"/>
              </p:ext>
            </p:extLst>
          </p:nvPr>
        </p:nvGraphicFramePr>
        <p:xfrm>
          <a:off x="3674526" y="865690"/>
          <a:ext cx="3172841" cy="5876686"/>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2351">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18439">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1991 йилдан буён </a:t>
                      </a:r>
                      <a:r>
                        <a:rPr lang="ru-RU" sz="900" kern="1200" dirty="0" smtClean="0">
                          <a:solidFill>
                            <a:schemeClr val="tx1"/>
                          </a:solidFill>
                          <a:effectLst/>
                          <a:latin typeface="+mn-lt"/>
                          <a:ea typeface="+mn-ea"/>
                          <a:cs typeface="+mn-cs"/>
                        </a:rPr>
                        <a:t>Берда</a:t>
                      </a:r>
                      <a:r>
                        <a:rPr lang="uz-Cyrl-UZ" sz="900" kern="1200" dirty="0" smtClean="0">
                          <a:solidFill>
                            <a:schemeClr val="tx1"/>
                          </a:solidFill>
                          <a:effectLst/>
                          <a:latin typeface="+mn-lt"/>
                          <a:ea typeface="+mn-ea"/>
                          <a:cs typeface="+mn-cs"/>
                        </a:rPr>
                        <a:t>қ номидаги Қорақалпоқ давлат мусиқали</a:t>
                      </a:r>
                      <a:r>
                        <a:rPr lang="ru-RU" sz="900" kern="1200" dirty="0" smtClean="0">
                          <a:solidFill>
                            <a:schemeClr val="tx1"/>
                          </a:solidFill>
                          <a:effectLst/>
                          <a:latin typeface="+mn-lt"/>
                          <a:ea typeface="+mn-ea"/>
                          <a:cs typeface="+mn-cs"/>
                        </a:rPr>
                        <a:t> театр</a:t>
                      </a:r>
                      <a:r>
                        <a:rPr lang="uz-Cyrl-UZ" sz="900" kern="1200" dirty="0" smtClean="0">
                          <a:solidFill>
                            <a:schemeClr val="tx1"/>
                          </a:solidFill>
                          <a:effectLst/>
                          <a:latin typeface="+mn-lt"/>
                          <a:ea typeface="+mn-ea"/>
                          <a:cs typeface="+mn-cs"/>
                        </a:rPr>
                        <a:t>и </a:t>
                      </a:r>
                      <a:r>
                        <a:rPr lang="uz-Cyrl-UZ" sz="900" b="0" kern="1200" noProof="0" dirty="0" smtClean="0">
                          <a:solidFill>
                            <a:schemeClr val="tx1"/>
                          </a:solidFill>
                          <a:latin typeface="+mn-lt"/>
                          <a:ea typeface="+mn-ea"/>
                          <a:cs typeface="+mn-cs"/>
                        </a:rPr>
                        <a:t>вокал артисти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4799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347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42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882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8494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smtClean="0">
                        <a:solidFill>
                          <a:schemeClr val="tx1"/>
                        </a:solidFill>
                        <a:effectLst/>
                        <a:latin typeface="+mn-lt"/>
                        <a:ea typeface="Calibri" panose="020F0502020204030204" pitchFamily="34" charset="0"/>
                        <a:cs typeface="Times New Roman" panose="02020603050405020304" pitchFamily="18" charset="0"/>
                      </a:endParaRPr>
                    </a:p>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346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3337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a:t>
                      </a:r>
                      <a:r>
                        <a:rPr lang="uz-Latn-UZ" sz="900" kern="1200" noProof="0" dirty="0" smtClean="0">
                          <a:solidFill>
                            <a:schemeClr val="tx1"/>
                          </a:solidFill>
                          <a:effectLst/>
                          <a:latin typeface="+mn-lt"/>
                          <a:ea typeface="Calibri" panose="020F0502020204030204" pitchFamily="34" charset="0"/>
                          <a:cs typeface="Times New Roman" panose="02020603050405020304" pitchFamily="18" charset="0"/>
                        </a:rPr>
                        <a:t>25</a:t>
                      </a: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 й. Грузия</a:t>
                      </a:r>
                      <a:r>
                        <a:rPr lang="uz-Latn-UZ" sz="900" kern="1200" noProof="0" dirty="0" smtClean="0">
                          <a:solidFill>
                            <a:schemeClr val="tx1"/>
                          </a:solidFill>
                          <a:effectLst/>
                          <a:latin typeface="+mn-lt"/>
                          <a:ea typeface="Calibri" panose="020F0502020204030204" pitchFamily="34" charset="0"/>
                          <a:cs typeface="Times New Roman" panose="02020603050405020304" pitchFamily="18" charset="0"/>
                        </a:rPr>
                        <a:t> </a:t>
                      </a:r>
                      <a:r>
                        <a:rPr lang="ru-RU" sz="900" kern="1200" noProof="0" dirty="0" err="1" smtClean="0">
                          <a:solidFill>
                            <a:schemeClr val="tx1"/>
                          </a:solidFill>
                          <a:effectLst/>
                          <a:latin typeface="+mn-lt"/>
                          <a:ea typeface="Calibri" panose="020F0502020204030204" pitchFamily="34" charset="0"/>
                          <a:cs typeface="Times New Roman" panose="02020603050405020304" pitchFamily="18" charset="0"/>
                        </a:rPr>
                        <a:t>республикаси</a:t>
                      </a:r>
                      <a:r>
                        <a:rPr lang="uz-Latn-UZ" sz="900" kern="1200" noProof="0" dirty="0" smtClean="0">
                          <a:solidFill>
                            <a:schemeClr val="tx1"/>
                          </a:solidFill>
                          <a:effectLst/>
                          <a:latin typeface="+mn-lt"/>
                          <a:ea typeface="Calibri" panose="020F0502020204030204" pitchFamily="34" charset="0"/>
                          <a:cs typeface="Times New Roman" panose="02020603050405020304" pitchFamily="18" charset="0"/>
                        </a:rPr>
                        <a:t> </a:t>
                      </a: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 “Боржоми”санаториясида сиҳатгоҳида даволанган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1623">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2025 йили ўтган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1618">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0012">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63544">
                <a:tc gridSpan="2">
                  <a:txBody>
                    <a:bodyPr/>
                    <a:lstStyle/>
                    <a:p>
                      <a:r>
                        <a:rPr lang="uz-Cyrl-UZ" sz="900" kern="1200" dirty="0" smtClean="0">
                          <a:solidFill>
                            <a:schemeClr val="tx1"/>
                          </a:solidFill>
                          <a:effectLst/>
                          <a:latin typeface="+mn-lt"/>
                          <a:ea typeface="+mn-ea"/>
                          <a:cs typeface="+mn-cs"/>
                        </a:rPr>
                        <a:t>1995 </a:t>
                      </a:r>
                      <a:r>
                        <a:rPr lang="ca-ES" sz="900" kern="1200" dirty="0" smtClean="0">
                          <a:solidFill>
                            <a:schemeClr val="tx1"/>
                          </a:solidFill>
                          <a:effectLst/>
                          <a:latin typeface="+mn-lt"/>
                          <a:ea typeface="+mn-ea"/>
                          <a:cs typeface="+mn-cs"/>
                        </a:rPr>
                        <a:t>й</a:t>
                      </a:r>
                      <a:r>
                        <a:rPr lang="uz-Cyrl-UZ" sz="900" kern="1200" dirty="0" smtClean="0">
                          <a:solidFill>
                            <a:schemeClr val="tx1"/>
                          </a:solidFill>
                          <a:effectLst/>
                          <a:latin typeface="+mn-lt"/>
                          <a:ea typeface="+mn-ea"/>
                          <a:cs typeface="+mn-cs"/>
                        </a:rPr>
                        <a:t>. “</a:t>
                      </a:r>
                      <a:r>
                        <a:rPr lang="ca-ES" sz="900" kern="1200" dirty="0" smtClean="0">
                          <a:solidFill>
                            <a:schemeClr val="tx1"/>
                          </a:solidFill>
                          <a:effectLst/>
                          <a:latin typeface="+mn-lt"/>
                          <a:ea typeface="+mn-ea"/>
                          <a:cs typeface="+mn-cs"/>
                        </a:rPr>
                        <a:t>Қ</a:t>
                      </a:r>
                      <a:r>
                        <a:rPr lang="uz-Cyrl-UZ" sz="900" kern="1200" dirty="0" smtClean="0">
                          <a:solidFill>
                            <a:schemeClr val="tx1"/>
                          </a:solidFill>
                          <a:effectLst/>
                          <a:latin typeface="+mn-lt"/>
                          <a:ea typeface="+mn-ea"/>
                          <a:cs typeface="+mn-cs"/>
                        </a:rPr>
                        <a:t>азо</a:t>
                      </a:r>
                      <a:r>
                        <a:rPr lang="ca-ES" sz="900" kern="1200" dirty="0" smtClean="0">
                          <a:solidFill>
                            <a:schemeClr val="tx1"/>
                          </a:solidFill>
                          <a:effectLst/>
                          <a:latin typeface="+mn-lt"/>
                          <a:ea typeface="+mn-ea"/>
                          <a:cs typeface="+mn-cs"/>
                        </a:rPr>
                        <a:t>ғ</a:t>
                      </a:r>
                      <a:r>
                        <a:rPr lang="uz-Cyrl-UZ" sz="900" kern="1200" dirty="0" smtClean="0">
                          <a:solidFill>
                            <a:schemeClr val="tx1"/>
                          </a:solidFill>
                          <a:effectLst/>
                          <a:latin typeface="+mn-lt"/>
                          <a:ea typeface="+mn-ea"/>
                          <a:cs typeface="+mn-cs"/>
                        </a:rPr>
                        <a:t>истон Республикаси</a:t>
                      </a:r>
                      <a:r>
                        <a:rPr lang="ca-ES" sz="900" kern="1200" dirty="0" smtClean="0">
                          <a:solidFill>
                            <a:schemeClr val="tx1"/>
                          </a:solidFill>
                          <a:effectLst/>
                          <a:latin typeface="+mn-lt"/>
                          <a:ea typeface="+mn-ea"/>
                          <a:cs typeface="+mn-cs"/>
                        </a:rPr>
                        <a:t>га</a:t>
                      </a:r>
                      <a:r>
                        <a:rPr lang="uz-Cyrl-UZ" sz="900" kern="1200" dirty="0" smtClean="0">
                          <a:solidFill>
                            <a:schemeClr val="tx1"/>
                          </a:solidFill>
                          <a:effectLst/>
                          <a:latin typeface="+mn-lt"/>
                          <a:ea typeface="+mn-ea"/>
                          <a:cs typeface="+mn-cs"/>
                        </a:rPr>
                        <a:t> хизмат курсатган артист”</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1996 й. “</a:t>
                      </a:r>
                      <a:r>
                        <a:rPr lang="ca-ES" sz="900" kern="1200" dirty="0" smtClean="0">
                          <a:solidFill>
                            <a:schemeClr val="tx1"/>
                          </a:solidFill>
                          <a:effectLst/>
                          <a:latin typeface="+mn-lt"/>
                          <a:ea typeface="+mn-ea"/>
                          <a:cs typeface="+mn-cs"/>
                        </a:rPr>
                        <a:t>Қ</a:t>
                      </a:r>
                      <a:r>
                        <a:rPr lang="uz-Cyrl-UZ" sz="900" kern="1200" dirty="0" smtClean="0">
                          <a:solidFill>
                            <a:schemeClr val="tx1"/>
                          </a:solidFill>
                          <a:effectLst/>
                          <a:latin typeface="+mn-lt"/>
                          <a:ea typeface="+mn-ea"/>
                          <a:cs typeface="+mn-cs"/>
                        </a:rPr>
                        <a:t>ора</a:t>
                      </a:r>
                      <a:r>
                        <a:rPr lang="ca-ES" sz="900" kern="1200" dirty="0" smtClean="0">
                          <a:solidFill>
                            <a:schemeClr val="tx1"/>
                          </a:solidFill>
                          <a:effectLst/>
                          <a:latin typeface="+mn-lt"/>
                          <a:ea typeface="+mn-ea"/>
                          <a:cs typeface="+mn-cs"/>
                        </a:rPr>
                        <a:t>қ</a:t>
                      </a:r>
                      <a:r>
                        <a:rPr lang="uz-Cyrl-UZ" sz="900" kern="1200" dirty="0" smtClean="0">
                          <a:solidFill>
                            <a:schemeClr val="tx1"/>
                          </a:solidFill>
                          <a:effectLst/>
                          <a:latin typeface="+mn-lt"/>
                          <a:ea typeface="+mn-ea"/>
                          <a:cs typeface="+mn-cs"/>
                        </a:rPr>
                        <a:t>алпо</a:t>
                      </a:r>
                      <a:r>
                        <a:rPr lang="ca-ES" sz="900" kern="1200" dirty="0" smtClean="0">
                          <a:solidFill>
                            <a:schemeClr val="tx1"/>
                          </a:solidFill>
                          <a:effectLst/>
                          <a:latin typeface="+mn-lt"/>
                          <a:ea typeface="+mn-ea"/>
                          <a:cs typeface="+mn-cs"/>
                        </a:rPr>
                        <a:t>ғ</a:t>
                      </a:r>
                      <a:r>
                        <a:rPr lang="uz-Cyrl-UZ" sz="900" kern="1200" dirty="0" smtClean="0">
                          <a:solidFill>
                            <a:schemeClr val="tx1"/>
                          </a:solidFill>
                          <a:effectLst/>
                          <a:latin typeface="+mn-lt"/>
                          <a:ea typeface="+mn-ea"/>
                          <a:cs typeface="+mn-cs"/>
                        </a:rPr>
                        <a:t>истон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Республикаси</a:t>
                      </a:r>
                      <a:r>
                        <a:rPr lang="ca-ES" sz="900" kern="1200" dirty="0" smtClean="0">
                          <a:solidFill>
                            <a:schemeClr val="tx1"/>
                          </a:solidFill>
                          <a:effectLst/>
                          <a:latin typeface="+mn-lt"/>
                          <a:ea typeface="+mn-ea"/>
                          <a:cs typeface="+mn-cs"/>
                        </a:rPr>
                        <a:t>г</a:t>
                      </a:r>
                      <a:r>
                        <a:rPr lang="uz-Cyrl-UZ" sz="900" kern="1200" dirty="0" smtClean="0">
                          <a:solidFill>
                            <a:schemeClr val="tx1"/>
                          </a:solidFill>
                          <a:effectLst/>
                          <a:latin typeface="+mn-lt"/>
                          <a:ea typeface="+mn-ea"/>
                          <a:cs typeface="+mn-cs"/>
                        </a:rPr>
                        <a:t>а хизмат курсатган артист ”</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2000 й. “Ўзбекистон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Республикасида</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хизмат курсатган артист” </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4163147738"/>
              </p:ext>
            </p:extLst>
          </p:nvPr>
        </p:nvGraphicFramePr>
        <p:xfrm>
          <a:off x="6949857" y="869288"/>
          <a:ext cx="2817247" cy="5895964"/>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35658">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1958">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860871">
                <a:tc>
                  <a:txBody>
                    <a:bodyPr/>
                    <a:lstStyle/>
                    <a:p>
                      <a:pPr marL="0" indent="179388" algn="just"/>
                      <a:r>
                        <a:rPr lang="uz-Cyrl-UZ" sz="900" kern="1200" dirty="0" smtClean="0">
                          <a:solidFill>
                            <a:schemeClr val="tx1"/>
                          </a:solidFill>
                          <a:effectLst/>
                          <a:latin typeface="+mn-lt"/>
                          <a:ea typeface="+mn-ea"/>
                          <a:cs typeface="+mn-cs"/>
                        </a:rPr>
                        <a:t>Қушиқчилик санъати билан бирга театрда 2007 йил “Алпомиш” мусиқали драмасида Баршын, 2008 йил “Суймаганга суйканма” мусиқали драмасида  Айсанам, 2014 йил  сахналаштирилган  Қорақалпоқ миллий “Ажинияз” операсида Ханзада ва “Тумарис” операсида Тумарис ролларини маҳорат билан ижро этди.</a:t>
                      </a:r>
                      <a:endParaRPr lang="ru-RU" sz="900" kern="1200" dirty="0" smtClean="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1991-1995 йиллари Қозоғистон Республикаси Алма-ата шаҳри “Қорақалпоғистон Республикаси маданият ва санъати кунлари”да, 1993 йил “Қорақалпоғистон Республикаси маданият ва санъати кунлари”да, 1996 йил Тошкент шаҳрида “Ўзбекистон Республикаси Конституция куни” байрами, 1996 йил Тошкент шаҳрида “Ўзбекистон - Ватаним маним” конкурсида совринли II ўринни, 1997 йил Германияда Ўзбекистон маданият кунларига, 1997 йил Тошкент шаҳрида “Наврўз” умумхалқ байрами,</a:t>
                      </a:r>
                      <a:r>
                        <a:rPr lang="uz-Cyrl-UZ" sz="900" kern="1200" baseline="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2004 йил Тошкент шаҳрида “Наврўз” умумхалқ байрами, 2008 йили Нукус шаҳрида ўтказилган “Баркамол авлод-2008” спорт мусобақаларининг очилиш ва ёпилиши катта концерт дастурларида ўзининг концерт номерлари билан, 2008 йил Ашхабад шаҳрида ўтказилган </a:t>
                      </a:r>
                      <a:r>
                        <a:rPr lang="uz-Cyrl-UZ" sz="900" b="1" kern="1200" dirty="0" smtClean="0">
                          <a:solidFill>
                            <a:schemeClr val="tx1"/>
                          </a:solidFill>
                          <a:effectLst/>
                          <a:latin typeface="+mn-lt"/>
                          <a:ea typeface="+mn-ea"/>
                          <a:cs typeface="+mn-cs"/>
                        </a:rPr>
                        <a:t>“Мусиқа инсоннинг руҳий бойлиги”</a:t>
                      </a:r>
                      <a:r>
                        <a:rPr lang="uz-Cyrl-UZ" sz="900" kern="1200" dirty="0" smtClean="0">
                          <a:solidFill>
                            <a:schemeClr val="tx1"/>
                          </a:solidFill>
                          <a:effectLst/>
                          <a:latin typeface="+mn-lt"/>
                          <a:ea typeface="+mn-ea"/>
                          <a:cs typeface="+mn-cs"/>
                        </a:rPr>
                        <a:t> мусиқали фестивалида иштирок этди. 2016 йил ноябрь ойида Хорезм шаҳрида </a:t>
                      </a:r>
                      <a:r>
                        <a:rPr lang="uz-Cyrl-UZ" sz="900" b="1" kern="1200" dirty="0" smtClean="0">
                          <a:solidFill>
                            <a:schemeClr val="tx1"/>
                          </a:solidFill>
                          <a:effectLst/>
                          <a:latin typeface="+mn-lt"/>
                          <a:ea typeface="+mn-ea"/>
                          <a:cs typeface="+mn-cs"/>
                        </a:rPr>
                        <a:t>«Олтин кўз» </a:t>
                      </a:r>
                      <a:r>
                        <a:rPr lang="uz-Cyrl-UZ" sz="900" kern="1200" dirty="0" smtClean="0">
                          <a:solidFill>
                            <a:schemeClr val="tx1"/>
                          </a:solidFill>
                          <a:effectLst/>
                          <a:latin typeface="+mn-lt"/>
                          <a:ea typeface="+mn-ea"/>
                          <a:cs typeface="+mn-cs"/>
                        </a:rPr>
                        <a:t>фестивалида, шунингдек </a:t>
                      </a:r>
                      <a:r>
                        <a:rPr lang="uz-Cyrl-UZ" sz="900" b="1" kern="1200" dirty="0" smtClean="0">
                          <a:solidFill>
                            <a:schemeClr val="tx1"/>
                          </a:solidFill>
                          <a:effectLst/>
                          <a:latin typeface="+mn-lt"/>
                          <a:ea typeface="+mn-ea"/>
                          <a:cs typeface="+mn-cs"/>
                        </a:rPr>
                        <a:t>“Зульфия” </a:t>
                      </a:r>
                      <a:r>
                        <a:rPr lang="uz-Cyrl-UZ" sz="900" kern="1200" dirty="0" smtClean="0">
                          <a:solidFill>
                            <a:schemeClr val="tx1"/>
                          </a:solidFill>
                          <a:effectLst/>
                          <a:latin typeface="+mn-lt"/>
                          <a:ea typeface="+mn-ea"/>
                          <a:cs typeface="+mn-cs"/>
                        </a:rPr>
                        <a:t>давлат мукофоти кўрик танловининг Республика босқичида, “Камалак юлдузлари” кўрик танловининг Республика босқичида ҳайъат аъзоси.</a:t>
                      </a:r>
                      <a:r>
                        <a:rPr lang="uz-Cyrl-UZ" sz="900" kern="1200" baseline="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2016 йилнинг якуни бўйича Қорақалпоғистон Республикаси Маданият ва спорт ишлари вазирлиги томонидан ўтказилган “Эътироф-2016” танловининг </a:t>
                      </a:r>
                      <a:r>
                        <a:rPr lang="uz-Cyrl-UZ" sz="900" b="1" kern="1200" dirty="0" smtClean="0">
                          <a:solidFill>
                            <a:schemeClr val="tx1"/>
                          </a:solidFill>
                          <a:effectLst/>
                          <a:latin typeface="+mn-lt"/>
                          <a:ea typeface="+mn-ea"/>
                          <a:cs typeface="+mn-cs"/>
                        </a:rPr>
                        <a:t>“Йилнинг энг яхши опера қўшиқчиси”</a:t>
                      </a:r>
                      <a:r>
                        <a:rPr lang="uz-Cyrl-UZ" sz="900" kern="1200" dirty="0" smtClean="0">
                          <a:solidFill>
                            <a:schemeClr val="tx1"/>
                          </a:solidFill>
                          <a:effectLst/>
                          <a:latin typeface="+mn-lt"/>
                          <a:ea typeface="+mn-ea"/>
                          <a:cs typeface="+mn-cs"/>
                        </a:rPr>
                        <a:t> номинацияси ғолиби.</a:t>
                      </a:r>
                      <a:endParaRPr lang="ru-RU" sz="9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2285">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294409">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ўтказилиб келаётган барча мадаий тадбирлари фаол иштирокчиси.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a:picLocks noChangeAspect="1"/>
          </p:cNvPicPr>
          <p:nvPr/>
        </p:nvPicPr>
        <p:blipFill>
          <a:blip r:embed="rId2"/>
          <a:stretch>
            <a:fillRect/>
          </a:stretch>
        </p:blipFill>
        <p:spPr>
          <a:xfrm>
            <a:off x="264937" y="1175821"/>
            <a:ext cx="871504" cy="1063534"/>
          </a:xfrm>
          <a:prstGeom prst="rect">
            <a:avLst/>
          </a:prstGeom>
        </p:spPr>
      </p:pic>
    </p:spTree>
    <p:extLst>
      <p:ext uri="{BB962C8B-B14F-4D97-AF65-F5344CB8AC3E}">
        <p14:creationId xmlns:p14="http://schemas.microsoft.com/office/powerpoint/2010/main" val="1195636410"/>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296751060"/>
              </p:ext>
            </p:extLst>
          </p:nvPr>
        </p:nvGraphicFramePr>
        <p:xfrm>
          <a:off x="144489" y="865702"/>
          <a:ext cx="3427547" cy="5838160"/>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0395">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7933">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САЙПОВ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793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Зауки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793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Кдирбаевич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7933">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КОРАКАЛПОК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898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smtClean="0">
                          <a:solidFill>
                            <a:schemeClr val="tx1"/>
                          </a:solidFill>
                          <a:effectLst/>
                          <a:latin typeface="+mn-lt"/>
                          <a:ea typeface="+mn-ea"/>
                          <a:cs typeface="+mn-cs"/>
                        </a:rPr>
                        <a:t>23.06.1971</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793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Нукус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8126">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50815">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3 киз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8126">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62395">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kern="1200" dirty="0" smtClean="0">
                          <a:solidFill>
                            <a:schemeClr val="tx1"/>
                          </a:solidFill>
                          <a:effectLst/>
                          <a:latin typeface="+mn-lt"/>
                          <a:ea typeface="+mn-ea"/>
                          <a:cs typeface="+mn-cs"/>
                        </a:rPr>
                        <a:t>САЙПОВ </a:t>
                      </a:r>
                      <a:r>
                        <a:rPr lang="ca-ES" sz="900" kern="1200" dirty="0" smtClean="0">
                          <a:solidFill>
                            <a:schemeClr val="tx1"/>
                          </a:solidFill>
                          <a:effectLst/>
                          <a:latin typeface="+mn-lt"/>
                          <a:ea typeface="+mn-ea"/>
                          <a:cs typeface="+mn-cs"/>
                        </a:rPr>
                        <a:t>Қ</a:t>
                      </a:r>
                      <a:r>
                        <a:rPr lang="ru-RU" sz="900" kern="1200" dirty="0" err="1" smtClean="0">
                          <a:solidFill>
                            <a:schemeClr val="tx1"/>
                          </a:solidFill>
                          <a:effectLst/>
                          <a:latin typeface="+mn-lt"/>
                          <a:ea typeface="+mn-ea"/>
                          <a:cs typeface="+mn-cs"/>
                        </a:rPr>
                        <a:t>дирбай</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Сайпович</a:t>
                      </a:r>
                      <a:r>
                        <a:rPr lang="ru-RU" sz="900" kern="1200" dirty="0" smtClean="0">
                          <a:solidFill>
                            <a:schemeClr val="tx1"/>
                          </a:solidFill>
                          <a:effectLst/>
                          <a:latin typeface="+mn-lt"/>
                          <a:ea typeface="+mn-ea"/>
                          <a:cs typeface="+mn-cs"/>
                        </a:rPr>
                        <a:t> </a:t>
                      </a:r>
                      <a:r>
                        <a:rPr lang="uz-Cyrl-UZ" sz="900" b="0" kern="1200" noProof="0" dirty="0" smtClean="0">
                          <a:solidFill>
                            <a:schemeClr val="tx1"/>
                          </a:solidFill>
                          <a:latin typeface="+mn-lt"/>
                          <a:ea typeface="+mn-ea"/>
                          <a:cs typeface="Arial" panose="020B0604020202020204" pitchFamily="34" charset="0"/>
                        </a:rPr>
                        <a:t>1939 йил, Чимбой тумани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kern="1200" dirty="0" smtClean="0">
                          <a:solidFill>
                            <a:schemeClr val="tx1"/>
                          </a:solidFill>
                          <a:effectLst/>
                          <a:latin typeface="+mn-lt"/>
                          <a:ea typeface="+mn-ea"/>
                          <a:cs typeface="+mn-cs"/>
                        </a:rPr>
                        <a:t>1972 </a:t>
                      </a:r>
                      <a:r>
                        <a:rPr lang="ru-RU" sz="900" kern="1200" dirty="0" err="1" smtClean="0">
                          <a:solidFill>
                            <a:schemeClr val="tx1"/>
                          </a:solidFill>
                          <a:effectLst/>
                          <a:latin typeface="+mn-lt"/>
                          <a:ea typeface="+mn-ea"/>
                          <a:cs typeface="+mn-cs"/>
                        </a:rPr>
                        <a:t>йил</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вафот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этган</a:t>
                      </a:r>
                      <a:r>
                        <a:rPr lang="ru-RU" sz="900" kern="1200" dirty="0" smtClean="0">
                          <a:solidFill>
                            <a:schemeClr val="tx1"/>
                          </a:solidFill>
                          <a:effectLst/>
                          <a:latin typeface="+mn-lt"/>
                          <a:ea typeface="+mn-ea"/>
                          <a:cs typeface="+mn-cs"/>
                        </a:rPr>
                        <a:t> (Берда</a:t>
                      </a:r>
                      <a:r>
                        <a:rPr lang="ca-ES"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номидаги</a:t>
                      </a:r>
                      <a:r>
                        <a:rPr lang="ru-RU" sz="900" kern="1200" dirty="0" smtClean="0">
                          <a:solidFill>
                            <a:schemeClr val="tx1"/>
                          </a:solidFill>
                          <a:effectLst/>
                          <a:latin typeface="+mn-lt"/>
                          <a:ea typeface="+mn-ea"/>
                          <a:cs typeface="+mn-cs"/>
                        </a:rPr>
                        <a:t> </a:t>
                      </a:r>
                      <a:r>
                        <a:rPr lang="ca-ES"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ора</a:t>
                      </a:r>
                      <a:r>
                        <a:rPr lang="ca-ES" sz="900" kern="1200" dirty="0" smtClean="0">
                          <a:solidFill>
                            <a:schemeClr val="tx1"/>
                          </a:solidFill>
                          <a:effectLst/>
                          <a:latin typeface="+mn-lt"/>
                          <a:ea typeface="+mn-ea"/>
                          <a:cs typeface="+mn-cs"/>
                        </a:rPr>
                        <a:t>қ</a:t>
                      </a:r>
                      <a:r>
                        <a:rPr lang="ru-RU" sz="900" kern="1200" dirty="0" err="1" smtClean="0">
                          <a:solidFill>
                            <a:schemeClr val="tx1"/>
                          </a:solidFill>
                          <a:effectLst/>
                          <a:latin typeface="+mn-lt"/>
                          <a:ea typeface="+mn-ea"/>
                          <a:cs typeface="+mn-cs"/>
                        </a:rPr>
                        <a:t>алпо</a:t>
                      </a:r>
                      <a:r>
                        <a:rPr lang="ca-ES"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давлат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муси</a:t>
                      </a:r>
                      <a:r>
                        <a:rPr lang="ca-ES" sz="900" kern="1200" dirty="0" smtClean="0">
                          <a:solidFill>
                            <a:schemeClr val="tx1"/>
                          </a:solidFill>
                          <a:effectLst/>
                          <a:latin typeface="+mn-lt"/>
                          <a:ea typeface="+mn-ea"/>
                          <a:cs typeface="+mn-cs"/>
                        </a:rPr>
                        <a:t>қали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театри</a:t>
                      </a:r>
                      <a:r>
                        <a:rPr lang="ru-RU" sz="900" kern="1200" dirty="0" smtClean="0">
                          <a:solidFill>
                            <a:schemeClr val="tx1"/>
                          </a:solidFill>
                          <a:effectLst/>
                          <a:latin typeface="+mn-lt"/>
                          <a:ea typeface="+mn-ea"/>
                          <a:cs typeface="+mn-cs"/>
                        </a:rPr>
                        <a:t> бош </a:t>
                      </a:r>
                      <a:r>
                        <a:rPr lang="ru-RU" sz="900" kern="1200" dirty="0" err="1" smtClean="0">
                          <a:solidFill>
                            <a:schemeClr val="tx1"/>
                          </a:solidFill>
                          <a:effectLst/>
                          <a:latin typeface="+mn-lt"/>
                          <a:ea typeface="+mn-ea"/>
                          <a:cs typeface="+mn-cs"/>
                        </a:rPr>
                        <a:t>рассом</a:t>
                      </a:r>
                      <a:r>
                        <a:rPr lang="ca-ES" sz="900" kern="1200" dirty="0" smtClean="0">
                          <a:solidFill>
                            <a:schemeClr val="tx1"/>
                          </a:solidFill>
                          <a:effectLst/>
                          <a:latin typeface="+mn-lt"/>
                          <a:ea typeface="+mn-ea"/>
                          <a:cs typeface="+mn-cs"/>
                        </a:rPr>
                        <a:t>и</a:t>
                      </a:r>
                      <a:r>
                        <a:rPr lang="ru-RU" sz="900" kern="1200" dirty="0" smtClean="0">
                          <a:solidFill>
                            <a:schemeClr val="tx1"/>
                          </a:solidFill>
                          <a:effectLst/>
                          <a:latin typeface="+mn-lt"/>
                          <a:ea typeface="+mn-ea"/>
                          <a:cs typeface="+mn-cs"/>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4507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САИПОВА Зауре Оразимбетовна </a:t>
                      </a:r>
                    </a:p>
                    <a:p>
                      <a:pPr algn="l">
                        <a:lnSpc>
                          <a:spcPct val="85000"/>
                        </a:lnSpc>
                      </a:pPr>
                      <a:r>
                        <a:rPr lang="uz-Cyrl-UZ" sz="900" b="0" kern="1200" noProof="0" dirty="0" smtClean="0">
                          <a:solidFill>
                            <a:schemeClr val="tx1"/>
                          </a:solidFill>
                          <a:latin typeface="+mn-lt"/>
                          <a:ea typeface="+mn-ea"/>
                          <a:cs typeface="Arial" panose="020B0604020202020204" pitchFamily="34" charset="0"/>
                        </a:rPr>
                        <a:t>1945 йил, Кегайли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kern="1200" dirty="0" err="1" smtClean="0">
                          <a:solidFill>
                            <a:schemeClr val="tx1"/>
                          </a:solidFill>
                          <a:effectLst/>
                          <a:latin typeface="+mn-lt"/>
                          <a:ea typeface="+mn-ea"/>
                          <a:cs typeface="+mn-cs"/>
                        </a:rPr>
                        <a:t>Напакада</a:t>
                      </a:r>
                      <a:r>
                        <a:rPr lang="ru-RU" sz="900" kern="1200" dirty="0" smtClean="0">
                          <a:solidFill>
                            <a:schemeClr val="tx1"/>
                          </a:solidFill>
                          <a:effectLst/>
                          <a:latin typeface="+mn-lt"/>
                          <a:ea typeface="+mn-ea"/>
                          <a:cs typeface="+mn-cs"/>
                        </a:rPr>
                        <a:t> (Берда</a:t>
                      </a:r>
                      <a:r>
                        <a:rPr lang="ca-ES"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номидаги</a:t>
                      </a:r>
                      <a:r>
                        <a:rPr lang="ru-RU" sz="900" kern="1200" dirty="0" smtClean="0">
                          <a:solidFill>
                            <a:schemeClr val="tx1"/>
                          </a:solidFill>
                          <a:effectLst/>
                          <a:latin typeface="+mn-lt"/>
                          <a:ea typeface="+mn-ea"/>
                          <a:cs typeface="+mn-cs"/>
                        </a:rPr>
                        <a:t> </a:t>
                      </a:r>
                      <a:r>
                        <a:rPr lang="ca-ES"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ора</a:t>
                      </a:r>
                      <a:r>
                        <a:rPr lang="ca-ES" sz="900" kern="1200" dirty="0" smtClean="0">
                          <a:solidFill>
                            <a:schemeClr val="tx1"/>
                          </a:solidFill>
                          <a:effectLst/>
                          <a:latin typeface="+mn-lt"/>
                          <a:ea typeface="+mn-ea"/>
                          <a:cs typeface="+mn-cs"/>
                        </a:rPr>
                        <a:t>қ</a:t>
                      </a:r>
                      <a:r>
                        <a:rPr lang="ru-RU" sz="900" kern="1200" dirty="0" err="1" smtClean="0">
                          <a:solidFill>
                            <a:schemeClr val="tx1"/>
                          </a:solidFill>
                          <a:effectLst/>
                          <a:latin typeface="+mn-lt"/>
                          <a:ea typeface="+mn-ea"/>
                          <a:cs typeface="+mn-cs"/>
                        </a:rPr>
                        <a:t>алпо</a:t>
                      </a:r>
                      <a:r>
                        <a:rPr lang="ca-ES"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давлат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муси</a:t>
                      </a:r>
                      <a:r>
                        <a:rPr lang="ca-ES" sz="900" kern="1200" dirty="0" smtClean="0">
                          <a:solidFill>
                            <a:schemeClr val="tx1"/>
                          </a:solidFill>
                          <a:effectLst/>
                          <a:latin typeface="+mn-lt"/>
                          <a:ea typeface="+mn-ea"/>
                          <a:cs typeface="+mn-cs"/>
                        </a:rPr>
                        <a:t>қали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театри</a:t>
                      </a:r>
                      <a:r>
                        <a:rPr lang="ru-RU" sz="900" kern="1200" dirty="0" smtClean="0">
                          <a:solidFill>
                            <a:schemeClr val="tx1"/>
                          </a:solidFill>
                          <a:effectLst/>
                          <a:latin typeface="+mn-lt"/>
                          <a:ea typeface="+mn-ea"/>
                          <a:cs typeface="+mn-cs"/>
                        </a:rPr>
                        <a:t> бош </a:t>
                      </a:r>
                      <a:r>
                        <a:rPr lang="ru-RU" sz="900" kern="1200" dirty="0" err="1" smtClean="0">
                          <a:solidFill>
                            <a:schemeClr val="tx1"/>
                          </a:solidFill>
                          <a:effectLst/>
                          <a:latin typeface="+mn-lt"/>
                          <a:ea typeface="+mn-ea"/>
                          <a:cs typeface="+mn-cs"/>
                        </a:rPr>
                        <a:t>рассом</a:t>
                      </a:r>
                      <a:r>
                        <a:rPr lang="ca-ES" sz="900" kern="1200" dirty="0" smtClean="0">
                          <a:solidFill>
                            <a:schemeClr val="tx1"/>
                          </a:solidFill>
                          <a:effectLst/>
                          <a:latin typeface="+mn-lt"/>
                          <a:ea typeface="+mn-ea"/>
                          <a:cs typeface="+mn-cs"/>
                        </a:rPr>
                        <a:t>и</a:t>
                      </a:r>
                      <a:r>
                        <a:rPr lang="ru-RU" sz="900" kern="1200" dirty="0" smtClean="0">
                          <a:solidFill>
                            <a:schemeClr val="tx1"/>
                          </a:solidFill>
                          <a:effectLst/>
                          <a:latin typeface="+mn-lt"/>
                          <a:ea typeface="+mn-ea"/>
                          <a:cs typeface="+mn-cs"/>
                        </a:rPr>
                        <a:t>)</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4507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kern="1200" dirty="0" smtClean="0">
                          <a:solidFill>
                            <a:schemeClr val="tx1"/>
                          </a:solidFill>
                          <a:effectLst/>
                          <a:latin typeface="+mn-lt"/>
                          <a:ea typeface="+mn-ea"/>
                          <a:cs typeface="+mn-cs"/>
                        </a:rPr>
                        <a:t>НУРАТДИНОВА </a:t>
                      </a:r>
                      <a:r>
                        <a:rPr lang="ru-RU" sz="900" kern="1200" dirty="0" err="1" smtClean="0">
                          <a:solidFill>
                            <a:schemeClr val="tx1"/>
                          </a:solidFill>
                          <a:effectLst/>
                          <a:latin typeface="+mn-lt"/>
                          <a:ea typeface="+mn-ea"/>
                          <a:cs typeface="+mn-cs"/>
                        </a:rPr>
                        <a:t>Гулба</a:t>
                      </a:r>
                      <a:r>
                        <a:rPr lang="ca-ES" sz="900" kern="1200" dirty="0" smtClean="0">
                          <a:solidFill>
                            <a:schemeClr val="tx1"/>
                          </a:solidFill>
                          <a:effectLst/>
                          <a:latin typeface="+mn-lt"/>
                          <a:ea typeface="+mn-ea"/>
                          <a:cs typeface="+mn-cs"/>
                        </a:rPr>
                        <a:t>ҳ</a:t>
                      </a:r>
                      <a:r>
                        <a:rPr lang="ru-RU" sz="900" kern="1200" dirty="0" smtClean="0">
                          <a:solidFill>
                            <a:schemeClr val="tx1"/>
                          </a:solidFill>
                          <a:effectLst/>
                          <a:latin typeface="+mn-lt"/>
                          <a:ea typeface="+mn-ea"/>
                          <a:cs typeface="+mn-cs"/>
                        </a:rPr>
                        <a:t>ар </a:t>
                      </a:r>
                      <a:r>
                        <a:rPr lang="ru-RU" sz="900" kern="1200" dirty="0" err="1" smtClean="0">
                          <a:solidFill>
                            <a:schemeClr val="tx1"/>
                          </a:solidFill>
                          <a:effectLst/>
                          <a:latin typeface="+mn-lt"/>
                          <a:ea typeface="+mn-ea"/>
                          <a:cs typeface="+mn-cs"/>
                        </a:rPr>
                        <a:t>Турсынбаевна</a:t>
                      </a:r>
                      <a:r>
                        <a:rPr lang="ru-RU" sz="900" kern="1200" dirty="0" smtClean="0">
                          <a:solidFill>
                            <a:schemeClr val="tx1"/>
                          </a:solidFill>
                          <a:effectLst/>
                          <a:latin typeface="+mn-lt"/>
                          <a:ea typeface="+mn-ea"/>
                          <a:cs typeface="+mn-cs"/>
                        </a:rPr>
                        <a:t> </a:t>
                      </a:r>
                      <a:r>
                        <a:rPr lang="uz-Cyrl-UZ" sz="900" b="0" kern="1200" noProof="0" dirty="0" smtClean="0">
                          <a:solidFill>
                            <a:schemeClr val="tx1"/>
                          </a:solidFill>
                          <a:latin typeface="+mn-lt"/>
                          <a:ea typeface="+mn-ea"/>
                          <a:cs typeface="Arial" panose="020B0604020202020204" pitchFamily="34" charset="0"/>
                        </a:rPr>
                        <a:t>1977 йил, Нукус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kern="1200" dirty="0" smtClean="0">
                          <a:solidFill>
                            <a:schemeClr val="tx1"/>
                          </a:solidFill>
                          <a:effectLst/>
                          <a:latin typeface="+mn-lt"/>
                          <a:ea typeface="+mn-ea"/>
                          <a:cs typeface="+mn-cs"/>
                        </a:rPr>
                        <a:t>Берда</a:t>
                      </a:r>
                      <a:r>
                        <a:rPr lang="ca-ES"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номидаги</a:t>
                      </a:r>
                      <a:r>
                        <a:rPr lang="ru-RU" sz="900" kern="1200" dirty="0" smtClean="0">
                          <a:solidFill>
                            <a:schemeClr val="tx1"/>
                          </a:solidFill>
                          <a:effectLst/>
                          <a:latin typeface="+mn-lt"/>
                          <a:ea typeface="+mn-ea"/>
                          <a:cs typeface="+mn-cs"/>
                        </a:rPr>
                        <a:t> </a:t>
                      </a:r>
                      <a:r>
                        <a:rPr lang="ca-ES"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ора</a:t>
                      </a:r>
                      <a:r>
                        <a:rPr lang="ca-ES" sz="900" kern="1200" dirty="0" smtClean="0">
                          <a:solidFill>
                            <a:schemeClr val="tx1"/>
                          </a:solidFill>
                          <a:effectLst/>
                          <a:latin typeface="+mn-lt"/>
                          <a:ea typeface="+mn-ea"/>
                          <a:cs typeface="+mn-cs"/>
                        </a:rPr>
                        <a:t>қ</a:t>
                      </a:r>
                      <a:r>
                        <a:rPr lang="ru-RU" sz="900" kern="1200" dirty="0" err="1" smtClean="0">
                          <a:solidFill>
                            <a:schemeClr val="tx1"/>
                          </a:solidFill>
                          <a:effectLst/>
                          <a:latin typeface="+mn-lt"/>
                          <a:ea typeface="+mn-ea"/>
                          <a:cs typeface="+mn-cs"/>
                        </a:rPr>
                        <a:t>алпо</a:t>
                      </a:r>
                      <a:r>
                        <a:rPr lang="ca-ES" sz="900" kern="1200" dirty="0" smtClean="0">
                          <a:solidFill>
                            <a:schemeClr val="tx1"/>
                          </a:solidFill>
                          <a:effectLst/>
                          <a:latin typeface="+mn-lt"/>
                          <a:ea typeface="+mn-ea"/>
                          <a:cs typeface="+mn-cs"/>
                        </a:rPr>
                        <a:t>қ</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давлат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муси</a:t>
                      </a:r>
                      <a:r>
                        <a:rPr lang="ca-ES" sz="900" kern="1200" dirty="0" smtClean="0">
                          <a:solidFill>
                            <a:schemeClr val="tx1"/>
                          </a:solidFill>
                          <a:effectLst/>
                          <a:latin typeface="+mn-lt"/>
                          <a:ea typeface="+mn-ea"/>
                          <a:cs typeface="+mn-cs"/>
                        </a:rPr>
                        <a:t>қали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театри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бичувчиси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5122">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02939">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1998 й. </a:t>
                      </a:r>
                      <a:r>
                        <a:rPr lang="uz-Latn-UZ" sz="900" kern="1200" dirty="0" smtClean="0">
                          <a:solidFill>
                            <a:schemeClr val="tx1"/>
                          </a:solidFill>
                          <a:effectLst/>
                          <a:latin typeface="+mn-lt"/>
                          <a:ea typeface="+mn-ea"/>
                          <a:cs typeface="+mn-cs"/>
                        </a:rPr>
                        <a:t>K.</a:t>
                      </a:r>
                      <a:r>
                        <a:rPr lang="uz-Cyrl-UZ" sz="900" kern="1200" dirty="0" smtClean="0">
                          <a:solidFill>
                            <a:schemeClr val="tx1"/>
                          </a:solidFill>
                          <a:effectLst/>
                          <a:latin typeface="+mn-lt"/>
                          <a:ea typeface="+mn-ea"/>
                          <a:cs typeface="+mn-cs"/>
                        </a:rPr>
                        <a:t>Бекзод номидаги миллий рассомлик ва дизайн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институти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21104">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театр рангтасвир безаги мусаввири </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0430">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0430">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49479">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981695746"/>
              </p:ext>
            </p:extLst>
          </p:nvPr>
        </p:nvGraphicFramePr>
        <p:xfrm>
          <a:off x="3674526" y="865689"/>
          <a:ext cx="3172841" cy="5841352"/>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3001">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19258">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2005 йилдан буён </a:t>
                      </a:r>
                      <a:r>
                        <a:rPr lang="ru-RU" sz="900" kern="1200" dirty="0" smtClean="0">
                          <a:solidFill>
                            <a:schemeClr val="tx1"/>
                          </a:solidFill>
                          <a:effectLst/>
                          <a:latin typeface="+mn-lt"/>
                          <a:ea typeface="+mn-ea"/>
                          <a:cs typeface="+mn-cs"/>
                        </a:rPr>
                        <a:t>Берда</a:t>
                      </a:r>
                      <a:r>
                        <a:rPr lang="uz-Cyrl-UZ" sz="900" kern="1200" dirty="0" smtClean="0">
                          <a:solidFill>
                            <a:schemeClr val="tx1"/>
                          </a:solidFill>
                          <a:effectLst/>
                          <a:latin typeface="+mn-lt"/>
                          <a:ea typeface="+mn-ea"/>
                          <a:cs typeface="+mn-cs"/>
                        </a:rPr>
                        <a:t>қ номидаги Қорақалпоқ давлат мусиқали</a:t>
                      </a:r>
                      <a:r>
                        <a:rPr lang="ru-RU" sz="900" kern="1200" dirty="0" smtClean="0">
                          <a:solidFill>
                            <a:schemeClr val="tx1"/>
                          </a:solidFill>
                          <a:effectLst/>
                          <a:latin typeface="+mn-lt"/>
                          <a:ea typeface="+mn-ea"/>
                          <a:cs typeface="+mn-cs"/>
                        </a:rPr>
                        <a:t> театр</a:t>
                      </a:r>
                      <a:r>
                        <a:rPr lang="uz-Cyrl-UZ" sz="900" kern="1200" dirty="0" smtClean="0">
                          <a:solidFill>
                            <a:schemeClr val="tx1"/>
                          </a:solidFill>
                          <a:effectLst/>
                          <a:latin typeface="+mn-lt"/>
                          <a:ea typeface="+mn-ea"/>
                          <a:cs typeface="+mn-cs"/>
                        </a:rPr>
                        <a:t>и </a:t>
                      </a:r>
                      <a:r>
                        <a:rPr lang="uz-Cyrl-UZ" sz="900" b="1" kern="1200" noProof="0" dirty="0" smtClean="0">
                          <a:solidFill>
                            <a:schemeClr val="tx1"/>
                          </a:solidFill>
                          <a:latin typeface="+mn-lt"/>
                          <a:ea typeface="+mn-ea"/>
                          <a:cs typeface="+mn-cs"/>
                        </a:rPr>
                        <a:t>бош рассоми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48478">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389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35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8948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p>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8667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p>
                    <a:p>
                      <a:pPr algn="l">
                        <a:lnSpc>
                          <a:spcPct val="107000"/>
                        </a:lnSpc>
                        <a:spcAft>
                          <a:spcPts val="0"/>
                        </a:spcAft>
                      </a:pP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4040">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404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219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213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0462">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67582">
                <a:tc gridSpan="2">
                  <a:txBody>
                    <a:bodyPr/>
                    <a:lstStyle/>
                    <a:p>
                      <a:r>
                        <a:rPr lang="uz-Cyrl-UZ" sz="900" kern="1200" dirty="0" smtClean="0">
                          <a:solidFill>
                            <a:schemeClr val="tx1"/>
                          </a:solidFill>
                          <a:effectLst/>
                          <a:latin typeface="+mn-lt"/>
                          <a:ea typeface="+mn-ea"/>
                          <a:cs typeface="+mn-cs"/>
                        </a:rPr>
                        <a:t>2023 й. “Қорақалпоғистон Республикасида хизмат кўрсатган “Санъат арбоби”” </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489184258"/>
              </p:ext>
            </p:extLst>
          </p:nvPr>
        </p:nvGraphicFramePr>
        <p:xfrm>
          <a:off x="6949857" y="869286"/>
          <a:ext cx="2817247" cy="5827644"/>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marL="0" indent="179388" algn="just"/>
                      <a:r>
                        <a:rPr lang="uz-Cyrl-UZ" sz="900" kern="1200" dirty="0" smtClean="0">
                          <a:solidFill>
                            <a:schemeClr val="tx1"/>
                          </a:solidFill>
                          <a:effectLst/>
                          <a:latin typeface="+mn-lt"/>
                          <a:ea typeface="+mn-ea"/>
                          <a:cs typeface="+mn-cs"/>
                        </a:rPr>
                        <a:t>У театрда сахналаштирилган 20дан ортиқ спектаклларга декорациялар ва кастюмлар эскизин яратиб мутахассис ва томошабинларнинг этьрофига тушган. Шулардан, </a:t>
                      </a:r>
                      <a:r>
                        <a:rPr lang="uz-Cyrl-UZ" sz="900" b="1" kern="1200" dirty="0" smtClean="0">
                          <a:solidFill>
                            <a:schemeClr val="tx1"/>
                          </a:solidFill>
                          <a:effectLst/>
                          <a:latin typeface="+mn-lt"/>
                          <a:ea typeface="+mn-ea"/>
                          <a:cs typeface="+mn-cs"/>
                        </a:rPr>
                        <a:t>“Палагнинг гардиши”</a:t>
                      </a:r>
                      <a:r>
                        <a:rPr lang="uz-Cyrl-UZ" sz="900" kern="1200" dirty="0" smtClean="0">
                          <a:solidFill>
                            <a:schemeClr val="tx1"/>
                          </a:solidFill>
                          <a:effectLst/>
                          <a:latin typeface="+mn-lt"/>
                          <a:ea typeface="+mn-ea"/>
                          <a:cs typeface="+mn-cs"/>
                        </a:rPr>
                        <a:t>, </a:t>
                      </a:r>
                      <a:r>
                        <a:rPr lang="uz-Cyrl-UZ" sz="900" b="1" kern="1200" dirty="0" smtClean="0">
                          <a:solidFill>
                            <a:schemeClr val="tx1"/>
                          </a:solidFill>
                          <a:effectLst/>
                          <a:latin typeface="+mn-lt"/>
                          <a:ea typeface="+mn-ea"/>
                          <a:cs typeface="+mn-cs"/>
                        </a:rPr>
                        <a:t>“Лаққылар касалхонада”</a:t>
                      </a:r>
                      <a:r>
                        <a:rPr lang="uz-Cyrl-UZ" sz="900" kern="1200" dirty="0" smtClean="0">
                          <a:solidFill>
                            <a:schemeClr val="tx1"/>
                          </a:solidFill>
                          <a:effectLst/>
                          <a:latin typeface="+mn-lt"/>
                          <a:ea typeface="+mn-ea"/>
                          <a:cs typeface="+mn-cs"/>
                        </a:rPr>
                        <a:t>, </a:t>
                      </a:r>
                      <a:r>
                        <a:rPr lang="uz-Cyrl-UZ" sz="900" b="1" kern="1200" dirty="0" smtClean="0">
                          <a:solidFill>
                            <a:schemeClr val="tx1"/>
                          </a:solidFill>
                          <a:effectLst/>
                          <a:latin typeface="+mn-lt"/>
                          <a:ea typeface="+mn-ea"/>
                          <a:cs typeface="+mn-cs"/>
                        </a:rPr>
                        <a:t>“Андишали келиншак”</a:t>
                      </a:r>
                      <a:r>
                        <a:rPr lang="uz-Cyrl-UZ" sz="900" kern="1200" dirty="0" smtClean="0">
                          <a:solidFill>
                            <a:schemeClr val="tx1"/>
                          </a:solidFill>
                          <a:effectLst/>
                          <a:latin typeface="+mn-lt"/>
                          <a:ea typeface="+mn-ea"/>
                          <a:cs typeface="+mn-cs"/>
                        </a:rPr>
                        <a:t>, </a:t>
                      </a:r>
                      <a:r>
                        <a:rPr lang="uz-Cyrl-UZ" sz="900" b="1" kern="1200" dirty="0" smtClean="0">
                          <a:solidFill>
                            <a:schemeClr val="tx1"/>
                          </a:solidFill>
                          <a:effectLst/>
                          <a:latin typeface="+mn-lt"/>
                          <a:ea typeface="+mn-ea"/>
                          <a:cs typeface="+mn-cs"/>
                        </a:rPr>
                        <a:t>“Қизинг ор номусинг”</a:t>
                      </a:r>
                      <a:r>
                        <a:rPr lang="uz-Cyrl-UZ" sz="900" kern="1200" dirty="0" smtClean="0">
                          <a:solidFill>
                            <a:schemeClr val="tx1"/>
                          </a:solidFill>
                          <a:effectLst/>
                          <a:latin typeface="+mn-lt"/>
                          <a:ea typeface="+mn-ea"/>
                          <a:cs typeface="+mn-cs"/>
                        </a:rPr>
                        <a:t>, </a:t>
                      </a:r>
                      <a:r>
                        <a:rPr lang="uz-Cyrl-UZ" sz="900" b="1" kern="1200" dirty="0" smtClean="0">
                          <a:solidFill>
                            <a:schemeClr val="tx1"/>
                          </a:solidFill>
                          <a:effectLst/>
                          <a:latin typeface="+mn-lt"/>
                          <a:ea typeface="+mn-ea"/>
                          <a:cs typeface="+mn-cs"/>
                        </a:rPr>
                        <a:t>“Фарзанд ташвиши”</a:t>
                      </a:r>
                      <a:r>
                        <a:rPr lang="uz-Cyrl-UZ" sz="900" kern="1200" dirty="0" smtClean="0">
                          <a:solidFill>
                            <a:schemeClr val="tx1"/>
                          </a:solidFill>
                          <a:effectLst/>
                          <a:latin typeface="+mn-lt"/>
                          <a:ea typeface="+mn-ea"/>
                          <a:cs typeface="+mn-cs"/>
                        </a:rPr>
                        <a:t>, </a:t>
                      </a:r>
                      <a:r>
                        <a:rPr lang="uz-Cyrl-UZ" sz="900" b="1" kern="1200" dirty="0" smtClean="0">
                          <a:solidFill>
                            <a:schemeClr val="tx1"/>
                          </a:solidFill>
                          <a:effectLst/>
                          <a:latin typeface="+mn-lt"/>
                          <a:ea typeface="+mn-ea"/>
                          <a:cs typeface="+mn-cs"/>
                        </a:rPr>
                        <a:t>“Ёр висоли”</a:t>
                      </a:r>
                      <a:r>
                        <a:rPr lang="uz-Cyrl-UZ" sz="900" kern="1200" dirty="0" smtClean="0">
                          <a:solidFill>
                            <a:schemeClr val="tx1"/>
                          </a:solidFill>
                          <a:effectLst/>
                          <a:latin typeface="+mn-lt"/>
                          <a:ea typeface="+mn-ea"/>
                          <a:cs typeface="+mn-cs"/>
                        </a:rPr>
                        <a:t>, </a:t>
                      </a:r>
                      <a:r>
                        <a:rPr lang="uz-Cyrl-UZ" sz="900" b="1" kern="1200" dirty="0" smtClean="0">
                          <a:solidFill>
                            <a:schemeClr val="tx1"/>
                          </a:solidFill>
                          <a:effectLst/>
                          <a:latin typeface="+mn-lt"/>
                          <a:ea typeface="+mn-ea"/>
                          <a:cs typeface="+mn-cs"/>
                        </a:rPr>
                        <a:t>“Бахт”</a:t>
                      </a:r>
                      <a:r>
                        <a:rPr lang="uz-Cyrl-UZ" sz="900" kern="1200" dirty="0" smtClean="0">
                          <a:solidFill>
                            <a:schemeClr val="tx1"/>
                          </a:solidFill>
                          <a:effectLst/>
                          <a:latin typeface="+mn-lt"/>
                          <a:ea typeface="+mn-ea"/>
                          <a:cs typeface="+mn-cs"/>
                        </a:rPr>
                        <a:t>, </a:t>
                      </a:r>
                      <a:r>
                        <a:rPr lang="uz-Cyrl-UZ" sz="900" b="1" kern="1200" dirty="0" smtClean="0">
                          <a:solidFill>
                            <a:schemeClr val="tx1"/>
                          </a:solidFill>
                          <a:effectLst/>
                          <a:latin typeface="+mn-lt"/>
                          <a:ea typeface="+mn-ea"/>
                          <a:cs typeface="+mn-cs"/>
                        </a:rPr>
                        <a:t>“Ойдин”</a:t>
                      </a:r>
                      <a:r>
                        <a:rPr lang="uz-Cyrl-UZ" sz="900" kern="1200" dirty="0" smtClean="0">
                          <a:solidFill>
                            <a:schemeClr val="tx1"/>
                          </a:solidFill>
                          <a:effectLst/>
                          <a:latin typeface="+mn-lt"/>
                          <a:ea typeface="+mn-ea"/>
                          <a:cs typeface="+mn-cs"/>
                        </a:rPr>
                        <a:t>, </a:t>
                      </a:r>
                      <a:r>
                        <a:rPr lang="uz-Cyrl-UZ" sz="900" b="1" kern="1200" dirty="0" smtClean="0">
                          <a:solidFill>
                            <a:schemeClr val="tx1"/>
                          </a:solidFill>
                          <a:effectLst/>
                          <a:latin typeface="+mn-lt"/>
                          <a:ea typeface="+mn-ea"/>
                          <a:cs typeface="+mn-cs"/>
                        </a:rPr>
                        <a:t>“Бир бола ва бешта аёл тақдири”</a:t>
                      </a:r>
                      <a:r>
                        <a:rPr lang="uz-Cyrl-UZ" sz="900" kern="1200" dirty="0" smtClean="0">
                          <a:solidFill>
                            <a:schemeClr val="tx1"/>
                          </a:solidFill>
                          <a:effectLst/>
                          <a:latin typeface="+mn-lt"/>
                          <a:ea typeface="+mn-ea"/>
                          <a:cs typeface="+mn-cs"/>
                        </a:rPr>
                        <a:t>, </a:t>
                      </a:r>
                      <a:r>
                        <a:rPr lang="uz-Cyrl-UZ" sz="900" b="1" kern="1200" dirty="0" smtClean="0">
                          <a:solidFill>
                            <a:schemeClr val="tx1"/>
                          </a:solidFill>
                          <a:effectLst/>
                          <a:latin typeface="+mn-lt"/>
                          <a:ea typeface="+mn-ea"/>
                          <a:cs typeface="+mn-cs"/>
                        </a:rPr>
                        <a:t>«Почча»</a:t>
                      </a:r>
                      <a:r>
                        <a:rPr lang="uz-Cyrl-UZ" sz="900" kern="1200" dirty="0" smtClean="0">
                          <a:solidFill>
                            <a:schemeClr val="tx1"/>
                          </a:solidFill>
                          <a:effectLst/>
                          <a:latin typeface="+mn-lt"/>
                          <a:ea typeface="+mn-ea"/>
                          <a:cs typeface="+mn-cs"/>
                        </a:rPr>
                        <a:t> драмалариниг, </a:t>
                      </a:r>
                      <a:r>
                        <a:rPr lang="uz-Cyrl-UZ" sz="900" b="1" kern="1200" dirty="0" smtClean="0">
                          <a:solidFill>
                            <a:schemeClr val="tx1"/>
                          </a:solidFill>
                          <a:effectLst/>
                          <a:latin typeface="+mn-lt"/>
                          <a:ea typeface="+mn-ea"/>
                          <a:cs typeface="+mn-cs"/>
                        </a:rPr>
                        <a:t>“Ажиниёз”</a:t>
                      </a:r>
                      <a:r>
                        <a:rPr lang="uz-Cyrl-UZ" sz="900" kern="1200" dirty="0" smtClean="0">
                          <a:solidFill>
                            <a:schemeClr val="tx1"/>
                          </a:solidFill>
                          <a:effectLst/>
                          <a:latin typeface="+mn-lt"/>
                          <a:ea typeface="+mn-ea"/>
                          <a:cs typeface="+mn-cs"/>
                        </a:rPr>
                        <a:t>, </a:t>
                      </a:r>
                      <a:r>
                        <a:rPr lang="uz-Cyrl-UZ" sz="900" b="1" kern="1200" dirty="0" smtClean="0">
                          <a:solidFill>
                            <a:schemeClr val="tx1"/>
                          </a:solidFill>
                          <a:effectLst/>
                          <a:latin typeface="+mn-lt"/>
                          <a:ea typeface="+mn-ea"/>
                          <a:cs typeface="+mn-cs"/>
                        </a:rPr>
                        <a:t>“Тумарис”, “Кирккиз”</a:t>
                      </a:r>
                      <a:r>
                        <a:rPr lang="uz-Cyrl-UZ" sz="900" kern="1200" dirty="0" smtClean="0">
                          <a:solidFill>
                            <a:schemeClr val="tx1"/>
                          </a:solidFill>
                          <a:effectLst/>
                          <a:latin typeface="+mn-lt"/>
                          <a:ea typeface="+mn-ea"/>
                          <a:cs typeface="+mn-cs"/>
                        </a:rPr>
                        <a:t> опералари, </a:t>
                      </a:r>
                      <a:r>
                        <a:rPr lang="uz-Cyrl-UZ" sz="900" b="1" kern="1200" dirty="0" smtClean="0">
                          <a:solidFill>
                            <a:schemeClr val="tx1"/>
                          </a:solidFill>
                          <a:effectLst/>
                          <a:latin typeface="+mn-lt"/>
                          <a:ea typeface="+mn-ea"/>
                          <a:cs typeface="+mn-cs"/>
                        </a:rPr>
                        <a:t>“Қирққиз”</a:t>
                      </a:r>
                      <a:r>
                        <a:rPr lang="uz-Cyrl-UZ" sz="900" kern="1200" dirty="0" smtClean="0">
                          <a:solidFill>
                            <a:schemeClr val="tx1"/>
                          </a:solidFill>
                          <a:effectLst/>
                          <a:latin typeface="+mn-lt"/>
                          <a:ea typeface="+mn-ea"/>
                          <a:cs typeface="+mn-cs"/>
                        </a:rPr>
                        <a:t> балети, </a:t>
                      </a:r>
                      <a:r>
                        <a:rPr lang="uz-Cyrl-UZ" sz="900" b="1" kern="1200" dirty="0" smtClean="0">
                          <a:solidFill>
                            <a:schemeClr val="tx1"/>
                          </a:solidFill>
                          <a:effectLst/>
                          <a:latin typeface="+mn-lt"/>
                          <a:ea typeface="+mn-ea"/>
                          <a:cs typeface="+mn-cs"/>
                        </a:rPr>
                        <a:t>“Ғориб очиқ”</a:t>
                      </a:r>
                      <a:r>
                        <a:rPr lang="uz-Cyrl-UZ" sz="900" kern="1200" dirty="0" smtClean="0">
                          <a:solidFill>
                            <a:schemeClr val="tx1"/>
                          </a:solidFill>
                          <a:effectLst/>
                          <a:latin typeface="+mn-lt"/>
                          <a:ea typeface="+mn-ea"/>
                          <a:cs typeface="+mn-cs"/>
                        </a:rPr>
                        <a:t> ,</a:t>
                      </a:r>
                      <a:r>
                        <a:rPr lang="uz-Cyrl-UZ" sz="900" b="1" kern="1200" dirty="0" smtClean="0">
                          <a:solidFill>
                            <a:schemeClr val="tx1"/>
                          </a:solidFill>
                          <a:effectLst/>
                          <a:latin typeface="+mn-lt"/>
                          <a:ea typeface="+mn-ea"/>
                          <a:cs typeface="+mn-cs"/>
                        </a:rPr>
                        <a:t>” операси , </a:t>
                      </a:r>
                      <a:r>
                        <a:rPr lang="uz-Cyrl-UZ" sz="900" kern="1200" dirty="0" smtClean="0">
                          <a:solidFill>
                            <a:schemeClr val="tx1"/>
                          </a:solidFill>
                          <a:effectLst/>
                          <a:latin typeface="+mn-lt"/>
                          <a:ea typeface="+mn-ea"/>
                          <a:cs typeface="+mn-cs"/>
                        </a:rPr>
                        <a:t>мусиқали драмасининг ва бошқада спектаклларда сахналаштирувчи рассом ва сахна безашда ўз ҳиссасини қўшиб келмоқда.</a:t>
                      </a:r>
                      <a:endParaRPr lang="ru-RU" sz="900" kern="1200" dirty="0" smtClean="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Унинг спектаклларга яратган декорациялари, эскизлари, изланувчанглигининг ўзи етарли даражада етук маъноли ижодлар бўлиб ҳисобланади. </a:t>
                      </a:r>
                      <a:endParaRPr lang="ru-RU" sz="900" kern="1200" dirty="0" smtClean="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Унинг меҳнатлари Қорақалпоқ давлат Улкашунослик музейида </a:t>
                      </a:r>
                      <a:r>
                        <a:rPr lang="uz-Cyrl-UZ" sz="900" b="1" kern="1200" dirty="0" smtClean="0">
                          <a:solidFill>
                            <a:schemeClr val="tx1"/>
                          </a:solidFill>
                          <a:effectLst/>
                          <a:latin typeface="+mn-lt"/>
                          <a:ea typeface="+mn-ea"/>
                          <a:cs typeface="+mn-cs"/>
                        </a:rPr>
                        <a:t>15дан ортиқ </a:t>
                      </a:r>
                      <a:r>
                        <a:rPr lang="uz-Cyrl-UZ" sz="900" kern="1200" dirty="0" smtClean="0">
                          <a:solidFill>
                            <a:schemeClr val="tx1"/>
                          </a:solidFill>
                          <a:effectLst/>
                          <a:latin typeface="+mn-lt"/>
                          <a:ea typeface="+mn-ea"/>
                          <a:cs typeface="+mn-cs"/>
                        </a:rPr>
                        <a:t>Қорақалпоқ қаҳрамонларининг ва таниқли инсонларнинг асарларин юқори савияда ишлаб томошабинлар назарига намойиш этилиб ва юқори баҳоланди.</a:t>
                      </a:r>
                      <a:endParaRPr lang="ru-RU" sz="900" kern="1200" dirty="0" smtClean="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Театрда сахналаштирилган спектакларнинг сахна декорацияларида яратиб берадиган  истеъдодли рассом.</a:t>
                      </a:r>
                      <a:endParaRPr lang="ru-RU" sz="900" kern="1200" dirty="0" smtClean="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2002 йил Тошкент шаҳрида ўтказилган ёш рассомчиларнинг кўргазмасига қатнашиб, Она портрети учун </a:t>
                      </a:r>
                      <a:r>
                        <a:rPr lang="uz-Cyrl-UZ" sz="900" b="1" kern="1200" dirty="0" smtClean="0">
                          <a:solidFill>
                            <a:schemeClr val="tx1"/>
                          </a:solidFill>
                          <a:effectLst/>
                          <a:latin typeface="+mn-lt"/>
                          <a:ea typeface="+mn-ea"/>
                          <a:cs typeface="+mn-cs"/>
                        </a:rPr>
                        <a:t>“Энг яхши живопись”</a:t>
                      </a:r>
                      <a:r>
                        <a:rPr lang="uz-Cyrl-UZ" sz="900" kern="1200" dirty="0" smtClean="0">
                          <a:solidFill>
                            <a:schemeClr val="tx1"/>
                          </a:solidFill>
                          <a:effectLst/>
                          <a:latin typeface="+mn-lt"/>
                          <a:ea typeface="+mn-ea"/>
                          <a:cs typeface="+mn-cs"/>
                        </a:rPr>
                        <a:t> дипломи билан тақдирланди. </a:t>
                      </a:r>
                    </a:p>
                    <a:p>
                      <a:pPr marL="0" indent="179388" algn="just"/>
                      <a:r>
                        <a:rPr lang="uz-Cyrl-UZ" sz="900" kern="1200" dirty="0" smtClean="0">
                          <a:solidFill>
                            <a:schemeClr val="tx1"/>
                          </a:solidFill>
                          <a:effectLst/>
                          <a:latin typeface="+mn-lt"/>
                          <a:ea typeface="+mn-ea"/>
                          <a:cs typeface="+mn-cs"/>
                        </a:rPr>
                        <a:t>2026 йили “Суймаганга суйканба”, “Сохибкирон”, “Макария сулув” балети сахналаштирувчи рассоми.</a:t>
                      </a:r>
                      <a:endParaRPr lang="ru-RU" sz="9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a:picLocks noChangeAspect="1"/>
          </p:cNvPicPr>
          <p:nvPr/>
        </p:nvPicPr>
        <p:blipFill>
          <a:blip r:embed="rId2"/>
          <a:stretch>
            <a:fillRect/>
          </a:stretch>
        </p:blipFill>
        <p:spPr>
          <a:xfrm>
            <a:off x="273466" y="1184406"/>
            <a:ext cx="868008" cy="1054593"/>
          </a:xfrm>
          <a:prstGeom prst="rect">
            <a:avLst/>
          </a:prstGeom>
        </p:spPr>
      </p:pic>
    </p:spTree>
    <p:extLst>
      <p:ext uri="{BB962C8B-B14F-4D97-AF65-F5344CB8AC3E}">
        <p14:creationId xmlns:p14="http://schemas.microsoft.com/office/powerpoint/2010/main" val="3486250802"/>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402911794"/>
              </p:ext>
            </p:extLst>
          </p:nvPr>
        </p:nvGraphicFramePr>
        <p:xfrm>
          <a:off x="144489" y="865702"/>
          <a:ext cx="3427547" cy="5893326"/>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18865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47485">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kern="1200" dirty="0" smtClean="0">
                          <a:solidFill>
                            <a:schemeClr val="tx1"/>
                          </a:solidFill>
                          <a:effectLst/>
                          <a:latin typeface="+mn-lt"/>
                          <a:ea typeface="+mn-ea"/>
                          <a:cs typeface="+mn-cs"/>
                        </a:rPr>
                        <a:t>ТОЛЕГЕНОВА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4748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kern="1200" dirty="0" smtClean="0">
                          <a:solidFill>
                            <a:schemeClr val="tx1"/>
                          </a:solidFill>
                          <a:effectLst/>
                          <a:latin typeface="+mn-lt"/>
                          <a:ea typeface="+mn-ea"/>
                          <a:cs typeface="+mn-cs"/>
                        </a:rPr>
                        <a:t>Айжамал</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4748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800" kern="1200" dirty="0" smtClean="0">
                          <a:solidFill>
                            <a:schemeClr val="tx1"/>
                          </a:solidFill>
                          <a:effectLst/>
                          <a:latin typeface="+mn-lt"/>
                          <a:ea typeface="+mn-ea"/>
                          <a:cs typeface="+mn-cs"/>
                        </a:rPr>
                        <a:t>Зинехановна</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47485">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kern="1200" dirty="0" smtClean="0">
                          <a:solidFill>
                            <a:schemeClr val="tx1"/>
                          </a:solidFill>
                          <a:effectLst/>
                          <a:latin typeface="+mn-lt"/>
                          <a:ea typeface="+mn-ea"/>
                          <a:cs typeface="+mn-cs"/>
                        </a:rPr>
                        <a:t>қозоқ</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4748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22.09.1974</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4748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179028">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83630">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1 нафар </a:t>
                      </a:r>
                      <a:r>
                        <a:rPr lang="uz-Cyrl-UZ" sz="900" kern="1200" dirty="0" smtClean="0">
                          <a:solidFill>
                            <a:schemeClr val="tx1"/>
                          </a:solidFill>
                          <a:effectLst/>
                          <a:latin typeface="+mn-lt"/>
                          <a:ea typeface="+mn-ea"/>
                          <a:cs typeface="+mn-cs"/>
                        </a:rPr>
                        <a:t>қиз</a:t>
                      </a:r>
                      <a:r>
                        <a:rPr lang="uz-Cyrl-UZ" sz="900" b="0" kern="1200" noProof="0" dirty="0" smtClean="0">
                          <a:solidFill>
                            <a:schemeClr val="tx1"/>
                          </a:solidFill>
                          <a:latin typeface="+mn-lt"/>
                          <a:ea typeface="+mn-ea"/>
                          <a:cs typeface="+mn-cs"/>
                        </a:rPr>
                        <a:t>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179028">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335689">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b="1" kern="1200" dirty="0" err="1" smtClean="0">
                          <a:solidFill>
                            <a:schemeClr val="tx1"/>
                          </a:solidFill>
                          <a:effectLst/>
                          <a:latin typeface="+mn-lt"/>
                          <a:ea typeface="+mn-ea"/>
                          <a:cs typeface="+mn-cs"/>
                        </a:rPr>
                        <a:t>Толегенов</a:t>
                      </a:r>
                      <a:r>
                        <a:rPr lang="ru-RU" sz="900" b="1" kern="1200" dirty="0" smtClean="0">
                          <a:solidFill>
                            <a:schemeClr val="tx1"/>
                          </a:solidFill>
                          <a:effectLst/>
                          <a:latin typeface="+mn-lt"/>
                          <a:ea typeface="+mn-ea"/>
                          <a:cs typeface="+mn-cs"/>
                        </a:rPr>
                        <a:t> </a:t>
                      </a:r>
                      <a:r>
                        <a:rPr lang="ru-RU" sz="900" b="1" kern="1200" dirty="0" err="1" smtClean="0">
                          <a:solidFill>
                            <a:schemeClr val="tx1"/>
                          </a:solidFill>
                          <a:effectLst/>
                          <a:latin typeface="+mn-lt"/>
                          <a:ea typeface="+mn-ea"/>
                          <a:cs typeface="+mn-cs"/>
                        </a:rPr>
                        <a:t>Зинехан</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1940 йил, Нукус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spcAft>
                          <a:spcPts val="0"/>
                        </a:spcAft>
                      </a:pPr>
                      <a:r>
                        <a:rPr lang="ru-RU" sz="900" dirty="0" err="1">
                          <a:effectLst/>
                          <a:latin typeface="+mn-lt"/>
                          <a:ea typeface="Times New Roman" panose="02020603050405020304" pitchFamily="18" charset="0"/>
                        </a:rPr>
                        <a:t>Пенси</a:t>
                      </a:r>
                      <a:r>
                        <a:rPr lang="ca-ES" sz="900" dirty="0">
                          <a:effectLst/>
                          <a:latin typeface="+mn-lt"/>
                          <a:ea typeface="Times New Roman" panose="02020603050405020304" pitchFamily="18" charset="0"/>
                        </a:rPr>
                        <a:t>яда </a:t>
                      </a:r>
                      <a:r>
                        <a:rPr lang="ru-RU" sz="900" dirty="0">
                          <a:effectLst/>
                          <a:latin typeface="+mn-lt"/>
                          <a:ea typeface="Times New Roman" panose="02020603050405020304" pitchFamily="18" charset="0"/>
                        </a:rPr>
                        <a:t>(</a:t>
                      </a:r>
                      <a:r>
                        <a:rPr lang="uz-Cyrl-UZ" sz="900" dirty="0">
                          <a:effectLst/>
                          <a:latin typeface="+mn-lt"/>
                          <a:ea typeface="Times New Roman" panose="02020603050405020304" pitchFamily="18" charset="0"/>
                        </a:rPr>
                        <a:t>Республика мотор заводи ҳайдовчиси</a:t>
                      </a:r>
                      <a:r>
                        <a:rPr lang="ru-RU" sz="900" dirty="0">
                          <a:effectLst/>
                          <a:latin typeface="+mn-lt"/>
                          <a:ea typeface="Times New Roman" panose="02020603050405020304" pitchFamily="18" charset="0"/>
                        </a:rPr>
                        <a:t>)</a:t>
                      </a: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3276">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b="1" kern="1200" dirty="0" err="1" smtClean="0">
                          <a:solidFill>
                            <a:schemeClr val="tx1"/>
                          </a:solidFill>
                          <a:effectLst/>
                          <a:latin typeface="+mn-lt"/>
                          <a:ea typeface="+mn-ea"/>
                          <a:cs typeface="+mn-cs"/>
                        </a:rPr>
                        <a:t>Халмуратова</a:t>
                      </a:r>
                      <a:r>
                        <a:rPr lang="ru-RU" sz="900" b="1" kern="1200" dirty="0" smtClean="0">
                          <a:solidFill>
                            <a:schemeClr val="tx1"/>
                          </a:solidFill>
                          <a:effectLst/>
                          <a:latin typeface="+mn-lt"/>
                          <a:ea typeface="+mn-ea"/>
                          <a:cs typeface="+mn-cs"/>
                        </a:rPr>
                        <a:t> </a:t>
                      </a:r>
                      <a:r>
                        <a:rPr lang="ru-RU" sz="900" b="1" kern="1200" dirty="0" err="1" smtClean="0">
                          <a:solidFill>
                            <a:schemeClr val="tx1"/>
                          </a:solidFill>
                          <a:effectLst/>
                          <a:latin typeface="+mn-lt"/>
                          <a:ea typeface="+mn-ea"/>
                          <a:cs typeface="+mn-cs"/>
                        </a:rPr>
                        <a:t>Дариха</a:t>
                      </a:r>
                      <a:r>
                        <a:rPr lang="ru-RU" sz="900" b="1" kern="1200" dirty="0" smtClean="0">
                          <a:solidFill>
                            <a:schemeClr val="tx1"/>
                          </a:solidFill>
                          <a:effectLst/>
                          <a:latin typeface="+mn-lt"/>
                          <a:ea typeface="+mn-ea"/>
                          <a:cs typeface="+mn-cs"/>
                        </a:rPr>
                        <a:t> </a:t>
                      </a:r>
                    </a:p>
                    <a:p>
                      <a:pPr algn="l">
                        <a:lnSpc>
                          <a:spcPct val="85000"/>
                        </a:lnSpc>
                      </a:pPr>
                      <a:r>
                        <a:rPr lang="uz-Cyrl-UZ" sz="900" b="0" kern="1200" noProof="0" dirty="0" smtClean="0">
                          <a:solidFill>
                            <a:schemeClr val="tx1"/>
                          </a:solidFill>
                          <a:latin typeface="+mn-lt"/>
                          <a:ea typeface="+mn-ea"/>
                          <a:cs typeface="Arial" panose="020B0604020202020204" pitchFamily="34" charset="0"/>
                        </a:rPr>
                        <a:t>1948 йил, Амударё</a:t>
                      </a:r>
                      <a:r>
                        <a:rPr lang="uz-Cyrl-UZ" sz="900" b="0" kern="1200" baseline="0" noProof="0" dirty="0" smtClean="0">
                          <a:solidFill>
                            <a:schemeClr val="tx1"/>
                          </a:solidFill>
                          <a:latin typeface="+mn-lt"/>
                          <a:ea typeface="+mn-ea"/>
                          <a:cs typeface="Arial" panose="020B0604020202020204" pitchFamily="34" charset="0"/>
                        </a:rPr>
                        <a:t> тумани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spcAft>
                          <a:spcPts val="0"/>
                        </a:spcAft>
                      </a:pPr>
                      <a:r>
                        <a:rPr lang="ru-RU" sz="900" dirty="0" err="1">
                          <a:effectLst/>
                          <a:latin typeface="+mn-lt"/>
                          <a:ea typeface="Times New Roman" panose="02020603050405020304" pitchFamily="18" charset="0"/>
                        </a:rPr>
                        <a:t>Пенси</a:t>
                      </a:r>
                      <a:r>
                        <a:rPr lang="ca-ES" sz="900" dirty="0">
                          <a:effectLst/>
                          <a:latin typeface="+mn-lt"/>
                          <a:ea typeface="Times New Roman" panose="02020603050405020304" pitchFamily="18" charset="0"/>
                        </a:rPr>
                        <a:t>яда </a:t>
                      </a:r>
                      <a:r>
                        <a:rPr lang="ru-RU" sz="900" dirty="0">
                          <a:effectLst/>
                          <a:latin typeface="+mn-lt"/>
                          <a:ea typeface="Times New Roman" panose="02020603050405020304" pitchFamily="18" charset="0"/>
                        </a:rPr>
                        <a:t>(Нукус </a:t>
                      </a:r>
                      <a:r>
                        <a:rPr lang="ru-RU" sz="900" dirty="0" err="1">
                          <a:effectLst/>
                          <a:latin typeface="+mn-lt"/>
                          <a:ea typeface="Times New Roman" panose="02020603050405020304" pitchFamily="18" charset="0"/>
                        </a:rPr>
                        <a:t>ша</a:t>
                      </a:r>
                      <a:r>
                        <a:rPr lang="uz-Cyrl-UZ" sz="900" dirty="0">
                          <a:effectLst/>
                          <a:latin typeface="+mn-lt"/>
                          <a:ea typeface="Times New Roman" panose="02020603050405020304" pitchFamily="18" charset="0"/>
                        </a:rPr>
                        <a:t>ҳ</a:t>
                      </a:r>
                      <a:r>
                        <a:rPr lang="ru-RU" sz="900" dirty="0" err="1">
                          <a:effectLst/>
                          <a:latin typeface="+mn-lt"/>
                          <a:ea typeface="Times New Roman" panose="02020603050405020304" pitchFamily="18" charset="0"/>
                        </a:rPr>
                        <a:t>ри</a:t>
                      </a:r>
                      <a:r>
                        <a:rPr lang="ru-RU" sz="900" dirty="0">
                          <a:effectLst/>
                          <a:latin typeface="+mn-lt"/>
                          <a:ea typeface="Times New Roman" panose="02020603050405020304" pitchFamily="18" charset="0"/>
                        </a:rPr>
                        <a:t> 3-сонли </a:t>
                      </a:r>
                      <a:r>
                        <a:rPr lang="uz-Cyrl-UZ" sz="900" dirty="0">
                          <a:effectLst/>
                          <a:latin typeface="+mn-lt"/>
                          <a:ea typeface="Times New Roman" panose="02020603050405020304" pitchFamily="18" charset="0"/>
                        </a:rPr>
                        <a:t>умумий ювиниш муассасаси</a:t>
                      </a:r>
                      <a:r>
                        <a:rPr lang="ru-RU" sz="900" dirty="0">
                          <a:effectLst/>
                          <a:latin typeface="+mn-lt"/>
                          <a:ea typeface="Times New Roman" panose="02020603050405020304" pitchFamily="18" charset="0"/>
                        </a:rPr>
                        <a:t> </a:t>
                      </a:r>
                      <a:r>
                        <a:rPr lang="ru-RU" sz="900" dirty="0" err="1">
                          <a:effectLst/>
                          <a:latin typeface="+mn-lt"/>
                          <a:ea typeface="Times New Roman" panose="02020603050405020304" pitchFamily="18" charset="0"/>
                        </a:rPr>
                        <a:t>ходими</a:t>
                      </a:r>
                      <a:r>
                        <a:rPr lang="ru-RU" sz="900" dirty="0">
                          <a:effectLst/>
                          <a:latin typeface="+mn-lt"/>
                          <a:ea typeface="Times New Roman" panose="02020603050405020304" pitchFamily="18" charset="0"/>
                        </a:rPr>
                        <a:t>)</a:t>
                      </a: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27760">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b="1" kern="1200" dirty="0" err="1" smtClean="0">
                          <a:solidFill>
                            <a:schemeClr val="tx1"/>
                          </a:solidFill>
                          <a:effectLst/>
                          <a:latin typeface="+mn-lt"/>
                          <a:ea typeface="+mn-ea"/>
                          <a:cs typeface="+mn-cs"/>
                        </a:rPr>
                        <a:t>Дуйсенбаев</a:t>
                      </a:r>
                      <a:r>
                        <a:rPr lang="ru-RU" sz="900" b="1" kern="1200" dirty="0" smtClean="0">
                          <a:solidFill>
                            <a:schemeClr val="tx1"/>
                          </a:solidFill>
                          <a:effectLst/>
                          <a:latin typeface="+mn-lt"/>
                          <a:ea typeface="+mn-ea"/>
                          <a:cs typeface="+mn-cs"/>
                        </a:rPr>
                        <a:t> </a:t>
                      </a:r>
                      <a:r>
                        <a:rPr lang="ru-RU" sz="900" b="1" kern="1200" dirty="0" err="1" smtClean="0">
                          <a:solidFill>
                            <a:schemeClr val="tx1"/>
                          </a:solidFill>
                          <a:effectLst/>
                          <a:latin typeface="+mn-lt"/>
                          <a:ea typeface="+mn-ea"/>
                          <a:cs typeface="+mn-cs"/>
                        </a:rPr>
                        <a:t>Султанбай</a:t>
                      </a:r>
                      <a:r>
                        <a:rPr lang="ru-RU" sz="900" b="1" kern="1200" dirty="0" smtClean="0">
                          <a:solidFill>
                            <a:schemeClr val="tx1"/>
                          </a:solidFill>
                          <a:effectLst/>
                          <a:latin typeface="+mn-lt"/>
                          <a:ea typeface="+mn-ea"/>
                          <a:cs typeface="+mn-cs"/>
                        </a:rPr>
                        <a:t> </a:t>
                      </a:r>
                      <a:r>
                        <a:rPr lang="ru-RU" sz="900" b="1" kern="1200" dirty="0" err="1" smtClean="0">
                          <a:solidFill>
                            <a:schemeClr val="tx1"/>
                          </a:solidFill>
                          <a:effectLst/>
                          <a:latin typeface="+mn-lt"/>
                          <a:ea typeface="+mn-ea"/>
                          <a:cs typeface="+mn-cs"/>
                        </a:rPr>
                        <a:t>Дуйсенбаевич</a:t>
                      </a:r>
                      <a:r>
                        <a:rPr lang="ru-RU" sz="900" b="1" kern="1200" dirty="0" smtClean="0">
                          <a:solidFill>
                            <a:schemeClr val="tx1"/>
                          </a:solidFill>
                          <a:effectLst/>
                          <a:latin typeface="+mn-lt"/>
                          <a:ea typeface="+mn-ea"/>
                          <a:cs typeface="+mn-cs"/>
                        </a:rPr>
                        <a:t> </a:t>
                      </a:r>
                    </a:p>
                    <a:p>
                      <a:pPr algn="l">
                        <a:lnSpc>
                          <a:spcPct val="85000"/>
                        </a:lnSpc>
                      </a:pPr>
                      <a:r>
                        <a:rPr lang="uz-Cyrl-UZ" sz="900" b="0" kern="1200" noProof="0" dirty="0" smtClean="0">
                          <a:solidFill>
                            <a:schemeClr val="tx1"/>
                          </a:solidFill>
                          <a:latin typeface="+mn-lt"/>
                          <a:ea typeface="+mn-ea"/>
                          <a:cs typeface="Arial" panose="020B0604020202020204" pitchFamily="34" charset="0"/>
                        </a:rPr>
                        <a:t>1973 йил, Нукус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85000"/>
                        </a:lnSpc>
                      </a:pPr>
                      <a:r>
                        <a:rPr lang="uz-Cyrl-UZ" sz="900" kern="1200" dirty="0" smtClean="0">
                          <a:solidFill>
                            <a:schemeClr val="tx1"/>
                          </a:solidFill>
                          <a:effectLst/>
                          <a:latin typeface="+mn-lt"/>
                          <a:ea typeface="+mn-ea"/>
                          <a:cs typeface="+mn-cs"/>
                        </a:rPr>
                        <a:t>Бердақ номидаги </a:t>
                      </a:r>
                      <a:r>
                        <a:rPr lang="ru-RU" sz="900" kern="1200" dirty="0" err="1" smtClean="0">
                          <a:solidFill>
                            <a:schemeClr val="tx1"/>
                          </a:solidFill>
                          <a:effectLst/>
                          <a:latin typeface="+mn-lt"/>
                          <a:ea typeface="+mn-ea"/>
                          <a:cs typeface="+mn-cs"/>
                        </a:rPr>
                        <a:t>Қорақалпоқ</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давлат</a:t>
                      </a:r>
                      <a:r>
                        <a:rPr lang="uz-Cyrl-UZ" sz="900" kern="1200" dirty="0" smtClean="0">
                          <a:solidFill>
                            <a:schemeClr val="tx1"/>
                          </a:solidFill>
                          <a:effectLst/>
                          <a:latin typeface="+mn-lt"/>
                          <a:ea typeface="+mn-ea"/>
                          <a:cs typeface="+mn-cs"/>
                        </a:rPr>
                        <a:t> академик</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мусиқали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театри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балетмейстери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61877">
                <a:tc gridSpan="5">
                  <a:txBody>
                    <a:bodyPr/>
                    <a:lstStyle/>
                    <a:p>
                      <a:pPr algn="ctr">
                        <a:lnSpc>
                          <a:spcPct val="85000"/>
                        </a:lnSpc>
                      </a:pPr>
                      <a:r>
                        <a:rPr lang="uz-Cyrl-UZ" sz="1000" b="1" kern="1200" noProof="0" dirty="0">
                          <a:solidFill>
                            <a:schemeClr val="bg1"/>
                          </a:solidFill>
                          <a:latin typeface="+mn-lt"/>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00268">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1993 й. Тошкент хореография билим юрти (кундузги).</a:t>
                      </a:r>
                      <a:r>
                        <a:rPr lang="uz-Cyrl-UZ" sz="900" kern="1200" baseline="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Ўзбекистон давлат хореография академияси (2022 й. сиртқи бўлим талабаси)</a:t>
                      </a:r>
                      <a:endParaRPr lang="ru-RU" sz="900" kern="1200" dirty="0" smtClean="0">
                        <a:solidFill>
                          <a:schemeClr val="tx1"/>
                        </a:solidFill>
                        <a:effectLst/>
                        <a:latin typeface="+mn-lt"/>
                        <a:ea typeface="+mn-ea"/>
                        <a:cs typeface="+mn-cs"/>
                      </a:endParaRPr>
                    </a:p>
                    <a:p>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16699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балет артисти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43618">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43618">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243618">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433938062"/>
              </p:ext>
            </p:extLst>
          </p:nvPr>
        </p:nvGraphicFramePr>
        <p:xfrm>
          <a:off x="3674526" y="865687"/>
          <a:ext cx="3172841" cy="5910340"/>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6005">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23641">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2020 йилдан буён </a:t>
                      </a:r>
                      <a:r>
                        <a:rPr lang="ru-RU" sz="900" kern="1200" dirty="0" smtClean="0">
                          <a:solidFill>
                            <a:schemeClr val="tx1"/>
                          </a:solidFill>
                          <a:effectLst/>
                          <a:latin typeface="+mn-lt"/>
                          <a:ea typeface="+mn-ea"/>
                          <a:cs typeface="+mn-cs"/>
                        </a:rPr>
                        <a:t>Берда</a:t>
                      </a:r>
                      <a:r>
                        <a:rPr lang="uz-Cyrl-UZ" sz="900" kern="1200" dirty="0" smtClean="0">
                          <a:solidFill>
                            <a:schemeClr val="tx1"/>
                          </a:solidFill>
                          <a:effectLst/>
                          <a:latin typeface="+mn-lt"/>
                          <a:ea typeface="+mn-ea"/>
                          <a:cs typeface="+mn-cs"/>
                        </a:rPr>
                        <a:t>қ номидаги Қорақалпоқ давлат мусиқали</a:t>
                      </a:r>
                      <a:r>
                        <a:rPr lang="ru-RU" sz="900" kern="1200" dirty="0" smtClean="0">
                          <a:solidFill>
                            <a:schemeClr val="tx1"/>
                          </a:solidFill>
                          <a:effectLst/>
                          <a:latin typeface="+mn-lt"/>
                          <a:ea typeface="+mn-ea"/>
                          <a:cs typeface="+mn-cs"/>
                        </a:rPr>
                        <a:t> театр</a:t>
                      </a:r>
                      <a:r>
                        <a:rPr lang="uz-Cyrl-UZ" sz="900" kern="1200" dirty="0" smtClean="0">
                          <a:solidFill>
                            <a:schemeClr val="tx1"/>
                          </a:solidFill>
                          <a:effectLst/>
                          <a:latin typeface="+mn-lt"/>
                          <a:ea typeface="+mn-ea"/>
                          <a:cs typeface="+mn-cs"/>
                        </a:rPr>
                        <a:t>и </a:t>
                      </a:r>
                      <a:r>
                        <a:rPr lang="uz-Cyrl-UZ" sz="900" b="0" kern="1200" noProof="0" dirty="0" smtClean="0">
                          <a:solidFill>
                            <a:schemeClr val="tx1"/>
                          </a:solidFill>
                          <a:latin typeface="+mn-lt"/>
                          <a:ea typeface="+mn-ea"/>
                          <a:cs typeface="+mn-cs"/>
                        </a:rPr>
                        <a:t>балет репититори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0719">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582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31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00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467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endParaRPr lang="uz-Cyrl-UZ" sz="900" b="0" kern="1200" noProof="0" dirty="0" smtClean="0">
                        <a:solidFill>
                          <a:schemeClr val="tx1"/>
                        </a:solidFill>
                        <a:latin typeface="+mn-lt"/>
                        <a:ea typeface="+mn-ea"/>
                        <a:cs typeface="+mn-cs"/>
                      </a:endParaRPr>
                    </a:p>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6691">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669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endParaRPr lang="uz-Cyrl-UZ" sz="900" b="0" kern="1200" noProof="0" dirty="0" smtClean="0">
                        <a:solidFill>
                          <a:schemeClr val="tx1"/>
                        </a:solidFill>
                        <a:latin typeface="+mn-lt"/>
                        <a:ea typeface="+mn-ea"/>
                        <a:cs typeface="+mn-cs"/>
                      </a:endParaRPr>
                    </a:p>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482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2025-йилда ўтган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4495">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254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86229">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2017 й. “Қорақалпоғистон Республикаси “Санъат арбоби”” </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4155047383"/>
              </p:ext>
            </p:extLst>
          </p:nvPr>
        </p:nvGraphicFramePr>
        <p:xfrm>
          <a:off x="6949857" y="869287"/>
          <a:ext cx="2817247" cy="5869654"/>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44279">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446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97876">
                <a:tc>
                  <a:txBody>
                    <a:bodyPr/>
                    <a:lstStyle/>
                    <a:p>
                      <a:pPr marL="0" indent="179388" algn="just">
                        <a:lnSpc>
                          <a:spcPct val="100000"/>
                        </a:lnSpc>
                      </a:pPr>
                      <a:r>
                        <a:rPr lang="uz-Cyrl-UZ" sz="900" kern="1200" dirty="0" smtClean="0">
                          <a:solidFill>
                            <a:schemeClr val="tx1"/>
                          </a:solidFill>
                          <a:effectLst/>
                          <a:latin typeface="+mn-lt"/>
                          <a:ea typeface="+mn-ea"/>
                          <a:cs typeface="+mn-cs"/>
                        </a:rPr>
                        <a:t>Театр режиссёрлари янги ишга келган ёш балет артистига 1996 йили “Ойжамол” балетидаги бош ролни қатъий ишонч билан топширдилар. Шу билан бирга 1996-1997-йиллари А.Навоий номидаги Ўзбекистон давлат академик катта театрида  “Хужа Насриддиннинг ҳийласи”, “Аққыў” балети “Дон Кихот” балетларида ўзининг тажирибасини ва малакасин оширди.  </a:t>
                      </a:r>
                    </a:p>
                    <a:p>
                      <a:pPr marL="0" indent="179388" algn="just">
                        <a:lnSpc>
                          <a:spcPct val="100000"/>
                        </a:lnSpc>
                      </a:pPr>
                      <a:r>
                        <a:rPr lang="uz-Cyrl-UZ" sz="900" kern="1200" dirty="0" smtClean="0">
                          <a:solidFill>
                            <a:schemeClr val="tx1"/>
                          </a:solidFill>
                          <a:effectLst/>
                          <a:latin typeface="+mn-lt"/>
                          <a:ea typeface="+mn-ea"/>
                          <a:cs typeface="+mn-cs"/>
                        </a:rPr>
                        <a:t>     2000 йил Тошкентда ўтказилган Қорақалпоғистон Республикаси маданияти ва санъати кунлари, 2009 йил Миср Араб Республикасининг Қоҳира шаҳрида бўлиб ўтган </a:t>
                      </a:r>
                      <a:r>
                        <a:rPr lang="en-US" sz="900" kern="1200" dirty="0" smtClean="0">
                          <a:solidFill>
                            <a:schemeClr val="tx1"/>
                          </a:solidFill>
                          <a:effectLst/>
                          <a:latin typeface="+mn-lt"/>
                          <a:ea typeface="+mn-ea"/>
                          <a:cs typeface="+mn-cs"/>
                        </a:rPr>
                        <a:t>XXI-</a:t>
                      </a:r>
                      <a:r>
                        <a:rPr lang="uz-Cyrl-UZ" sz="900" kern="1200" dirty="0" smtClean="0">
                          <a:solidFill>
                            <a:schemeClr val="tx1"/>
                          </a:solidFill>
                          <a:effectLst/>
                          <a:latin typeface="+mn-lt"/>
                          <a:ea typeface="+mn-ea"/>
                          <a:cs typeface="+mn-cs"/>
                        </a:rPr>
                        <a:t>Халқаро экспериментал театрлар ва “Шарқ тароналари” республика фестивалларининг фаол қатнашчисидир.</a:t>
                      </a:r>
                    </a:p>
                    <a:p>
                      <a:pPr marL="0" indent="179388" algn="just">
                        <a:lnSpc>
                          <a:spcPct val="100000"/>
                        </a:lnSpc>
                      </a:pPr>
                      <a:r>
                        <a:rPr lang="uz-Cyrl-UZ" sz="900" kern="1200" dirty="0" smtClean="0">
                          <a:solidFill>
                            <a:schemeClr val="tx1"/>
                          </a:solidFill>
                          <a:effectLst/>
                          <a:latin typeface="+mn-lt"/>
                          <a:ea typeface="+mn-ea"/>
                          <a:cs typeface="+mn-cs"/>
                        </a:rPr>
                        <a:t>А.Толегенова 2018 йил Республикамиз миқёсида ўтказиладиган Мустақиллик, Наврўз умумхалқ байрамлари, 14-январ “Ватан ҳимоячилар куни”, 9-май “Ҳотира ва қадирлаш” куни, 30-июнь - Ёшлар фестивали куни, 2019 йил Тошкент шаҳрида ўтказилган “Навруз” умумхалқ байрамида ва “Хотира ва Қадирлаш” кунига боғишланган байрам тадбирида, Сурхондарё вилояти Термез шаҳрида “Халқаро бахшичилик санъати фестивали” очилиш ва ёпилиш маросимларида, Ўзбекистон Республикаси Конститутциясининг 28 йиллигига орналган байрам тадбирига театр жамоаси билан балет репититори сифатида  қатнашиб келди. 2024 йил Бухоро вилоятида ўтказилган “Заргарлик” фестивали, Жиззахда “Мақом” фестивали Коқандта “Ҳунармандчилик” фестивалларида иштирок этиб келди. </a:t>
                      </a:r>
                    </a:p>
                    <a:p>
                      <a:pPr algn="just">
                        <a:lnSpc>
                          <a:spcPct val="100000"/>
                        </a:lnSpc>
                      </a:pPr>
                      <a:endParaRPr lang="uz-Cyrl-UZ" sz="900" noProof="0" dirty="0"/>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7855">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09965">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smtClean="0">
                          <a:effectLst/>
                          <a:latin typeface="+mn-lt"/>
                          <a:ea typeface="Calibri" panose="020F0502020204030204" pitchFamily="34" charset="0"/>
                          <a:cs typeface="Times New Roman" panose="02020603050405020304" pitchFamily="18" charset="0"/>
                        </a:rPr>
                        <a:t>Республикамизда</a:t>
                      </a:r>
                      <a:r>
                        <a:rPr lang="uz-Cyrl-UZ" sz="800" b="0" baseline="0" dirty="0" smtClean="0">
                          <a:effectLst/>
                          <a:latin typeface="+mn-lt"/>
                          <a:ea typeface="Calibri" panose="020F0502020204030204" pitchFamily="34" charset="0"/>
                          <a:cs typeface="Times New Roman" panose="02020603050405020304" pitchFamily="18" charset="0"/>
                        </a:rPr>
                        <a:t> ўтказилиб келинадиган барча оммавий мадаий тадбирлар ва давлат тадбирларида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p:cNvPicPr>
            <a:picLocks noChangeAspect="1"/>
          </p:cNvPicPr>
          <p:nvPr/>
        </p:nvPicPr>
        <p:blipFill>
          <a:blip r:embed="rId2"/>
          <a:stretch>
            <a:fillRect/>
          </a:stretch>
        </p:blipFill>
        <p:spPr>
          <a:xfrm>
            <a:off x="298201" y="1158331"/>
            <a:ext cx="799079" cy="1056174"/>
          </a:xfrm>
          <a:prstGeom prst="rect">
            <a:avLst/>
          </a:prstGeom>
        </p:spPr>
      </p:pic>
    </p:spTree>
    <p:extLst>
      <p:ext uri="{BB962C8B-B14F-4D97-AF65-F5344CB8AC3E}">
        <p14:creationId xmlns:p14="http://schemas.microsoft.com/office/powerpoint/2010/main" val="1226146966"/>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722912837"/>
              </p:ext>
            </p:extLst>
          </p:nvPr>
        </p:nvGraphicFramePr>
        <p:xfrm>
          <a:off x="144489" y="865699"/>
          <a:ext cx="3427547" cy="5920350"/>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4004">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0755">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ШАРИПОВ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075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Абибулла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075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Нагметович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0755">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effectLst/>
                          <a:latin typeface="+mn-lt"/>
                          <a:ea typeface="+mn-ea"/>
                          <a:cs typeface="+mn-cs"/>
                        </a:rPr>
                        <a:t>қорақалпоқ</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075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09.05.1959</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075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Нукус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551">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6180">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нафар ўғил 2 нафар </a:t>
                      </a:r>
                      <a:r>
                        <a:rPr lang="uz-Cyrl-UZ" sz="900" b="0" kern="1200" dirty="0" smtClean="0">
                          <a:solidFill>
                            <a:schemeClr val="tx1"/>
                          </a:solidFill>
                          <a:effectLst/>
                          <a:latin typeface="+mn-lt"/>
                          <a:ea typeface="+mn-ea"/>
                          <a:cs typeface="+mn-cs"/>
                        </a:rPr>
                        <a:t>қиз</a:t>
                      </a:r>
                      <a:r>
                        <a:rPr lang="uz-Cyrl-UZ" sz="900" b="0" kern="1200" noProof="0" dirty="0" smtClean="0">
                          <a:solidFill>
                            <a:schemeClr val="tx1"/>
                          </a:solidFill>
                          <a:latin typeface="+mn-lt"/>
                          <a:ea typeface="+mn-ea"/>
                          <a:cs typeface="+mn-cs"/>
                        </a:rPr>
                        <a:t> фарзанди   бор </a:t>
                      </a:r>
                      <a:br>
                        <a:rPr lang="uz-Cyrl-UZ" sz="900" b="0" kern="1200" noProof="0" dirty="0" smtClean="0">
                          <a:solidFill>
                            <a:schemeClr val="tx1"/>
                          </a:solidFill>
                          <a:latin typeface="+mn-lt"/>
                          <a:ea typeface="+mn-ea"/>
                          <a:cs typeface="+mn-cs"/>
                        </a:rPr>
                      </a:b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551">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36278">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Шарипов Нагмет</a:t>
                      </a:r>
                    </a:p>
                    <a:p>
                      <a:pPr algn="l">
                        <a:lnSpc>
                          <a:spcPct val="85000"/>
                        </a:lnSpc>
                      </a:pPr>
                      <a:r>
                        <a:rPr lang="uz-Cyrl-UZ" sz="900" b="0" kern="1200" noProof="0" dirty="0" smtClean="0">
                          <a:solidFill>
                            <a:schemeClr val="tx1"/>
                          </a:solidFill>
                          <a:latin typeface="+mn-lt"/>
                          <a:ea typeface="+mn-ea"/>
                          <a:cs typeface="Arial" panose="020B0604020202020204" pitchFamily="34" charset="0"/>
                        </a:rPr>
                        <a:t>1927 йил, Кегейли тумани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ru-RU" sz="900" b="0" kern="1200" dirty="0" smtClean="0">
                          <a:solidFill>
                            <a:schemeClr val="tx1"/>
                          </a:solidFill>
                          <a:effectLst/>
                          <a:latin typeface="+mn-lt"/>
                          <a:ea typeface="+mn-ea"/>
                          <a:cs typeface="+mn-cs"/>
                        </a:rPr>
                        <a:t>1979 </a:t>
                      </a:r>
                      <a:r>
                        <a:rPr lang="ru-RU" sz="900" b="0" kern="1200" dirty="0" err="1" smtClean="0">
                          <a:solidFill>
                            <a:schemeClr val="tx1"/>
                          </a:solidFill>
                          <a:effectLst/>
                          <a:latin typeface="+mn-lt"/>
                          <a:ea typeface="+mn-ea"/>
                          <a:cs typeface="+mn-cs"/>
                        </a:rPr>
                        <a:t>йил</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вафот</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этган</a:t>
                      </a:r>
                      <a:endParaRPr lang="ru-RU" sz="900" b="0" kern="1200" dirty="0" smtClean="0">
                        <a:solidFill>
                          <a:schemeClr val="tx1"/>
                        </a:solidFill>
                        <a:effectLst/>
                        <a:latin typeface="+mn-lt"/>
                        <a:ea typeface="+mn-ea"/>
                        <a:cs typeface="+mn-cs"/>
                      </a:endParaRPr>
                    </a:p>
                    <a:p>
                      <a:r>
                        <a:rPr lang="ru-RU" sz="900" b="0" kern="1200" dirty="0" smtClean="0">
                          <a:solidFill>
                            <a:schemeClr val="tx1"/>
                          </a:solidFill>
                          <a:effectLst/>
                          <a:latin typeface="+mn-lt"/>
                          <a:ea typeface="+mn-ea"/>
                          <a:cs typeface="+mn-cs"/>
                        </a:rPr>
                        <a:t>(Нукус </a:t>
                      </a:r>
                      <a:r>
                        <a:rPr lang="ru-RU" sz="900" b="0" kern="1200" dirty="0" err="1" smtClean="0">
                          <a:solidFill>
                            <a:schemeClr val="tx1"/>
                          </a:solidFill>
                          <a:effectLst/>
                          <a:latin typeface="+mn-lt"/>
                          <a:ea typeface="+mn-ea"/>
                          <a:cs typeface="+mn-cs"/>
                        </a:rPr>
                        <a:t>шаҳри</a:t>
                      </a:r>
                      <a:r>
                        <a:rPr lang="ru-RU" sz="900" b="0" kern="1200" dirty="0" smtClean="0">
                          <a:solidFill>
                            <a:schemeClr val="tx1"/>
                          </a:solidFill>
                          <a:effectLst/>
                          <a:latin typeface="+mn-lt"/>
                          <a:ea typeface="+mn-ea"/>
                          <a:cs typeface="+mn-cs"/>
                        </a:rPr>
                        <a:t> 14-сонли </a:t>
                      </a:r>
                      <a:r>
                        <a:rPr lang="ru-RU" sz="900" b="0" kern="1200" dirty="0" err="1" smtClean="0">
                          <a:solidFill>
                            <a:schemeClr val="tx1"/>
                          </a:solidFill>
                          <a:effectLst/>
                          <a:latin typeface="+mn-lt"/>
                          <a:ea typeface="+mn-ea"/>
                          <a:cs typeface="+mn-cs"/>
                        </a:rPr>
                        <a:t>автобазаси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диспетчери</a:t>
                      </a:r>
                      <a:r>
                        <a:rPr lang="ru-RU" sz="900" b="0" kern="1200" dirty="0" smtClean="0">
                          <a:solidFill>
                            <a:schemeClr val="tx1"/>
                          </a:solidFill>
                          <a:effectLst/>
                          <a:latin typeface="+mn-lt"/>
                          <a:ea typeface="+mn-ea"/>
                          <a:cs typeface="+mn-cs"/>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07358">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b="1" kern="1200" dirty="0" err="1" smtClean="0">
                          <a:solidFill>
                            <a:schemeClr val="tx1"/>
                          </a:solidFill>
                          <a:effectLst/>
                          <a:latin typeface="+mn-lt"/>
                          <a:ea typeface="+mn-ea"/>
                          <a:cs typeface="+mn-cs"/>
                        </a:rPr>
                        <a:t>Кудайбергенова</a:t>
                      </a:r>
                      <a:r>
                        <a:rPr lang="ru-RU" sz="900" b="1" kern="1200" dirty="0" smtClean="0">
                          <a:solidFill>
                            <a:schemeClr val="tx1"/>
                          </a:solidFill>
                          <a:effectLst/>
                          <a:latin typeface="+mn-lt"/>
                          <a:ea typeface="+mn-ea"/>
                          <a:cs typeface="+mn-cs"/>
                        </a:rPr>
                        <a:t> </a:t>
                      </a:r>
                      <a:r>
                        <a:rPr lang="ru-RU" sz="900" b="1" kern="1200" dirty="0" err="1" smtClean="0">
                          <a:solidFill>
                            <a:schemeClr val="tx1"/>
                          </a:solidFill>
                          <a:effectLst/>
                          <a:latin typeface="+mn-lt"/>
                          <a:ea typeface="+mn-ea"/>
                          <a:cs typeface="+mn-cs"/>
                        </a:rPr>
                        <a:t>Жузимгул</a:t>
                      </a:r>
                      <a:r>
                        <a:rPr lang="ru-RU" sz="900" b="1" kern="1200" dirty="0" smtClean="0">
                          <a:solidFill>
                            <a:schemeClr val="tx1"/>
                          </a:solidFill>
                          <a:effectLst/>
                          <a:latin typeface="+mn-lt"/>
                          <a:ea typeface="+mn-ea"/>
                          <a:cs typeface="+mn-cs"/>
                        </a:rPr>
                        <a:t> </a:t>
                      </a:r>
                      <a:r>
                        <a:rPr lang="uz-Cyrl-UZ" sz="900" b="0" kern="1200" noProof="0" dirty="0" smtClean="0">
                          <a:solidFill>
                            <a:schemeClr val="tx1"/>
                          </a:solidFill>
                          <a:latin typeface="+mn-lt"/>
                          <a:ea typeface="+mn-ea"/>
                          <a:cs typeface="Arial" panose="020B0604020202020204" pitchFamily="34" charset="0"/>
                        </a:rPr>
                        <a:t>1932 йил, Кегейли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kern="1200" dirty="0" smtClean="0">
                          <a:solidFill>
                            <a:schemeClr val="tx1"/>
                          </a:solidFill>
                          <a:effectLst/>
                          <a:latin typeface="+mn-lt"/>
                          <a:ea typeface="+mn-ea"/>
                          <a:cs typeface="+mn-cs"/>
                        </a:rPr>
                        <a:t>1993 </a:t>
                      </a:r>
                      <a:r>
                        <a:rPr lang="ru-RU" sz="900" kern="1200" dirty="0" err="1" smtClean="0">
                          <a:solidFill>
                            <a:schemeClr val="tx1"/>
                          </a:solidFill>
                          <a:effectLst/>
                          <a:latin typeface="+mn-lt"/>
                          <a:ea typeface="+mn-ea"/>
                          <a:cs typeface="+mn-cs"/>
                        </a:rPr>
                        <a:t>йил</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вафот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этган</a:t>
                      </a:r>
                      <a:r>
                        <a:rPr lang="ru-RU" sz="900" kern="1200" dirty="0" smtClean="0">
                          <a:solidFill>
                            <a:schemeClr val="tx1"/>
                          </a:solidFill>
                          <a:effectLst/>
                          <a:latin typeface="+mn-lt"/>
                          <a:ea typeface="+mn-ea"/>
                          <a:cs typeface="+mn-cs"/>
                        </a:rPr>
                        <a:t> ( </a:t>
                      </a:r>
                      <a:r>
                        <a:rPr lang="ru-RU" sz="900" kern="1200" dirty="0" err="1" smtClean="0">
                          <a:solidFill>
                            <a:schemeClr val="tx1"/>
                          </a:solidFill>
                          <a:effectLst/>
                          <a:latin typeface="+mn-lt"/>
                          <a:ea typeface="+mn-ea"/>
                          <a:cs typeface="+mn-cs"/>
                        </a:rPr>
                        <a:t>Уй</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бекаси</a:t>
                      </a:r>
                      <a:r>
                        <a:rPr lang="ca-ES" sz="900" kern="1200" dirty="0" smtClean="0">
                          <a:solidFill>
                            <a:schemeClr val="tx1"/>
                          </a:solidFill>
                          <a:effectLst/>
                          <a:latin typeface="+mn-lt"/>
                          <a:ea typeface="+mn-ea"/>
                          <a:cs typeface="+mn-cs"/>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4174">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dirty="0" smtClean="0">
                          <a:solidFill>
                            <a:schemeClr val="tx1"/>
                          </a:solidFill>
                          <a:effectLst/>
                          <a:latin typeface="+mn-lt"/>
                          <a:ea typeface="+mn-ea"/>
                          <a:cs typeface="+mn-cs"/>
                        </a:rPr>
                        <a:t>Ли Ирена </a:t>
                      </a:r>
                      <a:r>
                        <a:rPr lang="ru-RU" sz="900" b="1" kern="1200" dirty="0" smtClean="0">
                          <a:solidFill>
                            <a:schemeClr val="tx1"/>
                          </a:solidFill>
                          <a:effectLst/>
                          <a:latin typeface="+mn-lt"/>
                          <a:ea typeface="+mn-ea"/>
                          <a:cs typeface="+mn-cs"/>
                        </a:rPr>
                        <a:t>Петровна </a:t>
                      </a:r>
                      <a:r>
                        <a:rPr lang="uz-Cyrl-UZ" sz="900" b="0" kern="1200" noProof="0" dirty="0" smtClean="0">
                          <a:solidFill>
                            <a:schemeClr val="tx1"/>
                          </a:solidFill>
                          <a:latin typeface="+mn-lt"/>
                          <a:ea typeface="+mn-ea"/>
                          <a:cs typeface="Arial" panose="020B0604020202020204" pitchFamily="34" charset="0"/>
                        </a:rPr>
                        <a:t>1967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kern="1200" dirty="0" smtClean="0">
                          <a:solidFill>
                            <a:schemeClr val="tx1"/>
                          </a:solidFill>
                          <a:effectLst/>
                          <a:latin typeface="+mn-lt"/>
                          <a:ea typeface="+mn-ea"/>
                          <a:cs typeface="+mn-cs"/>
                        </a:rPr>
                        <a:t>Нукус </a:t>
                      </a:r>
                      <a:r>
                        <a:rPr lang="ru-RU" sz="900" kern="1200" dirty="0" err="1" smtClean="0">
                          <a:solidFill>
                            <a:schemeClr val="tx1"/>
                          </a:solidFill>
                          <a:effectLst/>
                          <a:latin typeface="+mn-lt"/>
                          <a:ea typeface="+mn-ea"/>
                          <a:cs typeface="+mn-cs"/>
                        </a:rPr>
                        <a:t>ша</a:t>
                      </a:r>
                      <a:r>
                        <a:rPr lang="uz-Cyrl-UZ" sz="900" kern="1200" dirty="0" smtClean="0">
                          <a:solidFill>
                            <a:schemeClr val="tx1"/>
                          </a:solidFill>
                          <a:effectLst/>
                          <a:latin typeface="+mn-lt"/>
                          <a:ea typeface="+mn-ea"/>
                          <a:cs typeface="+mn-cs"/>
                        </a:rPr>
                        <a:t>ҳ</a:t>
                      </a:r>
                      <a:r>
                        <a:rPr lang="ru-RU" sz="900" kern="1200" dirty="0" err="1" smtClean="0">
                          <a:solidFill>
                            <a:schemeClr val="tx1"/>
                          </a:solidFill>
                          <a:effectLst/>
                          <a:latin typeface="+mn-lt"/>
                          <a:ea typeface="+mn-ea"/>
                          <a:cs typeface="+mn-cs"/>
                        </a:rPr>
                        <a:t>ри</a:t>
                      </a:r>
                      <a:r>
                        <a:rPr lang="ru-RU" sz="900" kern="1200" dirty="0" smtClean="0">
                          <a:solidFill>
                            <a:schemeClr val="tx1"/>
                          </a:solidFill>
                          <a:effectLst/>
                          <a:latin typeface="+mn-lt"/>
                          <a:ea typeface="+mn-ea"/>
                          <a:cs typeface="+mn-cs"/>
                        </a:rPr>
                        <a:t> 12 </a:t>
                      </a:r>
                      <a:r>
                        <a:rPr lang="ru-RU" sz="900" kern="1200" dirty="0" err="1" smtClean="0">
                          <a:solidFill>
                            <a:schemeClr val="tx1"/>
                          </a:solidFill>
                          <a:effectLst/>
                          <a:latin typeface="+mn-lt"/>
                          <a:ea typeface="+mn-ea"/>
                          <a:cs typeface="+mn-cs"/>
                        </a:rPr>
                        <a:t>сонли</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болалар мусиқали мактаби ўқитувчиси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8202">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88588">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1987 й. Москва давлат маданият институти (кундузги)</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58758">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рақс жамоаси раҳбари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5091">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5091">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08994">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127901098"/>
              </p:ext>
            </p:extLst>
          </p:nvPr>
        </p:nvGraphicFramePr>
        <p:xfrm>
          <a:off x="3674526" y="865690"/>
          <a:ext cx="3172841" cy="5936096"/>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2344">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609156">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ru-RU" sz="900" b="1" kern="1200" dirty="0" smtClean="0">
                          <a:solidFill>
                            <a:schemeClr val="tx1"/>
                          </a:solidFill>
                          <a:effectLst/>
                          <a:latin typeface="+mn-lt"/>
                          <a:ea typeface="+mn-ea"/>
                          <a:cs typeface="+mn-cs"/>
                        </a:rPr>
                        <a:t>2025 </a:t>
                      </a:r>
                      <a:r>
                        <a:rPr lang="ru-RU" sz="900" b="1" kern="1200" dirty="0" err="1" smtClean="0">
                          <a:solidFill>
                            <a:schemeClr val="tx1"/>
                          </a:solidFill>
                          <a:effectLst/>
                          <a:latin typeface="+mn-lt"/>
                          <a:ea typeface="+mn-ea"/>
                          <a:cs typeface="+mn-cs"/>
                        </a:rPr>
                        <a:t>йилдан</a:t>
                      </a:r>
                      <a:r>
                        <a:rPr lang="ru-RU" sz="900" b="1" kern="1200" dirty="0" smtClean="0">
                          <a:solidFill>
                            <a:schemeClr val="tx1"/>
                          </a:solidFill>
                          <a:effectLst/>
                          <a:latin typeface="+mn-lt"/>
                          <a:ea typeface="+mn-ea"/>
                          <a:cs typeface="+mn-cs"/>
                        </a:rPr>
                        <a:t> </a:t>
                      </a:r>
                      <a:r>
                        <a:rPr lang="ru-RU" sz="900" kern="1200" dirty="0" smtClean="0">
                          <a:solidFill>
                            <a:schemeClr val="tx1"/>
                          </a:solidFill>
                          <a:effectLst/>
                          <a:latin typeface="+mn-lt"/>
                          <a:ea typeface="+mn-ea"/>
                          <a:cs typeface="+mn-cs"/>
                        </a:rPr>
                        <a:t>Берда</a:t>
                      </a:r>
                      <a:r>
                        <a:rPr lang="uz-Cyrl-UZ" sz="900" kern="1200" dirty="0" smtClean="0">
                          <a:solidFill>
                            <a:schemeClr val="tx1"/>
                          </a:solidFill>
                          <a:effectLst/>
                          <a:latin typeface="+mn-lt"/>
                          <a:ea typeface="+mn-ea"/>
                          <a:cs typeface="+mn-cs"/>
                        </a:rPr>
                        <a:t>қ номидаги Қорақалпоқ давлат мусиқали</a:t>
                      </a:r>
                      <a:r>
                        <a:rPr lang="ru-RU" sz="900" kern="1200" dirty="0" smtClean="0">
                          <a:solidFill>
                            <a:schemeClr val="tx1"/>
                          </a:solidFill>
                          <a:effectLst/>
                          <a:latin typeface="+mn-lt"/>
                          <a:ea typeface="+mn-ea"/>
                          <a:cs typeface="+mn-cs"/>
                        </a:rPr>
                        <a:t> театр</a:t>
                      </a:r>
                      <a:r>
                        <a:rPr lang="uz-Cyrl-UZ" sz="900" kern="1200" dirty="0" smtClean="0">
                          <a:solidFill>
                            <a:schemeClr val="tx1"/>
                          </a:solidFill>
                          <a:effectLst/>
                          <a:latin typeface="+mn-lt"/>
                          <a:ea typeface="+mn-ea"/>
                          <a:cs typeface="+mn-cs"/>
                        </a:rPr>
                        <a:t>и </a:t>
                      </a:r>
                      <a:r>
                        <a:rPr lang="ru-RU" sz="900" b="1" kern="1200" dirty="0" err="1" smtClean="0">
                          <a:solidFill>
                            <a:schemeClr val="tx1"/>
                          </a:solidFill>
                          <a:effectLst/>
                          <a:latin typeface="+mn-lt"/>
                          <a:ea typeface="+mn-ea"/>
                          <a:cs typeface="+mn-cs"/>
                        </a:rPr>
                        <a:t>саҳналаштирувчи</a:t>
                      </a:r>
                      <a:r>
                        <a:rPr lang="ru-RU" sz="900" b="1" kern="1200" dirty="0" smtClean="0">
                          <a:solidFill>
                            <a:schemeClr val="tx1"/>
                          </a:solidFill>
                          <a:effectLst/>
                          <a:latin typeface="+mn-lt"/>
                          <a:ea typeface="+mn-ea"/>
                          <a:cs typeface="+mn-cs"/>
                        </a:rPr>
                        <a:t> балетмейстер</a:t>
                      </a:r>
                      <a:endParaRPr lang="ru-RU" sz="900" kern="1200" dirty="0">
                        <a:solidFill>
                          <a:schemeClr val="tx1"/>
                        </a:solidFill>
                        <a:effectLst/>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47987">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347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43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881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8492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3459">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345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161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2026-йили ўтган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1613">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0008">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63502">
                <a:tc gridSpan="2">
                  <a:txBody>
                    <a:bodyPr/>
                    <a:lstStyle/>
                    <a:p>
                      <a:r>
                        <a:rPr lang="uz-Cyrl-UZ" sz="900" kern="1200" dirty="0" smtClean="0">
                          <a:solidFill>
                            <a:schemeClr val="tx1"/>
                          </a:solidFill>
                          <a:effectLst/>
                          <a:latin typeface="+mn-lt"/>
                          <a:ea typeface="+mn-ea"/>
                          <a:cs typeface="+mn-cs"/>
                        </a:rPr>
                        <a:t>2003 й. “Қорақалпоғистонда хизмат кўрсатган артист”</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2016 й. “Ўзбекистон Республикаси халқ артисти” </a:t>
                      </a:r>
                    </a:p>
                    <a:p>
                      <a:pPr marL="0" marR="0" indent="0" algn="l" defTabSz="914400" rtl="0" eaLnBrk="1" fontAlgn="auto" latinLnBrk="0" hangingPunct="1">
                        <a:lnSpc>
                          <a:spcPct val="100000"/>
                        </a:lnSpc>
                        <a:spcBef>
                          <a:spcPts val="0"/>
                        </a:spcBef>
                        <a:spcAft>
                          <a:spcPts val="0"/>
                        </a:spcAft>
                        <a:buClrTx/>
                        <a:buSzTx/>
                        <a:buFontTx/>
                        <a:buNone/>
                        <a:tabLst/>
                        <a:defRPr/>
                      </a:pPr>
                      <a:r>
                        <a:rPr lang="uz-Latn-UZ" sz="900" kern="1200" dirty="0" smtClean="0">
                          <a:solidFill>
                            <a:schemeClr val="tx1"/>
                          </a:solidFill>
                          <a:effectLst/>
                          <a:latin typeface="+mn-lt"/>
                          <a:ea typeface="+mn-ea"/>
                          <a:cs typeface="+mn-cs"/>
                        </a:rPr>
                        <a:t>2025 </a:t>
                      </a:r>
                      <a:r>
                        <a:rPr lang="uz-Cyrl-UZ" sz="900" kern="1200" dirty="0" smtClean="0">
                          <a:solidFill>
                            <a:schemeClr val="tx1"/>
                          </a:solidFill>
                          <a:effectLst/>
                          <a:latin typeface="+mn-lt"/>
                          <a:ea typeface="+mn-ea"/>
                          <a:cs typeface="+mn-cs"/>
                        </a:rPr>
                        <a:t>й.</a:t>
                      </a:r>
                      <a:r>
                        <a:rPr lang="uz-Latn-UZ"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Маданият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санъат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фидоиси</a:t>
                      </a:r>
                      <a:r>
                        <a:rPr lang="uz-Latn-UZ" sz="900" kern="1200" dirty="0" smtClean="0">
                          <a:solidFill>
                            <a:schemeClr val="tx1"/>
                          </a:solidFill>
                          <a:effectLst/>
                          <a:latin typeface="+mn-lt"/>
                          <a:ea typeface="+mn-ea"/>
                          <a:cs typeface="+mn-cs"/>
                        </a:rPr>
                        <a:t>”</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кўкрак</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нишони</a:t>
                      </a:r>
                      <a:endParaRPr lang="ru-RU" sz="900" kern="1200" dirty="0" smtClean="0">
                        <a:solidFill>
                          <a:schemeClr val="tx1"/>
                        </a:solidFill>
                        <a:effectLst/>
                        <a:latin typeface="+mn-lt"/>
                        <a:ea typeface="+mn-ea"/>
                        <a:cs typeface="+mn-cs"/>
                      </a:endParaRPr>
                    </a:p>
                    <a:p>
                      <a:endParaRPr lang="ru-RU" sz="18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290790164"/>
              </p:ext>
            </p:extLst>
          </p:nvPr>
        </p:nvGraphicFramePr>
        <p:xfrm>
          <a:off x="6949857" y="869287"/>
          <a:ext cx="2817247" cy="5927843"/>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35196">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1287">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89731">
                <a:tc>
                  <a:txBody>
                    <a:bodyPr/>
                    <a:lstStyle/>
                    <a:p>
                      <a:pPr marL="0" indent="179388" algn="just"/>
                      <a:r>
                        <a:rPr lang="uz-Cyrl-UZ" sz="900" b="0" kern="1200" dirty="0" smtClean="0">
                          <a:solidFill>
                            <a:schemeClr val="tx1"/>
                          </a:solidFill>
                          <a:effectLst/>
                          <a:latin typeface="+mn-lt"/>
                          <a:ea typeface="+mn-ea"/>
                          <a:cs typeface="+mn-cs"/>
                        </a:rPr>
                        <a:t>А.Шарипов ўз меҳнат фаолиятини 1978 йил “Айқулаш” фольклор-этнографик ансамбли раққоси сифатида бошлаб, кейинчалик академик рақс санъати сир-асрорларини янада чуқур ўрганиш, ўз маҳоратини янада ошириш мақсадида Бердақ номидаги Қорақалпоқ давлат мусиқали театрида бош балетмейстер ва  сахналаштирувчи балетмейстер вазифасида давом этиб келмоқда.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У қорақалпоқ рақс санъатида ўз ўрнига эга балетмейстер. Унинг репертуаридан қорақалпоқ халқ рақслари, жаҳон классик ва замонавий рақслар ўрин олган. У саҳналаштирган ҳар бир рақсда</a:t>
                      </a:r>
                      <a:r>
                        <a:rPr lang="uk-UA" sz="900" b="0" kern="1200" dirty="0" smtClean="0">
                          <a:solidFill>
                            <a:schemeClr val="tx1"/>
                          </a:solidFill>
                          <a:effectLst/>
                          <a:latin typeface="+mn-lt"/>
                          <a:ea typeface="+mn-ea"/>
                          <a:cs typeface="+mn-cs"/>
                        </a:rPr>
                        <a:t> </a:t>
                      </a:r>
                      <a:r>
                        <a:rPr lang="uk-UA" sz="900" b="0" kern="1200" dirty="0" err="1" smtClean="0">
                          <a:solidFill>
                            <a:schemeClr val="tx1"/>
                          </a:solidFill>
                          <a:effectLst/>
                          <a:latin typeface="+mn-lt"/>
                          <a:ea typeface="+mn-ea"/>
                          <a:cs typeface="+mn-cs"/>
                        </a:rPr>
                        <a:t>миллийлик</a:t>
                      </a:r>
                      <a:r>
                        <a:rPr lang="uk-UA" sz="900" b="0" kern="1200" dirty="0" smtClean="0">
                          <a:solidFill>
                            <a:schemeClr val="tx1"/>
                          </a:solidFill>
                          <a:effectLst/>
                          <a:latin typeface="+mn-lt"/>
                          <a:ea typeface="+mn-ea"/>
                          <a:cs typeface="+mn-cs"/>
                        </a:rPr>
                        <a:t>, </a:t>
                      </a:r>
                      <a:r>
                        <a:rPr lang="uk-UA" sz="900" b="0" kern="1200" dirty="0" err="1" smtClean="0">
                          <a:solidFill>
                            <a:schemeClr val="tx1"/>
                          </a:solidFill>
                          <a:effectLst/>
                          <a:latin typeface="+mn-lt"/>
                          <a:ea typeface="+mn-ea"/>
                          <a:cs typeface="+mn-cs"/>
                        </a:rPr>
                        <a:t>ватанпарварлик</a:t>
                      </a:r>
                      <a:r>
                        <a:rPr lang="uk-UA" sz="900" b="0" kern="1200" dirty="0" smtClean="0">
                          <a:solidFill>
                            <a:schemeClr val="tx1"/>
                          </a:solidFill>
                          <a:effectLst/>
                          <a:latin typeface="+mn-lt"/>
                          <a:ea typeface="+mn-ea"/>
                          <a:cs typeface="+mn-cs"/>
                        </a:rPr>
                        <a:t>, </a:t>
                      </a:r>
                      <a:r>
                        <a:rPr lang="uk-UA" sz="900" b="0" kern="1200" dirty="0" err="1" smtClean="0">
                          <a:solidFill>
                            <a:schemeClr val="tx1"/>
                          </a:solidFill>
                          <a:effectLst/>
                          <a:latin typeface="+mn-lt"/>
                          <a:ea typeface="+mn-ea"/>
                          <a:cs typeface="+mn-cs"/>
                        </a:rPr>
                        <a:t>дўстлик</a:t>
                      </a:r>
                      <a:r>
                        <a:rPr lang="uk-UA" sz="900" b="0" kern="1200" dirty="0" smtClean="0">
                          <a:solidFill>
                            <a:schemeClr val="tx1"/>
                          </a:solidFill>
                          <a:effectLst/>
                          <a:latin typeface="+mn-lt"/>
                          <a:ea typeface="+mn-ea"/>
                          <a:cs typeface="+mn-cs"/>
                        </a:rPr>
                        <a:t>, </a:t>
                      </a:r>
                      <a:r>
                        <a:rPr lang="uk-UA" sz="900" b="0" kern="1200" dirty="0" err="1" smtClean="0">
                          <a:solidFill>
                            <a:schemeClr val="tx1"/>
                          </a:solidFill>
                          <a:effectLst/>
                          <a:latin typeface="+mn-lt"/>
                          <a:ea typeface="+mn-ea"/>
                          <a:cs typeface="+mn-cs"/>
                        </a:rPr>
                        <a:t>ме</a:t>
                      </a:r>
                      <a:r>
                        <a:rPr lang="uz-Cyrl-UZ" sz="900" b="0" kern="1200" dirty="0" smtClean="0">
                          <a:solidFill>
                            <a:schemeClr val="tx1"/>
                          </a:solidFill>
                          <a:effectLst/>
                          <a:latin typeface="+mn-lt"/>
                          <a:ea typeface="+mn-ea"/>
                          <a:cs typeface="+mn-cs"/>
                        </a:rPr>
                        <a:t>ҳ</a:t>
                      </a:r>
                      <a:r>
                        <a:rPr lang="uk-UA" sz="900" b="0" kern="1200" dirty="0" err="1" smtClean="0">
                          <a:solidFill>
                            <a:schemeClr val="tx1"/>
                          </a:solidFill>
                          <a:effectLst/>
                          <a:latin typeface="+mn-lt"/>
                          <a:ea typeface="+mn-ea"/>
                          <a:cs typeface="+mn-cs"/>
                        </a:rPr>
                        <a:t>натсеварлик</a:t>
                      </a:r>
                      <a:r>
                        <a:rPr lang="uk-UA" sz="900" b="0" kern="1200" dirty="0" smtClean="0">
                          <a:solidFill>
                            <a:schemeClr val="tx1"/>
                          </a:solidFill>
                          <a:effectLst/>
                          <a:latin typeface="+mn-lt"/>
                          <a:ea typeface="+mn-ea"/>
                          <a:cs typeface="+mn-cs"/>
                        </a:rPr>
                        <a:t>, </a:t>
                      </a:r>
                      <a:r>
                        <a:rPr lang="uk-UA" sz="900" b="0" kern="1200" dirty="0" err="1" smtClean="0">
                          <a:solidFill>
                            <a:schemeClr val="tx1"/>
                          </a:solidFill>
                          <a:effectLst/>
                          <a:latin typeface="+mn-lt"/>
                          <a:ea typeface="+mn-ea"/>
                          <a:cs typeface="+mn-cs"/>
                        </a:rPr>
                        <a:t>миллий</a:t>
                      </a:r>
                      <a:r>
                        <a:rPr lang="uk-UA" sz="900" b="0" kern="1200" dirty="0" smtClean="0">
                          <a:solidFill>
                            <a:schemeClr val="tx1"/>
                          </a:solidFill>
                          <a:effectLst/>
                          <a:latin typeface="+mn-lt"/>
                          <a:ea typeface="+mn-ea"/>
                          <a:cs typeface="+mn-cs"/>
                        </a:rPr>
                        <a:t> </a:t>
                      </a:r>
                      <a:r>
                        <a:rPr lang="uk-UA" sz="900" b="0" kern="1200" dirty="0" err="1" smtClean="0">
                          <a:solidFill>
                            <a:schemeClr val="tx1"/>
                          </a:solidFill>
                          <a:effectLst/>
                          <a:latin typeface="+mn-lt"/>
                          <a:ea typeface="+mn-ea"/>
                          <a:cs typeface="+mn-cs"/>
                        </a:rPr>
                        <a:t>қадриятлар</a:t>
                      </a:r>
                      <a:r>
                        <a:rPr lang="uk-UA" sz="900" b="0" kern="1200" dirty="0" smtClean="0">
                          <a:solidFill>
                            <a:schemeClr val="tx1"/>
                          </a:solidFill>
                          <a:effectLst/>
                          <a:latin typeface="+mn-lt"/>
                          <a:ea typeface="+mn-ea"/>
                          <a:cs typeface="+mn-cs"/>
                        </a:rPr>
                        <a:t>  </a:t>
                      </a:r>
                      <a:r>
                        <a:rPr lang="uk-UA" sz="900" b="0" kern="1200" dirty="0" err="1" smtClean="0">
                          <a:solidFill>
                            <a:schemeClr val="tx1"/>
                          </a:solidFill>
                          <a:effectLst/>
                          <a:latin typeface="+mn-lt"/>
                          <a:ea typeface="+mn-ea"/>
                          <a:cs typeface="+mn-cs"/>
                        </a:rPr>
                        <a:t>мужассамлашган</a:t>
                      </a:r>
                      <a:r>
                        <a:rPr lang="uk-UA" sz="900" b="0" kern="1200" dirty="0" smtClean="0">
                          <a:solidFill>
                            <a:schemeClr val="tx1"/>
                          </a:solidFill>
                          <a:effectLst/>
                          <a:latin typeface="+mn-lt"/>
                          <a:ea typeface="+mn-ea"/>
                          <a:cs typeface="+mn-cs"/>
                        </a:rPr>
                        <a:t>.</a:t>
                      </a:r>
                      <a:r>
                        <a:rPr lang="uz-Cyrl-UZ" sz="900" b="0" kern="1200" dirty="0" smtClean="0">
                          <a:solidFill>
                            <a:schemeClr val="tx1"/>
                          </a:solidFill>
                          <a:effectLst/>
                          <a:latin typeface="+mn-lt"/>
                          <a:ea typeface="+mn-ea"/>
                          <a:cs typeface="+mn-cs"/>
                        </a:rPr>
                        <a:t>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Бердақ номидаги Қорақалпоқ давлат мусиқали театрида “Ханума”, “Суймаганга суйкалма”, “Олпамиш”, “Ҳуждан” мусиқали драмаларининг, “Ажиниёз”, “Тўмарис” операларининг рақсларини,  “Қырққиз” ва “Айжамал”, “Умр зая юлдузлари” балетини саҳналаштирди.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А.Шарипов 1998 йил Самарқанд шаҳрида ўтказилган “Шарқ тароналари”  халқаро мусиқа фестивалининг очилиш маросимида, 2000 йил Тошкент шаҳрида “Қорақалпоғистон Республикаси маданият ва санъати кунлари”да, 2001 йил Хоразм вилоятида ўтказилган “Қорақалпоғистон Республикаси маданияти ва санъати кунлари”да ва Тошкент шаҳрида ўтказилган байрамларнинг иштирокчиси.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А.Шарипов миллий маданиятимизнинг юксалишига ҳамда ривожланишига ўзининг хиссасини қўшиб келаётган устоз балетмейстер.</a:t>
                      </a:r>
                      <a:endParaRPr lang="ru-RU" sz="900" b="0" kern="1200" dirty="0" smtClean="0">
                        <a:solidFill>
                          <a:schemeClr val="tx1"/>
                        </a:solidFill>
                        <a:effectLst/>
                        <a:latin typeface="+mn-lt"/>
                        <a:ea typeface="+mn-ea"/>
                        <a:cs typeface="+mn-cs"/>
                      </a:endParaRPr>
                    </a:p>
                    <a:p>
                      <a:pPr algn="just">
                        <a:lnSpc>
                          <a:spcPct val="85000"/>
                        </a:lnSpc>
                      </a:pP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1986">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98561">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ўтказилиб келадиган оммавий маданий тадбирларда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a:picLocks noChangeAspect="1"/>
          </p:cNvPicPr>
          <p:nvPr/>
        </p:nvPicPr>
        <p:blipFill>
          <a:blip r:embed="rId2"/>
          <a:stretch>
            <a:fillRect/>
          </a:stretch>
        </p:blipFill>
        <p:spPr>
          <a:xfrm>
            <a:off x="274083" y="1150711"/>
            <a:ext cx="807958" cy="1077278"/>
          </a:xfrm>
          <a:prstGeom prst="rect">
            <a:avLst/>
          </a:prstGeom>
        </p:spPr>
      </p:pic>
    </p:spTree>
    <p:extLst>
      <p:ext uri="{BB962C8B-B14F-4D97-AF65-F5344CB8AC3E}">
        <p14:creationId xmlns:p14="http://schemas.microsoft.com/office/powerpoint/2010/main" val="3154245927"/>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3"/>
          <a:ext cx="3427547" cy="5941822"/>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26392">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7578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a:solidFill>
                            <a:schemeClr val="tx1"/>
                          </a:solidFill>
                          <a:latin typeface="+mn-lt"/>
                          <a:ea typeface="+mn-ea"/>
                          <a:cs typeface="+mn-cs"/>
                        </a:rPr>
                        <a:t>КУДАИНАЗАРОВ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7578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Амангелди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7578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Аидарбекович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7578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noProof="0" dirty="0">
                          <a:solidFill>
                            <a:schemeClr val="tx1"/>
                          </a:solidFill>
                          <a:latin typeface="+mn-lt"/>
                        </a:rPr>
                        <a:t>ҚОРАҚАЛПОҚ</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7578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05.05.1965</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7578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noProof="0" dirty="0">
                          <a:solidFill>
                            <a:schemeClr val="tx1"/>
                          </a:solidFill>
                          <a:latin typeface="+mn-lt"/>
                        </a:rPr>
                        <a:t>ҚР Нукус 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14837">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85955">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1 нафар </a:t>
                      </a:r>
                      <a:r>
                        <a:rPr lang="ru-RU" sz="900" b="0" kern="1200" noProof="0" dirty="0" err="1">
                          <a:solidFill>
                            <a:schemeClr val="tx1"/>
                          </a:solidFill>
                          <a:latin typeface="+mn-lt"/>
                          <a:ea typeface="+mn-ea"/>
                          <a:cs typeface="Arial" panose="020B0604020202020204" pitchFamily="34" charset="0"/>
                        </a:rPr>
                        <a:t>қиз</a:t>
                      </a:r>
                      <a:r>
                        <a:rPr lang="ru-RU" sz="900" b="0" kern="1200" noProof="0" dirty="0">
                          <a:solidFill>
                            <a:schemeClr val="tx1"/>
                          </a:solidFill>
                          <a:latin typeface="+mn-lt"/>
                          <a:ea typeface="+mn-ea"/>
                          <a:cs typeface="Arial" panose="020B0604020202020204" pitchFamily="34" charset="0"/>
                        </a:rPr>
                        <a:t> </a:t>
                      </a:r>
                      <a:r>
                        <a:rPr lang="uz-Cyrl-UZ" sz="900" b="0" kern="1200" noProof="0" dirty="0">
                          <a:solidFill>
                            <a:schemeClr val="tx1"/>
                          </a:solidFill>
                          <a:latin typeface="+mn-lt"/>
                          <a:ea typeface="+mn-ea"/>
                          <a:cs typeface="+mn-cs"/>
                        </a:rPr>
                        <a:t>фарзанди бор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14837">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11736">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КУДАЙНАЗАРОВ Айдарбек</a:t>
                      </a:r>
                    </a:p>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Arial" panose="020B0604020202020204" pitchFamily="34" charset="0"/>
                        </a:rPr>
                        <a:t>1937 йил, </a:t>
                      </a:r>
                      <a:r>
                        <a:rPr lang="uz-Cyrl-UZ" sz="900" b="0" noProof="0" dirty="0">
                          <a:solidFill>
                            <a:schemeClr val="tx1"/>
                          </a:solidFill>
                          <a:latin typeface="+mn-lt"/>
                        </a:rPr>
                        <a:t>ҚР Нукус тумани</a:t>
                      </a: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2011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marL="0" marR="0" lvl="0" indent="0" algn="l" defTabSz="914400" rtl="0" eaLnBrk="1" fontAlgn="auto" latinLnBrk="0" hangingPunct="1">
                        <a:lnSpc>
                          <a:spcPct val="85000"/>
                        </a:lnSpc>
                        <a:spcBef>
                          <a:spcPts val="0"/>
                        </a:spcBef>
                        <a:spcAft>
                          <a:spcPts val="0"/>
                        </a:spcAft>
                        <a:buClrTx/>
                        <a:buSzTx/>
                        <a:buFontTx/>
                        <a:buNone/>
                        <a:tabLst/>
                        <a:defRPr/>
                      </a:pPr>
                      <a:r>
                        <a:rPr lang="ru-RU" sz="900" b="0" kern="1200" noProof="0" dirty="0">
                          <a:solidFill>
                            <a:schemeClr val="tx1"/>
                          </a:solidFill>
                          <a:latin typeface="+mn-lt"/>
                          <a:ea typeface="+mn-ea"/>
                          <a:cs typeface="Arial" panose="020B0604020202020204" pitchFamily="34" charset="0"/>
                        </a:rPr>
                        <a:t>(</a:t>
                      </a:r>
                      <a:r>
                        <a:rPr lang="uz-Cyrl-UZ" sz="900" b="0" noProof="0" dirty="0">
                          <a:solidFill>
                            <a:schemeClr val="tx1"/>
                          </a:solidFill>
                          <a:latin typeface="+mn-lt"/>
                        </a:rPr>
                        <a:t>ҚР Нукус тумани</a:t>
                      </a:r>
                      <a:endParaRPr lang="uz-Cyrl-UZ" sz="900" b="0" kern="1200" dirty="0">
                        <a:solidFill>
                          <a:schemeClr val="tx1"/>
                        </a:solidFill>
                        <a:latin typeface="+mn-lt"/>
                        <a:ea typeface="+mn-ea"/>
                        <a:cs typeface="+mn-cs"/>
                      </a:endParaRPr>
                    </a:p>
                    <a:p>
                      <a:pPr algn="l">
                        <a:lnSpc>
                          <a:spcPct val="85000"/>
                        </a:lnSpc>
                      </a:pPr>
                      <a:r>
                        <a:rPr lang="en-US" sz="900" b="0" kern="1200" noProof="0" dirty="0">
                          <a:solidFill>
                            <a:schemeClr val="tx1"/>
                          </a:solidFill>
                          <a:latin typeface="+mn-lt"/>
                          <a:ea typeface="+mn-ea"/>
                          <a:cs typeface="Arial" panose="020B0604020202020204" pitchFamily="34" charset="0"/>
                        </a:rPr>
                        <a:t>“</a:t>
                      </a:r>
                      <a:r>
                        <a:rPr lang="ru-RU" sz="900" b="0" kern="1200" noProof="0" dirty="0">
                          <a:solidFill>
                            <a:schemeClr val="tx1"/>
                          </a:solidFill>
                          <a:latin typeface="+mn-lt"/>
                          <a:ea typeface="+mn-ea"/>
                          <a:cs typeface="Arial" panose="020B0604020202020204" pitchFamily="34" charset="0"/>
                        </a:rPr>
                        <a:t>Саидбек </a:t>
                      </a:r>
                      <a:r>
                        <a:rPr lang="uz-Cyrl-UZ" sz="900" kern="1200" dirty="0">
                          <a:solidFill>
                            <a:schemeClr val="tx1"/>
                          </a:solidFill>
                          <a:effectLst/>
                          <a:latin typeface="+mn-lt"/>
                          <a:ea typeface="Calibri" panose="020F0502020204030204" pitchFamily="34" charset="0"/>
                          <a:cs typeface="Times New Roman" panose="02020603050405020304" pitchFamily="18" charset="0"/>
                        </a:rPr>
                        <a:t>қ</a:t>
                      </a:r>
                      <a:r>
                        <a:rPr lang="ru-RU" sz="900" b="0" kern="1200" noProof="0" dirty="0" err="1">
                          <a:solidFill>
                            <a:schemeClr val="tx1"/>
                          </a:solidFill>
                          <a:latin typeface="+mn-lt"/>
                          <a:ea typeface="+mn-ea"/>
                          <a:cs typeface="Arial" panose="020B0604020202020204" pitchFamily="34" charset="0"/>
                        </a:rPr>
                        <a:t>англи</a:t>
                      </a:r>
                      <a:r>
                        <a:rPr lang="en-US" sz="900" b="0" kern="1200" noProof="0" dirty="0">
                          <a:solidFill>
                            <a:schemeClr val="tx1"/>
                          </a:solidFill>
                          <a:latin typeface="+mn-lt"/>
                          <a:ea typeface="+mn-ea"/>
                          <a:cs typeface="Arial" panose="020B0604020202020204" pitchFamily="34" charset="0"/>
                        </a:rPr>
                        <a:t>”</a:t>
                      </a:r>
                      <a:r>
                        <a:rPr lang="ru-RU" sz="900" b="0" kern="1200" noProof="0" dirty="0">
                          <a:solidFill>
                            <a:schemeClr val="tx1"/>
                          </a:solidFill>
                          <a:latin typeface="+mn-lt"/>
                          <a:ea typeface="+mn-ea"/>
                          <a:cs typeface="Arial" panose="020B0604020202020204" pitchFamily="34" charset="0"/>
                        </a:rPr>
                        <a:t> фермер х</a:t>
                      </a:r>
                      <a:r>
                        <a:rPr lang="uz-Cyrl-UZ" sz="900" b="0" kern="1200" noProof="0" dirty="0">
                          <a:solidFill>
                            <a:schemeClr val="tx1"/>
                          </a:solidFill>
                          <a:latin typeface="+mn-lt"/>
                          <a:ea typeface="+mn-ea"/>
                          <a:cs typeface="+mn-cs"/>
                        </a:rPr>
                        <a:t>ўжалиги ишчиси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01871">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АЛЛАМБЕРГЕНОВА Патпа</a:t>
                      </a:r>
                    </a:p>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Arial" panose="020B0604020202020204" pitchFamily="34" charset="0"/>
                        </a:rPr>
                        <a:t>1941 йил, </a:t>
                      </a:r>
                      <a:r>
                        <a:rPr lang="uz-Cyrl-UZ" sz="900" b="0" noProof="0" dirty="0">
                          <a:solidFill>
                            <a:schemeClr val="tx1"/>
                          </a:solidFill>
                          <a:latin typeface="+mn-lt"/>
                        </a:rPr>
                        <a:t>ҚР Нукус тумани</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noProof="0" dirty="0">
                          <a:solidFill>
                            <a:schemeClr val="tx1"/>
                          </a:solidFill>
                          <a:latin typeface="+mn-lt"/>
                        </a:rPr>
                        <a:t>ҚР Нукус тумани</a:t>
                      </a:r>
                      <a:endParaRPr lang="uz-Cyrl-UZ" sz="900" b="0" kern="1200" dirty="0">
                        <a:solidFill>
                          <a:schemeClr val="tx1"/>
                        </a:solidFill>
                        <a:latin typeface="+mn-lt"/>
                        <a:ea typeface="+mn-ea"/>
                        <a:cs typeface="+mn-cs"/>
                      </a:endParaRPr>
                    </a:p>
                    <a:p>
                      <a:pPr algn="l">
                        <a:lnSpc>
                          <a:spcPct val="85000"/>
                        </a:lnSpc>
                      </a:pPr>
                      <a:r>
                        <a:rPr lang="en-US" sz="900" b="0" kern="1200" noProof="0" dirty="0">
                          <a:solidFill>
                            <a:schemeClr val="tx1"/>
                          </a:solidFill>
                          <a:latin typeface="+mn-lt"/>
                          <a:ea typeface="+mn-ea"/>
                          <a:cs typeface="Arial" panose="020B0604020202020204" pitchFamily="34" charset="0"/>
                        </a:rPr>
                        <a:t>“</a:t>
                      </a:r>
                      <a:r>
                        <a:rPr lang="ru-RU" sz="900" b="0" kern="1200" noProof="0" dirty="0">
                          <a:solidFill>
                            <a:schemeClr val="tx1"/>
                          </a:solidFill>
                          <a:latin typeface="+mn-lt"/>
                          <a:ea typeface="+mn-ea"/>
                          <a:cs typeface="Arial" panose="020B0604020202020204" pitchFamily="34" charset="0"/>
                        </a:rPr>
                        <a:t>Саидбек </a:t>
                      </a:r>
                      <a:r>
                        <a:rPr lang="uz-Cyrl-UZ" sz="900" kern="1200" dirty="0">
                          <a:solidFill>
                            <a:schemeClr val="tx1"/>
                          </a:solidFill>
                          <a:effectLst/>
                          <a:latin typeface="+mn-lt"/>
                          <a:ea typeface="Calibri" panose="020F0502020204030204" pitchFamily="34" charset="0"/>
                          <a:cs typeface="Times New Roman" panose="02020603050405020304" pitchFamily="18" charset="0"/>
                        </a:rPr>
                        <a:t>қ</a:t>
                      </a:r>
                      <a:r>
                        <a:rPr lang="ru-RU" sz="900" b="0" kern="1200" noProof="0" dirty="0" err="1">
                          <a:solidFill>
                            <a:schemeClr val="tx1"/>
                          </a:solidFill>
                          <a:latin typeface="+mn-lt"/>
                          <a:ea typeface="+mn-ea"/>
                          <a:cs typeface="Arial" panose="020B0604020202020204" pitchFamily="34" charset="0"/>
                        </a:rPr>
                        <a:t>англи</a:t>
                      </a:r>
                      <a:r>
                        <a:rPr lang="en-US" sz="900" b="0" kern="1200" noProof="0" dirty="0">
                          <a:solidFill>
                            <a:schemeClr val="tx1"/>
                          </a:solidFill>
                          <a:latin typeface="+mn-lt"/>
                          <a:ea typeface="+mn-ea"/>
                          <a:cs typeface="Arial" panose="020B0604020202020204" pitchFamily="34" charset="0"/>
                        </a:rPr>
                        <a:t>”</a:t>
                      </a:r>
                      <a:r>
                        <a:rPr lang="ru-RU" sz="900" b="0" kern="1200" noProof="0" dirty="0">
                          <a:solidFill>
                            <a:schemeClr val="tx1"/>
                          </a:solidFill>
                          <a:latin typeface="+mn-lt"/>
                          <a:ea typeface="+mn-ea"/>
                          <a:cs typeface="Arial" panose="020B0604020202020204" pitchFamily="34" charset="0"/>
                        </a:rPr>
                        <a:t> фермер х</a:t>
                      </a:r>
                      <a:r>
                        <a:rPr lang="uz-Cyrl-UZ" sz="900" b="0" kern="1200" noProof="0" dirty="0">
                          <a:solidFill>
                            <a:schemeClr val="tx1"/>
                          </a:solidFill>
                          <a:latin typeface="+mn-lt"/>
                          <a:ea typeface="+mn-ea"/>
                          <a:cs typeface="+mn-cs"/>
                        </a:rPr>
                        <a:t>ўжалиги ишчиси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03387">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АБДИСАТТАРОВА Кабира Абдигаппаровна</a:t>
                      </a:r>
                    </a:p>
                    <a:p>
                      <a:pPr algn="l">
                        <a:lnSpc>
                          <a:spcPct val="85000"/>
                        </a:lnSpc>
                      </a:pPr>
                      <a:r>
                        <a:rPr lang="uz-Cyrl-UZ" sz="900" b="0" kern="1200" noProof="0" dirty="0">
                          <a:solidFill>
                            <a:schemeClr val="tx1"/>
                          </a:solidFill>
                          <a:latin typeface="+mn-lt"/>
                          <a:ea typeface="+mn-ea"/>
                          <a:cs typeface="Arial" panose="020B0604020202020204" pitchFamily="34" charset="0"/>
                        </a:rPr>
                        <a:t>1967 йил, </a:t>
                      </a:r>
                      <a:r>
                        <a:rPr lang="uz-Cyrl-UZ" sz="900" b="0" noProof="0" dirty="0">
                          <a:solidFill>
                            <a:schemeClr val="tx1"/>
                          </a:solidFill>
                          <a:latin typeface="+mn-lt"/>
                        </a:rPr>
                        <a:t>ҚР Нукус ша</a:t>
                      </a: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ҳри</a:t>
                      </a: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err="1">
                          <a:solidFill>
                            <a:schemeClr val="tx1"/>
                          </a:solidFill>
                          <a:latin typeface="+mn-lt"/>
                          <a:ea typeface="+mn-ea"/>
                          <a:cs typeface="Arial" panose="020B0604020202020204" pitchFamily="34" charset="0"/>
                        </a:rPr>
                        <a:t>Маълумотга</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эга</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эмас</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93173">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80660">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1988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театр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рассомлик</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санъат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5527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Драма ва кино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91384">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91384">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03486">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839061252"/>
              </p:ext>
            </p:extLst>
          </p:nvPr>
        </p:nvGraphicFramePr>
        <p:xfrm>
          <a:off x="3674526" y="865689"/>
          <a:ext cx="3172841" cy="5962272"/>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71671">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782801">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2003 йилдан буён</a:t>
                      </a:r>
                      <a:r>
                        <a:rPr lang="uz-Cyrl-UZ" sz="900" b="0" kern="1200" noProof="0" dirty="0">
                          <a:solidFill>
                            <a:schemeClr val="tx1"/>
                          </a:solidFill>
                          <a:latin typeface="+mn-lt"/>
                          <a:ea typeface="+mn-ea"/>
                          <a:cs typeface="+mn-cs"/>
                        </a:rPr>
                        <a:t> </a:t>
                      </a:r>
                      <a:r>
                        <a:rPr lang="uz-Cyrl-UZ" sz="900" kern="1200" dirty="0">
                          <a:solidFill>
                            <a:schemeClr val="tx1"/>
                          </a:solidFill>
                          <a:effectLst/>
                          <a:latin typeface="+mn-lt"/>
                          <a:ea typeface="Calibri" panose="020F0502020204030204" pitchFamily="34" charset="0"/>
                          <a:cs typeface="Times New Roman" panose="02020603050405020304" pitchFamily="18" charset="0"/>
                        </a:rPr>
                        <a:t>Қорақалпоқ давлат ёш томошабинлар театри сахналаштирувчи режиссёри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77331">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30907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38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32013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b="0" kern="1200" noProof="0" dirty="0">
                          <a:solidFill>
                            <a:schemeClr val="tx1"/>
                          </a:solidFill>
                          <a:latin typeface="+mn-lt"/>
                          <a:ea typeface="+mn-ea"/>
                          <a:cs typeface="+mn-cs"/>
                        </a:rPr>
                        <a:t>Й</a:t>
                      </a:r>
                      <a:r>
                        <a:rPr lang="ru-RU" sz="900" b="0" kern="1200" noProof="0" dirty="0">
                          <a:solidFill>
                            <a:schemeClr val="tx1"/>
                          </a:solidFill>
                          <a:latin typeface="+mn-lt"/>
                          <a:ea typeface="+mn-ea"/>
                          <a:cs typeface="+mn-cs"/>
                        </a:rPr>
                        <a:t>ў</a:t>
                      </a:r>
                      <a:r>
                        <a:rPr lang="uz-Cyrl-UZ" sz="900" kern="1200" dirty="0">
                          <a:solidFill>
                            <a:schemeClr val="tx1"/>
                          </a:solidFill>
                          <a:effectLst/>
                          <a:latin typeface="+mn-lt"/>
                          <a:ea typeface="Calibri" panose="020F0502020204030204" pitchFamily="34" charset="0"/>
                          <a:cs typeface="Times New Roman" panose="02020603050405020304" pitchFamily="18" charset="0"/>
                        </a:rPr>
                        <a:t>қ</a:t>
                      </a:r>
                      <a:endParaRPr lang="ru-RU" sz="900" kern="120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52183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b="0" kern="1200" noProof="0" dirty="0">
                          <a:solidFill>
                            <a:schemeClr val="tx1"/>
                          </a:solidFill>
                          <a:latin typeface="+mn-lt"/>
                          <a:ea typeface="+mn-ea"/>
                          <a:cs typeface="+mn-cs"/>
                        </a:rPr>
                        <a:t>Й</a:t>
                      </a:r>
                      <a:r>
                        <a:rPr lang="ru-RU" sz="900" b="0" kern="1200" noProof="0" dirty="0">
                          <a:solidFill>
                            <a:schemeClr val="tx1"/>
                          </a:solidFill>
                          <a:latin typeface="+mn-lt"/>
                          <a:ea typeface="+mn-ea"/>
                          <a:cs typeface="+mn-cs"/>
                        </a:rPr>
                        <a:t>ў</a:t>
                      </a:r>
                      <a:r>
                        <a:rPr lang="uz-Cyrl-UZ" sz="900" kern="1200" dirty="0">
                          <a:solidFill>
                            <a:schemeClr val="tx1"/>
                          </a:solidFill>
                          <a:effectLst/>
                          <a:latin typeface="+mn-lt"/>
                          <a:ea typeface="Calibri" panose="020F0502020204030204" pitchFamily="34" charset="0"/>
                          <a:cs typeface="Times New Roman" panose="02020603050405020304" pitchFamily="18" charset="0"/>
                        </a:rPr>
                        <a:t>қ</a:t>
                      </a:r>
                      <a:endParaRPr lang="ru-RU" sz="900" kern="120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61304">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41480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Й</a:t>
                      </a:r>
                      <a:r>
                        <a:rPr lang="ru-RU" sz="900" b="0" kern="1200" noProof="0" dirty="0">
                          <a:solidFill>
                            <a:schemeClr val="tx1"/>
                          </a:solidFill>
                          <a:latin typeface="+mn-lt"/>
                          <a:ea typeface="+mn-ea"/>
                          <a:cs typeface="+mn-cs"/>
                        </a:rPr>
                        <a:t>ў</a:t>
                      </a:r>
                      <a:r>
                        <a:rPr lang="uz-Cyrl-UZ" sz="900" kern="1200" dirty="0">
                          <a:solidFill>
                            <a:schemeClr val="tx1"/>
                          </a:solidFill>
                          <a:effectLst/>
                          <a:latin typeface="+mn-lt"/>
                          <a:ea typeface="Calibri" panose="020F0502020204030204" pitchFamily="34" charset="0"/>
                          <a:cs typeface="Times New Roman" panose="02020603050405020304" pitchFamily="18" charset="0"/>
                        </a:rPr>
                        <a:t>қ</a:t>
                      </a:r>
                      <a:endParaRPr lang="ru-RU" sz="900" kern="1200" dirty="0">
                        <a:solidFill>
                          <a:schemeClr val="tx1"/>
                        </a:solidFill>
                        <a:effectLst/>
                        <a:latin typeface="+mn-lt"/>
                        <a:ea typeface="Calibri" panose="020F0502020204030204" pitchFamily="34" charset="0"/>
                        <a:cs typeface="Times New Roman" panose="02020603050405020304" pitchFamily="18" charset="0"/>
                      </a:endParaRPr>
                    </a:p>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52353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Й</a:t>
                      </a:r>
                      <a:r>
                        <a:rPr lang="ru-RU" sz="900" b="0" kern="1200" noProof="0" dirty="0">
                          <a:solidFill>
                            <a:schemeClr val="tx1"/>
                          </a:solidFill>
                          <a:latin typeface="+mn-lt"/>
                          <a:ea typeface="+mn-ea"/>
                          <a:cs typeface="+mn-cs"/>
                        </a:rPr>
                        <a:t>ў</a:t>
                      </a:r>
                      <a:r>
                        <a:rPr lang="uz-Cyrl-UZ" sz="900" kern="1200" dirty="0">
                          <a:solidFill>
                            <a:schemeClr val="tx1"/>
                          </a:solidFill>
                          <a:effectLst/>
                          <a:latin typeface="+mn-lt"/>
                          <a:ea typeface="Calibri" panose="020F0502020204030204" pitchFamily="34" charset="0"/>
                          <a:cs typeface="Times New Roman" panose="02020603050405020304" pitchFamily="18" charset="0"/>
                        </a:rPr>
                        <a:t>қ</a:t>
                      </a:r>
                      <a:endParaRPr lang="ru-RU" sz="900" kern="1200" dirty="0">
                        <a:solidFill>
                          <a:schemeClr val="tx1"/>
                        </a:solidFill>
                        <a:effectLst/>
                        <a:latin typeface="+mn-lt"/>
                        <a:ea typeface="Calibri" panose="020F0502020204030204" pitchFamily="34" charset="0"/>
                        <a:cs typeface="Times New Roman" panose="02020603050405020304" pitchFamily="18" charset="0"/>
                      </a:endParaRPr>
                    </a:p>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2013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Й</a:t>
                      </a:r>
                      <a:r>
                        <a:rPr lang="ru-RU" sz="900" b="0" kern="1200" noProof="0" dirty="0">
                          <a:solidFill>
                            <a:schemeClr val="tx1"/>
                          </a:solidFill>
                          <a:latin typeface="+mn-lt"/>
                          <a:ea typeface="+mn-ea"/>
                          <a:cs typeface="+mn-cs"/>
                        </a:rPr>
                        <a:t>ў</a:t>
                      </a:r>
                      <a:r>
                        <a:rPr lang="uz-Cyrl-UZ" sz="900" kern="1200" dirty="0">
                          <a:solidFill>
                            <a:schemeClr val="tx1"/>
                          </a:solidFill>
                          <a:effectLst/>
                          <a:latin typeface="+mn-lt"/>
                          <a:ea typeface="Calibri" panose="020F0502020204030204" pitchFamily="34" charset="0"/>
                          <a:cs typeface="Times New Roman" panose="02020603050405020304" pitchFamily="18" charset="0"/>
                        </a:rPr>
                        <a:t>қ</a:t>
                      </a:r>
                      <a:endParaRPr lang="ru-RU" sz="900" kern="1200" dirty="0">
                        <a:solidFill>
                          <a:schemeClr val="tx1"/>
                        </a:solidFill>
                        <a:effectLst/>
                        <a:latin typeface="+mn-lt"/>
                        <a:ea typeface="Calibri" panose="020F0502020204030204" pitchFamily="34" charset="0"/>
                        <a:cs typeface="Times New Roman" panose="02020603050405020304" pitchFamily="18" charset="0"/>
                      </a:endParaRPr>
                    </a:p>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342216">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417433">
                <a:tc gridSpan="2">
                  <a:txBody>
                    <a:bodyPr/>
                    <a:lstStyle/>
                    <a:p>
                      <a:r>
                        <a:rPr lang="uz-Cyrl-UZ" sz="900" kern="1200" dirty="0">
                          <a:solidFill>
                            <a:schemeClr val="tx1"/>
                          </a:solidFill>
                          <a:effectLst/>
                          <a:latin typeface="+mn-lt"/>
                          <a:ea typeface="Calibri" panose="020F0502020204030204" pitchFamily="34" charset="0"/>
                          <a:cs typeface="Times New Roman" panose="02020603050405020304" pitchFamily="18" charset="0"/>
                        </a:rPr>
                        <a:t>2021 й. Қорақалпоғистон Республикаси Жўқорғи Кенгесининг “Фаҳрий ёрлиғи” билан тақдирланган</a:t>
                      </a:r>
                      <a:r>
                        <a:rPr lang="uz-Cyrl-UZ" sz="900" kern="1200" dirty="0" smtClean="0">
                          <a:solidFill>
                            <a:schemeClr val="tx1"/>
                          </a:solidFill>
                          <a:effectLst/>
                          <a:latin typeface="+mn-lt"/>
                          <a:ea typeface="Calibri" panose="020F0502020204030204" pitchFamily="34" charset="0"/>
                          <a:cs typeface="Times New Roman" panose="02020603050405020304" pitchFamily="18" charset="0"/>
                        </a:rPr>
                        <a:t>.</a:t>
                      </a:r>
                      <a:endParaRPr lang="ru-RU" sz="900" kern="1200" dirty="0">
                        <a:solidFill>
                          <a:schemeClr val="tx1"/>
                        </a:solidFill>
                        <a:effectLst/>
                        <a:latin typeface="+mn-lt"/>
                        <a:ea typeface="Calibri" panose="020F0502020204030204" pitchFamily="34" charset="0"/>
                        <a:cs typeface="Times New Roman" panose="02020603050405020304" pitchFamily="18" charset="0"/>
                      </a:endParaRPr>
                    </a:p>
                    <a:p>
                      <a:r>
                        <a:rPr lang="uz-Cyrl-UZ" sz="900" kern="1200" dirty="0">
                          <a:solidFill>
                            <a:schemeClr val="tx1"/>
                          </a:solidFill>
                          <a:effectLst/>
                          <a:latin typeface="+mn-lt"/>
                          <a:ea typeface="Calibri" panose="020F0502020204030204" pitchFamily="34" charset="0"/>
                          <a:cs typeface="Times New Roman" panose="02020603050405020304" pitchFamily="18" charset="0"/>
                        </a:rPr>
                        <a:t>2023 й. Қорақалпоғистон Республикаси Жўқорғи Кенгеси Президиумининг “Ватан фидойиси” кўкрак нишони билан тақдирланган</a:t>
                      </a:r>
                      <a:r>
                        <a:rPr lang="uz-Cyrl-UZ" sz="900" kern="1200" dirty="0" smtClean="0">
                          <a:solidFill>
                            <a:schemeClr val="tx1"/>
                          </a:solidFill>
                          <a:effectLst/>
                          <a:latin typeface="+mn-lt"/>
                          <a:ea typeface="Calibri" panose="020F0502020204030204" pitchFamily="34" charset="0"/>
                          <a:cs typeface="Times New Roman" panose="02020603050405020304" pitchFamily="18" charset="0"/>
                        </a:rPr>
                        <a:t>.</a:t>
                      </a:r>
                      <a:endParaRPr lang="uz-Cyrl-UZ" sz="900" kern="1200" dirty="0">
                        <a:solidFill>
                          <a:schemeClr val="tx1"/>
                        </a:solidFill>
                        <a:effectLst/>
                        <a:latin typeface="+mn-lt"/>
                        <a:ea typeface="Calibri" panose="020F0502020204030204" pitchFamily="34" charset="0"/>
                        <a:cs typeface="Times New Roman" panose="02020603050405020304" pitchFamily="18" charset="0"/>
                      </a:endParaRPr>
                    </a:p>
                    <a:p>
                      <a:r>
                        <a:rPr lang="uz-Cyrl-UZ" sz="900" noProof="0" dirty="0">
                          <a:effectLst/>
                          <a:latin typeface="+mn-lt"/>
                          <a:ea typeface="Calibri" panose="020F0502020204030204" pitchFamily="34" charset="0"/>
                          <a:cs typeface="Times New Roman" panose="02020603050405020304" pitchFamily="18" charset="0"/>
                        </a:rPr>
                        <a:t>2024 й. </a:t>
                      </a:r>
                      <a:r>
                        <a:rPr lang="en-US" sz="900" noProof="0" dirty="0">
                          <a:effectLst/>
                          <a:latin typeface="+mn-lt"/>
                          <a:ea typeface="Calibri" panose="020F0502020204030204" pitchFamily="34" charset="0"/>
                          <a:cs typeface="Times New Roman" panose="02020603050405020304" pitchFamily="18" charset="0"/>
                        </a:rPr>
                        <a:t>“</a:t>
                      </a:r>
                      <a:r>
                        <a:rPr lang="ru-RU" sz="900" noProof="0" dirty="0" err="1">
                          <a:effectLst/>
                          <a:latin typeface="+mn-lt"/>
                          <a:ea typeface="Calibri" panose="020F0502020204030204" pitchFamily="34" charset="0"/>
                          <a:cs typeface="Times New Roman" panose="02020603050405020304" pitchFamily="18" charset="0"/>
                        </a:rPr>
                        <a:t>Д</a:t>
                      </a:r>
                      <a:r>
                        <a:rPr lang="ru-RU" sz="900" b="0" kern="1200" noProof="0" dirty="0" err="1">
                          <a:solidFill>
                            <a:schemeClr val="tx1"/>
                          </a:solidFill>
                          <a:latin typeface="+mn-lt"/>
                          <a:ea typeface="+mn-ea"/>
                          <a:cs typeface="+mn-cs"/>
                        </a:rPr>
                        <a:t>ў</a:t>
                      </a:r>
                      <a:r>
                        <a:rPr lang="ru-RU" sz="900" noProof="0" dirty="0" err="1">
                          <a:effectLst/>
                          <a:latin typeface="+mn-lt"/>
                          <a:ea typeface="Calibri" panose="020F0502020204030204" pitchFamily="34" charset="0"/>
                          <a:cs typeface="Times New Roman" panose="02020603050405020304" pitchFamily="18" charset="0"/>
                        </a:rPr>
                        <a:t>стлик</a:t>
                      </a:r>
                      <a:r>
                        <a:rPr lang="en-US" sz="900" noProof="0" dirty="0">
                          <a:effectLst/>
                          <a:latin typeface="+mn-lt"/>
                          <a:ea typeface="Calibri" panose="020F0502020204030204" pitchFamily="34" charset="0"/>
                          <a:cs typeface="Times New Roman" panose="02020603050405020304" pitchFamily="18" charset="0"/>
                        </a:rPr>
                        <a:t>”</a:t>
                      </a:r>
                      <a:r>
                        <a:rPr lang="ru-RU" sz="900" noProof="0" dirty="0">
                          <a:effectLst/>
                          <a:latin typeface="+mn-lt"/>
                          <a:ea typeface="Calibri" panose="020F0502020204030204" pitchFamily="34" charset="0"/>
                          <a:cs typeface="Times New Roman" panose="02020603050405020304" pitchFamily="18" charset="0"/>
                        </a:rPr>
                        <a:t> </a:t>
                      </a:r>
                      <a:r>
                        <a:rPr lang="uz-Cyrl-UZ" sz="900" b="0" noProof="0" dirty="0">
                          <a:solidFill>
                            <a:schemeClr val="tx1"/>
                          </a:solidFill>
                          <a:latin typeface="+mn-lt"/>
                        </a:rPr>
                        <a:t>ордени</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235351587"/>
              </p:ext>
            </p:extLst>
          </p:nvPr>
        </p:nvGraphicFramePr>
        <p:xfrm>
          <a:off x="6949857" y="869287"/>
          <a:ext cx="2817247" cy="5949244"/>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35314">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1458">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14813">
                <a:tc>
                  <a:txBody>
                    <a:bodyPr/>
                    <a:lstStyle/>
                    <a:p>
                      <a:pPr algn="just">
                        <a:lnSpc>
                          <a:spcPct val="85000"/>
                        </a:lnSpc>
                      </a:pPr>
                      <a:r>
                        <a:rPr lang="uz-Cyrl-UZ" sz="900" b="0" kern="1200" baseline="0" dirty="0" smtClean="0">
                          <a:solidFill>
                            <a:schemeClr val="tx1"/>
                          </a:solidFill>
                          <a:latin typeface="+mn-lt"/>
                          <a:ea typeface="+mn-ea"/>
                          <a:cs typeface="+mn-cs"/>
                        </a:rPr>
                        <a:t>    </a:t>
                      </a:r>
                      <a:r>
                        <a:rPr lang="uz-Cyrl-UZ" sz="900" b="0" kern="1200" dirty="0" smtClean="0">
                          <a:solidFill>
                            <a:schemeClr val="tx1"/>
                          </a:solidFill>
                          <a:latin typeface="+mn-lt"/>
                          <a:ea typeface="+mn-ea"/>
                          <a:cs typeface="+mn-cs"/>
                        </a:rPr>
                        <a:t>Сахналаштирувчи </a:t>
                      </a:r>
                      <a:r>
                        <a:rPr lang="uz-Cyrl-UZ" sz="900" b="0" kern="1200" dirty="0">
                          <a:solidFill>
                            <a:schemeClr val="tx1"/>
                          </a:solidFill>
                          <a:latin typeface="+mn-lt"/>
                          <a:ea typeface="+mn-ea"/>
                          <a:cs typeface="+mn-cs"/>
                        </a:rPr>
                        <a:t>режиссёр сифатида ҳам бир қанча спектаклларни сахналаштирган. Жумладан, Қорақалпоғистон Республикасида меҳнати синган санъат арбоби П.Айтмуратовнинг “Тўнғич мухаббат”, “Буюк Ипак йўли”, Қорақалпоғистон Республикасида хизмат кўрсатган маданият ходими Г.Турсынованинг “Мухаббатим-умрим”, “Дангаса маймун”, “Хиёнат қилма дўстинга”, “Сабр туби - сариқ олтин”, шунингдек, Ж.Хожановнинг “Мардлик ва ёвузлик”, “Ботир ҳақида эртак”, Э.Уриновнинг “Бахтим менинг фарзандим”, Э.Сабировнинг “Қўпол қўчқор”, М.Каримнинг “Сеҳрли тегирмон”, М.Бегимовнинг “Тошгина, тошбақа ва тулки”, Т.Қайыпбергеновнинг “Саҳро булбули”, Т.Минулиннинг “Бир қизга тўрт ошиқ”, Ш.Перронинг “Буратино”, Виллиам Шекспирнинг “Ромео ва Джульетта”, Антуан де Сент-Экзюперининг “Кичкина шаҳзода”, Қорақалпоғистон Республикасида хизмат кўрсатган артист Р.Пиязованинг “Қор бобога хат”, С.Белов ва С.Куваевларнинг “Кучукча бўлишни хохламайман” каби тарбиявий аҳамиятга эга спектаклларни сахналаштирган. Режиссёр ассистенти сифатида қирғиз ёзувчиси Ч.Айтматовнинг “Асрга татигулик кун” романи асосида қайта ишланган “Исканжа” спектаклини сахналаштиришда астоидил хизмат қилган. 2023 йил Маҳмудхўжа Беҳбудийнинг “Падаркуш” спектаклини сахналаштирган ва мусиқаларини танлаган.</a:t>
                      </a:r>
                    </a:p>
                    <a:p>
                      <a:pPr marL="0" algn="just" defTabSz="914400" rtl="0" eaLnBrk="1" latinLnBrk="0" hangingPunct="1">
                        <a:lnSpc>
                          <a:spcPct val="85000"/>
                        </a:lnSpc>
                      </a:pPr>
                      <a:r>
                        <a:rPr lang="kk-KZ" sz="900" b="0" kern="1200" dirty="0">
                          <a:solidFill>
                            <a:schemeClr val="tx1"/>
                          </a:solidFill>
                          <a:latin typeface="+mn-lt"/>
                          <a:ea typeface="+mn-ea"/>
                          <a:cs typeface="+mn-cs"/>
                        </a:rPr>
                        <a:t>   </a:t>
                      </a:r>
                      <a:r>
                        <a:rPr lang="uz-Cyrl-UZ" sz="900" b="0" kern="1200" dirty="0">
                          <a:solidFill>
                            <a:schemeClr val="tx1"/>
                          </a:solidFill>
                          <a:latin typeface="+mn-lt"/>
                          <a:ea typeface="+mn-ea"/>
                          <a:cs typeface="+mn-cs"/>
                        </a:rPr>
                        <a:t>2021 йил машҳур ёзувчи Уиллиам Шекспирнинг классик асарларидан “Ромео ва Джульетта” асари сахналаштирилиб, театр томошабинларининг сонини яна да орттирди. </a:t>
                      </a:r>
                      <a:endParaRPr lang="ru-RU" sz="900" b="0" kern="1200" dirty="0">
                        <a:solidFill>
                          <a:schemeClr val="tx1"/>
                        </a:solidFill>
                        <a:latin typeface="+mn-lt"/>
                        <a:ea typeface="+mn-ea"/>
                        <a:cs typeface="+mn-cs"/>
                      </a:endParaRPr>
                    </a:p>
                    <a:p>
                      <a:pPr marL="0" algn="just" defTabSz="914400" rtl="0" eaLnBrk="1" latinLnBrk="0" hangingPunct="1">
                        <a:lnSpc>
                          <a:spcPct val="85000"/>
                        </a:lnSpc>
                      </a:pPr>
                      <a:r>
                        <a:rPr lang="uz-Cyrl-UZ" sz="900" b="0" kern="1200" dirty="0">
                          <a:solidFill>
                            <a:schemeClr val="tx1"/>
                          </a:solidFill>
                          <a:latin typeface="+mn-lt"/>
                          <a:ea typeface="+mn-ea"/>
                          <a:cs typeface="+mn-cs"/>
                        </a:rPr>
                        <a:t>   2022 йил Ўзбекистон Республикаси Маданият вазирлигининг “Маданият ва санъат фидокори” кўкрак нишони билан тақдирланган. Жамоада устозлик даражасидаги ходим.</a:t>
                      </a:r>
                    </a:p>
                    <a:p>
                      <a:pPr marL="0" algn="just" defTabSz="914400" rtl="0" eaLnBrk="1" latinLnBrk="0" hangingPunct="1">
                        <a:lnSpc>
                          <a:spcPct val="85000"/>
                        </a:lnSpc>
                      </a:pPr>
                      <a:r>
                        <a:rPr lang="uz-Cyrl-UZ" sz="900" b="0" kern="1200" dirty="0">
                          <a:solidFill>
                            <a:schemeClr val="tx1"/>
                          </a:solidFill>
                          <a:latin typeface="+mn-lt"/>
                          <a:ea typeface="+mn-ea"/>
                          <a:cs typeface="+mn-cs"/>
                        </a:rPr>
                        <a:t>  2026 йилда Тоғай Муроднинг </a:t>
                      </a:r>
                      <a:r>
                        <a:rPr lang="en-US" sz="900" b="0" kern="1200" dirty="0">
                          <a:solidFill>
                            <a:schemeClr val="tx1"/>
                          </a:solidFill>
                          <a:latin typeface="+mn-lt"/>
                          <a:ea typeface="+mn-ea"/>
                          <a:cs typeface="+mn-cs"/>
                        </a:rPr>
                        <a:t>“</a:t>
                      </a:r>
                      <a:r>
                        <a:rPr lang="ru-RU" sz="900" b="0" kern="1200" dirty="0">
                          <a:solidFill>
                            <a:schemeClr val="tx1"/>
                          </a:solidFill>
                          <a:latin typeface="+mn-lt"/>
                          <a:ea typeface="+mn-ea"/>
                          <a:cs typeface="+mn-cs"/>
                        </a:rPr>
                        <a:t>От </a:t>
                      </a:r>
                      <a:r>
                        <a:rPr lang="ru-RU" sz="900" b="0" kern="1200" dirty="0" err="1">
                          <a:solidFill>
                            <a:schemeClr val="tx1"/>
                          </a:solidFill>
                          <a:latin typeface="+mn-lt"/>
                          <a:ea typeface="+mn-ea"/>
                          <a:cs typeface="+mn-cs"/>
                        </a:rPr>
                        <a:t>йи</a:t>
                      </a:r>
                      <a:r>
                        <a:rPr lang="uz-Cyrl-UZ" sz="900" b="0" kern="1200" dirty="0">
                          <a:solidFill>
                            <a:schemeClr val="tx1"/>
                          </a:solidFill>
                          <a:latin typeface="+mn-lt"/>
                          <a:ea typeface="+mn-ea"/>
                          <a:cs typeface="+mn-cs"/>
                        </a:rPr>
                        <a:t>ғлаган томонда</a:t>
                      </a:r>
                      <a:r>
                        <a:rPr lang="en-US" sz="900" b="0" kern="1200" dirty="0">
                          <a:solidFill>
                            <a:schemeClr val="tx1"/>
                          </a:solidFill>
                          <a:latin typeface="+mn-lt"/>
                          <a:ea typeface="+mn-ea"/>
                          <a:cs typeface="+mn-cs"/>
                        </a:rPr>
                        <a:t>”</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спектаклини</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сахналаштиришган</a:t>
                      </a:r>
                      <a:r>
                        <a:rPr lang="ru-RU" sz="900" b="0" kern="1200" dirty="0">
                          <a:solidFill>
                            <a:schemeClr val="tx1"/>
                          </a:solidFill>
                          <a:latin typeface="+mn-lt"/>
                          <a:ea typeface="+mn-ea"/>
                          <a:cs typeface="+mn-cs"/>
                        </a:rPr>
                        <a:t>.</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2062">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94591">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келинадиган барча оммавий мадаий тадбирлар ва давлат тадбирлари, шунингдек, давлат қабулларида доимий иштирок этиб келган.</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a:extLst>
              <a:ext uri="{FF2B5EF4-FFF2-40B4-BE49-F238E27FC236}">
                <a16:creationId xmlns:a16="http://schemas.microsoft.com/office/drawing/2014/main" id="{9B2A3AFF-C8EE-D547-C434-BCE407FFE7AD}"/>
              </a:ext>
            </a:extLst>
          </p:cNvPr>
          <p:cNvPicPr>
            <a:picLocks noChangeAspect="1"/>
          </p:cNvPicPr>
          <p:nvPr/>
        </p:nvPicPr>
        <p:blipFill>
          <a:blip r:embed="rId2"/>
          <a:stretch>
            <a:fillRect/>
          </a:stretch>
        </p:blipFill>
        <p:spPr>
          <a:xfrm>
            <a:off x="222190" y="1107126"/>
            <a:ext cx="987845" cy="1079121"/>
          </a:xfrm>
          <a:prstGeom prst="rect">
            <a:avLst/>
          </a:prstGeom>
        </p:spPr>
      </p:pic>
    </p:spTree>
    <p:extLst>
      <p:ext uri="{BB962C8B-B14F-4D97-AF65-F5344CB8AC3E}">
        <p14:creationId xmlns:p14="http://schemas.microsoft.com/office/powerpoint/2010/main" val="461413438"/>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903262"/>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a:solidFill>
                            <a:schemeClr val="tx1"/>
                          </a:solidFill>
                          <a:latin typeface="+mn-lt"/>
                          <a:ea typeface="+mn-ea"/>
                          <a:cs typeface="+mn-cs"/>
                        </a:rPr>
                        <a:t>САПАРОВА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Райхан</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Утепбергеновна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noProof="0" dirty="0">
                          <a:solidFill>
                            <a:schemeClr val="tx1"/>
                          </a:solidFill>
                          <a:latin typeface="+mn-lt"/>
                        </a:rPr>
                        <a:t>ҚОРАҚАЛПОҚ</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15.04.1948</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noProof="0" dirty="0">
                          <a:solidFill>
                            <a:schemeClr val="tx1"/>
                          </a:solidFill>
                          <a:latin typeface="+mn-lt"/>
                        </a:rPr>
                        <a:t>ҚР Нукус</a:t>
                      </a:r>
                      <a:r>
                        <a:rPr lang="uz-Cyrl-UZ" sz="800" b="0" kern="1200" dirty="0">
                          <a:solidFill>
                            <a:schemeClr val="tx1"/>
                          </a:solidFill>
                          <a:latin typeface="+mn-lt"/>
                          <a:ea typeface="+mn-ea"/>
                          <a:cs typeface="+mn-cs"/>
                        </a:rPr>
                        <a:t>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1 нафар ўғил ва 1 нафар қиз фарзандлари бор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САПАРОВ Халмурат </a:t>
                      </a:r>
                    </a:p>
                    <a:p>
                      <a:pPr algn="l">
                        <a:lnSpc>
                          <a:spcPct val="85000"/>
                        </a:lnSpc>
                      </a:pPr>
                      <a:r>
                        <a:rPr lang="uz-Cyrl-UZ" sz="900" b="0" kern="1200" noProof="0" dirty="0">
                          <a:solidFill>
                            <a:schemeClr val="tx1"/>
                          </a:solidFill>
                          <a:latin typeface="+mn-lt"/>
                          <a:ea typeface="+mn-ea"/>
                          <a:cs typeface="Arial" panose="020B0604020202020204" pitchFamily="34" charset="0"/>
                        </a:rPr>
                        <a:t>1910 йил, </a:t>
                      </a:r>
                      <a:r>
                        <a:rPr lang="uz-Cyrl-UZ" sz="900" b="0" noProof="0" dirty="0">
                          <a:solidFill>
                            <a:schemeClr val="tx1"/>
                          </a:solidFill>
                          <a:latin typeface="+mn-lt"/>
                        </a:rPr>
                        <a:t>ҚР Чимбой тумани</a:t>
                      </a: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1983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Бердақ</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номидаги</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мусиқа</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театри</a:t>
                      </a:r>
                      <a:r>
                        <a:rPr lang="ru-RU" sz="900" b="0" kern="1200" noProof="0" dirty="0">
                          <a:solidFill>
                            <a:schemeClr val="tx1"/>
                          </a:solidFill>
                          <a:latin typeface="+mn-lt"/>
                          <a:ea typeface="+mn-ea"/>
                          <a:cs typeface="Arial" panose="020B0604020202020204" pitchFamily="34" charset="0"/>
                        </a:rPr>
                        <a:t> </a:t>
                      </a:r>
                      <a:r>
                        <a:rPr lang="ru-RU" sz="900" b="0" kern="1200" dirty="0">
                          <a:solidFill>
                            <a:schemeClr val="tx1"/>
                          </a:solidFill>
                          <a:latin typeface="+mn-lt"/>
                          <a:ea typeface="+mn-ea"/>
                          <a:cs typeface="+mn-cs"/>
                        </a:rPr>
                        <a:t>артист</a:t>
                      </a:r>
                      <a:r>
                        <a:rPr lang="ru-RU" sz="900" b="0" kern="1200" noProof="0" dirty="0">
                          <a:solidFill>
                            <a:schemeClr val="tx1"/>
                          </a:solidFill>
                          <a:latin typeface="+mn-lt"/>
                          <a:ea typeface="+mn-ea"/>
                          <a:cs typeface="Arial" panose="020B0604020202020204" pitchFamily="34" charset="0"/>
                        </a:rPr>
                        <a:t>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АЛЛАМУРАТОВА Сулу</a:t>
                      </a:r>
                    </a:p>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Arial" panose="020B0604020202020204" pitchFamily="34" charset="0"/>
                        </a:rPr>
                        <a:t>1918 йил, </a:t>
                      </a:r>
                      <a:r>
                        <a:rPr lang="uz-Cyrl-UZ" sz="900" b="0" noProof="0" dirty="0">
                          <a:solidFill>
                            <a:schemeClr val="tx1"/>
                          </a:solidFill>
                          <a:latin typeface="+mn-lt"/>
                        </a:rPr>
                        <a:t>ҚР Қ</a:t>
                      </a: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ўн</a:t>
                      </a:r>
                      <a:r>
                        <a:rPr lang="uz-Cyrl-UZ" sz="900" b="0" kern="1200" noProof="0" dirty="0">
                          <a:solidFill>
                            <a:schemeClr val="tx1"/>
                          </a:solidFill>
                          <a:latin typeface="+mn-lt"/>
                          <a:ea typeface="+mn-ea"/>
                          <a:cs typeface="+mn-cs"/>
                        </a:rPr>
                        <a:t>ғирот тумани</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2020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Бердақ</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номидаги</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мусиқа</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театри</a:t>
                      </a:r>
                      <a:r>
                        <a:rPr lang="ru-RU" sz="900" b="0" kern="1200" noProof="0" dirty="0">
                          <a:solidFill>
                            <a:schemeClr val="tx1"/>
                          </a:solidFill>
                          <a:latin typeface="+mn-lt"/>
                          <a:ea typeface="+mn-ea"/>
                          <a:cs typeface="Arial" panose="020B0604020202020204" pitchFamily="34" charset="0"/>
                        </a:rPr>
                        <a:t> </a:t>
                      </a:r>
                      <a:r>
                        <a:rPr lang="ru-RU" sz="900" b="0" kern="1200" dirty="0">
                          <a:solidFill>
                            <a:schemeClr val="tx1"/>
                          </a:solidFill>
                          <a:latin typeface="+mn-lt"/>
                          <a:ea typeface="+mn-ea"/>
                          <a:cs typeface="+mn-cs"/>
                        </a:rPr>
                        <a:t>артист</a:t>
                      </a:r>
                      <a:r>
                        <a:rPr lang="ru-RU" sz="900" b="0" kern="1200" noProof="0" dirty="0">
                          <a:solidFill>
                            <a:schemeClr val="tx1"/>
                          </a:solidFill>
                          <a:latin typeface="+mn-lt"/>
                          <a:ea typeface="+mn-ea"/>
                          <a:cs typeface="Arial" panose="020B0604020202020204" pitchFamily="34" charset="0"/>
                        </a:rPr>
                        <a:t>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ХАЛИМОВ Сарвар Алимович</a:t>
                      </a:r>
                    </a:p>
                    <a:p>
                      <a:pPr algn="l">
                        <a:lnSpc>
                          <a:spcPct val="85000"/>
                        </a:lnSpc>
                      </a:pPr>
                      <a:r>
                        <a:rPr lang="uz-Cyrl-UZ" sz="900" b="0" kern="1200" noProof="0" dirty="0">
                          <a:solidFill>
                            <a:schemeClr val="tx1"/>
                          </a:solidFill>
                          <a:latin typeface="+mn-lt"/>
                          <a:ea typeface="+mn-ea"/>
                          <a:cs typeface="Arial" panose="020B0604020202020204" pitchFamily="34" charset="0"/>
                        </a:rPr>
                        <a:t>1941 йил, </a:t>
                      </a:r>
                      <a:r>
                        <a:rPr lang="uz-Cyrl-UZ" sz="900" b="0" noProof="0" dirty="0">
                          <a:solidFill>
                            <a:schemeClr val="tx1"/>
                          </a:solidFill>
                          <a:latin typeface="+mn-lt"/>
                        </a:rPr>
                        <a:t>ҚР Т</a:t>
                      </a: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ўртк</a:t>
                      </a:r>
                      <a:r>
                        <a:rPr lang="uz-Cyrl-UZ" sz="900" b="0" noProof="0" dirty="0">
                          <a:solidFill>
                            <a:schemeClr val="tx1"/>
                          </a:solidFill>
                          <a:latin typeface="+mn-lt"/>
                        </a:rPr>
                        <a:t>ул</a:t>
                      </a:r>
                      <a:r>
                        <a:rPr lang="uz-Cyrl-UZ" sz="900" b="0" kern="1200" dirty="0">
                          <a:solidFill>
                            <a:schemeClr val="tx1"/>
                          </a:solidFill>
                          <a:latin typeface="+mn-lt"/>
                          <a:ea typeface="+mn-ea"/>
                          <a:cs typeface="+mn-cs"/>
                        </a:rPr>
                        <a:t> тумани</a:t>
                      </a: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1979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uz-Cyrl-UZ" sz="900" b="0" noProof="0" dirty="0">
                          <a:solidFill>
                            <a:schemeClr val="tx1"/>
                          </a:solidFill>
                          <a:latin typeface="+mn-lt"/>
                        </a:rPr>
                        <a:t>Қора</a:t>
                      </a:r>
                      <a:r>
                        <a:rPr lang="uz-Cyrl-UZ" sz="900" b="0" kern="1200" noProof="0" dirty="0">
                          <a:solidFill>
                            <a:schemeClr val="tx1"/>
                          </a:solidFill>
                          <a:latin typeface="+mn-lt"/>
                          <a:ea typeface="+mn-ea"/>
                          <a:cs typeface="+mn-cs"/>
                        </a:rPr>
                        <a:t>қалпоқ давлат ёш томошабинлар театри бош инженери</a:t>
                      </a:r>
                      <a:r>
                        <a:rPr lang="ru-RU" sz="900" b="0" kern="1200" noProof="0" dirty="0">
                          <a:solidFill>
                            <a:schemeClr val="tx1"/>
                          </a:solidFill>
                          <a:latin typeface="+mn-lt"/>
                          <a:ea typeface="+mn-ea"/>
                          <a:cs typeface="Arial" panose="020B0604020202020204" pitchFamily="34" charset="0"/>
                        </a:rPr>
                        <a:t>) </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31719">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1971 й. </a:t>
                      </a:r>
                      <a:r>
                        <a:rPr lang="ru-RU" sz="900" b="0" kern="1200" noProof="0" dirty="0" err="1">
                          <a:solidFill>
                            <a:schemeClr val="tx1"/>
                          </a:solidFill>
                          <a:latin typeface="+mn-lt"/>
                          <a:ea typeface="+mn-ea"/>
                          <a:cs typeface="+mn-cs"/>
                        </a:rPr>
                        <a:t>А.Н.Островский</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номли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театр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рассомлик</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санъати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24380">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Драма ва кино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1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89"/>
          <a:ext cx="3172841" cy="5906309"/>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297538">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626664">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2005 йилдан буён нафақада. </a:t>
                      </a:r>
                      <a:r>
                        <a:rPr lang="uz-Cyrl-UZ" sz="900" b="0" noProof="0" dirty="0">
                          <a:solidFill>
                            <a:schemeClr val="tx1"/>
                          </a:solidFill>
                          <a:latin typeface="+mn-lt"/>
                        </a:rPr>
                        <a:t>Қора</a:t>
                      </a:r>
                      <a:r>
                        <a:rPr lang="uz-Cyrl-UZ" sz="900" b="0" kern="1200" noProof="0" dirty="0">
                          <a:solidFill>
                            <a:schemeClr val="tx1"/>
                          </a:solidFill>
                          <a:latin typeface="+mn-lt"/>
                          <a:ea typeface="+mn-ea"/>
                          <a:cs typeface="+mn-cs"/>
                        </a:rPr>
                        <a:t>қалпоқ давлат ёш томошабинлар театри актрисаси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22015">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9054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36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7746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16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4535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1986-2000 йй. - </a:t>
                      </a:r>
                      <a:r>
                        <a:rPr lang="uz-Cyrl-UZ" sz="900" b="0" noProof="0" dirty="0">
                          <a:solidFill>
                            <a:schemeClr val="tx1"/>
                          </a:solidFill>
                          <a:latin typeface="+mn-lt"/>
                        </a:rPr>
                        <a:t>Қора</a:t>
                      </a:r>
                      <a:r>
                        <a:rPr lang="uz-Cyrl-UZ" sz="900" b="0" kern="1200" noProof="0" dirty="0">
                          <a:solidFill>
                            <a:schemeClr val="tx1"/>
                          </a:solidFill>
                          <a:latin typeface="+mn-lt"/>
                          <a:ea typeface="+mn-ea"/>
                          <a:cs typeface="+mn-cs"/>
                        </a:rPr>
                        <a:t>қалпоқ давлат ёш томошабинлар театри директори</a:t>
                      </a:r>
                    </a:p>
                    <a:p>
                      <a:pPr marL="0" indent="0" algn="l">
                        <a:lnSpc>
                          <a:spcPct val="85000"/>
                        </a:lnSpc>
                      </a:pPr>
                      <a:r>
                        <a:rPr lang="uz-Cyrl-UZ" sz="900" b="0" kern="1200" noProof="0" dirty="0">
                          <a:solidFill>
                            <a:schemeClr val="tx1"/>
                          </a:solidFill>
                          <a:effectLst/>
                          <a:latin typeface="+mn-lt"/>
                          <a:ea typeface="+mn-ea"/>
                          <a:cs typeface="+mn-cs"/>
                        </a:rPr>
                        <a:t>2021-2023 йй. – </a:t>
                      </a:r>
                      <a:r>
                        <a:rPr lang="uz-Cyrl-UZ" sz="900" b="0" kern="1200" dirty="0">
                          <a:solidFill>
                            <a:schemeClr val="tx1"/>
                          </a:solidFill>
                          <a:latin typeface="+mn-lt"/>
                          <a:ea typeface="+mn-ea"/>
                          <a:cs typeface="+mn-cs"/>
                        </a:rPr>
                        <a:t>Ўзбекистон Театр арбоблари уюшмаси Қора</a:t>
                      </a: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қалпо</a:t>
                      </a:r>
                      <a:r>
                        <a:rPr lang="uz-Cyrl-UZ" sz="900" b="0" kern="1200" dirty="0">
                          <a:solidFill>
                            <a:schemeClr val="tx1"/>
                          </a:solidFill>
                          <a:latin typeface="+mn-lt"/>
                          <a:ea typeface="+mn-ea"/>
                          <a:cs typeface="+mn-cs"/>
                        </a:rPr>
                        <a:t>ғистон ҳудудий б</a:t>
                      </a:r>
                      <a:r>
                        <a:rPr lang="ru-RU" sz="900" b="0" kern="1200" noProof="0" dirty="0" err="1">
                          <a:solidFill>
                            <a:schemeClr val="tx1"/>
                          </a:solidFill>
                          <a:latin typeface="+mn-lt"/>
                          <a:ea typeface="+mn-ea"/>
                          <a:cs typeface="+mn-cs"/>
                        </a:rPr>
                        <a:t>ўлими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бошли</a:t>
                      </a:r>
                      <a:r>
                        <a:rPr lang="uz-Cyrl-UZ" sz="900" b="0" kern="1200" dirty="0">
                          <a:solidFill>
                            <a:schemeClr val="tx1"/>
                          </a:solidFill>
                          <a:latin typeface="+mn-lt"/>
                          <a:ea typeface="+mn-ea"/>
                          <a:cs typeface="+mn-cs"/>
                        </a:rPr>
                        <a:t>ғи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32065">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50184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2026 й. </a:t>
                      </a:r>
                      <a:r>
                        <a:rPr lang="en-US" sz="900" kern="1200" noProof="0" dirty="0">
                          <a:solidFill>
                            <a:schemeClr val="tx1"/>
                          </a:solidFill>
                          <a:effectLst/>
                          <a:latin typeface="+mn-lt"/>
                          <a:ea typeface="Calibri" panose="020F0502020204030204" pitchFamily="34" charset="0"/>
                          <a:cs typeface="Times New Roman" panose="02020603050405020304" pitchFamily="18" charset="0"/>
                        </a:rPr>
                        <a:t>“</a:t>
                      </a:r>
                      <a:r>
                        <a:rPr lang="ru-RU" sz="900" kern="1200" noProof="0" dirty="0" err="1">
                          <a:solidFill>
                            <a:schemeClr val="tx1"/>
                          </a:solidFill>
                          <a:effectLst/>
                          <a:latin typeface="+mn-lt"/>
                          <a:ea typeface="Calibri" panose="020F0502020204030204" pitchFamily="34" charset="0"/>
                          <a:cs typeface="Times New Roman" panose="02020603050405020304" pitchFamily="18" charset="0"/>
                        </a:rPr>
                        <a:t>Навба</a:t>
                      </a:r>
                      <a:r>
                        <a:rPr lang="uz-Cyrl-UZ" sz="900" b="0" kern="1200">
                          <a:solidFill>
                            <a:schemeClr val="tx1"/>
                          </a:solidFill>
                          <a:latin typeface="+mn-lt"/>
                          <a:ea typeface="+mn-ea"/>
                          <a:cs typeface="+mn-cs"/>
                        </a:rPr>
                        <a:t>ҳ</a:t>
                      </a:r>
                      <a:r>
                        <a:rPr lang="ru-RU" sz="900" kern="1200" noProof="0">
                          <a:solidFill>
                            <a:schemeClr val="tx1"/>
                          </a:solidFill>
                          <a:effectLst/>
                          <a:latin typeface="+mn-lt"/>
                          <a:ea typeface="Calibri" panose="020F0502020204030204" pitchFamily="34" charset="0"/>
                          <a:cs typeface="Times New Roman" panose="02020603050405020304" pitchFamily="18" charset="0"/>
                        </a:rPr>
                        <a:t>ор</a:t>
                      </a:r>
                      <a:r>
                        <a:rPr lang="en-US" sz="900" kern="1200" noProof="0" dirty="0">
                          <a:solidFill>
                            <a:schemeClr val="tx1"/>
                          </a:solidFill>
                          <a:effectLst/>
                          <a:latin typeface="+mn-lt"/>
                          <a:ea typeface="Calibri" panose="020F0502020204030204" pitchFamily="34" charset="0"/>
                          <a:cs typeface="Times New Roman" panose="02020603050405020304" pitchFamily="18" charset="0"/>
                        </a:rPr>
                        <a:t>”</a:t>
                      </a:r>
                      <a:r>
                        <a:rPr lang="ru-RU" sz="900" kern="1200" noProof="0" dirty="0">
                          <a:solidFill>
                            <a:schemeClr val="tx1"/>
                          </a:solidFill>
                          <a:effectLst/>
                          <a:latin typeface="+mn-lt"/>
                          <a:ea typeface="Calibri" panose="020F0502020204030204" pitchFamily="34" charset="0"/>
                          <a:cs typeface="Times New Roman" panose="02020603050405020304" pitchFamily="18" charset="0"/>
                        </a:rPr>
                        <a:t> </a:t>
                      </a: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сиҳатгоҳида даволанган</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3206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2026</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33520">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Юрак ва б</a:t>
                      </a:r>
                      <a:r>
                        <a:rPr lang="ru-RU" sz="900" b="0" kern="1200" noProof="0" dirty="0">
                          <a:solidFill>
                            <a:schemeClr val="tx1"/>
                          </a:solidFill>
                          <a:latin typeface="+mn-lt"/>
                          <a:ea typeface="+mn-ea"/>
                          <a:cs typeface="+mn-cs"/>
                        </a:rPr>
                        <a:t>ў</a:t>
                      </a:r>
                      <a:r>
                        <a:rPr lang="uz-Cyrl-UZ" sz="900" b="0" kern="1200" dirty="0">
                          <a:solidFill>
                            <a:schemeClr val="tx1"/>
                          </a:solidFill>
                          <a:latin typeface="+mn-lt"/>
                          <a:ea typeface="+mn-ea"/>
                          <a:cs typeface="+mn-cs"/>
                        </a:rPr>
                        <a:t>ғ</a:t>
                      </a: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им касалликлари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05308">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841916">
                <a:tc gridSpan="2">
                  <a:txBody>
                    <a:bodyPr/>
                    <a:lstStyle/>
                    <a:p>
                      <a:r>
                        <a:rPr lang="uz-Cyrl-UZ" sz="900" kern="1200" dirty="0">
                          <a:solidFill>
                            <a:schemeClr val="tx1"/>
                          </a:solidFill>
                          <a:effectLst/>
                          <a:latin typeface="+mn-lt"/>
                          <a:ea typeface="Calibri" panose="020F0502020204030204" pitchFamily="34" charset="0"/>
                          <a:cs typeface="Times New Roman" panose="02020603050405020304" pitchFamily="18" charset="0"/>
                        </a:rPr>
                        <a:t>1974 й. Қорақалпоғистон Республикаси Ж</a:t>
                      </a:r>
                      <a:r>
                        <a:rPr lang="ru-RU" sz="900" b="0" kern="1200" noProof="0" dirty="0">
                          <a:solidFill>
                            <a:schemeClr val="tx1"/>
                          </a:solidFill>
                          <a:latin typeface="+mn-lt"/>
                          <a:ea typeface="+mn-ea"/>
                          <a:cs typeface="+mn-cs"/>
                        </a:rPr>
                        <a:t>ў</a:t>
                      </a:r>
                      <a:r>
                        <a:rPr lang="uz-Cyrl-UZ" sz="900" kern="1200" dirty="0">
                          <a:solidFill>
                            <a:schemeClr val="tx1"/>
                          </a:solidFill>
                          <a:effectLst/>
                          <a:latin typeface="+mn-lt"/>
                          <a:ea typeface="Calibri" panose="020F0502020204030204" pitchFamily="34" charset="0"/>
                          <a:cs typeface="Times New Roman" panose="02020603050405020304" pitchFamily="18" charset="0"/>
                        </a:rPr>
                        <a:t>қорғи Кенгесининг </a:t>
                      </a:r>
                      <a:r>
                        <a:rPr lang="en-US" sz="900" kern="1200" dirty="0">
                          <a:solidFill>
                            <a:schemeClr val="tx1"/>
                          </a:solidFill>
                          <a:effectLst/>
                          <a:latin typeface="+mn-lt"/>
                          <a:ea typeface="Calibri" panose="020F0502020204030204" pitchFamily="34" charset="0"/>
                          <a:cs typeface="Times New Roman" panose="02020603050405020304" pitchFamily="18" charset="0"/>
                        </a:rPr>
                        <a:t>“</a:t>
                      </a:r>
                      <a:r>
                        <a:rPr lang="uz-Cyrl-UZ" sz="900" kern="1200" dirty="0">
                          <a:solidFill>
                            <a:schemeClr val="tx1"/>
                          </a:solidFill>
                          <a:effectLst/>
                          <a:latin typeface="+mn-lt"/>
                          <a:ea typeface="Calibri" panose="020F0502020204030204" pitchFamily="34" charset="0"/>
                          <a:cs typeface="Times New Roman" panose="02020603050405020304" pitchFamily="18" charset="0"/>
                        </a:rPr>
                        <a:t>Фахрий ёрлиғи</a:t>
                      </a:r>
                      <a:r>
                        <a:rPr lang="en-US" sz="900" kern="1200" dirty="0">
                          <a:solidFill>
                            <a:schemeClr val="tx1"/>
                          </a:solidFill>
                          <a:effectLst/>
                          <a:latin typeface="+mn-lt"/>
                          <a:ea typeface="Calibri" panose="020F0502020204030204" pitchFamily="34" charset="0"/>
                          <a:cs typeface="Times New Roman" panose="02020603050405020304" pitchFamily="18" charset="0"/>
                        </a:rPr>
                        <a:t>”</a:t>
                      </a:r>
                      <a:endParaRPr lang="ru-RU" sz="900" kern="1200" dirty="0">
                        <a:solidFill>
                          <a:schemeClr val="tx1"/>
                        </a:solidFill>
                        <a:effectLst/>
                        <a:latin typeface="+mn-lt"/>
                        <a:ea typeface="Calibri" panose="020F0502020204030204" pitchFamily="34" charset="0"/>
                        <a:cs typeface="Times New Roman" panose="02020603050405020304" pitchFamily="18" charset="0"/>
                      </a:endParaRPr>
                    </a:p>
                    <a:p>
                      <a:r>
                        <a:rPr lang="uz-Cyrl-UZ" sz="900" kern="1200" dirty="0">
                          <a:solidFill>
                            <a:schemeClr val="tx1"/>
                          </a:solidFill>
                          <a:effectLst/>
                          <a:latin typeface="+mn-lt"/>
                          <a:ea typeface="Calibri" panose="020F0502020204030204" pitchFamily="34" charset="0"/>
                          <a:cs typeface="Times New Roman" panose="02020603050405020304" pitchFamily="18" charset="0"/>
                        </a:rPr>
                        <a:t>1977 й. Қорақалпоғистон Республикасида хизмат кўрсатган артист</a:t>
                      </a:r>
                      <a:endParaRPr lang="ru-RU" sz="900" kern="1200" dirty="0">
                        <a:solidFill>
                          <a:schemeClr val="tx1"/>
                        </a:solidFill>
                        <a:effectLst/>
                        <a:latin typeface="+mn-lt"/>
                        <a:ea typeface="Calibri" panose="020F0502020204030204" pitchFamily="34" charset="0"/>
                        <a:cs typeface="Times New Roman" panose="02020603050405020304" pitchFamily="18" charset="0"/>
                      </a:endParaRPr>
                    </a:p>
                    <a:p>
                      <a:r>
                        <a:rPr lang="uz-Cyrl-UZ" sz="900" kern="1200" dirty="0">
                          <a:solidFill>
                            <a:schemeClr val="tx1"/>
                          </a:solidFill>
                          <a:effectLst/>
                          <a:latin typeface="+mn-lt"/>
                          <a:ea typeface="Calibri" panose="020F0502020204030204" pitchFamily="34" charset="0"/>
                          <a:cs typeface="Times New Roman" panose="02020603050405020304" pitchFamily="18" charset="0"/>
                        </a:rPr>
                        <a:t>1979 й. Қорақалпоғистон Ёшлар мукофоти лауреати</a:t>
                      </a:r>
                      <a:endParaRPr lang="ru-RU" sz="900" kern="1200" dirty="0">
                        <a:solidFill>
                          <a:schemeClr val="tx1"/>
                        </a:solidFill>
                        <a:effectLst/>
                        <a:latin typeface="+mn-lt"/>
                        <a:ea typeface="Calibri" panose="020F0502020204030204" pitchFamily="34" charset="0"/>
                        <a:cs typeface="Times New Roman" panose="02020603050405020304" pitchFamily="18" charset="0"/>
                      </a:endParaRPr>
                    </a:p>
                    <a:p>
                      <a:r>
                        <a:rPr lang="uz-Cyrl-UZ" sz="900" kern="1200" dirty="0">
                          <a:solidFill>
                            <a:schemeClr val="tx1"/>
                          </a:solidFill>
                          <a:effectLst/>
                          <a:latin typeface="+mn-lt"/>
                          <a:ea typeface="Calibri" panose="020F0502020204030204" pitchFamily="34" charset="0"/>
                          <a:cs typeface="Times New Roman" panose="02020603050405020304" pitchFamily="18" charset="0"/>
                        </a:rPr>
                        <a:t>1980 й. Қорақалпоғистон Республикаси Халқ артисти</a:t>
                      </a:r>
                      <a:endParaRPr lang="ru-RU" sz="900" kern="1200" dirty="0">
                        <a:solidFill>
                          <a:schemeClr val="tx1"/>
                        </a:solidFill>
                        <a:effectLst/>
                        <a:latin typeface="+mn-lt"/>
                        <a:ea typeface="Calibri" panose="020F0502020204030204" pitchFamily="34" charset="0"/>
                        <a:cs typeface="Times New Roman" panose="02020603050405020304" pitchFamily="18" charset="0"/>
                      </a:endParaRPr>
                    </a:p>
                    <a:p>
                      <a:r>
                        <a:rPr lang="uz-Cyrl-UZ" sz="900" kern="1200" dirty="0">
                          <a:solidFill>
                            <a:schemeClr val="tx1"/>
                          </a:solidFill>
                          <a:effectLst/>
                          <a:latin typeface="+mn-lt"/>
                          <a:ea typeface="Calibri" panose="020F0502020204030204" pitchFamily="34" charset="0"/>
                          <a:cs typeface="Times New Roman" panose="02020603050405020304" pitchFamily="18" charset="0"/>
                        </a:rPr>
                        <a:t>1993 й. Ўзбекистон Республикасига хизмат кўрсатган артист</a:t>
                      </a:r>
                      <a:endParaRPr lang="ru-RU" sz="900" kern="1200" dirty="0">
                        <a:solidFill>
                          <a:schemeClr val="tx1"/>
                        </a:solidFill>
                        <a:effectLst/>
                        <a:latin typeface="+mn-lt"/>
                        <a:ea typeface="Calibri" panose="020F0502020204030204" pitchFamily="34" charset="0"/>
                        <a:cs typeface="Times New Roman" panose="02020603050405020304" pitchFamily="18" charset="0"/>
                      </a:endParaRPr>
                    </a:p>
                    <a:p>
                      <a:r>
                        <a:rPr lang="uz-Cyrl-UZ" sz="900" kern="1200" dirty="0">
                          <a:solidFill>
                            <a:schemeClr val="tx1"/>
                          </a:solidFill>
                          <a:effectLst/>
                          <a:latin typeface="+mn-lt"/>
                          <a:ea typeface="Calibri" panose="020F0502020204030204" pitchFamily="34" charset="0"/>
                          <a:cs typeface="Times New Roman" panose="02020603050405020304" pitchFamily="18" charset="0"/>
                        </a:rPr>
                        <a:t>1998 й. Ўзбекистон Республикаси Халқ артисти</a:t>
                      </a:r>
                    </a:p>
                    <a:p>
                      <a:pPr marL="0" algn="l" defTabSz="914400" rtl="0" eaLnBrk="1" latinLnBrk="0" hangingPunct="1"/>
                      <a:r>
                        <a:rPr lang="uz-Cyrl-UZ" sz="900" kern="1200" dirty="0">
                          <a:solidFill>
                            <a:schemeClr val="tx1"/>
                          </a:solidFill>
                          <a:effectLst/>
                          <a:latin typeface="+mn-lt"/>
                          <a:ea typeface="Calibri" panose="020F0502020204030204" pitchFamily="34" charset="0"/>
                          <a:cs typeface="Times New Roman" panose="02020603050405020304" pitchFamily="18" charset="0"/>
                        </a:rPr>
                        <a:t>2020 й. “Меҳнат фахрийси </a:t>
                      </a:r>
                      <a:r>
                        <a:rPr lang="en-US" sz="900" kern="1200" dirty="0">
                          <a:solidFill>
                            <a:schemeClr val="tx1"/>
                          </a:solidFill>
                          <a:effectLst/>
                          <a:latin typeface="+mn-lt"/>
                          <a:ea typeface="Calibri" panose="020F0502020204030204" pitchFamily="34" charset="0"/>
                          <a:cs typeface="Times New Roman" panose="02020603050405020304" pitchFamily="18" charset="0"/>
                        </a:rPr>
                        <a:t>III </a:t>
                      </a:r>
                      <a:r>
                        <a:rPr lang="uz-Cyrl-UZ" sz="900" kern="1200" dirty="0">
                          <a:solidFill>
                            <a:schemeClr val="tx1"/>
                          </a:solidFill>
                          <a:effectLst/>
                          <a:latin typeface="+mn-lt"/>
                          <a:ea typeface="Calibri" panose="020F0502020204030204" pitchFamily="34" charset="0"/>
                          <a:cs typeface="Times New Roman" panose="02020603050405020304" pitchFamily="18" charset="0"/>
                        </a:rPr>
                        <a:t>даражали” кўкрак нишони</a:t>
                      </a:r>
                      <a:endParaRPr lang="ru-RU" sz="900" kern="1200" dirty="0">
                        <a:solidFill>
                          <a:schemeClr val="tx1"/>
                        </a:solidFill>
                        <a:effectLst/>
                        <a:latin typeface="+mn-lt"/>
                        <a:ea typeface="Calibri" panose="020F0502020204030204" pitchFamily="34" charset="0"/>
                        <a:cs typeface="Times New Roman" panose="02020603050405020304" pitchFamily="18" charset="0"/>
                      </a:endParaRPr>
                    </a:p>
                    <a:p>
                      <a:pPr marL="0" algn="l" defTabSz="914400" rtl="0" eaLnBrk="1" latinLnBrk="0" hangingPunct="1"/>
                      <a:r>
                        <a:rPr lang="uz-Cyrl-UZ" sz="900" kern="1200" dirty="0">
                          <a:solidFill>
                            <a:schemeClr val="tx1"/>
                          </a:solidFill>
                          <a:effectLst/>
                          <a:latin typeface="+mn-lt"/>
                          <a:ea typeface="Calibri" panose="020F0502020204030204" pitchFamily="34" charset="0"/>
                          <a:cs typeface="Times New Roman" panose="02020603050405020304" pitchFamily="18" charset="0"/>
                        </a:rPr>
                        <a:t>2022 й. “Ўзбекистон Конституциясининг 30 йиллиги” эсдалик нишони</a:t>
                      </a:r>
                      <a:endParaRPr lang="ru-RU" sz="900" kern="1200" dirty="0">
                        <a:solidFill>
                          <a:schemeClr val="tx1"/>
                        </a:solidFill>
                        <a:effectLst/>
                        <a:latin typeface="+mn-lt"/>
                        <a:ea typeface="Calibri" panose="020F0502020204030204" pitchFamily="34" charset="0"/>
                        <a:cs typeface="Times New Roman" panose="02020603050405020304" pitchFamily="18" charset="0"/>
                      </a:endParaRPr>
                    </a:p>
                    <a:p>
                      <a:pPr marL="0" algn="l" defTabSz="914400" rtl="0" eaLnBrk="1" latinLnBrk="0" hangingPunct="1"/>
                      <a:r>
                        <a:rPr lang="uz-Cyrl-UZ" sz="900" kern="1200" dirty="0">
                          <a:solidFill>
                            <a:schemeClr val="tx1"/>
                          </a:solidFill>
                          <a:effectLst/>
                          <a:latin typeface="+mn-lt"/>
                          <a:ea typeface="Calibri" panose="020F0502020204030204" pitchFamily="34" charset="0"/>
                          <a:cs typeface="Times New Roman" panose="02020603050405020304" pitchFamily="18" charset="0"/>
                        </a:rPr>
                        <a:t>2023 й. “Ардақлы нураний” кўкрак нишони</a:t>
                      </a:r>
                      <a:endParaRPr lang="ru-RU" sz="900" kern="1200" dirty="0">
                        <a:solidFill>
                          <a:schemeClr val="tx1"/>
                        </a:solidFill>
                        <a:effectLst/>
                        <a:latin typeface="+mn-lt"/>
                        <a:ea typeface="Calibri" panose="020F0502020204030204" pitchFamily="34" charset="0"/>
                        <a:cs typeface="Times New Roman" panose="02020603050405020304" pitchFamily="18" charset="0"/>
                      </a:endParaRPr>
                    </a:p>
                    <a:p>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2024 </a:t>
                      </a:r>
                      <a:r>
                        <a:rPr lang="uz-Cyrl-UZ" sz="900" noProof="0" dirty="0">
                          <a:effectLst/>
                          <a:latin typeface="+mn-lt"/>
                          <a:ea typeface="Calibri" panose="020F0502020204030204" pitchFamily="34" charset="0"/>
                          <a:cs typeface="Times New Roman" panose="02020603050405020304" pitchFamily="18" charset="0"/>
                        </a:rPr>
                        <a:t>й. </a:t>
                      </a:r>
                      <a:r>
                        <a:rPr lang="en-US" sz="900" noProof="0" dirty="0">
                          <a:effectLst/>
                          <a:latin typeface="+mn-lt"/>
                          <a:ea typeface="Calibri" panose="020F0502020204030204" pitchFamily="34" charset="0"/>
                          <a:cs typeface="Times New Roman" panose="02020603050405020304" pitchFamily="18" charset="0"/>
                        </a:rPr>
                        <a:t>“</a:t>
                      </a:r>
                      <a:r>
                        <a:rPr lang="ru-RU" sz="900" noProof="0" dirty="0">
                          <a:effectLst/>
                          <a:latin typeface="+mn-lt"/>
                          <a:ea typeface="Calibri" panose="020F0502020204030204" pitchFamily="34" charset="0"/>
                          <a:cs typeface="Times New Roman" panose="02020603050405020304" pitchFamily="18" charset="0"/>
                        </a:rPr>
                        <a:t>Ме</a:t>
                      </a: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ҳнат шухрати</a:t>
                      </a:r>
                      <a:r>
                        <a:rPr lang="en-US" sz="900" noProof="0" dirty="0">
                          <a:effectLst/>
                          <a:latin typeface="+mn-lt"/>
                          <a:ea typeface="Calibri" panose="020F0502020204030204" pitchFamily="34" charset="0"/>
                          <a:cs typeface="Times New Roman" panose="02020603050405020304" pitchFamily="18" charset="0"/>
                        </a:rPr>
                        <a:t>”</a:t>
                      </a:r>
                      <a:r>
                        <a:rPr lang="ru-RU" sz="900" noProof="0" dirty="0">
                          <a:effectLst/>
                          <a:latin typeface="+mn-lt"/>
                          <a:ea typeface="Calibri" panose="020F0502020204030204" pitchFamily="34" charset="0"/>
                          <a:cs typeface="Times New Roman" panose="02020603050405020304" pitchFamily="18" charset="0"/>
                        </a:rPr>
                        <a:t> </a:t>
                      </a:r>
                      <a:r>
                        <a:rPr lang="uz-Cyrl-UZ" sz="900" noProof="0" dirty="0">
                          <a:effectLst/>
                          <a:latin typeface="+mn-lt"/>
                          <a:ea typeface="Calibri" panose="020F0502020204030204" pitchFamily="34" charset="0"/>
                          <a:cs typeface="Times New Roman" panose="02020603050405020304" pitchFamily="18" charset="0"/>
                        </a:rPr>
                        <a:t>ордени</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488199691"/>
              </p:ext>
            </p:extLst>
          </p:nvPr>
        </p:nvGraphicFramePr>
        <p:xfrm>
          <a:off x="6949857" y="869288"/>
          <a:ext cx="2817247" cy="5910561"/>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35498">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1726">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575212">
                <a:tc>
                  <a:txBody>
                    <a:bodyPr/>
                    <a:lstStyle/>
                    <a:p>
                      <a:pPr algn="just"/>
                      <a:r>
                        <a:rPr lang="uz-Cyrl-UZ" sz="900" b="0" kern="1200" baseline="0" dirty="0" smtClean="0">
                          <a:solidFill>
                            <a:schemeClr val="tx1"/>
                          </a:solidFill>
                          <a:latin typeface="+mn-lt"/>
                          <a:ea typeface="+mn-ea"/>
                          <a:cs typeface="+mn-cs"/>
                        </a:rPr>
                        <a:t>    </a:t>
                      </a:r>
                      <a:r>
                        <a:rPr lang="uz-Cyrl-UZ" sz="900" b="0" kern="1200" dirty="0" smtClean="0">
                          <a:solidFill>
                            <a:schemeClr val="tx1"/>
                          </a:solidFill>
                          <a:latin typeface="+mn-lt"/>
                          <a:ea typeface="+mn-ea"/>
                          <a:cs typeface="+mn-cs"/>
                        </a:rPr>
                        <a:t>Т.Қайпбергеновнинг </a:t>
                      </a:r>
                      <a:r>
                        <a:rPr lang="uz-Cyrl-UZ" sz="900" b="0" kern="1200" dirty="0">
                          <a:solidFill>
                            <a:schemeClr val="tx1"/>
                          </a:solidFill>
                          <a:latin typeface="+mn-lt"/>
                          <a:ea typeface="+mn-ea"/>
                          <a:cs typeface="+mn-cs"/>
                        </a:rPr>
                        <a:t>“Жумагул” спектаклида Турдыгул, К.Яшининг “Ёлчи юлдуз” спектаклида Гуласел, Т.Сейтжановнинг “Мени судланглар”да Айгул Атабаева, “Беруний”да Гули, “Аўесек” спектаклларида Аўесек, С.Хожаниязовнинг “Суймаганга суйкалма”да Ханша, “Маманбий” спектакллариида турмуш ўртоғи, А.Бегимов ва Т.Алланиязовларинг “Ғариб ошиқ” спектаклида Хурлиха, У.Умарбековнинг “Ўз аризаси билан” спектаклида Зумрад, Г.Горининг “Номи ўчсин” спектаклида Клементина, О.Иоселианининг “Араванг ағдарилмасин” спектаклида Бола, А.Абдуллининг “</a:t>
                      </a:r>
                      <a:r>
                        <a:rPr lang="uz-Cyrl-UZ" sz="900" kern="1200" dirty="0">
                          <a:solidFill>
                            <a:schemeClr val="tx1"/>
                          </a:solidFill>
                          <a:effectLst/>
                          <a:latin typeface="+mn-lt"/>
                          <a:ea typeface="Calibri" panose="020F0502020204030204" pitchFamily="34" charset="0"/>
                          <a:cs typeface="Times New Roman" panose="02020603050405020304" pitchFamily="18" charset="0"/>
                        </a:rPr>
                        <a:t>Ў</a:t>
                      </a:r>
                      <a:r>
                        <a:rPr lang="uz-Cyrl-UZ" sz="900" b="0" kern="1200" dirty="0">
                          <a:solidFill>
                            <a:schemeClr val="tx1"/>
                          </a:solidFill>
                          <a:latin typeface="+mn-lt"/>
                          <a:ea typeface="+mn-ea"/>
                          <a:cs typeface="+mn-cs"/>
                        </a:rPr>
                        <a:t>н учинчи председатель” спектаклида биринчи масла</a:t>
                      </a: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ҳ</a:t>
                      </a:r>
                      <a:r>
                        <a:rPr lang="uz-Cyrl-UZ" sz="900" b="0" kern="1200" dirty="0">
                          <a:solidFill>
                            <a:schemeClr val="tx1"/>
                          </a:solidFill>
                          <a:latin typeface="+mn-lt"/>
                          <a:ea typeface="+mn-ea"/>
                          <a:cs typeface="+mn-cs"/>
                        </a:rPr>
                        <a:t>атчи, Ш.Рашидовнинг “Юракнинг ўти сўнмас” спектаклида Ба</a:t>
                      </a: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ҳ</a:t>
                      </a:r>
                      <a:r>
                        <a:rPr lang="uz-Cyrl-UZ" sz="900" b="0" kern="1200" dirty="0">
                          <a:solidFill>
                            <a:schemeClr val="tx1"/>
                          </a:solidFill>
                          <a:latin typeface="+mn-lt"/>
                          <a:ea typeface="+mn-ea"/>
                          <a:cs typeface="+mn-cs"/>
                        </a:rPr>
                        <a:t>ор, К.Матмуратовнинг “Бир уйда икки </a:t>
                      </a: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ҳ</a:t>
                      </a:r>
                      <a:r>
                        <a:rPr lang="uz-Cyrl-UZ" sz="900" b="0" kern="1200" dirty="0">
                          <a:solidFill>
                            <a:schemeClr val="tx1"/>
                          </a:solidFill>
                          <a:latin typeface="+mn-lt"/>
                          <a:ea typeface="+mn-ea"/>
                          <a:cs typeface="+mn-cs"/>
                        </a:rPr>
                        <a:t>аёт” спектаклида Гулзар, С.Ахмаднинг “Келинлар қўзғолони” спектаклида Мухайё,  И.Султаннинг “Билмай бостим тиконни” спектаклида Гулчехра каби роллари орқали томошабинлар кўнглидан жой олиб мутахассислар этиборига тушган. </a:t>
                      </a:r>
                      <a:endParaRPr lang="uz-Cyrl-UZ" sz="900" b="0" kern="1200" dirty="0" smtClean="0">
                        <a:solidFill>
                          <a:schemeClr val="tx1"/>
                        </a:solidFill>
                        <a:latin typeface="+mn-lt"/>
                        <a:ea typeface="+mn-ea"/>
                        <a:cs typeface="+mn-cs"/>
                      </a:endParaRPr>
                    </a:p>
                    <a:p>
                      <a:pPr algn="just"/>
                      <a:r>
                        <a:rPr lang="uz-Cyrl-UZ" sz="900" b="0" kern="1200" dirty="0" smtClean="0">
                          <a:solidFill>
                            <a:schemeClr val="tx1"/>
                          </a:solidFill>
                          <a:latin typeface="+mn-lt"/>
                          <a:ea typeface="+mn-ea"/>
                          <a:cs typeface="+mn-cs"/>
                        </a:rPr>
                        <a:t>    «</a:t>
                      </a:r>
                      <a:r>
                        <a:rPr lang="uz-Cyrl-UZ" sz="900" b="0" kern="1200" dirty="0">
                          <a:solidFill>
                            <a:schemeClr val="tx1"/>
                          </a:solidFill>
                          <a:latin typeface="+mn-lt"/>
                          <a:ea typeface="+mn-ea"/>
                          <a:cs typeface="+mn-cs"/>
                        </a:rPr>
                        <a:t>Қорақалпоқфильм» киностудияси томонидан суратга олинган «Танк», «Кайсар қиз», «Маргия», фильмларида ва телевидение орқали берилган «Йигитнинг бахти бўлсин», «Ӽаёт сабоқлари», «</a:t>
                      </a:r>
                      <a:r>
                        <a:rPr lang="uz-Cyrl-UZ" sz="900" kern="1200" dirty="0">
                          <a:solidFill>
                            <a:schemeClr val="tx1"/>
                          </a:solidFill>
                          <a:effectLst/>
                          <a:latin typeface="+mn-lt"/>
                          <a:ea typeface="Calibri" panose="020F0502020204030204" pitchFamily="34" charset="0"/>
                          <a:cs typeface="Times New Roman" panose="02020603050405020304" pitchFamily="18" charset="0"/>
                        </a:rPr>
                        <a:t>Ў</a:t>
                      </a:r>
                      <a:r>
                        <a:rPr lang="uz-Cyrl-UZ" sz="900" b="0" kern="1200" dirty="0">
                          <a:solidFill>
                            <a:schemeClr val="tx1"/>
                          </a:solidFill>
                          <a:latin typeface="+mn-lt"/>
                          <a:ea typeface="+mn-ea"/>
                          <a:cs typeface="+mn-cs"/>
                        </a:rPr>
                        <a:t>ргимчак», «Бир дўстинг бўлсин», “Турмуш мактаби” фильмларида образлар яратган.  </a:t>
                      </a:r>
                      <a:endParaRPr lang="ru-RU" sz="900" b="0" kern="1200" dirty="0">
                        <a:solidFill>
                          <a:schemeClr val="tx1"/>
                        </a:solidFill>
                        <a:latin typeface="+mn-lt"/>
                        <a:ea typeface="+mn-ea"/>
                        <a:cs typeface="+mn-cs"/>
                      </a:endParaRPr>
                    </a:p>
                    <a:p>
                      <a:pPr marL="0" algn="just" defTabSz="914400" rtl="0" eaLnBrk="1" latinLnBrk="0" hangingPunct="1"/>
                      <a:r>
                        <a:rPr lang="uz-Cyrl-UZ" sz="900" b="0" kern="1200" dirty="0">
                          <a:solidFill>
                            <a:schemeClr val="tx1"/>
                          </a:solidFill>
                          <a:latin typeface="+mn-lt"/>
                          <a:ea typeface="+mn-ea"/>
                          <a:cs typeface="+mn-cs"/>
                        </a:rPr>
                        <a:t>    Республика миқёсида ўтказиладиган Мустақиллик, Наврўз умумхалқ байрамлари томошалари ва бошқа оммавий-маданий тадбирларда фаол иштирок этиб келган. Тошкент шаҳри, Москва, Қизил Ўрда, Озарбойжон, Татаристон, Дағистон, Қозоғистон Республикаларида Қорақалпоқ маданият ва санъат кунларида фаол иштирок этиб келган.</a:t>
                      </a:r>
                      <a:endParaRPr lang="ru-RU" sz="900" b="0" kern="1200" dirty="0">
                        <a:solidFill>
                          <a:schemeClr val="tx1"/>
                        </a:solidFill>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2182">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95057">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ўтказилиб келинадиган барча оммавий маданий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a:extLst>
              <a:ext uri="{FF2B5EF4-FFF2-40B4-BE49-F238E27FC236}">
                <a16:creationId xmlns:a16="http://schemas.microsoft.com/office/drawing/2014/main" id="{4BA65EA4-F0C3-208E-ED15-70A9FDF54805}"/>
              </a:ext>
            </a:extLst>
          </p:cNvPr>
          <p:cNvPicPr>
            <a:picLocks noChangeAspect="1"/>
          </p:cNvPicPr>
          <p:nvPr/>
        </p:nvPicPr>
        <p:blipFill>
          <a:blip r:embed="rId2"/>
          <a:stretch>
            <a:fillRect/>
          </a:stretch>
        </p:blipFill>
        <p:spPr>
          <a:xfrm>
            <a:off x="215857" y="1132764"/>
            <a:ext cx="922987" cy="1096047"/>
          </a:xfrm>
          <a:prstGeom prst="rect">
            <a:avLst/>
          </a:prstGeom>
        </p:spPr>
      </p:pic>
    </p:spTree>
    <p:extLst>
      <p:ext uri="{BB962C8B-B14F-4D97-AF65-F5344CB8AC3E}">
        <p14:creationId xmlns:p14="http://schemas.microsoft.com/office/powerpoint/2010/main" val="3682613508"/>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183261578"/>
              </p:ext>
            </p:extLst>
          </p:nvPr>
        </p:nvGraphicFramePr>
        <p:xfrm>
          <a:off x="144489" y="865702"/>
          <a:ext cx="3427547" cy="5961648"/>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516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0364">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a:solidFill>
                            <a:schemeClr val="tx1"/>
                          </a:solidFill>
                          <a:latin typeface="+mn-lt"/>
                          <a:ea typeface="+mn-ea"/>
                          <a:cs typeface="+mn-cs"/>
                        </a:rPr>
                        <a:t>ХАЛКНАЗАРОВА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036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Лизахан</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036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Утепбергеновна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0364">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noProof="0" dirty="0">
                          <a:solidFill>
                            <a:schemeClr val="tx1"/>
                          </a:solidFill>
                          <a:latin typeface="+mn-lt"/>
                        </a:rPr>
                        <a:t>ҚОРАҚАЛПОҚ</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036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17.05.1967</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036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noProof="0" dirty="0">
                          <a:solidFill>
                            <a:schemeClr val="tx1"/>
                          </a:solidFill>
                          <a:latin typeface="+mn-lt"/>
                        </a:rPr>
                        <a:t>ҚР Нукус</a:t>
                      </a:r>
                      <a:r>
                        <a:rPr lang="uz-Cyrl-UZ" sz="800" b="0" kern="1200" dirty="0">
                          <a:solidFill>
                            <a:schemeClr val="tx1"/>
                          </a:solidFill>
                          <a:latin typeface="+mn-lt"/>
                          <a:ea typeface="+mn-ea"/>
                          <a:cs typeface="+mn-cs"/>
                        </a:rPr>
                        <a:t>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2651">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795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ўғил </a:t>
                      </a:r>
                      <a:r>
                        <a:rPr lang="uz-Cyrl-UZ" sz="900" b="0" kern="1200" noProof="0">
                          <a:solidFill>
                            <a:schemeClr val="tx1"/>
                          </a:solidFill>
                          <a:latin typeface="+mn-lt"/>
                          <a:ea typeface="+mn-ea"/>
                          <a:cs typeface="+mn-cs"/>
                        </a:rPr>
                        <a:t>ва 1 нафар қиз фарзандлари </a:t>
                      </a:r>
                      <a:r>
                        <a:rPr lang="uz-Cyrl-UZ" sz="900" b="0" kern="1200" noProof="0" dirty="0">
                          <a:solidFill>
                            <a:schemeClr val="tx1"/>
                          </a:solidFill>
                          <a:latin typeface="+mn-lt"/>
                          <a:ea typeface="+mn-ea"/>
                          <a:cs typeface="+mn-cs"/>
                        </a:rPr>
                        <a:t>бор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2651">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9283">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ХАЛКНАЗАРОВ Утепберген </a:t>
                      </a:r>
                    </a:p>
                    <a:p>
                      <a:pPr algn="l">
                        <a:lnSpc>
                          <a:spcPct val="85000"/>
                        </a:lnSpc>
                      </a:pPr>
                      <a:r>
                        <a:rPr lang="uz-Cyrl-UZ" sz="900" b="0" kern="1200" noProof="0" dirty="0">
                          <a:solidFill>
                            <a:schemeClr val="tx1"/>
                          </a:solidFill>
                          <a:latin typeface="+mn-lt"/>
                          <a:ea typeface="+mn-ea"/>
                          <a:cs typeface="Arial" panose="020B0604020202020204" pitchFamily="34" charset="0"/>
                        </a:rPr>
                        <a:t>1936 йил, </a:t>
                      </a:r>
                      <a:r>
                        <a:rPr lang="uz-Cyrl-UZ" sz="900" b="0" noProof="0" dirty="0">
                          <a:solidFill>
                            <a:schemeClr val="tx1"/>
                          </a:solidFill>
                          <a:latin typeface="+mn-lt"/>
                        </a:rPr>
                        <a:t>ҚР Кегейли тумани</a:t>
                      </a:r>
                      <a:endParaRPr lang="uz-Cyrl-UZ" sz="900" b="0" kern="1200" noProof="0" dirty="0">
                        <a:solidFill>
                          <a:schemeClr val="tx1"/>
                        </a:solidFill>
                        <a:latin typeface="+mn-lt"/>
                        <a:ea typeface="+mn-ea"/>
                        <a:cs typeface="Arial" panose="020B0604020202020204" pitchFamily="34" charset="0"/>
                      </a:endParaRP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2008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(Нукус </a:t>
                      </a:r>
                      <a:r>
                        <a:rPr lang="ru-RU" sz="900" b="0" kern="1200" noProof="0" dirty="0" err="1">
                          <a:solidFill>
                            <a:schemeClr val="tx1"/>
                          </a:solidFill>
                          <a:latin typeface="+mn-lt"/>
                          <a:ea typeface="+mn-ea"/>
                          <a:cs typeface="Arial" panose="020B0604020202020204" pitchFamily="34" charset="0"/>
                        </a:rPr>
                        <a:t>ша</a:t>
                      </a:r>
                      <a:r>
                        <a:rPr lang="uz-Cyrl-UZ" sz="900" b="0" kern="1200" dirty="0">
                          <a:solidFill>
                            <a:schemeClr val="tx1"/>
                          </a:solidFill>
                          <a:latin typeface="+mn-lt"/>
                          <a:ea typeface="+mn-ea"/>
                          <a:cs typeface="+mn-cs"/>
                        </a:rPr>
                        <a:t>ҳар 1-сонли мактаб </a:t>
                      </a:r>
                      <a:r>
                        <a:rPr lang="uz-Cyrl-UZ" sz="900" b="0" kern="1200" noProof="0" dirty="0">
                          <a:solidFill>
                            <a:schemeClr val="tx1"/>
                          </a:solidFill>
                          <a:latin typeface="+mn-lt"/>
                          <a:ea typeface="+mn-ea"/>
                          <a:cs typeface="+mn-cs"/>
                        </a:rPr>
                        <a:t>ў</a:t>
                      </a:r>
                      <a:r>
                        <a:rPr lang="ru-RU" sz="900" b="0" kern="1200" noProof="0" dirty="0" err="1">
                          <a:solidFill>
                            <a:schemeClr val="tx1"/>
                          </a:solidFill>
                          <a:latin typeface="+mn-lt"/>
                          <a:ea typeface="+mn-ea"/>
                          <a:cs typeface="Arial" panose="020B0604020202020204" pitchFamily="34" charset="0"/>
                        </a:rPr>
                        <a:t>қитувчиси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4410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ЖИЕУБЕТОВА Хал</a:t>
                      </a:r>
                      <a:r>
                        <a:rPr lang="uz-Cyrl-UZ" sz="900" b="1" noProof="0" dirty="0">
                          <a:solidFill>
                            <a:schemeClr val="tx1"/>
                          </a:solidFill>
                          <a:latin typeface="+mn-lt"/>
                        </a:rPr>
                        <a:t>қораз</a:t>
                      </a:r>
                      <a:endParaRPr lang="uz-Cyrl-UZ" sz="900" b="1" kern="1200" noProof="0" dirty="0">
                        <a:solidFill>
                          <a:schemeClr val="tx1"/>
                        </a:solidFill>
                        <a:latin typeface="+mn-lt"/>
                        <a:ea typeface="+mn-ea"/>
                        <a:cs typeface="Arial" panose="020B0604020202020204" pitchFamily="34" charset="0"/>
                      </a:endParaRPr>
                    </a:p>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Arial" panose="020B0604020202020204" pitchFamily="34" charset="0"/>
                        </a:rPr>
                        <a:t>1938 йил, </a:t>
                      </a:r>
                      <a:r>
                        <a:rPr lang="uz-Cyrl-UZ" sz="900" b="0" noProof="0" dirty="0">
                          <a:solidFill>
                            <a:schemeClr val="tx1"/>
                          </a:solidFill>
                          <a:latin typeface="+mn-lt"/>
                        </a:rPr>
                        <a:t>ҚР Нукус</a:t>
                      </a:r>
                      <a:r>
                        <a:rPr lang="uz-Cyrl-UZ" sz="900" b="0" kern="1200" dirty="0">
                          <a:solidFill>
                            <a:schemeClr val="tx1"/>
                          </a:solidFill>
                          <a:latin typeface="+mn-lt"/>
                          <a:ea typeface="+mn-ea"/>
                          <a:cs typeface="+mn-cs"/>
                        </a:rPr>
                        <a:t>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2019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Тошкент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миллий</a:t>
                      </a:r>
                      <a:r>
                        <a:rPr lang="ru-RU" sz="900" b="0" kern="1200" noProof="0" dirty="0">
                          <a:solidFill>
                            <a:schemeClr val="tx1"/>
                          </a:solidFill>
                          <a:latin typeface="+mn-lt"/>
                          <a:ea typeface="+mn-ea"/>
                          <a:cs typeface="Arial" panose="020B0604020202020204" pitchFamily="34" charset="0"/>
                        </a:rPr>
                        <a:t> </a:t>
                      </a:r>
                      <a:r>
                        <a:rPr lang="uz-Cyrl-UZ" sz="900" b="0" kern="1200" dirty="0">
                          <a:solidFill>
                            <a:schemeClr val="tx1"/>
                          </a:solidFill>
                          <a:latin typeface="+mn-lt"/>
                          <a:ea typeface="+mn-ea"/>
                          <a:cs typeface="+mn-cs"/>
                        </a:rPr>
                        <a:t>ҳунармандчилик фабрикаси тикувчиси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519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ЕРЖАНОВ Бахрам Рейимбаевич</a:t>
                      </a:r>
                    </a:p>
                    <a:p>
                      <a:pPr algn="l">
                        <a:lnSpc>
                          <a:spcPct val="85000"/>
                        </a:lnSpc>
                      </a:pPr>
                      <a:r>
                        <a:rPr lang="uz-Cyrl-UZ" sz="900" b="0" kern="1200" noProof="0" dirty="0">
                          <a:solidFill>
                            <a:schemeClr val="tx1"/>
                          </a:solidFill>
                          <a:latin typeface="+mn-lt"/>
                          <a:ea typeface="+mn-ea"/>
                          <a:cs typeface="Arial" panose="020B0604020202020204" pitchFamily="34" charset="0"/>
                        </a:rPr>
                        <a:t>1967 йил, </a:t>
                      </a:r>
                      <a:r>
                        <a:rPr lang="uz-Cyrl-UZ" sz="900" b="0" noProof="0" dirty="0">
                          <a:solidFill>
                            <a:schemeClr val="tx1"/>
                          </a:solidFill>
                          <a:latin typeface="+mn-lt"/>
                        </a:rPr>
                        <a:t>ҚР Нукус</a:t>
                      </a:r>
                      <a:r>
                        <a:rPr lang="uz-Cyrl-UZ" sz="900" b="0" kern="1200" dirty="0">
                          <a:solidFill>
                            <a:schemeClr val="tx1"/>
                          </a:solidFill>
                          <a:latin typeface="+mn-lt"/>
                          <a:ea typeface="+mn-ea"/>
                          <a:cs typeface="+mn-cs"/>
                        </a:rPr>
                        <a:t> шаҳри</a:t>
                      </a: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Ва</a:t>
                      </a:r>
                      <a:r>
                        <a:rPr lang="uz-Cyrl-UZ" sz="900" b="0" kern="1200" noProof="0" dirty="0">
                          <a:solidFill>
                            <a:schemeClr val="tx1"/>
                          </a:solidFill>
                          <a:latin typeface="+mn-lt"/>
                          <a:ea typeface="+mn-ea"/>
                          <a:cs typeface="+mn-cs"/>
                        </a:rPr>
                        <a:t>қтинча ишсиз</a:t>
                      </a:r>
                      <a:r>
                        <a:rPr lang="ru-RU" sz="900" b="0" kern="1200" noProof="0" dirty="0">
                          <a:solidFill>
                            <a:schemeClr val="tx1"/>
                          </a:solidFill>
                          <a:latin typeface="+mn-lt"/>
                          <a:ea typeface="+mn-ea"/>
                          <a:cs typeface="Arial" panose="020B0604020202020204" pitchFamily="34" charset="0"/>
                        </a:rPr>
                        <a:t> </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9190">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8806">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1988 й. </a:t>
                      </a:r>
                      <a:r>
                        <a:rPr lang="ru-RU" sz="900" b="0" kern="1200" noProof="0" dirty="0" err="1">
                          <a:solidFill>
                            <a:schemeClr val="tx1"/>
                          </a:solidFill>
                          <a:latin typeface="+mn-lt"/>
                          <a:ea typeface="+mn-ea"/>
                          <a:cs typeface="+mn-cs"/>
                        </a:rPr>
                        <a:t>А.Н.Островский</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номли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театр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рассомлик</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санъати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6438">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Драма театри ва кино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5544">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5544">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 инглиз тили </a:t>
                      </a:r>
                      <a:r>
                        <a:rPr lang="uz-Cyrl-UZ" sz="900" b="0" kern="1200" noProof="0">
                          <a:solidFill>
                            <a:schemeClr val="tx1"/>
                          </a:solidFill>
                          <a:latin typeface="+mn-lt"/>
                          <a:ea typeface="+mn-ea"/>
                          <a:cs typeface="+mn-cs"/>
                        </a:rPr>
                        <a:t>(луғат ёрдамида)</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6941">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89"/>
          <a:ext cx="3172841" cy="596166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761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1174">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1988 йилдан буён </a:t>
                      </a:r>
                      <a:r>
                        <a:rPr lang="uz-Cyrl-UZ" sz="900" b="0" noProof="0" dirty="0">
                          <a:solidFill>
                            <a:schemeClr val="tx1"/>
                          </a:solidFill>
                          <a:latin typeface="+mn-lt"/>
                        </a:rPr>
                        <a:t>Қора</a:t>
                      </a:r>
                      <a:r>
                        <a:rPr lang="uz-Cyrl-UZ" sz="900" b="0" kern="1200" noProof="0" dirty="0">
                          <a:solidFill>
                            <a:schemeClr val="tx1"/>
                          </a:solidFill>
                          <a:latin typeface="+mn-lt"/>
                          <a:ea typeface="+mn-ea"/>
                          <a:cs typeface="+mn-cs"/>
                        </a:rPr>
                        <a:t>қалпоқ давлат ёш томошабинлар театри актрисаси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192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685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38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97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896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p>
                      <a:pPr algn="l">
                        <a:lnSpc>
                          <a:spcPct val="107000"/>
                        </a:lnSpc>
                        <a:spcAft>
                          <a:spcPts val="0"/>
                        </a:spcAft>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811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8116">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2025 й. Президент администрацияси ҳузуридаги </a:t>
                      </a:r>
                      <a:br>
                        <a:rPr lang="uz-Cyrl-UZ" sz="900" kern="1200" noProof="0" dirty="0">
                          <a:solidFill>
                            <a:schemeClr val="tx1"/>
                          </a:solidFill>
                          <a:effectLst/>
                          <a:latin typeface="+mn-lt"/>
                          <a:ea typeface="Calibri" panose="020F0502020204030204" pitchFamily="34" charset="0"/>
                          <a:cs typeface="Times New Roman" panose="02020603050405020304" pitchFamily="18" charset="0"/>
                        </a:rPr>
                      </a:b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2-клиникада даволанган</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624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2025</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576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Бошл</a:t>
                      </a:r>
                      <a:r>
                        <a:rPr lang="uz-Cyrl-UZ" sz="900" b="0" kern="1200" noProof="0" dirty="0">
                          <a:solidFill>
                            <a:schemeClr val="tx1"/>
                          </a:solidFill>
                          <a:effectLst/>
                          <a:latin typeface="+mn-lt"/>
                          <a:ea typeface="Calibri" panose="020F0502020204030204" pitchFamily="34" charset="0"/>
                          <a:cs typeface="Times New Roman" panose="02020603050405020304" pitchFamily="18" charset="0"/>
                        </a:rPr>
                        <a:t>ан</a:t>
                      </a:r>
                      <a:r>
                        <a:rPr lang="uz-Cyrl-UZ" sz="900" b="0" kern="1200" noProof="0" dirty="0">
                          <a:solidFill>
                            <a:schemeClr val="tx1"/>
                          </a:solidFill>
                          <a:latin typeface="+mn-lt"/>
                          <a:ea typeface="+mn-ea"/>
                          <a:cs typeface="+mn-cs"/>
                        </a:rPr>
                        <a:t>ғич қандли диабет</a:t>
                      </a:r>
                      <a:endParaRPr lang="uz-Cyrl-UZ" sz="900" b="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365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96243">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2018 й. Ўзбекистонда хизмат кўрсатган артист</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473201243"/>
              </p:ext>
            </p:extLst>
          </p:nvPr>
        </p:nvGraphicFramePr>
        <p:xfrm>
          <a:off x="6949857" y="869288"/>
          <a:ext cx="2817247" cy="5964236"/>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39064">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900">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11136">
                <a:tc>
                  <a:txBody>
                    <a:bodyPr/>
                    <a:lstStyle/>
                    <a:p>
                      <a:pPr algn="just">
                        <a:lnSpc>
                          <a:spcPct val="85000"/>
                        </a:lnSpc>
                      </a:pPr>
                      <a:r>
                        <a:rPr lang="uz-Cyrl-UZ" sz="900" b="0" kern="1200" baseline="0" dirty="0" smtClean="0">
                          <a:solidFill>
                            <a:schemeClr val="tx1"/>
                          </a:solidFill>
                          <a:latin typeface="+mn-lt"/>
                          <a:ea typeface="+mn-ea"/>
                          <a:cs typeface="+mn-cs"/>
                        </a:rPr>
                        <a:t>    </a:t>
                      </a:r>
                      <a:r>
                        <a:rPr lang="uz-Cyrl-UZ" sz="900" b="0" kern="1200" dirty="0" smtClean="0">
                          <a:solidFill>
                            <a:schemeClr val="tx1"/>
                          </a:solidFill>
                          <a:latin typeface="+mn-lt"/>
                          <a:ea typeface="+mn-ea"/>
                          <a:cs typeface="+mn-cs"/>
                        </a:rPr>
                        <a:t>Актриса </a:t>
                      </a:r>
                      <a:r>
                        <a:rPr lang="uz-Cyrl-UZ" sz="900" b="0" kern="1200" dirty="0">
                          <a:solidFill>
                            <a:schemeClr val="tx1"/>
                          </a:solidFill>
                          <a:latin typeface="+mn-lt"/>
                          <a:ea typeface="+mn-ea"/>
                          <a:cs typeface="+mn-cs"/>
                        </a:rPr>
                        <a:t>меҳнат фаолияти давомида Ўзбекистон бўйлаб ўтказилган барча театр фестивалларида Тошкент шаҳрида ўтказилган “Хумо” I-халқаро фестивалида, “Ўрта Осиё ва Қозоғистон ёш томошабинлар театрлари” I-халқаро фестивалида, Мисрнинг Қохира шаҳрида ўтказилган XIX “Халқаро эксперименталь театр фестивали”да, Туркманистон Республикасининг Ашҳабад шаҳрида ўтказилган “Миллий театр ва фольклор санъати” халқаро фестивалларида фаол иштирок этган. 2013 йил “Эътироф” йил танловида “Йилнинг энг яхши театр актрисаси” номинацияси совриндори бўлган. </a:t>
                      </a:r>
                      <a:endParaRPr lang="ru-RU" sz="900" b="0" kern="1200" dirty="0">
                        <a:solidFill>
                          <a:schemeClr val="tx1"/>
                        </a:solidFill>
                        <a:latin typeface="+mn-lt"/>
                        <a:ea typeface="+mn-ea"/>
                        <a:cs typeface="+mn-cs"/>
                      </a:endParaRPr>
                    </a:p>
                    <a:p>
                      <a:pPr algn="just"/>
                      <a:r>
                        <a:rPr lang="uz-Cyrl-UZ" sz="900" b="0" kern="1200" dirty="0">
                          <a:solidFill>
                            <a:schemeClr val="tx1"/>
                          </a:solidFill>
                          <a:latin typeface="+mn-lt"/>
                          <a:ea typeface="+mn-ea"/>
                          <a:cs typeface="+mn-cs"/>
                        </a:rPr>
                        <a:t>   2015 йили У.Азимнинг “Томир” даги Тоқсулув ижроси билан “Сени куйлаймиз замандош” фестивалида “Йилнинг энг яхши аёл роли” номинациясига сазовар бўлган.</a:t>
                      </a:r>
                      <a:endParaRPr lang="ru-RU" sz="900" b="0" kern="1200" dirty="0">
                        <a:solidFill>
                          <a:schemeClr val="tx1"/>
                        </a:solidFill>
                        <a:latin typeface="+mn-lt"/>
                        <a:ea typeface="+mn-ea"/>
                        <a:cs typeface="+mn-cs"/>
                      </a:endParaRPr>
                    </a:p>
                    <a:p>
                      <a:pPr marL="0" algn="just" defTabSz="914400" rtl="0" eaLnBrk="1" latinLnBrk="0" hangingPunct="1"/>
                      <a:r>
                        <a:rPr lang="uz-Cyrl-UZ" sz="900" b="0" kern="1200" dirty="0">
                          <a:solidFill>
                            <a:schemeClr val="tx1"/>
                          </a:solidFill>
                          <a:latin typeface="+mn-lt"/>
                          <a:ea typeface="+mn-ea"/>
                          <a:cs typeface="+mn-cs"/>
                        </a:rPr>
                        <a:t>    Ижодкор актрисалик фаолияти билан бирга театрда сахналаштирилган А.Қодирий қаламига мансуб “Меҳробдан чаён”, қирғиз ёзувчиси Ч.Айтматовнинг “Асрга татигулик кун” романи асосида қайта ишланган “Исканжа” ва Виллиам Шекспирнинг “Ромео ва Джульетта”, Махмудхўжа Беҳбудий драмаси асосида А.Кудаиназаров томонидан сахналаштирилган “Падаркуш”, Қорақалпоғистон Республикасида меҳнати синган санъат арбоби П.Айтмуратовнинг “Буюк Ипак йўли” спектаклида режиссёр ёрдамчиси ҳам да Қ.Норқобилнинг “Уйдаги гап кўчада” спектаклида режиссёр ассистенти.</a:t>
                      </a:r>
                      <a:endParaRPr lang="ru-RU" sz="900" b="0" kern="1200" dirty="0">
                        <a:solidFill>
                          <a:schemeClr val="tx1"/>
                        </a:solidFill>
                        <a:latin typeface="+mn-lt"/>
                        <a:ea typeface="+mn-ea"/>
                        <a:cs typeface="+mn-cs"/>
                      </a:endParaRPr>
                    </a:p>
                    <a:p>
                      <a:pPr marL="0" algn="just" defTabSz="914400" rtl="0" eaLnBrk="1" latinLnBrk="0" hangingPunct="1"/>
                      <a:r>
                        <a:rPr lang="uz-Cyrl-UZ" sz="900" b="0" kern="1200" dirty="0">
                          <a:solidFill>
                            <a:schemeClr val="tx1"/>
                          </a:solidFill>
                          <a:latin typeface="+mn-lt"/>
                          <a:ea typeface="+mn-ea"/>
                          <a:cs typeface="+mn-cs"/>
                        </a:rPr>
                        <a:t>      2026 йилда Тоғай Муроднинг </a:t>
                      </a:r>
                      <a:r>
                        <a:rPr lang="en-US" sz="900" b="0" kern="1200" dirty="0">
                          <a:solidFill>
                            <a:schemeClr val="tx1"/>
                          </a:solidFill>
                          <a:latin typeface="+mn-lt"/>
                          <a:ea typeface="+mn-ea"/>
                          <a:cs typeface="+mn-cs"/>
                        </a:rPr>
                        <a:t>“</a:t>
                      </a:r>
                      <a:r>
                        <a:rPr lang="ru-RU" sz="900" b="0" kern="1200" dirty="0">
                          <a:solidFill>
                            <a:schemeClr val="tx1"/>
                          </a:solidFill>
                          <a:latin typeface="+mn-lt"/>
                          <a:ea typeface="+mn-ea"/>
                          <a:cs typeface="+mn-cs"/>
                        </a:rPr>
                        <a:t>От </a:t>
                      </a:r>
                      <a:r>
                        <a:rPr lang="ru-RU" sz="900" b="0" kern="1200" dirty="0" err="1">
                          <a:solidFill>
                            <a:schemeClr val="tx1"/>
                          </a:solidFill>
                          <a:latin typeface="+mn-lt"/>
                          <a:ea typeface="+mn-ea"/>
                          <a:cs typeface="+mn-cs"/>
                        </a:rPr>
                        <a:t>йи</a:t>
                      </a:r>
                      <a:r>
                        <a:rPr lang="uz-Cyrl-UZ" sz="900" b="0" kern="1200" dirty="0">
                          <a:solidFill>
                            <a:schemeClr val="tx1"/>
                          </a:solidFill>
                          <a:latin typeface="+mn-lt"/>
                          <a:ea typeface="+mn-ea"/>
                          <a:cs typeface="+mn-cs"/>
                        </a:rPr>
                        <a:t>ғлаган томонда</a:t>
                      </a:r>
                      <a:r>
                        <a:rPr lang="en-US" sz="900" b="0" kern="1200" dirty="0">
                          <a:solidFill>
                            <a:schemeClr val="tx1"/>
                          </a:solidFill>
                          <a:latin typeface="+mn-lt"/>
                          <a:ea typeface="+mn-ea"/>
                          <a:cs typeface="+mn-cs"/>
                        </a:rPr>
                        <a:t>”</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спектаклини</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сахналаштиришда</a:t>
                      </a:r>
                      <a:r>
                        <a:rPr lang="ru-RU" sz="900" b="0" kern="1200" dirty="0">
                          <a:solidFill>
                            <a:schemeClr val="tx1"/>
                          </a:solidFill>
                          <a:latin typeface="+mn-lt"/>
                          <a:ea typeface="+mn-ea"/>
                          <a:cs typeface="+mn-cs"/>
                        </a:rPr>
                        <a:t> режиссёр </a:t>
                      </a:r>
                      <a:r>
                        <a:rPr lang="ru-RU" sz="900" b="0" kern="1200" dirty="0" err="1">
                          <a:solidFill>
                            <a:schemeClr val="tx1"/>
                          </a:solidFill>
                          <a:latin typeface="+mn-lt"/>
                          <a:ea typeface="+mn-ea"/>
                          <a:cs typeface="+mn-cs"/>
                        </a:rPr>
                        <a:t>ассистенти</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сифатида</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ишлаган</a:t>
                      </a:r>
                      <a:r>
                        <a:rPr lang="ru-RU" sz="900" b="0" kern="1200" dirty="0">
                          <a:solidFill>
                            <a:schemeClr val="tx1"/>
                          </a:solidFill>
                          <a:latin typeface="+mn-lt"/>
                          <a:ea typeface="+mn-ea"/>
                          <a:cs typeface="+mn-cs"/>
                        </a:rPr>
                        <a:t>.</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6894">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04068">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ўтказилиб келинадиган барча оммавий маданий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a:extLst>
              <a:ext uri="{FF2B5EF4-FFF2-40B4-BE49-F238E27FC236}">
                <a16:creationId xmlns:a16="http://schemas.microsoft.com/office/drawing/2014/main" id="{2ED3A180-0ACE-DCE7-1B03-3D7819E0438F}"/>
              </a:ext>
            </a:extLst>
          </p:cNvPr>
          <p:cNvPicPr>
            <a:picLocks noChangeAspect="1"/>
          </p:cNvPicPr>
          <p:nvPr/>
        </p:nvPicPr>
        <p:blipFill>
          <a:blip r:embed="rId2"/>
          <a:stretch>
            <a:fillRect/>
          </a:stretch>
        </p:blipFill>
        <p:spPr>
          <a:xfrm>
            <a:off x="213644" y="1128045"/>
            <a:ext cx="941825" cy="1116315"/>
          </a:xfrm>
          <a:prstGeom prst="rect">
            <a:avLst/>
          </a:prstGeom>
        </p:spPr>
      </p:pic>
    </p:spTree>
    <p:extLst>
      <p:ext uri="{BB962C8B-B14F-4D97-AF65-F5344CB8AC3E}">
        <p14:creationId xmlns:p14="http://schemas.microsoft.com/office/powerpoint/2010/main" val="2229921285"/>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914973402"/>
              </p:ext>
            </p:extLst>
          </p:nvPr>
        </p:nvGraphicFramePr>
        <p:xfrm>
          <a:off x="144489" y="862526"/>
          <a:ext cx="3427547" cy="5946798"/>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Рузиева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Анор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Райимовна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09.06.1963</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Қарши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Турмушга чиқмаган</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b="1" kern="1200" dirty="0">
                          <a:solidFill>
                            <a:schemeClr val="tx1"/>
                          </a:solidFill>
                          <a:effectLst/>
                          <a:latin typeface="+mn-lt"/>
                          <a:ea typeface="+mn-ea"/>
                          <a:cs typeface="+mn-cs"/>
                        </a:rPr>
                        <a:t>РУЗИЕВ </a:t>
                      </a:r>
                      <a:r>
                        <a:rPr lang="ru-RU" sz="900" b="1" kern="1200" dirty="0" err="1">
                          <a:solidFill>
                            <a:schemeClr val="tx1"/>
                          </a:solidFill>
                          <a:effectLst/>
                          <a:latin typeface="+mn-lt"/>
                          <a:ea typeface="+mn-ea"/>
                          <a:cs typeface="+mn-cs"/>
                        </a:rPr>
                        <a:t>Райим</a:t>
                      </a:r>
                      <a:r>
                        <a:rPr lang="uz-Cyrl-UZ" sz="900" b="1" kern="1200" noProof="0" dirty="0">
                          <a:solidFill>
                            <a:schemeClr val="tx1"/>
                          </a:solidFill>
                          <a:latin typeface="+mn-lt"/>
                          <a:ea typeface="+mn-ea"/>
                          <a:cs typeface="Arial" panose="020B0604020202020204" pitchFamily="34" charset="0"/>
                        </a:rPr>
                        <a:t> 1926 йил, Қарши тумани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kern="1200" dirty="0">
                          <a:solidFill>
                            <a:schemeClr val="tx1"/>
                          </a:solidFill>
                          <a:effectLst/>
                          <a:latin typeface="+mn-lt"/>
                          <a:ea typeface="+mn-ea"/>
                          <a:cs typeface="+mn-cs"/>
                        </a:rPr>
                        <a:t>2020-йил</a:t>
                      </a:r>
                      <a:r>
                        <a:rPr lang="uz-Cyrl-UZ" sz="900" kern="1200" dirty="0">
                          <a:solidFill>
                            <a:schemeClr val="tx1"/>
                          </a:solidFill>
                          <a:effectLst/>
                          <a:latin typeface="+mn-lt"/>
                          <a:ea typeface="+mn-ea"/>
                          <a:cs typeface="+mn-cs"/>
                        </a:rPr>
                        <a:t>да вафот этган</a:t>
                      </a:r>
                      <a:br>
                        <a:rPr lang="uz-Cyrl-UZ" sz="900" kern="1200" dirty="0">
                          <a:solidFill>
                            <a:schemeClr val="tx1"/>
                          </a:solidFill>
                          <a:effectLst/>
                          <a:latin typeface="+mn-lt"/>
                          <a:ea typeface="+mn-ea"/>
                          <a:cs typeface="+mn-cs"/>
                        </a:rPr>
                      </a:br>
                      <a:r>
                        <a:rPr lang="uz-Cyrl-UZ" sz="900" kern="1200" dirty="0">
                          <a:solidFill>
                            <a:schemeClr val="tx1"/>
                          </a:solidFill>
                          <a:effectLst/>
                          <a:latin typeface="+mn-lt"/>
                          <a:ea typeface="+mn-ea"/>
                          <a:cs typeface="+mn-cs"/>
                        </a:rPr>
                        <a:t>Қарши туманидаги </a:t>
                      </a:r>
                      <a:r>
                        <a:rPr lang="ru-RU" sz="900" kern="1200" dirty="0">
                          <a:solidFill>
                            <a:schemeClr val="tx1"/>
                          </a:solidFill>
                          <a:effectLst/>
                          <a:latin typeface="+mn-lt"/>
                          <a:ea typeface="+mn-ea"/>
                          <a:cs typeface="+mn-cs"/>
                        </a:rPr>
                        <a:t>58174</a:t>
                      </a:r>
                      <a:r>
                        <a:rPr lang="uz-Cyrl-UZ" sz="900" kern="1200" dirty="0">
                          <a:solidFill>
                            <a:schemeClr val="tx1"/>
                          </a:solidFill>
                          <a:effectLst/>
                          <a:latin typeface="+mn-lt"/>
                          <a:ea typeface="+mn-ea"/>
                          <a:cs typeface="+mn-cs"/>
                        </a:rPr>
                        <a:t>-ҳарбий қисм қоровул</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РАХМАТОВА Гулсин</a:t>
                      </a:r>
                    </a:p>
                    <a:p>
                      <a:pPr algn="l">
                        <a:lnSpc>
                          <a:spcPct val="85000"/>
                        </a:lnSpc>
                      </a:pPr>
                      <a:r>
                        <a:rPr lang="uz-Cyrl-UZ" sz="900" b="0" kern="1200" noProof="0" dirty="0">
                          <a:solidFill>
                            <a:schemeClr val="tx1"/>
                          </a:solidFill>
                          <a:latin typeface="+mn-lt"/>
                          <a:ea typeface="+mn-ea"/>
                          <a:cs typeface="Arial" panose="020B0604020202020204" pitchFamily="34" charset="0"/>
                        </a:rPr>
                        <a:t>1920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err="1">
                          <a:solidFill>
                            <a:schemeClr val="tx1"/>
                          </a:solidFill>
                          <a:latin typeface="+mn-lt"/>
                          <a:ea typeface="+mn-ea"/>
                          <a:cs typeface="Arial" panose="020B0604020202020204" pitchFamily="34" charset="0"/>
                        </a:rPr>
                        <a:t>пенсияда</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уй</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бекаси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48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1991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санъат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6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a:solidFill>
                            <a:schemeClr val="tx1"/>
                          </a:solidFill>
                          <a:effectLst/>
                          <a:latin typeface="+mn-lt"/>
                          <a:ea typeface="+mn-ea"/>
                          <a:cs typeface="+mn-cs"/>
                        </a:rPr>
                        <a:t>Мусиқали </a:t>
                      </a:r>
                      <a:r>
                        <a:rPr lang="uz-Cyrl-UZ" sz="900" kern="1200" dirty="0">
                          <a:solidFill>
                            <a:schemeClr val="tx1"/>
                          </a:solidFill>
                          <a:effectLst/>
                          <a:latin typeface="+mn-lt"/>
                          <a:ea typeface="+mn-ea"/>
                          <a:cs typeface="+mn-cs"/>
                        </a:rPr>
                        <a:t>театр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1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995050543"/>
              </p:ext>
            </p:extLst>
          </p:nvPr>
        </p:nvGraphicFramePr>
        <p:xfrm>
          <a:off x="3674526" y="865687"/>
          <a:ext cx="3172841" cy="594653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1195">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4896">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Олий тоифали вокал артисти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459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915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45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411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0849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438367">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p>
                      <a:pPr marL="0" marR="0" indent="0" algn="l" defTabSz="914400" rtl="0" eaLnBrk="1" fontAlgn="auto" latinLnBrk="0" hangingPunct="1">
                        <a:lnSpc>
                          <a:spcPct val="107000"/>
                        </a:lnSpc>
                        <a:spcBef>
                          <a:spcPts val="0"/>
                        </a:spcBef>
                        <a:spcAft>
                          <a:spcPts val="0"/>
                        </a:spcAft>
                        <a:buClrTx/>
                        <a:buSzTx/>
                        <a:buFontTx/>
                        <a:buNone/>
                        <a:tabLst/>
                        <a:defRPr/>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1276">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938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858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6134">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18461">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2018 й. Ўзбекистонда хизмат </a:t>
                      </a:r>
                      <a:r>
                        <a:rPr lang="uz-Cyrl-UZ" sz="900" noProof="0" dirty="0" smtClean="0">
                          <a:effectLst/>
                          <a:latin typeface="+mn-lt"/>
                          <a:ea typeface="Calibri" panose="020F0502020204030204" pitchFamily="34" charset="0"/>
                          <a:cs typeface="Times New Roman" panose="02020603050405020304" pitchFamily="18" charset="0"/>
                        </a:rPr>
                        <a:t>кўрсатган </a:t>
                      </a:r>
                      <a:r>
                        <a:rPr lang="uz-Cyrl-UZ" sz="900" noProof="0" dirty="0">
                          <a:effectLst/>
                          <a:latin typeface="+mn-lt"/>
                          <a:ea typeface="Calibri" panose="020F0502020204030204" pitchFamily="34" charset="0"/>
                          <a:cs typeface="Times New Roman" panose="02020603050405020304" pitchFamily="18" charset="0"/>
                        </a:rPr>
                        <a:t>артист</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125831398"/>
              </p:ext>
            </p:extLst>
          </p:nvPr>
        </p:nvGraphicFramePr>
        <p:xfrm>
          <a:off x="6949857" y="869287"/>
          <a:ext cx="2817247" cy="5936573"/>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48041">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16824">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41814">
                <a:tc>
                  <a:txBody>
                    <a:bodyPr/>
                    <a:lstStyle/>
                    <a:p>
                      <a:pPr algn="just"/>
                      <a:r>
                        <a:rPr lang="uz-Cyrl-UZ" sz="900" b="0" kern="1200" dirty="0" smtClean="0">
                          <a:solidFill>
                            <a:schemeClr val="tx1"/>
                          </a:solidFill>
                          <a:effectLst/>
                          <a:latin typeface="+mn-lt"/>
                          <a:ea typeface="+mn-ea"/>
                          <a:cs typeface="+mn-cs"/>
                        </a:rPr>
                        <a:t>    А.Рузиева </a:t>
                      </a:r>
                      <a:r>
                        <a:rPr lang="uz-Cyrl-UZ" sz="900" b="0" kern="1200" dirty="0">
                          <a:solidFill>
                            <a:schemeClr val="tx1"/>
                          </a:solidFill>
                          <a:effectLst/>
                          <a:latin typeface="+mn-lt"/>
                          <a:ea typeface="+mn-ea"/>
                          <a:cs typeface="+mn-cs"/>
                        </a:rPr>
                        <a:t>“Эй ёр, хуш келибсиз”, “Ўзбек қизи овози”, “Ўзбекистон муҳаммаси”, “Онажон”, “Онадур ул” “Тошкентим гулшаним” каби қўшиқларни маромига етказиб ижро этган.</a:t>
                      </a:r>
                      <a:endParaRPr lang="ru-RU" sz="900" b="0" kern="1200" dirty="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    А.Рузиева </a:t>
                      </a:r>
                      <a:r>
                        <a:rPr lang="uz-Cyrl-UZ" sz="900" b="0" kern="1200" dirty="0">
                          <a:solidFill>
                            <a:schemeClr val="tx1"/>
                          </a:solidFill>
                          <a:effectLst/>
                          <a:latin typeface="+mn-lt"/>
                          <a:ea typeface="+mn-ea"/>
                          <a:cs typeface="+mn-cs"/>
                        </a:rPr>
                        <a:t>“Ўзбек қизи овози” қўшиғи билан “Даврамизга марҳабо” ва “Ўзбекистон куйлагай” конкурсларида муваффақиятли иштирок этган. У 1982 йилда “Чўл чамани” ансамбли билан биргаликда Болгария ва Руминия давлатларида ижодий гастрол сафарларида бўлди. 1986 йилда вилоят ижодкорлар қурултойида “Хуш келибсиз” қўшиғи билан иштирок этиб, театр ва рассомчилик санъати олийгоҳига ўқишга таклиф этилди. У талабалик даврида “Лайли ва Мажнун” мусиқали драмасида Лайли, “Икки бойга бир малай”да Биотреччи каби асосий образларни </a:t>
                      </a:r>
                      <a:r>
                        <a:rPr lang="uz-Cyrl-UZ" sz="900" b="0" kern="1200" dirty="0" smtClean="0">
                          <a:solidFill>
                            <a:schemeClr val="tx1"/>
                          </a:solidFill>
                          <a:effectLst/>
                          <a:latin typeface="+mn-lt"/>
                          <a:ea typeface="+mn-ea"/>
                          <a:cs typeface="+mn-cs"/>
                        </a:rPr>
                        <a:t>яратган.</a:t>
                      </a:r>
                    </a:p>
                    <a:p>
                      <a:pPr algn="just"/>
                      <a:r>
                        <a:rPr lang="uz-Cyrl-UZ" sz="900" b="0" kern="1200" dirty="0" smtClean="0">
                          <a:solidFill>
                            <a:schemeClr val="tx1"/>
                          </a:solidFill>
                          <a:effectLst/>
                          <a:latin typeface="+mn-lt"/>
                          <a:ea typeface="+mn-ea"/>
                          <a:cs typeface="+mn-cs"/>
                        </a:rPr>
                        <a:t>    У </a:t>
                      </a:r>
                      <a:r>
                        <a:rPr lang="uz-Cyrl-UZ" sz="900" b="0" kern="1200" dirty="0">
                          <a:solidFill>
                            <a:schemeClr val="tx1"/>
                          </a:solidFill>
                          <a:effectLst/>
                          <a:latin typeface="+mn-lt"/>
                          <a:ea typeface="+mn-ea"/>
                          <a:cs typeface="+mn-cs"/>
                        </a:rPr>
                        <a:t>истеъдодли актриса сифатида “Соҳибқирон” драмасида Канизак, “Кашмир қўшиғи” мусиқали драмасида Наргиз, “Лайли ва Мажнун” мусиқали драмасида Навфалнинг қизи, “Шамширбоз” эртак томошасида Малика, “Дангаса Дадавой”да Кампир, “Қўнғироқли алдоқчи”да Бўталоқ, “Ғурбатда ғариб”да Она, “Виждон дориси”да Феруза, “Тошкентнинг нозанин маликаси”да Мунаввар, “Амир Темур”да Ўлжой Туркон, “Ажабгул ва Ражабгул”да Ражабгул, “Тақдир”да Норжон, “Кўзалар”да Она, “Бир кам дунё”да Адолат, “Ҳисобини билганлар”да Савдогар, “Танҳо юлдуз”да Кундош, “Қирол Лир”да Гонрелия, Ўзбекистон Қаҳрамони, Ўзбекистон халқ шоири Абдулла Орипов қаламига мансуб “Жаннатга йўл” мусиқали драмасида Она каби кўплаб ролларни маҳорат билан ижро этган.</a:t>
                      </a:r>
                      <a:r>
                        <a:rPr lang="uz-Cyrl-UZ" sz="900" b="0" noProof="0" dirty="0">
                          <a:solidFill>
                            <a:schemeClr val="tx1"/>
                          </a:solidFill>
                          <a:latin typeface="+mn-lt"/>
                        </a:rPr>
                        <a:t> </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4104">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72867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kern="1200" dirty="0" smtClean="0">
                          <a:solidFill>
                            <a:schemeClr val="tx1"/>
                          </a:solidFill>
                          <a:effectLst/>
                          <a:latin typeface="+mn-lt"/>
                          <a:ea typeface="+mn-ea"/>
                          <a:cs typeface="+mn-cs"/>
                        </a:rPr>
                        <a:t>    Қашқадарё </a:t>
                      </a:r>
                      <a:r>
                        <a:rPr lang="uz-Cyrl-UZ" sz="900" b="0" kern="1200" dirty="0">
                          <a:solidFill>
                            <a:schemeClr val="tx1"/>
                          </a:solidFill>
                          <a:effectLst/>
                          <a:latin typeface="+mn-lt"/>
                          <a:ea typeface="+mn-ea"/>
                          <a:cs typeface="+mn-cs"/>
                        </a:rPr>
                        <a:t>вилоят миқёсидаги ўтказилган “Мустақиллик”, “Наврўз” умумхалқ байрамлари ва оммавий-маданий тадбирларда фаол иштирок этиб келади.</a:t>
                      </a:r>
                      <a:r>
                        <a:rPr lang="uz-Cyrl-UZ" sz="800" b="0" dirty="0">
                          <a:effectLst/>
                          <a:latin typeface="+mn-lt"/>
                          <a:ea typeface="Calibri" panose="020F0502020204030204" pitchFamily="34" charset="0"/>
                          <a:cs typeface="Times New Roman" panose="02020603050405020304" pitchFamily="18" charset="0"/>
                        </a:rPr>
                        <a:t> </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Picture 2" descr="Копия 5">
            <a:extLst>
              <a:ext uri="{FF2B5EF4-FFF2-40B4-BE49-F238E27FC236}">
                <a16:creationId xmlns:a16="http://schemas.microsoft.com/office/drawing/2014/main" id="{EE63A3D5-77F7-4834-B7A7-2BB6F37FEA55}"/>
              </a:ext>
            </a:extLst>
          </p:cNvPr>
          <p:cNvPicPr>
            <a:picLocks noChangeAspect="1" noChangeArrowheads="1"/>
          </p:cNvPicPr>
          <p:nvPr/>
        </p:nvPicPr>
        <p:blipFill>
          <a:blip r:embed="rId2" cstate="hqprint">
            <a:lum contrast="20000"/>
            <a:extLst>
              <a:ext uri="{28A0092B-C50C-407E-A947-70E740481C1C}">
                <a14:useLocalDpi xmlns:a14="http://schemas.microsoft.com/office/drawing/2010/main" val="0"/>
              </a:ext>
            </a:extLst>
          </a:blip>
          <a:srcRect/>
          <a:stretch>
            <a:fillRect/>
          </a:stretch>
        </p:blipFill>
        <p:spPr bwMode="auto">
          <a:xfrm>
            <a:off x="290945" y="1136591"/>
            <a:ext cx="848284" cy="1083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206947178"/>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4117684554"/>
              </p:ext>
            </p:extLst>
          </p:nvPr>
        </p:nvGraphicFramePr>
        <p:xfrm>
          <a:off x="144489" y="865703"/>
          <a:ext cx="3427547" cy="5917480"/>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2690">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727">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effectLst/>
                          <a:latin typeface="+mn-lt"/>
                          <a:ea typeface="+mn-ea"/>
                          <a:cs typeface="+mn-cs"/>
                        </a:rPr>
                        <a:t>Карабаев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088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a:solidFill>
                            <a:schemeClr val="tx1"/>
                          </a:solidFill>
                          <a:effectLst/>
                          <a:latin typeface="+mn-lt"/>
                          <a:ea typeface="+mn-ea"/>
                          <a:cs typeface="+mn-cs"/>
                        </a:rPr>
                        <a:t>Садулла</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20088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a:solidFill>
                            <a:schemeClr val="tx1"/>
                          </a:solidFill>
                          <a:effectLst/>
                          <a:latin typeface="+mn-lt"/>
                          <a:ea typeface="+mn-ea"/>
                          <a:cs typeface="+mn-cs"/>
                        </a:rPr>
                        <a:t>Ўлмасович</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727">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72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20.04.1959</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72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Муборак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0304">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9852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5 нафар ўғил, 1 нафар қиз фарзанди </a:t>
                      </a:r>
                      <a:r>
                        <a:rPr lang="uz-Cyrl-UZ" sz="900" b="0" kern="1200" noProof="0">
                          <a:solidFill>
                            <a:schemeClr val="tx1"/>
                          </a:solidFill>
                          <a:latin typeface="+mn-lt"/>
                          <a:ea typeface="+mn-ea"/>
                          <a:cs typeface="+mn-cs"/>
                        </a:rPr>
                        <a:t>бор 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0304">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32851">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dirty="0">
                          <a:solidFill>
                            <a:schemeClr val="tx1"/>
                          </a:solidFill>
                          <a:effectLst/>
                          <a:latin typeface="+mn-lt"/>
                          <a:ea typeface="+mn-ea"/>
                          <a:cs typeface="+mn-cs"/>
                        </a:rPr>
                        <a:t>КАРАБОЕВ Ўлмас </a:t>
                      </a:r>
                    </a:p>
                    <a:p>
                      <a:pPr algn="l">
                        <a:lnSpc>
                          <a:spcPct val="85000"/>
                        </a:lnSpc>
                      </a:pPr>
                      <a:r>
                        <a:rPr lang="uz-Cyrl-UZ" sz="900" b="0" kern="1200" noProof="0" dirty="0">
                          <a:solidFill>
                            <a:schemeClr val="tx1"/>
                          </a:solidFill>
                          <a:latin typeface="+mn-lt"/>
                          <a:ea typeface="+mn-ea"/>
                          <a:cs typeface="Arial" panose="020B0604020202020204" pitchFamily="34" charset="0"/>
                        </a:rPr>
                        <a:t>1906 йил, Муборак тумани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a:solidFill>
                            <a:schemeClr val="tx1"/>
                          </a:solidFill>
                          <a:effectLst/>
                          <a:latin typeface="+mn-lt"/>
                          <a:ea typeface="+mn-ea"/>
                          <a:cs typeface="+mn-cs"/>
                        </a:rPr>
                        <a:t>1989 йил вафот этган</a:t>
                      </a:r>
                      <a:endParaRPr lang="ru-RU"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(Муборак туманидаги жамоа хўжалик ишчиси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14960">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dirty="0">
                          <a:solidFill>
                            <a:schemeClr val="tx1"/>
                          </a:solidFill>
                          <a:effectLst/>
                          <a:latin typeface="+mn-lt"/>
                          <a:ea typeface="+mn-ea"/>
                          <a:cs typeface="+mn-cs"/>
                        </a:rPr>
                        <a:t>НИЁЗОВА Дуржамол</a:t>
                      </a:r>
                    </a:p>
                    <a:p>
                      <a:pPr algn="l">
                        <a:lnSpc>
                          <a:spcPct val="85000"/>
                        </a:lnSpc>
                      </a:pPr>
                      <a:r>
                        <a:rPr lang="uz-Cyrl-UZ" sz="900" b="0" kern="1200" noProof="0" dirty="0">
                          <a:solidFill>
                            <a:schemeClr val="tx1"/>
                          </a:solidFill>
                          <a:latin typeface="+mn-lt"/>
                          <a:ea typeface="+mn-ea"/>
                          <a:cs typeface="Arial" panose="020B0604020202020204" pitchFamily="34" charset="0"/>
                        </a:rPr>
                        <a:t>1922 йил, Муборак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a:solidFill>
                            <a:schemeClr val="tx1"/>
                          </a:solidFill>
                          <a:effectLst/>
                          <a:latin typeface="+mn-lt"/>
                          <a:ea typeface="+mn-ea"/>
                          <a:cs typeface="+mn-cs"/>
                        </a:rPr>
                        <a:t>1974 йил вафот этган</a:t>
                      </a:r>
                      <a:endParaRPr lang="ru-RU"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(уй бекаси)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93508">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uz-Cyrl-UZ" sz="900" b="1" kern="1200" dirty="0">
                          <a:solidFill>
                            <a:schemeClr val="tx1"/>
                          </a:solidFill>
                          <a:effectLst/>
                          <a:latin typeface="+mn-lt"/>
                          <a:ea typeface="+mn-ea"/>
                          <a:cs typeface="+mn-cs"/>
                        </a:rPr>
                        <a:t>ОТАМУРОДОВА Норжон</a:t>
                      </a:r>
                      <a:endParaRPr lang="ru-RU" sz="900" b="1" kern="1200" dirty="0">
                        <a:solidFill>
                          <a:schemeClr val="tx1"/>
                        </a:solidFill>
                        <a:effectLst/>
                        <a:latin typeface="+mn-lt"/>
                        <a:ea typeface="+mn-ea"/>
                        <a:cs typeface="+mn-cs"/>
                      </a:endParaRPr>
                    </a:p>
                    <a:p>
                      <a:r>
                        <a:rPr lang="uz-Cyrl-UZ" sz="900" b="1" kern="1200" dirty="0">
                          <a:solidFill>
                            <a:schemeClr val="tx1"/>
                          </a:solidFill>
                          <a:effectLst/>
                          <a:latin typeface="+mn-lt"/>
                          <a:ea typeface="+mn-ea"/>
                          <a:cs typeface="+mn-cs"/>
                        </a:rPr>
                        <a:t>Шаймуратовн</a:t>
                      </a:r>
                      <a:r>
                        <a:rPr lang="uz-Cyrl-UZ" sz="900" kern="1200" dirty="0">
                          <a:solidFill>
                            <a:schemeClr val="tx1"/>
                          </a:solidFill>
                          <a:effectLst/>
                          <a:latin typeface="+mn-lt"/>
                          <a:ea typeface="+mn-ea"/>
                          <a:cs typeface="+mn-cs"/>
                        </a:rPr>
                        <a:t>а </a:t>
                      </a:r>
                      <a:r>
                        <a:rPr lang="uz-Cyrl-UZ" sz="900" b="0" kern="1200" noProof="0" dirty="0">
                          <a:solidFill>
                            <a:schemeClr val="tx1"/>
                          </a:solidFill>
                          <a:latin typeface="+mn-lt"/>
                          <a:ea typeface="+mn-ea"/>
                          <a:cs typeface="Arial" panose="020B0604020202020204" pitchFamily="34" charset="0"/>
                        </a:rPr>
                        <a:t>1963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Уй бекаси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080">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99572">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1985 й. Тошкент давлат театр ва рассомчилик санъати институти </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63587">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драма ва кино актёри</a:t>
                      </a:r>
                      <a:endParaRPr lang="ru-RU" sz="90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394">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394">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16627">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667069783"/>
              </p:ext>
            </p:extLst>
          </p:nvPr>
        </p:nvGraphicFramePr>
        <p:xfrm>
          <a:off x="3674526" y="865689"/>
          <a:ext cx="3172841" cy="5917496"/>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7654">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61614">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Олий тоифали драма артисти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941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330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44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797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2569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6979">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6979">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505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a:t>
                      </a:r>
                      <a:endParaRPr lang="uz-Cyrl-UZ" sz="900" b="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366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0604">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58563">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2011 й. Ўзбекистонда хизмат кўрстаган артист</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654312951"/>
              </p:ext>
            </p:extLst>
          </p:nvPr>
        </p:nvGraphicFramePr>
        <p:xfrm>
          <a:off x="6944264" y="865689"/>
          <a:ext cx="2817247" cy="5917496"/>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9151">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1392">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93457">
                <a:tc>
                  <a:txBody>
                    <a:bodyPr/>
                    <a:lstStyle/>
                    <a:p>
                      <a:pPr algn="just">
                        <a:lnSpc>
                          <a:spcPct val="100000"/>
                        </a:lnSpc>
                      </a:pPr>
                      <a:r>
                        <a:rPr lang="uz-Cyrl-UZ" sz="900" b="0" kern="1200" dirty="0" smtClean="0">
                          <a:solidFill>
                            <a:schemeClr val="tx1"/>
                          </a:solidFill>
                          <a:effectLst/>
                          <a:latin typeface="+mn-lt"/>
                          <a:ea typeface="+mn-ea"/>
                          <a:cs typeface="+mn-cs"/>
                        </a:rPr>
                        <a:t>    С</a:t>
                      </a:r>
                      <a:r>
                        <a:rPr lang="uz-Cyrl-UZ" sz="900" b="0" kern="1200" dirty="0">
                          <a:solidFill>
                            <a:schemeClr val="tx1"/>
                          </a:solidFill>
                          <a:effectLst/>
                          <a:latin typeface="+mn-lt"/>
                          <a:ea typeface="+mn-ea"/>
                          <a:cs typeface="+mn-cs"/>
                        </a:rPr>
                        <a:t>. Қорабоев истеъдодли актёр сифатида “Эрингманку, Садоқат”да Ғайрат, “Жаннатга йул”да Югурдак, “Ака-ука совчилар”да Зокир, “Шамширбоз”да Шамширбоз, “Сеҳрли узук”да Яхши бола, “Ажабгул ва Ражабгул”да Йулдошвой, “Эрингни бериб тур”да  Нурилло, “Янги ариқ”да Қайсарбек, “Соҳибқирон”да Амир Ҳусайн, “Руҳлар исёни”да Назрул Ислом, “Нуҳ кемаси”да Илиша, “Лайли ва Мажнун”да Навфал, “Ҳисобини билганлар”да Миршаб каби бир қанча образларни ижро этган.</a:t>
                      </a:r>
                    </a:p>
                    <a:p>
                      <a:pPr algn="just">
                        <a:lnSpc>
                          <a:spcPct val="100000"/>
                        </a:lnSpc>
                      </a:pPr>
                      <a:r>
                        <a:rPr lang="uz-Cyrl-UZ" sz="900" b="0" kern="1200" dirty="0" smtClean="0">
                          <a:solidFill>
                            <a:schemeClr val="tx1"/>
                          </a:solidFill>
                          <a:effectLst/>
                          <a:latin typeface="+mn-lt"/>
                          <a:ea typeface="+mn-ea"/>
                          <a:cs typeface="+mn-cs"/>
                        </a:rPr>
                        <a:t>    С.Карабоев </a:t>
                      </a:r>
                      <a:r>
                        <a:rPr lang="uz-Cyrl-UZ" sz="900" b="0" kern="1200" dirty="0">
                          <a:solidFill>
                            <a:schemeClr val="tx1"/>
                          </a:solidFill>
                          <a:effectLst/>
                          <a:latin typeface="+mn-lt"/>
                          <a:ea typeface="+mn-ea"/>
                          <a:cs typeface="+mn-cs"/>
                        </a:rPr>
                        <a:t>иш фаолияти даврида образлар яратибгина қолмай лирик ва мумтоз қўшиқлар ижрочиси ҳамдир. Мумтоз қўшиқлардан “Насруллойи”, “Грия”, “Бухоро ироқи”, “Куйгай”, “Феруз-1”, “Феруз-2”, “Гулузорим” каби бир қанча классик қўшиқлари билан бир неча концерт дастурлари ва гастролларида иштирок этган.</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3432">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20064">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kern="1200" dirty="0" smtClean="0">
                          <a:solidFill>
                            <a:schemeClr val="tx1"/>
                          </a:solidFill>
                          <a:effectLst/>
                          <a:latin typeface="+mn-lt"/>
                          <a:ea typeface="+mn-ea"/>
                          <a:cs typeface="+mn-cs"/>
                        </a:rPr>
                        <a:t>    Қашқадарё </a:t>
                      </a:r>
                      <a:r>
                        <a:rPr lang="uz-Cyrl-UZ" sz="900" b="0" kern="1200" dirty="0">
                          <a:solidFill>
                            <a:schemeClr val="tx1"/>
                          </a:solidFill>
                          <a:effectLst/>
                          <a:latin typeface="+mn-lt"/>
                          <a:ea typeface="+mn-ea"/>
                          <a:cs typeface="+mn-cs"/>
                        </a:rPr>
                        <a:t>вилоят миқёсидаги “Мустақиллик”, “Наврўз” умумхалқ байрамлари ва бошқа оммавий-маданий тадбирларда </a:t>
                      </a:r>
                      <a:r>
                        <a:rPr lang="uz-Cyrl-UZ" sz="900" b="0" baseline="0" dirty="0">
                          <a:effectLst/>
                          <a:latin typeface="+mn-lt"/>
                          <a:ea typeface="Calibri" panose="020F0502020204030204" pitchFamily="34" charset="0"/>
                          <a:cs typeface="Times New Roman" panose="02020603050405020304" pitchFamily="18" charset="0"/>
                        </a:rPr>
                        <a:t>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a:extLst>
              <a:ext uri="{FF2B5EF4-FFF2-40B4-BE49-F238E27FC236}">
                <a16:creationId xmlns:a16="http://schemas.microsoft.com/office/drawing/2014/main" id="{14B6919C-AC5A-49F0-8995-A4C195E6DEE9}"/>
              </a:ext>
            </a:extLst>
          </p:cNvPr>
          <p:cNvPicPr>
            <a:picLocks noChangeAspect="1"/>
          </p:cNvPicPr>
          <p:nvPr/>
        </p:nvPicPr>
        <p:blipFill>
          <a:blip r:embed="rId2"/>
          <a:stretch>
            <a:fillRect/>
          </a:stretch>
        </p:blipFill>
        <p:spPr>
          <a:xfrm>
            <a:off x="254807" y="1116147"/>
            <a:ext cx="917340" cy="1153228"/>
          </a:xfrm>
          <a:prstGeom prst="rect">
            <a:avLst/>
          </a:prstGeom>
        </p:spPr>
      </p:pic>
    </p:spTree>
    <p:extLst>
      <p:ext uri="{BB962C8B-B14F-4D97-AF65-F5344CB8AC3E}">
        <p14:creationId xmlns:p14="http://schemas.microsoft.com/office/powerpoint/2010/main" val="3653958157"/>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701761544"/>
              </p:ext>
            </p:extLst>
          </p:nvPr>
        </p:nvGraphicFramePr>
        <p:xfrm>
          <a:off x="144489" y="865702"/>
          <a:ext cx="3427547" cy="5909168"/>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4032">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0776">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ИСРОИЛОВА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077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Хурият</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077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Исмагиловна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0776">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latin typeface="+mn-lt"/>
                      </a:endParaRPr>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077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26.05.1955</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077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Қибрай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577">
                <a:tc gridSpan="5">
                  <a:txBody>
                    <a:bodyPr/>
                    <a:lstStyle/>
                    <a:p>
                      <a:pPr algn="ctr"/>
                      <a:r>
                        <a:rPr lang="uz-Cyrl-UZ" sz="1000" b="1" noProof="0" dirty="0">
                          <a:solidFill>
                            <a:schemeClr val="bg1"/>
                          </a:solidFill>
                          <a:latin typeface="+mn-lt"/>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56122">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1 нафар ўғил,2 қиз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нафақада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577">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mn-lt"/>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700567">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a:solidFill>
                            <a:schemeClr val="tx1"/>
                          </a:solidFill>
                          <a:effectLst/>
                          <a:latin typeface="+mn-lt"/>
                          <a:ea typeface="+mn-ea"/>
                          <a:cs typeface="+mn-cs"/>
                        </a:rPr>
                        <a:t>Исроилов Исмогил </a:t>
                      </a:r>
                      <a:r>
                        <a:rPr lang="uz-Cyrl-UZ" sz="900" b="0" kern="1200" noProof="0" dirty="0">
                          <a:solidFill>
                            <a:schemeClr val="tx1"/>
                          </a:solidFill>
                          <a:latin typeface="+mn-lt"/>
                          <a:ea typeface="+mn-ea"/>
                          <a:cs typeface="Arial" panose="020B0604020202020204" pitchFamily="34" charset="0"/>
                        </a:rPr>
                        <a:t>1934 йил, Қибрай тумани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spcAft>
                          <a:spcPts val="0"/>
                        </a:spcAft>
                      </a:pPr>
                      <a:r>
                        <a:rPr lang="uz-Cyrl-UZ" sz="900" dirty="0">
                          <a:effectLst/>
                          <a:latin typeface="+mn-lt"/>
                          <a:ea typeface="Courier New" panose="02070309020205020404" pitchFamily="49" charset="0"/>
                        </a:rPr>
                        <a:t>1961 йил вафот этган</a:t>
                      </a:r>
                      <a:endParaRPr lang="ru-RU" sz="900" dirty="0">
                        <a:effectLst/>
                        <a:latin typeface="+mn-lt"/>
                        <a:ea typeface="Courier New" panose="02070309020205020404" pitchFamily="49" charset="0"/>
                      </a:endParaRPr>
                    </a:p>
                    <a:p>
                      <a:pPr algn="ctr">
                        <a:spcAft>
                          <a:spcPts val="0"/>
                        </a:spcAft>
                      </a:pPr>
                      <a:r>
                        <a:rPr lang="uz-Cyrl-UZ" sz="900" dirty="0">
                          <a:effectLst/>
                          <a:latin typeface="+mn-lt"/>
                          <a:ea typeface="Courier New" panose="02070309020205020404" pitchFamily="49" charset="0"/>
                        </a:rPr>
                        <a:t>(Тошкент вилояти Қибрай тумани “Байтқўрғон” жамоа хўжалиги ишчиси)</a:t>
                      </a:r>
                      <a:endParaRPr lang="ru-RU" sz="900" dirty="0">
                        <a:effectLst/>
                        <a:latin typeface="+mn-lt"/>
                        <a:ea typeface="Courier New" panose="02070309020205020404" pitchFamily="49"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42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a:solidFill>
                            <a:schemeClr val="tx1"/>
                          </a:solidFill>
                          <a:effectLst/>
                          <a:latin typeface="+mn-lt"/>
                          <a:ea typeface="+mn-ea"/>
                          <a:cs typeface="+mn-cs"/>
                        </a:rPr>
                        <a:t>Исроилова (Каримова) Халима</a:t>
                      </a:r>
                      <a:endParaRPr lang="uz-Cyrl-UZ" sz="900" b="1" kern="1200" noProof="0" dirty="0">
                        <a:solidFill>
                          <a:schemeClr val="tx1"/>
                        </a:solidFill>
                        <a:latin typeface="+mn-lt"/>
                        <a:ea typeface="+mn-ea"/>
                        <a:cs typeface="Arial" panose="020B0604020202020204" pitchFamily="34" charset="0"/>
                      </a:endParaRPr>
                    </a:p>
                    <a:p>
                      <a:pPr algn="l">
                        <a:lnSpc>
                          <a:spcPct val="85000"/>
                        </a:lnSpc>
                      </a:pPr>
                      <a:r>
                        <a:rPr lang="uz-Cyrl-UZ" sz="900" b="0" kern="1200" noProof="0" dirty="0">
                          <a:solidFill>
                            <a:schemeClr val="tx1"/>
                          </a:solidFill>
                          <a:latin typeface="+mn-lt"/>
                          <a:ea typeface="+mn-ea"/>
                          <a:cs typeface="Arial" panose="020B0604020202020204" pitchFamily="34" charset="0"/>
                        </a:rPr>
                        <a:t>1936 йил, Қарши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2016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(вокал </a:t>
                      </a:r>
                      <a:r>
                        <a:rPr lang="ru-RU" sz="900" b="0" kern="1200" noProof="0" dirty="0" err="1">
                          <a:solidFill>
                            <a:schemeClr val="tx1"/>
                          </a:solidFill>
                          <a:latin typeface="+mn-lt"/>
                          <a:ea typeface="+mn-ea"/>
                          <a:cs typeface="Arial" panose="020B0604020202020204" pitchFamily="34" charset="0"/>
                        </a:rPr>
                        <a:t>артисти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840680">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a:solidFill>
                            <a:schemeClr val="tx1"/>
                          </a:solidFill>
                          <a:effectLst/>
                          <a:latin typeface="+mn-lt"/>
                          <a:ea typeface="+mn-ea"/>
                          <a:cs typeface="+mn-cs"/>
                        </a:rPr>
                        <a:t>Азамов Салохиддин Ражабович </a:t>
                      </a:r>
                      <a:r>
                        <a:rPr lang="uz-Cyrl-UZ" sz="900" b="0" kern="1200" noProof="0" dirty="0">
                          <a:solidFill>
                            <a:schemeClr val="tx1"/>
                          </a:solidFill>
                          <a:latin typeface="+mn-lt"/>
                          <a:ea typeface="+mn-ea"/>
                          <a:cs typeface="Arial" panose="020B0604020202020204" pitchFamily="34" charset="0"/>
                        </a:rPr>
                        <a:t>1936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spcAft>
                          <a:spcPts val="0"/>
                        </a:spcAft>
                      </a:pPr>
                      <a:r>
                        <a:rPr lang="uz-Cyrl-UZ" sz="900" dirty="0">
                          <a:effectLst/>
                          <a:latin typeface="+mn-lt"/>
                          <a:ea typeface="Courier New" panose="02070309020205020404" pitchFamily="49" charset="0"/>
                        </a:rPr>
                        <a:t>2016 йил вафот этган</a:t>
                      </a:r>
                      <a:br>
                        <a:rPr lang="uz-Cyrl-UZ" sz="900" dirty="0">
                          <a:effectLst/>
                          <a:latin typeface="+mn-lt"/>
                          <a:ea typeface="Courier New" panose="02070309020205020404" pitchFamily="49" charset="0"/>
                        </a:rPr>
                      </a:br>
                      <a:r>
                        <a:rPr lang="uz-Cyrl-UZ" sz="900" dirty="0">
                          <a:effectLst/>
                          <a:latin typeface="+mn-lt"/>
                          <a:ea typeface="Courier New" panose="02070309020205020404" pitchFamily="49" charset="0"/>
                        </a:rPr>
                        <a:t>(М.Тошмуҳаммедов номидаги вилояти мусиқали драма театри оркестр артисти)</a:t>
                      </a:r>
                      <a:endParaRPr lang="ru-RU" sz="900" dirty="0">
                        <a:effectLst/>
                        <a:latin typeface="+mn-lt"/>
                        <a:ea typeface="Courier New" panose="02070309020205020404" pitchFamily="49"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8225">
                <a:tc gridSpan="5">
                  <a:txBody>
                    <a:bodyPr/>
                    <a:lstStyle/>
                    <a:p>
                      <a:pPr algn="ctr">
                        <a:lnSpc>
                          <a:spcPct val="85000"/>
                        </a:lnSpc>
                      </a:pPr>
                      <a:r>
                        <a:rPr lang="uz-Cyrl-UZ" sz="1000" b="1" kern="1200" noProof="0" dirty="0">
                          <a:solidFill>
                            <a:schemeClr val="bg1"/>
                          </a:solidFill>
                          <a:latin typeface="+mn-lt"/>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56122">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1979 й. </a:t>
                      </a:r>
                      <a:r>
                        <a:rPr lang="uz-Cyrl-UZ" sz="900" kern="1200" dirty="0">
                          <a:solidFill>
                            <a:schemeClr val="tx1"/>
                          </a:solidFill>
                          <a:effectLst/>
                          <a:latin typeface="+mn-lt"/>
                          <a:ea typeface="+mn-ea"/>
                          <a:cs typeface="+mn-cs"/>
                        </a:rPr>
                        <a:t>Тошкент давлат театр ва рассомчилик институти </a:t>
                      </a:r>
                      <a:r>
                        <a:rPr lang="ru-RU" sz="900" b="0" kern="1200" noProof="0" dirty="0">
                          <a:solidFill>
                            <a:schemeClr val="tx1"/>
                          </a:solidFill>
                          <a:latin typeface="+mn-lt"/>
                          <a:ea typeface="+mn-ea"/>
                          <a:cs typeface="+mn-cs"/>
                        </a:rPr>
                        <a:t>(</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600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кино ва драма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512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512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15126">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212296561"/>
              </p:ext>
            </p:extLst>
          </p:nvPr>
        </p:nvGraphicFramePr>
        <p:xfrm>
          <a:off x="3674526" y="865689"/>
          <a:ext cx="3172841" cy="5909183"/>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7166">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61106">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1 тоифали драма артисти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9047">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299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55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768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2439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6548">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uz-Cyrl-UZ" sz="900" kern="1200" noProof="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6548">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462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kern="1200" noProof="0" dirty="0">
                          <a:solidFill>
                            <a:schemeClr val="tx1"/>
                          </a:solidFill>
                          <a:effectLst/>
                          <a:latin typeface="+mn-lt"/>
                          <a:ea typeface="Calibri" panose="020F0502020204030204" pitchFamily="34" charset="0"/>
                          <a:cs typeface="Times New Roman" panose="02020603050405020304" pitchFamily="18" charset="0"/>
                        </a:rPr>
                        <a:t>2025 йил </a:t>
                      </a:r>
                      <a:r>
                        <a:rPr lang="uz-Cyrl-UZ" sz="900" b="0"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a:t>
                      </a:r>
                      <a:endParaRPr lang="uz-Cyrl-UZ" sz="900" b="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328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0265">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55531">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2021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975881370"/>
              </p:ext>
            </p:extLst>
          </p:nvPr>
        </p:nvGraphicFramePr>
        <p:xfrm>
          <a:off x="6949857" y="869285"/>
          <a:ext cx="2817247" cy="5905587"/>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8589">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0684">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84817">
                <a:tc>
                  <a:txBody>
                    <a:bodyPr/>
                    <a:lstStyle/>
                    <a:p>
                      <a:pPr algn="just"/>
                      <a:r>
                        <a:rPr lang="uz-Cyrl-UZ" sz="900" b="0" noProof="0" dirty="0">
                          <a:solidFill>
                            <a:schemeClr val="tx1"/>
                          </a:solidFill>
                          <a:latin typeface="+mn-lt"/>
                        </a:rPr>
                        <a:t>   </a:t>
                      </a:r>
                      <a:r>
                        <a:rPr lang="uz-Cyrl-UZ" sz="900" b="0" noProof="0" dirty="0" smtClean="0">
                          <a:solidFill>
                            <a:schemeClr val="tx1"/>
                          </a:solidFill>
                          <a:latin typeface="+mn-lt"/>
                        </a:rPr>
                        <a:t> </a:t>
                      </a:r>
                      <a:r>
                        <a:rPr lang="uz-Cyrl-UZ" sz="900" kern="1200" dirty="0" smtClean="0">
                          <a:solidFill>
                            <a:schemeClr val="tx1"/>
                          </a:solidFill>
                          <a:effectLst/>
                          <a:latin typeface="+mn-lt"/>
                          <a:ea typeface="+mn-ea"/>
                          <a:cs typeface="+mn-cs"/>
                        </a:rPr>
                        <a:t>У </a:t>
                      </a:r>
                      <a:r>
                        <a:rPr lang="uz-Cyrl-UZ" sz="900" kern="1200" dirty="0">
                          <a:solidFill>
                            <a:schemeClr val="tx1"/>
                          </a:solidFill>
                          <a:effectLst/>
                          <a:latin typeface="+mn-lt"/>
                          <a:ea typeface="+mn-ea"/>
                          <a:cs typeface="+mn-cs"/>
                        </a:rPr>
                        <a:t>ўз ижодий фаолияти давомида театр саҳнасида юзлаб ранг-баранг, катта-кичик образлар яратиб мутахассислар эътирофи ва томошабинлар олқишига сазовор бўлди.</a:t>
                      </a:r>
                      <a:endParaRPr lang="ru-RU" sz="900" kern="1200" dirty="0">
                        <a:solidFill>
                          <a:schemeClr val="tx1"/>
                        </a:solidFill>
                        <a:effectLst/>
                        <a:latin typeface="+mn-lt"/>
                        <a:ea typeface="+mn-ea"/>
                        <a:cs typeface="+mn-cs"/>
                      </a:endParaRPr>
                    </a:p>
                    <a:p>
                      <a:pPr algn="just"/>
                      <a:r>
                        <a:rPr lang="uz-Cyrl-UZ" sz="900" kern="1200" dirty="0">
                          <a:solidFill>
                            <a:schemeClr val="tx1"/>
                          </a:solidFill>
                          <a:effectLst/>
                          <a:latin typeface="+mn-lt"/>
                          <a:ea typeface="+mn-ea"/>
                          <a:cs typeface="+mn-cs"/>
                        </a:rPr>
                        <a:t>У “Шайдо айлаган қиз”да Иқбол, “Тошболта ошиқ”да Саломат, “Олтин девор"да Зуҳра, “Аяжонларим”да Хайри , “Жон қизлар”да Жонсулув, “Изоп”да Милитта, “Соҳиллар ва тақдирлар”да Танзилла, “Меҳрибонлар”да Анжилека, “Ўжарлар”да Озода, “Ёрилтош”да Ойгул, “Туйдан олдин томоша”да Феруза, “Ғариблар”да Кора, “Оқибат”да Ирода, Манзура, “Холисхон”да Холис, “Ғурбат фарзанди”да Катя, “Тобутдан товуш”да Нетайхон, “Тоҳир ва Зуҳра”да Мохин, “Жаннатга йўл”да Ҳур киз, “Ака-ука совчилар”да Юлдуз, “Давлат болалари”да Назира, “Сароб”да Қиз, “Амир Темур”да Ўлжаой Туркон оға, “Виждон дориси”да Адолат, “Шамширбоз”да Малика, “Онаизор”да Розия, “Синган танбур нидоси”да Новвот хола, “Қари кизнинг бахти”да Маржон, “Такдир”да Амма, “Тўйлар муборак”да Кимё хола, “Аршин мололан”да Жаҳон хола каби образларини яратганлиги шулар жумласидандир.</a:t>
                      </a:r>
                    </a:p>
                    <a:p>
                      <a:pPr algn="just"/>
                      <a:r>
                        <a:rPr lang="uz-Cyrl-UZ" sz="900" kern="1200" dirty="0" smtClean="0">
                          <a:solidFill>
                            <a:schemeClr val="tx1"/>
                          </a:solidFill>
                          <a:effectLst/>
                          <a:latin typeface="+mn-lt"/>
                          <a:ea typeface="+mn-ea"/>
                          <a:cs typeface="+mn-cs"/>
                        </a:rPr>
                        <a:t>    Театр </a:t>
                      </a:r>
                      <a:r>
                        <a:rPr lang="uz-Cyrl-UZ" sz="900" kern="1200" dirty="0">
                          <a:solidFill>
                            <a:schemeClr val="tx1"/>
                          </a:solidFill>
                          <a:effectLst/>
                          <a:latin typeface="+mn-lt"/>
                          <a:ea typeface="+mn-ea"/>
                          <a:cs typeface="+mn-cs"/>
                        </a:rPr>
                        <a:t>сахнасидаги ролларидан ташкари турли кино ва ведиофильмларда ҳам иштирок этиб, томошабинлар қалбидан чуқур жой эгаллаб келмокда. Жумладан, “Кадимда бўлган экан” ведиофильмида Она, “Ғизғизон” ведиофильмида Сунбула, “Оққушлар”да Хадича, “Оила шаъни” ведиофильмида Она каби бетакрор образлар яратти келмокда.</a:t>
                      </a:r>
                      <a:endParaRPr lang="ru-RU" sz="9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3083">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18414">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Қашқадарё </a:t>
                      </a:r>
                      <a:r>
                        <a:rPr lang="uz-Cyrl-UZ" sz="900" b="0" dirty="0">
                          <a:effectLst/>
                          <a:latin typeface="+mn-lt"/>
                          <a:ea typeface="Calibri" panose="020F0502020204030204" pitchFamily="34" charset="0"/>
                          <a:cs typeface="Times New Roman" panose="02020603050405020304" pitchFamily="18" charset="0"/>
                        </a:rPr>
                        <a:t>вилоятида</a:t>
                      </a:r>
                      <a:r>
                        <a:rPr lang="uz-Cyrl-UZ" sz="900" b="0" baseline="0" dirty="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тадбирларида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Picture 2" descr="Х">
            <a:extLst>
              <a:ext uri="{FF2B5EF4-FFF2-40B4-BE49-F238E27FC236}">
                <a16:creationId xmlns:a16="http://schemas.microsoft.com/office/drawing/2014/main" id="{1F08F9C1-1450-4EB3-A290-EFFAC2EA90B0}"/>
              </a:ext>
            </a:extLst>
          </p:cNvPr>
          <p:cNvPicPr>
            <a:picLocks noChangeAspect="1" noChangeArrowheads="1"/>
          </p:cNvPicPr>
          <p:nvPr/>
        </p:nvPicPr>
        <p:blipFill>
          <a:blip r:embed="rId2" cstate="hqprint">
            <a:lum bright="6000" contrast="12000"/>
            <a:extLst>
              <a:ext uri="{28A0092B-C50C-407E-A947-70E740481C1C}">
                <a14:useLocalDpi xmlns:a14="http://schemas.microsoft.com/office/drawing/2010/main" val="0"/>
              </a:ext>
            </a:extLst>
          </a:blip>
          <a:srcRect/>
          <a:stretch>
            <a:fillRect/>
          </a:stretch>
        </p:blipFill>
        <p:spPr bwMode="auto">
          <a:xfrm>
            <a:off x="260229" y="1134226"/>
            <a:ext cx="888919" cy="1076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86288313"/>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597389177"/>
              </p:ext>
            </p:extLst>
          </p:nvPr>
        </p:nvGraphicFramePr>
        <p:xfrm>
          <a:off x="144489" y="865702"/>
          <a:ext cx="3427547" cy="5968384"/>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565084">
                  <a:extLst>
                    <a:ext uri="{9D8B030D-6E8A-4147-A177-3AD203B41FA5}">
                      <a16:colId xmlns:a16="http://schemas.microsoft.com/office/drawing/2014/main" val="546773760"/>
                    </a:ext>
                  </a:extLst>
                </a:gridCol>
                <a:gridCol w="345130">
                  <a:extLst>
                    <a:ext uri="{9D8B030D-6E8A-4147-A177-3AD203B41FA5}">
                      <a16:colId xmlns:a16="http://schemas.microsoft.com/office/drawing/2014/main" val="986218932"/>
                    </a:ext>
                  </a:extLst>
                </a:gridCol>
                <a:gridCol w="1265102">
                  <a:extLst>
                    <a:ext uri="{9D8B030D-6E8A-4147-A177-3AD203B41FA5}">
                      <a16:colId xmlns:a16="http://schemas.microsoft.com/office/drawing/2014/main" val="546443978"/>
                    </a:ext>
                  </a:extLst>
                </a:gridCol>
              </a:tblGrid>
              <a:tr h="220215">
                <a:tc gridSpan="6">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69639">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МУСТАФАЕВА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6963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3">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Раъно</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6963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Қаршиевна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69639">
                <a:tc gridSpan="2" vMerge="1">
                  <a:txBody>
                    <a:bodyPr/>
                    <a:lstStyle/>
                    <a:p>
                      <a:endParaRPr lang="ru-RU"/>
                    </a:p>
                  </a:txBody>
                  <a:tcPr>
                    <a:lnT>
                      <a:noFill/>
                    </a:lnT>
                  </a:tcPr>
                </a:tc>
                <a:tc hMerge="1" vMerge="1">
                  <a:txBody>
                    <a:bodyPr/>
                    <a:lstStyle/>
                    <a:p>
                      <a:endParaRPr lang="ru-RU"/>
                    </a:p>
                  </a:txBody>
                  <a:tcPr/>
                </a:tc>
                <a:tc gridSpan="3">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6963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08.02.1964</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7079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Самарқанд вилояти, Пахтачи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08976">
                <a:tc gridSpan="6">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21365">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ўғил, 2 қиз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нафақада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08976">
                <a:tc gridSpan="6">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74242">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a:solidFill>
                            <a:schemeClr val="tx1"/>
                          </a:solidFill>
                          <a:effectLst/>
                          <a:latin typeface="+mn-lt"/>
                          <a:ea typeface="+mn-ea"/>
                          <a:cs typeface="+mn-cs"/>
                        </a:rPr>
                        <a:t>Ҳ</a:t>
                      </a:r>
                      <a:r>
                        <a:rPr lang="ru-RU" sz="900" kern="1200" dirty="0" err="1">
                          <a:solidFill>
                            <a:schemeClr val="tx1"/>
                          </a:solidFill>
                          <a:effectLst/>
                          <a:latin typeface="+mn-lt"/>
                          <a:ea typeface="+mn-ea"/>
                          <a:cs typeface="+mn-cs"/>
                        </a:rPr>
                        <a:t>имматов</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Қарши</a:t>
                      </a:r>
                      <a:endParaRPr lang="ru-RU" sz="900" kern="1200" dirty="0">
                        <a:solidFill>
                          <a:schemeClr val="tx1"/>
                        </a:solidFill>
                        <a:effectLst/>
                        <a:latin typeface="+mn-lt"/>
                        <a:ea typeface="+mn-ea"/>
                        <a:cs typeface="+mn-cs"/>
                      </a:endParaRPr>
                    </a:p>
                    <a:p>
                      <a:pPr algn="l">
                        <a:lnSpc>
                          <a:spcPct val="85000"/>
                        </a:lnSpc>
                      </a:pPr>
                      <a:r>
                        <a:rPr lang="uz-Cyrl-UZ" sz="900" b="0" kern="1200" noProof="0" dirty="0">
                          <a:solidFill>
                            <a:schemeClr val="tx1"/>
                          </a:solidFill>
                          <a:latin typeface="+mn-lt"/>
                          <a:ea typeface="+mn-ea"/>
                          <a:cs typeface="Arial" panose="020B0604020202020204" pitchFamily="34" charset="0"/>
                        </a:rPr>
                        <a:t>1918 йил, Пахтачи тумани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kern="1200" dirty="0">
                          <a:solidFill>
                            <a:schemeClr val="tx1"/>
                          </a:solidFill>
                          <a:effectLst/>
                          <a:latin typeface="+mn-lt"/>
                          <a:ea typeface="+mn-ea"/>
                          <a:cs typeface="+mn-cs"/>
                        </a:rPr>
                        <a:t>1990 </a:t>
                      </a:r>
                      <a:r>
                        <a:rPr lang="ru-RU" sz="900" kern="1200" dirty="0" err="1">
                          <a:solidFill>
                            <a:schemeClr val="tx1"/>
                          </a:solidFill>
                          <a:effectLst/>
                          <a:latin typeface="+mn-lt"/>
                          <a:ea typeface="+mn-ea"/>
                          <a:cs typeface="+mn-cs"/>
                        </a:rPr>
                        <a:t>йил</a:t>
                      </a:r>
                      <a:r>
                        <a:rPr lang="ru-RU" sz="900" kern="1200" dirty="0">
                          <a:solidFill>
                            <a:schemeClr val="tx1"/>
                          </a:solidFill>
                          <a:effectLst/>
                          <a:latin typeface="+mn-lt"/>
                          <a:ea typeface="+mn-ea"/>
                          <a:cs typeface="+mn-cs"/>
                        </a:rPr>
                        <a:t> </a:t>
                      </a:r>
                      <a:r>
                        <a:rPr lang="uz-Cyrl-UZ" sz="900" kern="1200" dirty="0">
                          <a:solidFill>
                            <a:schemeClr val="tx1"/>
                          </a:solidFill>
                          <a:effectLst/>
                          <a:latin typeface="+mn-lt"/>
                          <a:ea typeface="+mn-ea"/>
                          <a:cs typeface="+mn-cs"/>
                        </a:rPr>
                        <a:t>в</a:t>
                      </a:r>
                      <a:r>
                        <a:rPr lang="ru-RU" sz="900" kern="1200" dirty="0" err="1">
                          <a:solidFill>
                            <a:schemeClr val="tx1"/>
                          </a:solidFill>
                          <a:effectLst/>
                          <a:latin typeface="+mn-lt"/>
                          <a:ea typeface="+mn-ea"/>
                          <a:cs typeface="+mn-cs"/>
                        </a:rPr>
                        <a:t>афот</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этган</a:t>
                      </a:r>
                      <a:endParaRPr lang="ru-RU"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 (Самарқанд вилояти Пахтачи тумани машина трактор паркида механик</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605852">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a:solidFill>
                            <a:schemeClr val="tx1"/>
                          </a:solidFill>
                          <a:effectLst/>
                          <a:latin typeface="+mn-lt"/>
                          <a:ea typeface="+mn-ea"/>
                          <a:cs typeface="+mn-cs"/>
                        </a:rPr>
                        <a:t>Ҳ</a:t>
                      </a:r>
                      <a:r>
                        <a:rPr lang="ru-RU" sz="900" kern="1200" dirty="0" err="1">
                          <a:solidFill>
                            <a:schemeClr val="tx1"/>
                          </a:solidFill>
                          <a:effectLst/>
                          <a:latin typeface="+mn-lt"/>
                          <a:ea typeface="+mn-ea"/>
                          <a:cs typeface="+mn-cs"/>
                        </a:rPr>
                        <a:t>имматова</a:t>
                      </a:r>
                      <a:r>
                        <a:rPr lang="uz-Cyrl-UZ" sz="900" kern="1200" dirty="0">
                          <a:solidFill>
                            <a:schemeClr val="tx1"/>
                          </a:solidFill>
                          <a:effectLst/>
                          <a:latin typeface="+mn-lt"/>
                          <a:ea typeface="+mn-ea"/>
                          <a:cs typeface="+mn-cs"/>
                        </a:rPr>
                        <a:t> (Муртазаева)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Турсуной</a:t>
                      </a:r>
                      <a:endParaRPr lang="ru-RU" sz="900" kern="1200" dirty="0">
                        <a:solidFill>
                          <a:schemeClr val="tx1"/>
                        </a:solidFill>
                        <a:effectLst/>
                        <a:latin typeface="+mn-lt"/>
                        <a:ea typeface="+mn-ea"/>
                        <a:cs typeface="+mn-cs"/>
                      </a:endParaRPr>
                    </a:p>
                    <a:p>
                      <a:pPr algn="l">
                        <a:lnSpc>
                          <a:spcPct val="85000"/>
                        </a:lnSpc>
                      </a:pPr>
                      <a:r>
                        <a:rPr lang="uz-Cyrl-UZ" sz="900" b="0" kern="1200" noProof="0" dirty="0">
                          <a:solidFill>
                            <a:schemeClr val="tx1"/>
                          </a:solidFill>
                          <a:latin typeface="+mn-lt"/>
                          <a:ea typeface="+mn-ea"/>
                          <a:cs typeface="Arial" panose="020B0604020202020204" pitchFamily="34" charset="0"/>
                        </a:rPr>
                        <a:t>1928 йил, Пахтачи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kern="1200" dirty="0">
                          <a:solidFill>
                            <a:schemeClr val="tx1"/>
                          </a:solidFill>
                          <a:effectLst/>
                          <a:latin typeface="+mn-lt"/>
                          <a:ea typeface="+mn-ea"/>
                          <a:cs typeface="+mn-cs"/>
                        </a:rPr>
                        <a:t>1994 </a:t>
                      </a:r>
                      <a:r>
                        <a:rPr lang="ru-RU" sz="900" kern="1200" dirty="0" err="1">
                          <a:solidFill>
                            <a:schemeClr val="tx1"/>
                          </a:solidFill>
                          <a:effectLst/>
                          <a:latin typeface="+mn-lt"/>
                          <a:ea typeface="+mn-ea"/>
                          <a:cs typeface="+mn-cs"/>
                        </a:rPr>
                        <a:t>йил</a:t>
                      </a:r>
                      <a:r>
                        <a:rPr lang="ru-RU" sz="900" kern="1200" dirty="0">
                          <a:solidFill>
                            <a:schemeClr val="tx1"/>
                          </a:solidFill>
                          <a:effectLst/>
                          <a:latin typeface="+mn-lt"/>
                          <a:ea typeface="+mn-ea"/>
                          <a:cs typeface="+mn-cs"/>
                        </a:rPr>
                        <a:t> </a:t>
                      </a:r>
                      <a:r>
                        <a:rPr lang="uz-Cyrl-UZ" sz="900" kern="1200" dirty="0">
                          <a:solidFill>
                            <a:schemeClr val="tx1"/>
                          </a:solidFill>
                          <a:effectLst/>
                          <a:latin typeface="+mn-lt"/>
                          <a:ea typeface="+mn-ea"/>
                          <a:cs typeface="+mn-cs"/>
                        </a:rPr>
                        <a:t>в</a:t>
                      </a:r>
                      <a:r>
                        <a:rPr lang="ru-RU" sz="900" kern="1200" dirty="0" err="1">
                          <a:solidFill>
                            <a:schemeClr val="tx1"/>
                          </a:solidFill>
                          <a:effectLst/>
                          <a:latin typeface="+mn-lt"/>
                          <a:ea typeface="+mn-ea"/>
                          <a:cs typeface="+mn-cs"/>
                        </a:rPr>
                        <a:t>афот</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этган</a:t>
                      </a:r>
                      <a:r>
                        <a:rPr lang="ru-RU" sz="900" kern="1200" dirty="0">
                          <a:solidFill>
                            <a:schemeClr val="tx1"/>
                          </a:solidFill>
                          <a:effectLst/>
                          <a:latin typeface="+mn-lt"/>
                          <a:ea typeface="+mn-ea"/>
                          <a:cs typeface="+mn-cs"/>
                        </a:rPr>
                        <a:t> </a:t>
                      </a:r>
                    </a:p>
                    <a:p>
                      <a:r>
                        <a:rPr lang="uz-Cyrl-UZ" sz="900" kern="1200" dirty="0">
                          <a:solidFill>
                            <a:schemeClr val="tx1"/>
                          </a:solidFill>
                          <a:effectLst/>
                          <a:latin typeface="+mn-lt"/>
                          <a:ea typeface="+mn-ea"/>
                          <a:cs typeface="+mn-cs"/>
                        </a:rPr>
                        <a:t>( Пахтачи тумани Месит қишлоғи тикувчи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700681">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kern="1200" dirty="0">
                          <a:solidFill>
                            <a:schemeClr val="tx1"/>
                          </a:solidFill>
                          <a:effectLst/>
                          <a:latin typeface="+mn-lt"/>
                          <a:ea typeface="+mn-ea"/>
                          <a:cs typeface="+mn-cs"/>
                        </a:rPr>
                        <a:t>Мустаф</a:t>
                      </a:r>
                      <a:r>
                        <a:rPr lang="uz-Cyrl-UZ" sz="900" kern="1200" dirty="0">
                          <a:solidFill>
                            <a:schemeClr val="tx1"/>
                          </a:solidFill>
                          <a:effectLst/>
                          <a:latin typeface="+mn-lt"/>
                          <a:ea typeface="+mn-ea"/>
                          <a:cs typeface="+mn-cs"/>
                        </a:rPr>
                        <a:t>а</a:t>
                      </a:r>
                      <a:r>
                        <a:rPr lang="ru-RU" sz="900" kern="1200" dirty="0">
                          <a:solidFill>
                            <a:schemeClr val="tx1"/>
                          </a:solidFill>
                          <a:effectLst/>
                          <a:latin typeface="+mn-lt"/>
                          <a:ea typeface="+mn-ea"/>
                          <a:cs typeface="+mn-cs"/>
                        </a:rPr>
                        <a:t>ев </a:t>
                      </a:r>
                      <a:r>
                        <a:rPr lang="ru-RU" sz="900" kern="1200" dirty="0" err="1">
                          <a:solidFill>
                            <a:schemeClr val="tx1"/>
                          </a:solidFill>
                          <a:effectLst/>
                          <a:latin typeface="+mn-lt"/>
                          <a:ea typeface="+mn-ea"/>
                          <a:cs typeface="+mn-cs"/>
                        </a:rPr>
                        <a:t>Баходир</a:t>
                      </a:r>
                      <a:r>
                        <a:rPr lang="uz-Cyrl-UZ" sz="900" kern="1200" dirty="0">
                          <a:solidFill>
                            <a:schemeClr val="tx1"/>
                          </a:solidFill>
                          <a:effectLst/>
                          <a:latin typeface="+mn-lt"/>
                          <a:ea typeface="+mn-ea"/>
                          <a:cs typeface="+mn-cs"/>
                        </a:rPr>
                        <a:t> Элмуродович</a:t>
                      </a:r>
                    </a:p>
                    <a:p>
                      <a:pPr algn="l">
                        <a:lnSpc>
                          <a:spcPct val="85000"/>
                        </a:lnSpc>
                      </a:pPr>
                      <a:r>
                        <a:rPr lang="uz-Cyrl-UZ" sz="900" b="0" kern="1200" noProof="0" dirty="0">
                          <a:solidFill>
                            <a:schemeClr val="tx1"/>
                          </a:solidFill>
                          <a:latin typeface="+mn-lt"/>
                          <a:ea typeface="+mn-ea"/>
                          <a:cs typeface="Arial" panose="020B0604020202020204" pitchFamily="34" charset="0"/>
                        </a:rPr>
                        <a:t>1961 йил, Чироқчи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kern="1200" dirty="0">
                          <a:solidFill>
                            <a:schemeClr val="tx1"/>
                          </a:solidFill>
                          <a:effectLst/>
                          <a:latin typeface="+mn-lt"/>
                          <a:ea typeface="+mn-ea"/>
                          <a:cs typeface="+mn-cs"/>
                        </a:rPr>
                        <a:t>2007 </a:t>
                      </a:r>
                      <a:r>
                        <a:rPr lang="ru-RU" sz="900" kern="1200" dirty="0" err="1">
                          <a:solidFill>
                            <a:schemeClr val="tx1"/>
                          </a:solidFill>
                          <a:effectLst/>
                          <a:latin typeface="+mn-lt"/>
                          <a:ea typeface="+mn-ea"/>
                          <a:cs typeface="+mn-cs"/>
                        </a:rPr>
                        <a:t>йил</a:t>
                      </a:r>
                      <a:r>
                        <a:rPr lang="ru-RU" sz="900" kern="1200" dirty="0">
                          <a:solidFill>
                            <a:schemeClr val="tx1"/>
                          </a:solidFill>
                          <a:effectLst/>
                          <a:latin typeface="+mn-lt"/>
                          <a:ea typeface="+mn-ea"/>
                          <a:cs typeface="+mn-cs"/>
                        </a:rPr>
                        <a:t> </a:t>
                      </a:r>
                      <a:r>
                        <a:rPr lang="uz-Cyrl-UZ" sz="900" kern="1200" dirty="0">
                          <a:solidFill>
                            <a:schemeClr val="tx1"/>
                          </a:solidFill>
                          <a:effectLst/>
                          <a:latin typeface="+mn-lt"/>
                          <a:ea typeface="+mn-ea"/>
                          <a:cs typeface="+mn-cs"/>
                        </a:rPr>
                        <a:t>в</a:t>
                      </a:r>
                      <a:r>
                        <a:rPr lang="ru-RU" sz="900" kern="1200" dirty="0" err="1">
                          <a:solidFill>
                            <a:schemeClr val="tx1"/>
                          </a:solidFill>
                          <a:effectLst/>
                          <a:latin typeface="+mn-lt"/>
                          <a:ea typeface="+mn-ea"/>
                          <a:cs typeface="+mn-cs"/>
                        </a:rPr>
                        <a:t>афот</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этган</a:t>
                      </a:r>
                      <a:r>
                        <a:rPr lang="ru-RU" sz="900" kern="1200" dirty="0">
                          <a:solidFill>
                            <a:schemeClr val="tx1"/>
                          </a:solidFill>
                          <a:effectLst/>
                          <a:latin typeface="+mn-lt"/>
                          <a:ea typeface="+mn-ea"/>
                          <a:cs typeface="+mn-cs"/>
                        </a:rPr>
                        <a:t> </a:t>
                      </a:r>
                    </a:p>
                    <a:p>
                      <a:r>
                        <a:rPr lang="ru-RU" sz="900" kern="1200" dirty="0">
                          <a:solidFill>
                            <a:schemeClr val="tx1"/>
                          </a:solidFill>
                          <a:effectLst/>
                          <a:latin typeface="+mn-lt"/>
                          <a:ea typeface="+mn-ea"/>
                          <a:cs typeface="+mn-cs"/>
                        </a:rPr>
                        <a:t> (</a:t>
                      </a:r>
                      <a:r>
                        <a:rPr lang="uz-Cyrl-UZ" sz="900" kern="1200" dirty="0">
                          <a:solidFill>
                            <a:schemeClr val="tx1"/>
                          </a:solidFill>
                          <a:effectLst/>
                          <a:latin typeface="+mn-lt"/>
                          <a:ea typeface="+mn-ea"/>
                          <a:cs typeface="+mn-cs"/>
                        </a:rPr>
                        <a:t>Муллатўйчи Тошмуҳаммедов номли мусиқали  драма </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театри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75961">
                <a:tc gridSpan="6">
                  <a:txBody>
                    <a:bodyPr/>
                    <a:lstStyle/>
                    <a:p>
                      <a:pPr algn="ctr">
                        <a:lnSpc>
                          <a:spcPct val="85000"/>
                        </a:lnSpc>
                      </a:pPr>
                      <a:r>
                        <a:rPr lang="uz-Cyrl-UZ" sz="9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21365">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a:solidFill>
                            <a:schemeClr val="tx1"/>
                          </a:solidFill>
                          <a:latin typeface="+mn-lt"/>
                          <a:ea typeface="+mn-ea"/>
                          <a:cs typeface="+mn-cs"/>
                        </a:rPr>
                        <a:t>1986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санъат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194927">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kern="1200" dirty="0">
                          <a:solidFill>
                            <a:schemeClr val="tx1"/>
                          </a:solidFill>
                          <a:effectLst/>
                          <a:latin typeface="+mn-lt"/>
                          <a:ea typeface="+mn-ea"/>
                          <a:cs typeface="+mn-cs"/>
                        </a:rPr>
                        <a:t>Мусиқали театр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83434">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83434">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283434">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808633929"/>
              </p:ext>
            </p:extLst>
          </p:nvPr>
        </p:nvGraphicFramePr>
        <p:xfrm>
          <a:off x="3674526" y="865689"/>
          <a:ext cx="3172841" cy="5986118"/>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1686">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65807">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Нафақада</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2419">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589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44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1038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 7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3642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2018-2025 йй. – Миришкор тумани боалар </a:t>
                      </a:r>
                      <a:r>
                        <a:rPr lang="uz-Cyrl-UZ" sz="900" noProof="0" dirty="0" smtClean="0">
                          <a:effectLst/>
                          <a:latin typeface="+mn-lt"/>
                          <a:ea typeface="Calibri" panose="020F0502020204030204" pitchFamily="34" charset="0"/>
                          <a:cs typeface="Times New Roman" panose="02020603050405020304" pitchFamily="18" charset="0"/>
                        </a:rPr>
                        <a:t>мусиқа </a:t>
                      </a:r>
                      <a:r>
                        <a:rPr lang="uz-Cyrl-UZ" sz="900" noProof="0" dirty="0">
                          <a:effectLst/>
                          <a:latin typeface="+mn-lt"/>
                          <a:ea typeface="Calibri" panose="020F0502020204030204" pitchFamily="34" charset="0"/>
                          <a:cs typeface="Times New Roman" panose="02020603050405020304" pitchFamily="18" charset="0"/>
                        </a:rPr>
                        <a:t>ва санъат мактаби директори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10539">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10539">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2025 й. Чинобот сиҳатгоҳида даволанган</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8589">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6839">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3393">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83595">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2016 й. Ўзбекистонда хизмат кўрстаган артист</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929620541"/>
              </p:ext>
            </p:extLst>
          </p:nvPr>
        </p:nvGraphicFramePr>
        <p:xfrm>
          <a:off x="6949857" y="869285"/>
          <a:ext cx="2817247" cy="5982520"/>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82218">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5253">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340636">
                <a:tc>
                  <a:txBody>
                    <a:bodyPr/>
                    <a:lstStyle/>
                    <a:p>
                      <a:pPr algn="just"/>
                      <a:r>
                        <a:rPr lang="uz-Cyrl-UZ" sz="900" b="0" noProof="0" dirty="0">
                          <a:solidFill>
                            <a:schemeClr val="tx1"/>
                          </a:solidFill>
                          <a:latin typeface="+mn-lt"/>
                        </a:rPr>
                        <a:t>     Театр сахнасида </a:t>
                      </a:r>
                      <a:r>
                        <a:rPr lang="uz-Cyrl-UZ" sz="900" b="0" kern="1200" dirty="0">
                          <a:solidFill>
                            <a:schemeClr val="tx1"/>
                          </a:solidFill>
                          <a:effectLst/>
                          <a:latin typeface="+mn-lt"/>
                          <a:ea typeface="+mn-ea"/>
                          <a:cs typeface="+mn-cs"/>
                        </a:rPr>
                        <a:t>Унинг ижросидаги “Ғазал бўстони” мусиқали томошасидаги Гули, “Онаизор” драмасидаги Она, “Ўғирланган меҳр” комедиясидаги Тантиқ қиз, “Сеҳрли узук” эртак томошасидаги Мастон, “Синган танбур нидоси” мусиқали драмасидаги Тошбиби, “Икки дунё овораси” спектаклидаги Салтанат, “Кечикмаган тазарру” спектаклидаги Зайнаб, “Соҳибқирон” шеърий драмасидаги Бибихоним, “Бир ўлиб кўрайчи” спектаклидаги Адолат, “Боғ” асари асосида саҳналаштирилган “Қайтармикан умр баҳори?..” трагикомедиясидаги Карима, “Тақдир” мусиқали драмасидаги Ойжамол, “Ажабгул ва Ражабгул” мусиқали драмасидаги Ажабгул, “Гулия ва Эдик” драмасидаги Она, “Тоҳир ва Зухра” мусиқали драмасидаги Юлдуз, “Нуҳ кемаси” фалсафий драмасидаги Нилия, “Лайли ва Мажнун” мусиқали драмасида Лайлининг онаси, “Ғурбатда ғариб” драмасида она, “Зўраки табиб” комедиясида Табибнинг хотини, “Нажот дарвозаси” драмасида Зубайда образларини яратди. Ўзбекистон телерадиокомпанияси томонидан суратга олинган “Жийда гули” кўп қисмли ведиофильмида Совчи аёл, “Оққуш” кўп қисмли кинофильмида Шоира, “Кўнгил йўли”да Гулнора, “Назм ва Наво” кўрсатувида Увайсий, Нодира каби образларни яратган.  1999-2014 йил “Кулинг, умрингиз узоқ бўлади”, “Хандон писта”  телекўрсатувларида турли-туман образларда чиқишлар қилган.</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5338">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29075">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Picture 2" descr="img8531111111111">
            <a:extLst>
              <a:ext uri="{FF2B5EF4-FFF2-40B4-BE49-F238E27FC236}">
                <a16:creationId xmlns:a16="http://schemas.microsoft.com/office/drawing/2014/main" id="{10E5253A-A9E8-4F02-B98D-361FBBD65878}"/>
              </a:ext>
            </a:extLst>
          </p:cNvPr>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31864" y="1149927"/>
            <a:ext cx="970711" cy="11443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92178363"/>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943400"/>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effectLst/>
                          <a:latin typeface="+mn-lt"/>
                          <a:ea typeface="+mn-ea"/>
                          <a:cs typeface="+mn-cs"/>
                        </a:rPr>
                        <a:t>БАБАЕВА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a:solidFill>
                            <a:schemeClr val="tx1"/>
                          </a:solidFill>
                          <a:effectLst/>
                          <a:latin typeface="+mn-lt"/>
                          <a:ea typeface="+mn-ea"/>
                          <a:cs typeface="+mn-cs"/>
                        </a:rPr>
                        <a:t>Ойнисо</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uz-Cyrl-UZ" sz="900" b="0" kern="1200" dirty="0">
                          <a:solidFill>
                            <a:schemeClr val="tx1"/>
                          </a:solidFill>
                          <a:effectLst/>
                          <a:latin typeface="+mn-lt"/>
                          <a:ea typeface="+mn-ea"/>
                          <a:cs typeface="+mn-cs"/>
                        </a:rPr>
                        <a:t>Анбияевна</a:t>
                      </a:r>
                      <a:endParaRPr lang="ru-RU" sz="900" b="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18.05.1964</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Қарши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1 нафар ўғил, 1 нафар қиз фарзанди бор, ҳозирда нафақада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a:solidFill>
                            <a:schemeClr val="tx1"/>
                          </a:solidFill>
                          <a:effectLst/>
                          <a:latin typeface="+mn-lt"/>
                          <a:ea typeface="+mn-ea"/>
                          <a:cs typeface="+mn-cs"/>
                        </a:rPr>
                        <a:t>Бобоев Анбиё Бобоевич</a:t>
                      </a:r>
                    </a:p>
                    <a:p>
                      <a:pPr algn="l">
                        <a:lnSpc>
                          <a:spcPct val="85000"/>
                        </a:lnSpc>
                      </a:pPr>
                      <a:r>
                        <a:rPr lang="uz-Cyrl-UZ" sz="900" b="0" kern="1200" noProof="0" dirty="0">
                          <a:solidFill>
                            <a:schemeClr val="tx1"/>
                          </a:solidFill>
                          <a:latin typeface="+mn-lt"/>
                          <a:ea typeface="+mn-ea"/>
                          <a:cs typeface="Arial" panose="020B0604020202020204" pitchFamily="34" charset="0"/>
                        </a:rPr>
                        <a:t>1928 йил, Қарши тумани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a:solidFill>
                            <a:schemeClr val="tx1"/>
                          </a:solidFill>
                          <a:effectLst/>
                          <a:latin typeface="+mn-lt"/>
                          <a:ea typeface="+mn-ea"/>
                          <a:cs typeface="+mn-cs"/>
                        </a:rPr>
                        <a:t>1978 йил вафот этган</a:t>
                      </a:r>
                      <a:endParaRPr lang="ru-RU"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(Қарши тумани Ўзбекистон жамоа хўжалиги ишчиси)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a:solidFill>
                            <a:schemeClr val="tx1"/>
                          </a:solidFill>
                          <a:effectLst/>
                          <a:latin typeface="+mn-lt"/>
                          <a:ea typeface="+mn-ea"/>
                          <a:cs typeface="+mn-cs"/>
                        </a:rPr>
                        <a:t>Турсунова Шакар Пармоновна</a:t>
                      </a:r>
                    </a:p>
                    <a:p>
                      <a:pPr algn="l">
                        <a:lnSpc>
                          <a:spcPct val="85000"/>
                        </a:lnSpc>
                      </a:pPr>
                      <a:r>
                        <a:rPr lang="uz-Cyrl-UZ" sz="900" b="0" kern="1200" noProof="0" dirty="0">
                          <a:solidFill>
                            <a:schemeClr val="tx1"/>
                          </a:solidFill>
                          <a:latin typeface="+mn-lt"/>
                          <a:ea typeface="+mn-ea"/>
                          <a:cs typeface="Arial" panose="020B0604020202020204" pitchFamily="34" charset="0"/>
                        </a:rPr>
                        <a:t>1933 йил, Қарши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a:solidFill>
                            <a:schemeClr val="tx1"/>
                          </a:solidFill>
                          <a:effectLst/>
                          <a:latin typeface="+mn-lt"/>
                          <a:ea typeface="+mn-ea"/>
                          <a:cs typeface="+mn-cs"/>
                        </a:rPr>
                        <a:t>2006 йил вафот этган</a:t>
                      </a:r>
                      <a:endParaRPr lang="ru-RU"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(уй бекаси)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a:solidFill>
                            <a:schemeClr val="tx1"/>
                          </a:solidFill>
                          <a:effectLst/>
                          <a:latin typeface="+mn-lt"/>
                          <a:ea typeface="+mn-ea"/>
                          <a:cs typeface="+mn-cs"/>
                        </a:rPr>
                        <a:t>Холмуродов Нормурод Рашидович</a:t>
                      </a:r>
                    </a:p>
                    <a:p>
                      <a:pPr algn="l">
                        <a:lnSpc>
                          <a:spcPct val="85000"/>
                        </a:lnSpc>
                      </a:pPr>
                      <a:r>
                        <a:rPr lang="uz-Cyrl-UZ" sz="900" b="0" kern="1200" noProof="0" dirty="0">
                          <a:solidFill>
                            <a:schemeClr val="tx1"/>
                          </a:solidFill>
                          <a:latin typeface="+mn-lt"/>
                          <a:ea typeface="+mn-ea"/>
                          <a:cs typeface="Arial" panose="020B0604020202020204" pitchFamily="34" charset="0"/>
                        </a:rPr>
                        <a:t>1963 йил, Қарши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kern="1200" dirty="0">
                          <a:solidFill>
                            <a:schemeClr val="tx1"/>
                          </a:solidFill>
                          <a:effectLst/>
                          <a:latin typeface="+mn-lt"/>
                          <a:ea typeface="+mn-ea"/>
                          <a:cs typeface="+mn-cs"/>
                        </a:rPr>
                        <a:t>Қашқадарё вилояти мусиқали драма театри бутафор</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48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1990 й. </a:t>
                      </a:r>
                      <a:r>
                        <a:rPr lang="uz-Cyrl-UZ" sz="900" kern="1200" dirty="0">
                          <a:solidFill>
                            <a:schemeClr val="tx1"/>
                          </a:solidFill>
                          <a:effectLst/>
                          <a:latin typeface="+mn-lt"/>
                          <a:ea typeface="+mn-ea"/>
                          <a:cs typeface="+mn-cs"/>
                        </a:rPr>
                        <a:t>Қарши давлат педагогика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6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тарих ўкитувчи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1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dirty="0">
                          <a:solidFill>
                            <a:schemeClr val="tx1"/>
                          </a:solidFill>
                          <a:effectLst/>
                          <a:latin typeface="+mn-lt"/>
                          <a:ea typeface="+mn-ea"/>
                          <a:cs typeface="+mn-cs"/>
                        </a:rPr>
                        <a:t>2025-йил “Нотиқлик санъати” бўйича малака оширган</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704205538"/>
              </p:ext>
            </p:extLst>
          </p:nvPr>
        </p:nvGraphicFramePr>
        <p:xfrm>
          <a:off x="3674526" y="865689"/>
          <a:ext cx="3172841" cy="5943412"/>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917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63198">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1 тоифали вокал артисти </a:t>
                      </a:r>
                      <a:r>
                        <a:rPr lang="uz-Cyrl-UZ" sz="900" b="1" kern="1200" dirty="0">
                          <a:solidFill>
                            <a:schemeClr val="tx1"/>
                          </a:solidFill>
                          <a:effectLst/>
                          <a:latin typeface="+mn-lt"/>
                          <a:ea typeface="+mn-ea"/>
                          <a:cs typeface="+mn-cs"/>
                        </a:rPr>
                        <a:t> </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0548">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428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a:effectLst/>
                          <a:latin typeface="+mn-lt"/>
                          <a:ea typeface="Calibri" panose="020F0502020204030204" pitchFamily="34" charset="0"/>
                          <a:cs typeface="Times New Roman" panose="02020603050405020304" pitchFamily="18" charset="0"/>
                        </a:rPr>
                        <a:t>43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888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2974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8323">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832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638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kern="1200" noProof="0" dirty="0">
                          <a:solidFill>
                            <a:schemeClr val="tx1"/>
                          </a:solidFill>
                          <a:effectLst/>
                          <a:latin typeface="+mn-lt"/>
                          <a:ea typeface="Calibri" panose="020F0502020204030204" pitchFamily="34" charset="0"/>
                          <a:cs typeface="Times New Roman" panose="02020603050405020304" pitchFamily="18" charset="0"/>
                        </a:rPr>
                        <a:t>2025-йил тиббий </a:t>
                      </a:r>
                      <a:r>
                        <a:rPr lang="uz-Cyrl-UZ" sz="900" b="0" i="0" kern="1200" noProof="0" dirty="0">
                          <a:solidFill>
                            <a:schemeClr val="tx1"/>
                          </a:solidFill>
                          <a:effectLst/>
                          <a:latin typeface="+mn-lt"/>
                          <a:ea typeface="Calibri" panose="020F0502020204030204" pitchFamily="34" charset="0"/>
                          <a:cs typeface="Times New Roman" panose="02020603050405020304" pitchFamily="18" charset="0"/>
                        </a:rPr>
                        <a:t>кўрикдан ўтган</a:t>
                      </a:r>
                      <a:endParaRPr lang="uz-Cyrl-UZ" sz="900" b="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486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165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68017">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2019 й. “Шуҳрат” медал соҳиби</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909579257"/>
              </p:ext>
            </p:extLst>
          </p:nvPr>
        </p:nvGraphicFramePr>
        <p:xfrm>
          <a:off x="6944478" y="869286"/>
          <a:ext cx="2817247" cy="5939817"/>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80204">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2717">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309652">
                <a:tc>
                  <a:txBody>
                    <a:bodyPr/>
                    <a:lstStyle/>
                    <a:p>
                      <a:pPr algn="just"/>
                      <a:r>
                        <a:rPr lang="uz-Cyrl-UZ" sz="900" kern="1200" dirty="0" smtClean="0">
                          <a:solidFill>
                            <a:schemeClr val="tx1"/>
                          </a:solidFill>
                          <a:effectLst/>
                          <a:latin typeface="+mn-lt"/>
                          <a:ea typeface="+mn-ea"/>
                          <a:cs typeface="+mn-cs"/>
                        </a:rPr>
                        <a:t>    О.Бобоева </a:t>
                      </a:r>
                      <a:r>
                        <a:rPr lang="uz-Cyrl-UZ" sz="900" kern="1200" dirty="0">
                          <a:solidFill>
                            <a:schemeClr val="tx1"/>
                          </a:solidFill>
                          <a:effectLst/>
                          <a:latin typeface="+mn-lt"/>
                          <a:ea typeface="+mn-ea"/>
                          <a:cs typeface="+mn-cs"/>
                        </a:rPr>
                        <a:t>истеъдодли актриса сифатида “Тўтиқул”да Сунбула, “Онаизор”да Мавлуда, “Эрингни бериб тур”да Зайнаб, “Ажабгул ва Ражабгул”да Ражабгул, “Уч кунлик дунё”да Кампир, “Қайтармикин умр баҳори”да Азиза, “Руҳлар исёни”да Қораловчи, “Яраланган Оққуш”да Она, “Нуҳ кемаси”да Нехатабелла, “Лайли ва Мажнун”да Мажнуннинг онаси, “Турмуш ҳангомалари”да Амма, “Адашганман”да Она, “Жаннатга йўл”да Она, “Оқ кема”да Баймоқ кампир, “Чангак”да Хуршида, “Нодирабегим”да Увайсий каби ролларни маҳорат билан ижро этиб, мутахассислар эътиборига ва томошабинлар олқишларига сазовор бўлди.</a:t>
                      </a:r>
                      <a:endParaRPr lang="ru-RU" sz="900" kern="1200" dirty="0">
                        <a:solidFill>
                          <a:schemeClr val="tx1"/>
                        </a:solidFill>
                        <a:effectLst/>
                        <a:latin typeface="+mn-lt"/>
                        <a:ea typeface="+mn-ea"/>
                        <a:cs typeface="+mn-cs"/>
                      </a:endParaRPr>
                    </a:p>
                    <a:p>
                      <a:pPr algn="just"/>
                      <a:r>
                        <a:rPr lang="uz-Cyrl-UZ" sz="900" kern="1200" dirty="0" smtClean="0">
                          <a:solidFill>
                            <a:schemeClr val="tx1"/>
                          </a:solidFill>
                          <a:effectLst/>
                          <a:latin typeface="+mn-lt"/>
                          <a:ea typeface="+mn-ea"/>
                          <a:cs typeface="+mn-cs"/>
                        </a:rPr>
                        <a:t>    У </a:t>
                      </a:r>
                      <a:r>
                        <a:rPr lang="uz-Cyrl-UZ" sz="900" kern="1200" dirty="0">
                          <a:solidFill>
                            <a:schemeClr val="tx1"/>
                          </a:solidFill>
                          <a:effectLst/>
                          <a:latin typeface="+mn-lt"/>
                          <a:ea typeface="+mn-ea"/>
                          <a:cs typeface="+mn-cs"/>
                        </a:rPr>
                        <a:t>ёшлигиданоқ санъатга меҳр қўйган бўлиб, миллий руҳдаги куй-қўшиқлари билан “Марҳабо” ашула ва рақс дастасида фаолият олиб борган вақтида Германия, Москва, Польша мамлакатларида ижодий гастроль сафарларида бўлган. Унинг овозидаги ўзига хос шира ва бетакрор ижро театрда саҳналаштирилган мусиқали асарларда ҳам ўз янгроқ жозибасини кўрсатиб келмоқда.</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4087">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23157">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baseline="0" dirty="0" smtClean="0">
                          <a:effectLst/>
                          <a:latin typeface="+mn-lt"/>
                          <a:ea typeface="Calibri" panose="020F0502020204030204" pitchFamily="34" charset="0"/>
                          <a:cs typeface="Times New Roman" panose="02020603050405020304" pitchFamily="18" charset="0"/>
                        </a:rPr>
                        <a:t>   Қашқадарё </a:t>
                      </a:r>
                      <a:r>
                        <a:rPr lang="uz-Cyrl-UZ" sz="900" b="0" baseline="0" dirty="0">
                          <a:effectLst/>
                          <a:latin typeface="+mn-lt"/>
                          <a:ea typeface="Calibri" panose="020F0502020204030204" pitchFamily="34" charset="0"/>
                          <a:cs typeface="Times New Roman" panose="02020603050405020304" pitchFamily="18" charset="0"/>
                        </a:rPr>
                        <a:t>вилоятида ўткалиб келинадиган барча оммавий мадаий тадбирлар ва давлат тадбирларида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7" name="Рисунок 10">
            <a:extLst>
              <a:ext uri="{FF2B5EF4-FFF2-40B4-BE49-F238E27FC236}">
                <a16:creationId xmlns:a16="http://schemas.microsoft.com/office/drawing/2014/main" id="{1B26F4CC-A506-4B05-BC4A-1BCC717CDE8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6413" y="1126983"/>
            <a:ext cx="881782" cy="111745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29707891"/>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481566091"/>
              </p:ext>
            </p:extLst>
          </p:nvPr>
        </p:nvGraphicFramePr>
        <p:xfrm>
          <a:off x="144489" y="865705"/>
          <a:ext cx="3427547" cy="5940190"/>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648211">
                  <a:extLst>
                    <a:ext uri="{9D8B030D-6E8A-4147-A177-3AD203B41FA5}">
                      <a16:colId xmlns:a16="http://schemas.microsoft.com/office/drawing/2014/main" val="546773760"/>
                    </a:ext>
                  </a:extLst>
                </a:gridCol>
                <a:gridCol w="262003">
                  <a:extLst>
                    <a:ext uri="{9D8B030D-6E8A-4147-A177-3AD203B41FA5}">
                      <a16:colId xmlns:a16="http://schemas.microsoft.com/office/drawing/2014/main" val="2364525291"/>
                    </a:ext>
                  </a:extLst>
                </a:gridCol>
                <a:gridCol w="1265102">
                  <a:extLst>
                    <a:ext uri="{9D8B030D-6E8A-4147-A177-3AD203B41FA5}">
                      <a16:colId xmlns:a16="http://schemas.microsoft.com/office/drawing/2014/main" val="546443978"/>
                    </a:ext>
                  </a:extLst>
                </a:gridCol>
              </a:tblGrid>
              <a:tr h="146085">
                <a:tc gridSpan="6">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14205">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БЕКАНЧИЕВА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1420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3">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Бекамтош</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1420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Маматкуловна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14205">
                <a:tc gridSpan="2" vMerge="1">
                  <a:txBody>
                    <a:bodyPr/>
                    <a:lstStyle/>
                    <a:p>
                      <a:endParaRPr lang="ru-RU"/>
                    </a:p>
                  </a:txBody>
                  <a:tcPr>
                    <a:lnT>
                      <a:noFill/>
                    </a:lnT>
                  </a:tcPr>
                </a:tc>
                <a:tc hMerge="1" vMerge="1">
                  <a:txBody>
                    <a:bodyPr/>
                    <a:lstStyle/>
                    <a:p>
                      <a:endParaRPr lang="ru-RU"/>
                    </a:p>
                  </a:txBody>
                  <a:tcPr/>
                </a:tc>
                <a:tc gridSpan="3">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1420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05.02.1950</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7963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Туркманистон Республикаси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138629">
                <a:tc gridSpan="6">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297062">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ўғил, 1 нафар қизи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нафақада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138629">
                <a:tc gridSpan="6">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64815">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en-US" sz="900" b="1" kern="1200" dirty="0">
                          <a:solidFill>
                            <a:schemeClr val="tx1"/>
                          </a:solidFill>
                          <a:effectLst/>
                          <a:latin typeface="+mn-lt"/>
                          <a:ea typeface="+mn-ea"/>
                          <a:cs typeface="+mn-cs"/>
                        </a:rPr>
                        <a:t>АБРАЕВ </a:t>
                      </a:r>
                      <a:r>
                        <a:rPr lang="en-US" sz="900" b="1" kern="1200" dirty="0" err="1">
                          <a:solidFill>
                            <a:schemeClr val="tx1"/>
                          </a:solidFill>
                          <a:effectLst/>
                          <a:latin typeface="+mn-lt"/>
                          <a:ea typeface="+mn-ea"/>
                          <a:cs typeface="+mn-cs"/>
                        </a:rPr>
                        <a:t>Маматқул</a:t>
                      </a:r>
                      <a:endParaRPr lang="ru-RU" sz="900" b="1" kern="1200" dirty="0">
                        <a:solidFill>
                          <a:schemeClr val="tx1"/>
                        </a:solidFill>
                        <a:effectLst/>
                        <a:latin typeface="+mn-lt"/>
                        <a:ea typeface="+mn-ea"/>
                        <a:cs typeface="+mn-cs"/>
                      </a:endParaRPr>
                    </a:p>
                    <a:p>
                      <a:pPr algn="l">
                        <a:lnSpc>
                          <a:spcPct val="85000"/>
                        </a:lnSpc>
                      </a:pPr>
                      <a:endParaRPr lang="uz-Cyrl-UZ" sz="900" b="1" kern="1200" noProof="0" dirty="0">
                        <a:solidFill>
                          <a:schemeClr val="tx1"/>
                        </a:solidFill>
                        <a:latin typeface="+mn-lt"/>
                        <a:ea typeface="+mn-ea"/>
                        <a:cs typeface="Arial" panose="020B0604020202020204" pitchFamily="34" charset="0"/>
                      </a:endParaRPr>
                    </a:p>
                    <a:p>
                      <a:pPr algn="l">
                        <a:lnSpc>
                          <a:spcPct val="85000"/>
                        </a:lnSpc>
                      </a:pPr>
                      <a:r>
                        <a:rPr lang="uz-Cyrl-UZ" sz="900" b="0" kern="1200" noProof="0" dirty="0">
                          <a:solidFill>
                            <a:schemeClr val="tx1"/>
                          </a:solidFill>
                          <a:latin typeface="+mn-lt"/>
                          <a:ea typeface="+mn-ea"/>
                          <a:cs typeface="Arial" panose="020B0604020202020204" pitchFamily="34" charset="0"/>
                        </a:rPr>
                        <a:t>1903 йил, Тукманистон Республикаси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1985 йилда вафот этган</a:t>
                      </a:r>
                      <a:endParaRPr lang="ru-RU"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(Чоржоу </a:t>
                      </a:r>
                      <a:r>
                        <a:rPr lang="uz-Cyrl-UZ" sz="900" kern="1200" dirty="0">
                          <a:solidFill>
                            <a:schemeClr val="tx1"/>
                          </a:solidFill>
                          <a:effectLst/>
                          <a:latin typeface="+mn-lt"/>
                          <a:ea typeface="+mn-ea"/>
                          <a:cs typeface="+mn-cs"/>
                        </a:rPr>
                        <a:t>вилояти савдо омборхонасида </a:t>
                      </a:r>
                      <a:r>
                        <a:rPr lang="uz-Cyrl-UZ" sz="900" kern="1200" dirty="0" smtClean="0">
                          <a:solidFill>
                            <a:schemeClr val="tx1"/>
                          </a:solidFill>
                          <a:effectLst/>
                          <a:latin typeface="+mn-lt"/>
                          <a:ea typeface="+mn-ea"/>
                          <a:cs typeface="+mn-cs"/>
                        </a:rPr>
                        <a:t>ишчи)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272521">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en-US" sz="900" b="1" kern="1200" dirty="0">
                          <a:solidFill>
                            <a:schemeClr val="tx1"/>
                          </a:solidFill>
                          <a:effectLst/>
                          <a:latin typeface="+mn-lt"/>
                          <a:ea typeface="+mn-ea"/>
                          <a:cs typeface="+mn-cs"/>
                        </a:rPr>
                        <a:t>ХУЖАНОВА </a:t>
                      </a:r>
                      <a:r>
                        <a:rPr lang="en-US" sz="900" b="1" kern="1200" dirty="0" err="1">
                          <a:solidFill>
                            <a:schemeClr val="tx1"/>
                          </a:solidFill>
                          <a:effectLst/>
                          <a:latin typeface="+mn-lt"/>
                          <a:ea typeface="+mn-ea"/>
                          <a:cs typeface="+mn-cs"/>
                        </a:rPr>
                        <a:t>Ёрқиной</a:t>
                      </a:r>
                      <a:endParaRPr lang="ru-RU" sz="900" b="1" kern="1200" dirty="0">
                        <a:solidFill>
                          <a:schemeClr val="tx1"/>
                        </a:solidFill>
                        <a:effectLst/>
                        <a:latin typeface="+mn-lt"/>
                        <a:ea typeface="+mn-ea"/>
                        <a:cs typeface="+mn-cs"/>
                      </a:endParaRPr>
                    </a:p>
                    <a:p>
                      <a:pPr algn="l">
                        <a:lnSpc>
                          <a:spcPct val="85000"/>
                        </a:lnSpc>
                      </a:pPr>
                      <a:r>
                        <a:rPr lang="uz-Cyrl-UZ" sz="900" b="0" kern="1200" noProof="0" dirty="0">
                          <a:solidFill>
                            <a:schemeClr val="tx1"/>
                          </a:solidFill>
                          <a:latin typeface="+mn-lt"/>
                          <a:ea typeface="+mn-ea"/>
                          <a:cs typeface="Arial" panose="020B0604020202020204" pitchFamily="34" charset="0"/>
                        </a:rPr>
                        <a:t>1906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1989 йилда вафот этган</a:t>
                      </a:r>
                      <a:endParaRPr lang="ru-RU" sz="90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sz="90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48691">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sz="900" b="1" kern="1200" dirty="0">
                          <a:solidFill>
                            <a:schemeClr val="tx1"/>
                          </a:solidFill>
                          <a:effectLst/>
                          <a:latin typeface="+mn-lt"/>
                          <a:ea typeface="+mn-ea"/>
                          <a:cs typeface="+mn-cs"/>
                        </a:rPr>
                        <a:t>БЕГАНЧИЕВ </a:t>
                      </a:r>
                      <a:r>
                        <a:rPr lang="en-US" sz="900" b="1" kern="1200" dirty="0" err="1">
                          <a:solidFill>
                            <a:schemeClr val="tx1"/>
                          </a:solidFill>
                          <a:effectLst/>
                          <a:latin typeface="+mn-lt"/>
                          <a:ea typeface="+mn-ea"/>
                          <a:cs typeface="+mn-cs"/>
                        </a:rPr>
                        <a:t>Омон</a:t>
                      </a:r>
                      <a:r>
                        <a:rPr lang="en-US" sz="900" b="1" kern="1200" dirty="0">
                          <a:solidFill>
                            <a:schemeClr val="tx1"/>
                          </a:solidFill>
                          <a:effectLst/>
                          <a:latin typeface="+mn-lt"/>
                          <a:ea typeface="+mn-ea"/>
                          <a:cs typeface="+mn-cs"/>
                        </a:rPr>
                        <a:t> </a:t>
                      </a:r>
                      <a:r>
                        <a:rPr lang="en-US" sz="900" b="1" kern="1200" dirty="0" err="1">
                          <a:solidFill>
                            <a:schemeClr val="tx1"/>
                          </a:solidFill>
                          <a:effectLst/>
                          <a:latin typeface="+mn-lt"/>
                          <a:ea typeface="+mn-ea"/>
                          <a:cs typeface="+mn-cs"/>
                        </a:rPr>
                        <a:t>Юсупович</a:t>
                      </a:r>
                      <a:endParaRPr lang="uz-Cyrl-UZ" sz="900" b="1" kern="1200" dirty="0">
                        <a:solidFill>
                          <a:schemeClr val="tx1"/>
                        </a:solidFill>
                        <a:effectLst/>
                        <a:latin typeface="+mn-lt"/>
                        <a:ea typeface="+mn-ea"/>
                        <a:cs typeface="+mn-cs"/>
                      </a:endParaRPr>
                    </a:p>
                    <a:p>
                      <a:pPr algn="l">
                        <a:lnSpc>
                          <a:spcPct val="85000"/>
                        </a:lnSpc>
                      </a:pPr>
                      <a:r>
                        <a:rPr lang="uz-Cyrl-UZ" sz="900" b="0" kern="1200" noProof="0" dirty="0">
                          <a:solidFill>
                            <a:schemeClr val="tx1"/>
                          </a:solidFill>
                          <a:latin typeface="+mn-lt"/>
                          <a:ea typeface="+mn-ea"/>
                          <a:cs typeface="Arial" panose="020B0604020202020204" pitchFamily="34" charset="0"/>
                        </a:rPr>
                        <a:t>1942 йил, Самарқанд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1996 йилда вафот этган</a:t>
                      </a:r>
                      <a:endParaRPr lang="ru-RU"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(Ўзбекистон Халқ артисти, Қашқадарё вилояти М.Тошмуҳаммедов номли мусиқали драма  театри актёри) </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24650">
                <a:tc gridSpan="6">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129310">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a:solidFill>
                            <a:schemeClr val="tx1"/>
                          </a:solidFill>
                          <a:latin typeface="+mn-lt"/>
                          <a:ea typeface="+mn-ea"/>
                          <a:cs typeface="+mn-cs"/>
                        </a:rPr>
                        <a:t>1982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санъат</a:t>
                      </a:r>
                      <a:r>
                        <a:rPr lang="ru-RU" sz="900" b="0" kern="1200" noProof="0" dirty="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129310">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kern="1200" dirty="0">
                          <a:solidFill>
                            <a:schemeClr val="tx1"/>
                          </a:solidFill>
                          <a:effectLst/>
                          <a:latin typeface="+mn-lt"/>
                          <a:ea typeface="+mn-ea"/>
                          <a:cs typeface="+mn-cs"/>
                        </a:rPr>
                        <a:t>Драма театри ва кино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188645">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188645">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188645">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4102631805"/>
              </p:ext>
            </p:extLst>
          </p:nvPr>
        </p:nvGraphicFramePr>
        <p:xfrm>
          <a:off x="3674526" y="865689"/>
          <a:ext cx="3172841" cy="5958942"/>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5705">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34212">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0" kern="1200" noProof="0" dirty="0">
                          <a:solidFill>
                            <a:schemeClr val="tx1"/>
                          </a:solidFill>
                          <a:latin typeface="+mn-lt"/>
                          <a:ea typeface="+mn-ea"/>
                          <a:cs typeface="+mn-cs"/>
                        </a:rPr>
                        <a:t>Нафақада</a:t>
                      </a:r>
                      <a:r>
                        <a:rPr lang="uz-Cyrl-UZ" sz="900" b="0" kern="1200" dirty="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Қарши</a:t>
                      </a:r>
                      <a:r>
                        <a:rPr lang="ru-RU" sz="900" b="0" kern="1200" dirty="0" smtClean="0">
                          <a:solidFill>
                            <a:schemeClr val="tx1"/>
                          </a:solidFill>
                          <a:effectLst/>
                          <a:latin typeface="+mn-lt"/>
                          <a:ea typeface="+mn-ea"/>
                          <a:cs typeface="+mn-cs"/>
                        </a:rPr>
                        <a:t> туман 7-сон </a:t>
                      </a:r>
                      <a:r>
                        <a:rPr lang="ru-RU" sz="900" b="0" kern="1200" dirty="0" err="1" smtClean="0">
                          <a:solidFill>
                            <a:schemeClr val="tx1"/>
                          </a:solidFill>
                          <a:effectLst/>
                          <a:latin typeface="+mn-lt"/>
                          <a:ea typeface="+mn-ea"/>
                          <a:cs typeface="+mn-cs"/>
                        </a:rPr>
                        <a:t>болалар</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мусиқа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ва</a:t>
                      </a:r>
                      <a:r>
                        <a:rPr lang="ru-RU" sz="900" b="0" kern="1200" dirty="0" smtClean="0">
                          <a:solidFill>
                            <a:schemeClr val="tx1"/>
                          </a:solidFill>
                          <a:effectLst/>
                          <a:latin typeface="+mn-lt"/>
                          <a:ea typeface="+mn-ea"/>
                          <a:cs typeface="+mn-cs"/>
                        </a:rPr>
                        <a:t> </a:t>
                      </a:r>
                      <a:r>
                        <a:rPr lang="ru-RU" sz="900" b="0" kern="1200" smtClean="0">
                          <a:solidFill>
                            <a:schemeClr val="tx1"/>
                          </a:solidFill>
                          <a:effectLst/>
                          <a:latin typeface="+mn-lt"/>
                          <a:ea typeface="+mn-ea"/>
                          <a:cs typeface="+mn-cs"/>
                        </a:rPr>
                        <a:t>санъат</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мактаби</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директори</a:t>
                      </a:r>
                      <a:endParaRPr lang="ru-RU" sz="900" b="0" kern="1200" dirty="0">
                        <a:solidFill>
                          <a:schemeClr val="tx1"/>
                        </a:solidFill>
                        <a:effectLst/>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7957">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205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55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680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9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2050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2018-й х </a:t>
                      </a:r>
                      <a:r>
                        <a:rPr lang="uz-Cyrl-UZ" sz="900" noProof="0" dirty="0" smtClean="0">
                          <a:effectLst/>
                          <a:latin typeface="+mn-lt"/>
                          <a:ea typeface="Calibri" panose="020F0502020204030204" pitchFamily="34" charset="0"/>
                          <a:cs typeface="Times New Roman" panose="02020603050405020304" pitchFamily="18" charset="0"/>
                        </a:rPr>
                        <a:t>в.</a:t>
                      </a:r>
                      <a:r>
                        <a:rPr lang="uz-Cyrl-UZ" sz="900" baseline="0" noProof="0" dirty="0" smtClean="0">
                          <a:effectLst/>
                          <a:latin typeface="+mn-lt"/>
                          <a:ea typeface="Calibri" panose="020F0502020204030204" pitchFamily="34" charset="0"/>
                          <a:cs typeface="Times New Roman" panose="02020603050405020304" pitchFamily="18" charset="0"/>
                        </a:rPr>
                        <a:t> </a:t>
                      </a:r>
                      <a:r>
                        <a:rPr lang="ru-RU" sz="900" baseline="0" noProof="0" dirty="0" err="1" smtClean="0">
                          <a:effectLst/>
                          <a:latin typeface="+mn-lt"/>
                          <a:ea typeface="Calibri" panose="020F0502020204030204" pitchFamily="34" charset="0"/>
                          <a:cs typeface="Times New Roman" panose="02020603050405020304" pitchFamily="18" charset="0"/>
                        </a:rPr>
                        <a:t>Қарши</a:t>
                      </a:r>
                      <a:r>
                        <a:rPr lang="ru-RU" sz="900" baseline="0" noProof="0" dirty="0" smtClean="0">
                          <a:effectLst/>
                          <a:latin typeface="+mn-lt"/>
                          <a:ea typeface="Calibri" panose="020F0502020204030204" pitchFamily="34" charset="0"/>
                          <a:cs typeface="Times New Roman" panose="02020603050405020304" pitchFamily="18" charset="0"/>
                        </a:rPr>
                        <a:t> туман 7-сон </a:t>
                      </a:r>
                      <a:r>
                        <a:rPr lang="ru-RU" sz="900" baseline="0" noProof="0" dirty="0" err="1" smtClean="0">
                          <a:effectLst/>
                          <a:latin typeface="+mn-lt"/>
                          <a:ea typeface="Calibri" panose="020F0502020204030204" pitchFamily="34" charset="0"/>
                          <a:cs typeface="Times New Roman" panose="02020603050405020304" pitchFamily="18" charset="0"/>
                        </a:rPr>
                        <a:t>болалар</a:t>
                      </a:r>
                      <a:r>
                        <a:rPr lang="ru-RU" sz="900" baseline="0" noProof="0" dirty="0" smtClean="0">
                          <a:effectLst/>
                          <a:latin typeface="+mn-lt"/>
                          <a:ea typeface="Calibri" panose="020F0502020204030204" pitchFamily="34" charset="0"/>
                          <a:cs typeface="Times New Roman" panose="02020603050405020304" pitchFamily="18" charset="0"/>
                        </a:rPr>
                        <a:t> </a:t>
                      </a:r>
                      <a:r>
                        <a:rPr lang="ru-RU" sz="900" baseline="0" noProof="0" dirty="0" err="1" smtClean="0">
                          <a:effectLst/>
                          <a:latin typeface="+mn-lt"/>
                          <a:ea typeface="Calibri" panose="020F0502020204030204" pitchFamily="34" charset="0"/>
                          <a:cs typeface="Times New Roman" panose="02020603050405020304" pitchFamily="18" charset="0"/>
                        </a:rPr>
                        <a:t>мусиқа</a:t>
                      </a:r>
                      <a:r>
                        <a:rPr lang="ru-RU" sz="900" baseline="0" noProof="0" dirty="0" smtClean="0">
                          <a:effectLst/>
                          <a:latin typeface="+mn-lt"/>
                          <a:ea typeface="Calibri" panose="020F0502020204030204" pitchFamily="34" charset="0"/>
                          <a:cs typeface="Times New Roman" panose="02020603050405020304" pitchFamily="18" charset="0"/>
                        </a:rPr>
                        <a:t> </a:t>
                      </a:r>
                      <a:r>
                        <a:rPr lang="ru-RU" sz="900" baseline="0" noProof="0" dirty="0" err="1" smtClean="0">
                          <a:effectLst/>
                          <a:latin typeface="+mn-lt"/>
                          <a:ea typeface="Calibri" panose="020F0502020204030204" pitchFamily="34" charset="0"/>
                          <a:cs typeface="Times New Roman" panose="02020603050405020304" pitchFamily="18" charset="0"/>
                        </a:rPr>
                        <a:t>ва</a:t>
                      </a:r>
                      <a:r>
                        <a:rPr lang="ru-RU" sz="900" baseline="0" noProof="0" dirty="0" smtClean="0">
                          <a:effectLst/>
                          <a:latin typeface="+mn-lt"/>
                          <a:ea typeface="Calibri" panose="020F0502020204030204" pitchFamily="34" charset="0"/>
                          <a:cs typeface="Times New Roman" panose="02020603050405020304" pitchFamily="18" charset="0"/>
                        </a:rPr>
                        <a:t> </a:t>
                      </a:r>
                      <a:r>
                        <a:rPr lang="ru-RU" sz="900" baseline="0" noProof="0" dirty="0" err="1" smtClean="0">
                          <a:effectLst/>
                          <a:latin typeface="+mn-lt"/>
                          <a:ea typeface="Calibri" panose="020F0502020204030204" pitchFamily="34" charset="0"/>
                          <a:cs typeface="Times New Roman" panose="02020603050405020304" pitchFamily="18" charset="0"/>
                        </a:rPr>
                        <a:t>санъат</a:t>
                      </a:r>
                      <a:r>
                        <a:rPr lang="ru-RU" sz="900" baseline="0" noProof="0" dirty="0" smtClean="0">
                          <a:effectLst/>
                          <a:latin typeface="+mn-lt"/>
                          <a:ea typeface="Calibri" panose="020F0502020204030204" pitchFamily="34" charset="0"/>
                          <a:cs typeface="Times New Roman" panose="02020603050405020304" pitchFamily="18" charset="0"/>
                        </a:rPr>
                        <a:t> </a:t>
                      </a:r>
                      <a:r>
                        <a:rPr lang="ru-RU" sz="900" baseline="0" noProof="0" dirty="0" err="1" smtClean="0">
                          <a:effectLst/>
                          <a:latin typeface="+mn-lt"/>
                          <a:ea typeface="Calibri" panose="020F0502020204030204" pitchFamily="34" charset="0"/>
                          <a:cs typeface="Times New Roman" panose="02020603050405020304" pitchFamily="18" charset="0"/>
                        </a:rPr>
                        <a:t>мактаби</a:t>
                      </a:r>
                      <a:r>
                        <a:rPr lang="ru-RU" sz="900" baseline="0" noProof="0" dirty="0" smtClean="0">
                          <a:effectLst/>
                          <a:latin typeface="+mn-lt"/>
                          <a:ea typeface="Calibri" panose="020F0502020204030204" pitchFamily="34" charset="0"/>
                          <a:cs typeface="Times New Roman" panose="02020603050405020304" pitchFamily="18" charset="0"/>
                        </a:rPr>
                        <a:t> </a:t>
                      </a:r>
                      <a:r>
                        <a:rPr lang="ru-RU" sz="900" baseline="0" noProof="0" dirty="0" err="1" smtClean="0">
                          <a:effectLst/>
                          <a:latin typeface="+mn-lt"/>
                          <a:ea typeface="Calibri" panose="020F0502020204030204" pitchFamily="34" charset="0"/>
                          <a:cs typeface="Times New Roman" panose="02020603050405020304" pitchFamily="18" charset="0"/>
                        </a:rPr>
                        <a:t>директори</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5258">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5258">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334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213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9254">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46460">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2003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12602710"/>
              </p:ext>
            </p:extLst>
          </p:nvPr>
        </p:nvGraphicFramePr>
        <p:xfrm>
          <a:off x="6949857" y="869287"/>
          <a:ext cx="2817247" cy="5961620"/>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194714">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82545">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47852">
                <a:tc>
                  <a:txBody>
                    <a:bodyPr/>
                    <a:lstStyle/>
                    <a:p>
                      <a:pPr algn="just"/>
                      <a:r>
                        <a:rPr lang="uz-Cyrl-UZ" sz="900" b="0" noProof="0" dirty="0">
                          <a:solidFill>
                            <a:schemeClr val="tx1"/>
                          </a:solidFill>
                          <a:latin typeface="+mn-lt"/>
                        </a:rPr>
                        <a:t>    </a:t>
                      </a:r>
                      <a:r>
                        <a:rPr lang="uz-Cyrl-UZ" sz="900" kern="1200" dirty="0">
                          <a:solidFill>
                            <a:schemeClr val="tx1"/>
                          </a:solidFill>
                          <a:effectLst/>
                          <a:latin typeface="+mn-lt"/>
                          <a:ea typeface="+mn-ea"/>
                          <a:cs typeface="+mn-cs"/>
                        </a:rPr>
                        <a:t>Б.Беганчиева илғор педагог ва моҳир устоз сифатида янги педагогик технологиялар асосида ёш авлодни ҳар томонлама етук инсон қилиб вояга етказиш йўлида самарали меҳнат қилиб келмоқда. Ёшларнинг маънавий-маърифий билимларини юксалтириш, баркамол авлодни вояга етказиш, ўзлигини англаш, миллий қадриятларни ривожлантириш масалаларига катта эътибор қаратиб келмоқда.</a:t>
                      </a:r>
                      <a:endParaRPr lang="ru-RU" sz="900" kern="1200" dirty="0">
                        <a:solidFill>
                          <a:schemeClr val="tx1"/>
                        </a:solidFill>
                        <a:effectLst/>
                        <a:latin typeface="+mn-lt"/>
                        <a:ea typeface="+mn-ea"/>
                        <a:cs typeface="+mn-cs"/>
                      </a:endParaRPr>
                    </a:p>
                    <a:p>
                      <a:pPr algn="just"/>
                      <a:r>
                        <a:rPr lang="uz-Cyrl-UZ" sz="900" kern="1200" dirty="0" smtClean="0">
                          <a:solidFill>
                            <a:schemeClr val="tx1"/>
                          </a:solidFill>
                          <a:effectLst/>
                          <a:latin typeface="+mn-lt"/>
                          <a:ea typeface="+mn-ea"/>
                          <a:cs typeface="+mn-cs"/>
                        </a:rPr>
                        <a:t>    Айни </a:t>
                      </a:r>
                      <a:r>
                        <a:rPr lang="uz-Cyrl-UZ" sz="900" kern="1200" dirty="0">
                          <a:solidFill>
                            <a:schemeClr val="tx1"/>
                          </a:solidFill>
                          <a:effectLst/>
                          <a:latin typeface="+mn-lt"/>
                          <a:ea typeface="+mn-ea"/>
                          <a:cs typeface="+mn-cs"/>
                        </a:rPr>
                        <a:t>вақтда у ўзи меҳнат қилаётган болалар мусиқа ва санъат мактабида ўғил- қизларга театр  ва  актёрлик  санъати  бўйича нафақат миллий , балки замонавий ҳамда чет эл  ёзувчиларининг хам  асарлари  асосида  саҳна кўринишлар ва  сценарийлар  яратиб  ўргатиб келмоқда.</a:t>
                      </a:r>
                    </a:p>
                    <a:p>
                      <a:pPr algn="just"/>
                      <a:r>
                        <a:rPr lang="uz-Cyrl-UZ" sz="900" kern="1200" dirty="0" smtClean="0">
                          <a:solidFill>
                            <a:schemeClr val="tx1"/>
                          </a:solidFill>
                          <a:effectLst/>
                          <a:latin typeface="+mn-lt"/>
                          <a:ea typeface="+mn-ea"/>
                          <a:cs typeface="+mn-cs"/>
                        </a:rPr>
                        <a:t>   2018-2019 </a:t>
                      </a:r>
                      <a:r>
                        <a:rPr lang="uz-Cyrl-UZ" sz="900" kern="1200" dirty="0">
                          <a:solidFill>
                            <a:schemeClr val="tx1"/>
                          </a:solidFill>
                          <a:effectLst/>
                          <a:latin typeface="+mn-lt"/>
                          <a:ea typeface="+mn-ea"/>
                          <a:cs typeface="+mn-cs"/>
                        </a:rPr>
                        <a:t>ўқув  </a:t>
                      </a:r>
                      <a:r>
                        <a:rPr lang="uz-Cyrl-UZ" sz="900" u="none" kern="1200" dirty="0">
                          <a:solidFill>
                            <a:schemeClr val="tx1"/>
                          </a:solidFill>
                          <a:effectLst/>
                          <a:latin typeface="+mn-lt"/>
                          <a:ea typeface="+mn-ea"/>
                          <a:cs typeface="+mn-cs"/>
                        </a:rPr>
                        <a:t>йилида    Б.Беганчиева  Ўзбекистон  Республикаси  Президенти  Ш.М.Мирзиёевнинг  2017 йил   17  ноябрдаги  “ Ўзбек  миллий  мақом  санъатини   янада  ривожлантириш  чора – тадбирлари  тўғрисида”ги  ПҚ-3391-сонли  қарори  ижросини  таъминлаш  мақсадида   мактабнинг  анъанавий  хонандалик  бўлими  ўқувчилари  иштирокидаги  “ Шошчашма ”  мақом  ансамбли  ҳамда   миллий  фольклор  санъатини  ривожлантириш  мақсадида  “ Чашма”  номли  фольклор  дастани  ташкил  қилди ва  уларни  саҳна  кийимлари  билан  таъминлашда катта   эътибор  қаратди</a:t>
                      </a:r>
                      <a:r>
                        <a:rPr lang="uz-Cyrl-UZ" sz="900" b="0" u="none" noProof="0" dirty="0">
                          <a:solidFill>
                            <a:schemeClr val="tx1"/>
                          </a:solidFill>
                          <a:latin typeface="+mn-lt"/>
                        </a:rPr>
                        <a:t>.</a:t>
                      </a:r>
                    </a:p>
                    <a:p>
                      <a:pPr marL="0" marR="0" lvl="0" indent="0" algn="just" defTabSz="914400" rtl="0" eaLnBrk="1" fontAlgn="auto" latinLnBrk="0" hangingPunct="1">
                        <a:lnSpc>
                          <a:spcPct val="100000"/>
                        </a:lnSpc>
                        <a:spcBef>
                          <a:spcPts val="0"/>
                        </a:spcBef>
                        <a:spcAft>
                          <a:spcPts val="0"/>
                        </a:spcAft>
                        <a:buClrTx/>
                        <a:buSzTx/>
                        <a:buFontTx/>
                        <a:buNone/>
                        <a:tabLst/>
                        <a:defRPr/>
                      </a:pPr>
                      <a:r>
                        <a:rPr lang="uz-Cyrl-UZ" sz="900" u="none" kern="1200" dirty="0" smtClean="0">
                          <a:solidFill>
                            <a:schemeClr val="tx1"/>
                          </a:solidFill>
                          <a:effectLst/>
                          <a:latin typeface="+mn-lt"/>
                          <a:ea typeface="+mn-ea"/>
                          <a:cs typeface="+mn-cs"/>
                        </a:rPr>
                        <a:t>    Б.Беганчиева </a:t>
                      </a:r>
                      <a:r>
                        <a:rPr lang="uz-Cyrl-UZ" sz="900" u="none" kern="1200" dirty="0">
                          <a:solidFill>
                            <a:schemeClr val="tx1"/>
                          </a:solidFill>
                          <a:effectLst/>
                          <a:latin typeface="+mn-lt"/>
                          <a:ea typeface="+mn-ea"/>
                          <a:cs typeface="+mn-cs"/>
                        </a:rPr>
                        <a:t>болалар мусиқа в</a:t>
                      </a:r>
                      <a:r>
                        <a:rPr lang="uz-Cyrl-UZ" sz="900" kern="1200" dirty="0">
                          <a:solidFill>
                            <a:schemeClr val="tx1"/>
                          </a:solidFill>
                          <a:effectLst/>
                          <a:latin typeface="+mn-lt"/>
                          <a:ea typeface="+mn-ea"/>
                          <a:cs typeface="+mn-cs"/>
                        </a:rPr>
                        <a:t>а санъат мактабида ўқув жараёнининг янги педагогик технологиялар асосида ташкил этилишига катта ҳисса қўшмоқда. Унинг таълим муассасаси фаолиятини ривожлантиришга қаратилган самарали меҳнати ва ўзига хос услублари Қашқадарё вилоятидаги бошқа болалар мусиқа ва санъат мактабларида намуна сифатида кенг тарғиб қилинмоқда</a:t>
                      </a:r>
                      <a:r>
                        <a:rPr lang="uz-Cyrl-UZ" sz="900" kern="1200" dirty="0" smtClean="0">
                          <a:solidFill>
                            <a:schemeClr val="tx1"/>
                          </a:solidFill>
                          <a:effectLst/>
                          <a:latin typeface="+mn-lt"/>
                          <a:ea typeface="+mn-ea"/>
                          <a:cs typeface="+mn-cs"/>
                        </a:rPr>
                        <a:t>.</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25826">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223376">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Picture 2" descr="Б">
            <a:extLst>
              <a:ext uri="{FF2B5EF4-FFF2-40B4-BE49-F238E27FC236}">
                <a16:creationId xmlns:a16="http://schemas.microsoft.com/office/drawing/2014/main" id="{DD4C8484-73D6-4680-AD77-90C4E5FC021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4491" y="1143001"/>
            <a:ext cx="894353" cy="12095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36713420"/>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256658057"/>
              </p:ext>
            </p:extLst>
          </p:nvPr>
        </p:nvGraphicFramePr>
        <p:xfrm>
          <a:off x="144489" y="865702"/>
          <a:ext cx="3427547" cy="5890408"/>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5882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20234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АХМЕДОВ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234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Шокир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20234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ХХХ</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20234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20234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25.02.1943</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0234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45617">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67492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5 нафар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Муқимий номидаги Ўзбекистон давлат академик мусиқали театири балетмейстери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45617">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30655">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endParaRPr lang="uz-Cyrl-UZ" sz="8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endParaRPr lang="ru-RU" sz="8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35101">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Ахмедова Мамлакат</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1912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1994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(уй </a:t>
                      </a:r>
                      <a:r>
                        <a:rPr lang="ru-RU" sz="800" b="0" kern="1200" noProof="0" dirty="0" err="1">
                          <a:solidFill>
                            <a:schemeClr val="tx1"/>
                          </a:solidFill>
                          <a:latin typeface="+mn-lt"/>
                          <a:ea typeface="+mn-ea"/>
                          <a:cs typeface="Arial" panose="020B0604020202020204" pitchFamily="34" charset="0"/>
                        </a:rPr>
                        <a:t>бекаси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334231">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Ахмедова Шохида</a:t>
                      </a:r>
                    </a:p>
                    <a:p>
                      <a:pPr algn="l">
                        <a:lnSpc>
                          <a:spcPct val="85000"/>
                        </a:lnSpc>
                      </a:pPr>
                      <a:r>
                        <a:rPr lang="uz-Cyrl-UZ" sz="800" b="0" kern="1200" noProof="0" dirty="0">
                          <a:solidFill>
                            <a:schemeClr val="tx1"/>
                          </a:solidFill>
                          <a:latin typeface="+mn-lt"/>
                          <a:ea typeface="+mn-ea"/>
                          <a:cs typeface="Arial" panose="020B0604020202020204" pitchFamily="34" charset="0"/>
                        </a:rPr>
                        <a:t>1947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Arial" panose="020B0604020202020204" pitchFamily="34" charset="0"/>
                        </a:rPr>
                        <a:t>Уй бекаси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96625">
                <a:tc gridSpan="5">
                  <a:txBody>
                    <a:bodyPr/>
                    <a:lstStyle/>
                    <a:p>
                      <a:pPr algn="ctr">
                        <a:lnSpc>
                          <a:spcPct val="85000"/>
                        </a:lnSpc>
                      </a:pPr>
                      <a:r>
                        <a:rPr lang="uz-Cyrl-UZ" sz="8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91040">
                <a:tc gridSpan="3">
                  <a:txBody>
                    <a:bodyPr/>
                    <a:lstStyle/>
                    <a:p>
                      <a:pPr algn="l">
                        <a:lnSpc>
                          <a:spcPct val="85000"/>
                        </a:lnSpc>
                      </a:pPr>
                      <a:r>
                        <a:rPr lang="uz-Cyrl-UZ" sz="800" b="1" noProof="0" dirty="0">
                          <a:latin typeface="+mn-lt"/>
                        </a:rPr>
                        <a:t>Тамомлаган ОТМ:</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a:solidFill>
                            <a:schemeClr val="tx1"/>
                          </a:solidFill>
                          <a:latin typeface="+mn-lt"/>
                          <a:ea typeface="+mn-ea"/>
                          <a:cs typeface="+mn-cs"/>
                        </a:rPr>
                        <a:t>1973 й. </a:t>
                      </a:r>
                      <a:r>
                        <a:rPr lang="ru-RU" sz="800" b="0" kern="1200" noProof="0" dirty="0" err="1">
                          <a:solidFill>
                            <a:schemeClr val="tx1"/>
                          </a:solidFill>
                          <a:latin typeface="+mn-lt"/>
                          <a:ea typeface="+mn-ea"/>
                          <a:cs typeface="+mn-cs"/>
                        </a:rPr>
                        <a:t>Тошкент</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давлат</a:t>
                      </a:r>
                      <a:r>
                        <a:rPr lang="ru-RU" sz="800" b="0" kern="1200" noProof="0" dirty="0">
                          <a:solidFill>
                            <a:schemeClr val="tx1"/>
                          </a:solidFill>
                          <a:latin typeface="+mn-lt"/>
                          <a:ea typeface="+mn-ea"/>
                          <a:cs typeface="+mn-cs"/>
                        </a:rPr>
                        <a:t> театр </a:t>
                      </a:r>
                      <a:r>
                        <a:rPr lang="ru-RU" sz="800" b="0" kern="1200" noProof="0" dirty="0" err="1">
                          <a:solidFill>
                            <a:schemeClr val="tx1"/>
                          </a:solidFill>
                          <a:latin typeface="+mn-lt"/>
                          <a:ea typeface="+mn-ea"/>
                          <a:cs typeface="+mn-cs"/>
                        </a:rPr>
                        <a:t>ва</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санъати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институти</a:t>
                      </a:r>
                      <a:r>
                        <a:rPr lang="ru-RU" sz="800" b="0" kern="1200" noProof="0" dirty="0">
                          <a:solidFill>
                            <a:schemeClr val="tx1"/>
                          </a:solidFill>
                          <a:latin typeface="+mn-lt"/>
                          <a:ea typeface="+mn-ea"/>
                          <a:cs typeface="+mn-cs"/>
                        </a:rPr>
                        <a:t>(</a:t>
                      </a:r>
                      <a:r>
                        <a:rPr lang="ru-RU" sz="800" b="0" kern="1200" noProof="0" dirty="0" err="1">
                          <a:solidFill>
                            <a:schemeClr val="tx1"/>
                          </a:solidFill>
                          <a:latin typeface="+mn-lt"/>
                          <a:ea typeface="+mn-ea"/>
                          <a:cs typeface="+mn-cs"/>
                        </a:rPr>
                        <a:t>кундузги</a:t>
                      </a:r>
                      <a:r>
                        <a:rPr lang="ru-RU" sz="8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59835">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800" b="1" noProof="0" dirty="0">
                          <a:latin typeface="+mn-lt"/>
                        </a:rPr>
                        <a:t>Мутахассислиги:</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Балетмейстер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96591">
                <a:tc gridSpan="3">
                  <a:txBody>
                    <a:bodyPr/>
                    <a:lstStyle/>
                    <a:p>
                      <a:pPr algn="l">
                        <a:lnSpc>
                          <a:spcPct val="85000"/>
                        </a:lnSpc>
                      </a:pPr>
                      <a:r>
                        <a:rPr lang="uz-Cyrl-UZ" sz="800" b="1" kern="1200" noProof="0" dirty="0">
                          <a:solidFill>
                            <a:schemeClr val="tx1"/>
                          </a:solidFill>
                          <a:latin typeface="+mn-lt"/>
                          <a:ea typeface="+mn-ea"/>
                          <a:cs typeface="+mn-cs"/>
                        </a:rPr>
                        <a:t>Илмий даража</a:t>
                      </a:r>
                      <a:r>
                        <a:rPr lang="en-US" sz="800" b="1" kern="1200" noProof="0" dirty="0">
                          <a:solidFill>
                            <a:schemeClr val="tx1"/>
                          </a:solidFill>
                          <a:latin typeface="+mn-lt"/>
                          <a:ea typeface="+mn-ea"/>
                          <a:cs typeface="+mn-cs"/>
                        </a:rPr>
                        <a:t> (</a:t>
                      </a:r>
                      <a:r>
                        <a:rPr lang="uz-Cyrl-UZ" sz="800" b="1" kern="1200" noProof="0" dirty="0">
                          <a:solidFill>
                            <a:schemeClr val="tx1"/>
                          </a:solidFill>
                          <a:latin typeface="+mn-lt"/>
                          <a:ea typeface="+mn-ea"/>
                          <a:cs typeface="+mn-cs"/>
                        </a:rPr>
                        <a:t>унвон</a:t>
                      </a:r>
                      <a:r>
                        <a:rPr lang="en-US" sz="800" b="1" kern="1200" noProof="0" dirty="0">
                          <a:solidFill>
                            <a:schemeClr val="tx1"/>
                          </a:solidFill>
                          <a:latin typeface="+mn-lt"/>
                          <a:ea typeface="+mn-ea"/>
                          <a:cs typeface="+mn-cs"/>
                        </a:rPr>
                        <a:t>)</a:t>
                      </a:r>
                      <a:r>
                        <a:rPr lang="uz-Cyrl-UZ" sz="8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Йўқ</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96591">
                <a:tc gridSpan="3">
                  <a:txBody>
                    <a:bodyPr/>
                    <a:lstStyle/>
                    <a:p>
                      <a:pPr algn="l">
                        <a:lnSpc>
                          <a:spcPct val="85000"/>
                        </a:lnSpc>
                      </a:pPr>
                      <a:r>
                        <a:rPr lang="uz-Cyrl-UZ" sz="8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Рус тили</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10699">
                <a:tc gridSpan="3">
                  <a:txBody>
                    <a:bodyPr/>
                    <a:lstStyle/>
                    <a:p>
                      <a:pPr algn="l">
                        <a:lnSpc>
                          <a:spcPct val="85000"/>
                        </a:lnSpc>
                      </a:pPr>
                      <a:r>
                        <a:rPr lang="uz-Cyrl-UZ" sz="8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err="1">
                          <a:solidFill>
                            <a:schemeClr val="tx1"/>
                          </a:solidFill>
                          <a:latin typeface="+mn-lt"/>
                          <a:ea typeface="+mn-ea"/>
                          <a:cs typeface="+mn-cs"/>
                        </a:rPr>
                        <a:t>Йўқ</a:t>
                      </a:r>
                      <a:endParaRPr lang="ru-RU"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750530595"/>
              </p:ext>
            </p:extLst>
          </p:nvPr>
        </p:nvGraphicFramePr>
        <p:xfrm>
          <a:off x="3672840" y="865689"/>
          <a:ext cx="3174527" cy="5893083"/>
        </p:xfrm>
        <a:graphic>
          <a:graphicData uri="http://schemas.openxmlformats.org/drawingml/2006/table">
            <a:tbl>
              <a:tblPr firstRow="1" bandRow="1">
                <a:tableStyleId>{C083E6E3-FA7D-4D7B-A595-EF9225AFEA82}</a:tableStyleId>
              </a:tblPr>
              <a:tblGrid>
                <a:gridCol w="1498928">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2437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93059">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800" b="1" kern="1200" noProof="0" dirty="0">
                          <a:solidFill>
                            <a:schemeClr val="tx1"/>
                          </a:solidFill>
                          <a:latin typeface="+mn-lt"/>
                          <a:ea typeface="+mn-ea"/>
                          <a:cs typeface="+mn-cs"/>
                        </a:rPr>
                        <a:t>2016 йилдан Муқимий номидаги Ўзбекистон давлат академик мусиқали театри балетмейстери</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4204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800" b="0" kern="1200" noProof="0" dirty="0">
                          <a:solidFill>
                            <a:schemeClr val="tx1"/>
                          </a:solidFill>
                          <a:latin typeface="+mn-lt"/>
                          <a:ea typeface="+mn-ea"/>
                          <a:cs typeface="+mn-cs"/>
                        </a:rPr>
                        <a:t>Й</a:t>
                      </a:r>
                      <a:r>
                        <a:rPr lang="ru-RU" sz="800" b="0" kern="1200" noProof="0" dirty="0" err="1">
                          <a:solidFill>
                            <a:schemeClr val="tx1"/>
                          </a:solidFill>
                          <a:latin typeface="+mn-lt"/>
                          <a:ea typeface="+mn-ea"/>
                          <a:cs typeface="+mn-cs"/>
                        </a:rPr>
                        <a:t>ўқ</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835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55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404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6371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algn="l" defTabSz="914400" rtl="0" eaLnBrk="1" latinLnBrk="0" hangingPunct="1"/>
                      <a:endParaRPr lang="ru-RU" sz="800" b="1"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180040">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2159">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2159">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5534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4493">
                <a:tc gridSpan="2">
                  <a:txBody>
                    <a:bodyPr/>
                    <a:lstStyle/>
                    <a:p>
                      <a:pPr algn="ctr"/>
                      <a:r>
                        <a:rPr lang="uz-Cyrl-UZ" sz="8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420620">
                <a:tc gridSpan="2">
                  <a:txBody>
                    <a:bodyPr/>
                    <a:lstStyle/>
                    <a:p>
                      <a:pPr marL="0" algn="l" defTabSz="914400" rtl="0" eaLnBrk="1" latinLnBrk="0" hangingPunct="1"/>
                      <a:r>
                        <a:rPr lang="uz-Cyrl-UZ" sz="800" kern="1200" dirty="0">
                          <a:solidFill>
                            <a:schemeClr val="tx1"/>
                          </a:solidFill>
                          <a:effectLst/>
                          <a:latin typeface="+mn-lt"/>
                          <a:ea typeface="+mn-ea"/>
                          <a:cs typeface="Times New Roman" panose="02020603050405020304" pitchFamily="18" charset="0"/>
                        </a:rPr>
                        <a:t>1</a:t>
                      </a:r>
                      <a:r>
                        <a:rPr lang="ru-RU" sz="800" kern="1200" dirty="0">
                          <a:solidFill>
                            <a:schemeClr val="tx1"/>
                          </a:solidFill>
                          <a:effectLst/>
                          <a:latin typeface="+mn-lt"/>
                          <a:ea typeface="+mn-ea"/>
                          <a:cs typeface="Times New Roman" panose="02020603050405020304" pitchFamily="18" charset="0"/>
                        </a:rPr>
                        <a:t>1985 й . “</a:t>
                      </a:r>
                      <a:r>
                        <a:rPr lang="ru-RU" sz="800" kern="1200" dirty="0" err="1">
                          <a:solidFill>
                            <a:schemeClr val="tx1"/>
                          </a:solidFill>
                          <a:effectLst/>
                          <a:latin typeface="+mn-lt"/>
                          <a:ea typeface="+mn-ea"/>
                          <a:cs typeface="Times New Roman" panose="02020603050405020304" pitchFamily="18" charset="0"/>
                        </a:rPr>
                        <a:t>Ўзбекистонда</a:t>
                      </a:r>
                      <a:r>
                        <a:rPr lang="ru-RU" sz="800" kern="1200" dirty="0">
                          <a:solidFill>
                            <a:schemeClr val="tx1"/>
                          </a:solidFill>
                          <a:effectLst/>
                          <a:latin typeface="+mn-lt"/>
                          <a:ea typeface="+mn-ea"/>
                          <a:cs typeface="Times New Roman" panose="02020603050405020304" pitchFamily="18" charset="0"/>
                        </a:rPr>
                        <a:t> </a:t>
                      </a:r>
                      <a:r>
                        <a:rPr lang="ru-RU" sz="800" kern="1200" dirty="0" err="1">
                          <a:solidFill>
                            <a:schemeClr val="tx1"/>
                          </a:solidFill>
                          <a:effectLst/>
                          <a:latin typeface="+mn-lt"/>
                          <a:ea typeface="+mn-ea"/>
                          <a:cs typeface="Times New Roman" panose="02020603050405020304" pitchFamily="18" charset="0"/>
                        </a:rPr>
                        <a:t>хизмат</a:t>
                      </a:r>
                      <a:r>
                        <a:rPr lang="ru-RU" sz="800" kern="1200" dirty="0">
                          <a:solidFill>
                            <a:schemeClr val="tx1"/>
                          </a:solidFill>
                          <a:effectLst/>
                          <a:latin typeface="+mn-lt"/>
                          <a:ea typeface="+mn-ea"/>
                          <a:cs typeface="Times New Roman" panose="02020603050405020304" pitchFamily="18" charset="0"/>
                        </a:rPr>
                        <a:t> </a:t>
                      </a:r>
                      <a:r>
                        <a:rPr lang="ru-RU" sz="800" kern="1200" dirty="0" err="1">
                          <a:solidFill>
                            <a:schemeClr val="tx1"/>
                          </a:solidFill>
                          <a:effectLst/>
                          <a:latin typeface="+mn-lt"/>
                          <a:ea typeface="+mn-ea"/>
                          <a:cs typeface="Times New Roman" panose="02020603050405020304" pitchFamily="18" charset="0"/>
                        </a:rPr>
                        <a:t>кўрсатган</a:t>
                      </a:r>
                      <a:r>
                        <a:rPr lang="ru-RU" sz="800" kern="1200" dirty="0">
                          <a:solidFill>
                            <a:schemeClr val="tx1"/>
                          </a:solidFill>
                          <a:effectLst/>
                          <a:latin typeface="+mn-lt"/>
                          <a:ea typeface="+mn-ea"/>
                          <a:cs typeface="Times New Roman" panose="02020603050405020304" pitchFamily="18" charset="0"/>
                        </a:rPr>
                        <a:t> артист”</a:t>
                      </a:r>
                    </a:p>
                    <a:p>
                      <a:pPr marL="0" algn="l" defTabSz="914400" rtl="0" eaLnBrk="1" latinLnBrk="0" hangingPunct="1"/>
                      <a:r>
                        <a:rPr lang="uz-Cyrl-UZ" sz="800" kern="1200" dirty="0">
                          <a:solidFill>
                            <a:schemeClr val="tx1"/>
                          </a:solidFill>
                          <a:effectLst/>
                          <a:latin typeface="+mn-lt"/>
                          <a:ea typeface="+mn-ea"/>
                          <a:cs typeface="Times New Roman" panose="02020603050405020304" pitchFamily="18" charset="0"/>
                        </a:rPr>
                        <a:t>1961-1964 йй  - Ўзбекистон  давлат филармониясида  балет артисти</a:t>
                      </a:r>
                      <a:endParaRPr lang="ru-RU" sz="8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uz-Cyrl-UZ" sz="800" kern="1200" dirty="0">
                          <a:solidFill>
                            <a:schemeClr val="tx1"/>
                          </a:solidFill>
                          <a:effectLst/>
                          <a:latin typeface="+mn-lt"/>
                          <a:ea typeface="+mn-ea"/>
                          <a:cs typeface="Times New Roman" panose="02020603050405020304" pitchFamily="18" charset="0"/>
                        </a:rPr>
                        <a:t>1964-1966 йй  - Тожикистон Республикаси “Лола” номли  ансамбили балет артисти</a:t>
                      </a:r>
                      <a:endParaRPr lang="ru-RU" sz="8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uz-Cyrl-UZ" sz="800" kern="1200" dirty="0">
                          <a:solidFill>
                            <a:schemeClr val="tx1"/>
                          </a:solidFill>
                          <a:effectLst/>
                          <a:latin typeface="+mn-lt"/>
                          <a:ea typeface="+mn-ea"/>
                          <a:cs typeface="Times New Roman" panose="02020603050405020304" pitchFamily="18" charset="0"/>
                        </a:rPr>
                        <a:t>1969-1970 йй  - Хорегрофия билим юрти ўқитувчиси </a:t>
                      </a:r>
                      <a:endParaRPr lang="ru-RU" sz="8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uz-Cyrl-UZ" sz="800" kern="1200" dirty="0">
                          <a:solidFill>
                            <a:schemeClr val="tx1"/>
                          </a:solidFill>
                          <a:effectLst/>
                          <a:latin typeface="+mn-lt"/>
                          <a:ea typeface="+mn-ea"/>
                          <a:cs typeface="Times New Roman" panose="02020603050405020304" pitchFamily="18" charset="0"/>
                        </a:rPr>
                        <a:t>1972-1974 йй  - Ўзбекистон давлат  филармонияси “Шодлик” ансамбилида  балетмейстер</a:t>
                      </a:r>
                      <a:endParaRPr lang="ru-RU" sz="8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uz-Cyrl-UZ" sz="800" kern="1200" dirty="0">
                          <a:solidFill>
                            <a:schemeClr val="tx1"/>
                          </a:solidFill>
                          <a:effectLst/>
                          <a:latin typeface="+mn-lt"/>
                          <a:ea typeface="+mn-ea"/>
                          <a:cs typeface="Times New Roman" panose="02020603050405020304" pitchFamily="18" charset="0"/>
                        </a:rPr>
                        <a:t>1994 -2016йй - Муқимий номидаги ўзбек давлат мусиқий театри бош балетмейстери  </a:t>
                      </a:r>
                      <a:endParaRPr lang="ru-RU" sz="8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uz-Cyrl-UZ" sz="800" kern="1200" dirty="0">
                          <a:solidFill>
                            <a:schemeClr val="tx1"/>
                          </a:solidFill>
                          <a:effectLst/>
                          <a:latin typeface="+mn-lt"/>
                          <a:ea typeface="+mn-ea"/>
                          <a:cs typeface="Times New Roman" panose="02020603050405020304" pitchFamily="18" charset="0"/>
                        </a:rPr>
                        <a:t>2016 й. - ҳ.в.  - Муқимий номидаги ўзбекистон  давлат мусиқали театри балетмейстери  </a:t>
                      </a:r>
                      <a:endParaRPr lang="ru-RU" sz="800" kern="1200" dirty="0">
                        <a:solidFill>
                          <a:schemeClr val="tx1"/>
                        </a:solidFill>
                        <a:effectLst/>
                        <a:latin typeface="+mn-lt"/>
                        <a:ea typeface="+mn-ea"/>
                        <a:cs typeface="Times New Roman" panose="02020603050405020304" pitchFamily="18" charset="0"/>
                      </a:endParaRPr>
                    </a:p>
                    <a:p>
                      <a:pPr marL="0" algn="l" defTabSz="914400" rtl="0" eaLnBrk="1" latinLnBrk="0" hangingPunct="1"/>
                      <a:endParaRPr lang="ru-RU" sz="800"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002588598"/>
              </p:ext>
            </p:extLst>
          </p:nvPr>
        </p:nvGraphicFramePr>
        <p:xfrm>
          <a:off x="6949857" y="869286"/>
          <a:ext cx="2817247" cy="5827644"/>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algn="just">
                        <a:lnSpc>
                          <a:spcPct val="85000"/>
                        </a:lnSpc>
                      </a:pPr>
                      <a:r>
                        <a:rPr lang="uz-Cyrl-UZ" sz="900" b="0" noProof="0" dirty="0" smtClean="0">
                          <a:solidFill>
                            <a:schemeClr val="tx1"/>
                          </a:solidFill>
                          <a:latin typeface="+mn-lt"/>
                        </a:rPr>
                        <a:t>    2000-йили </a:t>
                      </a:r>
                      <a:r>
                        <a:rPr lang="uz-Cyrl-UZ" sz="900" b="0" noProof="0" dirty="0">
                          <a:solidFill>
                            <a:schemeClr val="tx1"/>
                          </a:solidFill>
                          <a:latin typeface="+mn-lt"/>
                        </a:rPr>
                        <a:t>Ўзбекистон “Ўзбекистон Республикаси санъат арбоби” фахрий унвони билан тақдирланган.</a:t>
                      </a:r>
                    </a:p>
                    <a:p>
                      <a:pPr algn="just">
                        <a:lnSpc>
                          <a:spcPct val="85000"/>
                        </a:lnSpc>
                      </a:pPr>
                      <a:r>
                        <a:rPr lang="uz-Cyrl-UZ" sz="900" b="0" noProof="0" dirty="0" smtClean="0">
                          <a:solidFill>
                            <a:schemeClr val="tx1"/>
                          </a:solidFill>
                          <a:latin typeface="+mn-lt"/>
                        </a:rPr>
                        <a:t>    Маълумоти </a:t>
                      </a:r>
                      <a:r>
                        <a:rPr lang="uz-Cyrl-UZ" sz="900" b="0" noProof="0" dirty="0">
                          <a:solidFill>
                            <a:schemeClr val="tx1"/>
                          </a:solidFill>
                          <a:latin typeface="+mn-lt"/>
                        </a:rPr>
                        <a:t>олий. 1972 йили Луначарский номидаги Москва театр санъати (ГИТИСа) институтини битирган.</a:t>
                      </a:r>
                    </a:p>
                    <a:p>
                      <a:pPr algn="just">
                        <a:lnSpc>
                          <a:spcPct val="85000"/>
                        </a:lnSpc>
                      </a:pPr>
                      <a:r>
                        <a:rPr lang="uz-Cyrl-UZ" sz="900" b="0" noProof="0" dirty="0" smtClean="0">
                          <a:solidFill>
                            <a:schemeClr val="tx1"/>
                          </a:solidFill>
                          <a:latin typeface="+mn-lt"/>
                        </a:rPr>
                        <a:t>    Умумий </a:t>
                      </a:r>
                      <a:r>
                        <a:rPr lang="uz-Cyrl-UZ" sz="900" b="0" noProof="0" dirty="0">
                          <a:solidFill>
                            <a:schemeClr val="tx1"/>
                          </a:solidFill>
                          <a:latin typeface="+mn-lt"/>
                        </a:rPr>
                        <a:t>иш стажи 45 йил. 1974 йилдан Муқимий номидаги ўзбек давлат мусиқали театрида бош балетмейстер, балетмейстер вазифасида ишлаб келади.</a:t>
                      </a:r>
                    </a:p>
                    <a:p>
                      <a:pPr algn="just">
                        <a:lnSpc>
                          <a:spcPct val="85000"/>
                        </a:lnSpc>
                      </a:pPr>
                      <a:r>
                        <a:rPr lang="uz-Cyrl-UZ" sz="900" b="0" baseline="0" noProof="0" dirty="0" smtClean="0">
                          <a:solidFill>
                            <a:schemeClr val="tx1"/>
                          </a:solidFill>
                          <a:latin typeface="+mn-lt"/>
                        </a:rPr>
                        <a:t>    </a:t>
                      </a:r>
                      <a:r>
                        <a:rPr lang="uz-Cyrl-UZ" sz="900" b="0" noProof="0" dirty="0" smtClean="0">
                          <a:solidFill>
                            <a:schemeClr val="tx1"/>
                          </a:solidFill>
                          <a:latin typeface="+mn-lt"/>
                        </a:rPr>
                        <a:t>1985 </a:t>
                      </a:r>
                      <a:r>
                        <a:rPr lang="uz-Cyrl-UZ" sz="900" b="0" noProof="0" dirty="0">
                          <a:solidFill>
                            <a:schemeClr val="tx1"/>
                          </a:solidFill>
                          <a:latin typeface="+mn-lt"/>
                        </a:rPr>
                        <a:t>йили Ўзбекистонда хизмат кўрсатган артист, 2000 йили Ўзбекистон Республикаси санъат арбоби унвонини олган.Жиззах, Сирдарё, Қашқадарё  вилоят мусиқали драма ва комедия театрларида бир неча спектаклларда рақсларнинг саҳналаштирувчи балетмейстери бўлган. Ш.Аҳмедов Муқимий номидаги ўзбек давлат мусиқали театрида “Туяқуш-бояқиш”, “Синбоднинг саргузаштлари” спектаклларини саҳналаштирувчи режиссёри бўлган.</a:t>
                      </a:r>
                    </a:p>
                    <a:p>
                      <a:pPr algn="just">
                        <a:lnSpc>
                          <a:spcPct val="85000"/>
                        </a:lnSpc>
                      </a:pPr>
                      <a:r>
                        <a:rPr lang="uz-Cyrl-UZ" sz="900" b="0" noProof="0" dirty="0" smtClean="0">
                          <a:solidFill>
                            <a:schemeClr val="tx1"/>
                          </a:solidFill>
                          <a:latin typeface="+mn-lt"/>
                        </a:rPr>
                        <a:t>    Ш.Аҳмедов </a:t>
                      </a:r>
                      <a:r>
                        <a:rPr lang="uz-Cyrl-UZ" sz="900" b="0" noProof="0" dirty="0">
                          <a:solidFill>
                            <a:schemeClr val="tx1"/>
                          </a:solidFill>
                          <a:latin typeface="+mn-lt"/>
                        </a:rPr>
                        <a:t>балет труппасидан ташқари солист-вокалист ва хор артистларининг пластик имкониятларини кенгайтириш,маҳоратини ошириш учун бош-қош бўлади. У жамоа орасида меҳнаткашлиги ва камтарлиги билан обрў-эътибор қозонган. У Республика миқёсида ўтказиладиган Наврўз ва Мустақиллик байрамларида саҳналаштирувчи балетмейстер сифатида фаол қатнашиб келади.  </a:t>
                      </a:r>
                    </a:p>
                    <a:p>
                      <a:pPr algn="just">
                        <a:lnSpc>
                          <a:spcPct val="85000"/>
                        </a:lnSpc>
                      </a:pPr>
                      <a:r>
                        <a:rPr lang="uz-Cyrl-UZ" sz="900" b="0" noProof="0" dirty="0" smtClean="0">
                          <a:solidFill>
                            <a:schemeClr val="tx1"/>
                          </a:solidFill>
                          <a:latin typeface="+mn-lt"/>
                        </a:rPr>
                        <a:t>    Театрдаги </a:t>
                      </a:r>
                      <a:r>
                        <a:rPr lang="uz-Cyrl-UZ" sz="900" b="0" noProof="0" dirty="0">
                          <a:solidFill>
                            <a:schemeClr val="tx1"/>
                          </a:solidFill>
                          <a:latin typeface="+mn-lt"/>
                        </a:rPr>
                        <a:t>юзлаб спектаклларда балет труппаси учун рақслар,оммавий рақслар ва  спектакллар саҳналаштириб келади.</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a:extLst>
              <a:ext uri="{FF2B5EF4-FFF2-40B4-BE49-F238E27FC236}">
                <a16:creationId xmlns:a16="http://schemas.microsoft.com/office/drawing/2014/main" id="{BCD12C0D-9245-3136-4918-AB5C5595AA9D}"/>
              </a:ext>
            </a:extLst>
          </p:cNvPr>
          <p:cNvPicPr>
            <a:picLocks noChangeAspect="1"/>
          </p:cNvPicPr>
          <p:nvPr/>
        </p:nvPicPr>
        <p:blipFill>
          <a:blip r:embed="rId2"/>
          <a:stretch>
            <a:fillRect/>
          </a:stretch>
        </p:blipFill>
        <p:spPr>
          <a:xfrm>
            <a:off x="269992" y="1174406"/>
            <a:ext cx="814992" cy="1086656"/>
          </a:xfrm>
          <a:prstGeom prst="rect">
            <a:avLst/>
          </a:prstGeom>
        </p:spPr>
      </p:pic>
    </p:spTree>
    <p:extLst>
      <p:ext uri="{BB962C8B-B14F-4D97-AF65-F5344CB8AC3E}">
        <p14:creationId xmlns:p14="http://schemas.microsoft.com/office/powerpoint/2010/main" val="2230363166"/>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785329981"/>
              </p:ext>
            </p:extLst>
          </p:nvPr>
        </p:nvGraphicFramePr>
        <p:xfrm>
          <a:off x="183570" y="868678"/>
          <a:ext cx="3427547" cy="5931134"/>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83828">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4931">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БЕКНАЗАРОВ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493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Турғун</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493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Саидович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4931">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493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01.05.1956</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493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Қашқадарё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6621">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65020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4 нафар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Муқимий номидаги Ўзбекистон давлат академик мусиқали театири утакчи саҳна устаси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6621">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11218">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Бекназаров Саид</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1930 йил,Қашқадарё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1994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ru-RU" sz="800" b="0" kern="1200" noProof="0" dirty="0" err="1">
                          <a:solidFill>
                            <a:schemeClr val="tx1"/>
                          </a:solidFill>
                          <a:latin typeface="+mn-lt"/>
                          <a:ea typeface="+mn-ea"/>
                          <a:cs typeface="Arial" panose="020B0604020202020204" pitchFamily="34" charset="0"/>
                        </a:rPr>
                        <a:t>дурадгор</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8527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Собирова Саодат</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1924 йил, Қашқадарё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2014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(уй </a:t>
                      </a:r>
                      <a:r>
                        <a:rPr lang="ru-RU" sz="800" b="0" kern="1200" noProof="0" dirty="0" err="1">
                          <a:solidFill>
                            <a:schemeClr val="tx1"/>
                          </a:solidFill>
                          <a:latin typeface="+mn-lt"/>
                          <a:ea typeface="+mn-ea"/>
                          <a:cs typeface="Arial" panose="020B0604020202020204" pitchFamily="34" charset="0"/>
                        </a:rPr>
                        <a:t>бекаси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92069">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Собирова Хосият Мухаммадиевна</a:t>
                      </a:r>
                    </a:p>
                    <a:p>
                      <a:pPr algn="l">
                        <a:lnSpc>
                          <a:spcPct val="85000"/>
                        </a:lnSpc>
                      </a:pPr>
                      <a:r>
                        <a:rPr lang="uz-Cyrl-UZ" sz="800" b="0" kern="1200" noProof="0" dirty="0">
                          <a:solidFill>
                            <a:schemeClr val="tx1"/>
                          </a:solidFill>
                          <a:latin typeface="+mn-lt"/>
                          <a:ea typeface="+mn-ea"/>
                          <a:cs typeface="Arial" panose="020B0604020202020204" pitchFamily="34" charset="0"/>
                        </a:rPr>
                        <a:t>1957 йил, Қашқадарё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Arial" panose="020B0604020202020204" pitchFamily="34" charset="0"/>
                        </a:rPr>
                        <a:t>2016 йил вафот этган</a:t>
                      </a:r>
                    </a:p>
                    <a:p>
                      <a:pPr algn="l">
                        <a:lnSpc>
                          <a:spcPct val="85000"/>
                        </a:lnSpc>
                      </a:pPr>
                      <a:r>
                        <a:rPr lang="uz-Cyrl-UZ" sz="800" b="0" kern="1200" noProof="0" dirty="0">
                          <a:solidFill>
                            <a:schemeClr val="tx1"/>
                          </a:solidFill>
                          <a:latin typeface="+mn-lt"/>
                          <a:ea typeface="+mn-ea"/>
                          <a:cs typeface="Arial" panose="020B0604020202020204" pitchFamily="34" charset="0"/>
                        </a:rPr>
                        <a:t>(</a:t>
                      </a:r>
                      <a:r>
                        <a:rPr lang="uz-Cyrl-UZ" sz="800" b="0" kern="1200" dirty="0">
                          <a:solidFill>
                            <a:schemeClr val="tx1"/>
                          </a:solidFill>
                          <a:latin typeface="+mn-lt"/>
                          <a:ea typeface="+mn-ea"/>
                          <a:cs typeface="Arial" panose="020B0604020202020204" pitchFamily="34" charset="0"/>
                        </a:rPr>
                        <a:t>уй бекаси</a:t>
                      </a:r>
                      <a:r>
                        <a:rPr lang="uz-Cyrl-UZ"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89424">
                <a:tc gridSpan="5">
                  <a:txBody>
                    <a:bodyPr/>
                    <a:lstStyle/>
                    <a:p>
                      <a:pPr algn="ctr">
                        <a:lnSpc>
                          <a:spcPct val="85000"/>
                        </a:lnSpc>
                      </a:pPr>
                      <a:r>
                        <a:rPr lang="uz-Cyrl-UZ" sz="8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69392">
                <a:tc gridSpan="3">
                  <a:txBody>
                    <a:bodyPr/>
                    <a:lstStyle/>
                    <a:p>
                      <a:pPr algn="l">
                        <a:lnSpc>
                          <a:spcPct val="85000"/>
                        </a:lnSpc>
                      </a:pPr>
                      <a:r>
                        <a:rPr lang="uz-Cyrl-UZ" sz="800" b="1" noProof="0" dirty="0">
                          <a:latin typeface="+mn-lt"/>
                        </a:rPr>
                        <a:t>Тамомлаган ОТМ:</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a:solidFill>
                            <a:schemeClr val="tx1"/>
                          </a:solidFill>
                          <a:latin typeface="+mn-lt"/>
                          <a:ea typeface="+mn-ea"/>
                          <a:cs typeface="+mn-cs"/>
                        </a:rPr>
                        <a:t>1977 й. </a:t>
                      </a:r>
                      <a:r>
                        <a:rPr lang="ru-RU" sz="800" b="0" kern="1200" noProof="0" dirty="0" err="1">
                          <a:solidFill>
                            <a:schemeClr val="tx1"/>
                          </a:solidFill>
                          <a:latin typeface="+mn-lt"/>
                          <a:ea typeface="+mn-ea"/>
                          <a:cs typeface="+mn-cs"/>
                        </a:rPr>
                        <a:t>Тошкент</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давлат</a:t>
                      </a:r>
                      <a:r>
                        <a:rPr lang="ru-RU" sz="800" b="0" kern="1200" noProof="0" dirty="0">
                          <a:solidFill>
                            <a:schemeClr val="tx1"/>
                          </a:solidFill>
                          <a:latin typeface="+mn-lt"/>
                          <a:ea typeface="+mn-ea"/>
                          <a:cs typeface="+mn-cs"/>
                        </a:rPr>
                        <a:t> театр </a:t>
                      </a:r>
                      <a:r>
                        <a:rPr lang="ru-RU" sz="800" b="0" kern="1200" noProof="0" dirty="0" err="1">
                          <a:solidFill>
                            <a:schemeClr val="tx1"/>
                          </a:solidFill>
                          <a:latin typeface="+mn-lt"/>
                          <a:ea typeface="+mn-ea"/>
                          <a:cs typeface="+mn-cs"/>
                        </a:rPr>
                        <a:t>ва</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рассомчилик</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санъати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институти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кундузги</a:t>
                      </a:r>
                      <a:r>
                        <a:rPr lang="ru-RU" sz="8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50318">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800" b="1" noProof="0" dirty="0">
                          <a:latin typeface="+mn-lt"/>
                        </a:rPr>
                        <a:t>Мутахассислиги:</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Мусиқали драма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85728">
                <a:tc gridSpan="3">
                  <a:txBody>
                    <a:bodyPr/>
                    <a:lstStyle/>
                    <a:p>
                      <a:pPr algn="l">
                        <a:lnSpc>
                          <a:spcPct val="85000"/>
                        </a:lnSpc>
                      </a:pPr>
                      <a:r>
                        <a:rPr lang="uz-Cyrl-UZ" sz="800" b="1" kern="1200" noProof="0" dirty="0">
                          <a:solidFill>
                            <a:schemeClr val="tx1"/>
                          </a:solidFill>
                          <a:latin typeface="+mn-lt"/>
                          <a:ea typeface="+mn-ea"/>
                          <a:cs typeface="+mn-cs"/>
                        </a:rPr>
                        <a:t>Илмий даража</a:t>
                      </a:r>
                      <a:r>
                        <a:rPr lang="en-US" sz="800" b="1" kern="1200" noProof="0" dirty="0">
                          <a:solidFill>
                            <a:schemeClr val="tx1"/>
                          </a:solidFill>
                          <a:latin typeface="+mn-lt"/>
                          <a:ea typeface="+mn-ea"/>
                          <a:cs typeface="+mn-cs"/>
                        </a:rPr>
                        <a:t> (</a:t>
                      </a:r>
                      <a:r>
                        <a:rPr lang="uz-Cyrl-UZ" sz="800" b="1" kern="1200" noProof="0" dirty="0">
                          <a:solidFill>
                            <a:schemeClr val="tx1"/>
                          </a:solidFill>
                          <a:latin typeface="+mn-lt"/>
                          <a:ea typeface="+mn-ea"/>
                          <a:cs typeface="+mn-cs"/>
                        </a:rPr>
                        <a:t>унвон</a:t>
                      </a:r>
                      <a:r>
                        <a:rPr lang="en-US" sz="800" b="1" kern="1200" noProof="0" dirty="0">
                          <a:solidFill>
                            <a:schemeClr val="tx1"/>
                          </a:solidFill>
                          <a:latin typeface="+mn-lt"/>
                          <a:ea typeface="+mn-ea"/>
                          <a:cs typeface="+mn-cs"/>
                        </a:rPr>
                        <a:t>)</a:t>
                      </a:r>
                      <a:r>
                        <a:rPr lang="uz-Cyrl-UZ" sz="8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Йўқ</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85728">
                <a:tc gridSpan="3">
                  <a:txBody>
                    <a:bodyPr/>
                    <a:lstStyle/>
                    <a:p>
                      <a:pPr algn="l">
                        <a:lnSpc>
                          <a:spcPct val="85000"/>
                        </a:lnSpc>
                      </a:pPr>
                      <a:r>
                        <a:rPr lang="uz-Cyrl-UZ" sz="8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Рус тили</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285121">
                <a:tc gridSpan="3">
                  <a:txBody>
                    <a:bodyPr/>
                    <a:lstStyle/>
                    <a:p>
                      <a:pPr algn="l">
                        <a:lnSpc>
                          <a:spcPct val="85000"/>
                        </a:lnSpc>
                      </a:pPr>
                      <a:r>
                        <a:rPr lang="uz-Cyrl-UZ" sz="8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err="1">
                          <a:solidFill>
                            <a:schemeClr val="tx1"/>
                          </a:solidFill>
                          <a:latin typeface="+mn-lt"/>
                          <a:ea typeface="+mn-ea"/>
                          <a:cs typeface="+mn-cs"/>
                        </a:rPr>
                        <a:t>Йўқ</a:t>
                      </a:r>
                      <a:endParaRPr lang="ru-RU"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824526863"/>
              </p:ext>
            </p:extLst>
          </p:nvPr>
        </p:nvGraphicFramePr>
        <p:xfrm>
          <a:off x="3611117" y="865689"/>
          <a:ext cx="3236251" cy="5934124"/>
        </p:xfrm>
        <a:graphic>
          <a:graphicData uri="http://schemas.openxmlformats.org/drawingml/2006/table">
            <a:tbl>
              <a:tblPr firstRow="1" bandRow="1">
                <a:tableStyleId>{C083E6E3-FA7D-4D7B-A595-EF9225AFEA82}</a:tableStyleId>
              </a:tblPr>
              <a:tblGrid>
                <a:gridCol w="1435879">
                  <a:extLst>
                    <a:ext uri="{9D8B030D-6E8A-4147-A177-3AD203B41FA5}">
                      <a16:colId xmlns:a16="http://schemas.microsoft.com/office/drawing/2014/main" val="2715609854"/>
                    </a:ext>
                  </a:extLst>
                </a:gridCol>
                <a:gridCol w="1800372">
                  <a:extLst>
                    <a:ext uri="{9D8B030D-6E8A-4147-A177-3AD203B41FA5}">
                      <a16:colId xmlns:a16="http://schemas.microsoft.com/office/drawing/2014/main" val="546443978"/>
                    </a:ext>
                  </a:extLst>
                </a:gridCol>
              </a:tblGrid>
              <a:tr h="316981">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90940">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800" b="1" kern="1200" noProof="0" dirty="0">
                          <a:solidFill>
                            <a:schemeClr val="tx1"/>
                          </a:solidFill>
                          <a:latin typeface="+mn-lt"/>
                          <a:ea typeface="+mn-ea"/>
                          <a:cs typeface="+mn-cs"/>
                        </a:rPr>
                        <a:t>1982 йилдан Муқимий номидаги Ўзбекистон давлат академик мусиқали театри солист-вокалисти</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652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800" b="0" kern="1200" noProof="0" dirty="0">
                          <a:solidFill>
                            <a:schemeClr val="tx1"/>
                          </a:solidFill>
                          <a:latin typeface="+mn-lt"/>
                          <a:ea typeface="+mn-ea"/>
                          <a:cs typeface="+mn-cs"/>
                        </a:rPr>
                        <a:t>Й</a:t>
                      </a:r>
                      <a:r>
                        <a:rPr lang="ru-RU" sz="800" b="0" kern="1200" noProof="0" dirty="0" err="1">
                          <a:solidFill>
                            <a:schemeClr val="tx1"/>
                          </a:solidFill>
                          <a:latin typeface="+mn-lt"/>
                          <a:ea typeface="+mn-ea"/>
                          <a:cs typeface="+mn-cs"/>
                        </a:rPr>
                        <a:t>ўқ</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360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49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62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4401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algn="l" defTabSz="914400" rtl="0" eaLnBrk="1" latinLnBrk="0" hangingPunct="1"/>
                      <a:endParaRPr lang="ru-RU" sz="800" b="1"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17593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687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4531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49518">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9374">
                <a:tc gridSpan="2">
                  <a:txBody>
                    <a:bodyPr/>
                    <a:lstStyle/>
                    <a:p>
                      <a:pPr algn="ctr"/>
                      <a:r>
                        <a:rPr lang="uz-Cyrl-UZ" sz="8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365422">
                <a:tc gridSpan="2">
                  <a:txBody>
                    <a:bodyPr/>
                    <a:lstStyle/>
                    <a:p>
                      <a:pPr marL="0" algn="l" defTabSz="914400" rtl="0" eaLnBrk="1" latinLnBrk="0" hangingPunct="1"/>
                      <a:r>
                        <a:rPr lang="uz-Cyrl-UZ" sz="900" kern="1200" dirty="0">
                          <a:solidFill>
                            <a:schemeClr val="tx1"/>
                          </a:solidFill>
                          <a:effectLst/>
                          <a:latin typeface="+mn-lt"/>
                          <a:ea typeface="+mn-ea"/>
                          <a:cs typeface="Times New Roman" panose="02020603050405020304" pitchFamily="18" charset="0"/>
                        </a:rPr>
                        <a:t>1997 й. “Ўзбекистон Республикасида хизмат кўрсатган артист” фахрий унвони</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uz-Cyrl-UZ" sz="900" kern="1200" dirty="0">
                          <a:solidFill>
                            <a:schemeClr val="tx1"/>
                          </a:solidFill>
                          <a:effectLst/>
                          <a:latin typeface="+mn-lt"/>
                          <a:ea typeface="+mn-ea"/>
                          <a:cs typeface="Times New Roman" panose="02020603050405020304" pitchFamily="18" charset="0"/>
                        </a:rPr>
                        <a:t>2012 й. “Меҳнат шуҳрати” ордени</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uz-Cyrl-UZ" sz="900" kern="1200" dirty="0">
                          <a:solidFill>
                            <a:schemeClr val="tx1"/>
                          </a:solidFill>
                          <a:effectLst/>
                          <a:latin typeface="+mn-lt"/>
                          <a:ea typeface="+mn-ea"/>
                          <a:cs typeface="Times New Roman" panose="02020603050405020304" pitchFamily="18" charset="0"/>
                        </a:rPr>
                        <a:t>2022 й. “Дўстлик” ордени </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ru-RU" sz="900" kern="1200" dirty="0">
                          <a:solidFill>
                            <a:schemeClr val="tx1"/>
                          </a:solidFill>
                          <a:effectLst/>
                          <a:latin typeface="+mn-lt"/>
                          <a:ea typeface="+mn-ea"/>
                          <a:cs typeface="Times New Roman" panose="02020603050405020304" pitchFamily="18" charset="0"/>
                        </a:rPr>
                        <a:t>1977-2019 </a:t>
                      </a:r>
                      <a:r>
                        <a:rPr lang="ru-RU" sz="900" kern="1200" dirty="0" err="1">
                          <a:solidFill>
                            <a:schemeClr val="tx1"/>
                          </a:solidFill>
                          <a:effectLst/>
                          <a:latin typeface="+mn-lt"/>
                          <a:ea typeface="+mn-ea"/>
                          <a:cs typeface="Times New Roman" panose="02020603050405020304" pitchFamily="18" charset="0"/>
                        </a:rPr>
                        <a:t>йй</a:t>
                      </a:r>
                      <a:r>
                        <a:rPr lang="ru-RU" sz="900" kern="1200" dirty="0">
                          <a:solidFill>
                            <a:schemeClr val="tx1"/>
                          </a:solidFill>
                          <a:effectLst/>
                          <a:latin typeface="+mn-lt"/>
                          <a:ea typeface="+mn-ea"/>
                          <a:cs typeface="Times New Roman" panose="02020603050405020304" pitchFamily="18" charset="0"/>
                        </a:rPr>
                        <a:t>. - </a:t>
                      </a:r>
                      <a:r>
                        <a:rPr lang="ru-RU" sz="900" kern="1200" dirty="0" err="1">
                          <a:solidFill>
                            <a:schemeClr val="tx1"/>
                          </a:solidFill>
                          <a:effectLst/>
                          <a:latin typeface="+mn-lt"/>
                          <a:ea typeface="+mn-ea"/>
                          <a:cs typeface="Times New Roman" panose="02020603050405020304" pitchFamily="18" charset="0"/>
                        </a:rPr>
                        <a:t>Муқимий</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номидаги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Ўзбекистон</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давлат</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мусиқали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театри</a:t>
                      </a:r>
                      <a:r>
                        <a:rPr lang="ru-RU" sz="900" kern="1200" dirty="0">
                          <a:solidFill>
                            <a:schemeClr val="tx1"/>
                          </a:solidFill>
                          <a:effectLst/>
                          <a:latin typeface="+mn-lt"/>
                          <a:ea typeface="+mn-ea"/>
                          <a:cs typeface="Times New Roman" panose="02020603050405020304" pitchFamily="18" charset="0"/>
                        </a:rPr>
                        <a:t> солист-</a:t>
                      </a:r>
                      <a:r>
                        <a:rPr lang="ru-RU" sz="900" kern="1200" dirty="0" err="1">
                          <a:solidFill>
                            <a:schemeClr val="tx1"/>
                          </a:solidFill>
                          <a:effectLst/>
                          <a:latin typeface="+mn-lt"/>
                          <a:ea typeface="+mn-ea"/>
                          <a:cs typeface="Times New Roman" panose="02020603050405020304" pitchFamily="18" charset="0"/>
                        </a:rPr>
                        <a:t>вокалисти</a:t>
                      </a:r>
                      <a:r>
                        <a:rPr lang="ru-RU" sz="900" kern="1200" dirty="0">
                          <a:solidFill>
                            <a:schemeClr val="tx1"/>
                          </a:solidFill>
                          <a:effectLst/>
                          <a:latin typeface="+mn-lt"/>
                          <a:ea typeface="+mn-ea"/>
                          <a:cs typeface="Times New Roman" panose="02020603050405020304" pitchFamily="18" charset="0"/>
                        </a:rPr>
                        <a:t> </a:t>
                      </a:r>
                    </a:p>
                    <a:p>
                      <a:pPr marL="0" algn="l" defTabSz="914400" rtl="0" eaLnBrk="1" latinLnBrk="0" hangingPunct="1"/>
                      <a:r>
                        <a:rPr lang="ru-RU" sz="900" kern="1200" dirty="0">
                          <a:solidFill>
                            <a:schemeClr val="tx1"/>
                          </a:solidFill>
                          <a:effectLst/>
                          <a:latin typeface="+mn-lt"/>
                          <a:ea typeface="+mn-ea"/>
                          <a:cs typeface="Times New Roman" panose="02020603050405020304" pitchFamily="18" charset="0"/>
                        </a:rPr>
                        <a:t>2025 й. -  </a:t>
                      </a:r>
                      <a:r>
                        <a:rPr lang="ru-RU" sz="900" kern="1200" dirty="0" err="1">
                          <a:solidFill>
                            <a:schemeClr val="tx1"/>
                          </a:solidFill>
                          <a:effectLst/>
                          <a:latin typeface="+mn-lt"/>
                          <a:ea typeface="+mn-ea"/>
                          <a:cs typeface="Times New Roman" panose="02020603050405020304" pitchFamily="18" charset="0"/>
                        </a:rPr>
                        <a:t>ҳ.в</a:t>
                      </a:r>
                      <a:r>
                        <a:rPr lang="ru-RU" sz="900" kern="1200" dirty="0">
                          <a:solidFill>
                            <a:schemeClr val="tx1"/>
                          </a:solidFill>
                          <a:effectLst/>
                          <a:latin typeface="+mn-lt"/>
                          <a:ea typeface="+mn-ea"/>
                          <a:cs typeface="Times New Roman" panose="02020603050405020304" pitchFamily="18" charset="0"/>
                        </a:rPr>
                        <a:t>.  - </a:t>
                      </a:r>
                      <a:r>
                        <a:rPr lang="ru-RU" sz="900" kern="1200" dirty="0" err="1">
                          <a:solidFill>
                            <a:schemeClr val="tx1"/>
                          </a:solidFill>
                          <a:effectLst/>
                          <a:latin typeface="+mn-lt"/>
                          <a:ea typeface="+mn-ea"/>
                          <a:cs typeface="Times New Roman" panose="02020603050405020304" pitchFamily="18" charset="0"/>
                        </a:rPr>
                        <a:t>Муқимий</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номидаги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Ўзбекистон</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давлат</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мусиқали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театри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етакчи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сахна</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устаси</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endParaRPr lang="ru-RU" sz="800"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873111151"/>
              </p:ext>
            </p:extLst>
          </p:nvPr>
        </p:nvGraphicFramePr>
        <p:xfrm>
          <a:off x="6898612" y="902735"/>
          <a:ext cx="2868492" cy="5898499"/>
        </p:xfrm>
        <a:graphic>
          <a:graphicData uri="http://schemas.openxmlformats.org/drawingml/2006/table">
            <a:tbl>
              <a:tblPr firstRow="1" bandRow="1">
                <a:tableStyleId>{C083E6E3-FA7D-4D7B-A595-EF9225AFEA82}</a:tableStyleId>
              </a:tblPr>
              <a:tblGrid>
                <a:gridCol w="2868492">
                  <a:extLst>
                    <a:ext uri="{9D8B030D-6E8A-4147-A177-3AD203B41FA5}">
                      <a16:colId xmlns:a16="http://schemas.microsoft.com/office/drawing/2014/main" val="2715609854"/>
                    </a:ext>
                  </a:extLst>
                </a:gridCol>
              </a:tblGrid>
              <a:tr h="249199">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61608">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543842">
                <a:tc>
                  <a:txBody>
                    <a:bodyPr/>
                    <a:lstStyle/>
                    <a:p>
                      <a:pPr algn="just"/>
                      <a:r>
                        <a:rPr lang="uz-Cyrl-UZ" sz="900" b="0" kern="1200" baseline="0" dirty="0" smtClean="0">
                          <a:solidFill>
                            <a:schemeClr val="tx1"/>
                          </a:solidFill>
                          <a:latin typeface="+mn-lt"/>
                          <a:ea typeface="+mn-ea"/>
                          <a:cs typeface="+mn-cs"/>
                        </a:rPr>
                        <a:t>    </a:t>
                      </a:r>
                      <a:r>
                        <a:rPr lang="uz-Cyrl-UZ" sz="900" b="0" kern="1200" dirty="0" smtClean="0">
                          <a:solidFill>
                            <a:schemeClr val="tx1"/>
                          </a:solidFill>
                          <a:latin typeface="+mn-lt"/>
                          <a:ea typeface="+mn-ea"/>
                          <a:cs typeface="+mn-cs"/>
                        </a:rPr>
                        <a:t>1997 </a:t>
                      </a:r>
                      <a:r>
                        <a:rPr lang="uz-Cyrl-UZ" sz="900" b="0" kern="1200" dirty="0">
                          <a:solidFill>
                            <a:schemeClr val="tx1"/>
                          </a:solidFill>
                          <a:latin typeface="+mn-lt"/>
                          <a:ea typeface="+mn-ea"/>
                          <a:cs typeface="+mn-cs"/>
                        </a:rPr>
                        <a:t>йили “Ўзбекистонда хизмат кўрсатган артист” фахрий унвони, 2012-йили “Меҳнат шуҳрати” ордени ва 2022-йили “Дўстлик” ордени билан мукофотланган. Бу юксак мукофотлар Турғун Бекназаровнинг ўзбек маданияти ва санъати ривожига қўшган улкан ҳиссасининг ёрқин </a:t>
                      </a:r>
                      <a:r>
                        <a:rPr lang="uz-Cyrl-UZ" sz="900" b="0" kern="1200" dirty="0" smtClean="0">
                          <a:solidFill>
                            <a:schemeClr val="tx1"/>
                          </a:solidFill>
                          <a:latin typeface="+mn-lt"/>
                          <a:ea typeface="+mn-ea"/>
                          <a:cs typeface="+mn-cs"/>
                        </a:rPr>
                        <a:t>далилидир.</a:t>
                      </a:r>
                      <a:endParaRPr lang="ru-RU" sz="900" b="0" kern="1200" dirty="0">
                        <a:solidFill>
                          <a:schemeClr val="tx1"/>
                        </a:solidFill>
                        <a:latin typeface="+mn-lt"/>
                        <a:ea typeface="+mn-ea"/>
                        <a:cs typeface="+mn-cs"/>
                      </a:endParaRPr>
                    </a:p>
                    <a:p>
                      <a:pPr algn="just"/>
                      <a:r>
                        <a:rPr lang="uz-Cyrl-UZ" sz="900" b="0" kern="1200" dirty="0" smtClean="0">
                          <a:solidFill>
                            <a:schemeClr val="tx1"/>
                          </a:solidFill>
                          <a:latin typeface="+mn-lt"/>
                          <a:ea typeface="+mn-ea"/>
                          <a:cs typeface="+mn-cs"/>
                        </a:rPr>
                        <a:t>    Абдулла </a:t>
                      </a:r>
                      <a:r>
                        <a:rPr lang="uz-Cyrl-UZ" sz="900" b="0" kern="1200" dirty="0">
                          <a:solidFill>
                            <a:schemeClr val="tx1"/>
                          </a:solidFill>
                          <a:latin typeface="+mn-lt"/>
                          <a:ea typeface="+mn-ea"/>
                          <a:cs typeface="+mn-cs"/>
                        </a:rPr>
                        <a:t>Қаҳҳорнинг 100 йиллик юбилейи муносабати билан саҳналаштирилган “Айрим нусхалар” (“Тобутдан товуш”) спектаклида Суқсуров образини юқори маҳорат билан ижро этиб, томошабинлар меҳрини қозонди. 1990 йил Марказий Осиё театр арбоблари фестивалида “Мушкул савдо” спектаклидаги Остон роли учун “Энг яхши эркак роли” мукофотини қўлга киритди. У комедия, трагедия ва драматик ролларни ҳам маромига етказиб ижро этади, бу эса унинг кўпқиррали истеъдодидан далолат беради.</a:t>
                      </a:r>
                      <a:endParaRPr lang="ru-RU" sz="900" b="0" kern="1200" dirty="0">
                        <a:solidFill>
                          <a:schemeClr val="tx1"/>
                        </a:solidFill>
                        <a:latin typeface="+mn-lt"/>
                        <a:ea typeface="+mn-ea"/>
                        <a:cs typeface="+mn-cs"/>
                      </a:endParaRPr>
                    </a:p>
                    <a:p>
                      <a:pPr algn="just"/>
                      <a:r>
                        <a:rPr lang="uz-Cyrl-UZ" sz="900" b="0" noProof="0" dirty="0" smtClean="0">
                          <a:solidFill>
                            <a:schemeClr val="tx1"/>
                          </a:solidFill>
                          <a:latin typeface="+mn-lt"/>
                        </a:rPr>
                        <a:t>    “</a:t>
                      </a:r>
                      <a:r>
                        <a:rPr lang="uz-Cyrl-UZ" sz="900" b="0" noProof="0" dirty="0">
                          <a:solidFill>
                            <a:schemeClr val="tx1"/>
                          </a:solidFill>
                          <a:latin typeface="+mn-lt"/>
                        </a:rPr>
                        <a:t>Жадидлар” спектаклида Суд раиси образида ўзининг характерига тескари бўлган салбий образни ижро этиб, томошабинлар нафратини уйғотган. Жадидлар – миллатимиз ойдинларини ўша даврларда илм-маърифат йўлида миллатимизни илмли бўлишида ўз хоҳишига қарши равишда уларга нисбатан ҳукм чиқаришга мажбур бўлган ва бу образни Т.Бекназаров маромига етказиб ижро этган. Бу роль унинг актёрлик диапазонининг кенглигини ва ҳар қандай мураккаб образни ишонарли талқин эта олишини кўрсатади.</a:t>
                      </a:r>
                    </a:p>
                    <a:p>
                      <a:pPr algn="just"/>
                      <a:r>
                        <a:rPr lang="uz-Cyrl-UZ" sz="900" b="0" noProof="0" dirty="0" smtClean="0">
                          <a:solidFill>
                            <a:schemeClr val="tx1"/>
                          </a:solidFill>
                          <a:latin typeface="+mn-lt"/>
                        </a:rPr>
                        <a:t>    У </a:t>
                      </a:r>
                      <a:r>
                        <a:rPr lang="uz-Cyrl-UZ" sz="900" b="0" noProof="0" dirty="0">
                          <a:solidFill>
                            <a:schemeClr val="tx1"/>
                          </a:solidFill>
                          <a:latin typeface="+mn-lt"/>
                        </a:rPr>
                        <a:t>“Оталар сўзи – ақлнинг кўзи” кўрсатувида ва ўнлаб бадиий фильм ҳамда телесериалларда бош қаҳрамон ва етакчи ролларда суратга тушиб келмоқда</a:t>
                      </a:r>
                      <a:r>
                        <a:rPr lang="uz-Cyrl-UZ" sz="900" b="0" noProof="0" dirty="0" smtClean="0">
                          <a:solidFill>
                            <a:schemeClr val="tx1"/>
                          </a:solidFill>
                          <a:latin typeface="+mn-lt"/>
                        </a:rPr>
                        <a:t>.</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12753">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7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7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29677">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a:extLst>
              <a:ext uri="{FF2B5EF4-FFF2-40B4-BE49-F238E27FC236}">
                <a16:creationId xmlns:a16="http://schemas.microsoft.com/office/drawing/2014/main" id="{1B956F70-45C1-94D5-21A2-A6CFB1C0EE5E}"/>
              </a:ext>
            </a:extLst>
          </p:cNvPr>
          <p:cNvPicPr>
            <a:picLocks noChangeAspect="1"/>
          </p:cNvPicPr>
          <p:nvPr/>
        </p:nvPicPr>
        <p:blipFill>
          <a:blip r:embed="rId2"/>
          <a:stretch>
            <a:fillRect/>
          </a:stretch>
        </p:blipFill>
        <p:spPr>
          <a:xfrm>
            <a:off x="324064" y="1184602"/>
            <a:ext cx="818936" cy="1093711"/>
          </a:xfrm>
          <a:prstGeom prst="rect">
            <a:avLst/>
          </a:prstGeom>
        </p:spPr>
      </p:pic>
    </p:spTree>
    <p:extLst>
      <p:ext uri="{BB962C8B-B14F-4D97-AF65-F5344CB8AC3E}">
        <p14:creationId xmlns:p14="http://schemas.microsoft.com/office/powerpoint/2010/main" val="249255413"/>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027054400"/>
              </p:ext>
            </p:extLst>
          </p:nvPr>
        </p:nvGraphicFramePr>
        <p:xfrm>
          <a:off x="183570" y="868680"/>
          <a:ext cx="3427547" cy="5907097"/>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82075">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3727">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БЕКЧАНОВ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372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Александр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372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Сатимович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3727">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372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10.07.1961</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372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Хоразм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5159">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646192">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Муқимий номидаги Ўзбекистон давлат академик мусиқали театири солист вокалисти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5159">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08061">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Бекчанов Сатимбай</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1913 йил, Хоразм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1994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ru-RU" sz="800" b="0" kern="1200" noProof="0" dirty="0" err="1">
                          <a:solidFill>
                            <a:schemeClr val="tx1"/>
                          </a:solidFill>
                          <a:latin typeface="+mn-lt"/>
                          <a:ea typeface="+mn-ea"/>
                          <a:cs typeface="Arial" panose="020B0604020202020204" pitchFamily="34" charset="0"/>
                        </a:rPr>
                        <a:t>Урганч</a:t>
                      </a:r>
                      <a:r>
                        <a:rPr lang="ru-RU" sz="800" b="0" kern="1200" noProof="0" dirty="0">
                          <a:solidFill>
                            <a:schemeClr val="tx1"/>
                          </a:solidFill>
                          <a:latin typeface="+mn-lt"/>
                          <a:ea typeface="+mn-ea"/>
                          <a:cs typeface="Arial" panose="020B0604020202020204" pitchFamily="34" charset="0"/>
                        </a:rPr>
                        <a:t> туман хокимият </a:t>
                      </a:r>
                      <a:r>
                        <a:rPr lang="ru-RU" sz="800" b="0" kern="1200" noProof="0" dirty="0" err="1">
                          <a:solidFill>
                            <a:schemeClr val="tx1"/>
                          </a:solidFill>
                          <a:latin typeface="+mn-lt"/>
                          <a:ea typeface="+mn-ea"/>
                          <a:cs typeface="Arial" panose="020B0604020202020204" pitchFamily="34" charset="0"/>
                        </a:rPr>
                        <a:t>ҳайдовчиси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87655">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Каримова Надежда Ивановна</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1934 йил, Бухоро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1982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ru-RU" sz="800" b="0" kern="1200" noProof="0" dirty="0" err="1">
                          <a:solidFill>
                            <a:schemeClr val="tx1"/>
                          </a:solidFill>
                          <a:latin typeface="+mn-lt"/>
                          <a:ea typeface="+mn-ea"/>
                          <a:cs typeface="Arial" panose="020B0604020202020204" pitchFamily="34" charset="0"/>
                        </a:rPr>
                        <a:t>Хонқа</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тумани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марказий</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алоқа</a:t>
                      </a:r>
                      <a:r>
                        <a:rPr lang="ru-RU" sz="800" b="0" kern="1200" noProof="0" dirty="0">
                          <a:solidFill>
                            <a:schemeClr val="tx1"/>
                          </a:solidFill>
                          <a:latin typeface="+mn-lt"/>
                          <a:ea typeface="+mn-ea"/>
                          <a:cs typeface="Arial" panose="020B0604020202020204" pitchFamily="34" charset="0"/>
                        </a:rPr>
                        <a:t> почтаси </a:t>
                      </a:r>
                      <a:r>
                        <a:rPr lang="ru-RU" sz="800" b="0" kern="1200" noProof="0" dirty="0" err="1">
                          <a:solidFill>
                            <a:schemeClr val="tx1"/>
                          </a:solidFill>
                          <a:latin typeface="+mn-lt"/>
                          <a:ea typeface="+mn-ea"/>
                          <a:cs typeface="Arial" panose="020B0604020202020204" pitchFamily="34" charset="0"/>
                        </a:rPr>
                        <a:t>ходими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96245">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Бекчанова Мехрижон Гулямовна</a:t>
                      </a:r>
                    </a:p>
                    <a:p>
                      <a:pPr algn="l">
                        <a:lnSpc>
                          <a:spcPct val="85000"/>
                        </a:lnSpc>
                      </a:pPr>
                      <a:r>
                        <a:rPr lang="uz-Cyrl-UZ" sz="800" b="0" kern="1200" noProof="0" dirty="0">
                          <a:solidFill>
                            <a:schemeClr val="tx1"/>
                          </a:solidFill>
                          <a:latin typeface="+mn-lt"/>
                          <a:ea typeface="+mn-ea"/>
                          <a:cs typeface="Arial" panose="020B0604020202020204" pitchFamily="34" charset="0"/>
                        </a:rPr>
                        <a:t>1962 йил, Наманган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Arial" panose="020B0604020202020204" pitchFamily="34" charset="0"/>
                        </a:rPr>
                        <a:t>Пенсияда</a:t>
                      </a:r>
                    </a:p>
                    <a:p>
                      <a:pPr algn="l">
                        <a:lnSpc>
                          <a:spcPct val="85000"/>
                        </a:lnSpc>
                      </a:pPr>
                      <a:r>
                        <a:rPr lang="uz-Cyrl-UZ" sz="800" b="0" kern="1200" noProof="0" dirty="0">
                          <a:solidFill>
                            <a:schemeClr val="tx1"/>
                          </a:solidFill>
                          <a:latin typeface="+mn-lt"/>
                          <a:ea typeface="+mn-ea"/>
                          <a:cs typeface="Arial" panose="020B0604020202020204" pitchFamily="34" charset="0"/>
                        </a:rPr>
                        <a:t>(</a:t>
                      </a:r>
                      <a:r>
                        <a:rPr lang="uz-Cyrl-UZ" sz="800" b="0" kern="1200" dirty="0">
                          <a:solidFill>
                            <a:schemeClr val="tx1"/>
                          </a:solidFill>
                          <a:latin typeface="+mn-lt"/>
                          <a:ea typeface="+mn-ea"/>
                          <a:cs typeface="Arial" panose="020B0604020202020204" pitchFamily="34" charset="0"/>
                        </a:rPr>
                        <a:t>Муқимий номидаги Ўзбекистон давлат мусиқали театри солист вокалисти</a:t>
                      </a:r>
                      <a:r>
                        <a:rPr lang="uz-Cyrl-UZ"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88254">
                <a:tc gridSpan="5">
                  <a:txBody>
                    <a:bodyPr/>
                    <a:lstStyle/>
                    <a:p>
                      <a:pPr algn="ctr">
                        <a:lnSpc>
                          <a:spcPct val="85000"/>
                        </a:lnSpc>
                      </a:pPr>
                      <a:r>
                        <a:rPr lang="uz-Cyrl-UZ" sz="8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65876">
                <a:tc gridSpan="3">
                  <a:txBody>
                    <a:bodyPr/>
                    <a:lstStyle/>
                    <a:p>
                      <a:pPr algn="l">
                        <a:lnSpc>
                          <a:spcPct val="85000"/>
                        </a:lnSpc>
                      </a:pPr>
                      <a:r>
                        <a:rPr lang="uz-Cyrl-UZ" sz="800" b="1" noProof="0" dirty="0">
                          <a:latin typeface="+mn-lt"/>
                        </a:rPr>
                        <a:t>Тамомлаган ОТМ:</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a:solidFill>
                            <a:schemeClr val="tx1"/>
                          </a:solidFill>
                          <a:latin typeface="+mn-lt"/>
                          <a:ea typeface="+mn-ea"/>
                          <a:cs typeface="+mn-cs"/>
                        </a:rPr>
                        <a:t>1985 й. </a:t>
                      </a:r>
                      <a:r>
                        <a:rPr lang="ru-RU" sz="800" b="0" kern="1200" noProof="0" dirty="0" err="1">
                          <a:solidFill>
                            <a:schemeClr val="tx1"/>
                          </a:solidFill>
                          <a:latin typeface="+mn-lt"/>
                          <a:ea typeface="+mn-ea"/>
                          <a:cs typeface="+mn-cs"/>
                        </a:rPr>
                        <a:t>Тошкент</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давлат</a:t>
                      </a:r>
                      <a:r>
                        <a:rPr lang="ru-RU" sz="800" b="0" kern="1200" noProof="0" dirty="0">
                          <a:solidFill>
                            <a:schemeClr val="tx1"/>
                          </a:solidFill>
                          <a:latin typeface="+mn-lt"/>
                          <a:ea typeface="+mn-ea"/>
                          <a:cs typeface="+mn-cs"/>
                        </a:rPr>
                        <a:t> театр </a:t>
                      </a:r>
                      <a:r>
                        <a:rPr lang="ru-RU" sz="800" b="0" kern="1200" noProof="0" dirty="0" err="1">
                          <a:solidFill>
                            <a:schemeClr val="tx1"/>
                          </a:solidFill>
                          <a:latin typeface="+mn-lt"/>
                          <a:ea typeface="+mn-ea"/>
                          <a:cs typeface="+mn-cs"/>
                        </a:rPr>
                        <a:t>ва</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рассомчилик</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санъати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институти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кундузги</a:t>
                      </a:r>
                      <a:r>
                        <a:rPr lang="ru-RU" sz="8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4877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800" b="1" noProof="0" dirty="0">
                          <a:latin typeface="+mn-lt"/>
                        </a:rPr>
                        <a:t>Мутахассислиги:</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Мусиқали драма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83963">
                <a:tc gridSpan="3">
                  <a:txBody>
                    <a:bodyPr/>
                    <a:lstStyle/>
                    <a:p>
                      <a:pPr algn="l">
                        <a:lnSpc>
                          <a:spcPct val="85000"/>
                        </a:lnSpc>
                      </a:pPr>
                      <a:r>
                        <a:rPr lang="uz-Cyrl-UZ" sz="800" b="1" kern="1200" noProof="0" dirty="0">
                          <a:solidFill>
                            <a:schemeClr val="tx1"/>
                          </a:solidFill>
                          <a:latin typeface="+mn-lt"/>
                          <a:ea typeface="+mn-ea"/>
                          <a:cs typeface="+mn-cs"/>
                        </a:rPr>
                        <a:t>Илмий даража</a:t>
                      </a:r>
                      <a:r>
                        <a:rPr lang="en-US" sz="800" b="1" kern="1200" noProof="0" dirty="0">
                          <a:solidFill>
                            <a:schemeClr val="tx1"/>
                          </a:solidFill>
                          <a:latin typeface="+mn-lt"/>
                          <a:ea typeface="+mn-ea"/>
                          <a:cs typeface="+mn-cs"/>
                        </a:rPr>
                        <a:t> (</a:t>
                      </a:r>
                      <a:r>
                        <a:rPr lang="uz-Cyrl-UZ" sz="800" b="1" kern="1200" noProof="0" dirty="0">
                          <a:solidFill>
                            <a:schemeClr val="tx1"/>
                          </a:solidFill>
                          <a:latin typeface="+mn-lt"/>
                          <a:ea typeface="+mn-ea"/>
                          <a:cs typeface="+mn-cs"/>
                        </a:rPr>
                        <a:t>унвон</a:t>
                      </a:r>
                      <a:r>
                        <a:rPr lang="en-US" sz="800" b="1" kern="1200" noProof="0" dirty="0">
                          <a:solidFill>
                            <a:schemeClr val="tx1"/>
                          </a:solidFill>
                          <a:latin typeface="+mn-lt"/>
                          <a:ea typeface="+mn-ea"/>
                          <a:cs typeface="+mn-cs"/>
                        </a:rPr>
                        <a:t>)</a:t>
                      </a:r>
                      <a:r>
                        <a:rPr lang="uz-Cyrl-UZ" sz="8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Йўқ</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83963">
                <a:tc gridSpan="3">
                  <a:txBody>
                    <a:bodyPr/>
                    <a:lstStyle/>
                    <a:p>
                      <a:pPr algn="l">
                        <a:lnSpc>
                          <a:spcPct val="85000"/>
                        </a:lnSpc>
                      </a:pPr>
                      <a:r>
                        <a:rPr lang="uz-Cyrl-UZ" sz="8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Рус тили</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283361">
                <a:tc gridSpan="3">
                  <a:txBody>
                    <a:bodyPr/>
                    <a:lstStyle/>
                    <a:p>
                      <a:pPr algn="l">
                        <a:lnSpc>
                          <a:spcPct val="85000"/>
                        </a:lnSpc>
                      </a:pPr>
                      <a:r>
                        <a:rPr lang="uz-Cyrl-UZ" sz="8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err="1">
                          <a:solidFill>
                            <a:schemeClr val="tx1"/>
                          </a:solidFill>
                          <a:latin typeface="+mn-lt"/>
                          <a:ea typeface="+mn-ea"/>
                          <a:cs typeface="+mn-cs"/>
                        </a:rPr>
                        <a:t>Йўқ</a:t>
                      </a:r>
                      <a:endParaRPr lang="ru-RU"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236102030"/>
              </p:ext>
            </p:extLst>
          </p:nvPr>
        </p:nvGraphicFramePr>
        <p:xfrm>
          <a:off x="3662362" y="865689"/>
          <a:ext cx="3185005" cy="5910091"/>
        </p:xfrm>
        <a:graphic>
          <a:graphicData uri="http://schemas.openxmlformats.org/drawingml/2006/table">
            <a:tbl>
              <a:tblPr firstRow="1" bandRow="1">
                <a:tableStyleId>{C083E6E3-FA7D-4D7B-A595-EF9225AFEA82}</a:tableStyleId>
              </a:tblPr>
              <a:tblGrid>
                <a:gridCol w="1509406">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19085">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89459">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800" b="1" kern="1200" noProof="0" dirty="0">
                          <a:solidFill>
                            <a:schemeClr val="tx1"/>
                          </a:solidFill>
                          <a:latin typeface="+mn-lt"/>
                          <a:ea typeface="+mn-ea"/>
                          <a:cs typeface="+mn-cs"/>
                        </a:rPr>
                        <a:t>2022 йилдан Муқимий номидаги Ўзбекистон давлат академик мусиқали театри солист-вокалисти</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8093">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800" b="0" kern="1200" noProof="0" dirty="0">
                          <a:solidFill>
                            <a:schemeClr val="tx1"/>
                          </a:solidFill>
                          <a:latin typeface="+mn-lt"/>
                          <a:ea typeface="+mn-ea"/>
                          <a:cs typeface="+mn-cs"/>
                        </a:rPr>
                        <a:t>Й</a:t>
                      </a:r>
                      <a:r>
                        <a:rPr lang="ru-RU" sz="800" b="0" kern="1200" noProof="0" dirty="0" err="1">
                          <a:solidFill>
                            <a:schemeClr val="tx1"/>
                          </a:solidFill>
                          <a:latin typeface="+mn-lt"/>
                          <a:ea typeface="+mn-ea"/>
                          <a:cs typeface="+mn-cs"/>
                        </a:rPr>
                        <a:t>ўқ</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495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41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088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1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4962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algn="l" defTabSz="914400" rtl="0" eaLnBrk="1" latinLnBrk="0" hangingPunct="1"/>
                      <a:r>
                        <a:rPr lang="uz-Cyrl-UZ" sz="800" b="0" kern="1200" dirty="0">
                          <a:solidFill>
                            <a:schemeClr val="tx1"/>
                          </a:solidFill>
                          <a:effectLst/>
                          <a:latin typeface="+mn-lt"/>
                          <a:ea typeface="+mn-ea"/>
                          <a:cs typeface="Times New Roman" panose="02020603050405020304" pitchFamily="18" charset="0"/>
                        </a:rPr>
                        <a:t>2021-2022 йй. Муқимий номидаги Ўзбекистон давлат академик мусиқали театри директори</a:t>
                      </a:r>
                      <a:endParaRPr lang="ru-RU" sz="800" b="0"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177103">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3878">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3878">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5117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0830">
                <a:tc gridSpan="2">
                  <a:txBody>
                    <a:bodyPr/>
                    <a:lstStyle/>
                    <a:p>
                      <a:pPr algn="ctr"/>
                      <a:r>
                        <a:rPr lang="uz-Cyrl-UZ" sz="8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381128">
                <a:tc gridSpan="2">
                  <a:txBody>
                    <a:bodyPr/>
                    <a:lstStyle/>
                    <a:p>
                      <a:pPr marL="0" algn="l" defTabSz="914400" rtl="0" eaLnBrk="1" latinLnBrk="0" hangingPunct="1"/>
                      <a:r>
                        <a:rPr lang="ru-RU" sz="900" kern="1200" dirty="0">
                          <a:solidFill>
                            <a:schemeClr val="tx1"/>
                          </a:solidFill>
                          <a:effectLst/>
                          <a:latin typeface="+mn-lt"/>
                          <a:ea typeface="+mn-ea"/>
                          <a:cs typeface="Times New Roman" panose="02020603050405020304" pitchFamily="18" charset="0"/>
                        </a:rPr>
                        <a:t>2014 й. “</a:t>
                      </a:r>
                      <a:r>
                        <a:rPr lang="ru-RU" sz="900" kern="1200" dirty="0" err="1">
                          <a:solidFill>
                            <a:schemeClr val="tx1"/>
                          </a:solidFill>
                          <a:effectLst/>
                          <a:latin typeface="+mn-lt"/>
                          <a:ea typeface="+mn-ea"/>
                          <a:cs typeface="Times New Roman" panose="02020603050405020304" pitchFamily="18" charset="0"/>
                        </a:rPr>
                        <a:t>Ўзбекистон</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Республикасида</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хизмат</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кўрсатган</a:t>
                      </a:r>
                      <a:r>
                        <a:rPr lang="ru-RU" sz="900" kern="1200" dirty="0">
                          <a:solidFill>
                            <a:schemeClr val="tx1"/>
                          </a:solidFill>
                          <a:effectLst/>
                          <a:latin typeface="+mn-lt"/>
                          <a:ea typeface="+mn-ea"/>
                          <a:cs typeface="Times New Roman" panose="02020603050405020304" pitchFamily="18" charset="0"/>
                        </a:rPr>
                        <a:t> артист” </a:t>
                      </a:r>
                      <a:r>
                        <a:rPr lang="ru-RU" sz="900" kern="1200" dirty="0" err="1">
                          <a:solidFill>
                            <a:schemeClr val="tx1"/>
                          </a:solidFill>
                          <a:effectLst/>
                          <a:latin typeface="+mn-lt"/>
                          <a:ea typeface="+mn-ea"/>
                          <a:cs typeface="Times New Roman" panose="02020603050405020304" pitchFamily="18" charset="0"/>
                        </a:rPr>
                        <a:t>фахрий</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унвони</a:t>
                      </a:r>
                      <a:endParaRPr lang="ru-RU" sz="900" kern="1200" dirty="0">
                        <a:solidFill>
                          <a:schemeClr val="tx1"/>
                        </a:solidFill>
                        <a:effectLst/>
                        <a:latin typeface="+mn-lt"/>
                        <a:ea typeface="+mn-ea"/>
                        <a:cs typeface="Times New Roman" panose="02020603050405020304" pitchFamily="18" charset="0"/>
                      </a:endParaRPr>
                    </a:p>
                    <a:p>
                      <a:r>
                        <a:rPr lang="uz-Cyrl-UZ" sz="900" kern="1200" dirty="0">
                          <a:solidFill>
                            <a:schemeClr val="tx1"/>
                          </a:solidFill>
                          <a:effectLst/>
                          <a:latin typeface="+mn-lt"/>
                          <a:ea typeface="+mn-ea"/>
                          <a:cs typeface="Times New Roman" panose="02020603050405020304" pitchFamily="18" charset="0"/>
                        </a:rPr>
                        <a:t>1981-1985 йй. - Тошкент давлат театр ва рассомлик санъати институти талабаси</a:t>
                      </a:r>
                      <a:endParaRPr lang="ru-RU" sz="900" kern="1200" dirty="0">
                        <a:solidFill>
                          <a:schemeClr val="tx1"/>
                        </a:solidFill>
                        <a:effectLst/>
                        <a:latin typeface="+mn-lt"/>
                        <a:ea typeface="+mn-ea"/>
                        <a:cs typeface="Times New Roman" panose="02020603050405020304" pitchFamily="18" charset="0"/>
                      </a:endParaRPr>
                    </a:p>
                    <a:p>
                      <a:r>
                        <a:rPr lang="uz-Cyrl-UZ" sz="900" kern="1200" dirty="0">
                          <a:solidFill>
                            <a:schemeClr val="tx1"/>
                          </a:solidFill>
                          <a:effectLst/>
                          <a:latin typeface="+mn-lt"/>
                          <a:ea typeface="+mn-ea"/>
                          <a:cs typeface="Times New Roman" panose="02020603050405020304" pitchFamily="18" charset="0"/>
                        </a:rPr>
                        <a:t>1985 йй. -2021йй  - </a:t>
                      </a:r>
                      <a:r>
                        <a:rPr lang="ru-RU" sz="900" kern="1200" dirty="0" err="1">
                          <a:solidFill>
                            <a:schemeClr val="tx1"/>
                          </a:solidFill>
                          <a:effectLst/>
                          <a:latin typeface="+mn-lt"/>
                          <a:ea typeface="+mn-ea"/>
                          <a:cs typeface="Times New Roman" panose="02020603050405020304" pitchFamily="18" charset="0"/>
                        </a:rPr>
                        <a:t>Муқимий</a:t>
                      </a:r>
                      <a:r>
                        <a:rPr lang="ru-RU"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номидаги Ўзбекистон  давлат мусиқали  театр</a:t>
                      </a:r>
                      <a:r>
                        <a:rPr lang="ru-RU" sz="900" kern="1200" dirty="0">
                          <a:solidFill>
                            <a:schemeClr val="tx1"/>
                          </a:solidFill>
                          <a:effectLst/>
                          <a:latin typeface="+mn-lt"/>
                          <a:ea typeface="+mn-ea"/>
                          <a:cs typeface="Times New Roman" panose="02020603050405020304" pitchFamily="18" charset="0"/>
                        </a:rPr>
                        <a:t>и солист-</a:t>
                      </a:r>
                      <a:r>
                        <a:rPr lang="ru-RU" sz="900" kern="1200" dirty="0" err="1">
                          <a:solidFill>
                            <a:schemeClr val="tx1"/>
                          </a:solidFill>
                          <a:effectLst/>
                          <a:latin typeface="+mn-lt"/>
                          <a:ea typeface="+mn-ea"/>
                          <a:cs typeface="Times New Roman" panose="02020603050405020304" pitchFamily="18" charset="0"/>
                        </a:rPr>
                        <a:t>вокалисти</a:t>
                      </a:r>
                      <a:r>
                        <a:rPr lang="ru-RU" sz="900" kern="1200" dirty="0">
                          <a:solidFill>
                            <a:schemeClr val="tx1"/>
                          </a:solidFill>
                          <a:effectLst/>
                          <a:latin typeface="+mn-lt"/>
                          <a:ea typeface="+mn-ea"/>
                          <a:cs typeface="Times New Roman" panose="02020603050405020304" pitchFamily="18" charset="0"/>
                        </a:rPr>
                        <a:t> </a:t>
                      </a:r>
                    </a:p>
                    <a:p>
                      <a:r>
                        <a:rPr lang="ru-RU" sz="900" kern="1200" dirty="0">
                          <a:solidFill>
                            <a:schemeClr val="tx1"/>
                          </a:solidFill>
                          <a:effectLst/>
                          <a:latin typeface="+mn-lt"/>
                          <a:ea typeface="+mn-ea"/>
                          <a:cs typeface="Times New Roman" panose="02020603050405020304" pitchFamily="18" charset="0"/>
                        </a:rPr>
                        <a:t>2021 й. -2022 </a:t>
                      </a:r>
                      <a:r>
                        <a:rPr lang="ru-RU" sz="900" kern="1200" dirty="0" err="1">
                          <a:solidFill>
                            <a:schemeClr val="tx1"/>
                          </a:solidFill>
                          <a:effectLst/>
                          <a:latin typeface="+mn-lt"/>
                          <a:ea typeface="+mn-ea"/>
                          <a:cs typeface="Times New Roman" panose="02020603050405020304" pitchFamily="18" charset="0"/>
                        </a:rPr>
                        <a:t>йй</a:t>
                      </a:r>
                      <a:r>
                        <a:rPr lang="ru-RU"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Муқимий</a:t>
                      </a:r>
                      <a:r>
                        <a:rPr lang="ru-RU"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номидаги Ўзбекистон  давлат мусиқали  театр</a:t>
                      </a:r>
                      <a:r>
                        <a:rPr lang="ru-RU" sz="900" kern="1200" dirty="0">
                          <a:solidFill>
                            <a:schemeClr val="tx1"/>
                          </a:solidFill>
                          <a:effectLst/>
                          <a:latin typeface="+mn-lt"/>
                          <a:ea typeface="+mn-ea"/>
                          <a:cs typeface="Times New Roman" panose="02020603050405020304" pitchFamily="18" charset="0"/>
                        </a:rPr>
                        <a:t>и </a:t>
                      </a:r>
                      <a:r>
                        <a:rPr lang="ru-RU" sz="900" kern="1200" dirty="0" err="1">
                          <a:solidFill>
                            <a:schemeClr val="tx1"/>
                          </a:solidFill>
                          <a:effectLst/>
                          <a:latin typeface="+mn-lt"/>
                          <a:ea typeface="+mn-ea"/>
                          <a:cs typeface="Times New Roman" panose="02020603050405020304" pitchFamily="18" charset="0"/>
                        </a:rPr>
                        <a:t>директори</a:t>
                      </a:r>
                      <a:r>
                        <a:rPr lang="uz-Cyrl-UZ" sz="900" kern="1200" dirty="0">
                          <a:solidFill>
                            <a:schemeClr val="tx1"/>
                          </a:solidFill>
                          <a:effectLst/>
                          <a:latin typeface="+mn-lt"/>
                          <a:ea typeface="+mn-ea"/>
                          <a:cs typeface="Times New Roman" panose="02020603050405020304" pitchFamily="18" charset="0"/>
                        </a:rPr>
                        <a:t> </a:t>
                      </a:r>
                      <a:endParaRPr lang="ru-RU" sz="900" kern="1200" dirty="0">
                        <a:solidFill>
                          <a:schemeClr val="tx1"/>
                        </a:solidFill>
                        <a:effectLst/>
                        <a:latin typeface="+mn-lt"/>
                        <a:ea typeface="+mn-ea"/>
                        <a:cs typeface="Times New Roman" panose="02020603050405020304" pitchFamily="18" charset="0"/>
                      </a:endParaRPr>
                    </a:p>
                    <a:p>
                      <a:r>
                        <a:rPr lang="ru-RU" sz="900" kern="1200" dirty="0">
                          <a:solidFill>
                            <a:schemeClr val="tx1"/>
                          </a:solidFill>
                          <a:effectLst/>
                          <a:latin typeface="+mn-lt"/>
                          <a:ea typeface="+mn-ea"/>
                          <a:cs typeface="Times New Roman" panose="02020603050405020304" pitchFamily="18" charset="0"/>
                        </a:rPr>
                        <a:t>2022 </a:t>
                      </a:r>
                      <a:r>
                        <a:rPr lang="ru-RU" sz="900" kern="1200" dirty="0" err="1">
                          <a:solidFill>
                            <a:schemeClr val="tx1"/>
                          </a:solidFill>
                          <a:effectLst/>
                          <a:latin typeface="+mn-lt"/>
                          <a:ea typeface="+mn-ea"/>
                          <a:cs typeface="Times New Roman" panose="02020603050405020304" pitchFamily="18" charset="0"/>
                        </a:rPr>
                        <a:t>йй</a:t>
                      </a:r>
                      <a:r>
                        <a:rPr lang="ru-RU"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Муқимий</a:t>
                      </a:r>
                      <a:r>
                        <a:rPr lang="ru-RU"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номидаги Ўзбекистон  давлат мусиқали  театр</a:t>
                      </a:r>
                      <a:r>
                        <a:rPr lang="ru-RU" sz="900" kern="1200" dirty="0">
                          <a:solidFill>
                            <a:schemeClr val="tx1"/>
                          </a:solidFill>
                          <a:effectLst/>
                          <a:latin typeface="+mn-lt"/>
                          <a:ea typeface="+mn-ea"/>
                          <a:cs typeface="Times New Roman" panose="02020603050405020304" pitchFamily="18" charset="0"/>
                        </a:rPr>
                        <a:t>и солист-вокалист</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583008292"/>
              </p:ext>
            </p:extLst>
          </p:nvPr>
        </p:nvGraphicFramePr>
        <p:xfrm>
          <a:off x="6898612" y="865689"/>
          <a:ext cx="2868492" cy="5916567"/>
        </p:xfrm>
        <a:graphic>
          <a:graphicData uri="http://schemas.openxmlformats.org/drawingml/2006/table">
            <a:tbl>
              <a:tblPr firstRow="1" bandRow="1">
                <a:tableStyleId>{C083E6E3-FA7D-4D7B-A595-EF9225AFEA82}</a:tableStyleId>
              </a:tblPr>
              <a:tblGrid>
                <a:gridCol w="2868492">
                  <a:extLst>
                    <a:ext uri="{9D8B030D-6E8A-4147-A177-3AD203B41FA5}">
                      <a16:colId xmlns:a16="http://schemas.microsoft.com/office/drawing/2014/main" val="2715609854"/>
                    </a:ext>
                  </a:extLst>
                </a:gridCol>
              </a:tblGrid>
              <a:tr h="231211">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5504">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48685">
                <a:tc>
                  <a:txBody>
                    <a:bodyPr/>
                    <a:lstStyle/>
                    <a:p>
                      <a:pPr marL="0" algn="just" defTabSz="914400" rtl="0" eaLnBrk="1" latinLnBrk="0" hangingPunct="1"/>
                      <a:r>
                        <a:rPr lang="uz-Cyrl-UZ" sz="900" b="0" kern="1200" dirty="0" smtClean="0">
                          <a:solidFill>
                            <a:schemeClr val="tx1"/>
                          </a:solidFill>
                          <a:latin typeface="+mn-lt"/>
                          <a:ea typeface="+mn-ea"/>
                          <a:cs typeface="+mn-cs"/>
                        </a:rPr>
                        <a:t>    2014 </a:t>
                      </a:r>
                      <a:r>
                        <a:rPr lang="uz-Cyrl-UZ" sz="900" b="0" kern="1200" dirty="0">
                          <a:solidFill>
                            <a:schemeClr val="tx1"/>
                          </a:solidFill>
                          <a:latin typeface="+mn-lt"/>
                          <a:ea typeface="+mn-ea"/>
                          <a:cs typeface="+mn-cs"/>
                        </a:rPr>
                        <a:t>йили “Ўзбекистонда хизмат кўрсатган артист” фахрий унвони билан </a:t>
                      </a:r>
                      <a:r>
                        <a:rPr lang="uz-Cyrl-UZ" sz="900" b="0" kern="1200" dirty="0" smtClean="0">
                          <a:solidFill>
                            <a:schemeClr val="tx1"/>
                          </a:solidFill>
                          <a:latin typeface="+mn-lt"/>
                          <a:ea typeface="+mn-ea"/>
                          <a:cs typeface="+mn-cs"/>
                        </a:rPr>
                        <a:t>мукофотланган.</a:t>
                      </a:r>
                      <a:endParaRPr lang="ru-RU" sz="900" b="0" kern="1200" dirty="0" smtClean="0">
                        <a:solidFill>
                          <a:schemeClr val="tx1"/>
                        </a:solidFill>
                        <a:latin typeface="+mn-lt"/>
                        <a:ea typeface="+mn-ea"/>
                        <a:cs typeface="+mn-cs"/>
                      </a:endParaRPr>
                    </a:p>
                    <a:p>
                      <a:pPr marL="0" algn="just" defTabSz="914400" rtl="0" eaLnBrk="1" latinLnBrk="0" hangingPunct="1"/>
                      <a:r>
                        <a:rPr lang="ru-RU" sz="900" b="0" kern="1200" baseline="0" dirty="0" smtClean="0">
                          <a:solidFill>
                            <a:schemeClr val="tx1"/>
                          </a:solidFill>
                          <a:latin typeface="+mn-lt"/>
                          <a:ea typeface="+mn-ea"/>
                          <a:cs typeface="+mn-cs"/>
                        </a:rPr>
                        <a:t>    </a:t>
                      </a:r>
                      <a:r>
                        <a:rPr lang="uz-Cyrl-UZ" sz="900" b="0" kern="1200" dirty="0" smtClean="0">
                          <a:solidFill>
                            <a:schemeClr val="tx1"/>
                          </a:solidFill>
                          <a:latin typeface="+mn-lt"/>
                          <a:ea typeface="+mn-ea"/>
                          <a:cs typeface="+mn-cs"/>
                        </a:rPr>
                        <a:t>Маълумоти </a:t>
                      </a:r>
                      <a:r>
                        <a:rPr lang="uz-Cyrl-UZ" sz="900" b="0" kern="1200" dirty="0">
                          <a:solidFill>
                            <a:schemeClr val="tx1"/>
                          </a:solidFill>
                          <a:latin typeface="+mn-lt"/>
                          <a:ea typeface="+mn-ea"/>
                          <a:cs typeface="+mn-cs"/>
                        </a:rPr>
                        <a:t>олий. Умумий меҳнат стажи 40 йил. 1985 йилда Тошкент театр ва рассомлик санъати институтини битириб, йўлланма билан Муқимий номидаги ўзбек давлат мусиқали театрига   хор  артисти  вазифасига  ишга  келган  бўлса,  1999 йилдан   олий  тоифали  солист – вокалист  вазифасида  ишлаб  келмоқда.</a:t>
                      </a:r>
                      <a:endParaRPr lang="ru-RU" sz="900" b="0" kern="1200" dirty="0">
                        <a:solidFill>
                          <a:schemeClr val="tx1"/>
                        </a:solidFill>
                        <a:latin typeface="+mn-lt"/>
                        <a:ea typeface="+mn-ea"/>
                        <a:cs typeface="+mn-cs"/>
                      </a:endParaRPr>
                    </a:p>
                    <a:p>
                      <a:pPr marL="0" algn="just" defTabSz="914400" rtl="0" eaLnBrk="1" latinLnBrk="0" hangingPunct="1"/>
                      <a:r>
                        <a:rPr lang="uz-Cyrl-UZ" sz="900" b="0" kern="1200" dirty="0" smtClean="0">
                          <a:solidFill>
                            <a:schemeClr val="tx1"/>
                          </a:solidFill>
                          <a:latin typeface="+mn-lt"/>
                          <a:ea typeface="+mn-ea"/>
                          <a:cs typeface="+mn-cs"/>
                        </a:rPr>
                        <a:t>    Н.Қобил</a:t>
                      </a:r>
                      <a:r>
                        <a:rPr lang="uz-Cyrl-UZ" sz="900" b="0" kern="1200" dirty="0">
                          <a:solidFill>
                            <a:schemeClr val="tx1"/>
                          </a:solidFill>
                          <a:latin typeface="+mn-lt"/>
                          <a:ea typeface="+mn-ea"/>
                          <a:cs typeface="+mn-cs"/>
                        </a:rPr>
                        <a:t>,  Ф. Олимовнинг  «Прометей»  мусиқали  драмасида  Гефест, У.Азим, Б. Лутфуллаевнинг  «Муҳаббат навоси”да Мирзатоғай вазир, “Сойибхўжа операцияси»да  Турсунбой, «Мушкул савдо»да  Остон,  Р.Азизхўжаев, Ҳ.Муҳаммад, Т.Ҳасановнинг «Куёвлар  конкурси»да – Хуббихон, Х.Хурсандов, Ф.Олимовнинг «Топталган туйғу”да – Матлаб, “Сойибхўжа операцияси”да Турсунбой, “Муҳаббатим-қисматим”да Норбек, “Ойонам-қайнонам”да Шаҳоб, Турсунбой, “Гаровдаги муҳаббат”да Акобир,  “Тўмарис” мусиқали драмасида Лашкарбоши, “Жадидлар” мусиқали драмасида суд раиси ва бошқа ўнлаб ролларни  ижро  этган.</a:t>
                      </a:r>
                      <a:endParaRPr lang="ru-RU" sz="900" b="0" kern="1200" dirty="0">
                        <a:solidFill>
                          <a:schemeClr val="tx1"/>
                        </a:solidFill>
                        <a:latin typeface="+mn-lt"/>
                        <a:ea typeface="+mn-ea"/>
                        <a:cs typeface="+mn-cs"/>
                      </a:endParaRPr>
                    </a:p>
                    <a:p>
                      <a:pPr marL="0" algn="just" defTabSz="914400" rtl="0" eaLnBrk="1" latinLnBrk="0" hangingPunct="1"/>
                      <a:r>
                        <a:rPr lang="uz-Cyrl-UZ" sz="900" b="0" kern="1200" dirty="0" smtClean="0">
                          <a:solidFill>
                            <a:schemeClr val="tx1"/>
                          </a:solidFill>
                          <a:latin typeface="+mn-lt"/>
                          <a:ea typeface="+mn-ea"/>
                          <a:cs typeface="+mn-cs"/>
                        </a:rPr>
                        <a:t>    Шу  </a:t>
                      </a:r>
                      <a:r>
                        <a:rPr lang="uz-Cyrl-UZ" sz="900" b="0" kern="1200" dirty="0">
                          <a:solidFill>
                            <a:schemeClr val="tx1"/>
                          </a:solidFill>
                          <a:latin typeface="+mn-lt"/>
                          <a:ea typeface="+mn-ea"/>
                          <a:cs typeface="+mn-cs"/>
                        </a:rPr>
                        <a:t>билан  бир  қаторда  1997  йилдан  бери  Ўзбекистон  Давлат санъат  институтида “Вокал”   бўлимида  талабаларга қўшиқчиликдан  сабоқ  бериб  келмоқда.  Бир  қанча  шогирдлар  орттириб  устозлик  даражасига  эришган  ходимларимиздан  бири.</a:t>
                      </a:r>
                      <a:endParaRPr lang="ru-RU" sz="900" b="0" kern="1200" dirty="0">
                        <a:solidFill>
                          <a:schemeClr val="tx1"/>
                        </a:solidFill>
                        <a:latin typeface="+mn-lt"/>
                        <a:ea typeface="+mn-ea"/>
                        <a:cs typeface="+mn-cs"/>
                      </a:endParaRPr>
                    </a:p>
                    <a:p>
                      <a:pPr marL="0" algn="just" defTabSz="914400" rtl="0" eaLnBrk="1" latinLnBrk="0" hangingPunct="1"/>
                      <a:r>
                        <a:rPr lang="uz-Cyrl-UZ" sz="900" b="0" kern="1200" dirty="0" smtClean="0">
                          <a:solidFill>
                            <a:schemeClr val="tx1"/>
                          </a:solidFill>
                          <a:latin typeface="+mn-lt"/>
                          <a:ea typeface="+mn-ea"/>
                          <a:cs typeface="+mn-cs"/>
                        </a:rPr>
                        <a:t>    Айниқса</a:t>
                      </a:r>
                      <a:r>
                        <a:rPr lang="uz-Cyrl-UZ" sz="900" b="0" kern="1200" dirty="0">
                          <a:solidFill>
                            <a:schemeClr val="tx1"/>
                          </a:solidFill>
                          <a:latin typeface="+mn-lt"/>
                          <a:ea typeface="+mn-ea"/>
                          <a:cs typeface="+mn-cs"/>
                        </a:rPr>
                        <a:t>, унинг “Гаровдаги муҳаббат” спектаклидаги Акобир образи ўзининг ички кечинмаларга бойлиги, ўзбек йигити тимсолида кўпчиликка маъқул бўлди.</a:t>
                      </a:r>
                      <a:endParaRPr lang="ru-RU" sz="900" b="0" kern="1200" dirty="0">
                        <a:solidFill>
                          <a:schemeClr val="tx1"/>
                        </a:solidFill>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08320">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7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7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16707">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a:extLst>
              <a:ext uri="{FF2B5EF4-FFF2-40B4-BE49-F238E27FC236}">
                <a16:creationId xmlns:a16="http://schemas.microsoft.com/office/drawing/2014/main" id="{B652F435-ED90-5890-3B10-C1933EECFCCC}"/>
              </a:ext>
            </a:extLst>
          </p:cNvPr>
          <p:cNvPicPr>
            <a:picLocks noChangeAspect="1"/>
          </p:cNvPicPr>
          <p:nvPr/>
        </p:nvPicPr>
        <p:blipFill>
          <a:blip r:embed="rId2"/>
          <a:stretch>
            <a:fillRect/>
          </a:stretch>
        </p:blipFill>
        <p:spPr>
          <a:xfrm>
            <a:off x="329619" y="1190478"/>
            <a:ext cx="792599" cy="1063404"/>
          </a:xfrm>
          <a:prstGeom prst="rect">
            <a:avLst/>
          </a:prstGeom>
        </p:spPr>
      </p:pic>
    </p:spTree>
    <p:extLst>
      <p:ext uri="{BB962C8B-B14F-4D97-AF65-F5344CB8AC3E}">
        <p14:creationId xmlns:p14="http://schemas.microsoft.com/office/powerpoint/2010/main" val="4156158268"/>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4040548041"/>
              </p:ext>
            </p:extLst>
          </p:nvPr>
        </p:nvGraphicFramePr>
        <p:xfrm>
          <a:off x="144489" y="865703"/>
          <a:ext cx="3427547" cy="5884230"/>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585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2204">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БЕКЧАНОВА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220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Меҳрижон</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220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Гулямовна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2204">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220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01.01.1962</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220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Наманган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331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641110">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Муқимий номидаги Ўзбекистон давлат академик мусиқали театири солист вокалисти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331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04066">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Хожиматов Гуломжон</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1937 йил, Наманган вилояти, Поп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1989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uz-Cyrl-UZ" sz="800" b="0" kern="1200" dirty="0">
                          <a:solidFill>
                            <a:schemeClr val="tx1"/>
                          </a:solidFill>
                          <a:latin typeface="+mn-lt"/>
                          <a:ea typeface="+mn-ea"/>
                          <a:cs typeface="Arial" panose="020B0604020202020204" pitchFamily="34" charset="0"/>
                        </a:rPr>
                        <a:t>Наманган  вилояти, Поп тумани  22-жамоа хўжалиги  ишчиси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18310">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Исматова Халима</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1926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2022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(уй </a:t>
                      </a:r>
                      <a:r>
                        <a:rPr lang="ru-RU" sz="800" b="0" kern="1200" noProof="0" dirty="0" err="1">
                          <a:solidFill>
                            <a:schemeClr val="tx1"/>
                          </a:solidFill>
                          <a:latin typeface="+mn-lt"/>
                          <a:ea typeface="+mn-ea"/>
                          <a:cs typeface="Arial" panose="020B0604020202020204" pitchFamily="34" charset="0"/>
                        </a:rPr>
                        <a:t>бекаси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60645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Бекчанов Александр Сатимович</a:t>
                      </a:r>
                    </a:p>
                    <a:p>
                      <a:pPr algn="l">
                        <a:lnSpc>
                          <a:spcPct val="85000"/>
                        </a:lnSpc>
                      </a:pPr>
                      <a:r>
                        <a:rPr lang="uz-Cyrl-UZ" sz="800" b="0" kern="1200" noProof="0" dirty="0">
                          <a:solidFill>
                            <a:schemeClr val="tx1"/>
                          </a:solidFill>
                          <a:latin typeface="+mn-lt"/>
                          <a:ea typeface="+mn-ea"/>
                          <a:cs typeface="Arial" panose="020B0604020202020204" pitchFamily="34" charset="0"/>
                        </a:rPr>
                        <a:t>1931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Arial" panose="020B0604020202020204" pitchFamily="34" charset="0"/>
                        </a:rPr>
                        <a:t>2005 йил вафот этган</a:t>
                      </a:r>
                    </a:p>
                    <a:p>
                      <a:pPr algn="l">
                        <a:lnSpc>
                          <a:spcPct val="85000"/>
                        </a:lnSpc>
                      </a:pPr>
                      <a:r>
                        <a:rPr lang="uz-Cyrl-UZ" sz="800" b="0" kern="1200" noProof="0" dirty="0">
                          <a:solidFill>
                            <a:schemeClr val="tx1"/>
                          </a:solidFill>
                          <a:latin typeface="+mn-lt"/>
                          <a:ea typeface="+mn-ea"/>
                          <a:cs typeface="Arial" panose="020B0604020202020204" pitchFamily="34" charset="0"/>
                        </a:rPr>
                        <a:t>(</a:t>
                      </a:r>
                      <a:r>
                        <a:rPr lang="uz-Cyrl-UZ" sz="800" b="0" kern="1200" dirty="0">
                          <a:solidFill>
                            <a:schemeClr val="tx1"/>
                          </a:solidFill>
                          <a:latin typeface="+mn-lt"/>
                          <a:ea typeface="+mn-ea"/>
                          <a:cs typeface="Arial" panose="020B0604020202020204" pitchFamily="34" charset="0"/>
                        </a:rPr>
                        <a:t>Муқимий номидаги Ўзбекистон давлат мусиқали театри  солист-вокалисти</a:t>
                      </a:r>
                      <a:r>
                        <a:rPr lang="uz-Cyrl-UZ"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86773">
                <a:tc gridSpan="5">
                  <a:txBody>
                    <a:bodyPr/>
                    <a:lstStyle/>
                    <a:p>
                      <a:pPr algn="ctr">
                        <a:lnSpc>
                          <a:spcPct val="85000"/>
                        </a:lnSpc>
                      </a:pPr>
                      <a:r>
                        <a:rPr lang="uz-Cyrl-UZ" sz="8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61425">
                <a:tc gridSpan="3">
                  <a:txBody>
                    <a:bodyPr/>
                    <a:lstStyle/>
                    <a:p>
                      <a:pPr algn="l">
                        <a:lnSpc>
                          <a:spcPct val="85000"/>
                        </a:lnSpc>
                      </a:pPr>
                      <a:r>
                        <a:rPr lang="uz-Cyrl-UZ" sz="800" b="1" noProof="0" dirty="0">
                          <a:latin typeface="+mn-lt"/>
                        </a:rPr>
                        <a:t>Тамомлаган ОТМ:</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a:solidFill>
                            <a:schemeClr val="tx1"/>
                          </a:solidFill>
                          <a:latin typeface="+mn-lt"/>
                          <a:ea typeface="+mn-ea"/>
                          <a:cs typeface="+mn-cs"/>
                        </a:rPr>
                        <a:t>1984 й. </a:t>
                      </a:r>
                      <a:r>
                        <a:rPr lang="ru-RU" sz="800" b="0" kern="1200" noProof="0" dirty="0" err="1">
                          <a:solidFill>
                            <a:schemeClr val="tx1"/>
                          </a:solidFill>
                          <a:latin typeface="+mn-lt"/>
                          <a:ea typeface="+mn-ea"/>
                          <a:cs typeface="+mn-cs"/>
                        </a:rPr>
                        <a:t>Тошкент</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давлат</a:t>
                      </a:r>
                      <a:r>
                        <a:rPr lang="ru-RU" sz="800" b="0" kern="1200" noProof="0" dirty="0">
                          <a:solidFill>
                            <a:schemeClr val="tx1"/>
                          </a:solidFill>
                          <a:latin typeface="+mn-lt"/>
                          <a:ea typeface="+mn-ea"/>
                          <a:cs typeface="+mn-cs"/>
                        </a:rPr>
                        <a:t> театр </a:t>
                      </a:r>
                      <a:r>
                        <a:rPr lang="ru-RU" sz="800" b="0" kern="1200" noProof="0" dirty="0" err="1">
                          <a:solidFill>
                            <a:schemeClr val="tx1"/>
                          </a:solidFill>
                          <a:latin typeface="+mn-lt"/>
                          <a:ea typeface="+mn-ea"/>
                          <a:cs typeface="+mn-cs"/>
                        </a:rPr>
                        <a:t>ва</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рассомчилик</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санъати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институти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кундузги</a:t>
                      </a:r>
                      <a:r>
                        <a:rPr lang="ru-RU" sz="8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46815">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800" b="1" noProof="0" dirty="0">
                          <a:latin typeface="+mn-lt"/>
                        </a:rPr>
                        <a:t>Мутахассислиги:</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Мусиқали драма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81729">
                <a:tc gridSpan="3">
                  <a:txBody>
                    <a:bodyPr/>
                    <a:lstStyle/>
                    <a:p>
                      <a:pPr algn="l">
                        <a:lnSpc>
                          <a:spcPct val="85000"/>
                        </a:lnSpc>
                      </a:pPr>
                      <a:r>
                        <a:rPr lang="uz-Cyrl-UZ" sz="800" b="1" kern="1200" noProof="0" dirty="0">
                          <a:solidFill>
                            <a:schemeClr val="tx1"/>
                          </a:solidFill>
                          <a:latin typeface="+mn-lt"/>
                          <a:ea typeface="+mn-ea"/>
                          <a:cs typeface="+mn-cs"/>
                        </a:rPr>
                        <a:t>Илмий даража</a:t>
                      </a:r>
                      <a:r>
                        <a:rPr lang="en-US" sz="800" b="1" kern="1200" noProof="0" dirty="0">
                          <a:solidFill>
                            <a:schemeClr val="tx1"/>
                          </a:solidFill>
                          <a:latin typeface="+mn-lt"/>
                          <a:ea typeface="+mn-ea"/>
                          <a:cs typeface="+mn-cs"/>
                        </a:rPr>
                        <a:t> (</a:t>
                      </a:r>
                      <a:r>
                        <a:rPr lang="uz-Cyrl-UZ" sz="800" b="1" kern="1200" noProof="0" dirty="0">
                          <a:solidFill>
                            <a:schemeClr val="tx1"/>
                          </a:solidFill>
                          <a:latin typeface="+mn-lt"/>
                          <a:ea typeface="+mn-ea"/>
                          <a:cs typeface="+mn-cs"/>
                        </a:rPr>
                        <a:t>унвон</a:t>
                      </a:r>
                      <a:r>
                        <a:rPr lang="en-US" sz="800" b="1" kern="1200" noProof="0" dirty="0">
                          <a:solidFill>
                            <a:schemeClr val="tx1"/>
                          </a:solidFill>
                          <a:latin typeface="+mn-lt"/>
                          <a:ea typeface="+mn-ea"/>
                          <a:cs typeface="+mn-cs"/>
                        </a:rPr>
                        <a:t>)</a:t>
                      </a:r>
                      <a:r>
                        <a:rPr lang="uz-Cyrl-UZ" sz="8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Йўқ</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81729">
                <a:tc gridSpan="3">
                  <a:txBody>
                    <a:bodyPr/>
                    <a:lstStyle/>
                    <a:p>
                      <a:pPr algn="l">
                        <a:lnSpc>
                          <a:spcPct val="85000"/>
                        </a:lnSpc>
                      </a:pPr>
                      <a:r>
                        <a:rPr lang="uz-Cyrl-UZ" sz="8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Рус тили</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90120">
                <a:tc gridSpan="3">
                  <a:txBody>
                    <a:bodyPr/>
                    <a:lstStyle/>
                    <a:p>
                      <a:pPr algn="l">
                        <a:lnSpc>
                          <a:spcPct val="85000"/>
                        </a:lnSpc>
                      </a:pPr>
                      <a:r>
                        <a:rPr lang="uz-Cyrl-UZ" sz="8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err="1">
                          <a:solidFill>
                            <a:schemeClr val="tx1"/>
                          </a:solidFill>
                          <a:latin typeface="+mn-lt"/>
                          <a:ea typeface="+mn-ea"/>
                          <a:cs typeface="+mn-cs"/>
                        </a:rPr>
                        <a:t>Йўқ</a:t>
                      </a:r>
                      <a:endParaRPr lang="ru-RU"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442297800"/>
              </p:ext>
            </p:extLst>
          </p:nvPr>
        </p:nvGraphicFramePr>
        <p:xfrm>
          <a:off x="3685242" y="865687"/>
          <a:ext cx="3162125" cy="5884246"/>
        </p:xfrm>
        <a:graphic>
          <a:graphicData uri="http://schemas.openxmlformats.org/drawingml/2006/table">
            <a:tbl>
              <a:tblPr firstRow="1" bandRow="1">
                <a:tableStyleId>{C083E6E3-FA7D-4D7B-A595-EF9225AFEA82}</a:tableStyleId>
              </a:tblPr>
              <a:tblGrid>
                <a:gridCol w="1456219">
                  <a:extLst>
                    <a:ext uri="{9D8B030D-6E8A-4147-A177-3AD203B41FA5}">
                      <a16:colId xmlns:a16="http://schemas.microsoft.com/office/drawing/2014/main" val="2715609854"/>
                    </a:ext>
                  </a:extLst>
                </a:gridCol>
                <a:gridCol w="1705906">
                  <a:extLst>
                    <a:ext uri="{9D8B030D-6E8A-4147-A177-3AD203B41FA5}">
                      <a16:colId xmlns:a16="http://schemas.microsoft.com/office/drawing/2014/main" val="546443978"/>
                    </a:ext>
                  </a:extLst>
                </a:gridCol>
              </a:tblGrid>
              <a:tr h="305902">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00207">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800" b="1" kern="1200" noProof="0" dirty="0">
                          <a:solidFill>
                            <a:schemeClr val="tx1"/>
                          </a:solidFill>
                          <a:latin typeface="+mn-lt"/>
                          <a:ea typeface="+mn-ea"/>
                          <a:cs typeface="+mn-cs"/>
                        </a:rPr>
                        <a:t>1982 йилдан Муқимий номидаги Ўзбекистон давлат академик мусиқали театри солист-вокалисти</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28256">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800" b="0" kern="1200" noProof="0" dirty="0">
                          <a:solidFill>
                            <a:schemeClr val="tx1"/>
                          </a:solidFill>
                          <a:latin typeface="+mn-lt"/>
                          <a:ea typeface="+mn-ea"/>
                          <a:cs typeface="+mn-cs"/>
                        </a:rPr>
                        <a:t>Й</a:t>
                      </a:r>
                      <a:r>
                        <a:rPr lang="ru-RU" sz="800" b="0" kern="1200" noProof="0" dirty="0" err="1">
                          <a:solidFill>
                            <a:schemeClr val="tx1"/>
                          </a:solidFill>
                          <a:latin typeface="+mn-lt"/>
                          <a:ea typeface="+mn-ea"/>
                          <a:cs typeface="+mn-cs"/>
                        </a:rPr>
                        <a:t>ўқ</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9648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44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299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1452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algn="l" defTabSz="914400" rtl="0" eaLnBrk="1" latinLnBrk="0" hangingPunct="1"/>
                      <a:endParaRPr lang="ru-RU" sz="800" b="1"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16978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0332">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50498">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40798">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1707">
                <a:tc gridSpan="2">
                  <a:txBody>
                    <a:bodyPr/>
                    <a:lstStyle/>
                    <a:p>
                      <a:pPr algn="ctr"/>
                      <a:r>
                        <a:rPr lang="uz-Cyrl-UZ" sz="8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282754">
                <a:tc gridSpan="2">
                  <a:txBody>
                    <a:bodyPr/>
                    <a:lstStyle/>
                    <a:p>
                      <a:pPr marL="0" algn="just" defTabSz="914400" rtl="0" eaLnBrk="1" latinLnBrk="0" hangingPunct="1"/>
                      <a:r>
                        <a:rPr lang="ru-RU" sz="900" kern="1200" dirty="0">
                          <a:solidFill>
                            <a:schemeClr val="tx1"/>
                          </a:solidFill>
                          <a:effectLst/>
                          <a:latin typeface="+mn-lt"/>
                          <a:ea typeface="+mn-ea"/>
                          <a:cs typeface="Times New Roman" panose="02020603050405020304" pitchFamily="18" charset="0"/>
                        </a:rPr>
                        <a:t>1998 </a:t>
                      </a:r>
                      <a:r>
                        <a:rPr lang="ru-RU" sz="900" kern="1200" dirty="0" err="1">
                          <a:solidFill>
                            <a:schemeClr val="tx1"/>
                          </a:solidFill>
                          <a:effectLst/>
                          <a:latin typeface="+mn-lt"/>
                          <a:ea typeface="+mn-ea"/>
                          <a:cs typeface="Times New Roman" panose="02020603050405020304" pitchFamily="18" charset="0"/>
                        </a:rPr>
                        <a:t>йил</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Ўзбекистонда</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хизмат</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кўрсатган</a:t>
                      </a:r>
                      <a:r>
                        <a:rPr lang="ru-RU" sz="900" kern="1200" dirty="0">
                          <a:solidFill>
                            <a:schemeClr val="tx1"/>
                          </a:solidFill>
                          <a:effectLst/>
                          <a:latin typeface="+mn-lt"/>
                          <a:ea typeface="+mn-ea"/>
                          <a:cs typeface="Times New Roman" panose="02020603050405020304" pitchFamily="18" charset="0"/>
                        </a:rPr>
                        <a:t>  артист”</a:t>
                      </a:r>
                    </a:p>
                    <a:p>
                      <a:pPr marL="0" algn="just" defTabSz="914400" rtl="0" eaLnBrk="1" latinLnBrk="0" hangingPunct="1"/>
                      <a:r>
                        <a:rPr lang="ru-RU" sz="900" kern="1200" dirty="0">
                          <a:solidFill>
                            <a:schemeClr val="tx1"/>
                          </a:solidFill>
                          <a:effectLst/>
                          <a:latin typeface="+mn-lt"/>
                          <a:ea typeface="+mn-ea"/>
                          <a:cs typeface="Times New Roman" panose="02020603050405020304" pitchFamily="18" charset="0"/>
                        </a:rPr>
                        <a:t>2009 </a:t>
                      </a:r>
                      <a:r>
                        <a:rPr lang="ru-RU" sz="900" kern="1200" dirty="0" err="1">
                          <a:solidFill>
                            <a:schemeClr val="tx1"/>
                          </a:solidFill>
                          <a:effectLst/>
                          <a:latin typeface="+mn-lt"/>
                          <a:ea typeface="+mn-ea"/>
                          <a:cs typeface="Times New Roman" panose="02020603050405020304" pitchFamily="18" charset="0"/>
                        </a:rPr>
                        <a:t>йил</a:t>
                      </a:r>
                      <a:r>
                        <a:rPr lang="ru-RU" sz="900" kern="1200" dirty="0">
                          <a:solidFill>
                            <a:schemeClr val="tx1"/>
                          </a:solidFill>
                          <a:effectLst/>
                          <a:latin typeface="+mn-lt"/>
                          <a:ea typeface="+mn-ea"/>
                          <a:cs typeface="Times New Roman" panose="02020603050405020304" pitchFamily="18" charset="0"/>
                        </a:rPr>
                        <a:t>  “ </a:t>
                      </a:r>
                      <a:r>
                        <a:rPr lang="ru-RU" sz="900" kern="1200" dirty="0" err="1">
                          <a:solidFill>
                            <a:schemeClr val="tx1"/>
                          </a:solidFill>
                          <a:effectLst/>
                          <a:latin typeface="+mn-lt"/>
                          <a:ea typeface="+mn-ea"/>
                          <a:cs typeface="Times New Roman" panose="02020603050405020304" pitchFamily="18" charset="0"/>
                        </a:rPr>
                        <a:t>Ўзбекистон</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Республикаси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Ҳалқ</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артисти</a:t>
                      </a:r>
                      <a:r>
                        <a:rPr lang="ru-RU" sz="900" kern="1200" dirty="0" smtClean="0">
                          <a:solidFill>
                            <a:schemeClr val="tx1"/>
                          </a:solidFill>
                          <a:effectLst/>
                          <a:latin typeface="+mn-lt"/>
                          <a:ea typeface="+mn-ea"/>
                          <a:cs typeface="Times New Roman" panose="02020603050405020304" pitchFamily="18" charset="0"/>
                        </a:rPr>
                        <a:t>”</a:t>
                      </a:r>
                      <a:endParaRPr lang="uz-Cyrl-UZ" sz="900"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615235601"/>
              </p:ext>
            </p:extLst>
          </p:nvPr>
        </p:nvGraphicFramePr>
        <p:xfrm>
          <a:off x="6957753" y="869286"/>
          <a:ext cx="2809351" cy="5880648"/>
        </p:xfrm>
        <a:graphic>
          <a:graphicData uri="http://schemas.openxmlformats.org/drawingml/2006/table">
            <a:tbl>
              <a:tblPr firstRow="1" bandRow="1">
                <a:tableStyleId>{C083E6E3-FA7D-4D7B-A595-EF9225AFEA82}</a:tableStyleId>
              </a:tblPr>
              <a:tblGrid>
                <a:gridCol w="2809351">
                  <a:extLst>
                    <a:ext uri="{9D8B030D-6E8A-4147-A177-3AD203B41FA5}">
                      <a16:colId xmlns:a16="http://schemas.microsoft.com/office/drawing/2014/main" val="2715609854"/>
                    </a:ext>
                  </a:extLst>
                </a:gridCol>
              </a:tblGrid>
              <a:tr h="277412">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9203">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66724">
                <a:tc>
                  <a:txBody>
                    <a:bodyPr/>
                    <a:lstStyle/>
                    <a:p>
                      <a:pPr algn="just">
                        <a:lnSpc>
                          <a:spcPct val="85000"/>
                        </a:lnSpc>
                      </a:pPr>
                      <a:r>
                        <a:rPr lang="uz-Cyrl-UZ" sz="900" b="0" noProof="0" dirty="0">
                          <a:solidFill>
                            <a:schemeClr val="tx1"/>
                          </a:solidFill>
                          <a:latin typeface="+mn-lt"/>
                        </a:rPr>
                        <a:t>    2009 йили “Ўзбекистон Республикаси халқ артисти” фахрий унвони билан мукофотланган.</a:t>
                      </a:r>
                    </a:p>
                    <a:p>
                      <a:pPr algn="just">
                        <a:lnSpc>
                          <a:spcPct val="85000"/>
                        </a:lnSpc>
                      </a:pPr>
                      <a:r>
                        <a:rPr lang="uz-Cyrl-UZ" sz="900" b="0" noProof="0" dirty="0" smtClean="0">
                          <a:solidFill>
                            <a:schemeClr val="tx1"/>
                          </a:solidFill>
                          <a:latin typeface="+mn-lt"/>
                        </a:rPr>
                        <a:t>    1982 </a:t>
                      </a:r>
                      <a:r>
                        <a:rPr lang="uz-Cyrl-UZ" sz="900" b="0" noProof="0" dirty="0">
                          <a:solidFill>
                            <a:schemeClr val="tx1"/>
                          </a:solidFill>
                          <a:latin typeface="+mn-lt"/>
                        </a:rPr>
                        <a:t>йилдан буён ушбу театрда ишлайди. М.Бекжонова ўз ижодий фаолияти давомида театрда саҳналаштирилган 50 дан ортиқ спектаклларда бош қаҳрамонлар роллари ва  характерли образларни юксак маҳорат билан ижро этиб, репертуарни бойитиб келмоқда. Жумладан, “Лайли ва Мажнун”да Лайли, “Фарҳод ва Ширин”да Ширин, “Гул ва Нарўз”да Гул, “Жон қизлар” спектаклида Ойсулув, “Тоҳир ва Зуҳра”да Зуҳра, “Паранжи сирлари”да Холисхон, “Топталган туйғу” Маъсума, “Прометей”да Эо,  “Тошкентнинг нозанин маликаси” да Хайри, “Муҳаббат навоси” да Омонисо, “Ойонам-қайнонам” да Маръям, “Антиқа совчилар”да Маръям, “Меҳр нури” да Саодат  каби образлари мутахассислар томонидан юқори баҳоланган. Айниқса, унинг “Меҳр нури” спектаклида яратган Саодат образи ўзининг ички кечинмаларга бойлиги, ўзбек аёли тимсолида кўпчиликка маъқул бўлди.</a:t>
                      </a:r>
                    </a:p>
                    <a:p>
                      <a:pPr algn="just">
                        <a:lnSpc>
                          <a:spcPct val="85000"/>
                        </a:lnSpc>
                      </a:pPr>
                      <a:r>
                        <a:rPr lang="uz-Cyrl-UZ" sz="900" b="0" noProof="0" dirty="0" smtClean="0">
                          <a:solidFill>
                            <a:schemeClr val="tx1"/>
                          </a:solidFill>
                          <a:latin typeface="+mn-lt"/>
                        </a:rPr>
                        <a:t>   Шунингдек</a:t>
                      </a:r>
                      <a:r>
                        <a:rPr lang="uz-Cyrl-UZ" sz="900" b="0" noProof="0" dirty="0">
                          <a:solidFill>
                            <a:schemeClr val="tx1"/>
                          </a:solidFill>
                          <a:latin typeface="+mn-lt"/>
                        </a:rPr>
                        <a:t>, телевидениенинг турли каналларида элга манзур бўлган фильм ва телесериалларда ўнлаб ролларда суратга тушиб,  ўз маҳоратини кўрсата олган, ҳали ҳануз ўз устида муттасил ишлаб келаётган актрисадир.</a:t>
                      </a:r>
                    </a:p>
                    <a:p>
                      <a:pPr algn="just">
                        <a:lnSpc>
                          <a:spcPct val="85000"/>
                        </a:lnSpc>
                      </a:pPr>
                      <a:r>
                        <a:rPr lang="uz-Cyrl-UZ" sz="900" b="0" noProof="0" dirty="0" smtClean="0">
                          <a:solidFill>
                            <a:schemeClr val="tx1"/>
                          </a:solidFill>
                          <a:latin typeface="+mn-lt"/>
                        </a:rPr>
                        <a:t>    Юртимизда </a:t>
                      </a:r>
                      <a:r>
                        <a:rPr lang="uz-Cyrl-UZ" sz="900" b="0" noProof="0" dirty="0">
                          <a:solidFill>
                            <a:schemeClr val="tx1"/>
                          </a:solidFill>
                          <a:latin typeface="+mn-lt"/>
                        </a:rPr>
                        <a:t>кенг нишонланадиган Мустақиллик ва “Наврўз” умумхалқ байрамлари ва турли оммавий-маданий тадбирларнинг фаол </a:t>
                      </a:r>
                      <a:r>
                        <a:rPr lang="uz-Cyrl-UZ" sz="900" b="0" noProof="0" dirty="0" smtClean="0">
                          <a:solidFill>
                            <a:schemeClr val="tx1"/>
                          </a:solidFill>
                          <a:latin typeface="+mn-lt"/>
                        </a:rPr>
                        <a:t>иштирокчиси.</a:t>
                      </a:r>
                    </a:p>
                    <a:p>
                      <a:pPr algn="just">
                        <a:lnSpc>
                          <a:spcPct val="85000"/>
                        </a:lnSpc>
                      </a:pPr>
                      <a:r>
                        <a:rPr lang="uz-Cyrl-UZ" sz="900" b="0" baseline="0" noProof="0" dirty="0" smtClean="0">
                          <a:solidFill>
                            <a:schemeClr val="tx1"/>
                          </a:solidFill>
                          <a:latin typeface="+mn-lt"/>
                        </a:rPr>
                        <a:t>    </a:t>
                      </a:r>
                      <a:r>
                        <a:rPr lang="uz-Cyrl-UZ" sz="900" b="0" noProof="0" dirty="0" smtClean="0">
                          <a:solidFill>
                            <a:schemeClr val="tx1"/>
                          </a:solidFill>
                          <a:latin typeface="+mn-lt"/>
                        </a:rPr>
                        <a:t>Шунингдек</a:t>
                      </a:r>
                      <a:r>
                        <a:rPr lang="uz-Cyrl-UZ" sz="900" b="0" noProof="0" dirty="0">
                          <a:solidFill>
                            <a:schemeClr val="tx1"/>
                          </a:solidFill>
                          <a:latin typeface="+mn-lt"/>
                        </a:rPr>
                        <a:t>, республикамизнинг олис минтақаларида бўладиган учрашув ва байрамларда муттасил қатнашиб келади</a:t>
                      </a:r>
                      <a:r>
                        <a:rPr lang="uz-Cyrl-UZ" sz="900" b="0" noProof="0" dirty="0" smtClean="0">
                          <a:solidFill>
                            <a:schemeClr val="tx1"/>
                          </a:solidFill>
                          <a:latin typeface="+mn-lt"/>
                        </a:rPr>
                        <a:t>.</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2352">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14957">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a:extLst>
              <a:ext uri="{FF2B5EF4-FFF2-40B4-BE49-F238E27FC236}">
                <a16:creationId xmlns:a16="http://schemas.microsoft.com/office/drawing/2014/main" id="{C6A373AF-FB2D-3077-E71B-145645578964}"/>
              </a:ext>
            </a:extLst>
          </p:cNvPr>
          <p:cNvPicPr>
            <a:picLocks noChangeAspect="1"/>
          </p:cNvPicPr>
          <p:nvPr/>
        </p:nvPicPr>
        <p:blipFill>
          <a:blip r:embed="rId2"/>
          <a:stretch>
            <a:fillRect/>
          </a:stretch>
        </p:blipFill>
        <p:spPr>
          <a:xfrm>
            <a:off x="257695" y="1114372"/>
            <a:ext cx="848763" cy="1054322"/>
          </a:xfrm>
          <a:prstGeom prst="rect">
            <a:avLst/>
          </a:prstGeom>
        </p:spPr>
      </p:pic>
    </p:spTree>
    <p:extLst>
      <p:ext uri="{BB962C8B-B14F-4D97-AF65-F5344CB8AC3E}">
        <p14:creationId xmlns:p14="http://schemas.microsoft.com/office/powerpoint/2010/main" val="4051702172"/>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316180736"/>
              </p:ext>
            </p:extLst>
          </p:nvPr>
        </p:nvGraphicFramePr>
        <p:xfrm>
          <a:off x="144489" y="865703"/>
          <a:ext cx="3427547" cy="5863228"/>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35260">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3919">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МУЛЛАХАНОВ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391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Азим</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391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Азизович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3919">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391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20.02.1960</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391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3253">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613475">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3 нафар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Муқимий номидаги Ўзбекистон давлат академик мусиқали театири директори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3253">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76495">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1" kern="1200" noProof="0" dirty="0">
                          <a:solidFill>
                            <a:schemeClr val="tx1"/>
                          </a:solidFill>
                          <a:latin typeface="+mn-lt"/>
                          <a:ea typeface="+mn-ea"/>
                          <a:cs typeface="Arial" panose="020B0604020202020204" pitchFamily="34" charset="0"/>
                        </a:rPr>
                        <a:t>Муллаханов Азиз Абдуворисович</a:t>
                      </a:r>
                    </a:p>
                    <a:p>
                      <a:pPr algn="l">
                        <a:lnSpc>
                          <a:spcPct val="85000"/>
                        </a:lnSpc>
                      </a:pPr>
                      <a:r>
                        <a:rPr lang="uz-Cyrl-UZ" sz="800" b="0" kern="1200" noProof="0" dirty="0">
                          <a:solidFill>
                            <a:schemeClr val="tx1"/>
                          </a:solidFill>
                          <a:latin typeface="+mn-lt"/>
                          <a:ea typeface="+mn-ea"/>
                          <a:cs typeface="Arial" panose="020B0604020202020204" pitchFamily="34" charset="0"/>
                        </a:rPr>
                        <a:t>1921 йил, Тожикистон Республикаси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1999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ru-RU" sz="800" b="0" kern="1200" noProof="0" dirty="0" err="1">
                          <a:solidFill>
                            <a:schemeClr val="tx1"/>
                          </a:solidFill>
                          <a:latin typeface="+mn-lt"/>
                          <a:ea typeface="+mn-ea"/>
                          <a:cs typeface="Arial" panose="020B0604020202020204" pitchFamily="34" charset="0"/>
                        </a:rPr>
                        <a:t>Ўзбекистон</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давлат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филармонияси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созандаси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82339">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1" kern="1200" noProof="0" dirty="0">
                          <a:solidFill>
                            <a:schemeClr val="tx1"/>
                          </a:solidFill>
                          <a:latin typeface="+mn-lt"/>
                          <a:ea typeface="+mn-ea"/>
                          <a:cs typeface="Arial" panose="020B0604020202020204" pitchFamily="34" charset="0"/>
                        </a:rPr>
                        <a:t>Рахматова Фароғат Рахматовна</a:t>
                      </a:r>
                    </a:p>
                    <a:p>
                      <a:pPr algn="l">
                        <a:lnSpc>
                          <a:spcPct val="85000"/>
                        </a:lnSpc>
                      </a:pPr>
                      <a:r>
                        <a:rPr lang="uz-Cyrl-UZ" sz="800" b="0" kern="1200" noProof="0" dirty="0">
                          <a:solidFill>
                            <a:schemeClr val="tx1"/>
                          </a:solidFill>
                          <a:latin typeface="+mn-lt"/>
                          <a:ea typeface="+mn-ea"/>
                          <a:cs typeface="Arial" panose="020B0604020202020204" pitchFamily="34" charset="0"/>
                        </a:rPr>
                        <a:t>1926 йил, Қашқадарё вилояти, Қарши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2014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ru-RU" sz="800" b="0" kern="1200" noProof="0" dirty="0" err="1">
                          <a:solidFill>
                            <a:schemeClr val="tx1"/>
                          </a:solidFill>
                          <a:latin typeface="+mn-lt"/>
                          <a:ea typeface="+mn-ea"/>
                          <a:cs typeface="Arial" panose="020B0604020202020204" pitchFamily="34" charset="0"/>
                        </a:rPr>
                        <a:t>Ўзбекистон</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Халқ</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артисти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Муқимий</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театри</a:t>
                      </a:r>
                      <a:r>
                        <a:rPr lang="ru-RU" sz="800" b="0" kern="1200" noProof="0" dirty="0">
                          <a:solidFill>
                            <a:schemeClr val="tx1"/>
                          </a:solidFill>
                          <a:latin typeface="+mn-lt"/>
                          <a:ea typeface="+mn-ea"/>
                          <a:cs typeface="Arial" panose="020B0604020202020204" pitchFamily="34" charset="0"/>
                        </a:rPr>
                        <a:t> солист-</a:t>
                      </a:r>
                      <a:r>
                        <a:rPr lang="ru-RU" sz="800" b="0" kern="1200" noProof="0" dirty="0" err="1">
                          <a:solidFill>
                            <a:schemeClr val="tx1"/>
                          </a:solidFill>
                          <a:latin typeface="+mn-lt"/>
                          <a:ea typeface="+mn-ea"/>
                          <a:cs typeface="Arial" panose="020B0604020202020204" pitchFamily="34" charset="0"/>
                        </a:rPr>
                        <a:t>вокалисти</a:t>
                      </a:r>
                      <a:r>
                        <a:rPr lang="ru-RU" sz="800" b="0" kern="1200" noProof="0" dirty="0">
                          <a:solidFill>
                            <a:schemeClr val="tx1"/>
                          </a:solidFill>
                          <a:latin typeface="+mn-lt"/>
                          <a:ea typeface="+mn-ea"/>
                          <a:cs typeface="Arial" panose="020B0604020202020204" pitchFamily="34" charset="0"/>
                        </a:rPr>
                        <a:t>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380281">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1" kern="1200" noProof="0" dirty="0">
                          <a:solidFill>
                            <a:schemeClr val="tx1"/>
                          </a:solidFill>
                          <a:latin typeface="+mn-lt"/>
                          <a:ea typeface="+mn-ea"/>
                          <a:cs typeface="Arial" panose="020B0604020202020204" pitchFamily="34" charset="0"/>
                        </a:rPr>
                        <a:t>Муллаханова Матлюба Ганнибаевна</a:t>
                      </a:r>
                    </a:p>
                    <a:p>
                      <a:pPr algn="l">
                        <a:lnSpc>
                          <a:spcPct val="85000"/>
                        </a:lnSpc>
                      </a:pPr>
                      <a:r>
                        <a:rPr lang="uz-Cyrl-UZ" sz="800" b="0" kern="1200" noProof="0" dirty="0">
                          <a:solidFill>
                            <a:schemeClr val="tx1"/>
                          </a:solidFill>
                          <a:latin typeface="+mn-lt"/>
                          <a:ea typeface="+mn-ea"/>
                          <a:cs typeface="Arial" panose="020B0604020202020204" pitchFamily="34" charset="0"/>
                        </a:rPr>
                        <a:t>1957 йил, Янгийўл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Arial" panose="020B0604020202020204" pitchFamily="34" charset="0"/>
                        </a:rPr>
                        <a:t>Уй бекаси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81479">
                <a:tc gridSpan="5">
                  <a:txBody>
                    <a:bodyPr/>
                    <a:lstStyle/>
                    <a:p>
                      <a:pPr algn="ctr">
                        <a:lnSpc>
                          <a:spcPct val="85000"/>
                        </a:lnSpc>
                      </a:pPr>
                      <a:r>
                        <a:rPr lang="uz-Cyrl-UZ" sz="8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45510">
                <a:tc gridSpan="3">
                  <a:txBody>
                    <a:bodyPr/>
                    <a:lstStyle/>
                    <a:p>
                      <a:pPr algn="l">
                        <a:lnSpc>
                          <a:spcPct val="85000"/>
                        </a:lnSpc>
                      </a:pPr>
                      <a:r>
                        <a:rPr lang="uz-Cyrl-UZ" sz="800" b="1" noProof="0" dirty="0">
                          <a:latin typeface="+mn-lt"/>
                        </a:rPr>
                        <a:t>Тамомлаган ОТМ:</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a:solidFill>
                            <a:schemeClr val="tx1"/>
                          </a:solidFill>
                          <a:latin typeface="+mn-lt"/>
                          <a:ea typeface="+mn-ea"/>
                          <a:cs typeface="+mn-cs"/>
                        </a:rPr>
                        <a:t>2005 й. </a:t>
                      </a:r>
                      <a:r>
                        <a:rPr lang="ru-RU" sz="800" b="0" kern="1200" noProof="0" dirty="0" err="1">
                          <a:solidFill>
                            <a:schemeClr val="tx1"/>
                          </a:solidFill>
                          <a:latin typeface="+mn-lt"/>
                          <a:ea typeface="+mn-ea"/>
                          <a:cs typeface="+mn-cs"/>
                        </a:rPr>
                        <a:t>Тошкент</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давлат</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санъат</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институти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кундузги</a:t>
                      </a:r>
                      <a:r>
                        <a:rPr lang="ru-RU" sz="8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3981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800" b="1" noProof="0" dirty="0">
                          <a:latin typeface="+mn-lt"/>
                        </a:rPr>
                        <a:t>Мутахассислиги:</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режиссёр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73744">
                <a:tc gridSpan="3">
                  <a:txBody>
                    <a:bodyPr/>
                    <a:lstStyle/>
                    <a:p>
                      <a:pPr algn="l">
                        <a:lnSpc>
                          <a:spcPct val="85000"/>
                        </a:lnSpc>
                      </a:pPr>
                      <a:r>
                        <a:rPr lang="uz-Cyrl-UZ" sz="800" b="1" kern="1200" noProof="0" dirty="0">
                          <a:solidFill>
                            <a:schemeClr val="tx1"/>
                          </a:solidFill>
                          <a:latin typeface="+mn-lt"/>
                          <a:ea typeface="+mn-ea"/>
                          <a:cs typeface="+mn-cs"/>
                        </a:rPr>
                        <a:t>Илмий даража</a:t>
                      </a:r>
                      <a:r>
                        <a:rPr lang="en-US" sz="800" b="1" kern="1200" noProof="0" dirty="0">
                          <a:solidFill>
                            <a:schemeClr val="tx1"/>
                          </a:solidFill>
                          <a:latin typeface="+mn-lt"/>
                          <a:ea typeface="+mn-ea"/>
                          <a:cs typeface="+mn-cs"/>
                        </a:rPr>
                        <a:t> (</a:t>
                      </a:r>
                      <a:r>
                        <a:rPr lang="uz-Cyrl-UZ" sz="800" b="1" kern="1200" noProof="0" dirty="0">
                          <a:solidFill>
                            <a:schemeClr val="tx1"/>
                          </a:solidFill>
                          <a:latin typeface="+mn-lt"/>
                          <a:ea typeface="+mn-ea"/>
                          <a:cs typeface="+mn-cs"/>
                        </a:rPr>
                        <a:t>унвон</a:t>
                      </a:r>
                      <a:r>
                        <a:rPr lang="en-US" sz="800" b="1" kern="1200" noProof="0" dirty="0">
                          <a:solidFill>
                            <a:schemeClr val="tx1"/>
                          </a:solidFill>
                          <a:latin typeface="+mn-lt"/>
                          <a:ea typeface="+mn-ea"/>
                          <a:cs typeface="+mn-cs"/>
                        </a:rPr>
                        <a:t>)</a:t>
                      </a:r>
                      <a:r>
                        <a:rPr lang="uz-Cyrl-UZ" sz="8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Йўқ</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73744">
                <a:tc gridSpan="3">
                  <a:txBody>
                    <a:bodyPr/>
                    <a:lstStyle/>
                    <a:p>
                      <a:pPr algn="l">
                        <a:lnSpc>
                          <a:spcPct val="85000"/>
                        </a:lnSpc>
                      </a:pPr>
                      <a:r>
                        <a:rPr lang="uz-Cyrl-UZ" sz="8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Рус тили</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79061">
                <a:tc gridSpan="3">
                  <a:txBody>
                    <a:bodyPr/>
                    <a:lstStyle/>
                    <a:p>
                      <a:pPr algn="l">
                        <a:lnSpc>
                          <a:spcPct val="85000"/>
                        </a:lnSpc>
                      </a:pPr>
                      <a:r>
                        <a:rPr lang="uz-Cyrl-UZ" sz="8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err="1">
                          <a:solidFill>
                            <a:schemeClr val="tx1"/>
                          </a:solidFill>
                          <a:latin typeface="+mn-lt"/>
                          <a:ea typeface="+mn-ea"/>
                          <a:cs typeface="+mn-cs"/>
                        </a:rPr>
                        <a:t>Йўқ</a:t>
                      </a:r>
                      <a:endParaRPr lang="ru-RU"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854559460"/>
              </p:ext>
            </p:extLst>
          </p:nvPr>
        </p:nvGraphicFramePr>
        <p:xfrm>
          <a:off x="3674526" y="865689"/>
          <a:ext cx="3172841" cy="5859643"/>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18671">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77905">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800" b="1" kern="1200" noProof="0" dirty="0">
                          <a:solidFill>
                            <a:schemeClr val="tx1"/>
                          </a:solidFill>
                          <a:latin typeface="+mn-lt"/>
                          <a:ea typeface="+mn-ea"/>
                          <a:cs typeface="+mn-cs"/>
                        </a:rPr>
                        <a:t>2023 йилдан Муқимий номидаги Ўзбекистон давлат академик мусиқали театри директори</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7784">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800" b="0" kern="1200" noProof="0" dirty="0">
                          <a:solidFill>
                            <a:schemeClr val="tx1"/>
                          </a:solidFill>
                          <a:latin typeface="+mn-lt"/>
                          <a:ea typeface="+mn-ea"/>
                          <a:cs typeface="+mn-cs"/>
                        </a:rPr>
                        <a:t>Й</a:t>
                      </a:r>
                      <a:r>
                        <a:rPr lang="ru-RU" sz="800" b="0" kern="1200" noProof="0" dirty="0" err="1">
                          <a:solidFill>
                            <a:schemeClr val="tx1"/>
                          </a:solidFill>
                          <a:latin typeface="+mn-lt"/>
                          <a:ea typeface="+mn-ea"/>
                          <a:cs typeface="+mn-cs"/>
                        </a:rPr>
                        <a:t>ўқ</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469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51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063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9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4852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800" kern="1200" dirty="0">
                          <a:solidFill>
                            <a:schemeClr val="tx1"/>
                          </a:solidFill>
                          <a:effectLst/>
                          <a:latin typeface="+mn-lt"/>
                          <a:ea typeface="+mn-ea"/>
                          <a:cs typeface="Times New Roman" panose="02020603050405020304" pitchFamily="18" charset="0"/>
                        </a:rPr>
                        <a:t>1992-1998 йй. - Ўзбекистон давлат эстрада бирлашмаси “Нола” вокал-чолғу ансамбли раҳбари</a:t>
                      </a:r>
                    </a:p>
                    <a:p>
                      <a:r>
                        <a:rPr lang="uz-Cyrl-UZ" sz="800" kern="1200" dirty="0">
                          <a:solidFill>
                            <a:schemeClr val="tx1"/>
                          </a:solidFill>
                          <a:effectLst/>
                          <a:latin typeface="+mn-lt"/>
                          <a:ea typeface="+mn-ea"/>
                          <a:cs typeface="Times New Roman" panose="02020603050405020304" pitchFamily="18" charset="0"/>
                        </a:rPr>
                        <a:t>2022 й.х.в.қ. Муқимий номидаги Ўзбекистон давлат академик мусиқали театри директори</a:t>
                      </a:r>
                      <a:endParaRPr lang="ru-RU" sz="800"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37724">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8138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8089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50849">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0544">
                <a:tc gridSpan="2">
                  <a:txBody>
                    <a:bodyPr/>
                    <a:lstStyle/>
                    <a:p>
                      <a:pPr algn="ctr"/>
                      <a:r>
                        <a:rPr lang="uz-Cyrl-UZ" sz="8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378039">
                <a:tc gridSpan="2">
                  <a:txBody>
                    <a:bodyPr/>
                    <a:lstStyle/>
                    <a:p>
                      <a:pPr marL="0" defTabSz="914400" rtl="0" eaLnBrk="1" latinLnBrk="0" hangingPunct="1"/>
                      <a:r>
                        <a:rPr lang="uz-Cyrl-UZ" sz="900" kern="1200" dirty="0">
                          <a:solidFill>
                            <a:schemeClr val="tx1"/>
                          </a:solidFill>
                          <a:effectLst/>
                          <a:latin typeface="+mn-lt"/>
                          <a:ea typeface="+mn-ea"/>
                          <a:cs typeface="Times New Roman" panose="02020603050405020304" pitchFamily="18" charset="0"/>
                        </a:rPr>
                        <a:t>1994 й. “Қозоғистон Республикасида хизмат кўрсатган артист”</a:t>
                      </a:r>
                      <a:endParaRPr lang="ru-RU" sz="900" kern="1200" dirty="0">
                        <a:solidFill>
                          <a:schemeClr val="tx1"/>
                        </a:solidFill>
                        <a:effectLst/>
                        <a:latin typeface="+mn-lt"/>
                        <a:ea typeface="+mn-ea"/>
                        <a:cs typeface="Times New Roman" panose="02020603050405020304" pitchFamily="18" charset="0"/>
                      </a:endParaRPr>
                    </a:p>
                    <a:p>
                      <a:pPr marL="0" defTabSz="914400" rtl="0" eaLnBrk="1" latinLnBrk="0" hangingPunct="1"/>
                      <a:r>
                        <a:rPr lang="uz-Cyrl-UZ" sz="900" kern="1200" dirty="0">
                          <a:solidFill>
                            <a:schemeClr val="tx1"/>
                          </a:solidFill>
                          <a:effectLst/>
                          <a:latin typeface="+mn-lt"/>
                          <a:ea typeface="+mn-ea"/>
                          <a:cs typeface="Times New Roman" panose="02020603050405020304" pitchFamily="18" charset="0"/>
                        </a:rPr>
                        <a:t>1998 й. “Ўзбекистон Республикасида хизмат кўрсатган артист” фахрий </a:t>
                      </a:r>
                      <a:r>
                        <a:rPr lang="uz-Cyrl-UZ" sz="900" kern="1200" dirty="0" smtClean="0">
                          <a:solidFill>
                            <a:schemeClr val="tx1"/>
                          </a:solidFill>
                          <a:effectLst/>
                          <a:latin typeface="+mn-lt"/>
                          <a:ea typeface="+mn-ea"/>
                          <a:cs typeface="Times New Roman" panose="02020603050405020304" pitchFamily="18" charset="0"/>
                        </a:rPr>
                        <a:t>унвони</a:t>
                      </a:r>
                      <a:endParaRPr lang="en-US" sz="900" kern="1200" dirty="0" smtClean="0">
                        <a:solidFill>
                          <a:schemeClr val="tx1"/>
                        </a:solidFill>
                        <a:effectLst/>
                        <a:latin typeface="+mn-lt"/>
                        <a:ea typeface="+mn-ea"/>
                        <a:cs typeface="Times New Roman" panose="02020603050405020304" pitchFamily="18" charset="0"/>
                      </a:endParaRPr>
                    </a:p>
                    <a:p>
                      <a:pPr marL="0" defTabSz="914400" rtl="0" eaLnBrk="1" latinLnBrk="0" hangingPunct="1"/>
                      <a:r>
                        <a:rPr lang="uz-Cyrl-UZ" sz="900" kern="1200" dirty="0" smtClean="0">
                          <a:solidFill>
                            <a:schemeClr val="tx1"/>
                          </a:solidFill>
                          <a:effectLst/>
                          <a:latin typeface="+mn-lt"/>
                          <a:ea typeface="+mn-ea"/>
                          <a:cs typeface="Times New Roman" panose="02020603050405020304" pitchFamily="18" charset="0"/>
                        </a:rPr>
                        <a:t>1978-1980 </a:t>
                      </a:r>
                      <a:r>
                        <a:rPr lang="uz-Cyrl-UZ" sz="900" kern="1200" dirty="0">
                          <a:solidFill>
                            <a:schemeClr val="tx1"/>
                          </a:solidFill>
                          <a:effectLst/>
                          <a:latin typeface="+mn-lt"/>
                          <a:ea typeface="+mn-ea"/>
                          <a:cs typeface="Times New Roman" panose="02020603050405020304" pitchFamily="18" charset="0"/>
                        </a:rPr>
                        <a:t>йй. - Муқимий номидаги ўзбек давлат мусиқали театри 2-категорияли оркестр </a:t>
                      </a:r>
                      <a:r>
                        <a:rPr lang="uz-Cyrl-UZ" sz="900" kern="1200" dirty="0" smtClean="0">
                          <a:solidFill>
                            <a:schemeClr val="tx1"/>
                          </a:solidFill>
                          <a:effectLst/>
                          <a:latin typeface="+mn-lt"/>
                          <a:ea typeface="+mn-ea"/>
                          <a:cs typeface="Times New Roman" panose="02020603050405020304" pitchFamily="18" charset="0"/>
                        </a:rPr>
                        <a:t>созандаси</a:t>
                      </a:r>
                      <a:endParaRPr lang="en-US" sz="900" kern="1200" dirty="0" smtClean="0">
                        <a:solidFill>
                          <a:schemeClr val="tx1"/>
                        </a:solidFill>
                        <a:effectLst/>
                        <a:latin typeface="+mn-lt"/>
                        <a:ea typeface="+mn-ea"/>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kern="1200" dirty="0" smtClean="0">
                          <a:solidFill>
                            <a:schemeClr val="tx1"/>
                          </a:solidFill>
                          <a:effectLst/>
                          <a:latin typeface="+mn-lt"/>
                          <a:ea typeface="+mn-ea"/>
                          <a:cs typeface="Times New Roman" panose="02020603050405020304" pitchFamily="18" charset="0"/>
                        </a:rPr>
                        <a:t>1983-1990 </a:t>
                      </a:r>
                      <a:r>
                        <a:rPr lang="uz-Cyrl-UZ" sz="900" kern="1200" dirty="0">
                          <a:solidFill>
                            <a:schemeClr val="tx1"/>
                          </a:solidFill>
                          <a:effectLst/>
                          <a:latin typeface="+mn-lt"/>
                          <a:ea typeface="+mn-ea"/>
                          <a:cs typeface="Times New Roman" panose="02020603050405020304" pitchFamily="18" charset="0"/>
                        </a:rPr>
                        <a:t>йй. -  Муқимий номидаги ўзбек давлат мусиқали театри 2-категорияли оркестр созандаси</a:t>
                      </a:r>
                      <a:endParaRPr lang="ru-RU" sz="900" kern="1200" dirty="0">
                        <a:solidFill>
                          <a:schemeClr val="tx1"/>
                        </a:solidFill>
                        <a:effectLst/>
                        <a:latin typeface="+mn-lt"/>
                        <a:ea typeface="+mn-ea"/>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kern="1200" dirty="0">
                          <a:solidFill>
                            <a:schemeClr val="tx1"/>
                          </a:solidFill>
                          <a:effectLst/>
                          <a:latin typeface="+mn-lt"/>
                          <a:ea typeface="+mn-ea"/>
                          <a:cs typeface="Times New Roman" panose="02020603050405020304" pitchFamily="18" charset="0"/>
                        </a:rPr>
                        <a:t>1992-1998 йй. - Ўзбекистон давлат эстрада бирлашмаси “Нола” вокал-чолғу ансамбли раҳбари</a:t>
                      </a:r>
                      <a:endParaRPr lang="ru-RU" sz="900" kern="1200" dirty="0">
                        <a:solidFill>
                          <a:schemeClr val="tx1"/>
                        </a:solidFill>
                        <a:effectLst/>
                        <a:latin typeface="+mn-lt"/>
                        <a:ea typeface="+mn-ea"/>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kern="1200" dirty="0">
                          <a:solidFill>
                            <a:schemeClr val="tx1"/>
                          </a:solidFill>
                          <a:effectLst/>
                          <a:latin typeface="+mn-lt"/>
                          <a:ea typeface="+mn-ea"/>
                          <a:cs typeface="Times New Roman" panose="02020603050405020304" pitchFamily="18" charset="0"/>
                        </a:rPr>
                        <a:t>1998-2008 йй. - Ўзбекистон Республикаси Ички ишлар вазирли қошидаги “Турон юлдузлари” ансамбли солисти</a:t>
                      </a:r>
                      <a:endParaRPr lang="ru-RU" sz="900" kern="1200" dirty="0">
                        <a:solidFill>
                          <a:schemeClr val="tx1"/>
                        </a:solidFill>
                        <a:effectLst/>
                        <a:latin typeface="+mn-lt"/>
                        <a:ea typeface="+mn-ea"/>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kern="1200" dirty="0">
                          <a:solidFill>
                            <a:schemeClr val="tx1"/>
                          </a:solidFill>
                          <a:effectLst/>
                          <a:latin typeface="+mn-lt"/>
                          <a:ea typeface="+mn-ea"/>
                          <a:cs typeface="Times New Roman" panose="02020603050405020304" pitchFamily="18" charset="0"/>
                        </a:rPr>
                        <a:t>2001-2005 йй. - </a:t>
                      </a:r>
                      <a:r>
                        <a:rPr lang="ru-RU" sz="900" kern="1200" dirty="0" err="1">
                          <a:solidFill>
                            <a:schemeClr val="tx1"/>
                          </a:solidFill>
                          <a:effectLst/>
                          <a:latin typeface="+mn-lt"/>
                          <a:ea typeface="+mn-ea"/>
                          <a:cs typeface="Times New Roman" panose="02020603050405020304" pitchFamily="18" charset="0"/>
                        </a:rPr>
                        <a:t>Тошкент</a:t>
                      </a:r>
                      <a:r>
                        <a:rPr lang="ru-RU"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д</a:t>
                      </a:r>
                      <a:r>
                        <a:rPr lang="ru-RU" sz="900" kern="1200" dirty="0" err="1">
                          <a:solidFill>
                            <a:schemeClr val="tx1"/>
                          </a:solidFill>
                          <a:effectLst/>
                          <a:latin typeface="+mn-lt"/>
                          <a:ea typeface="+mn-ea"/>
                          <a:cs typeface="Times New Roman" panose="02020603050405020304" pitchFamily="18" charset="0"/>
                        </a:rPr>
                        <a:t>авлат</a:t>
                      </a:r>
                      <a:r>
                        <a:rPr lang="ru-RU"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санъат институти талабаси</a:t>
                      </a:r>
                      <a:endParaRPr lang="ru-RU" sz="900" kern="1200" dirty="0">
                        <a:solidFill>
                          <a:schemeClr val="tx1"/>
                        </a:solidFill>
                        <a:effectLst/>
                        <a:latin typeface="+mn-lt"/>
                        <a:ea typeface="+mn-ea"/>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kern="1200" dirty="0">
                          <a:solidFill>
                            <a:schemeClr val="tx1"/>
                          </a:solidFill>
                          <a:effectLst/>
                          <a:latin typeface="+mn-lt"/>
                          <a:ea typeface="+mn-ea"/>
                          <a:cs typeface="Times New Roman" panose="02020603050405020304" pitchFamily="18" charset="0"/>
                        </a:rPr>
                        <a:t>2008-2017 йй. - “Ўзбекнаво” эстрада бирлашмаси хонандаси</a:t>
                      </a:r>
                      <a:endParaRPr lang="ru-RU" sz="900" kern="1200" dirty="0">
                        <a:solidFill>
                          <a:schemeClr val="tx1"/>
                        </a:solidFill>
                        <a:effectLst/>
                        <a:latin typeface="+mn-lt"/>
                        <a:ea typeface="+mn-ea"/>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kern="1200" dirty="0">
                          <a:solidFill>
                            <a:schemeClr val="tx1"/>
                          </a:solidFill>
                          <a:effectLst/>
                          <a:latin typeface="+mn-lt"/>
                          <a:ea typeface="+mn-ea"/>
                          <a:cs typeface="Times New Roman" panose="02020603050405020304" pitchFamily="18" charset="0"/>
                        </a:rPr>
                        <a:t>2017 й.  -  ҳ.в. - “Ўзбекконцерт” давлат муассасаси хонандаси</a:t>
                      </a:r>
                      <a:endParaRPr lang="ru-RU" sz="900" kern="1200" dirty="0">
                        <a:solidFill>
                          <a:schemeClr val="tx1"/>
                        </a:solidFill>
                        <a:effectLst/>
                        <a:latin typeface="+mn-lt"/>
                        <a:ea typeface="+mn-ea"/>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kern="1200" dirty="0">
                          <a:solidFill>
                            <a:schemeClr val="tx1"/>
                          </a:solidFill>
                          <a:effectLst/>
                          <a:latin typeface="+mn-lt"/>
                          <a:ea typeface="+mn-ea"/>
                          <a:cs typeface="Times New Roman" panose="02020603050405020304" pitchFamily="18" charset="0"/>
                        </a:rPr>
                        <a:t>2022 й.х.в.қ. Муқимий номидаги Ўзбекистон давлат мусиқали театри директори</a:t>
                      </a:r>
                      <a:endParaRPr lang="ru-RU" sz="900"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390613757"/>
              </p:ext>
            </p:extLst>
          </p:nvPr>
        </p:nvGraphicFramePr>
        <p:xfrm>
          <a:off x="6949857" y="869286"/>
          <a:ext cx="2817247" cy="5827644"/>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algn="just">
                        <a:lnSpc>
                          <a:spcPct val="85000"/>
                        </a:lnSpc>
                      </a:pPr>
                      <a:r>
                        <a:rPr lang="en-US" sz="900" b="0" baseline="0" noProof="0" dirty="0" smtClean="0">
                          <a:solidFill>
                            <a:schemeClr val="tx1"/>
                          </a:solidFill>
                          <a:latin typeface="+mn-lt"/>
                        </a:rPr>
                        <a:t>    </a:t>
                      </a:r>
                      <a:r>
                        <a:rPr lang="uz-Cyrl-UZ" sz="900" b="0" noProof="0" dirty="0" smtClean="0">
                          <a:solidFill>
                            <a:schemeClr val="tx1"/>
                          </a:solidFill>
                          <a:latin typeface="+mn-lt"/>
                        </a:rPr>
                        <a:t>Ўзбекистон ва Қозоғистонда хизмат кўрсатган артист.</a:t>
                      </a:r>
                    </a:p>
                    <a:p>
                      <a:pPr algn="just">
                        <a:lnSpc>
                          <a:spcPct val="85000"/>
                        </a:lnSpc>
                      </a:pPr>
                      <a:r>
                        <a:rPr lang="uz-Cyrl-UZ" sz="900" b="0" noProof="0" dirty="0" smtClean="0">
                          <a:solidFill>
                            <a:schemeClr val="tx1"/>
                          </a:solidFill>
                          <a:latin typeface="+mn-lt"/>
                        </a:rPr>
                        <a:t>Азим Муллахонов 1960-йил 17-феврал куни Тошкент шаҳрида туғилган. 2005-йилда Тошкент давлат сан’ат институтини тамомлаган.</a:t>
                      </a:r>
                    </a:p>
                    <a:p>
                      <a:pPr algn="just">
                        <a:lnSpc>
                          <a:spcPct val="85000"/>
                        </a:lnSpc>
                      </a:pPr>
                      <a:r>
                        <a:rPr lang="en-US" sz="900" b="0" noProof="0" dirty="0" smtClean="0">
                          <a:solidFill>
                            <a:schemeClr val="tx1"/>
                          </a:solidFill>
                          <a:latin typeface="+mn-lt"/>
                        </a:rPr>
                        <a:t>    </a:t>
                      </a:r>
                      <a:r>
                        <a:rPr lang="uz-Cyrl-UZ" sz="900" b="0" noProof="0" dirty="0" smtClean="0">
                          <a:solidFill>
                            <a:schemeClr val="tx1"/>
                          </a:solidFill>
                          <a:latin typeface="+mn-lt"/>
                        </a:rPr>
                        <a:t>Меҳнат фаолиятини 1975-йилда Муқимий номидаги Ўзбек давлат мусиқали драма театри овоз муҳандиси ёрдамчиси сифатида бошлаган. 1978—1980-йилларда Муқимий театри 2-категорияли оркестр созандаси, 1981—1982-йилларда Т.Содиқов номидаги маданият уйида консертмейстер, 1983—1990- йилларда Муқимий театри 2-категорияли оркестр созандаси, 1992—1998-йилларда Ўзбекистон давлат эстрада бирлашмаси “Нола” вокал-чолғу ансамбли раҳбари, 1998—2008-йилларда Ўзбекистон Республикаси Ички ишлар вазирли қошидаги “Турон юлдузлари” ансамбли солисти, 2008—2017-йилларда “Ўзбекнаво” эстрада бирлашмаси хонандаси, 2017—2023-йилларда “Ўзбекконсерт” давлат муассасаси хонандаси лавозимларида фаолият олиб борган. 2023-йилда Муқимий номидаги Ўзбекистон давлат мусиқали драма театрига директор этиб тайинланган</a:t>
                      </a:r>
                    </a:p>
                    <a:p>
                      <a:pPr algn="just">
                        <a:lnSpc>
                          <a:spcPct val="85000"/>
                        </a:lnSpc>
                      </a:pPr>
                      <a:r>
                        <a:rPr lang="uz-Cyrl-UZ" sz="900" b="0" noProof="0" dirty="0" smtClean="0">
                          <a:solidFill>
                            <a:schemeClr val="tx1"/>
                          </a:solidFill>
                          <a:latin typeface="+mn-lt"/>
                        </a:rPr>
                        <a:t>Ҳозирги кунгача „Келмадинг“, „Ота“ ва „Кечалар“ номли 3 та албом тайёрлаган. 60 дан зиёд қўшиқларни ижро этган.</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en-US" sz="900" b="0" dirty="0" smtClean="0">
                          <a:effectLst/>
                          <a:latin typeface="+mn-lt"/>
                          <a:ea typeface="Calibri" panose="020F0502020204030204" pitchFamily="34" charset="0"/>
                          <a:cs typeface="Times New Roman" panose="02020603050405020304" pitchFamily="18" charset="0"/>
                        </a:rPr>
                        <a:t>    </a:t>
                      </a: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a:extLst>
              <a:ext uri="{FF2B5EF4-FFF2-40B4-BE49-F238E27FC236}">
                <a16:creationId xmlns:a16="http://schemas.microsoft.com/office/drawing/2014/main" id="{2D6CF85F-7457-F78F-E0B2-0B7980967003}"/>
              </a:ext>
            </a:extLst>
          </p:cNvPr>
          <p:cNvPicPr>
            <a:picLocks noChangeAspect="1"/>
          </p:cNvPicPr>
          <p:nvPr/>
        </p:nvPicPr>
        <p:blipFill>
          <a:blip r:embed="rId2"/>
          <a:stretch>
            <a:fillRect/>
          </a:stretch>
        </p:blipFill>
        <p:spPr>
          <a:xfrm>
            <a:off x="314925" y="1180040"/>
            <a:ext cx="792549" cy="1018120"/>
          </a:xfrm>
          <a:prstGeom prst="rect">
            <a:avLst/>
          </a:prstGeom>
        </p:spPr>
      </p:pic>
    </p:spTree>
    <p:extLst>
      <p:ext uri="{BB962C8B-B14F-4D97-AF65-F5344CB8AC3E}">
        <p14:creationId xmlns:p14="http://schemas.microsoft.com/office/powerpoint/2010/main" val="973985216"/>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335144128"/>
              </p:ext>
            </p:extLst>
          </p:nvPr>
        </p:nvGraphicFramePr>
        <p:xfrm>
          <a:off x="138896" y="865689"/>
          <a:ext cx="3427547" cy="5884243"/>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56802">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20076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marL="0" algn="l" defTabSz="914400" rtl="0" eaLnBrk="1" latinLnBrk="0" hangingPunct="1">
                        <a:lnSpc>
                          <a:spcPct val="90000"/>
                        </a:lnSpc>
                      </a:pPr>
                      <a:r>
                        <a:rPr lang="uz-Cyrl-UZ" sz="800" b="0" kern="1200" dirty="0" smtClean="0">
                          <a:solidFill>
                            <a:schemeClr val="tx1"/>
                          </a:solidFill>
                          <a:latin typeface="+mn-lt"/>
                          <a:ea typeface="+mn-ea"/>
                          <a:cs typeface="+mn-cs"/>
                        </a:rPr>
                        <a:t>НАЗРУЛЛАЕВА</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076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Адинахон</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20076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ХХХ</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20076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20076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05.12.1956</a:t>
                      </a:r>
                      <a:r>
                        <a:rPr lang="uz-Cyrl-UZ" sz="800" b="0" kern="1200" dirty="0">
                          <a:solidFill>
                            <a:schemeClr val="tx1"/>
                          </a:solidFill>
                          <a:latin typeface="+mn-lt"/>
                          <a:ea typeface="+mn-ea"/>
                          <a:cs typeface="+mn-cs"/>
                        </a:rPr>
                        <a:t> </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0076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Андижон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43697">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669649">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6 нафар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Муқимий номидаги Ўзбекистон давлат академик мусиқали театири солист вокалисти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43697">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28179">
                <a:tc>
                  <a:txBody>
                    <a:bodyPr/>
                    <a:lstStyle/>
                    <a:p>
                      <a:pPr algn="ctr">
                        <a:lnSpc>
                          <a:spcPct val="85000"/>
                        </a:lnSpc>
                      </a:pPr>
                      <a:r>
                        <a:rPr lang="uz-Cyrl-UZ" sz="800" b="0" kern="1200" noProof="0" dirty="0">
                          <a:solidFill>
                            <a:schemeClr val="tx1"/>
                          </a:solidFill>
                          <a:latin typeface="+mn-lt"/>
                          <a:ea typeface="+mn-ea"/>
                          <a:cs typeface="Arial" panose="020B0604020202020204" pitchFamily="34" charset="0"/>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Юсупов Мухаммадхон</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1910 йил, Андижон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1981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uz-Cyrl-UZ" sz="800" b="0" kern="1200" dirty="0">
                          <a:solidFill>
                            <a:schemeClr val="tx1"/>
                          </a:solidFill>
                          <a:latin typeface="+mn-lt"/>
                          <a:ea typeface="+mn-ea"/>
                          <a:cs typeface="Arial" panose="020B0604020202020204" pitchFamily="34" charset="0"/>
                        </a:rPr>
                        <a:t>Андижон вилояти, Шахрихон тумани маданият саройида мусиқа рахбари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628179">
                <a:tc>
                  <a:txBody>
                    <a:bodyPr/>
                    <a:lstStyle/>
                    <a:p>
                      <a:pPr algn="ctr">
                        <a:lnSpc>
                          <a:spcPct val="85000"/>
                        </a:lnSpc>
                      </a:pPr>
                      <a:r>
                        <a:rPr lang="uz-Cyrl-UZ" sz="800" b="0" kern="1200" noProof="0" dirty="0">
                          <a:solidFill>
                            <a:schemeClr val="tx1"/>
                          </a:solidFill>
                          <a:latin typeface="+mn-lt"/>
                          <a:ea typeface="+mn-ea"/>
                          <a:cs typeface="Arial" panose="020B0604020202020204" pitchFamily="34" charset="0"/>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Ғ</a:t>
                      </a:r>
                      <a:r>
                        <a:rPr lang="ru-RU" sz="800" b="0" kern="1200" dirty="0" err="1">
                          <a:solidFill>
                            <a:schemeClr val="tx1"/>
                          </a:solidFill>
                          <a:latin typeface="+mn-lt"/>
                          <a:ea typeface="+mn-ea"/>
                          <a:cs typeface="Arial" panose="020B0604020202020204" pitchFamily="34" charset="0"/>
                        </a:rPr>
                        <a:t>озиева</a:t>
                      </a:r>
                      <a:r>
                        <a:rPr lang="ru-RU" sz="800" b="0" kern="1200" dirty="0">
                          <a:solidFill>
                            <a:schemeClr val="tx1"/>
                          </a:solidFill>
                          <a:latin typeface="+mn-lt"/>
                          <a:ea typeface="+mn-ea"/>
                          <a:cs typeface="Arial" panose="020B0604020202020204" pitchFamily="34" charset="0"/>
                        </a:rPr>
                        <a:t>  </a:t>
                      </a:r>
                      <a:r>
                        <a:rPr lang="ru-RU" sz="800" b="0" kern="1200" dirty="0" err="1">
                          <a:solidFill>
                            <a:schemeClr val="tx1"/>
                          </a:solidFill>
                          <a:latin typeface="+mn-lt"/>
                          <a:ea typeface="+mn-ea"/>
                          <a:cs typeface="Arial" panose="020B0604020202020204" pitchFamily="34" charset="0"/>
                        </a:rPr>
                        <a:t>Ширмонхон</a:t>
                      </a:r>
                      <a:r>
                        <a:rPr lang="ru-RU" sz="800" b="0" kern="1200" dirty="0">
                          <a:solidFill>
                            <a:schemeClr val="tx1"/>
                          </a:solidFill>
                          <a:latin typeface="+mn-lt"/>
                          <a:ea typeface="+mn-ea"/>
                          <a:cs typeface="Arial" panose="020B0604020202020204" pitchFamily="34" charset="0"/>
                        </a:rPr>
                        <a:t> </a:t>
                      </a:r>
                      <a:r>
                        <a:rPr lang="uz-Cyrl-UZ" sz="800" b="0" kern="1200" dirty="0">
                          <a:solidFill>
                            <a:schemeClr val="tx1"/>
                          </a:solidFill>
                          <a:latin typeface="+mn-lt"/>
                          <a:ea typeface="+mn-ea"/>
                          <a:cs typeface="Arial" panose="020B0604020202020204" pitchFamily="34" charset="0"/>
                        </a:rPr>
                        <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1922 йил, Андижон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198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uz-Cyrl-UZ" sz="800" b="0" kern="1200" dirty="0">
                          <a:solidFill>
                            <a:schemeClr val="tx1"/>
                          </a:solidFill>
                          <a:latin typeface="+mn-lt"/>
                          <a:ea typeface="+mn-ea"/>
                          <a:cs typeface="Arial" panose="020B0604020202020204" pitchFamily="34" charset="0"/>
                        </a:rPr>
                        <a:t>Шахрихон тумани Чашма ашула ва рақс ансабили баъдий раҳбари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18475">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Назруллаев Саъдулла</a:t>
                      </a:r>
                    </a:p>
                    <a:p>
                      <a:pPr algn="l">
                        <a:lnSpc>
                          <a:spcPct val="85000"/>
                        </a:lnSpc>
                      </a:pPr>
                      <a:r>
                        <a:rPr lang="uz-Cyrl-UZ" sz="800" b="0" kern="1200" noProof="0" dirty="0">
                          <a:solidFill>
                            <a:schemeClr val="tx1"/>
                          </a:solidFill>
                          <a:latin typeface="+mn-lt"/>
                          <a:ea typeface="+mn-ea"/>
                          <a:cs typeface="Arial" panose="020B0604020202020204" pitchFamily="34" charset="0"/>
                        </a:rPr>
                        <a:t>1956 йил, Самарқанд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Arial" panose="020B0604020202020204" pitchFamily="34" charset="0"/>
                        </a:rPr>
                        <a:t>2009 йил вафот этган</a:t>
                      </a:r>
                    </a:p>
                    <a:p>
                      <a:pPr algn="l">
                        <a:lnSpc>
                          <a:spcPct val="85000"/>
                        </a:lnSpc>
                      </a:pPr>
                      <a:r>
                        <a:rPr lang="uz-Cyrl-UZ" sz="800" b="0" kern="1200" noProof="0" dirty="0">
                          <a:solidFill>
                            <a:schemeClr val="tx1"/>
                          </a:solidFill>
                          <a:latin typeface="+mn-lt"/>
                          <a:ea typeface="+mn-ea"/>
                          <a:cs typeface="Arial" panose="020B0604020202020204" pitchFamily="34" charset="0"/>
                        </a:rPr>
                        <a:t>(</a:t>
                      </a:r>
                      <a:r>
                        <a:rPr lang="uz-Cyrl-UZ" sz="800" b="0" kern="1200" dirty="0">
                          <a:solidFill>
                            <a:schemeClr val="tx1"/>
                          </a:solidFill>
                          <a:latin typeface="+mn-lt"/>
                          <a:ea typeface="+mn-ea"/>
                          <a:cs typeface="Arial" panose="020B0604020202020204" pitchFamily="34" charset="0"/>
                        </a:rPr>
                        <a:t>Ўзбекистон телерадиокомпанияси режиссёри</a:t>
                      </a:r>
                      <a:r>
                        <a:rPr lang="uz-Cyrl-UZ"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95087">
                <a:tc gridSpan="5">
                  <a:txBody>
                    <a:bodyPr/>
                    <a:lstStyle/>
                    <a:p>
                      <a:pPr algn="ctr">
                        <a:lnSpc>
                          <a:spcPct val="85000"/>
                        </a:lnSpc>
                      </a:pPr>
                      <a:r>
                        <a:rPr lang="uz-Cyrl-UZ" sz="8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73713">
                <a:tc gridSpan="3">
                  <a:txBody>
                    <a:bodyPr/>
                    <a:lstStyle/>
                    <a:p>
                      <a:pPr algn="l">
                        <a:lnSpc>
                          <a:spcPct val="85000"/>
                        </a:lnSpc>
                      </a:pPr>
                      <a:r>
                        <a:rPr lang="uz-Cyrl-UZ" sz="800" b="1" noProof="0" dirty="0">
                          <a:latin typeface="+mn-lt"/>
                        </a:rPr>
                        <a:t>Тамомлаган ОТМ:</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a:solidFill>
                            <a:schemeClr val="tx1"/>
                          </a:solidFill>
                          <a:latin typeface="+mn-lt"/>
                          <a:ea typeface="+mn-ea"/>
                          <a:cs typeface="+mn-cs"/>
                        </a:rPr>
                        <a:t>1980 й. </a:t>
                      </a:r>
                      <a:r>
                        <a:rPr lang="ru-RU" sz="800" b="0" kern="1200" noProof="0" dirty="0" err="1">
                          <a:solidFill>
                            <a:schemeClr val="tx1"/>
                          </a:solidFill>
                          <a:latin typeface="+mn-lt"/>
                          <a:ea typeface="+mn-ea"/>
                          <a:cs typeface="+mn-cs"/>
                        </a:rPr>
                        <a:t>Тошкент</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давлат</a:t>
                      </a:r>
                      <a:r>
                        <a:rPr lang="ru-RU" sz="800" b="0" kern="1200" noProof="0" dirty="0">
                          <a:solidFill>
                            <a:schemeClr val="tx1"/>
                          </a:solidFill>
                          <a:latin typeface="+mn-lt"/>
                          <a:ea typeface="+mn-ea"/>
                          <a:cs typeface="+mn-cs"/>
                        </a:rPr>
                        <a:t> театр </a:t>
                      </a:r>
                      <a:r>
                        <a:rPr lang="ru-RU" sz="800" b="0" kern="1200" noProof="0" dirty="0" err="1">
                          <a:solidFill>
                            <a:schemeClr val="tx1"/>
                          </a:solidFill>
                          <a:latin typeface="+mn-lt"/>
                          <a:ea typeface="+mn-ea"/>
                          <a:cs typeface="+mn-cs"/>
                        </a:rPr>
                        <a:t>ва</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рассомчилик</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санъати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институти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кундузги</a:t>
                      </a:r>
                      <a:r>
                        <a:rPr lang="ru-RU" sz="8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07713">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800" b="1" noProof="0" dirty="0">
                          <a:latin typeface="+mn-lt"/>
                        </a:rPr>
                        <a:t>Мутахассислиги:</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Мусиқали драма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07713">
                <a:tc gridSpan="3">
                  <a:txBody>
                    <a:bodyPr/>
                    <a:lstStyle/>
                    <a:p>
                      <a:pPr algn="l">
                        <a:lnSpc>
                          <a:spcPct val="85000"/>
                        </a:lnSpc>
                      </a:pPr>
                      <a:r>
                        <a:rPr lang="uz-Cyrl-UZ" sz="800" b="1" kern="1200" noProof="0" dirty="0">
                          <a:solidFill>
                            <a:schemeClr val="tx1"/>
                          </a:solidFill>
                          <a:latin typeface="+mn-lt"/>
                          <a:ea typeface="+mn-ea"/>
                          <a:cs typeface="+mn-cs"/>
                        </a:rPr>
                        <a:t>Илмий даража</a:t>
                      </a:r>
                      <a:r>
                        <a:rPr lang="en-US" sz="800" b="1" kern="1200" noProof="0" dirty="0">
                          <a:solidFill>
                            <a:schemeClr val="tx1"/>
                          </a:solidFill>
                          <a:latin typeface="+mn-lt"/>
                          <a:ea typeface="+mn-ea"/>
                          <a:cs typeface="+mn-cs"/>
                        </a:rPr>
                        <a:t> (</a:t>
                      </a:r>
                      <a:r>
                        <a:rPr lang="uz-Cyrl-UZ" sz="800" b="1" kern="1200" noProof="0" dirty="0">
                          <a:solidFill>
                            <a:schemeClr val="tx1"/>
                          </a:solidFill>
                          <a:latin typeface="+mn-lt"/>
                          <a:ea typeface="+mn-ea"/>
                          <a:cs typeface="+mn-cs"/>
                        </a:rPr>
                        <a:t>унвон</a:t>
                      </a:r>
                      <a:r>
                        <a:rPr lang="en-US" sz="800" b="1" kern="1200" noProof="0" dirty="0">
                          <a:solidFill>
                            <a:schemeClr val="tx1"/>
                          </a:solidFill>
                          <a:latin typeface="+mn-lt"/>
                          <a:ea typeface="+mn-ea"/>
                          <a:cs typeface="+mn-cs"/>
                        </a:rPr>
                        <a:t>)</a:t>
                      </a:r>
                      <a:r>
                        <a:rPr lang="uz-Cyrl-UZ" sz="8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Йўқ</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07713">
                <a:tc gridSpan="3">
                  <a:txBody>
                    <a:bodyPr/>
                    <a:lstStyle/>
                    <a:p>
                      <a:pPr algn="l">
                        <a:lnSpc>
                          <a:spcPct val="85000"/>
                        </a:lnSpc>
                      </a:pPr>
                      <a:r>
                        <a:rPr lang="uz-Cyrl-UZ" sz="8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Рус тили</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299066">
                <a:tc gridSpan="3">
                  <a:txBody>
                    <a:bodyPr/>
                    <a:lstStyle/>
                    <a:p>
                      <a:pPr algn="l">
                        <a:lnSpc>
                          <a:spcPct val="85000"/>
                        </a:lnSpc>
                      </a:pPr>
                      <a:r>
                        <a:rPr lang="uz-Cyrl-UZ" sz="8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err="1">
                          <a:solidFill>
                            <a:schemeClr val="tx1"/>
                          </a:solidFill>
                          <a:latin typeface="+mn-lt"/>
                          <a:ea typeface="+mn-ea"/>
                          <a:cs typeface="+mn-cs"/>
                        </a:rPr>
                        <a:t>Йўқ</a:t>
                      </a:r>
                      <a:endParaRPr lang="ru-RU"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35494722"/>
              </p:ext>
            </p:extLst>
          </p:nvPr>
        </p:nvGraphicFramePr>
        <p:xfrm>
          <a:off x="3748087" y="865689"/>
          <a:ext cx="3099280" cy="5884249"/>
        </p:xfrm>
        <a:graphic>
          <a:graphicData uri="http://schemas.openxmlformats.org/drawingml/2006/table">
            <a:tbl>
              <a:tblPr firstRow="1" bandRow="1">
                <a:tableStyleId>{C083E6E3-FA7D-4D7B-A595-EF9225AFEA82}</a:tableStyleId>
              </a:tblPr>
              <a:tblGrid>
                <a:gridCol w="1423681">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06535">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99891">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800" b="1" kern="1200" noProof="0" dirty="0">
                          <a:solidFill>
                            <a:schemeClr val="tx1"/>
                          </a:solidFill>
                          <a:latin typeface="+mn-lt"/>
                          <a:ea typeface="+mn-ea"/>
                          <a:cs typeface="+mn-cs"/>
                        </a:rPr>
                        <a:t>1985 йилдан Муқимий номидаги Ўзбекистон давлат академик мусиқали театри олий тоифали солист-фокалисти</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28728">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800" b="0" kern="1200" noProof="0" dirty="0">
                          <a:solidFill>
                            <a:schemeClr val="tx1"/>
                          </a:solidFill>
                          <a:latin typeface="+mn-lt"/>
                          <a:ea typeface="+mn-ea"/>
                          <a:cs typeface="+mn-cs"/>
                        </a:rPr>
                        <a:t>Й</a:t>
                      </a:r>
                      <a:r>
                        <a:rPr lang="ru-RU" sz="800" b="0" kern="1200" noProof="0" dirty="0" err="1">
                          <a:solidFill>
                            <a:schemeClr val="tx1"/>
                          </a:solidFill>
                          <a:latin typeface="+mn-lt"/>
                          <a:ea typeface="+mn-ea"/>
                          <a:cs typeface="+mn-cs"/>
                        </a:rPr>
                        <a:t>ўқ</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9689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51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337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1620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algn="l" defTabSz="914400" rtl="0" eaLnBrk="1" latinLnBrk="0" hangingPunct="1"/>
                      <a:endParaRPr lang="ru-RU" sz="800" b="1"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170138">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0142">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4142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a:t>
                      </a:r>
                      <a:r>
                        <a:rPr lang="uz-Cyrl-UZ" sz="900" b="1" i="0" kern="1200" noProof="0">
                          <a:solidFill>
                            <a:schemeClr val="tx1"/>
                          </a:solidFill>
                          <a:effectLst/>
                          <a:latin typeface="+mn-lt"/>
                          <a:ea typeface="Calibri" panose="020F0502020204030204" pitchFamily="34" charset="0"/>
                          <a:cs typeface="Times New Roman" panose="02020603050405020304" pitchFamily="18" charset="0"/>
                        </a:rPr>
                        <a:t>)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41296">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2145">
                <a:tc gridSpan="2">
                  <a:txBody>
                    <a:bodyPr/>
                    <a:lstStyle/>
                    <a:p>
                      <a:pPr algn="ctr"/>
                      <a:r>
                        <a:rPr lang="uz-Cyrl-UZ" sz="8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287474">
                <a:tc gridSpan="2">
                  <a:txBody>
                    <a:bodyPr/>
                    <a:lstStyle/>
                    <a:p>
                      <a:pPr marL="0" algn="l" defTabSz="914400" rtl="0" eaLnBrk="1" latinLnBrk="0" hangingPunct="1"/>
                      <a:r>
                        <a:rPr lang="ru-RU" sz="900" kern="1200" dirty="0">
                          <a:solidFill>
                            <a:schemeClr val="tx1"/>
                          </a:solidFill>
                          <a:effectLst/>
                          <a:latin typeface="+mn-lt"/>
                          <a:ea typeface="+mn-ea"/>
                          <a:cs typeface="Times New Roman" panose="02020603050405020304" pitchFamily="18" charset="0"/>
                        </a:rPr>
                        <a:t>1998 й.“</a:t>
                      </a:r>
                      <a:r>
                        <a:rPr lang="ru-RU" sz="900" kern="1200" dirty="0" err="1">
                          <a:solidFill>
                            <a:schemeClr val="tx1"/>
                          </a:solidFill>
                          <a:effectLst/>
                          <a:latin typeface="+mn-lt"/>
                          <a:ea typeface="+mn-ea"/>
                          <a:cs typeface="Times New Roman" panose="02020603050405020304" pitchFamily="18" charset="0"/>
                        </a:rPr>
                        <a:t>Ўзбекистон</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Республикасида</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хизмат</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кўрсатган</a:t>
                      </a:r>
                      <a:r>
                        <a:rPr lang="ru-RU" sz="900" kern="1200" dirty="0">
                          <a:solidFill>
                            <a:schemeClr val="tx1"/>
                          </a:solidFill>
                          <a:effectLst/>
                          <a:latin typeface="+mn-lt"/>
                          <a:ea typeface="+mn-ea"/>
                          <a:cs typeface="Times New Roman" panose="02020603050405020304" pitchFamily="18" charset="0"/>
                        </a:rPr>
                        <a:t>   артист” </a:t>
                      </a:r>
                    </a:p>
                    <a:p>
                      <a:pPr marL="0" algn="l" defTabSz="914400" rtl="0" eaLnBrk="1" latinLnBrk="0" hangingPunct="1"/>
                      <a:r>
                        <a:rPr lang="ru-RU" sz="900" kern="1200" dirty="0">
                          <a:solidFill>
                            <a:schemeClr val="tx1"/>
                          </a:solidFill>
                          <a:effectLst/>
                          <a:latin typeface="+mn-lt"/>
                          <a:ea typeface="+mn-ea"/>
                          <a:cs typeface="Times New Roman" panose="02020603050405020304" pitchFamily="18" charset="0"/>
                        </a:rPr>
                        <a:t>2009 й. “</a:t>
                      </a:r>
                      <a:r>
                        <a:rPr lang="ru-RU" sz="900" kern="1200" dirty="0" err="1">
                          <a:solidFill>
                            <a:schemeClr val="tx1"/>
                          </a:solidFill>
                          <a:effectLst/>
                          <a:latin typeface="+mn-lt"/>
                          <a:ea typeface="+mn-ea"/>
                          <a:cs typeface="Times New Roman" panose="02020603050405020304" pitchFamily="18" charset="0"/>
                        </a:rPr>
                        <a:t>Ўзбекистон</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Республикаси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Халқ</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артисти</a:t>
                      </a:r>
                      <a:r>
                        <a:rPr lang="ru-RU" sz="900" kern="1200" dirty="0">
                          <a:solidFill>
                            <a:schemeClr val="tx1"/>
                          </a:solidFill>
                          <a:effectLst/>
                          <a:latin typeface="+mn-lt"/>
                          <a:ea typeface="+mn-ea"/>
                          <a:cs typeface="Times New Roman" panose="02020603050405020304" pitchFamily="18" charset="0"/>
                        </a:rPr>
                        <a:t>”</a:t>
                      </a:r>
                    </a:p>
                    <a:p>
                      <a:r>
                        <a:rPr lang="uz-Cyrl-UZ" sz="900" kern="1200" dirty="0">
                          <a:solidFill>
                            <a:schemeClr val="tx1"/>
                          </a:solidFill>
                          <a:effectLst/>
                          <a:latin typeface="+mn-lt"/>
                          <a:ea typeface="+mn-ea"/>
                          <a:cs typeface="Times New Roman" panose="02020603050405020304" pitchFamily="18" charset="0"/>
                        </a:rPr>
                        <a:t>1975-1980 йй. - Тошкент давлат театр ва рассомлик санъати институти талабаси</a:t>
                      </a:r>
                      <a:endParaRPr lang="ru-RU" sz="900" kern="1200" dirty="0">
                        <a:solidFill>
                          <a:schemeClr val="tx1"/>
                        </a:solidFill>
                        <a:effectLst/>
                        <a:latin typeface="+mn-lt"/>
                        <a:ea typeface="+mn-ea"/>
                        <a:cs typeface="Times New Roman" panose="02020603050405020304" pitchFamily="18" charset="0"/>
                      </a:endParaRPr>
                    </a:p>
                    <a:p>
                      <a:r>
                        <a:rPr lang="uz-Cyrl-UZ" sz="900" kern="1200" dirty="0">
                          <a:solidFill>
                            <a:schemeClr val="tx1"/>
                          </a:solidFill>
                          <a:effectLst/>
                          <a:latin typeface="+mn-lt"/>
                          <a:ea typeface="+mn-ea"/>
                          <a:cs typeface="Times New Roman" panose="02020603050405020304" pitchFamily="18" charset="0"/>
                        </a:rPr>
                        <a:t>1985 й. -  ҳ.в.  - Муқимий номидаги Ўзбекистон давлат академик мусиқали театри олий тоифали </a:t>
                      </a:r>
                      <a:r>
                        <a:rPr lang="ru-RU" sz="900" kern="1200" dirty="0">
                          <a:solidFill>
                            <a:schemeClr val="tx1"/>
                          </a:solidFill>
                          <a:effectLst/>
                          <a:latin typeface="+mn-lt"/>
                          <a:ea typeface="+mn-ea"/>
                          <a:cs typeface="Times New Roman" panose="02020603050405020304" pitchFamily="18" charset="0"/>
                        </a:rPr>
                        <a:t>солист-</a:t>
                      </a:r>
                      <a:r>
                        <a:rPr lang="ru-RU" sz="900" kern="1200" dirty="0" err="1">
                          <a:solidFill>
                            <a:schemeClr val="tx1"/>
                          </a:solidFill>
                          <a:effectLst/>
                          <a:latin typeface="+mn-lt"/>
                          <a:ea typeface="+mn-ea"/>
                          <a:cs typeface="Times New Roman" panose="02020603050405020304" pitchFamily="18" charset="0"/>
                        </a:rPr>
                        <a:t>вокалисти</a:t>
                      </a:r>
                      <a:r>
                        <a:rPr lang="ru-RU"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  </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endParaRPr lang="ru-RU" sz="800"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546920602"/>
              </p:ext>
            </p:extLst>
          </p:nvPr>
        </p:nvGraphicFramePr>
        <p:xfrm>
          <a:off x="6910389" y="869287"/>
          <a:ext cx="2856716" cy="5880649"/>
        </p:xfrm>
        <a:graphic>
          <a:graphicData uri="http://schemas.openxmlformats.org/drawingml/2006/table">
            <a:tbl>
              <a:tblPr firstRow="1" bandRow="1">
                <a:tableStyleId>{C083E6E3-FA7D-4D7B-A595-EF9225AFEA82}</a:tableStyleId>
              </a:tblPr>
              <a:tblGrid>
                <a:gridCol w="2856716">
                  <a:extLst>
                    <a:ext uri="{9D8B030D-6E8A-4147-A177-3AD203B41FA5}">
                      <a16:colId xmlns:a16="http://schemas.microsoft.com/office/drawing/2014/main" val="2715609854"/>
                    </a:ext>
                  </a:extLst>
                </a:gridCol>
              </a:tblGrid>
              <a:tr h="232548">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7445">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557996">
                <a:tc>
                  <a:txBody>
                    <a:bodyPr/>
                    <a:lstStyle/>
                    <a:p>
                      <a:pPr algn="just">
                        <a:lnSpc>
                          <a:spcPct val="85000"/>
                        </a:lnSpc>
                      </a:pPr>
                      <a:r>
                        <a:rPr lang="en-US" sz="900" b="0" noProof="0" dirty="0" smtClean="0">
                          <a:solidFill>
                            <a:schemeClr val="tx1"/>
                          </a:solidFill>
                          <a:latin typeface="+mn-lt"/>
                        </a:rPr>
                        <a:t>    </a:t>
                      </a:r>
                      <a:r>
                        <a:rPr lang="uz-Cyrl-UZ" sz="900" b="0" noProof="0" dirty="0" smtClean="0">
                          <a:solidFill>
                            <a:schemeClr val="tx1"/>
                          </a:solidFill>
                          <a:latin typeface="+mn-lt"/>
                        </a:rPr>
                        <a:t>О.Назруллаева </a:t>
                      </a:r>
                      <a:r>
                        <a:rPr lang="uz-Cyrl-UZ" sz="900" b="0" noProof="0" dirty="0">
                          <a:solidFill>
                            <a:schemeClr val="tx1"/>
                          </a:solidFill>
                          <a:latin typeface="+mn-lt"/>
                        </a:rPr>
                        <a:t>40 йил мобайнида саҳналаштирилган ўнлаб спектаклларда фақат бош ролларни ижро этган. Жумладан, “Лайли ва Мажнун”да Лайли, “Фарҳод ва Ширин”да Ширин, “Нурхон”да Нурхон, “Гул ва Нарўз”да Гул, “Жон қизлар” спектаклида Ойсулув, “Тоҳир ва Зуҳра”да Зуҳра, “Паранжи сирлари”да Холисхон, “Узилган торлар”да Зулфия, “Рожа”да малика Шударшона,  “Тошкентнинг нозанин маликаси”да Мунаввар, “Муҳаббат навоси”да Ёдгорхоним, “Жайдари келин”да она, “Супурқайнона”, “Суперқайнона-2”да қайнона, “Ойонам-қайнонам” да Маръям, Қумри сингари бош қаҳрамонлар тимсолини гавдалантирган. “Меҳр нури” спектаклидаги Саодат роли унинг ўз ижодий фаолиятида  алоҳида босқич бўлганлиги  мутахассислар томонидан алоҳида эътироф </a:t>
                      </a:r>
                      <a:r>
                        <a:rPr lang="uz-Cyrl-UZ" sz="900" b="0" noProof="0" dirty="0" smtClean="0">
                          <a:solidFill>
                            <a:schemeClr val="tx1"/>
                          </a:solidFill>
                          <a:latin typeface="+mn-lt"/>
                        </a:rPr>
                        <a:t>этилди.</a:t>
                      </a:r>
                      <a:endParaRPr lang="en-US" sz="900" b="0" noProof="0" dirty="0" smtClean="0">
                        <a:solidFill>
                          <a:schemeClr val="tx1"/>
                        </a:solidFill>
                        <a:latin typeface="+mn-lt"/>
                      </a:endParaRPr>
                    </a:p>
                    <a:p>
                      <a:pPr algn="just">
                        <a:lnSpc>
                          <a:spcPct val="85000"/>
                        </a:lnSpc>
                      </a:pPr>
                      <a:r>
                        <a:rPr lang="en-US" sz="900" b="0" baseline="0" noProof="0" dirty="0" smtClean="0">
                          <a:solidFill>
                            <a:schemeClr val="tx1"/>
                          </a:solidFill>
                          <a:latin typeface="+mn-lt"/>
                        </a:rPr>
                        <a:t>    </a:t>
                      </a:r>
                      <a:r>
                        <a:rPr lang="uz-Cyrl-UZ" sz="900" b="0" noProof="0" dirty="0" smtClean="0">
                          <a:solidFill>
                            <a:schemeClr val="tx1"/>
                          </a:solidFill>
                          <a:latin typeface="+mn-lt"/>
                        </a:rPr>
                        <a:t>О.Назруллаева </a:t>
                      </a:r>
                      <a:r>
                        <a:rPr lang="uz-Cyrl-UZ" sz="900" b="0" noProof="0" dirty="0">
                          <a:solidFill>
                            <a:schemeClr val="tx1"/>
                          </a:solidFill>
                          <a:latin typeface="+mn-lt"/>
                        </a:rPr>
                        <a:t>ўтган 45 йил давомида театрда саҳналаштирилган 50 дан ортиқ спектаклларда бош қаҳрамонлар роллари ва  характерли образларни юксак маҳорат билан ижро этиб, репертуарни бойитиб келмоқда.   У шунингдек, “Оталар сўзи-ақлнинг кўзи”, “Нима учун?” туркум кўрсатувларида ўнлаб маъқул образлар </a:t>
                      </a:r>
                      <a:r>
                        <a:rPr lang="uz-Cyrl-UZ" sz="900" b="0" noProof="0" dirty="0" smtClean="0">
                          <a:solidFill>
                            <a:schemeClr val="tx1"/>
                          </a:solidFill>
                          <a:latin typeface="+mn-lt"/>
                        </a:rPr>
                        <a:t>яратган.</a:t>
                      </a:r>
                      <a:endParaRPr lang="en-US" sz="900" b="0" noProof="0" dirty="0" smtClean="0">
                        <a:solidFill>
                          <a:schemeClr val="tx1"/>
                        </a:solidFill>
                        <a:latin typeface="+mn-lt"/>
                      </a:endParaRPr>
                    </a:p>
                    <a:p>
                      <a:pPr algn="just">
                        <a:lnSpc>
                          <a:spcPct val="85000"/>
                        </a:lnSpc>
                      </a:pPr>
                      <a:r>
                        <a:rPr lang="en-US" sz="900" b="0" noProof="0" dirty="0" smtClean="0">
                          <a:solidFill>
                            <a:schemeClr val="tx1"/>
                          </a:solidFill>
                          <a:latin typeface="+mn-lt"/>
                        </a:rPr>
                        <a:t>   </a:t>
                      </a:r>
                      <a:r>
                        <a:rPr lang="uz-Cyrl-UZ" sz="900" b="0" noProof="0" dirty="0" smtClean="0">
                          <a:solidFill>
                            <a:schemeClr val="tx1"/>
                          </a:solidFill>
                          <a:latin typeface="+mn-lt"/>
                        </a:rPr>
                        <a:t>Бугунги </a:t>
                      </a:r>
                      <a:r>
                        <a:rPr lang="uz-Cyrl-UZ" sz="900" b="0" noProof="0" dirty="0">
                          <a:solidFill>
                            <a:schemeClr val="tx1"/>
                          </a:solidFill>
                          <a:latin typeface="+mn-lt"/>
                        </a:rPr>
                        <a:t>кунда ҳам О.Назруллаева  Ўзбекистон Республикаси маданият вазирлиги, Республика маънавият ва маърифат маркази, Ўзбекистон хотин-қизлар қўмитаси ва жамоатчилик ташкилотларининг тадбирларида фаол иштирок этиб келмоқда. Республикамизнинг олис минтақаларида бўладиган учрашув ва байрамларда ҳам муттасил қатнашади. Театримизнинг Қирғизистон, Тожикистон Республикаларида ўтказилган гастролларида ҳам О.Назруллаевада ўз маҳоратини намойиш қилиб, қўшни давлатларда ҳам унинг кўплаб  мухлислари бор эканлигини кўрсатди</a:t>
                      </a:r>
                      <a:r>
                        <a:rPr lang="uz-Cyrl-UZ" sz="900" b="0" noProof="0" dirty="0" smtClean="0">
                          <a:solidFill>
                            <a:schemeClr val="tx1"/>
                          </a:solidFill>
                          <a:latin typeface="+mn-lt"/>
                        </a:rPr>
                        <a:t>.</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65058">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8760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en-US" sz="900" b="0" dirty="0" smtClean="0">
                          <a:effectLst/>
                          <a:latin typeface="+mn-lt"/>
                          <a:ea typeface="Calibri" panose="020F0502020204030204" pitchFamily="34" charset="0"/>
                          <a:cs typeface="Times New Roman" panose="02020603050405020304" pitchFamily="18" charset="0"/>
                        </a:rPr>
                        <a:t>    </a:t>
                      </a: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a:extLst>
              <a:ext uri="{FF2B5EF4-FFF2-40B4-BE49-F238E27FC236}">
                <a16:creationId xmlns:a16="http://schemas.microsoft.com/office/drawing/2014/main" id="{B416FFC5-8A79-093F-25C4-B38078AB534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2632" y="1207453"/>
            <a:ext cx="815341" cy="1081474"/>
          </a:xfrm>
          <a:prstGeom prst="rect">
            <a:avLst/>
          </a:prstGeom>
        </p:spPr>
      </p:pic>
    </p:spTree>
    <p:extLst>
      <p:ext uri="{BB962C8B-B14F-4D97-AF65-F5344CB8AC3E}">
        <p14:creationId xmlns:p14="http://schemas.microsoft.com/office/powerpoint/2010/main" val="2959986494"/>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472499037"/>
              </p:ext>
            </p:extLst>
          </p:nvPr>
        </p:nvGraphicFramePr>
        <p:xfrm>
          <a:off x="183570" y="868680"/>
          <a:ext cx="3427547" cy="5911060"/>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81768">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3516">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НАСИРОВА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351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Гулчехра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351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Хакимовна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3516">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351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2</a:t>
                      </a:r>
                      <a:r>
                        <a:rPr lang="ru-RU" sz="800" b="0" kern="1200" dirty="0">
                          <a:solidFill>
                            <a:schemeClr val="tx1"/>
                          </a:solidFill>
                          <a:latin typeface="+mn-lt"/>
                          <a:ea typeface="+mn-ea"/>
                          <a:cs typeface="+mn-cs"/>
                        </a:rPr>
                        <a:t>5.02.1960</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351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4903">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645489">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Муқимий номидаги Ўзбекистон давлат академик мусиқали театири солист вокалисти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4903">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30482">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700" b="0" kern="1200" dirty="0">
                          <a:solidFill>
                            <a:schemeClr val="tx1"/>
                          </a:solidFill>
                          <a:latin typeface="+mn-lt"/>
                          <a:ea typeface="+mn-ea"/>
                          <a:cs typeface="Arial" panose="020B0604020202020204" pitchFamily="34" charset="0"/>
                        </a:rPr>
                        <a:t>Насиров Хаким Халимович</a:t>
                      </a:r>
                      <a:br>
                        <a:rPr lang="uz-Cyrl-UZ" sz="700" b="0" kern="1200" dirty="0">
                          <a:solidFill>
                            <a:schemeClr val="tx1"/>
                          </a:solidFill>
                          <a:latin typeface="+mn-lt"/>
                          <a:ea typeface="+mn-ea"/>
                          <a:cs typeface="Arial" panose="020B0604020202020204" pitchFamily="34" charset="0"/>
                        </a:rPr>
                      </a:br>
                      <a:r>
                        <a:rPr lang="uz-Cyrl-UZ" sz="700" b="0" kern="1200" noProof="0" dirty="0">
                          <a:solidFill>
                            <a:schemeClr val="tx1"/>
                          </a:solidFill>
                          <a:latin typeface="+mn-lt"/>
                          <a:ea typeface="+mn-ea"/>
                          <a:cs typeface="Arial" panose="020B0604020202020204" pitchFamily="34" charset="0"/>
                        </a:rPr>
                        <a:t>1930 йил, Самарқанд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700" b="0" kern="1200" noProof="0" dirty="0">
                          <a:solidFill>
                            <a:schemeClr val="tx1"/>
                          </a:solidFill>
                          <a:latin typeface="+mn-lt"/>
                          <a:ea typeface="+mn-ea"/>
                          <a:cs typeface="Arial" panose="020B0604020202020204" pitchFamily="34" charset="0"/>
                        </a:rPr>
                        <a:t>2009 </a:t>
                      </a:r>
                      <a:r>
                        <a:rPr lang="ru-RU" sz="700" b="0" kern="1200" noProof="0" dirty="0" err="1">
                          <a:solidFill>
                            <a:schemeClr val="tx1"/>
                          </a:solidFill>
                          <a:latin typeface="+mn-lt"/>
                          <a:ea typeface="+mn-ea"/>
                          <a:cs typeface="Arial" panose="020B0604020202020204" pitchFamily="34" charset="0"/>
                        </a:rPr>
                        <a:t>йил</a:t>
                      </a:r>
                      <a:r>
                        <a:rPr lang="ru-RU" sz="700" b="0" kern="1200" noProof="0" dirty="0">
                          <a:solidFill>
                            <a:schemeClr val="tx1"/>
                          </a:solidFill>
                          <a:latin typeface="+mn-lt"/>
                          <a:ea typeface="+mn-ea"/>
                          <a:cs typeface="Arial" panose="020B0604020202020204" pitchFamily="34" charset="0"/>
                        </a:rPr>
                        <a:t> </a:t>
                      </a:r>
                      <a:r>
                        <a:rPr lang="ru-RU" sz="700" b="0" kern="1200" noProof="0" dirty="0" err="1">
                          <a:solidFill>
                            <a:schemeClr val="tx1"/>
                          </a:solidFill>
                          <a:latin typeface="+mn-lt"/>
                          <a:ea typeface="+mn-ea"/>
                          <a:cs typeface="Arial" panose="020B0604020202020204" pitchFamily="34" charset="0"/>
                        </a:rPr>
                        <a:t>вафот</a:t>
                      </a:r>
                      <a:r>
                        <a:rPr lang="ru-RU" sz="700" b="0" kern="1200" noProof="0" dirty="0">
                          <a:solidFill>
                            <a:schemeClr val="tx1"/>
                          </a:solidFill>
                          <a:latin typeface="+mn-lt"/>
                          <a:ea typeface="+mn-ea"/>
                          <a:cs typeface="Arial" panose="020B0604020202020204" pitchFamily="34" charset="0"/>
                        </a:rPr>
                        <a:t> </a:t>
                      </a:r>
                      <a:r>
                        <a:rPr lang="ru-RU" sz="700" b="0" kern="1200" noProof="0" dirty="0" err="1">
                          <a:solidFill>
                            <a:schemeClr val="tx1"/>
                          </a:solidFill>
                          <a:latin typeface="+mn-lt"/>
                          <a:ea typeface="+mn-ea"/>
                          <a:cs typeface="Arial" panose="020B0604020202020204" pitchFamily="34" charset="0"/>
                        </a:rPr>
                        <a:t>этган</a:t>
                      </a:r>
                      <a:endParaRPr lang="ru-RU" sz="700" b="0" kern="1200" noProof="0" dirty="0">
                        <a:solidFill>
                          <a:schemeClr val="tx1"/>
                        </a:solidFill>
                        <a:latin typeface="+mn-lt"/>
                        <a:ea typeface="+mn-ea"/>
                        <a:cs typeface="Arial" panose="020B0604020202020204" pitchFamily="34" charset="0"/>
                      </a:endParaRPr>
                    </a:p>
                    <a:p>
                      <a:pPr algn="l">
                        <a:lnSpc>
                          <a:spcPct val="85000"/>
                        </a:lnSpc>
                      </a:pPr>
                      <a:r>
                        <a:rPr lang="ru-RU" sz="700" b="0" kern="1200" noProof="0" dirty="0">
                          <a:solidFill>
                            <a:schemeClr val="tx1"/>
                          </a:solidFill>
                          <a:latin typeface="+mn-lt"/>
                          <a:ea typeface="+mn-ea"/>
                          <a:cs typeface="Arial" panose="020B0604020202020204" pitchFamily="34" charset="0"/>
                        </a:rPr>
                        <a:t>(</a:t>
                      </a:r>
                      <a:r>
                        <a:rPr lang="ru-RU" sz="700" b="0" kern="1200" noProof="0" dirty="0" err="1">
                          <a:solidFill>
                            <a:schemeClr val="tx1"/>
                          </a:solidFill>
                          <a:latin typeface="+mn-lt"/>
                          <a:ea typeface="+mn-ea"/>
                          <a:cs typeface="Arial" panose="020B0604020202020204" pitchFamily="34" charset="0"/>
                        </a:rPr>
                        <a:t>Муқимий</a:t>
                      </a:r>
                      <a:r>
                        <a:rPr lang="ru-RU" sz="700" b="0" kern="1200" noProof="0" dirty="0">
                          <a:solidFill>
                            <a:schemeClr val="tx1"/>
                          </a:solidFill>
                          <a:latin typeface="+mn-lt"/>
                          <a:ea typeface="+mn-ea"/>
                          <a:cs typeface="Arial" panose="020B0604020202020204" pitchFamily="34" charset="0"/>
                        </a:rPr>
                        <a:t> </a:t>
                      </a:r>
                      <a:r>
                        <a:rPr lang="ru-RU" sz="700" b="0" kern="1200" noProof="0" dirty="0" err="1">
                          <a:solidFill>
                            <a:schemeClr val="tx1"/>
                          </a:solidFill>
                          <a:latin typeface="+mn-lt"/>
                          <a:ea typeface="+mn-ea"/>
                          <a:cs typeface="Arial" panose="020B0604020202020204" pitchFamily="34" charset="0"/>
                        </a:rPr>
                        <a:t>номидаги</a:t>
                      </a:r>
                      <a:r>
                        <a:rPr lang="ru-RU" sz="700" b="0" kern="1200" noProof="0" dirty="0">
                          <a:solidFill>
                            <a:schemeClr val="tx1"/>
                          </a:solidFill>
                          <a:latin typeface="+mn-lt"/>
                          <a:ea typeface="+mn-ea"/>
                          <a:cs typeface="Arial" panose="020B0604020202020204" pitchFamily="34" charset="0"/>
                        </a:rPr>
                        <a:t> </a:t>
                      </a:r>
                      <a:r>
                        <a:rPr lang="ru-RU" sz="700" b="0" kern="1200" noProof="0" dirty="0" err="1">
                          <a:solidFill>
                            <a:schemeClr val="tx1"/>
                          </a:solidFill>
                          <a:latin typeface="+mn-lt"/>
                          <a:ea typeface="+mn-ea"/>
                          <a:cs typeface="Arial" panose="020B0604020202020204" pitchFamily="34" charset="0"/>
                        </a:rPr>
                        <a:t>Ўзбекистон</a:t>
                      </a:r>
                      <a:r>
                        <a:rPr lang="ru-RU" sz="700" b="0" kern="1200" noProof="0" dirty="0">
                          <a:solidFill>
                            <a:schemeClr val="tx1"/>
                          </a:solidFill>
                          <a:latin typeface="+mn-lt"/>
                          <a:ea typeface="+mn-ea"/>
                          <a:cs typeface="Arial" panose="020B0604020202020204" pitchFamily="34" charset="0"/>
                        </a:rPr>
                        <a:t> </a:t>
                      </a:r>
                      <a:r>
                        <a:rPr lang="ru-RU" sz="700" b="0" kern="1200" noProof="0" dirty="0" err="1">
                          <a:solidFill>
                            <a:schemeClr val="tx1"/>
                          </a:solidFill>
                          <a:latin typeface="+mn-lt"/>
                          <a:ea typeface="+mn-ea"/>
                          <a:cs typeface="Arial" panose="020B0604020202020204" pitchFamily="34" charset="0"/>
                        </a:rPr>
                        <a:t>давлат</a:t>
                      </a:r>
                      <a:r>
                        <a:rPr lang="ru-RU" sz="700" b="0" kern="1200" noProof="0" dirty="0">
                          <a:solidFill>
                            <a:schemeClr val="tx1"/>
                          </a:solidFill>
                          <a:latin typeface="+mn-lt"/>
                          <a:ea typeface="+mn-ea"/>
                          <a:cs typeface="Arial" panose="020B0604020202020204" pitchFamily="34" charset="0"/>
                        </a:rPr>
                        <a:t> академик </a:t>
                      </a:r>
                      <a:r>
                        <a:rPr lang="ru-RU" sz="700" b="0" kern="1200" noProof="0" dirty="0" err="1">
                          <a:solidFill>
                            <a:schemeClr val="tx1"/>
                          </a:solidFill>
                          <a:latin typeface="+mn-lt"/>
                          <a:ea typeface="+mn-ea"/>
                          <a:cs typeface="Arial" panose="020B0604020202020204" pitchFamily="34" charset="0"/>
                        </a:rPr>
                        <a:t>мусиқали</a:t>
                      </a:r>
                      <a:r>
                        <a:rPr lang="ru-RU" sz="700" b="0" kern="1200" noProof="0" dirty="0">
                          <a:solidFill>
                            <a:schemeClr val="tx1"/>
                          </a:solidFill>
                          <a:latin typeface="+mn-lt"/>
                          <a:ea typeface="+mn-ea"/>
                          <a:cs typeface="Arial" panose="020B0604020202020204" pitchFamily="34" charset="0"/>
                        </a:rPr>
                        <a:t> </a:t>
                      </a:r>
                      <a:r>
                        <a:rPr lang="ru-RU" sz="700" b="0" kern="1200" noProof="0" dirty="0" err="1">
                          <a:solidFill>
                            <a:schemeClr val="tx1"/>
                          </a:solidFill>
                          <a:latin typeface="+mn-lt"/>
                          <a:ea typeface="+mn-ea"/>
                          <a:cs typeface="Arial" panose="020B0604020202020204" pitchFamily="34" charset="0"/>
                        </a:rPr>
                        <a:t>театри</a:t>
                      </a:r>
                      <a:r>
                        <a:rPr lang="ru-RU" sz="700" b="0" kern="1200" noProof="0" dirty="0">
                          <a:solidFill>
                            <a:schemeClr val="tx1"/>
                          </a:solidFill>
                          <a:latin typeface="+mn-lt"/>
                          <a:ea typeface="+mn-ea"/>
                          <a:cs typeface="Arial" panose="020B0604020202020204" pitchFamily="34" charset="0"/>
                        </a:rPr>
                        <a:t> солист-</a:t>
                      </a:r>
                      <a:r>
                        <a:rPr lang="ru-RU" sz="700" b="0" kern="1200" noProof="0" dirty="0" err="1">
                          <a:solidFill>
                            <a:schemeClr val="tx1"/>
                          </a:solidFill>
                          <a:latin typeface="+mn-lt"/>
                          <a:ea typeface="+mn-ea"/>
                          <a:cs typeface="Arial" panose="020B0604020202020204" pitchFamily="34" charset="0"/>
                        </a:rPr>
                        <a:t>вокалисти</a:t>
                      </a:r>
                      <a:r>
                        <a:rPr lang="ru-RU" sz="7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82477">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700" b="0" kern="1200" dirty="0">
                          <a:solidFill>
                            <a:schemeClr val="tx1"/>
                          </a:solidFill>
                          <a:latin typeface="+mn-lt"/>
                          <a:ea typeface="+mn-ea"/>
                          <a:cs typeface="Arial" panose="020B0604020202020204" pitchFamily="34" charset="0"/>
                        </a:rPr>
                        <a:t>Бозорова Жумагул</a:t>
                      </a:r>
                      <a:br>
                        <a:rPr lang="uz-Cyrl-UZ" sz="700" b="0" kern="1200" dirty="0">
                          <a:solidFill>
                            <a:schemeClr val="tx1"/>
                          </a:solidFill>
                          <a:latin typeface="+mn-lt"/>
                          <a:ea typeface="+mn-ea"/>
                          <a:cs typeface="Arial" panose="020B0604020202020204" pitchFamily="34" charset="0"/>
                        </a:rPr>
                      </a:br>
                      <a:r>
                        <a:rPr lang="uz-Cyrl-UZ" sz="700" b="0" kern="1200" noProof="0" dirty="0">
                          <a:solidFill>
                            <a:schemeClr val="tx1"/>
                          </a:solidFill>
                          <a:latin typeface="+mn-lt"/>
                          <a:ea typeface="+mn-ea"/>
                          <a:cs typeface="Arial" panose="020B0604020202020204" pitchFamily="34" charset="0"/>
                        </a:rPr>
                        <a:t>1934 йил, Бухоро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700" b="0" kern="1200" noProof="0" dirty="0">
                          <a:solidFill>
                            <a:schemeClr val="tx1"/>
                          </a:solidFill>
                          <a:latin typeface="+mn-lt"/>
                          <a:ea typeface="+mn-ea"/>
                          <a:cs typeface="Arial" panose="020B0604020202020204" pitchFamily="34" charset="0"/>
                        </a:rPr>
                        <a:t>1999 </a:t>
                      </a:r>
                      <a:r>
                        <a:rPr lang="ru-RU" sz="700" b="0" kern="1200" noProof="0" dirty="0" err="1">
                          <a:solidFill>
                            <a:schemeClr val="tx1"/>
                          </a:solidFill>
                          <a:latin typeface="+mn-lt"/>
                          <a:ea typeface="+mn-ea"/>
                          <a:cs typeface="Arial" panose="020B0604020202020204" pitchFamily="34" charset="0"/>
                        </a:rPr>
                        <a:t>йил</a:t>
                      </a:r>
                      <a:r>
                        <a:rPr lang="ru-RU" sz="700" b="0" kern="1200" noProof="0" dirty="0">
                          <a:solidFill>
                            <a:schemeClr val="tx1"/>
                          </a:solidFill>
                          <a:latin typeface="+mn-lt"/>
                          <a:ea typeface="+mn-ea"/>
                          <a:cs typeface="Arial" panose="020B0604020202020204" pitchFamily="34" charset="0"/>
                        </a:rPr>
                        <a:t> </a:t>
                      </a:r>
                      <a:r>
                        <a:rPr lang="ru-RU" sz="700" b="0" kern="1200" noProof="0" dirty="0" err="1">
                          <a:solidFill>
                            <a:schemeClr val="tx1"/>
                          </a:solidFill>
                          <a:latin typeface="+mn-lt"/>
                          <a:ea typeface="+mn-ea"/>
                          <a:cs typeface="Arial" panose="020B0604020202020204" pitchFamily="34" charset="0"/>
                        </a:rPr>
                        <a:t>вафот</a:t>
                      </a:r>
                      <a:r>
                        <a:rPr lang="ru-RU" sz="700" b="0" kern="1200" noProof="0" dirty="0">
                          <a:solidFill>
                            <a:schemeClr val="tx1"/>
                          </a:solidFill>
                          <a:latin typeface="+mn-lt"/>
                          <a:ea typeface="+mn-ea"/>
                          <a:cs typeface="Arial" panose="020B0604020202020204" pitchFamily="34" charset="0"/>
                        </a:rPr>
                        <a:t> </a:t>
                      </a:r>
                      <a:r>
                        <a:rPr lang="ru-RU" sz="700" b="0" kern="1200" noProof="0" dirty="0" err="1">
                          <a:solidFill>
                            <a:schemeClr val="tx1"/>
                          </a:solidFill>
                          <a:latin typeface="+mn-lt"/>
                          <a:ea typeface="+mn-ea"/>
                          <a:cs typeface="Arial" panose="020B0604020202020204" pitchFamily="34" charset="0"/>
                        </a:rPr>
                        <a:t>этган</a:t>
                      </a:r>
                      <a:endParaRPr lang="ru-RU" sz="700" b="0" kern="1200" noProof="0" dirty="0">
                        <a:solidFill>
                          <a:schemeClr val="tx1"/>
                        </a:solidFill>
                        <a:latin typeface="+mn-lt"/>
                        <a:ea typeface="+mn-ea"/>
                        <a:cs typeface="Arial" panose="020B0604020202020204" pitchFamily="34" charset="0"/>
                      </a:endParaRPr>
                    </a:p>
                    <a:p>
                      <a:pPr algn="l">
                        <a:lnSpc>
                          <a:spcPct val="85000"/>
                        </a:lnSpc>
                      </a:pPr>
                      <a:r>
                        <a:rPr lang="ru-RU" sz="700" b="0" kern="1200" noProof="0" dirty="0">
                          <a:solidFill>
                            <a:schemeClr val="tx1"/>
                          </a:solidFill>
                          <a:latin typeface="+mn-lt"/>
                          <a:ea typeface="+mn-ea"/>
                          <a:cs typeface="Arial" panose="020B0604020202020204" pitchFamily="34" charset="0"/>
                        </a:rPr>
                        <a:t>(</a:t>
                      </a:r>
                      <a:r>
                        <a:rPr lang="ru-RU" sz="700" b="0" kern="1200" noProof="0" dirty="0" err="1">
                          <a:solidFill>
                            <a:schemeClr val="tx1"/>
                          </a:solidFill>
                          <a:latin typeface="+mn-lt"/>
                          <a:ea typeface="+mn-ea"/>
                          <a:cs typeface="Arial" panose="020B0604020202020204" pitchFamily="34" charset="0"/>
                        </a:rPr>
                        <a:t>Варахша</a:t>
                      </a:r>
                      <a:r>
                        <a:rPr lang="ru-RU" sz="700" b="0" kern="1200" noProof="0" dirty="0">
                          <a:solidFill>
                            <a:schemeClr val="tx1"/>
                          </a:solidFill>
                          <a:latin typeface="+mn-lt"/>
                          <a:ea typeface="+mn-ea"/>
                          <a:cs typeface="Arial" panose="020B0604020202020204" pitchFamily="34" charset="0"/>
                        </a:rPr>
                        <a:t> </a:t>
                      </a:r>
                      <a:r>
                        <a:rPr lang="ru-RU" sz="700" b="0" kern="1200" noProof="0" dirty="0" err="1">
                          <a:solidFill>
                            <a:schemeClr val="tx1"/>
                          </a:solidFill>
                          <a:latin typeface="+mn-lt"/>
                          <a:ea typeface="+mn-ea"/>
                          <a:cs typeface="Arial" panose="020B0604020202020204" pitchFamily="34" charset="0"/>
                        </a:rPr>
                        <a:t>жамоа</a:t>
                      </a:r>
                      <a:r>
                        <a:rPr lang="ru-RU" sz="700" b="0" kern="1200" noProof="0" dirty="0">
                          <a:solidFill>
                            <a:schemeClr val="tx1"/>
                          </a:solidFill>
                          <a:latin typeface="+mn-lt"/>
                          <a:ea typeface="+mn-ea"/>
                          <a:cs typeface="Arial" panose="020B0604020202020204" pitchFamily="34" charset="0"/>
                        </a:rPr>
                        <a:t> </a:t>
                      </a:r>
                      <a:r>
                        <a:rPr lang="ru-RU" sz="700" b="0" kern="1200" noProof="0" dirty="0" err="1">
                          <a:solidFill>
                            <a:schemeClr val="tx1"/>
                          </a:solidFill>
                          <a:latin typeface="+mn-lt"/>
                          <a:ea typeface="+mn-ea"/>
                          <a:cs typeface="Arial" panose="020B0604020202020204" pitchFamily="34" charset="0"/>
                        </a:rPr>
                        <a:t>хўжалиги</a:t>
                      </a:r>
                      <a:r>
                        <a:rPr lang="ru-RU" sz="700" b="0" kern="1200" noProof="0" dirty="0">
                          <a:solidFill>
                            <a:schemeClr val="tx1"/>
                          </a:solidFill>
                          <a:latin typeface="+mn-lt"/>
                          <a:ea typeface="+mn-ea"/>
                          <a:cs typeface="Arial" panose="020B0604020202020204" pitchFamily="34" charset="0"/>
                        </a:rPr>
                        <a:t> </a:t>
                      </a:r>
                      <a:r>
                        <a:rPr lang="ru-RU" sz="700" b="0" kern="1200" noProof="0" dirty="0" err="1">
                          <a:solidFill>
                            <a:schemeClr val="tx1"/>
                          </a:solidFill>
                          <a:latin typeface="+mn-lt"/>
                          <a:ea typeface="+mn-ea"/>
                          <a:cs typeface="Arial" panose="020B0604020202020204" pitchFamily="34" charset="0"/>
                        </a:rPr>
                        <a:t>ишчиси</a:t>
                      </a:r>
                      <a:r>
                        <a:rPr lang="ru-RU" sz="7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87772">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700" b="0" kern="1200" dirty="0">
                          <a:solidFill>
                            <a:schemeClr val="tx1"/>
                          </a:solidFill>
                          <a:latin typeface="+mn-lt"/>
                          <a:ea typeface="+mn-ea"/>
                          <a:cs typeface="Arial" panose="020B0604020202020204" pitchFamily="34" charset="0"/>
                        </a:rPr>
                        <a:t>Тўхтаева Мушарраф</a:t>
                      </a:r>
                    </a:p>
                    <a:p>
                      <a:pPr algn="l">
                        <a:lnSpc>
                          <a:spcPct val="85000"/>
                        </a:lnSpc>
                      </a:pPr>
                      <a:r>
                        <a:rPr lang="uz-Cyrl-UZ" sz="700" b="0" kern="1200" noProof="0" dirty="0">
                          <a:solidFill>
                            <a:schemeClr val="tx1"/>
                          </a:solidFill>
                          <a:latin typeface="+mn-lt"/>
                          <a:ea typeface="+mn-ea"/>
                          <a:cs typeface="Arial" panose="020B0604020202020204" pitchFamily="34" charset="0"/>
                        </a:rPr>
                        <a:t>1960 йил, Бухоро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700" b="0" kern="1200" noProof="0" dirty="0">
                          <a:solidFill>
                            <a:schemeClr val="tx1"/>
                          </a:solidFill>
                          <a:latin typeface="+mn-lt"/>
                          <a:ea typeface="+mn-ea"/>
                          <a:cs typeface="Arial" panose="020B0604020202020204" pitchFamily="34" charset="0"/>
                        </a:rPr>
                        <a:t>Пенсияда</a:t>
                      </a:r>
                    </a:p>
                    <a:p>
                      <a:pPr algn="l">
                        <a:lnSpc>
                          <a:spcPct val="85000"/>
                        </a:lnSpc>
                      </a:pPr>
                      <a:r>
                        <a:rPr lang="uz-Cyrl-UZ" sz="700" b="0" kern="1200" noProof="0" dirty="0">
                          <a:solidFill>
                            <a:schemeClr val="tx1"/>
                          </a:solidFill>
                          <a:latin typeface="+mn-lt"/>
                          <a:ea typeface="+mn-ea"/>
                          <a:cs typeface="Arial" panose="020B0604020202020204" pitchFamily="34" charset="0"/>
                        </a:rPr>
                        <a:t>(</a:t>
                      </a:r>
                      <a:r>
                        <a:rPr lang="uz-Cyrl-UZ" sz="700" b="0" kern="1200" dirty="0">
                          <a:solidFill>
                            <a:schemeClr val="tx1"/>
                          </a:solidFill>
                          <a:latin typeface="+mn-lt"/>
                          <a:ea typeface="+mn-ea"/>
                          <a:cs typeface="Arial" panose="020B0604020202020204" pitchFamily="34" charset="0"/>
                        </a:rPr>
                        <a:t>Муқимий номидаги Ўзбекистон давлат мусиқали театри  вокал артисти</a:t>
                      </a:r>
                      <a:r>
                        <a:rPr lang="uz-Cyrl-UZ" sz="7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88049">
                <a:tc gridSpan="5">
                  <a:txBody>
                    <a:bodyPr/>
                    <a:lstStyle/>
                    <a:p>
                      <a:pPr algn="ctr">
                        <a:lnSpc>
                          <a:spcPct val="85000"/>
                        </a:lnSpc>
                      </a:pPr>
                      <a:r>
                        <a:rPr lang="uz-Cyrl-UZ" sz="8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65260">
                <a:tc gridSpan="3">
                  <a:txBody>
                    <a:bodyPr/>
                    <a:lstStyle/>
                    <a:p>
                      <a:pPr algn="l">
                        <a:lnSpc>
                          <a:spcPct val="85000"/>
                        </a:lnSpc>
                      </a:pPr>
                      <a:r>
                        <a:rPr lang="uz-Cyrl-UZ" sz="800" b="1" noProof="0" dirty="0">
                          <a:latin typeface="+mn-lt"/>
                        </a:rPr>
                        <a:t>Тамомлаган ОТМ:</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a:solidFill>
                            <a:schemeClr val="tx1"/>
                          </a:solidFill>
                          <a:latin typeface="+mn-lt"/>
                          <a:ea typeface="+mn-ea"/>
                          <a:cs typeface="+mn-cs"/>
                        </a:rPr>
                        <a:t>1985 й. </a:t>
                      </a:r>
                      <a:r>
                        <a:rPr lang="ru-RU" sz="800" b="0" kern="1200" noProof="0" dirty="0" err="1">
                          <a:solidFill>
                            <a:schemeClr val="tx1"/>
                          </a:solidFill>
                          <a:latin typeface="+mn-lt"/>
                          <a:ea typeface="+mn-ea"/>
                          <a:cs typeface="+mn-cs"/>
                        </a:rPr>
                        <a:t>Тошкент</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давлат</a:t>
                      </a:r>
                      <a:r>
                        <a:rPr lang="ru-RU" sz="800" b="0" kern="1200" noProof="0" dirty="0">
                          <a:solidFill>
                            <a:schemeClr val="tx1"/>
                          </a:solidFill>
                          <a:latin typeface="+mn-lt"/>
                          <a:ea typeface="+mn-ea"/>
                          <a:cs typeface="+mn-cs"/>
                        </a:rPr>
                        <a:t> театр </a:t>
                      </a:r>
                      <a:r>
                        <a:rPr lang="ru-RU" sz="800" b="0" kern="1200" noProof="0" dirty="0" err="1">
                          <a:solidFill>
                            <a:schemeClr val="tx1"/>
                          </a:solidFill>
                          <a:latin typeface="+mn-lt"/>
                          <a:ea typeface="+mn-ea"/>
                          <a:cs typeface="+mn-cs"/>
                        </a:rPr>
                        <a:t>ва</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рассомчилик</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санъати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институти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кундузги</a:t>
                      </a:r>
                      <a:r>
                        <a:rPr lang="ru-RU" sz="8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48501">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800" b="1" noProof="0" dirty="0">
                          <a:latin typeface="+mn-lt"/>
                        </a:rPr>
                        <a:t>Мутахассислиги:</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Мусиқали драма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83654">
                <a:tc gridSpan="3">
                  <a:txBody>
                    <a:bodyPr/>
                    <a:lstStyle/>
                    <a:p>
                      <a:pPr algn="l">
                        <a:lnSpc>
                          <a:spcPct val="85000"/>
                        </a:lnSpc>
                      </a:pPr>
                      <a:r>
                        <a:rPr lang="uz-Cyrl-UZ" sz="800" b="1" kern="1200" noProof="0" dirty="0">
                          <a:solidFill>
                            <a:schemeClr val="tx1"/>
                          </a:solidFill>
                          <a:latin typeface="+mn-lt"/>
                          <a:ea typeface="+mn-ea"/>
                          <a:cs typeface="+mn-cs"/>
                        </a:rPr>
                        <a:t>Илмий даража</a:t>
                      </a:r>
                      <a:r>
                        <a:rPr lang="en-US" sz="800" b="1" kern="1200" noProof="0" dirty="0">
                          <a:solidFill>
                            <a:schemeClr val="tx1"/>
                          </a:solidFill>
                          <a:latin typeface="+mn-lt"/>
                          <a:ea typeface="+mn-ea"/>
                          <a:cs typeface="+mn-cs"/>
                        </a:rPr>
                        <a:t> (</a:t>
                      </a:r>
                      <a:r>
                        <a:rPr lang="uz-Cyrl-UZ" sz="800" b="1" kern="1200" noProof="0" dirty="0">
                          <a:solidFill>
                            <a:schemeClr val="tx1"/>
                          </a:solidFill>
                          <a:latin typeface="+mn-lt"/>
                          <a:ea typeface="+mn-ea"/>
                          <a:cs typeface="+mn-cs"/>
                        </a:rPr>
                        <a:t>унвон</a:t>
                      </a:r>
                      <a:r>
                        <a:rPr lang="en-US" sz="800" b="1" kern="1200" noProof="0" dirty="0">
                          <a:solidFill>
                            <a:schemeClr val="tx1"/>
                          </a:solidFill>
                          <a:latin typeface="+mn-lt"/>
                          <a:ea typeface="+mn-ea"/>
                          <a:cs typeface="+mn-cs"/>
                        </a:rPr>
                        <a:t>)</a:t>
                      </a:r>
                      <a:r>
                        <a:rPr lang="uz-Cyrl-UZ" sz="8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Йўқ</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83654">
                <a:tc gridSpan="3">
                  <a:txBody>
                    <a:bodyPr/>
                    <a:lstStyle/>
                    <a:p>
                      <a:pPr algn="l">
                        <a:lnSpc>
                          <a:spcPct val="85000"/>
                        </a:lnSpc>
                      </a:pPr>
                      <a:r>
                        <a:rPr lang="uz-Cyrl-UZ" sz="8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Рус тили</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283052">
                <a:tc gridSpan="3">
                  <a:txBody>
                    <a:bodyPr/>
                    <a:lstStyle/>
                    <a:p>
                      <a:pPr algn="l">
                        <a:lnSpc>
                          <a:spcPct val="85000"/>
                        </a:lnSpc>
                      </a:pPr>
                      <a:r>
                        <a:rPr lang="uz-Cyrl-UZ" sz="8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err="1">
                          <a:solidFill>
                            <a:schemeClr val="tx1"/>
                          </a:solidFill>
                          <a:latin typeface="+mn-lt"/>
                          <a:ea typeface="+mn-ea"/>
                          <a:cs typeface="+mn-cs"/>
                        </a:rPr>
                        <a:t>Йўқ</a:t>
                      </a:r>
                      <a:endParaRPr lang="ru-RU"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920824504"/>
              </p:ext>
            </p:extLst>
          </p:nvPr>
        </p:nvGraphicFramePr>
        <p:xfrm>
          <a:off x="3662362" y="865689"/>
          <a:ext cx="3185005" cy="5914055"/>
        </p:xfrm>
        <a:graphic>
          <a:graphicData uri="http://schemas.openxmlformats.org/drawingml/2006/table">
            <a:tbl>
              <a:tblPr firstRow="1" bandRow="1">
                <a:tableStyleId>{C083E6E3-FA7D-4D7B-A595-EF9225AFEA82}</a:tableStyleId>
              </a:tblPr>
              <a:tblGrid>
                <a:gridCol w="1509406">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19299">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89787">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800" b="1" kern="1200" noProof="0" dirty="0">
                          <a:solidFill>
                            <a:schemeClr val="tx1"/>
                          </a:solidFill>
                          <a:latin typeface="+mn-lt"/>
                          <a:ea typeface="+mn-ea"/>
                          <a:cs typeface="+mn-cs"/>
                        </a:rPr>
                        <a:t>1985 йилдан Муқимий номидаги Ўзбекистон давлат академик мусиқали театри солист-вокалисти</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8253">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800" b="0" kern="1200" noProof="0" dirty="0">
                          <a:solidFill>
                            <a:schemeClr val="tx1"/>
                          </a:solidFill>
                          <a:latin typeface="+mn-lt"/>
                          <a:ea typeface="+mn-ea"/>
                          <a:cs typeface="+mn-cs"/>
                        </a:rPr>
                        <a:t>Й</a:t>
                      </a:r>
                      <a:r>
                        <a:rPr lang="ru-RU" sz="800" b="0" kern="1200" noProof="0" dirty="0" err="1">
                          <a:solidFill>
                            <a:schemeClr val="tx1"/>
                          </a:solidFill>
                          <a:latin typeface="+mn-lt"/>
                          <a:ea typeface="+mn-ea"/>
                          <a:cs typeface="+mn-cs"/>
                        </a:rPr>
                        <a:t>ўқ</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509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41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101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5019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algn="l" defTabSz="914400" rtl="0" eaLnBrk="1" latinLnBrk="0" hangingPunct="1"/>
                      <a:endParaRPr lang="ru-RU" sz="800" b="1"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17722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407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407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5134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0979">
                <a:tc gridSpan="2">
                  <a:txBody>
                    <a:bodyPr/>
                    <a:lstStyle/>
                    <a:p>
                      <a:pPr algn="ctr"/>
                      <a:r>
                        <a:rPr lang="uz-Cyrl-UZ" sz="8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382725">
                <a:tc gridSpan="2">
                  <a:txBody>
                    <a:bodyPr/>
                    <a:lstStyle/>
                    <a:p>
                      <a:pPr marL="0" algn="l" defTabSz="914400" rtl="0" eaLnBrk="1" latinLnBrk="0" hangingPunct="1"/>
                      <a:r>
                        <a:rPr lang="ru-RU" sz="900" kern="1200" dirty="0">
                          <a:solidFill>
                            <a:schemeClr val="tx1"/>
                          </a:solidFill>
                          <a:effectLst/>
                          <a:latin typeface="+mn-lt"/>
                          <a:ea typeface="+mn-ea"/>
                          <a:cs typeface="Times New Roman" panose="02020603050405020304" pitchFamily="18" charset="0"/>
                        </a:rPr>
                        <a:t>2011 й. “</a:t>
                      </a:r>
                      <a:r>
                        <a:rPr lang="ru-RU" sz="900" kern="1200" dirty="0" err="1">
                          <a:solidFill>
                            <a:schemeClr val="tx1"/>
                          </a:solidFill>
                          <a:effectLst/>
                          <a:latin typeface="+mn-lt"/>
                          <a:ea typeface="+mn-ea"/>
                          <a:cs typeface="Times New Roman" panose="02020603050405020304" pitchFamily="18" charset="0"/>
                        </a:rPr>
                        <a:t>Ўзбекистон</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Республикасида</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хизмат</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кўрсатган</a:t>
                      </a:r>
                      <a:r>
                        <a:rPr lang="ru-RU" sz="900" kern="1200" dirty="0">
                          <a:solidFill>
                            <a:schemeClr val="tx1"/>
                          </a:solidFill>
                          <a:effectLst/>
                          <a:latin typeface="+mn-lt"/>
                          <a:ea typeface="+mn-ea"/>
                          <a:cs typeface="Times New Roman" panose="02020603050405020304" pitchFamily="18" charset="0"/>
                        </a:rPr>
                        <a:t> артист” </a:t>
                      </a:r>
                      <a:r>
                        <a:rPr lang="ru-RU" sz="900" kern="1200" dirty="0" err="1">
                          <a:solidFill>
                            <a:schemeClr val="tx1"/>
                          </a:solidFill>
                          <a:effectLst/>
                          <a:latin typeface="+mn-lt"/>
                          <a:ea typeface="+mn-ea"/>
                          <a:cs typeface="Times New Roman" panose="02020603050405020304" pitchFamily="18" charset="0"/>
                        </a:rPr>
                        <a:t>фахрий</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унвони</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ru-RU" sz="900" kern="1200" dirty="0">
                          <a:solidFill>
                            <a:schemeClr val="tx1"/>
                          </a:solidFill>
                          <a:effectLst/>
                          <a:latin typeface="+mn-lt"/>
                          <a:ea typeface="+mn-ea"/>
                          <a:cs typeface="Times New Roman" panose="02020603050405020304" pitchFamily="18" charset="0"/>
                        </a:rPr>
                        <a:t>1985 й. -  </a:t>
                      </a:r>
                      <a:r>
                        <a:rPr lang="ru-RU" sz="900" kern="1200" dirty="0" err="1">
                          <a:solidFill>
                            <a:schemeClr val="tx1"/>
                          </a:solidFill>
                          <a:effectLst/>
                          <a:latin typeface="+mn-lt"/>
                          <a:ea typeface="+mn-ea"/>
                          <a:cs typeface="Times New Roman" panose="02020603050405020304" pitchFamily="18" charset="0"/>
                        </a:rPr>
                        <a:t>ҳ.в</a:t>
                      </a:r>
                      <a:r>
                        <a:rPr lang="ru-RU" sz="900" kern="1200" dirty="0">
                          <a:solidFill>
                            <a:schemeClr val="tx1"/>
                          </a:solidFill>
                          <a:effectLst/>
                          <a:latin typeface="+mn-lt"/>
                          <a:ea typeface="+mn-ea"/>
                          <a:cs typeface="Times New Roman" panose="02020603050405020304" pitchFamily="18" charset="0"/>
                        </a:rPr>
                        <a:t>.  - </a:t>
                      </a:r>
                      <a:r>
                        <a:rPr lang="ru-RU" sz="900" kern="1200" dirty="0" err="1">
                          <a:solidFill>
                            <a:schemeClr val="tx1"/>
                          </a:solidFill>
                          <a:effectLst/>
                          <a:latin typeface="+mn-lt"/>
                          <a:ea typeface="+mn-ea"/>
                          <a:cs typeface="Times New Roman" panose="02020603050405020304" pitchFamily="18" charset="0"/>
                        </a:rPr>
                        <a:t>Муқимий</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номидаги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Ўзбекистон</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давлат</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мусиқали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театри</a:t>
                      </a:r>
                      <a:r>
                        <a:rPr lang="ru-RU" sz="900" kern="1200" dirty="0">
                          <a:solidFill>
                            <a:schemeClr val="tx1"/>
                          </a:solidFill>
                          <a:effectLst/>
                          <a:latin typeface="+mn-lt"/>
                          <a:ea typeface="+mn-ea"/>
                          <a:cs typeface="Times New Roman" panose="02020603050405020304" pitchFamily="18" charset="0"/>
                        </a:rPr>
                        <a:t>  солист-</a:t>
                      </a:r>
                      <a:r>
                        <a:rPr lang="ru-RU" sz="900" kern="1200" dirty="0" err="1">
                          <a:solidFill>
                            <a:schemeClr val="tx1"/>
                          </a:solidFill>
                          <a:effectLst/>
                          <a:latin typeface="+mn-lt"/>
                          <a:ea typeface="+mn-ea"/>
                          <a:cs typeface="Times New Roman" panose="02020603050405020304" pitchFamily="18" charset="0"/>
                        </a:rPr>
                        <a:t>вокалисти</a:t>
                      </a:r>
                      <a:endParaRPr lang="ru-RU" sz="900"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759187197"/>
              </p:ext>
            </p:extLst>
          </p:nvPr>
        </p:nvGraphicFramePr>
        <p:xfrm>
          <a:off x="6898612" y="902734"/>
          <a:ext cx="2868492" cy="5883486"/>
        </p:xfrm>
        <a:graphic>
          <a:graphicData uri="http://schemas.openxmlformats.org/drawingml/2006/table">
            <a:tbl>
              <a:tblPr firstRow="1" bandRow="1">
                <a:tableStyleId>{C083E6E3-FA7D-4D7B-A595-EF9225AFEA82}</a:tableStyleId>
              </a:tblPr>
              <a:tblGrid>
                <a:gridCol w="2868492">
                  <a:extLst>
                    <a:ext uri="{9D8B030D-6E8A-4147-A177-3AD203B41FA5}">
                      <a16:colId xmlns:a16="http://schemas.microsoft.com/office/drawing/2014/main" val="2715609854"/>
                    </a:ext>
                  </a:extLst>
                </a:gridCol>
              </a:tblGrid>
              <a:tr h="227861">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0644">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19199">
                <a:tc>
                  <a:txBody>
                    <a:bodyPr/>
                    <a:lstStyle/>
                    <a:p>
                      <a:pPr marL="0" algn="just" defTabSz="914400" rtl="0" eaLnBrk="1" latinLnBrk="0" hangingPunct="1"/>
                      <a:r>
                        <a:rPr lang="en-US" sz="900" b="0" kern="1200" dirty="0" smtClean="0">
                          <a:solidFill>
                            <a:schemeClr val="tx1"/>
                          </a:solidFill>
                          <a:latin typeface="+mn-lt"/>
                          <a:ea typeface="+mn-ea"/>
                          <a:cs typeface="+mn-cs"/>
                        </a:rPr>
                        <a:t>    </a:t>
                      </a:r>
                      <a:r>
                        <a:rPr lang="uz-Cyrl-UZ" sz="900" b="0" kern="1200" dirty="0" smtClean="0">
                          <a:solidFill>
                            <a:schemeClr val="tx1"/>
                          </a:solidFill>
                          <a:latin typeface="+mn-lt"/>
                          <a:ea typeface="+mn-ea"/>
                          <a:cs typeface="+mn-cs"/>
                        </a:rPr>
                        <a:t>2012 </a:t>
                      </a:r>
                      <a:r>
                        <a:rPr lang="uz-Cyrl-UZ" sz="900" b="0" kern="1200" dirty="0">
                          <a:solidFill>
                            <a:schemeClr val="tx1"/>
                          </a:solidFill>
                          <a:latin typeface="+mn-lt"/>
                          <a:ea typeface="+mn-ea"/>
                          <a:cs typeface="+mn-cs"/>
                        </a:rPr>
                        <a:t>йили “Ўзбекистонда хизмат кўрсатган артист” фахрий унвони билан мукофотланган.</a:t>
                      </a:r>
                      <a:endParaRPr lang="ru-RU" sz="900" b="0" kern="1200" dirty="0">
                        <a:solidFill>
                          <a:schemeClr val="tx1"/>
                        </a:solidFill>
                        <a:latin typeface="+mn-lt"/>
                        <a:ea typeface="+mn-ea"/>
                        <a:cs typeface="+mn-cs"/>
                      </a:endParaRPr>
                    </a:p>
                    <a:p>
                      <a:pPr marL="0" algn="just" defTabSz="914400" rtl="0" eaLnBrk="1" latinLnBrk="0" hangingPunct="1"/>
                      <a:r>
                        <a:rPr lang="uz-Cyrl-UZ" sz="900" b="0" kern="1200" dirty="0">
                          <a:solidFill>
                            <a:schemeClr val="tx1"/>
                          </a:solidFill>
                          <a:latin typeface="+mn-lt"/>
                          <a:ea typeface="+mn-ea"/>
                          <a:cs typeface="+mn-cs"/>
                        </a:rPr>
                        <a:t> </a:t>
                      </a:r>
                      <a:r>
                        <a:rPr lang="en-US" sz="900" b="0" kern="1200" dirty="0" smtClean="0">
                          <a:solidFill>
                            <a:schemeClr val="tx1"/>
                          </a:solidFill>
                          <a:latin typeface="+mn-lt"/>
                          <a:ea typeface="+mn-ea"/>
                          <a:cs typeface="+mn-cs"/>
                        </a:rPr>
                        <a:t>    </a:t>
                      </a:r>
                      <a:r>
                        <a:rPr lang="uz-Cyrl-UZ" sz="900" b="0" kern="1200" dirty="0" smtClean="0">
                          <a:solidFill>
                            <a:schemeClr val="tx1"/>
                          </a:solidFill>
                          <a:latin typeface="+mn-lt"/>
                          <a:ea typeface="+mn-ea"/>
                          <a:cs typeface="+mn-cs"/>
                        </a:rPr>
                        <a:t>1985 </a:t>
                      </a:r>
                      <a:r>
                        <a:rPr lang="uz-Cyrl-UZ" sz="900" b="0" kern="1200" dirty="0">
                          <a:solidFill>
                            <a:schemeClr val="tx1"/>
                          </a:solidFill>
                          <a:latin typeface="+mn-lt"/>
                          <a:ea typeface="+mn-ea"/>
                          <a:cs typeface="+mn-cs"/>
                        </a:rPr>
                        <a:t>йилдан буён ушбу театрда ишлайди. Умумий меҳнат стажи 41 йил. 1994 йилдан олий тоифадаги солист-вокалист Г.Носирова ўз ижодий фаолияти давомида театрда саҳналаштирилган 50 дан ортиқ спектаклларда бош қаҳрамонлар роллари ва  характерли образларни юксак маҳорат билан ижро этиб, репертуарни бойитиб келмоқда. Жумладан, “Чароғондир чўлда юлдузлар” спектаклида Қиз, “Топталган туйғу”да Маъсума, “Суперқайнона”, “Суперқайнона-2“да Холида, Ҳожар, Сурайё, “Бу телба хонадон”да Қайнона, “Асл хазина” да Эркиной, “Олифта”да Сора, ”Қайнона” мусиқали комедиясида Қайнона, “Хонума”да Хонума,  “Сарвқомат дилбарим”да Она, “Бахши”да Улдон каби образлари мутахассислар томонидан юқори баҳоланган. Айниқса, унинг “Асл хазина” спектаклида яратган Эркиной образи ўзининг ички кечинмаларга бойлиги, ўзбек аёли тимсолида кўпчиликка маъқул бўлди. </a:t>
                      </a:r>
                      <a:endParaRPr lang="ru-RU" sz="900" b="0" kern="1200" dirty="0">
                        <a:solidFill>
                          <a:schemeClr val="tx1"/>
                        </a:solidFill>
                        <a:latin typeface="+mn-lt"/>
                        <a:ea typeface="+mn-ea"/>
                        <a:cs typeface="+mn-cs"/>
                      </a:endParaRPr>
                    </a:p>
                    <a:p>
                      <a:pPr marL="0" algn="just" defTabSz="914400" rtl="0" eaLnBrk="1" latinLnBrk="0" hangingPunct="1"/>
                      <a:r>
                        <a:rPr lang="en-US" sz="900" b="0" kern="1200" dirty="0" smtClean="0">
                          <a:solidFill>
                            <a:schemeClr val="tx1"/>
                          </a:solidFill>
                          <a:latin typeface="+mn-lt"/>
                          <a:ea typeface="+mn-ea"/>
                          <a:cs typeface="+mn-cs"/>
                        </a:rPr>
                        <a:t>    </a:t>
                      </a:r>
                      <a:r>
                        <a:rPr lang="ru-RU" sz="900" b="0" kern="1200" dirty="0" smtClean="0">
                          <a:solidFill>
                            <a:schemeClr val="tx1"/>
                          </a:solidFill>
                          <a:latin typeface="+mn-lt"/>
                          <a:ea typeface="+mn-ea"/>
                          <a:cs typeface="+mn-cs"/>
                        </a:rPr>
                        <a:t>Радио </a:t>
                      </a:r>
                      <a:r>
                        <a:rPr lang="ru-RU" sz="900" b="0" kern="1200" dirty="0" err="1">
                          <a:solidFill>
                            <a:schemeClr val="tx1"/>
                          </a:solidFill>
                          <a:latin typeface="+mn-lt"/>
                          <a:ea typeface="+mn-ea"/>
                          <a:cs typeface="+mn-cs"/>
                        </a:rPr>
                        <a:t>ва</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телеведение</a:t>
                      </a:r>
                      <a:r>
                        <a:rPr lang="ru-RU" sz="900" b="0" kern="1200" dirty="0">
                          <a:solidFill>
                            <a:schemeClr val="tx1"/>
                          </a:solidFill>
                          <a:latin typeface="+mn-lt"/>
                          <a:ea typeface="+mn-ea"/>
                          <a:cs typeface="+mn-cs"/>
                        </a:rPr>
                        <a:t>  </a:t>
                      </a:r>
                      <a:r>
                        <a:rPr lang="uz-Cyrl-UZ" sz="900" b="0" kern="1200" dirty="0">
                          <a:solidFill>
                            <a:schemeClr val="tx1"/>
                          </a:solidFill>
                          <a:latin typeface="+mn-lt"/>
                          <a:ea typeface="+mn-ea"/>
                          <a:cs typeface="+mn-cs"/>
                        </a:rPr>
                        <a:t>ҳ</a:t>
                      </a:r>
                      <a:r>
                        <a:rPr lang="ru-RU" sz="900" b="0" kern="1200" dirty="0" err="1">
                          <a:solidFill>
                            <a:schemeClr val="tx1"/>
                          </a:solidFill>
                          <a:latin typeface="+mn-lt"/>
                          <a:ea typeface="+mn-ea"/>
                          <a:cs typeface="+mn-cs"/>
                        </a:rPr>
                        <a:t>амда</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кинофильмларда</a:t>
                      </a:r>
                      <a:r>
                        <a:rPr lang="ru-RU" sz="900" b="0" kern="1200" dirty="0">
                          <a:solidFill>
                            <a:schemeClr val="tx1"/>
                          </a:solidFill>
                          <a:latin typeface="+mn-lt"/>
                          <a:ea typeface="+mn-ea"/>
                          <a:cs typeface="+mn-cs"/>
                        </a:rPr>
                        <a:t> </a:t>
                      </a:r>
                      <a:r>
                        <a:rPr lang="uz-Cyrl-UZ" sz="900" b="0" kern="1200" dirty="0">
                          <a:solidFill>
                            <a:schemeClr val="tx1"/>
                          </a:solidFill>
                          <a:latin typeface="+mn-lt"/>
                          <a:ea typeface="+mn-ea"/>
                          <a:cs typeface="+mn-cs"/>
                        </a:rPr>
                        <a:t>ҳ</a:t>
                      </a:r>
                      <a:r>
                        <a:rPr lang="ru-RU" sz="900" b="0" kern="1200" dirty="0" err="1">
                          <a:solidFill>
                            <a:schemeClr val="tx1"/>
                          </a:solidFill>
                          <a:latin typeface="+mn-lt"/>
                          <a:ea typeface="+mn-ea"/>
                          <a:cs typeface="+mn-cs"/>
                        </a:rPr>
                        <a:t>ам</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ижод</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этиб</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кел</a:t>
                      </a:r>
                      <a:r>
                        <a:rPr lang="uz-Cyrl-UZ" sz="900" b="0" kern="1200" dirty="0">
                          <a:solidFill>
                            <a:schemeClr val="tx1"/>
                          </a:solidFill>
                          <a:latin typeface="+mn-lt"/>
                          <a:ea typeface="+mn-ea"/>
                          <a:cs typeface="+mn-cs"/>
                        </a:rPr>
                        <a:t>а</a:t>
                      </a:r>
                      <a:r>
                        <a:rPr lang="ru-RU" sz="900" b="0" kern="1200" dirty="0" err="1">
                          <a:solidFill>
                            <a:schemeClr val="tx1"/>
                          </a:solidFill>
                          <a:latin typeface="+mn-lt"/>
                          <a:ea typeface="+mn-ea"/>
                          <a:cs typeface="+mn-cs"/>
                        </a:rPr>
                        <a:t>япти</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Бундан</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таш</a:t>
                      </a:r>
                      <a:r>
                        <a:rPr lang="uz-Cyrl-UZ" sz="900" b="0" kern="1200" dirty="0">
                          <a:solidFill>
                            <a:schemeClr val="tx1"/>
                          </a:solidFill>
                          <a:latin typeface="+mn-lt"/>
                          <a:ea typeface="+mn-ea"/>
                          <a:cs typeface="+mn-cs"/>
                        </a:rPr>
                        <a:t>қ</a:t>
                      </a:r>
                      <a:r>
                        <a:rPr lang="ru-RU" sz="900" b="0" kern="1200" dirty="0" err="1">
                          <a:solidFill>
                            <a:schemeClr val="tx1"/>
                          </a:solidFill>
                          <a:latin typeface="+mn-lt"/>
                          <a:ea typeface="+mn-ea"/>
                          <a:cs typeface="+mn-cs"/>
                        </a:rPr>
                        <a:t>ари</a:t>
                      </a:r>
                      <a:r>
                        <a:rPr lang="ru-RU" sz="900" b="0" kern="1200" dirty="0">
                          <a:solidFill>
                            <a:schemeClr val="tx1"/>
                          </a:solidFill>
                          <a:latin typeface="+mn-lt"/>
                          <a:ea typeface="+mn-ea"/>
                          <a:cs typeface="+mn-cs"/>
                        </a:rPr>
                        <a:t> дубляж </a:t>
                      </a:r>
                      <a:r>
                        <a:rPr lang="ru-RU" sz="900" b="0" kern="1200" dirty="0" err="1">
                          <a:solidFill>
                            <a:schemeClr val="tx1"/>
                          </a:solidFill>
                          <a:latin typeface="+mn-lt"/>
                          <a:ea typeface="+mn-ea"/>
                          <a:cs typeface="+mn-cs"/>
                        </a:rPr>
                        <a:t>сохасида</a:t>
                      </a:r>
                      <a:r>
                        <a:rPr lang="ru-RU" sz="900" b="0" kern="1200" dirty="0">
                          <a:solidFill>
                            <a:schemeClr val="tx1"/>
                          </a:solidFill>
                          <a:latin typeface="+mn-lt"/>
                          <a:ea typeface="+mn-ea"/>
                          <a:cs typeface="+mn-cs"/>
                        </a:rPr>
                        <a:t> 10 </a:t>
                      </a:r>
                      <a:r>
                        <a:rPr lang="ru-RU" sz="900" b="0" kern="1200" dirty="0" err="1">
                          <a:solidFill>
                            <a:schemeClr val="tx1"/>
                          </a:solidFill>
                          <a:latin typeface="+mn-lt"/>
                          <a:ea typeface="+mn-ea"/>
                          <a:cs typeface="+mn-cs"/>
                        </a:rPr>
                        <a:t>йилдан</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орти</a:t>
                      </a:r>
                      <a:r>
                        <a:rPr lang="uz-Cyrl-UZ" sz="900" b="0" kern="1200" dirty="0">
                          <a:solidFill>
                            <a:schemeClr val="tx1"/>
                          </a:solidFill>
                          <a:latin typeface="+mn-lt"/>
                          <a:ea typeface="+mn-ea"/>
                          <a:cs typeface="+mn-cs"/>
                        </a:rPr>
                        <a:t>қ</a:t>
                      </a:r>
                      <a:r>
                        <a:rPr lang="ru-RU" sz="900" b="0" kern="1200" dirty="0">
                          <a:solidFill>
                            <a:schemeClr val="tx1"/>
                          </a:solidFill>
                          <a:latin typeface="+mn-lt"/>
                          <a:ea typeface="+mn-ea"/>
                          <a:cs typeface="+mn-cs"/>
                        </a:rPr>
                        <a:t>  </a:t>
                      </a:r>
                      <a:r>
                        <a:rPr lang="uz-Cyrl-UZ" sz="900" b="0" kern="1200" dirty="0">
                          <a:solidFill>
                            <a:schemeClr val="tx1"/>
                          </a:solidFill>
                          <a:latin typeface="+mn-lt"/>
                          <a:ea typeface="+mn-ea"/>
                          <a:cs typeface="+mn-cs"/>
                        </a:rPr>
                        <a:t>ў</a:t>
                      </a:r>
                      <a:r>
                        <a:rPr lang="ru-RU" sz="900" b="0" kern="1200" dirty="0" err="1">
                          <a:solidFill>
                            <a:schemeClr val="tx1"/>
                          </a:solidFill>
                          <a:latin typeface="+mn-lt"/>
                          <a:ea typeface="+mn-ea"/>
                          <a:cs typeface="+mn-cs"/>
                        </a:rPr>
                        <a:t>зининг</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жарангдор</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ширали</a:t>
                      </a:r>
                      <a:r>
                        <a:rPr lang="uz-Cyrl-UZ" sz="900" b="0" kern="1200" dirty="0">
                          <a:solidFill>
                            <a:schemeClr val="tx1"/>
                          </a:solidFill>
                          <a:latin typeface="+mn-lt"/>
                          <a:ea typeface="+mn-ea"/>
                          <a:cs typeface="+mn-cs"/>
                        </a:rPr>
                        <a:t>  </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овози</a:t>
                      </a:r>
                      <a:r>
                        <a:rPr lang="ru-RU" sz="900" b="0" kern="1200" dirty="0">
                          <a:solidFill>
                            <a:schemeClr val="tx1"/>
                          </a:solidFill>
                          <a:latin typeface="+mn-lt"/>
                          <a:ea typeface="+mn-ea"/>
                          <a:cs typeface="+mn-cs"/>
                        </a:rPr>
                        <a:t>  билан  к</a:t>
                      </a:r>
                      <a:r>
                        <a:rPr lang="uz-Cyrl-UZ" sz="900" b="0" kern="1200" dirty="0">
                          <a:solidFill>
                            <a:schemeClr val="tx1"/>
                          </a:solidFill>
                          <a:latin typeface="+mn-lt"/>
                          <a:ea typeface="+mn-ea"/>
                          <a:cs typeface="+mn-cs"/>
                        </a:rPr>
                        <a:t>ў</a:t>
                      </a:r>
                      <a:r>
                        <a:rPr lang="ru-RU" sz="900" b="0" kern="1200" dirty="0" err="1">
                          <a:solidFill>
                            <a:schemeClr val="tx1"/>
                          </a:solidFill>
                          <a:latin typeface="+mn-lt"/>
                          <a:ea typeface="+mn-ea"/>
                          <a:cs typeface="+mn-cs"/>
                        </a:rPr>
                        <a:t>плаб</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фильмларни</a:t>
                      </a:r>
                      <a:r>
                        <a:rPr lang="ru-RU" sz="900" b="0" kern="1200" dirty="0">
                          <a:solidFill>
                            <a:schemeClr val="tx1"/>
                          </a:solidFill>
                          <a:latin typeface="+mn-lt"/>
                          <a:ea typeface="+mn-ea"/>
                          <a:cs typeface="+mn-cs"/>
                        </a:rPr>
                        <a:t> </a:t>
                      </a:r>
                      <a:r>
                        <a:rPr lang="uz-Cyrl-UZ" sz="900" b="0" kern="1200" dirty="0">
                          <a:solidFill>
                            <a:schemeClr val="tx1"/>
                          </a:solidFill>
                          <a:latin typeface="+mn-lt"/>
                          <a:ea typeface="+mn-ea"/>
                          <a:cs typeface="+mn-cs"/>
                        </a:rPr>
                        <a:t>ў</a:t>
                      </a:r>
                      <a:r>
                        <a:rPr lang="ru-RU" sz="900" b="0" kern="1200" dirty="0" err="1">
                          <a:solidFill>
                            <a:schemeClr val="tx1"/>
                          </a:solidFill>
                          <a:latin typeface="+mn-lt"/>
                          <a:ea typeface="+mn-ea"/>
                          <a:cs typeface="+mn-cs"/>
                        </a:rPr>
                        <a:t>збек</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тилига</a:t>
                      </a:r>
                      <a:r>
                        <a:rPr lang="ru-RU" sz="900" b="0" kern="1200" dirty="0">
                          <a:solidFill>
                            <a:schemeClr val="tx1"/>
                          </a:solidFill>
                          <a:latin typeface="+mn-lt"/>
                          <a:ea typeface="+mn-ea"/>
                          <a:cs typeface="+mn-cs"/>
                        </a:rPr>
                        <a:t> </a:t>
                      </a:r>
                      <a:r>
                        <a:rPr lang="uz-Cyrl-UZ" sz="900" b="0" kern="1200" dirty="0">
                          <a:solidFill>
                            <a:schemeClr val="tx1"/>
                          </a:solidFill>
                          <a:latin typeface="+mn-lt"/>
                          <a:ea typeface="+mn-ea"/>
                          <a:cs typeface="+mn-cs"/>
                        </a:rPr>
                        <a:t>ў</a:t>
                      </a:r>
                      <a:r>
                        <a:rPr lang="ru-RU" sz="900" b="0" kern="1200" dirty="0" err="1">
                          <a:solidFill>
                            <a:schemeClr val="tx1"/>
                          </a:solidFill>
                          <a:latin typeface="+mn-lt"/>
                          <a:ea typeface="+mn-ea"/>
                          <a:cs typeface="+mn-cs"/>
                        </a:rPr>
                        <a:t>гиришда</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иштирок</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этмо</a:t>
                      </a:r>
                      <a:r>
                        <a:rPr lang="uz-Cyrl-UZ" sz="900" b="0" kern="1200" dirty="0">
                          <a:solidFill>
                            <a:schemeClr val="tx1"/>
                          </a:solidFill>
                          <a:latin typeface="+mn-lt"/>
                          <a:ea typeface="+mn-ea"/>
                          <a:cs typeface="+mn-cs"/>
                        </a:rPr>
                        <a:t>қ</a:t>
                      </a:r>
                      <a:r>
                        <a:rPr lang="ru-RU" sz="900" b="0" kern="1200" dirty="0">
                          <a:solidFill>
                            <a:schemeClr val="tx1"/>
                          </a:solidFill>
                          <a:latin typeface="+mn-lt"/>
                          <a:ea typeface="+mn-ea"/>
                          <a:cs typeface="+mn-cs"/>
                        </a:rPr>
                        <a:t>да. </a:t>
                      </a:r>
                      <a:r>
                        <a:rPr lang="ru-RU" sz="900" b="0" kern="1200" dirty="0" err="1">
                          <a:solidFill>
                            <a:schemeClr val="tx1"/>
                          </a:solidFill>
                          <a:latin typeface="+mn-lt"/>
                          <a:ea typeface="+mn-ea"/>
                          <a:cs typeface="+mn-cs"/>
                        </a:rPr>
                        <a:t>Булардан</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Ромаяна</a:t>
                      </a:r>
                      <a:r>
                        <a:rPr lang="ru-RU" sz="900" b="0" kern="1200" dirty="0">
                          <a:solidFill>
                            <a:schemeClr val="tx1"/>
                          </a:solidFill>
                          <a:latin typeface="+mn-lt"/>
                          <a:ea typeface="+mn-ea"/>
                          <a:cs typeface="+mn-cs"/>
                        </a:rPr>
                        <a:t>», «Камила», «Икки та</a:t>
                      </a:r>
                      <a:r>
                        <a:rPr lang="uz-Cyrl-UZ" sz="900" b="0" kern="1200" dirty="0">
                          <a:solidFill>
                            <a:schemeClr val="tx1"/>
                          </a:solidFill>
                          <a:latin typeface="+mn-lt"/>
                          <a:ea typeface="+mn-ea"/>
                          <a:cs typeface="+mn-cs"/>
                        </a:rPr>
                        <a:t>қ</a:t>
                      </a:r>
                      <a:r>
                        <a:rPr lang="ru-RU" sz="900" b="0" kern="1200" dirty="0" err="1">
                          <a:solidFill>
                            <a:schemeClr val="tx1"/>
                          </a:solidFill>
                          <a:latin typeface="+mn-lt"/>
                          <a:ea typeface="+mn-ea"/>
                          <a:cs typeface="+mn-cs"/>
                        </a:rPr>
                        <a:t>дир</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сериаллари</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ишлари</a:t>
                      </a:r>
                      <a:r>
                        <a:rPr lang="ru-RU" sz="900" b="0" kern="1200" dirty="0">
                          <a:solidFill>
                            <a:schemeClr val="tx1"/>
                          </a:solidFill>
                          <a:latin typeface="+mn-lt"/>
                          <a:ea typeface="+mn-ea"/>
                          <a:cs typeface="+mn-cs"/>
                        </a:rPr>
                        <a:t>, </a:t>
                      </a:r>
                      <a:r>
                        <a:rPr lang="uz-Cyrl-UZ" sz="900" b="0" kern="1200" dirty="0">
                          <a:solidFill>
                            <a:schemeClr val="tx1"/>
                          </a:solidFill>
                          <a:latin typeface="+mn-lt"/>
                          <a:ea typeface="+mn-ea"/>
                          <a:cs typeface="+mn-cs"/>
                        </a:rPr>
                        <a:t>қ</a:t>
                      </a:r>
                      <a:r>
                        <a:rPr lang="ru-RU" sz="900" b="0" kern="1200" dirty="0" err="1">
                          <a:solidFill>
                            <a:schemeClr val="tx1"/>
                          </a:solidFill>
                          <a:latin typeface="+mn-lt"/>
                          <a:ea typeface="+mn-ea"/>
                          <a:cs typeface="+mn-cs"/>
                        </a:rPr>
                        <a:t>олаверса</a:t>
                      </a:r>
                      <a:r>
                        <a:rPr lang="ru-RU" sz="900" b="0" kern="1200" dirty="0">
                          <a:solidFill>
                            <a:schemeClr val="tx1"/>
                          </a:solidFill>
                          <a:latin typeface="+mn-lt"/>
                          <a:ea typeface="+mn-ea"/>
                          <a:cs typeface="+mn-cs"/>
                        </a:rPr>
                        <a:t>  «К</a:t>
                      </a:r>
                      <a:r>
                        <a:rPr lang="uz-Cyrl-UZ" sz="900" b="0" kern="1200" dirty="0">
                          <a:solidFill>
                            <a:schemeClr val="tx1"/>
                          </a:solidFill>
                          <a:latin typeface="+mn-lt"/>
                          <a:ea typeface="+mn-ea"/>
                          <a:cs typeface="+mn-cs"/>
                        </a:rPr>
                        <a:t>ў</a:t>
                      </a:r>
                      <a:r>
                        <a:rPr lang="ru-RU" sz="900" b="0" kern="1200" dirty="0" err="1">
                          <a:solidFill>
                            <a:schemeClr val="tx1"/>
                          </a:solidFill>
                          <a:latin typeface="+mn-lt"/>
                          <a:ea typeface="+mn-ea"/>
                          <a:cs typeface="+mn-cs"/>
                        </a:rPr>
                        <a:t>зларинг</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маъюс</a:t>
                      </a:r>
                      <a:r>
                        <a:rPr lang="ru-RU" sz="900" b="0" kern="1200" dirty="0">
                          <a:solidFill>
                            <a:schemeClr val="tx1"/>
                          </a:solidFill>
                          <a:latin typeface="+mn-lt"/>
                          <a:ea typeface="+mn-ea"/>
                          <a:cs typeface="+mn-cs"/>
                        </a:rPr>
                        <a:t>», «Му</a:t>
                      </a:r>
                      <a:r>
                        <a:rPr lang="uz-Cyrl-UZ" sz="900" b="0" kern="1200" dirty="0">
                          <a:solidFill>
                            <a:schemeClr val="tx1"/>
                          </a:solidFill>
                          <a:latin typeface="+mn-lt"/>
                          <a:ea typeface="+mn-ea"/>
                          <a:cs typeface="+mn-cs"/>
                        </a:rPr>
                        <a:t>ҳ</a:t>
                      </a:r>
                      <a:r>
                        <a:rPr lang="ru-RU" sz="900" b="0" kern="1200" dirty="0">
                          <a:solidFill>
                            <a:schemeClr val="tx1"/>
                          </a:solidFill>
                          <a:latin typeface="+mn-lt"/>
                          <a:ea typeface="+mn-ea"/>
                          <a:cs typeface="+mn-cs"/>
                        </a:rPr>
                        <a:t>аббат </a:t>
                      </a:r>
                      <a:r>
                        <a:rPr lang="ru-RU" sz="900" b="0" kern="1200" dirty="0" err="1">
                          <a:solidFill>
                            <a:schemeClr val="tx1"/>
                          </a:solidFill>
                          <a:latin typeface="+mn-lt"/>
                          <a:ea typeface="+mn-ea"/>
                          <a:cs typeface="+mn-cs"/>
                        </a:rPr>
                        <a:t>синовлари</a:t>
                      </a:r>
                      <a:r>
                        <a:rPr lang="ru-RU" sz="900" b="0" kern="1200" dirty="0">
                          <a:solidFill>
                            <a:schemeClr val="tx1"/>
                          </a:solidFill>
                          <a:latin typeface="+mn-lt"/>
                          <a:ea typeface="+mn-ea"/>
                          <a:cs typeface="+mn-cs"/>
                        </a:rPr>
                        <a:t>», «</a:t>
                      </a:r>
                      <a:r>
                        <a:rPr lang="uz-Cyrl-UZ" sz="900" b="0" kern="1200" dirty="0">
                          <a:solidFill>
                            <a:schemeClr val="tx1"/>
                          </a:solidFill>
                          <a:latin typeface="+mn-lt"/>
                          <a:ea typeface="+mn-ea"/>
                          <a:cs typeface="+mn-cs"/>
                        </a:rPr>
                        <a:t>Ҳ</a:t>
                      </a:r>
                      <a:r>
                        <a:rPr lang="ru-RU" sz="900" b="0" kern="1200" dirty="0" err="1">
                          <a:solidFill>
                            <a:schemeClr val="tx1"/>
                          </a:solidFill>
                          <a:latin typeface="+mn-lt"/>
                          <a:ea typeface="+mn-ea"/>
                          <a:cs typeface="+mn-cs"/>
                        </a:rPr>
                        <a:t>овли</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бурилиш</a:t>
                      </a:r>
                      <a:r>
                        <a:rPr lang="uz-Cyrl-UZ" sz="900" b="0" kern="1200" dirty="0">
                          <a:solidFill>
                            <a:schemeClr val="tx1"/>
                          </a:solidFill>
                          <a:latin typeface="+mn-lt"/>
                          <a:ea typeface="+mn-ea"/>
                          <a:cs typeface="+mn-cs"/>
                        </a:rPr>
                        <a:t>и</a:t>
                      </a:r>
                      <a:r>
                        <a:rPr lang="ru-RU" sz="900" b="0" kern="1200" dirty="0">
                          <a:solidFill>
                            <a:schemeClr val="tx1"/>
                          </a:solidFill>
                          <a:latin typeface="+mn-lt"/>
                          <a:ea typeface="+mn-ea"/>
                          <a:cs typeface="+mn-cs"/>
                        </a:rPr>
                        <a:t>да», «</a:t>
                      </a:r>
                      <a:r>
                        <a:rPr lang="ru-RU" sz="900" b="0" kern="1200" dirty="0" err="1">
                          <a:solidFill>
                            <a:schemeClr val="tx1"/>
                          </a:solidFill>
                          <a:latin typeface="+mn-lt"/>
                          <a:ea typeface="+mn-ea"/>
                          <a:cs typeface="+mn-cs"/>
                        </a:rPr>
                        <a:t>Жумбо</a:t>
                      </a:r>
                      <a:r>
                        <a:rPr lang="uz-Cyrl-UZ" sz="900" b="0" kern="1200" dirty="0">
                          <a:solidFill>
                            <a:schemeClr val="tx1"/>
                          </a:solidFill>
                          <a:latin typeface="+mn-lt"/>
                          <a:ea typeface="+mn-ea"/>
                          <a:cs typeface="+mn-cs"/>
                        </a:rPr>
                        <a:t>қ</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сингари</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фильмларда</a:t>
                      </a:r>
                      <a:r>
                        <a:rPr lang="ru-RU" sz="900" b="0" kern="1200" dirty="0">
                          <a:solidFill>
                            <a:schemeClr val="tx1"/>
                          </a:solidFill>
                          <a:latin typeface="+mn-lt"/>
                          <a:ea typeface="+mn-ea"/>
                          <a:cs typeface="+mn-cs"/>
                        </a:rPr>
                        <a:t> хам </a:t>
                      </a:r>
                      <a:r>
                        <a:rPr lang="ru-RU" sz="900" b="0" kern="1200" dirty="0" err="1">
                          <a:solidFill>
                            <a:schemeClr val="tx1"/>
                          </a:solidFill>
                          <a:latin typeface="+mn-lt"/>
                          <a:ea typeface="+mn-ea"/>
                          <a:cs typeface="+mn-cs"/>
                        </a:rPr>
                        <a:t>бетакрор</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образлар</a:t>
                      </a:r>
                      <a:r>
                        <a:rPr lang="ru-RU" sz="900" b="0" kern="1200" dirty="0">
                          <a:solidFill>
                            <a:schemeClr val="tx1"/>
                          </a:solidFill>
                          <a:latin typeface="+mn-lt"/>
                          <a:ea typeface="+mn-ea"/>
                          <a:cs typeface="+mn-cs"/>
                        </a:rPr>
                        <a:t> </a:t>
                      </a:r>
                      <a:r>
                        <a:rPr lang="ru-RU" sz="900" b="0" kern="1200" dirty="0" err="1">
                          <a:solidFill>
                            <a:schemeClr val="tx1"/>
                          </a:solidFill>
                          <a:latin typeface="+mn-lt"/>
                          <a:ea typeface="+mn-ea"/>
                          <a:cs typeface="+mn-cs"/>
                        </a:rPr>
                        <a:t>яратган</a:t>
                      </a:r>
                      <a:r>
                        <a:rPr lang="ru-RU" sz="900" b="0" kern="1200" dirty="0">
                          <a:solidFill>
                            <a:schemeClr val="tx1"/>
                          </a:solidFill>
                          <a:latin typeface="+mn-lt"/>
                          <a:ea typeface="+mn-ea"/>
                          <a:cs typeface="+mn-cs"/>
                        </a:rPr>
                        <a:t>. </a:t>
                      </a:r>
                      <a:r>
                        <a:rPr lang="uz-Cyrl-UZ" sz="900" b="0" kern="1200" dirty="0">
                          <a:solidFill>
                            <a:schemeClr val="tx1"/>
                          </a:solidFill>
                          <a:latin typeface="+mn-lt"/>
                          <a:ea typeface="+mn-ea"/>
                          <a:cs typeface="+mn-cs"/>
                        </a:rPr>
                        <a:t>Жамоат ишларида фаол қатнашади.</a:t>
                      </a:r>
                      <a:endParaRPr lang="ru-RU" sz="900" b="0" kern="1200" dirty="0">
                        <a:solidFill>
                          <a:schemeClr val="tx1"/>
                        </a:solidFill>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06751">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7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7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13430">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en-US" sz="900" b="0" dirty="0" smtClean="0">
                          <a:effectLst/>
                          <a:latin typeface="+mn-lt"/>
                          <a:ea typeface="Calibri" panose="020F0502020204030204" pitchFamily="34" charset="0"/>
                          <a:cs typeface="Times New Roman" panose="02020603050405020304" pitchFamily="18" charset="0"/>
                        </a:rPr>
                        <a:t>    </a:t>
                      </a: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a:extLst>
              <a:ext uri="{FF2B5EF4-FFF2-40B4-BE49-F238E27FC236}">
                <a16:creationId xmlns:a16="http://schemas.microsoft.com/office/drawing/2014/main" id="{EA3BF352-BD5A-249B-204A-0E5D969CA9B9}"/>
              </a:ext>
            </a:extLst>
          </p:cNvPr>
          <p:cNvPicPr>
            <a:picLocks noChangeAspect="1"/>
          </p:cNvPicPr>
          <p:nvPr/>
        </p:nvPicPr>
        <p:blipFill>
          <a:blip r:embed="rId2"/>
          <a:stretch>
            <a:fillRect/>
          </a:stretch>
        </p:blipFill>
        <p:spPr>
          <a:xfrm>
            <a:off x="332196" y="1160224"/>
            <a:ext cx="829128" cy="1103472"/>
          </a:xfrm>
          <a:prstGeom prst="rect">
            <a:avLst/>
          </a:prstGeom>
        </p:spPr>
      </p:pic>
    </p:spTree>
    <p:extLst>
      <p:ext uri="{BB962C8B-B14F-4D97-AF65-F5344CB8AC3E}">
        <p14:creationId xmlns:p14="http://schemas.microsoft.com/office/powerpoint/2010/main" val="1256973936"/>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295479982"/>
              </p:ext>
            </p:extLst>
          </p:nvPr>
        </p:nvGraphicFramePr>
        <p:xfrm>
          <a:off x="183570" y="868680"/>
          <a:ext cx="3427547" cy="5899432"/>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55655">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3663">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Отажонова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366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Маъсуда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366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Юлдашевна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3663">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366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07.01.1961</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366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Наманган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5082">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645979">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Муқимий номидаги Ўзбекистон давлат академик мусиқали театири солист вокалисти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5082">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0789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Тураев Юлдош</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1929 йил, Бухоро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err="1">
                          <a:solidFill>
                            <a:schemeClr val="tx1"/>
                          </a:solidFill>
                          <a:latin typeface="+mn-lt"/>
                          <a:ea typeface="+mn-ea"/>
                          <a:cs typeface="Arial" panose="020B0604020202020204" pitchFamily="34" charset="0"/>
                        </a:rPr>
                        <a:t>Пенсияда</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ru-RU" sz="800" b="0" kern="1200" noProof="0" dirty="0" err="1">
                          <a:solidFill>
                            <a:schemeClr val="tx1"/>
                          </a:solidFill>
                          <a:latin typeface="+mn-lt"/>
                          <a:ea typeface="+mn-ea"/>
                          <a:cs typeface="Arial" panose="020B0604020202020204" pitchFamily="34" charset="0"/>
                        </a:rPr>
                        <a:t>Чортоқ</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тумани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Ҳ.Олимжон</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жамоа</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хўжалиги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ишчиси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07894">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Арипбаева Олимхон</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1934 йил, Наманган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err="1">
                          <a:solidFill>
                            <a:schemeClr val="tx1"/>
                          </a:solidFill>
                          <a:latin typeface="+mn-lt"/>
                          <a:ea typeface="+mn-ea"/>
                          <a:cs typeface="Arial" panose="020B0604020202020204" pitchFamily="34" charset="0"/>
                        </a:rPr>
                        <a:t>Пенсияда</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ru-RU" sz="800" b="0" kern="1200" noProof="0" dirty="0" err="1">
                          <a:solidFill>
                            <a:schemeClr val="tx1"/>
                          </a:solidFill>
                          <a:latin typeface="+mn-lt"/>
                          <a:ea typeface="+mn-ea"/>
                          <a:cs typeface="Arial" panose="020B0604020202020204" pitchFamily="34" charset="0"/>
                        </a:rPr>
                        <a:t>Чортоқ</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тумани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Ҳ.Олимжон</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жамоа</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хўжалиги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ишчиси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615359">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noProof="0" dirty="0">
                          <a:solidFill>
                            <a:schemeClr val="tx1"/>
                          </a:solidFill>
                          <a:latin typeface="+mn-lt"/>
                          <a:ea typeface="+mn-ea"/>
                          <a:cs typeface="Arial" panose="020B0604020202020204" pitchFamily="34" charset="0"/>
                        </a:rPr>
                        <a:t>Отажонов Маъруф Курранбаевич</a:t>
                      </a:r>
                    </a:p>
                    <a:p>
                      <a:pPr algn="l">
                        <a:lnSpc>
                          <a:spcPct val="85000"/>
                        </a:lnSpc>
                      </a:pPr>
                      <a:r>
                        <a:rPr lang="uz-Cyrl-UZ" sz="800" b="0" kern="1200" noProof="0" dirty="0">
                          <a:solidFill>
                            <a:schemeClr val="tx1"/>
                          </a:solidFill>
                          <a:latin typeface="+mn-lt"/>
                          <a:ea typeface="+mn-ea"/>
                          <a:cs typeface="Arial" panose="020B0604020202020204" pitchFamily="34" charset="0"/>
                        </a:rPr>
                        <a:t>1961 йил, Тожикистон Республикаси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Arial" panose="020B0604020202020204" pitchFamily="34" charset="0"/>
                        </a:rPr>
                        <a:t>Пенсияда</a:t>
                      </a:r>
                    </a:p>
                    <a:p>
                      <a:pPr algn="l">
                        <a:lnSpc>
                          <a:spcPct val="85000"/>
                        </a:lnSpc>
                      </a:pPr>
                      <a:r>
                        <a:rPr lang="uz-Cyrl-UZ" sz="800" b="0" kern="1200" noProof="0" dirty="0">
                          <a:solidFill>
                            <a:schemeClr val="tx1"/>
                          </a:solidFill>
                          <a:latin typeface="+mn-lt"/>
                          <a:ea typeface="+mn-ea"/>
                          <a:cs typeface="Arial" panose="020B0604020202020204" pitchFamily="34" charset="0"/>
                        </a:rPr>
                        <a:t>(</a:t>
                      </a:r>
                      <a:r>
                        <a:rPr lang="uz-Cyrl-UZ" sz="800" b="0" kern="1200" dirty="0">
                          <a:solidFill>
                            <a:schemeClr val="tx1"/>
                          </a:solidFill>
                          <a:latin typeface="+mn-lt"/>
                          <a:ea typeface="+mn-ea"/>
                          <a:cs typeface="Arial" panose="020B0604020202020204" pitchFamily="34" charset="0"/>
                        </a:rPr>
                        <a:t>Муқимий номидаги Ўзбекистон давлат мусиқали театри  вокал артисти</a:t>
                      </a:r>
                      <a:r>
                        <a:rPr lang="uz-Cyrl-UZ"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84510">
                <a:tc gridSpan="5">
                  <a:txBody>
                    <a:bodyPr/>
                    <a:lstStyle/>
                    <a:p>
                      <a:pPr algn="ctr">
                        <a:lnSpc>
                          <a:spcPct val="85000"/>
                        </a:lnSpc>
                      </a:pPr>
                      <a:r>
                        <a:rPr lang="uz-Cyrl-UZ" sz="8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14494">
                <a:tc gridSpan="3">
                  <a:txBody>
                    <a:bodyPr/>
                    <a:lstStyle/>
                    <a:p>
                      <a:pPr algn="l">
                        <a:lnSpc>
                          <a:spcPct val="85000"/>
                        </a:lnSpc>
                      </a:pPr>
                      <a:r>
                        <a:rPr lang="uz-Cyrl-UZ" sz="800" b="1" noProof="0" dirty="0">
                          <a:latin typeface="+mn-lt"/>
                        </a:rPr>
                        <a:t>Тамомлаган ОТМ:</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a:solidFill>
                            <a:schemeClr val="tx1"/>
                          </a:solidFill>
                          <a:latin typeface="+mn-lt"/>
                          <a:ea typeface="+mn-ea"/>
                          <a:cs typeface="+mn-cs"/>
                        </a:rPr>
                        <a:t>1985 й. </a:t>
                      </a:r>
                      <a:r>
                        <a:rPr lang="ru-RU" sz="800" b="0" kern="1200" noProof="0" dirty="0" err="1">
                          <a:solidFill>
                            <a:schemeClr val="tx1"/>
                          </a:solidFill>
                          <a:latin typeface="+mn-lt"/>
                          <a:ea typeface="+mn-ea"/>
                          <a:cs typeface="+mn-cs"/>
                        </a:rPr>
                        <a:t>Тошкент</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давлат</a:t>
                      </a:r>
                      <a:r>
                        <a:rPr lang="ru-RU" sz="800" b="0" kern="1200" noProof="0" dirty="0">
                          <a:solidFill>
                            <a:schemeClr val="tx1"/>
                          </a:solidFill>
                          <a:latin typeface="+mn-lt"/>
                          <a:ea typeface="+mn-ea"/>
                          <a:cs typeface="+mn-cs"/>
                        </a:rPr>
                        <a:t> театр </a:t>
                      </a:r>
                      <a:r>
                        <a:rPr lang="ru-RU" sz="800" b="0" kern="1200" noProof="0" dirty="0" err="1">
                          <a:solidFill>
                            <a:schemeClr val="tx1"/>
                          </a:solidFill>
                          <a:latin typeface="+mn-lt"/>
                          <a:ea typeface="+mn-ea"/>
                          <a:cs typeface="+mn-cs"/>
                        </a:rPr>
                        <a:t>ва</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рассомчилик</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санъати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институти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кундузги</a:t>
                      </a:r>
                      <a:r>
                        <a:rPr lang="ru-RU" sz="8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26184">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800" b="1" noProof="0" dirty="0">
                          <a:latin typeface="+mn-lt"/>
                        </a:rPr>
                        <a:t>Мутахассислиги:</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Мусиқали драма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58179">
                <a:tc gridSpan="3">
                  <a:txBody>
                    <a:bodyPr/>
                    <a:lstStyle/>
                    <a:p>
                      <a:pPr algn="l">
                        <a:lnSpc>
                          <a:spcPct val="85000"/>
                        </a:lnSpc>
                      </a:pPr>
                      <a:r>
                        <a:rPr lang="uz-Cyrl-UZ" sz="800" b="1" kern="1200" noProof="0" dirty="0">
                          <a:solidFill>
                            <a:schemeClr val="tx1"/>
                          </a:solidFill>
                          <a:latin typeface="+mn-lt"/>
                          <a:ea typeface="+mn-ea"/>
                          <a:cs typeface="+mn-cs"/>
                        </a:rPr>
                        <a:t>Илмий даража</a:t>
                      </a:r>
                      <a:r>
                        <a:rPr lang="en-US" sz="800" b="1" kern="1200" noProof="0" dirty="0">
                          <a:solidFill>
                            <a:schemeClr val="tx1"/>
                          </a:solidFill>
                          <a:latin typeface="+mn-lt"/>
                          <a:ea typeface="+mn-ea"/>
                          <a:cs typeface="+mn-cs"/>
                        </a:rPr>
                        <a:t> (</a:t>
                      </a:r>
                      <a:r>
                        <a:rPr lang="uz-Cyrl-UZ" sz="800" b="1" kern="1200" noProof="0" dirty="0">
                          <a:solidFill>
                            <a:schemeClr val="tx1"/>
                          </a:solidFill>
                          <a:latin typeface="+mn-lt"/>
                          <a:ea typeface="+mn-ea"/>
                          <a:cs typeface="+mn-cs"/>
                        </a:rPr>
                        <a:t>унвон</a:t>
                      </a:r>
                      <a:r>
                        <a:rPr lang="en-US" sz="800" b="1" kern="1200" noProof="0" dirty="0">
                          <a:solidFill>
                            <a:schemeClr val="tx1"/>
                          </a:solidFill>
                          <a:latin typeface="+mn-lt"/>
                          <a:ea typeface="+mn-ea"/>
                          <a:cs typeface="+mn-cs"/>
                        </a:rPr>
                        <a:t>)</a:t>
                      </a:r>
                      <a:r>
                        <a:rPr lang="uz-Cyrl-UZ" sz="8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Йўқ</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58179">
                <a:tc gridSpan="3">
                  <a:txBody>
                    <a:bodyPr/>
                    <a:lstStyle/>
                    <a:p>
                      <a:pPr algn="l">
                        <a:lnSpc>
                          <a:spcPct val="85000"/>
                        </a:lnSpc>
                      </a:pPr>
                      <a:r>
                        <a:rPr lang="uz-Cyrl-UZ" sz="8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Рус тили</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292963">
                <a:tc gridSpan="3">
                  <a:txBody>
                    <a:bodyPr/>
                    <a:lstStyle/>
                    <a:p>
                      <a:pPr algn="l">
                        <a:lnSpc>
                          <a:spcPct val="85000"/>
                        </a:lnSpc>
                      </a:pPr>
                      <a:r>
                        <a:rPr lang="uz-Cyrl-UZ" sz="8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err="1">
                          <a:solidFill>
                            <a:schemeClr val="tx1"/>
                          </a:solidFill>
                          <a:latin typeface="+mn-lt"/>
                          <a:ea typeface="+mn-ea"/>
                          <a:cs typeface="+mn-cs"/>
                        </a:rPr>
                        <a:t>Йўқ</a:t>
                      </a:r>
                      <a:endParaRPr lang="ru-RU"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021470880"/>
              </p:ext>
            </p:extLst>
          </p:nvPr>
        </p:nvGraphicFramePr>
        <p:xfrm>
          <a:off x="3662362" y="865689"/>
          <a:ext cx="3185005" cy="5902424"/>
        </p:xfrm>
        <a:graphic>
          <a:graphicData uri="http://schemas.openxmlformats.org/drawingml/2006/table">
            <a:tbl>
              <a:tblPr firstRow="1" bandRow="1">
                <a:tableStyleId>{C083E6E3-FA7D-4D7B-A595-EF9225AFEA82}</a:tableStyleId>
              </a:tblPr>
              <a:tblGrid>
                <a:gridCol w="1509406">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18671">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77905">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800" b="1" kern="1200" noProof="0" dirty="0">
                          <a:solidFill>
                            <a:schemeClr val="tx1"/>
                          </a:solidFill>
                          <a:latin typeface="+mn-lt"/>
                          <a:ea typeface="+mn-ea"/>
                          <a:cs typeface="+mn-cs"/>
                        </a:rPr>
                        <a:t>1985 йилдан Муқимий номидаги Ўзбекистон давлат академик мусиқали театри солист-вокалисти</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7784">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800" b="0" kern="1200" noProof="0" dirty="0">
                          <a:solidFill>
                            <a:schemeClr val="tx1"/>
                          </a:solidFill>
                          <a:latin typeface="+mn-lt"/>
                          <a:ea typeface="+mn-ea"/>
                          <a:cs typeface="+mn-cs"/>
                        </a:rPr>
                        <a:t>Й</a:t>
                      </a:r>
                      <a:r>
                        <a:rPr lang="ru-RU" sz="800" b="0" kern="1200" noProof="0" dirty="0" err="1">
                          <a:solidFill>
                            <a:schemeClr val="tx1"/>
                          </a:solidFill>
                          <a:latin typeface="+mn-lt"/>
                          <a:ea typeface="+mn-ea"/>
                          <a:cs typeface="+mn-cs"/>
                        </a:rPr>
                        <a:t>ўқ</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469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41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063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4852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algn="l" defTabSz="914400" rtl="0" eaLnBrk="1" latinLnBrk="0" hangingPunct="1"/>
                      <a:endParaRPr lang="ru-RU" sz="800" b="1"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176873">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8138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8089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50849">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0544">
                <a:tc gridSpan="2">
                  <a:txBody>
                    <a:bodyPr/>
                    <a:lstStyle/>
                    <a:p>
                      <a:pPr algn="ctr"/>
                      <a:r>
                        <a:rPr lang="uz-Cyrl-UZ" sz="8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378039">
                <a:tc gridSpan="2">
                  <a:txBody>
                    <a:bodyPr/>
                    <a:lstStyle/>
                    <a:p>
                      <a:pPr marL="0" algn="l" defTabSz="914400" rtl="0" eaLnBrk="1" latinLnBrk="0" hangingPunct="1"/>
                      <a:r>
                        <a:rPr lang="ru-RU" sz="900" kern="1200" dirty="0">
                          <a:solidFill>
                            <a:schemeClr val="tx1"/>
                          </a:solidFill>
                          <a:effectLst/>
                          <a:latin typeface="+mn-lt"/>
                          <a:ea typeface="+mn-ea"/>
                          <a:cs typeface="Times New Roman" panose="02020603050405020304" pitchFamily="18" charset="0"/>
                        </a:rPr>
                        <a:t>2017 й. “</a:t>
                      </a:r>
                      <a:r>
                        <a:rPr lang="ru-RU" sz="900" kern="1200" dirty="0" err="1">
                          <a:solidFill>
                            <a:schemeClr val="tx1"/>
                          </a:solidFill>
                          <a:effectLst/>
                          <a:latin typeface="+mn-lt"/>
                          <a:ea typeface="+mn-ea"/>
                          <a:cs typeface="Times New Roman" panose="02020603050405020304" pitchFamily="18" charset="0"/>
                        </a:rPr>
                        <a:t>Меҳнат</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шухрати</a:t>
                      </a:r>
                      <a:r>
                        <a:rPr lang="ru-RU" sz="900" kern="1200" dirty="0" smtClean="0">
                          <a:solidFill>
                            <a:schemeClr val="tx1"/>
                          </a:solidFill>
                          <a:effectLst/>
                          <a:latin typeface="+mn-lt"/>
                          <a:ea typeface="+mn-ea"/>
                          <a:cs typeface="Times New Roman" panose="02020603050405020304" pitchFamily="18" charset="0"/>
                        </a:rPr>
                        <a:t>” </a:t>
                      </a:r>
                      <a:r>
                        <a:rPr lang="ru-RU" sz="900" kern="1200" dirty="0" err="1" smtClean="0">
                          <a:solidFill>
                            <a:schemeClr val="tx1"/>
                          </a:solidFill>
                          <a:effectLst/>
                          <a:latin typeface="+mn-lt"/>
                          <a:ea typeface="+mn-ea"/>
                          <a:cs typeface="Times New Roman" panose="02020603050405020304" pitchFamily="18" charset="0"/>
                        </a:rPr>
                        <a:t>ордени</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ru-RU" sz="900" kern="1200" dirty="0">
                          <a:solidFill>
                            <a:schemeClr val="tx1"/>
                          </a:solidFill>
                          <a:effectLst/>
                          <a:latin typeface="+mn-lt"/>
                          <a:ea typeface="+mn-ea"/>
                          <a:cs typeface="Times New Roman" panose="02020603050405020304" pitchFamily="18" charset="0"/>
                        </a:rPr>
                        <a:t>1985 й. -  </a:t>
                      </a:r>
                      <a:r>
                        <a:rPr lang="ru-RU" sz="900" kern="1200" dirty="0" err="1">
                          <a:solidFill>
                            <a:schemeClr val="tx1"/>
                          </a:solidFill>
                          <a:effectLst/>
                          <a:latin typeface="+mn-lt"/>
                          <a:ea typeface="+mn-ea"/>
                          <a:cs typeface="Times New Roman" panose="02020603050405020304" pitchFamily="18" charset="0"/>
                        </a:rPr>
                        <a:t>ҳ.в</a:t>
                      </a:r>
                      <a:r>
                        <a:rPr lang="ru-RU" sz="900" kern="1200" dirty="0">
                          <a:solidFill>
                            <a:schemeClr val="tx1"/>
                          </a:solidFill>
                          <a:effectLst/>
                          <a:latin typeface="+mn-lt"/>
                          <a:ea typeface="+mn-ea"/>
                          <a:cs typeface="Times New Roman" panose="02020603050405020304" pitchFamily="18" charset="0"/>
                        </a:rPr>
                        <a:t>.  - </a:t>
                      </a:r>
                      <a:r>
                        <a:rPr lang="ru-RU" sz="900" kern="1200" dirty="0" err="1">
                          <a:solidFill>
                            <a:schemeClr val="tx1"/>
                          </a:solidFill>
                          <a:effectLst/>
                          <a:latin typeface="+mn-lt"/>
                          <a:ea typeface="+mn-ea"/>
                          <a:cs typeface="Times New Roman" panose="02020603050405020304" pitchFamily="18" charset="0"/>
                        </a:rPr>
                        <a:t>Муқимий</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номидаги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Ўзбекистон</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давлат</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мусиқали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театри</a:t>
                      </a:r>
                      <a:r>
                        <a:rPr lang="ru-RU" sz="900" kern="1200" dirty="0">
                          <a:solidFill>
                            <a:schemeClr val="tx1"/>
                          </a:solidFill>
                          <a:effectLst/>
                          <a:latin typeface="+mn-lt"/>
                          <a:ea typeface="+mn-ea"/>
                          <a:cs typeface="Times New Roman" panose="02020603050405020304" pitchFamily="18" charset="0"/>
                        </a:rPr>
                        <a:t>  солист-</a:t>
                      </a:r>
                      <a:r>
                        <a:rPr lang="ru-RU" sz="900" kern="1200" dirty="0" err="1">
                          <a:solidFill>
                            <a:schemeClr val="tx1"/>
                          </a:solidFill>
                          <a:effectLst/>
                          <a:latin typeface="+mn-lt"/>
                          <a:ea typeface="+mn-ea"/>
                          <a:cs typeface="Times New Roman" panose="02020603050405020304" pitchFamily="18" charset="0"/>
                        </a:rPr>
                        <a:t>вокалисти</a:t>
                      </a:r>
                      <a:endParaRPr lang="ru-RU" sz="900"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43153844"/>
              </p:ext>
            </p:extLst>
          </p:nvPr>
        </p:nvGraphicFramePr>
        <p:xfrm>
          <a:off x="6847367" y="865689"/>
          <a:ext cx="2914144" cy="5906392"/>
        </p:xfrm>
        <a:graphic>
          <a:graphicData uri="http://schemas.openxmlformats.org/drawingml/2006/table">
            <a:tbl>
              <a:tblPr firstRow="1" bandRow="1">
                <a:tableStyleId>{C083E6E3-FA7D-4D7B-A595-EF9225AFEA82}</a:tableStyleId>
              </a:tblPr>
              <a:tblGrid>
                <a:gridCol w="2914144">
                  <a:extLst>
                    <a:ext uri="{9D8B030D-6E8A-4147-A177-3AD203B41FA5}">
                      <a16:colId xmlns:a16="http://schemas.microsoft.com/office/drawing/2014/main" val="2715609854"/>
                    </a:ext>
                  </a:extLst>
                </a:gridCol>
              </a:tblGrid>
              <a:tr h="230738">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4818">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39175">
                <a:tc>
                  <a:txBody>
                    <a:bodyPr/>
                    <a:lstStyle/>
                    <a:p>
                      <a:pPr algn="just"/>
                      <a:r>
                        <a:rPr lang="uz-Cyrl-UZ" sz="900" b="0" kern="1200" dirty="0" smtClean="0">
                          <a:solidFill>
                            <a:schemeClr val="tx1"/>
                          </a:solidFill>
                          <a:latin typeface="+mn-lt"/>
                          <a:ea typeface="+mn-ea"/>
                          <a:cs typeface="+mn-cs"/>
                        </a:rPr>
                        <a:t>    Актриса </a:t>
                      </a:r>
                      <a:r>
                        <a:rPr lang="uz-Cyrl-UZ" sz="900" b="0" kern="1200" dirty="0">
                          <a:solidFill>
                            <a:schemeClr val="tx1"/>
                          </a:solidFill>
                          <a:latin typeface="+mn-lt"/>
                          <a:ea typeface="+mn-ea"/>
                          <a:cs typeface="+mn-cs"/>
                        </a:rPr>
                        <a:t>А. Иброхимов ва М. Бафоевнинг “Зўлдир” мусиқали комедиясидаги Хотима, К. Яшин ва Т. Жалиловнинг “Нурхон” мусиқали драмасидаги Нурхон, Х. Ғулом ва Ш. Шоймардонованинг “Муҳаббат навоси” асаридаги Бодомхон, Т. Минуллин ва Н. Халиловнинг “Дилафрузга тўрт ошиқ” мусиқали комедиясидаги Дилафрўз каби қатор марказий образларни юксак бадиий савияда талқин этган. Шунингдек, К. Амиров ва М. Бафоевнинг “Узилган торлар” асарида Зулфия, Р. Азизхўжаев ва Т. Ҳасановнинг “Куёвлар конкурси”да Феруза, </a:t>
                      </a:r>
                    </a:p>
                    <a:p>
                      <a:pPr algn="just"/>
                      <a:r>
                        <a:rPr lang="uz-Cyrl-UZ" sz="900" b="0" kern="1200" dirty="0" smtClean="0">
                          <a:solidFill>
                            <a:schemeClr val="tx1"/>
                          </a:solidFill>
                          <a:latin typeface="+mn-lt"/>
                          <a:ea typeface="+mn-ea"/>
                          <a:cs typeface="+mn-cs"/>
                        </a:rPr>
                        <a:t>    Ҳ</a:t>
                      </a:r>
                      <a:r>
                        <a:rPr lang="uz-Cyrl-UZ" sz="900" b="0" kern="1200" dirty="0">
                          <a:solidFill>
                            <a:schemeClr val="tx1"/>
                          </a:solidFill>
                          <a:latin typeface="+mn-lt"/>
                          <a:ea typeface="+mn-ea"/>
                          <a:cs typeface="+mn-cs"/>
                        </a:rPr>
                        <a:t>. Ғулом ва М. Левиевнинг “Тошболта ошиқ” асарида Саломат, У. Умарбеков ва </a:t>
                      </a:r>
                      <a:r>
                        <a:rPr lang="uz-Cyrl-UZ" sz="900" b="0" kern="1200" dirty="0" smtClean="0">
                          <a:solidFill>
                            <a:schemeClr val="tx1"/>
                          </a:solidFill>
                          <a:latin typeface="+mn-lt"/>
                          <a:ea typeface="+mn-ea"/>
                          <a:cs typeface="+mn-cs"/>
                        </a:rPr>
                        <a:t>Ф</a:t>
                      </a:r>
                      <a:r>
                        <a:rPr lang="uz-Cyrl-UZ" sz="900" b="0" kern="1200" dirty="0">
                          <a:solidFill>
                            <a:schemeClr val="tx1"/>
                          </a:solidFill>
                          <a:latin typeface="+mn-lt"/>
                          <a:ea typeface="+mn-ea"/>
                          <a:cs typeface="+mn-cs"/>
                        </a:rPr>
                        <a:t>. Олимовнинг “Фотима ва Зухра” мусиқали драмасида Фотима каби роллари ҳам унинг ижодий ютуқлари қаторида алоҳида ўрин тутади.</a:t>
                      </a:r>
                    </a:p>
                    <a:p>
                      <a:pPr algn="just"/>
                      <a:r>
                        <a:rPr lang="uz-Cyrl-UZ" sz="900" b="0" kern="1200" dirty="0" smtClean="0">
                          <a:solidFill>
                            <a:schemeClr val="tx1"/>
                          </a:solidFill>
                          <a:latin typeface="+mn-lt"/>
                          <a:ea typeface="+mn-ea"/>
                          <a:cs typeface="+mn-cs"/>
                        </a:rPr>
                        <a:t>    М</a:t>
                      </a:r>
                      <a:r>
                        <a:rPr lang="uz-Cyrl-UZ" sz="900" b="0" kern="1200" dirty="0">
                          <a:solidFill>
                            <a:schemeClr val="tx1"/>
                          </a:solidFill>
                          <a:latin typeface="+mn-lt"/>
                          <a:ea typeface="+mn-ea"/>
                          <a:cs typeface="+mn-cs"/>
                        </a:rPr>
                        <a:t>. Отажонованинг саҳнадаги маҳорати унинг образга чуқур кириб бориши, қаҳрамоннинг ички кечинмаларини табиий ва таъсирчан етказа олишида намоён бўлади. У яратган ҳар бир образ орқали инсон руҳиятининг нозик қирралари очиб берилади, бу эса томошабинни бефарқ қолдирмайди. Айниқса, актрисанинг она ва қайнона образларини ижро этишдаги самимийлиги, ҳаётийлиги ва миллий руҳни чуқур ҳис этиши алоҳида эътирофга лойиқ.</a:t>
                      </a:r>
                    </a:p>
                    <a:p>
                      <a:pPr algn="just"/>
                      <a:r>
                        <a:rPr lang="uz-Cyrl-UZ" sz="900" b="0" kern="1200" dirty="0" smtClean="0">
                          <a:solidFill>
                            <a:schemeClr val="tx1"/>
                          </a:solidFill>
                          <a:latin typeface="+mn-lt"/>
                          <a:ea typeface="+mn-ea"/>
                          <a:cs typeface="+mn-cs"/>
                        </a:rPr>
                        <a:t>    Сўнгги </a:t>
                      </a:r>
                      <a:r>
                        <a:rPr lang="uz-Cyrl-UZ" sz="900" b="0" kern="1200" dirty="0">
                          <a:solidFill>
                            <a:schemeClr val="tx1"/>
                          </a:solidFill>
                          <a:latin typeface="+mn-lt"/>
                          <a:ea typeface="+mn-ea"/>
                          <a:cs typeface="+mn-cs"/>
                        </a:rPr>
                        <a:t>йилларда М. Отажонованинг ижодида янги босқич кузатилмоқда. Хусусан, “Ой онам-қайнонам” спектаклидаги Маръям образи унинг ижодий фаолиятидаги энг ёрқин ва мукаммал роллардан бири сифатида эътироф этилмоқда. Саҳналаштирувчи режиссёр Б. Назаров томонидан яратилган ушбу спектаклда актриса Маръям образининг ички драматизмини, қалб изтироблари ва ҳаётий қарашларини юксак маҳорат билан ифодалаган</a:t>
                      </a:r>
                      <a:r>
                        <a:rPr lang="uz-Cyrl-UZ" sz="900" b="0" kern="1200" dirty="0" smtClean="0">
                          <a:solidFill>
                            <a:schemeClr val="tx1"/>
                          </a:solidFill>
                          <a:latin typeface="+mn-lt"/>
                          <a:ea typeface="+mn-ea"/>
                          <a:cs typeface="+mn-cs"/>
                        </a:rPr>
                        <a:t>.</a:t>
                      </a:r>
                      <a:endParaRPr lang="uz-Cyrl-UZ" sz="900" b="0" kern="1200" dirty="0">
                        <a:solidFill>
                          <a:schemeClr val="tx1"/>
                        </a:solidFill>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14667">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7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7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83027">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a:extLst>
              <a:ext uri="{FF2B5EF4-FFF2-40B4-BE49-F238E27FC236}">
                <a16:creationId xmlns:a16="http://schemas.microsoft.com/office/drawing/2014/main" id="{AF372D2B-7BDD-2ECC-2EB3-C8E568BE0834}"/>
              </a:ext>
            </a:extLst>
          </p:cNvPr>
          <p:cNvPicPr>
            <a:picLocks noChangeAspect="1"/>
          </p:cNvPicPr>
          <p:nvPr/>
        </p:nvPicPr>
        <p:blipFill>
          <a:blip r:embed="rId2"/>
          <a:stretch>
            <a:fillRect/>
          </a:stretch>
        </p:blipFill>
        <p:spPr>
          <a:xfrm>
            <a:off x="341381" y="1190321"/>
            <a:ext cx="795269" cy="1051138"/>
          </a:xfrm>
          <a:prstGeom prst="rect">
            <a:avLst/>
          </a:prstGeom>
        </p:spPr>
      </p:pic>
    </p:spTree>
    <p:extLst>
      <p:ext uri="{BB962C8B-B14F-4D97-AF65-F5344CB8AC3E}">
        <p14:creationId xmlns:p14="http://schemas.microsoft.com/office/powerpoint/2010/main" val="1770503348"/>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4235906525"/>
              </p:ext>
            </p:extLst>
          </p:nvPr>
        </p:nvGraphicFramePr>
        <p:xfrm>
          <a:off x="183570" y="863747"/>
          <a:ext cx="3427547" cy="5911059"/>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62694">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8525">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ПАРМАНОВ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576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Ахад</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576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Жураевич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576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576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02.04.1950</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576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8845">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628841">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3 нафар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Муқимий номидаги Ўзбекистон давлат академик мусиқали театири солист вокалисти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8845">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73153">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Парманов Жўрабек</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1930 йил, Бухоро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1998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ru-RU" sz="800" b="0" kern="1200" noProof="0" dirty="0" err="1">
                          <a:solidFill>
                            <a:schemeClr val="tx1"/>
                          </a:solidFill>
                          <a:latin typeface="+mn-lt"/>
                          <a:ea typeface="+mn-ea"/>
                          <a:cs typeface="Arial" panose="020B0604020202020204" pitchFamily="34" charset="0"/>
                        </a:rPr>
                        <a:t>Қорасув</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қишлоқ</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хўжалиги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ҳайдовчиси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671917">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Пармонов Мухаббат</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1926 йил, Бухоро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2001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r>
                        <a:rPr lang="ru-RU" sz="800" b="0" kern="1200" noProof="0" dirty="0">
                          <a:solidFill>
                            <a:schemeClr val="tx1"/>
                          </a:solidFill>
                          <a:latin typeface="+mn-lt"/>
                          <a:ea typeface="+mn-ea"/>
                          <a:cs typeface="Arial" panose="020B0604020202020204" pitchFamily="34" charset="0"/>
                        </a:rPr>
                        <a:t>(</a:t>
                      </a:r>
                      <a:r>
                        <a:rPr lang="uz-Cyrl-UZ" sz="800" b="0" kern="1200" dirty="0">
                          <a:solidFill>
                            <a:schemeClr val="tx1"/>
                          </a:solidFill>
                          <a:latin typeface="+mn-lt"/>
                          <a:ea typeface="+mn-ea"/>
                          <a:cs typeface="Arial" panose="020B0604020202020204" pitchFamily="34" charset="0"/>
                        </a:rPr>
                        <a:t>Ўзбекистон Республикаси</a:t>
                      </a:r>
                      <a:endParaRPr lang="ru-RU" sz="800" b="0" kern="1200" dirty="0">
                        <a:solidFill>
                          <a:schemeClr val="tx1"/>
                        </a:solidFill>
                        <a:latin typeface="+mn-lt"/>
                        <a:ea typeface="+mn-ea"/>
                        <a:cs typeface="Arial" panose="020B0604020202020204" pitchFamily="34" charset="0"/>
                      </a:endParaRPr>
                    </a:p>
                    <a:p>
                      <a:r>
                        <a:rPr lang="uz-Cyrl-UZ" sz="800" b="0" kern="1200" dirty="0">
                          <a:solidFill>
                            <a:schemeClr val="tx1"/>
                          </a:solidFill>
                          <a:latin typeface="+mn-lt"/>
                          <a:ea typeface="+mn-ea"/>
                          <a:cs typeface="Arial" panose="020B0604020202020204" pitchFamily="34" charset="0"/>
                        </a:rPr>
                        <a:t>Таъминот Вазирлиги катта тафтишчиси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47982">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Парманова Мамлакат Содиқовна</a:t>
                      </a:r>
                    </a:p>
                    <a:p>
                      <a:pPr algn="l">
                        <a:lnSpc>
                          <a:spcPct val="85000"/>
                        </a:lnSpc>
                      </a:pPr>
                      <a:r>
                        <a:rPr lang="uz-Cyrl-UZ" sz="800" b="0" kern="1200" noProof="0" dirty="0">
                          <a:solidFill>
                            <a:schemeClr val="tx1"/>
                          </a:solidFill>
                          <a:latin typeface="+mn-lt"/>
                          <a:ea typeface="+mn-ea"/>
                          <a:cs typeface="Arial" panose="020B0604020202020204" pitchFamily="34" charset="0"/>
                        </a:rPr>
                        <a:t>1951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Arial" panose="020B0604020202020204" pitchFamily="34" charset="0"/>
                        </a:rPr>
                        <a:t>Пенсияда</a:t>
                      </a:r>
                    </a:p>
                    <a:p>
                      <a:pPr algn="l">
                        <a:lnSpc>
                          <a:spcPct val="85000"/>
                        </a:lnSpc>
                      </a:pPr>
                      <a:r>
                        <a:rPr lang="uz-Cyrl-UZ" sz="800" b="0" kern="1200" noProof="0" dirty="0">
                          <a:solidFill>
                            <a:schemeClr val="tx1"/>
                          </a:solidFill>
                          <a:latin typeface="+mn-lt"/>
                          <a:ea typeface="+mn-ea"/>
                          <a:cs typeface="Arial" panose="020B0604020202020204" pitchFamily="34" charset="0"/>
                        </a:rPr>
                        <a:t>(</a:t>
                      </a:r>
                      <a:r>
                        <a:rPr lang="uz-Cyrl-UZ" sz="800" b="0" kern="1200" dirty="0">
                          <a:solidFill>
                            <a:schemeClr val="tx1"/>
                          </a:solidFill>
                          <a:latin typeface="+mn-lt"/>
                          <a:ea typeface="+mn-ea"/>
                          <a:cs typeface="Arial" panose="020B0604020202020204" pitchFamily="34" charset="0"/>
                        </a:rPr>
                        <a:t>52-сонли умумтаълим мактаб ўқитувчиси</a:t>
                      </a:r>
                      <a:r>
                        <a:rPr lang="uz-Cyrl-UZ"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79615">
                <a:tc gridSpan="5">
                  <a:txBody>
                    <a:bodyPr/>
                    <a:lstStyle/>
                    <a:p>
                      <a:pPr algn="ctr">
                        <a:lnSpc>
                          <a:spcPct val="85000"/>
                        </a:lnSpc>
                      </a:pPr>
                      <a:r>
                        <a:rPr lang="uz-Cyrl-UZ" sz="8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26993">
                <a:tc gridSpan="3">
                  <a:txBody>
                    <a:bodyPr/>
                    <a:lstStyle/>
                    <a:p>
                      <a:pPr algn="l">
                        <a:lnSpc>
                          <a:spcPct val="85000"/>
                        </a:lnSpc>
                      </a:pPr>
                      <a:r>
                        <a:rPr lang="uz-Cyrl-UZ" sz="800" b="1" noProof="0" dirty="0">
                          <a:latin typeface="+mn-lt"/>
                        </a:rPr>
                        <a:t>Тамомлаган ОТМ:</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a:solidFill>
                            <a:schemeClr val="tx1"/>
                          </a:solidFill>
                          <a:latin typeface="+mn-lt"/>
                          <a:ea typeface="+mn-ea"/>
                          <a:cs typeface="+mn-cs"/>
                        </a:rPr>
                        <a:t>1972 й. </a:t>
                      </a:r>
                      <a:r>
                        <a:rPr lang="ru-RU" sz="800" b="0" kern="1200" noProof="0" dirty="0" err="1">
                          <a:solidFill>
                            <a:schemeClr val="tx1"/>
                          </a:solidFill>
                          <a:latin typeface="+mn-lt"/>
                          <a:ea typeface="+mn-ea"/>
                          <a:cs typeface="+mn-cs"/>
                        </a:rPr>
                        <a:t>Тошкент</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давлат</a:t>
                      </a:r>
                      <a:r>
                        <a:rPr lang="ru-RU" sz="800" b="0" kern="1200" noProof="0" dirty="0">
                          <a:solidFill>
                            <a:schemeClr val="tx1"/>
                          </a:solidFill>
                          <a:latin typeface="+mn-lt"/>
                          <a:ea typeface="+mn-ea"/>
                          <a:cs typeface="+mn-cs"/>
                        </a:rPr>
                        <a:t> театр </a:t>
                      </a:r>
                      <a:r>
                        <a:rPr lang="ru-RU" sz="800" b="0" kern="1200" noProof="0" dirty="0" err="1">
                          <a:solidFill>
                            <a:schemeClr val="tx1"/>
                          </a:solidFill>
                          <a:latin typeface="+mn-lt"/>
                          <a:ea typeface="+mn-ea"/>
                          <a:cs typeface="+mn-cs"/>
                        </a:rPr>
                        <a:t>ва</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рассомчилик</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санъати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институти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кундузги</a:t>
                      </a:r>
                      <a:r>
                        <a:rPr lang="ru-RU" sz="8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31678">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800" b="1" noProof="0" dirty="0">
                          <a:latin typeface="+mn-lt"/>
                        </a:rPr>
                        <a:t>Мутахассислиги:</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режиссёр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64451">
                <a:tc gridSpan="3">
                  <a:txBody>
                    <a:bodyPr/>
                    <a:lstStyle/>
                    <a:p>
                      <a:pPr algn="l">
                        <a:lnSpc>
                          <a:spcPct val="85000"/>
                        </a:lnSpc>
                      </a:pPr>
                      <a:r>
                        <a:rPr lang="uz-Cyrl-UZ" sz="800" b="1" kern="1200" noProof="0" dirty="0">
                          <a:solidFill>
                            <a:schemeClr val="tx1"/>
                          </a:solidFill>
                          <a:latin typeface="+mn-lt"/>
                          <a:ea typeface="+mn-ea"/>
                          <a:cs typeface="+mn-cs"/>
                        </a:rPr>
                        <a:t>Илмий даража</a:t>
                      </a:r>
                      <a:r>
                        <a:rPr lang="en-US" sz="800" b="1" kern="1200" noProof="0" dirty="0">
                          <a:solidFill>
                            <a:schemeClr val="tx1"/>
                          </a:solidFill>
                          <a:latin typeface="+mn-lt"/>
                          <a:ea typeface="+mn-ea"/>
                          <a:cs typeface="+mn-cs"/>
                        </a:rPr>
                        <a:t> (</a:t>
                      </a:r>
                      <a:r>
                        <a:rPr lang="uz-Cyrl-UZ" sz="800" b="1" kern="1200" noProof="0" dirty="0">
                          <a:solidFill>
                            <a:schemeClr val="tx1"/>
                          </a:solidFill>
                          <a:latin typeface="+mn-lt"/>
                          <a:ea typeface="+mn-ea"/>
                          <a:cs typeface="+mn-cs"/>
                        </a:rPr>
                        <a:t>унвон</a:t>
                      </a:r>
                      <a:r>
                        <a:rPr lang="en-US" sz="800" b="1" kern="1200" noProof="0" dirty="0">
                          <a:solidFill>
                            <a:schemeClr val="tx1"/>
                          </a:solidFill>
                          <a:latin typeface="+mn-lt"/>
                          <a:ea typeface="+mn-ea"/>
                          <a:cs typeface="+mn-cs"/>
                        </a:rPr>
                        <a:t>)</a:t>
                      </a:r>
                      <a:r>
                        <a:rPr lang="uz-Cyrl-UZ" sz="8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Йўқ</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64451">
                <a:tc gridSpan="3">
                  <a:txBody>
                    <a:bodyPr/>
                    <a:lstStyle/>
                    <a:p>
                      <a:pPr algn="l">
                        <a:lnSpc>
                          <a:spcPct val="85000"/>
                        </a:lnSpc>
                      </a:pPr>
                      <a:r>
                        <a:rPr lang="uz-Cyrl-UZ" sz="8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Рус тили</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284229">
                <a:tc gridSpan="3">
                  <a:txBody>
                    <a:bodyPr/>
                    <a:lstStyle/>
                    <a:p>
                      <a:pPr algn="l">
                        <a:lnSpc>
                          <a:spcPct val="85000"/>
                        </a:lnSpc>
                      </a:pPr>
                      <a:r>
                        <a:rPr lang="uz-Cyrl-UZ" sz="8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err="1">
                          <a:solidFill>
                            <a:schemeClr val="tx1"/>
                          </a:solidFill>
                          <a:latin typeface="+mn-lt"/>
                          <a:ea typeface="+mn-ea"/>
                          <a:cs typeface="+mn-cs"/>
                        </a:rPr>
                        <a:t>Йўқ</a:t>
                      </a:r>
                      <a:endParaRPr lang="ru-RU"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167848750"/>
              </p:ext>
            </p:extLst>
          </p:nvPr>
        </p:nvGraphicFramePr>
        <p:xfrm>
          <a:off x="3740150" y="865689"/>
          <a:ext cx="3107217" cy="5936866"/>
        </p:xfrm>
        <a:graphic>
          <a:graphicData uri="http://schemas.openxmlformats.org/drawingml/2006/table">
            <a:tbl>
              <a:tblPr firstRow="1" bandRow="1">
                <a:tableStyleId>{C083E6E3-FA7D-4D7B-A595-EF9225AFEA82}</a:tableStyleId>
              </a:tblPr>
              <a:tblGrid>
                <a:gridCol w="1431618">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0940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90901">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800" b="1" kern="1200" noProof="0" dirty="0">
                          <a:solidFill>
                            <a:schemeClr val="tx1"/>
                          </a:solidFill>
                          <a:latin typeface="+mn-lt"/>
                          <a:ea typeface="+mn-ea"/>
                          <a:cs typeface="+mn-cs"/>
                        </a:rPr>
                        <a:t>2006 йилдан Муқимий номидаги Ўзбекистон давлат академик мусиқали театри саҳналаштирувчи режиссёр</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0871">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800" b="0" kern="1200" noProof="0" dirty="0">
                          <a:solidFill>
                            <a:schemeClr val="tx1"/>
                          </a:solidFill>
                          <a:latin typeface="+mn-lt"/>
                          <a:ea typeface="+mn-ea"/>
                          <a:cs typeface="+mn-cs"/>
                        </a:rPr>
                        <a:t>Й</a:t>
                      </a:r>
                      <a:r>
                        <a:rPr lang="ru-RU" sz="800" b="0" kern="1200" noProof="0" dirty="0" err="1">
                          <a:solidFill>
                            <a:schemeClr val="tx1"/>
                          </a:solidFill>
                          <a:latin typeface="+mn-lt"/>
                          <a:ea typeface="+mn-ea"/>
                          <a:cs typeface="+mn-cs"/>
                        </a:rPr>
                        <a:t>ўқ</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9874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59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509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2385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algn="l" defTabSz="914400" rtl="0" eaLnBrk="1" latinLnBrk="0" hangingPunct="1"/>
                      <a:endParaRPr lang="ru-RU" sz="800" b="1"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171731">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474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42116">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43556">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4133">
                <a:tc gridSpan="2">
                  <a:txBody>
                    <a:bodyPr/>
                    <a:lstStyle/>
                    <a:p>
                      <a:pPr algn="ctr"/>
                      <a:r>
                        <a:rPr lang="uz-Cyrl-UZ" sz="8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308907">
                <a:tc gridSpan="2">
                  <a:txBody>
                    <a:bodyPr/>
                    <a:lstStyle/>
                    <a:p>
                      <a:r>
                        <a:rPr lang="uz-Cyrl-UZ" sz="900" kern="1200" dirty="0">
                          <a:solidFill>
                            <a:schemeClr val="tx1"/>
                          </a:solidFill>
                          <a:effectLst/>
                          <a:latin typeface="+mn-lt"/>
                          <a:ea typeface="+mn-ea"/>
                          <a:cs typeface="Times New Roman" panose="02020603050405020304" pitchFamily="18" charset="0"/>
                        </a:rPr>
                        <a:t>2002 йил “Ўзбекистонда хизмат кўрсатган маданият” ходими</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uz-Cyrl-UZ" sz="900" kern="1200" dirty="0">
                          <a:solidFill>
                            <a:schemeClr val="tx1"/>
                          </a:solidFill>
                          <a:effectLst/>
                          <a:latin typeface="+mn-lt"/>
                          <a:ea typeface="+mn-ea"/>
                          <a:cs typeface="Times New Roman" panose="02020603050405020304" pitchFamily="18" charset="0"/>
                        </a:rPr>
                        <a:t>1967-1969 йй. – Сергели тумани Қўйлиқ таъмирлаш  механика заводида  уста шогирди </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uz-Cyrl-UZ" sz="900" kern="1200" dirty="0">
                          <a:solidFill>
                            <a:schemeClr val="tx1"/>
                          </a:solidFill>
                          <a:effectLst/>
                          <a:latin typeface="+mn-lt"/>
                          <a:ea typeface="+mn-ea"/>
                          <a:cs typeface="Times New Roman" panose="02020603050405020304" pitchFamily="18" charset="0"/>
                        </a:rPr>
                        <a:t>1972-1977 йй. -  Талаба режиссёрлик бўлимида А.Островский номидаги  театр ва рассомлик  институтида </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uz-Cyrl-UZ" sz="900" kern="1200" dirty="0">
                          <a:solidFill>
                            <a:schemeClr val="tx1"/>
                          </a:solidFill>
                          <a:effectLst/>
                          <a:latin typeface="+mn-lt"/>
                          <a:ea typeface="+mn-ea"/>
                          <a:cs typeface="Times New Roman" panose="02020603050405020304" pitchFamily="18" charset="0"/>
                        </a:rPr>
                        <a:t>1977-1979 йй  - А.Островский номидаги  театр ва рассомлик  институтида ўқитувчи </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uz-Cyrl-UZ" sz="900" kern="1200" dirty="0">
                          <a:solidFill>
                            <a:schemeClr val="tx1"/>
                          </a:solidFill>
                          <a:effectLst/>
                          <a:latin typeface="+mn-lt"/>
                          <a:ea typeface="+mn-ea"/>
                          <a:cs typeface="Times New Roman" panose="02020603050405020304" pitchFamily="18" charset="0"/>
                        </a:rPr>
                        <a:t>1979-1986 йй. – К.Ярматов номидаги “Ўзбекфильм” киностудиясида  режиссёр</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uz-Cyrl-UZ" sz="900" kern="1200" dirty="0">
                          <a:solidFill>
                            <a:schemeClr val="tx1"/>
                          </a:solidFill>
                          <a:effectLst/>
                          <a:latin typeface="+mn-lt"/>
                          <a:ea typeface="+mn-ea"/>
                          <a:cs typeface="Times New Roman" panose="02020603050405020304" pitchFamily="18" charset="0"/>
                        </a:rPr>
                        <a:t>1986-1987 йй -  Хурмат белгиси орденли  Й.Охунбобоев номидаги  Республика ёш томашабинлар  театри</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uz-Cyrl-UZ" sz="900" kern="1200" dirty="0">
                          <a:solidFill>
                            <a:schemeClr val="tx1"/>
                          </a:solidFill>
                          <a:effectLst/>
                          <a:latin typeface="+mn-lt"/>
                          <a:ea typeface="+mn-ea"/>
                          <a:cs typeface="Times New Roman" panose="02020603050405020304" pitchFamily="18" charset="0"/>
                        </a:rPr>
                        <a:t>1987-1989 йй -  Сатира номли Москва  театрида  амалётчи режиссёр</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uz-Cyrl-UZ" sz="900" kern="1200" dirty="0">
                          <a:solidFill>
                            <a:schemeClr val="tx1"/>
                          </a:solidFill>
                          <a:effectLst/>
                          <a:latin typeface="+mn-lt"/>
                          <a:ea typeface="+mn-ea"/>
                          <a:cs typeface="Times New Roman" panose="02020603050405020304" pitchFamily="18" charset="0"/>
                        </a:rPr>
                        <a:t>1989-1990 йй  - Хамза” номидаги  ўзбек давлат  академик драма театрида сахналаштирувчи режиссёр</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uz-Cyrl-UZ" sz="900" kern="1200" dirty="0">
                          <a:solidFill>
                            <a:schemeClr val="tx1"/>
                          </a:solidFill>
                          <a:effectLst/>
                          <a:latin typeface="+mn-lt"/>
                          <a:ea typeface="+mn-ea"/>
                          <a:cs typeface="Times New Roman" panose="02020603050405020304" pitchFamily="18" charset="0"/>
                        </a:rPr>
                        <a:t>2006 й. -  ҳ.в.  - Муқимий номидаги ўзбекистон  давлат  мусиқали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театри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сахналаштирувчи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режиссёри</a:t>
                      </a:r>
                      <a:endParaRPr lang="ru-RU" sz="900"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852854678"/>
              </p:ext>
            </p:extLst>
          </p:nvPr>
        </p:nvGraphicFramePr>
        <p:xfrm>
          <a:off x="6898612" y="902734"/>
          <a:ext cx="2868492" cy="5883486"/>
        </p:xfrm>
        <a:graphic>
          <a:graphicData uri="http://schemas.openxmlformats.org/drawingml/2006/table">
            <a:tbl>
              <a:tblPr firstRow="1" bandRow="1">
                <a:tableStyleId>{C083E6E3-FA7D-4D7B-A595-EF9225AFEA82}</a:tableStyleId>
              </a:tblPr>
              <a:tblGrid>
                <a:gridCol w="2868492">
                  <a:extLst>
                    <a:ext uri="{9D8B030D-6E8A-4147-A177-3AD203B41FA5}">
                      <a16:colId xmlns:a16="http://schemas.microsoft.com/office/drawing/2014/main" val="2715609854"/>
                    </a:ext>
                  </a:extLst>
                </a:gridCol>
              </a:tblGrid>
              <a:tr h="227861">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0644">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19199">
                <a:tc>
                  <a:txBody>
                    <a:bodyPr/>
                    <a:lstStyle/>
                    <a:p>
                      <a:pPr marL="0" algn="just" defTabSz="914400" rtl="0" eaLnBrk="1" latinLnBrk="0" hangingPunct="1"/>
                      <a:r>
                        <a:rPr lang="uz-Cyrl-UZ" sz="900" b="0" kern="1200" dirty="0" smtClean="0">
                          <a:solidFill>
                            <a:schemeClr val="tx1"/>
                          </a:solidFill>
                          <a:latin typeface="+mn-lt"/>
                          <a:ea typeface="+mn-ea"/>
                          <a:cs typeface="+mn-cs"/>
                        </a:rPr>
                        <a:t>    Театрда </a:t>
                      </a:r>
                      <a:r>
                        <a:rPr lang="uz-Cyrl-UZ" sz="900" b="0" kern="1200" dirty="0">
                          <a:solidFill>
                            <a:schemeClr val="tx1"/>
                          </a:solidFill>
                          <a:latin typeface="+mn-lt"/>
                          <a:ea typeface="+mn-ea"/>
                          <a:cs typeface="+mn-cs"/>
                        </a:rPr>
                        <a:t>“Бир кам дунё”, “Ақл мезони”, “Куёвлар конкурси”, “Тўйлар муборак”, “На малакман, на фаришта”, “Менинг оппоқ кабутарларим”, “Хонума хоним”, “Асл хазина”, шунингдек “Қўшиқларда дардим айтаман”, “Сиз соғинган қўшиқлар” ва бошка ўнлаб спектаклларни сахналаштириб, мутахассислар эътиборини козонди. </a:t>
                      </a:r>
                      <a:endParaRPr lang="ru-RU" sz="900" b="0" kern="1200" dirty="0">
                        <a:solidFill>
                          <a:schemeClr val="tx1"/>
                        </a:solidFill>
                        <a:latin typeface="+mn-lt"/>
                        <a:ea typeface="+mn-ea"/>
                        <a:cs typeface="+mn-cs"/>
                      </a:endParaRPr>
                    </a:p>
                    <a:p>
                      <a:pPr marL="0" algn="just" defTabSz="914400" rtl="0" eaLnBrk="1" latinLnBrk="0" hangingPunct="1"/>
                      <a:r>
                        <a:rPr lang="uz-Cyrl-UZ" sz="900" b="0" kern="1200" dirty="0" smtClean="0">
                          <a:solidFill>
                            <a:schemeClr val="tx1"/>
                          </a:solidFill>
                          <a:latin typeface="+mn-lt"/>
                          <a:ea typeface="+mn-ea"/>
                          <a:cs typeface="+mn-cs"/>
                        </a:rPr>
                        <a:t>    Россиянинг </a:t>
                      </a:r>
                      <a:r>
                        <a:rPr lang="uz-Cyrl-UZ" sz="900" b="0" kern="1200" dirty="0">
                          <a:solidFill>
                            <a:schemeClr val="tx1"/>
                          </a:solidFill>
                          <a:latin typeface="+mn-lt"/>
                          <a:ea typeface="+mn-ea"/>
                          <a:cs typeface="+mn-cs"/>
                        </a:rPr>
                        <a:t>Москва Сатира театрида В.Плучек раҳбарлигида “Последние” Ногинск шаҳар театрида “На дне колодца”, Тожикистоннинг Нов шаҳар театрида “Куёвлар конкурси”, Андижон вилоят мусиқали драма ва комедия театрида “Ғаройиб дори”, “Чўртанбалиқ амри билан”, “Умр эгови”, Самарқанд вилоят рус драма театрида “Пять невеста Афанды”, Каттақўрғон шаҳар театрида “Ярим тундаги ўғирлик”, Қўқон шаҳар мусиқали театрида “Тақдир эшиги”, шу каби 30 дан зиёд спектаклларни саҳналаштирган.</a:t>
                      </a:r>
                      <a:endParaRPr lang="ru-RU" sz="900" b="0" kern="1200" dirty="0">
                        <a:solidFill>
                          <a:schemeClr val="tx1"/>
                        </a:solidFill>
                        <a:latin typeface="+mn-lt"/>
                        <a:ea typeface="+mn-ea"/>
                        <a:cs typeface="+mn-cs"/>
                      </a:endParaRPr>
                    </a:p>
                    <a:p>
                      <a:pPr marL="0" algn="just" defTabSz="914400" rtl="0" eaLnBrk="1" latinLnBrk="0" hangingPunct="1"/>
                      <a:r>
                        <a:rPr lang="uz-Cyrl-UZ" sz="900" b="0" kern="1200" dirty="0" smtClean="0">
                          <a:solidFill>
                            <a:schemeClr val="tx1"/>
                          </a:solidFill>
                          <a:latin typeface="+mn-lt"/>
                          <a:ea typeface="+mn-ea"/>
                          <a:cs typeface="+mn-cs"/>
                        </a:rPr>
                        <a:t>    А.Пармонов </a:t>
                      </a:r>
                      <a:r>
                        <a:rPr lang="uz-Cyrl-UZ" sz="900" b="0" kern="1200" dirty="0">
                          <a:solidFill>
                            <a:schemeClr val="tx1"/>
                          </a:solidFill>
                          <a:latin typeface="+mn-lt"/>
                          <a:ea typeface="+mn-ea"/>
                          <a:cs typeface="+mn-cs"/>
                        </a:rPr>
                        <a:t>Муқимий номидаги ўзбек давлат мусиқали театри юксак намоёндаларига бағишланган хотира ва ижодий кечаларининг, шунингдек Истиқлол саройида эстрада юлдузларининг концертларининг режиссёридир.</a:t>
                      </a:r>
                      <a:endParaRPr lang="ru-RU" sz="900" b="0" kern="1200" dirty="0">
                        <a:solidFill>
                          <a:schemeClr val="tx1"/>
                        </a:solidFill>
                        <a:latin typeface="+mn-lt"/>
                        <a:ea typeface="+mn-ea"/>
                        <a:cs typeface="+mn-cs"/>
                      </a:endParaRPr>
                    </a:p>
                    <a:p>
                      <a:pPr marL="0" algn="just" defTabSz="914400" rtl="0" eaLnBrk="1" latinLnBrk="0" hangingPunct="1"/>
                      <a:r>
                        <a:rPr lang="uz-Cyrl-UZ" sz="900" b="0" kern="1200" dirty="0" smtClean="0">
                          <a:solidFill>
                            <a:schemeClr val="tx1"/>
                          </a:solidFill>
                          <a:latin typeface="+mn-lt"/>
                          <a:ea typeface="+mn-ea"/>
                          <a:cs typeface="+mn-cs"/>
                        </a:rPr>
                        <a:t>    Шу </a:t>
                      </a:r>
                      <a:r>
                        <a:rPr lang="uz-Cyrl-UZ" sz="900" b="0" kern="1200" dirty="0">
                          <a:solidFill>
                            <a:schemeClr val="tx1"/>
                          </a:solidFill>
                          <a:latin typeface="+mn-lt"/>
                          <a:ea typeface="+mn-ea"/>
                          <a:cs typeface="+mn-cs"/>
                        </a:rPr>
                        <a:t>қатори, А.Пармонов ҳар йили ўтказиладиган Мустақиллик кубоги ҳамда Олимпия турнири, ёшлар ўртасида жаҳон футбол чемпионатининг саралаш турнирига бағишланган катта спорт байрамларини саҳналаштириб келмоқда. У бутун дунё рум ва юнон эркин кураши ассоциациясининг ордени билан тақдирланган.</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06751">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7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7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13430">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a:extLst>
              <a:ext uri="{FF2B5EF4-FFF2-40B4-BE49-F238E27FC236}">
                <a16:creationId xmlns:a16="http://schemas.microsoft.com/office/drawing/2014/main" id="{96840E25-DE4A-9CCB-2987-8F0576BB3D87}"/>
              </a:ext>
            </a:extLst>
          </p:cNvPr>
          <p:cNvPicPr>
            <a:picLocks noChangeAspect="1"/>
          </p:cNvPicPr>
          <p:nvPr/>
        </p:nvPicPr>
        <p:blipFill>
          <a:blip r:embed="rId2"/>
          <a:stretch>
            <a:fillRect/>
          </a:stretch>
        </p:blipFill>
        <p:spPr>
          <a:xfrm>
            <a:off x="355197" y="1146556"/>
            <a:ext cx="780356" cy="1079086"/>
          </a:xfrm>
          <a:prstGeom prst="rect">
            <a:avLst/>
          </a:prstGeom>
        </p:spPr>
      </p:pic>
    </p:spTree>
    <p:extLst>
      <p:ext uri="{BB962C8B-B14F-4D97-AF65-F5344CB8AC3E}">
        <p14:creationId xmlns:p14="http://schemas.microsoft.com/office/powerpoint/2010/main" val="1972826730"/>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808167461"/>
              </p:ext>
            </p:extLst>
          </p:nvPr>
        </p:nvGraphicFramePr>
        <p:xfrm>
          <a:off x="144489" y="865704"/>
          <a:ext cx="3427547" cy="5902411"/>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701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311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ПУЛАТОВА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31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Наима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31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Кудратовна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311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31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04.06.1939</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31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441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644133">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5 нафар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Муқимий номидаги Ўзбекистон давлат академик мусиқали театири солист вокалисти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441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06443">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Тошхўжаев Қудратилла</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1912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1990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ru-RU" sz="800" b="0" kern="1200" noProof="0" dirty="0" err="1">
                          <a:solidFill>
                            <a:schemeClr val="tx1"/>
                          </a:solidFill>
                          <a:latin typeface="+mn-lt"/>
                          <a:ea typeface="+mn-ea"/>
                          <a:cs typeface="Arial" panose="020B0604020202020204" pitchFamily="34" charset="0"/>
                        </a:rPr>
                        <a:t>Ўзбекистон</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давлат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филармонияси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созандаси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19810">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Исматова Халима</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1926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1984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(уй </a:t>
                      </a:r>
                      <a:r>
                        <a:rPr lang="ru-RU" sz="800" b="0" kern="1200" noProof="0" dirty="0" err="1">
                          <a:solidFill>
                            <a:schemeClr val="tx1"/>
                          </a:solidFill>
                          <a:latin typeface="+mn-lt"/>
                          <a:ea typeface="+mn-ea"/>
                          <a:cs typeface="Arial" panose="020B0604020202020204" pitchFamily="34" charset="0"/>
                        </a:rPr>
                        <a:t>бекаси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99747">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Пулатов Сурат Обидович</a:t>
                      </a:r>
                    </a:p>
                    <a:p>
                      <a:pPr algn="l">
                        <a:lnSpc>
                          <a:spcPct val="85000"/>
                        </a:lnSpc>
                      </a:pPr>
                      <a:r>
                        <a:rPr lang="uz-Cyrl-UZ" sz="800" b="0" kern="1200" noProof="0" dirty="0">
                          <a:solidFill>
                            <a:schemeClr val="tx1"/>
                          </a:solidFill>
                          <a:latin typeface="+mn-lt"/>
                          <a:ea typeface="+mn-ea"/>
                          <a:cs typeface="Arial" panose="020B0604020202020204" pitchFamily="34" charset="0"/>
                        </a:rPr>
                        <a:t>1931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Arial" panose="020B0604020202020204" pitchFamily="34" charset="0"/>
                        </a:rPr>
                        <a:t>2005 йил вафот этган</a:t>
                      </a:r>
                    </a:p>
                    <a:p>
                      <a:pPr algn="l">
                        <a:lnSpc>
                          <a:spcPct val="85000"/>
                        </a:lnSpc>
                      </a:pPr>
                      <a:r>
                        <a:rPr lang="uz-Cyrl-UZ" sz="800" b="0" kern="1200" noProof="0" dirty="0">
                          <a:solidFill>
                            <a:schemeClr val="tx1"/>
                          </a:solidFill>
                          <a:latin typeface="+mn-lt"/>
                          <a:ea typeface="+mn-ea"/>
                          <a:cs typeface="Arial" panose="020B0604020202020204" pitchFamily="34" charset="0"/>
                        </a:rPr>
                        <a:t>(</a:t>
                      </a:r>
                      <a:r>
                        <a:rPr lang="uz-Cyrl-UZ" sz="800" b="0" kern="1200" dirty="0">
                          <a:solidFill>
                            <a:schemeClr val="tx1"/>
                          </a:solidFill>
                          <a:latin typeface="+mn-lt"/>
                          <a:ea typeface="+mn-ea"/>
                          <a:cs typeface="Arial" panose="020B0604020202020204" pitchFamily="34" charset="0"/>
                        </a:rPr>
                        <a:t>Муқимий номидаги Ўзбекистон давлат мусиқали театри  вокал артисти</a:t>
                      </a:r>
                      <a:r>
                        <a:rPr lang="uz-Cyrl-UZ"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87654">
                <a:tc gridSpan="5">
                  <a:txBody>
                    <a:bodyPr/>
                    <a:lstStyle/>
                    <a:p>
                      <a:pPr algn="ctr">
                        <a:lnSpc>
                          <a:spcPct val="85000"/>
                        </a:lnSpc>
                      </a:pPr>
                      <a:r>
                        <a:rPr lang="uz-Cyrl-UZ" sz="8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64073">
                <a:tc gridSpan="3">
                  <a:txBody>
                    <a:bodyPr/>
                    <a:lstStyle/>
                    <a:p>
                      <a:pPr algn="l">
                        <a:lnSpc>
                          <a:spcPct val="85000"/>
                        </a:lnSpc>
                      </a:pPr>
                      <a:r>
                        <a:rPr lang="uz-Cyrl-UZ" sz="800" b="1" noProof="0" dirty="0">
                          <a:latin typeface="+mn-lt"/>
                        </a:rPr>
                        <a:t>Тамомлаган ОТМ:</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a:solidFill>
                            <a:schemeClr val="tx1"/>
                          </a:solidFill>
                          <a:latin typeface="+mn-lt"/>
                          <a:ea typeface="+mn-ea"/>
                          <a:cs typeface="+mn-cs"/>
                        </a:rPr>
                        <a:t>1963 й. </a:t>
                      </a:r>
                      <a:r>
                        <a:rPr lang="ru-RU" sz="800" b="0" kern="1200" noProof="0" dirty="0" err="1">
                          <a:solidFill>
                            <a:schemeClr val="tx1"/>
                          </a:solidFill>
                          <a:latin typeface="+mn-lt"/>
                          <a:ea typeface="+mn-ea"/>
                          <a:cs typeface="+mn-cs"/>
                        </a:rPr>
                        <a:t>Тошкент</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давлат</a:t>
                      </a:r>
                      <a:r>
                        <a:rPr lang="ru-RU" sz="800" b="0" kern="1200" noProof="0" dirty="0">
                          <a:solidFill>
                            <a:schemeClr val="tx1"/>
                          </a:solidFill>
                          <a:latin typeface="+mn-lt"/>
                          <a:ea typeface="+mn-ea"/>
                          <a:cs typeface="+mn-cs"/>
                        </a:rPr>
                        <a:t> театр </a:t>
                      </a:r>
                      <a:r>
                        <a:rPr lang="ru-RU" sz="800" b="0" kern="1200" noProof="0" dirty="0" err="1">
                          <a:solidFill>
                            <a:schemeClr val="tx1"/>
                          </a:solidFill>
                          <a:latin typeface="+mn-lt"/>
                          <a:ea typeface="+mn-ea"/>
                          <a:cs typeface="+mn-cs"/>
                        </a:rPr>
                        <a:t>ва</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рассомчилик</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санъати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институти</a:t>
                      </a:r>
                      <a:r>
                        <a:rPr lang="ru-RU" sz="800" b="0" kern="1200" noProof="0" dirty="0">
                          <a:solidFill>
                            <a:schemeClr val="tx1"/>
                          </a:solidFill>
                          <a:latin typeface="+mn-lt"/>
                          <a:ea typeface="+mn-ea"/>
                          <a:cs typeface="+mn-cs"/>
                        </a:rPr>
                        <a:t>(</a:t>
                      </a:r>
                      <a:r>
                        <a:rPr lang="ru-RU" sz="800" b="0" kern="1200" noProof="0" dirty="0" err="1">
                          <a:solidFill>
                            <a:schemeClr val="tx1"/>
                          </a:solidFill>
                          <a:latin typeface="+mn-lt"/>
                          <a:ea typeface="+mn-ea"/>
                          <a:cs typeface="+mn-cs"/>
                        </a:rPr>
                        <a:t>кундузги</a:t>
                      </a:r>
                      <a:r>
                        <a:rPr lang="ru-RU" sz="8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479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800" b="1" noProof="0" dirty="0">
                          <a:latin typeface="+mn-lt"/>
                        </a:rPr>
                        <a:t>Мутахассислиги:</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Мусиқали драма театри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83058">
                <a:tc gridSpan="3">
                  <a:txBody>
                    <a:bodyPr/>
                    <a:lstStyle/>
                    <a:p>
                      <a:pPr algn="l">
                        <a:lnSpc>
                          <a:spcPct val="85000"/>
                        </a:lnSpc>
                      </a:pPr>
                      <a:r>
                        <a:rPr lang="uz-Cyrl-UZ" sz="800" b="1" kern="1200" noProof="0" dirty="0">
                          <a:solidFill>
                            <a:schemeClr val="tx1"/>
                          </a:solidFill>
                          <a:latin typeface="+mn-lt"/>
                          <a:ea typeface="+mn-ea"/>
                          <a:cs typeface="+mn-cs"/>
                        </a:rPr>
                        <a:t>Илмий даража</a:t>
                      </a:r>
                      <a:r>
                        <a:rPr lang="en-US" sz="800" b="1" kern="1200" noProof="0" dirty="0">
                          <a:solidFill>
                            <a:schemeClr val="tx1"/>
                          </a:solidFill>
                          <a:latin typeface="+mn-lt"/>
                          <a:ea typeface="+mn-ea"/>
                          <a:cs typeface="+mn-cs"/>
                        </a:rPr>
                        <a:t> (</a:t>
                      </a:r>
                      <a:r>
                        <a:rPr lang="uz-Cyrl-UZ" sz="800" b="1" kern="1200" noProof="0" dirty="0">
                          <a:solidFill>
                            <a:schemeClr val="tx1"/>
                          </a:solidFill>
                          <a:latin typeface="+mn-lt"/>
                          <a:ea typeface="+mn-ea"/>
                          <a:cs typeface="+mn-cs"/>
                        </a:rPr>
                        <a:t>унвон</a:t>
                      </a:r>
                      <a:r>
                        <a:rPr lang="en-US" sz="800" b="1" kern="1200" noProof="0" dirty="0">
                          <a:solidFill>
                            <a:schemeClr val="tx1"/>
                          </a:solidFill>
                          <a:latin typeface="+mn-lt"/>
                          <a:ea typeface="+mn-ea"/>
                          <a:cs typeface="+mn-cs"/>
                        </a:rPr>
                        <a:t>)</a:t>
                      </a:r>
                      <a:r>
                        <a:rPr lang="uz-Cyrl-UZ" sz="8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Йўқ</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83058">
                <a:tc gridSpan="3">
                  <a:txBody>
                    <a:bodyPr/>
                    <a:lstStyle/>
                    <a:p>
                      <a:pPr algn="l">
                        <a:lnSpc>
                          <a:spcPct val="85000"/>
                        </a:lnSpc>
                      </a:pPr>
                      <a:r>
                        <a:rPr lang="uz-Cyrl-UZ" sz="8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Рус тили</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91960">
                <a:tc gridSpan="3">
                  <a:txBody>
                    <a:bodyPr/>
                    <a:lstStyle/>
                    <a:p>
                      <a:pPr algn="l">
                        <a:lnSpc>
                          <a:spcPct val="85000"/>
                        </a:lnSpc>
                      </a:pPr>
                      <a:r>
                        <a:rPr lang="uz-Cyrl-UZ" sz="8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err="1">
                          <a:solidFill>
                            <a:schemeClr val="tx1"/>
                          </a:solidFill>
                          <a:latin typeface="+mn-lt"/>
                          <a:ea typeface="+mn-ea"/>
                          <a:cs typeface="+mn-cs"/>
                        </a:rPr>
                        <a:t>Йўқ</a:t>
                      </a:r>
                      <a:endParaRPr lang="ru-RU"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441203512"/>
              </p:ext>
            </p:extLst>
          </p:nvPr>
        </p:nvGraphicFramePr>
        <p:xfrm>
          <a:off x="3662362" y="865689"/>
          <a:ext cx="3185005" cy="5902424"/>
        </p:xfrm>
        <a:graphic>
          <a:graphicData uri="http://schemas.openxmlformats.org/drawingml/2006/table">
            <a:tbl>
              <a:tblPr firstRow="1" bandRow="1">
                <a:tableStyleId>{C083E6E3-FA7D-4D7B-A595-EF9225AFEA82}</a:tableStyleId>
              </a:tblPr>
              <a:tblGrid>
                <a:gridCol w="1509406">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18671">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77905">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800" b="1" kern="1200" noProof="0">
                          <a:solidFill>
                            <a:schemeClr val="tx1"/>
                          </a:solidFill>
                          <a:latin typeface="+mn-lt"/>
                          <a:ea typeface="+mn-ea"/>
                          <a:cs typeface="+mn-cs"/>
                        </a:rPr>
                        <a:t>2025 йилдан </a:t>
                      </a:r>
                      <a:r>
                        <a:rPr lang="uz-Cyrl-UZ" sz="800" b="1" kern="1200" noProof="0" dirty="0">
                          <a:solidFill>
                            <a:schemeClr val="tx1"/>
                          </a:solidFill>
                          <a:latin typeface="+mn-lt"/>
                          <a:ea typeface="+mn-ea"/>
                          <a:cs typeface="+mn-cs"/>
                        </a:rPr>
                        <a:t>Муқимий номидаги Ўзбекистон давлат академик мусиқали театри етакчи саҳна устаси</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7784">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800" b="0" kern="1200" noProof="0" dirty="0">
                          <a:solidFill>
                            <a:schemeClr val="tx1"/>
                          </a:solidFill>
                          <a:latin typeface="+mn-lt"/>
                          <a:ea typeface="+mn-ea"/>
                          <a:cs typeface="+mn-cs"/>
                        </a:rPr>
                        <a:t>Й</a:t>
                      </a:r>
                      <a:r>
                        <a:rPr lang="ru-RU" sz="800" b="0" kern="1200" noProof="0" dirty="0" err="1">
                          <a:solidFill>
                            <a:schemeClr val="tx1"/>
                          </a:solidFill>
                          <a:latin typeface="+mn-lt"/>
                          <a:ea typeface="+mn-ea"/>
                          <a:cs typeface="+mn-cs"/>
                        </a:rPr>
                        <a:t>ўқ</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469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68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063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4852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algn="l" defTabSz="914400" rtl="0" eaLnBrk="1" latinLnBrk="0" hangingPunct="1"/>
                      <a:endParaRPr lang="ru-RU" sz="800" b="1"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176873">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8138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8089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50849">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0544">
                <a:tc gridSpan="2">
                  <a:txBody>
                    <a:bodyPr/>
                    <a:lstStyle/>
                    <a:p>
                      <a:pPr algn="ctr"/>
                      <a:r>
                        <a:rPr lang="uz-Cyrl-UZ" sz="8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378039">
                <a:tc gridSpan="2">
                  <a:txBody>
                    <a:bodyPr/>
                    <a:lstStyle/>
                    <a:p>
                      <a:pPr marL="0" algn="l" defTabSz="914400" rtl="0" eaLnBrk="1" latinLnBrk="0" hangingPunct="1"/>
                      <a:r>
                        <a:rPr lang="uz-Cyrl-UZ" sz="900" kern="1200" dirty="0">
                          <a:solidFill>
                            <a:schemeClr val="tx1"/>
                          </a:solidFill>
                          <a:effectLst/>
                          <a:latin typeface="+mn-lt"/>
                          <a:ea typeface="+mn-ea"/>
                          <a:cs typeface="Times New Roman" panose="02020603050405020304" pitchFamily="18" charset="0"/>
                        </a:rPr>
                        <a:t>1997 йил Ў</a:t>
                      </a:r>
                      <a:r>
                        <a:rPr lang="ru-RU" sz="900" kern="1200" dirty="0" err="1">
                          <a:solidFill>
                            <a:schemeClr val="tx1"/>
                          </a:solidFill>
                          <a:effectLst/>
                          <a:latin typeface="+mn-lt"/>
                          <a:ea typeface="+mn-ea"/>
                          <a:cs typeface="Times New Roman" panose="02020603050405020304" pitchFamily="18" charset="0"/>
                        </a:rPr>
                        <a:t>збекистон</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Республикаси</a:t>
                      </a:r>
                      <a:r>
                        <a:rPr lang="ru-RU" sz="900" kern="1200" dirty="0">
                          <a:solidFill>
                            <a:schemeClr val="tx1"/>
                          </a:solidFill>
                          <a:effectLst/>
                          <a:latin typeface="+mn-lt"/>
                          <a:ea typeface="+mn-ea"/>
                          <a:cs typeface="Times New Roman" panose="02020603050405020304" pitchFamily="18" charset="0"/>
                        </a:rPr>
                        <a:t> халк </a:t>
                      </a:r>
                      <a:r>
                        <a:rPr lang="ru-RU" sz="900" kern="1200" dirty="0" err="1">
                          <a:solidFill>
                            <a:schemeClr val="tx1"/>
                          </a:solidFill>
                          <a:effectLst/>
                          <a:latin typeface="+mn-lt"/>
                          <a:ea typeface="+mn-ea"/>
                          <a:cs typeface="Times New Roman" panose="02020603050405020304" pitchFamily="18" charset="0"/>
                        </a:rPr>
                        <a:t>артисти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фаҳрий</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унвони</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uz-Cyrl-UZ" sz="900" kern="1200" dirty="0">
                          <a:solidFill>
                            <a:schemeClr val="tx1"/>
                          </a:solidFill>
                          <a:effectLst/>
                          <a:latin typeface="+mn-lt"/>
                          <a:ea typeface="+mn-ea"/>
                          <a:cs typeface="Times New Roman" panose="02020603050405020304" pitchFamily="18" charset="0"/>
                        </a:rPr>
                        <a:t>1958-1963 йй. - Тошкент давлат театр ва рассомлик санъати институти талабаси</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uz-Cyrl-UZ" sz="900" kern="1200" dirty="0">
                          <a:solidFill>
                            <a:schemeClr val="tx1"/>
                          </a:solidFill>
                          <a:effectLst/>
                          <a:latin typeface="+mn-lt"/>
                          <a:ea typeface="+mn-ea"/>
                          <a:cs typeface="Times New Roman" panose="02020603050405020304" pitchFamily="18" charset="0"/>
                        </a:rPr>
                        <a:t>1963-2025 йй.  - </a:t>
                      </a:r>
                      <a:r>
                        <a:rPr lang="ru-RU" sz="900" kern="1200" dirty="0" err="1">
                          <a:solidFill>
                            <a:schemeClr val="tx1"/>
                          </a:solidFill>
                          <a:effectLst/>
                          <a:latin typeface="+mn-lt"/>
                          <a:ea typeface="+mn-ea"/>
                          <a:cs typeface="Times New Roman" panose="02020603050405020304" pitchFamily="18" charset="0"/>
                        </a:rPr>
                        <a:t>Муқимий</a:t>
                      </a:r>
                      <a:r>
                        <a:rPr lang="ru-RU"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номидаги Ўзбекистон давлат мусиқали театр</a:t>
                      </a:r>
                      <a:r>
                        <a:rPr lang="ru-RU" sz="900" kern="1200" dirty="0">
                          <a:solidFill>
                            <a:schemeClr val="tx1"/>
                          </a:solidFill>
                          <a:effectLst/>
                          <a:latin typeface="+mn-lt"/>
                          <a:ea typeface="+mn-ea"/>
                          <a:cs typeface="Times New Roman" panose="02020603050405020304" pitchFamily="18" charset="0"/>
                        </a:rPr>
                        <a:t>и солист-</a:t>
                      </a:r>
                      <a:r>
                        <a:rPr lang="ru-RU" sz="900" kern="1200" dirty="0" err="1">
                          <a:solidFill>
                            <a:schemeClr val="tx1"/>
                          </a:solidFill>
                          <a:effectLst/>
                          <a:latin typeface="+mn-lt"/>
                          <a:ea typeface="+mn-ea"/>
                          <a:cs typeface="Times New Roman" panose="02020603050405020304" pitchFamily="18" charset="0"/>
                        </a:rPr>
                        <a:t>вокалисти</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uz-Cyrl-UZ" sz="900" kern="1200" dirty="0">
                          <a:solidFill>
                            <a:schemeClr val="tx1"/>
                          </a:solidFill>
                          <a:effectLst/>
                          <a:latin typeface="+mn-lt"/>
                          <a:ea typeface="+mn-ea"/>
                          <a:cs typeface="Times New Roman" panose="02020603050405020304" pitchFamily="18" charset="0"/>
                        </a:rPr>
                        <a:t>2025 й. -  ҳ.в.  - </a:t>
                      </a:r>
                      <a:r>
                        <a:rPr lang="ru-RU" sz="900" kern="1200" dirty="0" err="1">
                          <a:solidFill>
                            <a:schemeClr val="tx1"/>
                          </a:solidFill>
                          <a:effectLst/>
                          <a:latin typeface="+mn-lt"/>
                          <a:ea typeface="+mn-ea"/>
                          <a:cs typeface="Times New Roman" panose="02020603050405020304" pitchFamily="18" charset="0"/>
                        </a:rPr>
                        <a:t>Муқимий</a:t>
                      </a:r>
                      <a:r>
                        <a:rPr lang="ru-RU"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номидаги Ўзбекистон давлат мусиқали театр</a:t>
                      </a:r>
                      <a:r>
                        <a:rPr lang="ru-RU" sz="900" kern="1200" dirty="0">
                          <a:solidFill>
                            <a:schemeClr val="tx1"/>
                          </a:solidFill>
                          <a:effectLst/>
                          <a:latin typeface="+mn-lt"/>
                          <a:ea typeface="+mn-ea"/>
                          <a:cs typeface="Times New Roman" panose="02020603050405020304" pitchFamily="18" charset="0"/>
                        </a:rPr>
                        <a:t>и </a:t>
                      </a:r>
                      <a:r>
                        <a:rPr lang="uz-Cyrl-UZ" sz="900" kern="1200" dirty="0">
                          <a:solidFill>
                            <a:schemeClr val="tx1"/>
                          </a:solidFill>
                          <a:effectLst/>
                          <a:latin typeface="+mn-lt"/>
                          <a:ea typeface="+mn-ea"/>
                          <a:cs typeface="Times New Roman" panose="02020603050405020304" pitchFamily="18" charset="0"/>
                        </a:rPr>
                        <a:t>етакчи сахна устаси</a:t>
                      </a:r>
                      <a:endParaRPr lang="ru-RU" sz="900"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650834688"/>
              </p:ext>
            </p:extLst>
          </p:nvPr>
        </p:nvGraphicFramePr>
        <p:xfrm>
          <a:off x="6949857" y="869285"/>
          <a:ext cx="2817247" cy="5898827"/>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8270">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0283">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79912">
                <a:tc>
                  <a:txBody>
                    <a:bodyPr/>
                    <a:lstStyle/>
                    <a:p>
                      <a:pPr algn="just">
                        <a:lnSpc>
                          <a:spcPct val="85000"/>
                        </a:lnSpc>
                      </a:pPr>
                      <a:r>
                        <a:rPr lang="uz-Cyrl-UZ" sz="900" b="0" noProof="0" dirty="0">
                          <a:solidFill>
                            <a:schemeClr val="tx1"/>
                          </a:solidFill>
                          <a:latin typeface="+mn-lt"/>
                        </a:rPr>
                        <a:t>    </a:t>
                      </a:r>
                      <a:r>
                        <a:rPr lang="uz-Cyrl-UZ" sz="900" b="0" kern="1200" dirty="0">
                          <a:solidFill>
                            <a:schemeClr val="tx1"/>
                          </a:solidFill>
                          <a:latin typeface="+mn-lt"/>
                          <a:ea typeface="+mn-ea"/>
                          <a:cs typeface="+mn-cs"/>
                        </a:rPr>
                        <a:t>Маълумоти олий. 1963 йили Тошкент театр ва рассомлик санъати институтининг мусиқали драма ва комедия факультетини битирган.Умумий меҳнат стажи 56 йил. 1963 йилдан буён ушбу театрда ишлайди. Ҳали институтнинг талабалиги пайтидаёқ театрда турли роллар ижро </a:t>
                      </a:r>
                      <a:r>
                        <a:rPr lang="uz-Cyrl-UZ" sz="900" b="0" kern="1200" dirty="0" smtClean="0">
                          <a:solidFill>
                            <a:schemeClr val="tx1"/>
                          </a:solidFill>
                          <a:latin typeface="+mn-lt"/>
                          <a:ea typeface="+mn-ea"/>
                          <a:cs typeface="+mn-cs"/>
                        </a:rPr>
                        <a:t>этарди.</a:t>
                      </a:r>
                    </a:p>
                    <a:p>
                      <a:pPr algn="just">
                        <a:lnSpc>
                          <a:spcPct val="85000"/>
                        </a:lnSpc>
                      </a:pPr>
                      <a:r>
                        <a:rPr lang="uz-Cyrl-UZ" sz="900" b="0" kern="1200" baseline="0" dirty="0" smtClean="0">
                          <a:solidFill>
                            <a:schemeClr val="tx1"/>
                          </a:solidFill>
                          <a:latin typeface="+mn-lt"/>
                          <a:ea typeface="+mn-ea"/>
                          <a:cs typeface="+mn-cs"/>
                        </a:rPr>
                        <a:t>    </a:t>
                      </a:r>
                      <a:r>
                        <a:rPr lang="uz-Cyrl-UZ" sz="900" b="0" kern="1200" dirty="0" smtClean="0">
                          <a:solidFill>
                            <a:schemeClr val="tx1"/>
                          </a:solidFill>
                          <a:latin typeface="+mn-lt"/>
                          <a:ea typeface="+mn-ea"/>
                          <a:cs typeface="+mn-cs"/>
                        </a:rPr>
                        <a:t>Н.Пўлатова </a:t>
                      </a:r>
                      <a:r>
                        <a:rPr lang="uz-Cyrl-UZ" sz="900" b="0" kern="1200" dirty="0">
                          <a:solidFill>
                            <a:schemeClr val="tx1"/>
                          </a:solidFill>
                          <a:latin typeface="+mn-lt"/>
                          <a:ea typeface="+mn-ea"/>
                          <a:cs typeface="+mn-cs"/>
                        </a:rPr>
                        <a:t>ўз ижодий фаолияти давомида театрда саҳналаштирилган 50 дан ортиқ спектаклларда бош қаҳрамонлар роллари ва  характерли образларни юксак маҳорат билан ижро этиб,репертуарни бойитиб келмоқда.Жумладан, “Равшан ва Зулхумор”да Зулхумор, “Фарҳод ва Ширин”да Ширин, “Мавлоно Муқимий”да Офарин, “Жон қизлар” спектаклида Ойсулув, “Нурхон”да Нурхон, “Момо Ер”да Алиман, “Зеби-зебона” да Зеби, “Навоий Астрободда”да Гулруҳ, “Девона” да Жамила, “Қизил дуррали нозик-ниҳолим”да Асал, “Хонума хоним”да Хонима, қайта саҳналаштирилганда Ануш,  “Тошкентнинг нозанин маликаси” да Мунаввар, “Муҳаббат навоси”да Она, “Ойонам-қайнонам” да Тожибоева, “Меҳр нури” да Норгул момо,  “Тоҳир ва Зуҳра”да энага   каби образлари мутахассислар томонидан юқори баҳоланган. </a:t>
                      </a:r>
                      <a:endParaRPr lang="uz-Cyrl-UZ" sz="900" b="0" kern="1200" dirty="0" smtClean="0">
                        <a:solidFill>
                          <a:schemeClr val="tx1"/>
                        </a:solidFill>
                        <a:latin typeface="+mn-lt"/>
                        <a:ea typeface="+mn-ea"/>
                        <a:cs typeface="+mn-cs"/>
                      </a:endParaRPr>
                    </a:p>
                    <a:p>
                      <a:pPr algn="just">
                        <a:lnSpc>
                          <a:spcPct val="85000"/>
                        </a:lnSpc>
                      </a:pPr>
                      <a:r>
                        <a:rPr lang="uz-Cyrl-UZ" sz="900" b="0" kern="1200" baseline="0" dirty="0" smtClean="0">
                          <a:solidFill>
                            <a:schemeClr val="tx1"/>
                          </a:solidFill>
                          <a:latin typeface="+mn-lt"/>
                          <a:ea typeface="+mn-ea"/>
                          <a:cs typeface="+mn-cs"/>
                        </a:rPr>
                        <a:t>    </a:t>
                      </a:r>
                      <a:r>
                        <a:rPr lang="uz-Cyrl-UZ" sz="900" b="0" kern="1200" dirty="0" smtClean="0">
                          <a:solidFill>
                            <a:schemeClr val="tx1"/>
                          </a:solidFill>
                          <a:latin typeface="+mn-lt"/>
                          <a:ea typeface="+mn-ea"/>
                          <a:cs typeface="+mn-cs"/>
                        </a:rPr>
                        <a:t>Айниқса</a:t>
                      </a:r>
                      <a:r>
                        <a:rPr lang="uz-Cyrl-UZ" sz="900" b="0" kern="1200" dirty="0">
                          <a:solidFill>
                            <a:schemeClr val="tx1"/>
                          </a:solidFill>
                          <a:latin typeface="+mn-lt"/>
                          <a:ea typeface="+mn-ea"/>
                          <a:cs typeface="+mn-cs"/>
                        </a:rPr>
                        <a:t>, унинг “Меҳр нури” спектаклида яратган Норгул момо образи ўзининг ички кечинмаларга бойлиги, синглиси ор-номуси учун ўз ҳаётини қурбон қилган ака ва она ўртасидаги тортишув томошабинлар қалбини ларзага солган.</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2885">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17477">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a:extLst>
              <a:ext uri="{FF2B5EF4-FFF2-40B4-BE49-F238E27FC236}">
                <a16:creationId xmlns:a16="http://schemas.microsoft.com/office/drawing/2014/main" id="{332351C4-27A4-01B0-E9D2-511933FFB81E}"/>
              </a:ext>
            </a:extLst>
          </p:cNvPr>
          <p:cNvPicPr>
            <a:picLocks noChangeAspect="1"/>
          </p:cNvPicPr>
          <p:nvPr/>
        </p:nvPicPr>
        <p:blipFill>
          <a:blip r:embed="rId2"/>
          <a:stretch>
            <a:fillRect/>
          </a:stretch>
        </p:blipFill>
        <p:spPr>
          <a:xfrm>
            <a:off x="299258" y="1201691"/>
            <a:ext cx="802845" cy="1070461"/>
          </a:xfrm>
          <a:prstGeom prst="rect">
            <a:avLst/>
          </a:prstGeom>
        </p:spPr>
      </p:pic>
    </p:spTree>
    <p:extLst>
      <p:ext uri="{BB962C8B-B14F-4D97-AF65-F5344CB8AC3E}">
        <p14:creationId xmlns:p14="http://schemas.microsoft.com/office/powerpoint/2010/main" val="1365999041"/>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244515347"/>
              </p:ext>
            </p:extLst>
          </p:nvPr>
        </p:nvGraphicFramePr>
        <p:xfrm>
          <a:off x="183570" y="868680"/>
          <a:ext cx="3427547" cy="5857050"/>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8028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2496">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САЛИМОВ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249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Меҳмонали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249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ХХХ</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2496">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249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03.11.1952</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249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Фарғона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3665">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642086">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Муқимий номидаги Ўзбекистон давлат академик мусиқали театири солист вокалисти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3665">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04833">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Турсунов Салимбой</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1907 йил, Фарғона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1995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ru-RU" sz="800" b="0" kern="1200" noProof="0" dirty="0" err="1">
                          <a:solidFill>
                            <a:schemeClr val="tx1"/>
                          </a:solidFill>
                          <a:latin typeface="+mn-lt"/>
                          <a:ea typeface="+mn-ea"/>
                          <a:cs typeface="Arial" panose="020B0604020202020204" pitchFamily="34" charset="0"/>
                        </a:rPr>
                        <a:t>Фарғона</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вилоят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Бешариқ</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тумани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Рапқон</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қишлоғи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дурадгори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80461">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Турсунова Қурбонбиби</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1934 йил, Бухоро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1996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(уй </a:t>
                      </a:r>
                      <a:r>
                        <a:rPr lang="ru-RU" sz="800" b="0" kern="1200" noProof="0" dirty="0" err="1">
                          <a:solidFill>
                            <a:schemeClr val="tx1"/>
                          </a:solidFill>
                          <a:latin typeface="+mn-lt"/>
                          <a:ea typeface="+mn-ea"/>
                          <a:cs typeface="Arial" panose="020B0604020202020204" pitchFamily="34" charset="0"/>
                        </a:rPr>
                        <a:t>бекаси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84674">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Салимова Раъно Каримқўзиевна</a:t>
                      </a:r>
                    </a:p>
                    <a:p>
                      <a:pPr algn="l">
                        <a:lnSpc>
                          <a:spcPct val="85000"/>
                        </a:lnSpc>
                      </a:pPr>
                      <a:r>
                        <a:rPr lang="uz-Cyrl-UZ" sz="800" b="0" kern="1200" noProof="0" dirty="0">
                          <a:solidFill>
                            <a:schemeClr val="tx1"/>
                          </a:solidFill>
                          <a:latin typeface="+mn-lt"/>
                          <a:ea typeface="+mn-ea"/>
                          <a:cs typeface="Arial" panose="020B0604020202020204" pitchFamily="34" charset="0"/>
                        </a:rPr>
                        <a:t>1960 йил, Фарғона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ct val="85000"/>
                        </a:lnSpc>
                      </a:pPr>
                      <a:r>
                        <a:rPr lang="uz-Cyrl-UZ" sz="800" b="0" kern="1200" dirty="0">
                          <a:solidFill>
                            <a:schemeClr val="tx1"/>
                          </a:solidFill>
                          <a:latin typeface="+mn-lt"/>
                          <a:ea typeface="+mn-ea"/>
                          <a:cs typeface="Arial" panose="020B0604020202020204" pitchFamily="34" charset="0"/>
                        </a:rPr>
                        <a:t>Ўзбекисто Республикаси </a:t>
                      </a:r>
                      <a:endParaRPr lang="ru-RU" sz="800" b="0" kern="1200" dirty="0">
                        <a:solidFill>
                          <a:schemeClr val="tx1"/>
                        </a:solidFill>
                        <a:latin typeface="+mn-lt"/>
                        <a:ea typeface="+mn-ea"/>
                        <a:cs typeface="Arial" panose="020B0604020202020204" pitchFamily="34" charset="0"/>
                      </a:endParaRPr>
                    </a:p>
                    <a:p>
                      <a:pPr marL="0" algn="l" defTabSz="914400" rtl="0" eaLnBrk="1" latinLnBrk="0" hangingPunct="1">
                        <a:lnSpc>
                          <a:spcPct val="85000"/>
                        </a:lnSpc>
                      </a:pPr>
                      <a:r>
                        <a:rPr lang="uz-Cyrl-UZ" sz="800" b="0" kern="1200" dirty="0">
                          <a:solidFill>
                            <a:schemeClr val="tx1"/>
                          </a:solidFill>
                          <a:latin typeface="+mn-lt"/>
                          <a:ea typeface="+mn-ea"/>
                          <a:cs typeface="Arial" panose="020B0604020202020204" pitchFamily="34" charset="0"/>
                        </a:rPr>
                        <a:t>Олий  мажлис фаррошлар  инспектори</a:t>
                      </a:r>
                      <a:endParaRPr lang="uz-Cyrl-UZ" sz="8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87058">
                <a:tc gridSpan="5">
                  <a:txBody>
                    <a:bodyPr/>
                    <a:lstStyle/>
                    <a:p>
                      <a:pPr algn="ctr">
                        <a:lnSpc>
                          <a:spcPct val="85000"/>
                        </a:lnSpc>
                      </a:pPr>
                      <a:r>
                        <a:rPr lang="uz-Cyrl-UZ" sz="8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62280">
                <a:tc gridSpan="3">
                  <a:txBody>
                    <a:bodyPr/>
                    <a:lstStyle/>
                    <a:p>
                      <a:pPr algn="l">
                        <a:lnSpc>
                          <a:spcPct val="85000"/>
                        </a:lnSpc>
                      </a:pPr>
                      <a:r>
                        <a:rPr lang="uz-Cyrl-UZ" sz="800" b="1" noProof="0" dirty="0">
                          <a:latin typeface="+mn-lt"/>
                        </a:rPr>
                        <a:t>Тамомлаган ОТМ:</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a:solidFill>
                            <a:schemeClr val="tx1"/>
                          </a:solidFill>
                          <a:latin typeface="+mn-lt"/>
                          <a:ea typeface="+mn-ea"/>
                          <a:cs typeface="+mn-cs"/>
                        </a:rPr>
                        <a:t>1978 й. </a:t>
                      </a:r>
                      <a:r>
                        <a:rPr lang="ru-RU" sz="800" b="0" kern="1200" noProof="0" dirty="0" err="1">
                          <a:solidFill>
                            <a:schemeClr val="tx1"/>
                          </a:solidFill>
                          <a:latin typeface="+mn-lt"/>
                          <a:ea typeface="+mn-ea"/>
                          <a:cs typeface="+mn-cs"/>
                        </a:rPr>
                        <a:t>Тошкент</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давлат</a:t>
                      </a:r>
                      <a:r>
                        <a:rPr lang="ru-RU" sz="800" b="0" kern="1200" noProof="0" dirty="0">
                          <a:solidFill>
                            <a:schemeClr val="tx1"/>
                          </a:solidFill>
                          <a:latin typeface="+mn-lt"/>
                          <a:ea typeface="+mn-ea"/>
                          <a:cs typeface="+mn-cs"/>
                        </a:rPr>
                        <a:t> театр </a:t>
                      </a:r>
                      <a:r>
                        <a:rPr lang="ru-RU" sz="800" b="0" kern="1200" noProof="0" dirty="0" err="1">
                          <a:solidFill>
                            <a:schemeClr val="tx1"/>
                          </a:solidFill>
                          <a:latin typeface="+mn-lt"/>
                          <a:ea typeface="+mn-ea"/>
                          <a:cs typeface="+mn-cs"/>
                        </a:rPr>
                        <a:t>ва</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рассомчилик</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санъати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институти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кундузги</a:t>
                      </a:r>
                      <a:r>
                        <a:rPr lang="ru-RU" sz="8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47191">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800" b="1" noProof="0" dirty="0">
                          <a:latin typeface="+mn-lt"/>
                        </a:rPr>
                        <a:t>Мутахассислиги:</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Мусиқали драма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82159">
                <a:tc gridSpan="3">
                  <a:txBody>
                    <a:bodyPr/>
                    <a:lstStyle/>
                    <a:p>
                      <a:pPr algn="l">
                        <a:lnSpc>
                          <a:spcPct val="85000"/>
                        </a:lnSpc>
                      </a:pPr>
                      <a:r>
                        <a:rPr lang="uz-Cyrl-UZ" sz="800" b="1" kern="1200" noProof="0" dirty="0">
                          <a:solidFill>
                            <a:schemeClr val="tx1"/>
                          </a:solidFill>
                          <a:latin typeface="+mn-lt"/>
                          <a:ea typeface="+mn-ea"/>
                          <a:cs typeface="+mn-cs"/>
                        </a:rPr>
                        <a:t>Илмий даража</a:t>
                      </a:r>
                      <a:r>
                        <a:rPr lang="en-US" sz="800" b="1" kern="1200" noProof="0" dirty="0">
                          <a:solidFill>
                            <a:schemeClr val="tx1"/>
                          </a:solidFill>
                          <a:latin typeface="+mn-lt"/>
                          <a:ea typeface="+mn-ea"/>
                          <a:cs typeface="+mn-cs"/>
                        </a:rPr>
                        <a:t> (</a:t>
                      </a:r>
                      <a:r>
                        <a:rPr lang="uz-Cyrl-UZ" sz="800" b="1" kern="1200" noProof="0" dirty="0">
                          <a:solidFill>
                            <a:schemeClr val="tx1"/>
                          </a:solidFill>
                          <a:latin typeface="+mn-lt"/>
                          <a:ea typeface="+mn-ea"/>
                          <a:cs typeface="+mn-cs"/>
                        </a:rPr>
                        <a:t>унвон</a:t>
                      </a:r>
                      <a:r>
                        <a:rPr lang="en-US" sz="800" b="1" kern="1200" noProof="0" dirty="0">
                          <a:solidFill>
                            <a:schemeClr val="tx1"/>
                          </a:solidFill>
                          <a:latin typeface="+mn-lt"/>
                          <a:ea typeface="+mn-ea"/>
                          <a:cs typeface="+mn-cs"/>
                        </a:rPr>
                        <a:t>)</a:t>
                      </a:r>
                      <a:r>
                        <a:rPr lang="uz-Cyrl-UZ" sz="8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Йўқ</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82159">
                <a:tc gridSpan="3">
                  <a:txBody>
                    <a:bodyPr/>
                    <a:lstStyle/>
                    <a:p>
                      <a:pPr algn="l">
                        <a:lnSpc>
                          <a:spcPct val="85000"/>
                        </a:lnSpc>
                      </a:pPr>
                      <a:r>
                        <a:rPr lang="uz-Cyrl-UZ" sz="8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Рус тили</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278355">
                <a:tc gridSpan="3">
                  <a:txBody>
                    <a:bodyPr/>
                    <a:lstStyle/>
                    <a:p>
                      <a:pPr algn="l">
                        <a:lnSpc>
                          <a:spcPct val="85000"/>
                        </a:lnSpc>
                      </a:pPr>
                      <a:r>
                        <a:rPr lang="uz-Cyrl-UZ" sz="8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err="1">
                          <a:solidFill>
                            <a:schemeClr val="tx1"/>
                          </a:solidFill>
                          <a:latin typeface="+mn-lt"/>
                          <a:ea typeface="+mn-ea"/>
                          <a:cs typeface="+mn-cs"/>
                        </a:rPr>
                        <a:t>Йўқ</a:t>
                      </a:r>
                      <a:endParaRPr lang="ru-RU"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031311784"/>
              </p:ext>
            </p:extLst>
          </p:nvPr>
        </p:nvGraphicFramePr>
        <p:xfrm>
          <a:off x="3662362" y="865689"/>
          <a:ext cx="3185005" cy="5914055"/>
        </p:xfrm>
        <a:graphic>
          <a:graphicData uri="http://schemas.openxmlformats.org/drawingml/2006/table">
            <a:tbl>
              <a:tblPr firstRow="1" bandRow="1">
                <a:tableStyleId>{C083E6E3-FA7D-4D7B-A595-EF9225AFEA82}</a:tableStyleId>
              </a:tblPr>
              <a:tblGrid>
                <a:gridCol w="1509406">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19299">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89787">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800" b="1" kern="1200" noProof="0" dirty="0">
                          <a:solidFill>
                            <a:schemeClr val="tx1"/>
                          </a:solidFill>
                          <a:latin typeface="+mn-lt"/>
                          <a:ea typeface="+mn-ea"/>
                          <a:cs typeface="+mn-cs"/>
                        </a:rPr>
                        <a:t>1978 йилдан Муқимий номидаги Ўзбекистон давлат академик мусиқали театри солист-вокалисти</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8253">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800" b="0" kern="1200" noProof="0" dirty="0">
                          <a:solidFill>
                            <a:schemeClr val="tx1"/>
                          </a:solidFill>
                          <a:latin typeface="+mn-lt"/>
                          <a:ea typeface="+mn-ea"/>
                          <a:cs typeface="+mn-cs"/>
                        </a:rPr>
                        <a:t>Й</a:t>
                      </a:r>
                      <a:r>
                        <a:rPr lang="ru-RU" sz="800" b="0" kern="1200" noProof="0" dirty="0" err="1">
                          <a:solidFill>
                            <a:schemeClr val="tx1"/>
                          </a:solidFill>
                          <a:latin typeface="+mn-lt"/>
                          <a:ea typeface="+mn-ea"/>
                          <a:cs typeface="+mn-cs"/>
                        </a:rPr>
                        <a:t>ўқ</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509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48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101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5019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algn="l" defTabSz="914400" rtl="0" eaLnBrk="1" latinLnBrk="0" hangingPunct="1"/>
                      <a:endParaRPr lang="ru-RU" sz="800" b="1"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17722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407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407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5134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0979">
                <a:tc gridSpan="2">
                  <a:txBody>
                    <a:bodyPr/>
                    <a:lstStyle/>
                    <a:p>
                      <a:pPr algn="ctr"/>
                      <a:r>
                        <a:rPr lang="uz-Cyrl-UZ" sz="8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382725">
                <a:tc gridSpan="2">
                  <a:txBody>
                    <a:bodyPr/>
                    <a:lstStyle/>
                    <a:p>
                      <a:pPr marL="0" algn="l" defTabSz="914400" rtl="0" eaLnBrk="1" latinLnBrk="0" hangingPunct="1"/>
                      <a:r>
                        <a:rPr lang="ru-RU" sz="900" kern="1200" dirty="0">
                          <a:solidFill>
                            <a:schemeClr val="tx1"/>
                          </a:solidFill>
                          <a:effectLst/>
                          <a:latin typeface="+mn-lt"/>
                          <a:ea typeface="+mn-ea"/>
                          <a:cs typeface="Times New Roman" panose="02020603050405020304" pitchFamily="18" charset="0"/>
                        </a:rPr>
                        <a:t>2002 й. “</a:t>
                      </a:r>
                      <a:r>
                        <a:rPr lang="ru-RU" sz="900" kern="1200" dirty="0" err="1">
                          <a:solidFill>
                            <a:schemeClr val="tx1"/>
                          </a:solidFill>
                          <a:effectLst/>
                          <a:latin typeface="+mn-lt"/>
                          <a:ea typeface="+mn-ea"/>
                          <a:cs typeface="Times New Roman" panose="02020603050405020304" pitchFamily="18" charset="0"/>
                        </a:rPr>
                        <a:t>Ўзбекистон</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Республикасида</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хизмат</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кўрсатган</a:t>
                      </a:r>
                      <a:r>
                        <a:rPr lang="ru-RU" sz="900" kern="1200" dirty="0">
                          <a:solidFill>
                            <a:schemeClr val="tx1"/>
                          </a:solidFill>
                          <a:effectLst/>
                          <a:latin typeface="+mn-lt"/>
                          <a:ea typeface="+mn-ea"/>
                          <a:cs typeface="Times New Roman" panose="02020603050405020304" pitchFamily="18" charset="0"/>
                        </a:rPr>
                        <a:t> артист” </a:t>
                      </a:r>
                      <a:r>
                        <a:rPr lang="ru-RU" sz="900" kern="1200" dirty="0" err="1">
                          <a:solidFill>
                            <a:schemeClr val="tx1"/>
                          </a:solidFill>
                          <a:effectLst/>
                          <a:latin typeface="+mn-lt"/>
                          <a:ea typeface="+mn-ea"/>
                          <a:cs typeface="Times New Roman" panose="02020603050405020304" pitchFamily="18" charset="0"/>
                        </a:rPr>
                        <a:t>фахрий</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унвони</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ru-RU" sz="900" kern="1200" dirty="0">
                          <a:solidFill>
                            <a:schemeClr val="tx1"/>
                          </a:solidFill>
                          <a:effectLst/>
                          <a:latin typeface="+mn-lt"/>
                          <a:ea typeface="+mn-ea"/>
                          <a:cs typeface="Times New Roman" panose="02020603050405020304" pitchFamily="18" charset="0"/>
                        </a:rPr>
                        <a:t>1978 й. -  </a:t>
                      </a:r>
                      <a:r>
                        <a:rPr lang="ru-RU" sz="900" kern="1200" dirty="0" err="1">
                          <a:solidFill>
                            <a:schemeClr val="tx1"/>
                          </a:solidFill>
                          <a:effectLst/>
                          <a:latin typeface="+mn-lt"/>
                          <a:ea typeface="+mn-ea"/>
                          <a:cs typeface="Times New Roman" panose="02020603050405020304" pitchFamily="18" charset="0"/>
                        </a:rPr>
                        <a:t>ҳ.в</a:t>
                      </a:r>
                      <a:r>
                        <a:rPr lang="ru-RU" sz="900" kern="1200" dirty="0">
                          <a:solidFill>
                            <a:schemeClr val="tx1"/>
                          </a:solidFill>
                          <a:effectLst/>
                          <a:latin typeface="+mn-lt"/>
                          <a:ea typeface="+mn-ea"/>
                          <a:cs typeface="Times New Roman" panose="02020603050405020304" pitchFamily="18" charset="0"/>
                        </a:rPr>
                        <a:t>.  - </a:t>
                      </a:r>
                      <a:r>
                        <a:rPr lang="ru-RU" sz="900" kern="1200" dirty="0" err="1">
                          <a:solidFill>
                            <a:schemeClr val="tx1"/>
                          </a:solidFill>
                          <a:effectLst/>
                          <a:latin typeface="+mn-lt"/>
                          <a:ea typeface="+mn-ea"/>
                          <a:cs typeface="Times New Roman" panose="02020603050405020304" pitchFamily="18" charset="0"/>
                        </a:rPr>
                        <a:t>Муқимий</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номидаги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Ўзбекистон</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давлат</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мусиқали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театри</a:t>
                      </a:r>
                      <a:r>
                        <a:rPr lang="ru-RU" sz="900" kern="1200" dirty="0">
                          <a:solidFill>
                            <a:schemeClr val="tx1"/>
                          </a:solidFill>
                          <a:effectLst/>
                          <a:latin typeface="+mn-lt"/>
                          <a:ea typeface="+mn-ea"/>
                          <a:cs typeface="Times New Roman" panose="02020603050405020304" pitchFamily="18" charset="0"/>
                        </a:rPr>
                        <a:t>  солист-</a:t>
                      </a:r>
                      <a:r>
                        <a:rPr lang="ru-RU" sz="900" kern="1200" dirty="0" err="1">
                          <a:solidFill>
                            <a:schemeClr val="tx1"/>
                          </a:solidFill>
                          <a:effectLst/>
                          <a:latin typeface="+mn-lt"/>
                          <a:ea typeface="+mn-ea"/>
                          <a:cs typeface="Times New Roman" panose="02020603050405020304" pitchFamily="18" charset="0"/>
                        </a:rPr>
                        <a:t>вокалисти</a:t>
                      </a:r>
                      <a:endParaRPr lang="ru-RU" sz="900"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315176100"/>
              </p:ext>
            </p:extLst>
          </p:nvPr>
        </p:nvGraphicFramePr>
        <p:xfrm>
          <a:off x="6898612" y="902734"/>
          <a:ext cx="2868492" cy="5883486"/>
        </p:xfrm>
        <a:graphic>
          <a:graphicData uri="http://schemas.openxmlformats.org/drawingml/2006/table">
            <a:tbl>
              <a:tblPr firstRow="1" bandRow="1">
                <a:tableStyleId>{C083E6E3-FA7D-4D7B-A595-EF9225AFEA82}</a:tableStyleId>
              </a:tblPr>
              <a:tblGrid>
                <a:gridCol w="2868492">
                  <a:extLst>
                    <a:ext uri="{9D8B030D-6E8A-4147-A177-3AD203B41FA5}">
                      <a16:colId xmlns:a16="http://schemas.microsoft.com/office/drawing/2014/main" val="2715609854"/>
                    </a:ext>
                  </a:extLst>
                </a:gridCol>
              </a:tblGrid>
              <a:tr h="227861">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0644">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19199">
                <a:tc>
                  <a:txBody>
                    <a:bodyPr/>
                    <a:lstStyle/>
                    <a:p>
                      <a:pPr algn="just"/>
                      <a:r>
                        <a:rPr lang="uz-Cyrl-UZ" sz="900" b="0" noProof="0" dirty="0" smtClean="0">
                          <a:solidFill>
                            <a:schemeClr val="tx1"/>
                          </a:solidFill>
                          <a:latin typeface="+mn-lt"/>
                        </a:rPr>
                        <a:t>    М.Салимов </a:t>
                      </a:r>
                      <a:r>
                        <a:rPr lang="uz-Cyrl-UZ" sz="900" b="0" noProof="0" dirty="0">
                          <a:solidFill>
                            <a:schemeClr val="tx1"/>
                          </a:solidFill>
                          <a:latin typeface="+mn-lt"/>
                        </a:rPr>
                        <a:t>ўз ижодий фаолияти давомида театрда саҳналаштирилган 50 дан ортиқ спектаклларда бош қаҳрамонлар роллари ва  характерли образларни юксак маҳорат билан ижро этиб келмоқда. Жумладан, “Лайли ва Мажнун”да Қайс, “Мангулик”да Маъсуд, “Бобур”да Хондамир, “Тақдир” спектаклида Бўрон, “Тоҳир ва Зуҳра”да Ҳофиз, “Гулсара”да </a:t>
                      </a:r>
                      <a:r>
                        <a:rPr lang="uz-Cyrl-UZ" sz="900" b="0" noProof="0" dirty="0" smtClean="0">
                          <a:solidFill>
                            <a:schemeClr val="tx1"/>
                          </a:solidFill>
                          <a:latin typeface="+mn-lt"/>
                        </a:rPr>
                        <a:t>Қодир, </a:t>
                      </a:r>
                      <a:r>
                        <a:rPr lang="uz-Cyrl-UZ" sz="900" b="0" noProof="0" dirty="0">
                          <a:solidFill>
                            <a:schemeClr val="tx1"/>
                          </a:solidFill>
                          <a:latin typeface="+mn-lt"/>
                        </a:rPr>
                        <a:t>“Рожа”да шаҳзода,   “Муҳаббат навоси” да Раҳматдоб, “Юсуф ва Зулайҳо”да Юсуф,“Аршин мол олан” да Ақар, “Хонума” да Князь Пантиашвили, “Асл хазина”да Қўшни  каби образлари мутахассислар томонидан юқори баҳоланган. Айниқса, унинг “Асл хазина” спектаклида яратган қўшни образи ўзининг ички кечинмаларга бойлиги ва турли вазиятларга тушиши билан кўпчиликка маъқул бўлди. </a:t>
                      </a:r>
                    </a:p>
                    <a:p>
                      <a:pPr algn="just"/>
                      <a:r>
                        <a:rPr lang="uz-Cyrl-UZ" sz="900" b="0" noProof="0" dirty="0" smtClean="0">
                          <a:solidFill>
                            <a:schemeClr val="tx1"/>
                          </a:solidFill>
                          <a:latin typeface="+mn-lt"/>
                        </a:rPr>
                        <a:t>    М.Салимов </a:t>
                      </a:r>
                      <a:r>
                        <a:rPr lang="uz-Cyrl-UZ" sz="900" b="0" noProof="0" dirty="0">
                          <a:solidFill>
                            <a:schemeClr val="tx1"/>
                          </a:solidFill>
                          <a:latin typeface="+mn-lt"/>
                        </a:rPr>
                        <a:t>телевидение ва кино соҳасида ҳам самарали ижод қилиб келмоқда. ЎзТВда мунтазам кўрсатиладиган “Оталар сўзи-ақлнинг кўзи”, шунингдек, хусусий телеканалларда тез-тез эфирга чиқаётган “Буни ҳаёт дейдилар”, “Тақдирлар”, “Иқрор” ва шунга ўхшаш адабий-бадиий кўрсатувларда турли ролларни ижро этиб, томошабинлар эътиборига сазовор бўлиб келмоқда.М.Салимов юртимизда мунтазам равишда кенг нишонланиши анъанага айланган Мустақиллик ва “Наврўз” умумхалқ байрамлари ва турли оммавий-маданий тадбирларнинг ҳам фаол иштирокчисидир</a:t>
                      </a:r>
                      <a:r>
                        <a:rPr lang="uz-Cyrl-UZ" sz="900" b="0" noProof="0" dirty="0" smtClean="0">
                          <a:solidFill>
                            <a:schemeClr val="tx1"/>
                          </a:solidFill>
                          <a:latin typeface="+mn-lt"/>
                        </a:rPr>
                        <a:t>.</a:t>
                      </a:r>
                    </a:p>
                    <a:p>
                      <a:pPr algn="just"/>
                      <a:r>
                        <a:rPr lang="uz-Cyrl-UZ" sz="900" b="0" noProof="0" dirty="0" smtClean="0">
                          <a:solidFill>
                            <a:schemeClr val="tx1"/>
                          </a:solidFill>
                          <a:latin typeface="+mn-lt"/>
                        </a:rPr>
                        <a:t>    Шунингдек</a:t>
                      </a:r>
                      <a:r>
                        <a:rPr lang="uz-Cyrl-UZ" sz="900" b="0" noProof="0" dirty="0">
                          <a:solidFill>
                            <a:schemeClr val="tx1"/>
                          </a:solidFill>
                          <a:latin typeface="+mn-lt"/>
                        </a:rPr>
                        <a:t>, М.Салимов мамлакатимизнинг турли вилоятларида мунтазам равишда ўтказиб келинаётган  маърифий-маънавий йўналишдаги турли тадбирларда ҳам фаол қатнашиб келаётган санъаткордир.</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06751">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7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7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13430">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a:extLst>
              <a:ext uri="{FF2B5EF4-FFF2-40B4-BE49-F238E27FC236}">
                <a16:creationId xmlns:a16="http://schemas.microsoft.com/office/drawing/2014/main" id="{3A4D1109-05EE-ACBF-6C7F-B61500BBCF27}"/>
              </a:ext>
            </a:extLst>
          </p:cNvPr>
          <p:cNvPicPr>
            <a:picLocks noChangeAspect="1"/>
          </p:cNvPicPr>
          <p:nvPr/>
        </p:nvPicPr>
        <p:blipFill>
          <a:blip r:embed="rId2"/>
          <a:stretch>
            <a:fillRect/>
          </a:stretch>
        </p:blipFill>
        <p:spPr>
          <a:xfrm>
            <a:off x="348101" y="1227791"/>
            <a:ext cx="774259" cy="1024217"/>
          </a:xfrm>
          <a:prstGeom prst="rect">
            <a:avLst/>
          </a:prstGeom>
        </p:spPr>
      </p:pic>
    </p:spTree>
    <p:extLst>
      <p:ext uri="{BB962C8B-B14F-4D97-AF65-F5344CB8AC3E}">
        <p14:creationId xmlns:p14="http://schemas.microsoft.com/office/powerpoint/2010/main" val="1905549151"/>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845941892"/>
              </p:ext>
            </p:extLst>
          </p:nvPr>
        </p:nvGraphicFramePr>
        <p:xfrm>
          <a:off x="183570" y="868680"/>
          <a:ext cx="3427547" cy="5922816"/>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8381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6863">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Сафаева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492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Дилором</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492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Махмудовна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492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492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03.04.1942</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492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Хоразим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661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650179">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1 нафар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Муқимий номидаги Ўзбекистон давлат академик мусиқали театири солист вокалисти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661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11196">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Сафоев Махмуджон</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1917 йил, Хоразм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1981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ru-RU" sz="800" b="0" kern="1200" noProof="0" dirty="0" err="1">
                          <a:solidFill>
                            <a:schemeClr val="tx1"/>
                          </a:solidFill>
                          <a:latin typeface="+mn-lt"/>
                          <a:ea typeface="+mn-ea"/>
                          <a:cs typeface="Arial" panose="020B0604020202020204" pitchFamily="34" charset="0"/>
                        </a:rPr>
                        <a:t>Огохий</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жамоа</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хўжалиги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ишчиси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85257">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Ачилова Онабибиб Очиловна </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1957 йил, Тошкент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1960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(Уй </a:t>
                      </a:r>
                      <a:r>
                        <a:rPr lang="ru-RU" sz="800" b="0" kern="1200" noProof="0" dirty="0" err="1">
                          <a:solidFill>
                            <a:schemeClr val="tx1"/>
                          </a:solidFill>
                          <a:latin typeface="+mn-lt"/>
                          <a:ea typeface="+mn-ea"/>
                          <a:cs typeface="Arial" panose="020B0604020202020204" pitchFamily="34" charset="0"/>
                        </a:rPr>
                        <a:t>бекаси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92044">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endParaRPr lang="uz-Cyrl-UZ" sz="8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endParaRPr lang="uz-Cyrl-UZ" sz="8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89416">
                <a:tc gridSpan="5">
                  <a:txBody>
                    <a:bodyPr/>
                    <a:lstStyle/>
                    <a:p>
                      <a:pPr algn="ctr">
                        <a:lnSpc>
                          <a:spcPct val="85000"/>
                        </a:lnSpc>
                      </a:pPr>
                      <a:r>
                        <a:rPr lang="uz-Cyrl-UZ" sz="8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69367">
                <a:tc gridSpan="3">
                  <a:txBody>
                    <a:bodyPr/>
                    <a:lstStyle/>
                    <a:p>
                      <a:pPr algn="l">
                        <a:lnSpc>
                          <a:spcPct val="85000"/>
                        </a:lnSpc>
                      </a:pPr>
                      <a:r>
                        <a:rPr lang="uz-Cyrl-UZ" sz="800" b="1" noProof="0" dirty="0">
                          <a:latin typeface="+mn-lt"/>
                        </a:rPr>
                        <a:t>Тамомлаган ОТМ:</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a:solidFill>
                            <a:schemeClr val="tx1"/>
                          </a:solidFill>
                          <a:latin typeface="+mn-lt"/>
                          <a:ea typeface="+mn-ea"/>
                          <a:cs typeface="+mn-cs"/>
                        </a:rPr>
                        <a:t>1968 й. </a:t>
                      </a:r>
                      <a:r>
                        <a:rPr lang="ru-RU" sz="800" b="0" kern="1200" noProof="0" dirty="0" err="1">
                          <a:solidFill>
                            <a:schemeClr val="tx1"/>
                          </a:solidFill>
                          <a:latin typeface="+mn-lt"/>
                          <a:ea typeface="+mn-ea"/>
                          <a:cs typeface="+mn-cs"/>
                        </a:rPr>
                        <a:t>Тошкент</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давлат</a:t>
                      </a:r>
                      <a:r>
                        <a:rPr lang="ru-RU" sz="800" b="0" kern="1200" noProof="0" dirty="0">
                          <a:solidFill>
                            <a:schemeClr val="tx1"/>
                          </a:solidFill>
                          <a:latin typeface="+mn-lt"/>
                          <a:ea typeface="+mn-ea"/>
                          <a:cs typeface="+mn-cs"/>
                        </a:rPr>
                        <a:t> театр </a:t>
                      </a:r>
                      <a:r>
                        <a:rPr lang="ru-RU" sz="800" b="0" kern="1200" noProof="0" dirty="0" err="1">
                          <a:solidFill>
                            <a:schemeClr val="tx1"/>
                          </a:solidFill>
                          <a:latin typeface="+mn-lt"/>
                          <a:ea typeface="+mn-ea"/>
                          <a:cs typeface="+mn-cs"/>
                        </a:rPr>
                        <a:t>ва</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рассомчилик</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санъати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институти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кундузги</a:t>
                      </a:r>
                      <a:r>
                        <a:rPr lang="ru-RU" sz="8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50307">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800" b="1" noProof="0" dirty="0">
                          <a:latin typeface="+mn-lt"/>
                        </a:rPr>
                        <a:t>Мутахассислиги:</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Мусиқали драма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85716">
                <a:tc gridSpan="3">
                  <a:txBody>
                    <a:bodyPr/>
                    <a:lstStyle/>
                    <a:p>
                      <a:pPr algn="l">
                        <a:lnSpc>
                          <a:spcPct val="85000"/>
                        </a:lnSpc>
                      </a:pPr>
                      <a:r>
                        <a:rPr lang="uz-Cyrl-UZ" sz="800" b="1" kern="1200" noProof="0" dirty="0">
                          <a:solidFill>
                            <a:schemeClr val="tx1"/>
                          </a:solidFill>
                          <a:latin typeface="+mn-lt"/>
                          <a:ea typeface="+mn-ea"/>
                          <a:cs typeface="+mn-cs"/>
                        </a:rPr>
                        <a:t>Илмий даража</a:t>
                      </a:r>
                      <a:r>
                        <a:rPr lang="en-US" sz="800" b="1" kern="1200" noProof="0" dirty="0">
                          <a:solidFill>
                            <a:schemeClr val="tx1"/>
                          </a:solidFill>
                          <a:latin typeface="+mn-lt"/>
                          <a:ea typeface="+mn-ea"/>
                          <a:cs typeface="+mn-cs"/>
                        </a:rPr>
                        <a:t> (</a:t>
                      </a:r>
                      <a:r>
                        <a:rPr lang="uz-Cyrl-UZ" sz="800" b="1" kern="1200" noProof="0" dirty="0">
                          <a:solidFill>
                            <a:schemeClr val="tx1"/>
                          </a:solidFill>
                          <a:latin typeface="+mn-lt"/>
                          <a:ea typeface="+mn-ea"/>
                          <a:cs typeface="+mn-cs"/>
                        </a:rPr>
                        <a:t>унвон</a:t>
                      </a:r>
                      <a:r>
                        <a:rPr lang="en-US" sz="800" b="1" kern="1200" noProof="0" dirty="0">
                          <a:solidFill>
                            <a:schemeClr val="tx1"/>
                          </a:solidFill>
                          <a:latin typeface="+mn-lt"/>
                          <a:ea typeface="+mn-ea"/>
                          <a:cs typeface="+mn-cs"/>
                        </a:rPr>
                        <a:t>)</a:t>
                      </a:r>
                      <a:r>
                        <a:rPr lang="uz-Cyrl-UZ" sz="8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Йўқ</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85716">
                <a:tc gridSpan="3">
                  <a:txBody>
                    <a:bodyPr/>
                    <a:lstStyle/>
                    <a:p>
                      <a:pPr algn="l">
                        <a:lnSpc>
                          <a:spcPct val="85000"/>
                        </a:lnSpc>
                      </a:pPr>
                      <a:r>
                        <a:rPr lang="uz-Cyrl-UZ" sz="8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Рус тили</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285109">
                <a:tc gridSpan="3">
                  <a:txBody>
                    <a:bodyPr/>
                    <a:lstStyle/>
                    <a:p>
                      <a:pPr algn="l">
                        <a:lnSpc>
                          <a:spcPct val="85000"/>
                        </a:lnSpc>
                      </a:pPr>
                      <a:r>
                        <a:rPr lang="uz-Cyrl-UZ" sz="8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err="1">
                          <a:solidFill>
                            <a:schemeClr val="tx1"/>
                          </a:solidFill>
                          <a:latin typeface="+mn-lt"/>
                          <a:ea typeface="+mn-ea"/>
                          <a:cs typeface="+mn-cs"/>
                        </a:rPr>
                        <a:t>Йўқ</a:t>
                      </a:r>
                      <a:endParaRPr lang="ru-RU"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318075873"/>
              </p:ext>
            </p:extLst>
          </p:nvPr>
        </p:nvGraphicFramePr>
        <p:xfrm>
          <a:off x="3662362" y="865689"/>
          <a:ext cx="3185005" cy="5925808"/>
        </p:xfrm>
        <a:graphic>
          <a:graphicData uri="http://schemas.openxmlformats.org/drawingml/2006/table">
            <a:tbl>
              <a:tblPr firstRow="1" bandRow="1">
                <a:tableStyleId>{C083E6E3-FA7D-4D7B-A595-EF9225AFEA82}</a:tableStyleId>
              </a:tblPr>
              <a:tblGrid>
                <a:gridCol w="1509406">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280374">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94224">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800" b="1" kern="1200" noProof="0" dirty="0">
                          <a:solidFill>
                            <a:schemeClr val="tx1"/>
                          </a:solidFill>
                          <a:latin typeface="+mn-lt"/>
                          <a:ea typeface="+mn-ea"/>
                          <a:cs typeface="+mn-cs"/>
                        </a:rPr>
                        <a:t>1970 йилдан Муқимий номидаги Ўзбекистон давлат академик мусиқали театри солист-вокалисти</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40411">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800" b="0" kern="1200" noProof="0" dirty="0">
                          <a:solidFill>
                            <a:schemeClr val="tx1"/>
                          </a:solidFill>
                          <a:latin typeface="+mn-lt"/>
                          <a:ea typeface="+mn-ea"/>
                          <a:cs typeface="+mn-cs"/>
                        </a:rPr>
                        <a:t>Й</a:t>
                      </a:r>
                      <a:r>
                        <a:rPr lang="ru-RU" sz="800" b="0" kern="1200" noProof="0" dirty="0" err="1">
                          <a:solidFill>
                            <a:schemeClr val="tx1"/>
                          </a:solidFill>
                          <a:latin typeface="+mn-lt"/>
                          <a:ea typeface="+mn-ea"/>
                          <a:cs typeface="+mn-cs"/>
                        </a:rPr>
                        <a:t>ўқ</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695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56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274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5789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algn="l" defTabSz="914400" rtl="0" eaLnBrk="1" latinLnBrk="0" hangingPunct="1"/>
                      <a:endParaRPr lang="ru-RU" sz="800" b="1"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178827">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6739">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6739">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53620">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2980">
                <a:tc gridSpan="2">
                  <a:txBody>
                    <a:bodyPr/>
                    <a:lstStyle/>
                    <a:p>
                      <a:pPr algn="ctr"/>
                      <a:r>
                        <a:rPr lang="uz-Cyrl-UZ" sz="8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404308">
                <a:tc grid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uz-Cyrl-UZ" sz="900" kern="1200" dirty="0">
                          <a:solidFill>
                            <a:schemeClr val="tx1"/>
                          </a:solidFill>
                          <a:effectLst/>
                          <a:latin typeface="+mn-lt"/>
                          <a:ea typeface="+mn-ea"/>
                          <a:cs typeface="Times New Roman" panose="02020603050405020304" pitchFamily="18" charset="0"/>
                        </a:rPr>
                        <a:t>1996 й. “Ўзбекистонда хизмат кўрсатган артист” унвони</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ru-RU" sz="900" kern="1200" dirty="0">
                          <a:solidFill>
                            <a:schemeClr val="tx1"/>
                          </a:solidFill>
                          <a:effectLst/>
                          <a:latin typeface="+mn-lt"/>
                          <a:ea typeface="+mn-ea"/>
                          <a:cs typeface="Times New Roman" panose="02020603050405020304" pitchFamily="18" charset="0"/>
                        </a:rPr>
                        <a:t>1964-1968 </a:t>
                      </a:r>
                      <a:r>
                        <a:rPr lang="ru-RU" sz="900" kern="1200" dirty="0" err="1">
                          <a:solidFill>
                            <a:schemeClr val="tx1"/>
                          </a:solidFill>
                          <a:effectLst/>
                          <a:latin typeface="+mn-lt"/>
                          <a:ea typeface="+mn-ea"/>
                          <a:cs typeface="Times New Roman" panose="02020603050405020304" pitchFamily="18" charset="0"/>
                        </a:rPr>
                        <a:t>йй</a:t>
                      </a:r>
                      <a:r>
                        <a:rPr lang="ru-RU" sz="900" kern="1200" dirty="0">
                          <a:solidFill>
                            <a:schemeClr val="tx1"/>
                          </a:solidFill>
                          <a:effectLst/>
                          <a:latin typeface="+mn-lt"/>
                          <a:ea typeface="+mn-ea"/>
                          <a:cs typeface="Times New Roman" panose="02020603050405020304" pitchFamily="18" charset="0"/>
                        </a:rPr>
                        <a:t>. - </a:t>
                      </a:r>
                      <a:r>
                        <a:rPr lang="ru-RU" sz="900" kern="1200" dirty="0" err="1">
                          <a:solidFill>
                            <a:schemeClr val="tx1"/>
                          </a:solidFill>
                          <a:effectLst/>
                          <a:latin typeface="+mn-lt"/>
                          <a:ea typeface="+mn-ea"/>
                          <a:cs typeface="Times New Roman" panose="02020603050405020304" pitchFamily="18" charset="0"/>
                        </a:rPr>
                        <a:t>Тошкент</a:t>
                      </a:r>
                      <a:r>
                        <a:rPr lang="ru-RU" sz="900" kern="1200" dirty="0">
                          <a:solidFill>
                            <a:schemeClr val="tx1"/>
                          </a:solidFill>
                          <a:effectLst/>
                          <a:latin typeface="+mn-lt"/>
                          <a:ea typeface="+mn-ea"/>
                          <a:cs typeface="Times New Roman" panose="02020603050405020304" pitchFamily="18" charset="0"/>
                        </a:rPr>
                        <a:t> театр </a:t>
                      </a:r>
                      <a:r>
                        <a:rPr lang="ru-RU" sz="900" kern="1200" dirty="0" err="1">
                          <a:solidFill>
                            <a:schemeClr val="tx1"/>
                          </a:solidFill>
                          <a:effectLst/>
                          <a:latin typeface="+mn-lt"/>
                          <a:ea typeface="+mn-ea"/>
                          <a:cs typeface="Times New Roman" panose="02020603050405020304" pitchFamily="18" charset="0"/>
                        </a:rPr>
                        <a:t>ва</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рассомлик</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саънати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институти</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талабаси</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ru-RU" sz="900" kern="1200" dirty="0">
                          <a:solidFill>
                            <a:schemeClr val="tx1"/>
                          </a:solidFill>
                          <a:effectLst/>
                          <a:latin typeface="+mn-lt"/>
                          <a:ea typeface="+mn-ea"/>
                          <a:cs typeface="Times New Roman" panose="02020603050405020304" pitchFamily="18" charset="0"/>
                        </a:rPr>
                        <a:t>1970 й. - </a:t>
                      </a:r>
                      <a:r>
                        <a:rPr lang="ru-RU" sz="900" kern="1200" dirty="0" err="1">
                          <a:solidFill>
                            <a:schemeClr val="tx1"/>
                          </a:solidFill>
                          <a:effectLst/>
                          <a:latin typeface="+mn-lt"/>
                          <a:ea typeface="+mn-ea"/>
                          <a:cs typeface="Times New Roman" panose="02020603050405020304" pitchFamily="18" charset="0"/>
                        </a:rPr>
                        <a:t>ҳ.в</a:t>
                      </a:r>
                      <a:r>
                        <a:rPr lang="ru-RU" sz="900" kern="1200" dirty="0">
                          <a:solidFill>
                            <a:schemeClr val="tx1"/>
                          </a:solidFill>
                          <a:effectLst/>
                          <a:latin typeface="+mn-lt"/>
                          <a:ea typeface="+mn-ea"/>
                          <a:cs typeface="Times New Roman" panose="02020603050405020304" pitchFamily="18" charset="0"/>
                        </a:rPr>
                        <a:t>.  - </a:t>
                      </a:r>
                      <a:r>
                        <a:rPr lang="ru-RU" sz="900" kern="1200" dirty="0" err="1">
                          <a:solidFill>
                            <a:schemeClr val="tx1"/>
                          </a:solidFill>
                          <a:effectLst/>
                          <a:latin typeface="+mn-lt"/>
                          <a:ea typeface="+mn-ea"/>
                          <a:cs typeface="Times New Roman" panose="02020603050405020304" pitchFamily="18" charset="0"/>
                        </a:rPr>
                        <a:t>Муқимий</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номидаги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ўзбекистон</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давлат</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мусиқали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театри</a:t>
                      </a:r>
                      <a:r>
                        <a:rPr lang="ru-RU" sz="900" kern="1200" dirty="0">
                          <a:solidFill>
                            <a:schemeClr val="tx1"/>
                          </a:solidFill>
                          <a:effectLst/>
                          <a:latin typeface="+mn-lt"/>
                          <a:ea typeface="+mn-ea"/>
                          <a:cs typeface="Times New Roman" panose="02020603050405020304" pitchFamily="18" charset="0"/>
                        </a:rPr>
                        <a:t> солист –</a:t>
                      </a:r>
                      <a:r>
                        <a:rPr lang="ru-RU" sz="900" kern="1200" dirty="0" err="1">
                          <a:solidFill>
                            <a:schemeClr val="tx1"/>
                          </a:solidFill>
                          <a:effectLst/>
                          <a:latin typeface="+mn-lt"/>
                          <a:ea typeface="+mn-ea"/>
                          <a:cs typeface="Times New Roman" panose="02020603050405020304" pitchFamily="18" charset="0"/>
                        </a:rPr>
                        <a:t>вокалисти</a:t>
                      </a:r>
                      <a:r>
                        <a:rPr lang="ru-RU" sz="900" kern="1200" dirty="0">
                          <a:solidFill>
                            <a:schemeClr val="tx1"/>
                          </a:solidFill>
                          <a:effectLst/>
                          <a:latin typeface="+mn-lt"/>
                          <a:ea typeface="+mn-ea"/>
                          <a:cs typeface="Times New Roman" panose="02020603050405020304" pitchFamily="18" charset="0"/>
                        </a:rPr>
                        <a:t> </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851623140"/>
              </p:ext>
            </p:extLst>
          </p:nvPr>
        </p:nvGraphicFramePr>
        <p:xfrm>
          <a:off x="6898612" y="902736"/>
          <a:ext cx="2868492" cy="5890341"/>
        </p:xfrm>
        <a:graphic>
          <a:graphicData uri="http://schemas.openxmlformats.org/drawingml/2006/table">
            <a:tbl>
              <a:tblPr firstRow="1" bandRow="1">
                <a:tableStyleId>{C083E6E3-FA7D-4D7B-A595-EF9225AFEA82}</a:tableStyleId>
              </a:tblPr>
              <a:tblGrid>
                <a:gridCol w="2868492">
                  <a:extLst>
                    <a:ext uri="{9D8B030D-6E8A-4147-A177-3AD203B41FA5}">
                      <a16:colId xmlns:a16="http://schemas.microsoft.com/office/drawing/2014/main" val="2715609854"/>
                    </a:ext>
                  </a:extLst>
                </a:gridCol>
              </a:tblGrid>
              <a:tr h="248848">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61097">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537434">
                <a:tc>
                  <a:txBody>
                    <a:bodyPr/>
                    <a:lstStyle/>
                    <a:p>
                      <a:pPr marL="0" algn="just" defTabSz="914400" rtl="0" eaLnBrk="1" latinLnBrk="0" hangingPunct="1"/>
                      <a:r>
                        <a:rPr lang="ru-RU" sz="900" b="0" kern="1200" baseline="0" dirty="0" smtClean="0">
                          <a:solidFill>
                            <a:schemeClr val="tx1"/>
                          </a:solidFill>
                          <a:effectLst/>
                          <a:latin typeface="+mn-lt"/>
                          <a:ea typeface="+mn-ea"/>
                          <a:cs typeface="Times New Roman" panose="02020603050405020304" pitchFamily="18" charset="0"/>
                        </a:rPr>
                        <a:t>    </a:t>
                      </a:r>
                      <a:r>
                        <a:rPr lang="ru-RU" sz="900" b="0" kern="1200" baseline="0" dirty="0" err="1" smtClean="0">
                          <a:solidFill>
                            <a:schemeClr val="tx1"/>
                          </a:solidFill>
                          <a:effectLst/>
                          <a:latin typeface="+mn-lt"/>
                          <a:ea typeface="+mn-ea"/>
                          <a:cs typeface="Times New Roman" panose="02020603050405020304" pitchFamily="18" charset="0"/>
                        </a:rPr>
                        <a:t>Буюк</a:t>
                      </a:r>
                      <a:r>
                        <a:rPr lang="ru-RU" sz="900" b="0" kern="1200" baseline="0" dirty="0" smtClean="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мутафаккир</a:t>
                      </a:r>
                      <a:r>
                        <a:rPr lang="ru-RU" sz="900" b="0" kern="1200" baseline="0" dirty="0">
                          <a:solidFill>
                            <a:schemeClr val="tx1"/>
                          </a:solidFill>
                          <a:effectLst/>
                          <a:latin typeface="+mn-lt"/>
                          <a:ea typeface="+mn-ea"/>
                          <a:cs typeface="Times New Roman" panose="02020603050405020304" pitchFamily="18" charset="0"/>
                        </a:rPr>
                        <a:t> Алишер </a:t>
                      </a:r>
                      <a:r>
                        <a:rPr lang="ru-RU" sz="900" b="0" kern="1200" baseline="0" dirty="0" err="1">
                          <a:solidFill>
                            <a:schemeClr val="tx1"/>
                          </a:solidFill>
                          <a:effectLst/>
                          <a:latin typeface="+mn-lt"/>
                          <a:ea typeface="+mn-ea"/>
                          <a:cs typeface="Times New Roman" panose="02020603050405020304" pitchFamily="18" charset="0"/>
                        </a:rPr>
                        <a:t>Навоийнинг</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достонлари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асосида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саҳналаштирилган</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Лайли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ва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Мажнун”да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Лайли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Фарҳод</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ва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Ширин”да</a:t>
                      </a:r>
                      <a:r>
                        <a:rPr lang="ru-RU" sz="900" b="0" kern="1200" baseline="0" dirty="0">
                          <a:solidFill>
                            <a:schemeClr val="tx1"/>
                          </a:solidFill>
                          <a:effectLst/>
                          <a:latin typeface="+mn-lt"/>
                          <a:ea typeface="+mn-ea"/>
                          <a:cs typeface="Times New Roman" panose="02020603050405020304" pitchFamily="18" charset="0"/>
                        </a:rPr>
                        <a:t> Ширин  </a:t>
                      </a:r>
                      <a:r>
                        <a:rPr lang="ru-RU" sz="900" b="0" kern="1200" baseline="0" dirty="0" err="1">
                          <a:solidFill>
                            <a:schemeClr val="tx1"/>
                          </a:solidFill>
                          <a:effectLst/>
                          <a:latin typeface="+mn-lt"/>
                          <a:ea typeface="+mn-ea"/>
                          <a:cs typeface="Times New Roman" panose="02020603050405020304" pitchFamily="18" charset="0"/>
                        </a:rPr>
                        <a:t>ролларини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Д.Сафоева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шундай</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маҳорат</a:t>
                      </a:r>
                      <a:r>
                        <a:rPr lang="ru-RU" sz="900" b="0" kern="1200" baseline="0" dirty="0">
                          <a:solidFill>
                            <a:schemeClr val="tx1"/>
                          </a:solidFill>
                          <a:effectLst/>
                          <a:latin typeface="+mn-lt"/>
                          <a:ea typeface="+mn-ea"/>
                          <a:cs typeface="Times New Roman" panose="02020603050405020304" pitchFamily="18" charset="0"/>
                        </a:rPr>
                        <a:t> билан </a:t>
                      </a:r>
                      <a:r>
                        <a:rPr lang="ru-RU" sz="900" b="0" kern="1200" baseline="0" dirty="0" err="1">
                          <a:solidFill>
                            <a:schemeClr val="tx1"/>
                          </a:solidFill>
                          <a:effectLst/>
                          <a:latin typeface="+mn-lt"/>
                          <a:ea typeface="+mn-ea"/>
                          <a:cs typeface="Times New Roman" panose="02020603050405020304" pitchFamily="18" charset="0"/>
                        </a:rPr>
                        <a:t>ижро</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этган</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Хонума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хоним”да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Кабато</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Ўжарлар”да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Озода</a:t>
                      </a:r>
                      <a:r>
                        <a:rPr lang="ru-RU" sz="900" b="0" kern="1200" baseline="0" dirty="0">
                          <a:solidFill>
                            <a:schemeClr val="tx1"/>
                          </a:solidFill>
                          <a:effectLst/>
                          <a:latin typeface="+mn-lt"/>
                          <a:ea typeface="+mn-ea"/>
                          <a:cs typeface="Times New Roman" panose="02020603050405020304" pitchFamily="18" charset="0"/>
                        </a:rPr>
                        <a:t>, “Юсуф </a:t>
                      </a:r>
                      <a:r>
                        <a:rPr lang="ru-RU" sz="900" b="0" kern="1200" baseline="0" dirty="0" err="1">
                          <a:solidFill>
                            <a:schemeClr val="tx1"/>
                          </a:solidFill>
                          <a:effectLst/>
                          <a:latin typeface="+mn-lt"/>
                          <a:ea typeface="+mn-ea"/>
                          <a:cs typeface="Times New Roman" panose="02020603050405020304" pitchFamily="18" charset="0"/>
                        </a:rPr>
                        <a:t>ва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Зулайҳо”да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Меҳри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Олифта”да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Саломат</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Қизил</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дуррали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нозик</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ниҳолим”да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Алиман</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Ҳалима”да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Ҳалима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Тоғ</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гўзали”да</a:t>
                      </a:r>
                      <a:r>
                        <a:rPr lang="ru-RU" sz="900" b="0" kern="1200" baseline="0" dirty="0">
                          <a:solidFill>
                            <a:schemeClr val="tx1"/>
                          </a:solidFill>
                          <a:effectLst/>
                          <a:latin typeface="+mn-lt"/>
                          <a:ea typeface="+mn-ea"/>
                          <a:cs typeface="Times New Roman" panose="02020603050405020304" pitchFamily="18" charset="0"/>
                        </a:rPr>
                        <a:t> Ширин, “</a:t>
                      </a:r>
                      <a:r>
                        <a:rPr lang="ru-RU" sz="900" b="0" kern="1200" baseline="0" dirty="0" err="1">
                          <a:solidFill>
                            <a:schemeClr val="tx1"/>
                          </a:solidFill>
                          <a:effectLst/>
                          <a:latin typeface="+mn-lt"/>
                          <a:ea typeface="+mn-ea"/>
                          <a:cs typeface="Times New Roman" panose="02020603050405020304" pitchFamily="18" charset="0"/>
                        </a:rPr>
                        <a:t>Нурхон”да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Нурхон</a:t>
                      </a:r>
                      <a:r>
                        <a:rPr lang="ru-RU" sz="900" b="0" kern="1200" baseline="0" dirty="0">
                          <a:solidFill>
                            <a:schemeClr val="tx1"/>
                          </a:solidFill>
                          <a:effectLst/>
                          <a:latin typeface="+mn-lt"/>
                          <a:ea typeface="+mn-ea"/>
                          <a:cs typeface="Times New Roman" panose="02020603050405020304" pitchFamily="18" charset="0"/>
                        </a:rPr>
                        <a:t>, “Она </a:t>
                      </a:r>
                      <a:r>
                        <a:rPr lang="ru-RU" sz="900" b="0" kern="1200" baseline="0" dirty="0" err="1">
                          <a:solidFill>
                            <a:schemeClr val="tx1"/>
                          </a:solidFill>
                          <a:effectLst/>
                          <a:latin typeface="+mn-lt"/>
                          <a:ea typeface="+mn-ea"/>
                          <a:cs typeface="Times New Roman" panose="02020603050405020304" pitchFamily="18" charset="0"/>
                        </a:rPr>
                        <a:t>қизим”да</a:t>
                      </a:r>
                      <a:r>
                        <a:rPr lang="ru-RU" sz="900" b="0" kern="1200" baseline="0" dirty="0">
                          <a:solidFill>
                            <a:schemeClr val="tx1"/>
                          </a:solidFill>
                          <a:effectLst/>
                          <a:latin typeface="+mn-lt"/>
                          <a:ea typeface="+mn-ea"/>
                          <a:cs typeface="Times New Roman" panose="02020603050405020304" pitchFamily="18" charset="0"/>
                        </a:rPr>
                        <a:t> Зайнаб, “</a:t>
                      </a:r>
                      <a:r>
                        <a:rPr lang="ru-RU" sz="900" b="0" kern="1200" baseline="0" dirty="0" err="1">
                          <a:solidFill>
                            <a:schemeClr val="tx1"/>
                          </a:solidFill>
                          <a:effectLst/>
                          <a:latin typeface="+mn-lt"/>
                          <a:ea typeface="+mn-ea"/>
                          <a:cs typeface="Times New Roman" panose="02020603050405020304" pitchFamily="18" charset="0"/>
                        </a:rPr>
                        <a:t>Туркман</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қизи”да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Чарос</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Жон</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қизлар</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спектаклида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Жонсулув</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Тоҳир</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ва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Зуҳра”да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Зуҳра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Моҳинбону</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Паранжи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сирлари”да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Холисхон</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Тошкентнинг</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нозанин</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маликаси</a:t>
                      </a:r>
                      <a:r>
                        <a:rPr lang="ru-RU" sz="900" b="0" kern="1200" baseline="0" dirty="0">
                          <a:solidFill>
                            <a:schemeClr val="tx1"/>
                          </a:solidFill>
                          <a:effectLst/>
                          <a:latin typeface="+mn-lt"/>
                          <a:ea typeface="+mn-ea"/>
                          <a:cs typeface="Times New Roman" panose="02020603050405020304" pitchFamily="18" charset="0"/>
                        </a:rPr>
                        <a:t>” да </a:t>
                      </a:r>
                      <a:r>
                        <a:rPr lang="ru-RU" sz="900" b="0" kern="1200" baseline="0" dirty="0" err="1">
                          <a:solidFill>
                            <a:schemeClr val="tx1"/>
                          </a:solidFill>
                          <a:effectLst/>
                          <a:latin typeface="+mn-lt"/>
                          <a:ea typeface="+mn-ea"/>
                          <a:cs typeface="Times New Roman" panose="02020603050405020304" pitchFamily="18" charset="0"/>
                        </a:rPr>
                        <a:t>Мунаввар</a:t>
                      </a:r>
                      <a:r>
                        <a:rPr lang="ru-RU" sz="900" b="0" kern="1200" baseline="0" dirty="0">
                          <a:solidFill>
                            <a:schemeClr val="tx1"/>
                          </a:solidFill>
                          <a:effectLst/>
                          <a:latin typeface="+mn-lt"/>
                          <a:ea typeface="+mn-ea"/>
                          <a:cs typeface="Times New Roman" panose="02020603050405020304" pitchFamily="18" charset="0"/>
                        </a:rPr>
                        <a:t>, “Бир </a:t>
                      </a:r>
                      <a:r>
                        <a:rPr lang="ru-RU" sz="900" b="0" kern="1200" baseline="0" dirty="0" err="1">
                          <a:solidFill>
                            <a:schemeClr val="tx1"/>
                          </a:solidFill>
                          <a:effectLst/>
                          <a:latin typeface="+mn-lt"/>
                          <a:ea typeface="+mn-ea"/>
                          <a:cs typeface="Times New Roman" panose="02020603050405020304" pitchFamily="18" charset="0"/>
                        </a:rPr>
                        <a:t>кам</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дунё”да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Қумри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Муҳаббат</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навоси</a:t>
                      </a:r>
                      <a:r>
                        <a:rPr lang="ru-RU" sz="900" b="0" kern="1200" baseline="0" dirty="0">
                          <a:solidFill>
                            <a:schemeClr val="tx1"/>
                          </a:solidFill>
                          <a:effectLst/>
                          <a:latin typeface="+mn-lt"/>
                          <a:ea typeface="+mn-ea"/>
                          <a:cs typeface="Times New Roman" panose="02020603050405020304" pitchFamily="18" charset="0"/>
                        </a:rPr>
                        <a:t>” да </a:t>
                      </a:r>
                      <a:r>
                        <a:rPr lang="ru-RU" sz="900" b="0" kern="1200" baseline="0" dirty="0" err="1">
                          <a:solidFill>
                            <a:schemeClr val="tx1"/>
                          </a:solidFill>
                          <a:effectLst/>
                          <a:latin typeface="+mn-lt"/>
                          <a:ea typeface="+mn-ea"/>
                          <a:cs typeface="Times New Roman" panose="02020603050405020304" pitchFamily="18" charset="0"/>
                        </a:rPr>
                        <a:t>Ёдгорхоним</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Осмоннинг</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бағри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кенг”да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Ҳадича</a:t>
                      </a:r>
                      <a:r>
                        <a:rPr lang="ru-RU" sz="900" b="0" kern="1200" baseline="0" dirty="0">
                          <a:solidFill>
                            <a:schemeClr val="tx1"/>
                          </a:solidFill>
                          <a:effectLst/>
                          <a:latin typeface="+mn-lt"/>
                          <a:ea typeface="+mn-ea"/>
                          <a:cs typeface="Times New Roman" panose="02020603050405020304" pitchFamily="18" charset="0"/>
                        </a:rPr>
                        <a:t> “Суперқайнона-2”да Афифа, “</a:t>
                      </a:r>
                      <a:r>
                        <a:rPr lang="ru-RU" sz="900" b="0" kern="1200" baseline="0" dirty="0" err="1">
                          <a:solidFill>
                            <a:schemeClr val="tx1"/>
                          </a:solidFill>
                          <a:effectLst/>
                          <a:latin typeface="+mn-lt"/>
                          <a:ea typeface="+mn-ea"/>
                          <a:cs typeface="Times New Roman" panose="02020603050405020304" pitchFamily="18" charset="0"/>
                        </a:rPr>
                        <a:t>Ойонам-қайнонам</a:t>
                      </a:r>
                      <a:r>
                        <a:rPr lang="ru-RU" sz="900" b="0" kern="1200" baseline="0" dirty="0">
                          <a:solidFill>
                            <a:schemeClr val="tx1"/>
                          </a:solidFill>
                          <a:effectLst/>
                          <a:latin typeface="+mn-lt"/>
                          <a:ea typeface="+mn-ea"/>
                          <a:cs typeface="Times New Roman" panose="02020603050405020304" pitchFamily="18" charset="0"/>
                        </a:rPr>
                        <a:t>” да </a:t>
                      </a:r>
                      <a:r>
                        <a:rPr lang="ru-RU" sz="900" b="0" kern="1200" baseline="0" dirty="0" err="1">
                          <a:solidFill>
                            <a:schemeClr val="tx1"/>
                          </a:solidFill>
                          <a:effectLst/>
                          <a:latin typeface="+mn-lt"/>
                          <a:ea typeface="+mn-ea"/>
                          <a:cs typeface="Times New Roman" panose="02020603050405020304" pitchFamily="18" charset="0"/>
                        </a:rPr>
                        <a:t>Қумри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Меҳр</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нури</a:t>
                      </a:r>
                      <a:r>
                        <a:rPr lang="ru-RU" sz="900" b="0" kern="1200" baseline="0" dirty="0">
                          <a:solidFill>
                            <a:schemeClr val="tx1"/>
                          </a:solidFill>
                          <a:effectLst/>
                          <a:latin typeface="+mn-lt"/>
                          <a:ea typeface="+mn-ea"/>
                          <a:cs typeface="Times New Roman" panose="02020603050405020304" pitchFamily="18" charset="0"/>
                        </a:rPr>
                        <a:t>” да </a:t>
                      </a:r>
                      <a:r>
                        <a:rPr lang="ru-RU" sz="900" b="0" kern="1200" baseline="0" dirty="0" err="1">
                          <a:solidFill>
                            <a:schemeClr val="tx1"/>
                          </a:solidFill>
                          <a:effectLst/>
                          <a:latin typeface="+mn-lt"/>
                          <a:ea typeface="+mn-ea"/>
                          <a:cs typeface="Times New Roman" panose="02020603050405020304" pitchFamily="18" charset="0"/>
                        </a:rPr>
                        <a:t>Ҳадича</a:t>
                      </a:r>
                      <a:r>
                        <a:rPr lang="ru-RU" sz="900" b="0" kern="1200" baseline="0" dirty="0">
                          <a:solidFill>
                            <a:schemeClr val="tx1"/>
                          </a:solidFill>
                          <a:effectLst/>
                          <a:latin typeface="+mn-lt"/>
                          <a:ea typeface="+mn-ea"/>
                          <a:cs typeface="Times New Roman" panose="02020603050405020304" pitchFamily="18" charset="0"/>
                        </a:rPr>
                        <a:t>, “Суперқайнона-2”да Афифа, “</a:t>
                      </a:r>
                      <a:r>
                        <a:rPr lang="ru-RU" sz="900" b="0" kern="1200" baseline="0" dirty="0" err="1">
                          <a:solidFill>
                            <a:schemeClr val="tx1"/>
                          </a:solidFill>
                          <a:effectLst/>
                          <a:latin typeface="+mn-lt"/>
                          <a:ea typeface="+mn-ea"/>
                          <a:cs typeface="Times New Roman" panose="02020603050405020304" pitchFamily="18" charset="0"/>
                        </a:rPr>
                        <a:t>Осмондаги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Ҳулкарим”да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Қумри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каби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роллари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мутахассислар</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томонидан</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юқори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баҳоланган</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Айниқса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унинг</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Осмондаги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Ҳулкарим</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спектаклида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яратган</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Қумри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образи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ўзининг</a:t>
                      </a:r>
                      <a:r>
                        <a:rPr lang="ru-RU" sz="900" b="0" kern="1200" baseline="0" dirty="0">
                          <a:solidFill>
                            <a:schemeClr val="tx1"/>
                          </a:solidFill>
                          <a:effectLst/>
                          <a:latin typeface="+mn-lt"/>
                          <a:ea typeface="+mn-ea"/>
                          <a:cs typeface="Times New Roman" panose="02020603050405020304" pitchFamily="18" charset="0"/>
                        </a:rPr>
                        <a:t> ички </a:t>
                      </a:r>
                      <a:r>
                        <a:rPr lang="ru-RU" sz="900" b="0" kern="1200" baseline="0" dirty="0" err="1">
                          <a:solidFill>
                            <a:schemeClr val="tx1"/>
                          </a:solidFill>
                          <a:effectLst/>
                          <a:latin typeface="+mn-lt"/>
                          <a:ea typeface="+mn-ea"/>
                          <a:cs typeface="Times New Roman" panose="02020603050405020304" pitchFamily="18" charset="0"/>
                        </a:rPr>
                        <a:t>кечинмаларга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бойлиги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ўзбек</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аёли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тимсолида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кўпчиликка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маъқул</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бўлди</a:t>
                      </a:r>
                      <a:r>
                        <a:rPr lang="ru-RU" sz="900" b="0" kern="1200" baseline="0" dirty="0">
                          <a:solidFill>
                            <a:schemeClr val="tx1"/>
                          </a:solidFill>
                          <a:effectLst/>
                          <a:latin typeface="+mn-lt"/>
                          <a:ea typeface="+mn-ea"/>
                          <a:cs typeface="Times New Roman" panose="02020603050405020304" pitchFamily="18" charset="0"/>
                        </a:rPr>
                        <a:t>.</a:t>
                      </a:r>
                    </a:p>
                    <a:p>
                      <a:pPr marL="0" algn="just" defTabSz="914400" rtl="0" eaLnBrk="1" latinLnBrk="0" hangingPunct="1"/>
                      <a:r>
                        <a:rPr lang="ru-RU" sz="900" b="0" kern="1200" baseline="0" dirty="0" smtClean="0">
                          <a:solidFill>
                            <a:schemeClr val="tx1"/>
                          </a:solidFill>
                          <a:effectLst/>
                          <a:latin typeface="+mn-lt"/>
                          <a:ea typeface="+mn-ea"/>
                          <a:cs typeface="Times New Roman" panose="02020603050405020304" pitchFamily="18" charset="0"/>
                        </a:rPr>
                        <a:t>    </a:t>
                      </a:r>
                      <a:r>
                        <a:rPr lang="ru-RU" sz="900" b="0" kern="1200" baseline="0" dirty="0" err="1" smtClean="0">
                          <a:solidFill>
                            <a:schemeClr val="tx1"/>
                          </a:solidFill>
                          <a:effectLst/>
                          <a:latin typeface="+mn-lt"/>
                          <a:ea typeface="+mn-ea"/>
                          <a:cs typeface="Times New Roman" panose="02020603050405020304" pitchFamily="18" charset="0"/>
                        </a:rPr>
                        <a:t>Яқинда</a:t>
                      </a:r>
                      <a:r>
                        <a:rPr lang="ru-RU" sz="900" b="0" kern="1200" baseline="0" dirty="0" smtClean="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қайта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саҳналаштирилган</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спектаклларда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Дилором</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Сафоева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Тоҳир</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ва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Зуҳра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спектаклида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энага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Лайли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ва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Мажнун”да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эса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сарой</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аъёнларидан</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бирини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ижро</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smtClean="0">
                          <a:solidFill>
                            <a:schemeClr val="tx1"/>
                          </a:solidFill>
                          <a:effectLst/>
                          <a:latin typeface="+mn-lt"/>
                          <a:ea typeface="+mn-ea"/>
                          <a:cs typeface="Times New Roman" panose="02020603050405020304" pitchFamily="18" charset="0"/>
                        </a:rPr>
                        <a:t>этди</a:t>
                      </a:r>
                      <a:r>
                        <a:rPr lang="ru-RU" sz="900" b="0" kern="1200" baseline="0" dirty="0" smtClean="0">
                          <a:solidFill>
                            <a:schemeClr val="tx1"/>
                          </a:solidFill>
                          <a:effectLst/>
                          <a:latin typeface="+mn-lt"/>
                          <a:ea typeface="+mn-ea"/>
                          <a:cs typeface="Times New Roman" panose="02020603050405020304" pitchFamily="18" charset="0"/>
                        </a:rPr>
                        <a:t>.</a:t>
                      </a:r>
                    </a:p>
                    <a:p>
                      <a:pPr marL="0" algn="just" defTabSz="914400" rtl="0" eaLnBrk="1" latinLnBrk="0" hangingPunct="1"/>
                      <a:r>
                        <a:rPr lang="ru-RU" sz="900" b="0" kern="1200" baseline="0" dirty="0" smtClean="0">
                          <a:solidFill>
                            <a:schemeClr val="tx1"/>
                          </a:solidFill>
                          <a:effectLst/>
                          <a:latin typeface="+mn-lt"/>
                          <a:ea typeface="+mn-ea"/>
                          <a:cs typeface="Times New Roman" panose="02020603050405020304" pitchFamily="18" charset="0"/>
                        </a:rPr>
                        <a:t>    У </a:t>
                      </a:r>
                      <a:r>
                        <a:rPr lang="ru-RU" sz="900" b="0" kern="1200" baseline="0" dirty="0" err="1">
                          <a:solidFill>
                            <a:schemeClr val="tx1"/>
                          </a:solidFill>
                          <a:effectLst/>
                          <a:latin typeface="+mn-lt"/>
                          <a:ea typeface="+mn-ea"/>
                          <a:cs typeface="Times New Roman" panose="02020603050405020304" pitchFamily="18" charset="0"/>
                        </a:rPr>
                        <a:t>ўзининг</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роллари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орқали</a:t>
                      </a:r>
                      <a:r>
                        <a:rPr lang="ru-RU" sz="900" b="0" kern="1200" baseline="0" dirty="0">
                          <a:solidFill>
                            <a:schemeClr val="tx1"/>
                          </a:solidFill>
                          <a:effectLst/>
                          <a:latin typeface="+mn-lt"/>
                          <a:ea typeface="+mn-ea"/>
                          <a:cs typeface="Times New Roman" panose="02020603050405020304" pitchFamily="18" charset="0"/>
                        </a:rPr>
                        <a:t> ёш авлод </a:t>
                      </a:r>
                      <a:r>
                        <a:rPr lang="ru-RU" sz="900" b="0" kern="1200" baseline="0" dirty="0" err="1">
                          <a:solidFill>
                            <a:schemeClr val="tx1"/>
                          </a:solidFill>
                          <a:effectLst/>
                          <a:latin typeface="+mn-lt"/>
                          <a:ea typeface="+mn-ea"/>
                          <a:cs typeface="Times New Roman" panose="02020603050405020304" pitchFamily="18" charset="0"/>
                        </a:rPr>
                        <a:t>онгида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ватанга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муҳаббат</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ёши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улуғларга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ҳурмат</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каби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тарбиявий</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ғоялари</a:t>
                      </a:r>
                      <a:r>
                        <a:rPr lang="ru-RU" sz="900" b="0" kern="1200" baseline="0" dirty="0">
                          <a:solidFill>
                            <a:schemeClr val="tx1"/>
                          </a:solidFill>
                          <a:effectLst/>
                          <a:latin typeface="+mn-lt"/>
                          <a:ea typeface="+mn-ea"/>
                          <a:cs typeface="Times New Roman" panose="02020603050405020304" pitchFamily="18" charset="0"/>
                        </a:rPr>
                        <a:t> билан </a:t>
                      </a:r>
                      <a:r>
                        <a:rPr lang="ru-RU" sz="900" b="0" kern="1200" baseline="0" dirty="0" err="1">
                          <a:solidFill>
                            <a:schemeClr val="tx1"/>
                          </a:solidFill>
                          <a:effectLst/>
                          <a:latin typeface="+mn-lt"/>
                          <a:ea typeface="+mn-ea"/>
                          <a:cs typeface="Times New Roman" panose="02020603050405020304" pitchFamily="18" charset="0"/>
                        </a:rPr>
                        <a:t>миллий</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мафкурани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сингдиришда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жонбозлик</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кўрсатиб</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келаётгани</a:t>
                      </a:r>
                      <a:r>
                        <a:rPr lang="ru-RU" sz="900" b="0" kern="1200" baseline="0" dirty="0">
                          <a:solidFill>
                            <a:schemeClr val="tx1"/>
                          </a:solidFill>
                          <a:effectLst/>
                          <a:latin typeface="+mn-lt"/>
                          <a:ea typeface="+mn-ea"/>
                          <a:cs typeface="Times New Roman" panose="02020603050405020304" pitchFamily="18" charset="0"/>
                        </a:rPr>
                        <a:t> билан </a:t>
                      </a:r>
                      <a:r>
                        <a:rPr lang="ru-RU" sz="900" b="0" kern="1200" baseline="0" dirty="0" err="1">
                          <a:solidFill>
                            <a:schemeClr val="tx1"/>
                          </a:solidFill>
                          <a:effectLst/>
                          <a:latin typeface="+mn-lt"/>
                          <a:ea typeface="+mn-ea"/>
                          <a:cs typeface="Times New Roman" panose="02020603050405020304" pitchFamily="18" charset="0"/>
                        </a:rPr>
                        <a:t>мутахассислар</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ва</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томошабинлар</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меҳрини</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қозониб</a:t>
                      </a:r>
                      <a:r>
                        <a:rPr lang="ru-RU" sz="900" b="0" kern="1200" baseline="0" dirty="0">
                          <a:solidFill>
                            <a:schemeClr val="tx1"/>
                          </a:solidFill>
                          <a:effectLst/>
                          <a:latin typeface="+mn-lt"/>
                          <a:ea typeface="+mn-ea"/>
                          <a:cs typeface="Times New Roman" panose="02020603050405020304" pitchFamily="18" charset="0"/>
                        </a:rPr>
                        <a:t> </a:t>
                      </a:r>
                      <a:r>
                        <a:rPr lang="ru-RU" sz="900" b="0" kern="1200" baseline="0" dirty="0" err="1">
                          <a:solidFill>
                            <a:schemeClr val="tx1"/>
                          </a:solidFill>
                          <a:effectLst/>
                          <a:latin typeface="+mn-lt"/>
                          <a:ea typeface="+mn-ea"/>
                          <a:cs typeface="Times New Roman" panose="02020603050405020304" pitchFamily="18" charset="0"/>
                        </a:rPr>
                        <a:t>келмоқда</a:t>
                      </a:r>
                      <a:r>
                        <a:rPr lang="ru-RU" sz="900" b="0" kern="1200" baseline="0" dirty="0">
                          <a:solidFill>
                            <a:schemeClr val="tx1"/>
                          </a:solidFill>
                          <a:effectLst/>
                          <a:latin typeface="+mn-lt"/>
                          <a:ea typeface="+mn-ea"/>
                          <a:cs typeface="Times New Roman" panose="02020603050405020304" pitchFamily="18" charset="0"/>
                        </a:rPr>
                        <a:t>.</a:t>
                      </a:r>
                      <a:r>
                        <a:rPr lang="uz-Cyrl-UZ" sz="900" b="0" kern="1200" baseline="0" dirty="0">
                          <a:solidFill>
                            <a:schemeClr val="tx1"/>
                          </a:solidFill>
                          <a:effectLst/>
                          <a:latin typeface="+mn-lt"/>
                          <a:ea typeface="+mn-ea"/>
                          <a:cs typeface="Times New Roman" panose="02020603050405020304" pitchFamily="18" charset="0"/>
                        </a:rPr>
                        <a:t>.</a:t>
                      </a:r>
                      <a:endParaRPr lang="ru-RU" sz="900" b="0" kern="1200" baseline="0" dirty="0">
                        <a:solidFill>
                          <a:schemeClr val="tx1"/>
                        </a:solidFill>
                        <a:effectLst/>
                        <a:latin typeface="+mn-lt"/>
                        <a:ea typeface="+mn-ea"/>
                        <a:cs typeface="Times New Roman" panose="02020603050405020304" pitchFamily="18" charset="0"/>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12594">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7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7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28789">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9" name="Рисунок 8" descr="Изображение выглядит как Человеческое лицо, бровь, губа, Подбородок&#10;&#10;Содержимое, созданное искусственным интеллектом, может быть неверным.">
            <a:extLst>
              <a:ext uri="{FF2B5EF4-FFF2-40B4-BE49-F238E27FC236}">
                <a16:creationId xmlns:a16="http://schemas.microsoft.com/office/drawing/2014/main" id="{945C1AE2-A262-0454-2DEF-4FE59E6C4425}"/>
              </a:ext>
            </a:extLst>
          </p:cNvPr>
          <p:cNvPicPr>
            <a:picLocks noChangeAspect="1"/>
          </p:cNvPicPr>
          <p:nvPr/>
        </p:nvPicPr>
        <p:blipFill>
          <a:blip r:embed="rId2"/>
          <a:stretch>
            <a:fillRect/>
          </a:stretch>
        </p:blipFill>
        <p:spPr>
          <a:xfrm>
            <a:off x="359793" y="1194204"/>
            <a:ext cx="808608" cy="1075671"/>
          </a:xfrm>
          <a:prstGeom prst="rect">
            <a:avLst/>
          </a:prstGeom>
        </p:spPr>
      </p:pic>
    </p:spTree>
    <p:extLst>
      <p:ext uri="{BB962C8B-B14F-4D97-AF65-F5344CB8AC3E}">
        <p14:creationId xmlns:p14="http://schemas.microsoft.com/office/powerpoint/2010/main" val="2037209336"/>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063642777"/>
              </p:ext>
            </p:extLst>
          </p:nvPr>
        </p:nvGraphicFramePr>
        <p:xfrm>
          <a:off x="183570" y="868680"/>
          <a:ext cx="3427547" cy="5915248"/>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7037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3971">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СОТВОЛДИЕВА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397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Мухаббат</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397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Юсуповна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3971">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397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15.04.1961</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397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Фарғона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5455">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647004">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3 нафар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Муқимий номидаги Ўзбекистон давлат академик мусиқали театири солист вокалисти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5455">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8698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Сотволдиев Юсупжон</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1935 йил, Фарғона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2014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ru-RU" sz="800" b="0" kern="1200" noProof="0" dirty="0" err="1">
                          <a:solidFill>
                            <a:schemeClr val="tx1"/>
                          </a:solidFill>
                          <a:latin typeface="+mn-lt"/>
                          <a:ea typeface="+mn-ea"/>
                          <a:cs typeface="Arial" panose="020B0604020202020204" pitchFamily="34" charset="0"/>
                        </a:rPr>
                        <a:t>Найманча</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жамоа</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хўжалиги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ишчиси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08701">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Сотволдиева Уктамхон Меликўзиевна</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1941 йил, Фарғона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2002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ru-RU" sz="800" b="0" kern="1200" noProof="0" dirty="0" err="1">
                          <a:solidFill>
                            <a:schemeClr val="tx1"/>
                          </a:solidFill>
                          <a:latin typeface="+mn-lt"/>
                          <a:ea typeface="+mn-ea"/>
                          <a:cs typeface="Arial" panose="020B0604020202020204" pitchFamily="34" charset="0"/>
                        </a:rPr>
                        <a:t>Найманча</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қишлоғи</a:t>
                      </a:r>
                      <a:r>
                        <a:rPr lang="ru-RU" sz="800" b="0" kern="1200" noProof="0" dirty="0">
                          <a:solidFill>
                            <a:schemeClr val="tx1"/>
                          </a:solidFill>
                          <a:latin typeface="+mn-lt"/>
                          <a:ea typeface="+mn-ea"/>
                          <a:cs typeface="Arial" panose="020B0604020202020204" pitchFamily="34" charset="0"/>
                        </a:rPr>
                        <a:t/>
                      </a:r>
                      <a:br>
                        <a:rPr lang="ru-RU" sz="800" b="0" kern="1200" noProof="0" dirty="0">
                          <a:solidFill>
                            <a:schemeClr val="tx1"/>
                          </a:solidFill>
                          <a:latin typeface="+mn-lt"/>
                          <a:ea typeface="+mn-ea"/>
                          <a:cs typeface="Arial" panose="020B0604020202020204" pitchFamily="34" charset="0"/>
                        </a:rPr>
                      </a:br>
                      <a:r>
                        <a:rPr lang="ru-RU" sz="800" b="0" kern="1200" noProof="0" dirty="0">
                          <a:solidFill>
                            <a:schemeClr val="tx1"/>
                          </a:solidFill>
                          <a:latin typeface="+mn-lt"/>
                          <a:ea typeface="+mn-ea"/>
                          <a:cs typeface="Arial" panose="020B0604020202020204" pitchFamily="34" charset="0"/>
                        </a:rPr>
                        <a:t>7-сонли </a:t>
                      </a:r>
                      <a:r>
                        <a:rPr lang="ru-RU" sz="800" b="0" kern="1200" noProof="0" dirty="0" err="1">
                          <a:solidFill>
                            <a:schemeClr val="tx1"/>
                          </a:solidFill>
                          <a:latin typeface="+mn-lt"/>
                          <a:ea typeface="+mn-ea"/>
                          <a:cs typeface="Arial" panose="020B0604020202020204" pitchFamily="34" charset="0"/>
                        </a:rPr>
                        <a:t>болалар</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шифохонаси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хамшираси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64002">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Боборахимов Рахимжон</a:t>
                      </a:r>
                    </a:p>
                    <a:p>
                      <a:pPr algn="l">
                        <a:lnSpc>
                          <a:spcPct val="85000"/>
                        </a:lnSpc>
                      </a:pPr>
                      <a:r>
                        <a:rPr lang="uz-Cyrl-UZ" sz="800" b="0" kern="1200" noProof="0" dirty="0">
                          <a:solidFill>
                            <a:schemeClr val="tx1"/>
                          </a:solidFill>
                          <a:latin typeface="+mn-lt"/>
                          <a:ea typeface="+mn-ea"/>
                          <a:cs typeface="Arial" panose="020B0604020202020204" pitchFamily="34" charset="0"/>
                        </a:rPr>
                        <a:t>1961 йил, Бухоро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Arial" panose="020B0604020202020204" pitchFamily="34" charset="0"/>
                        </a:rPr>
                        <a:t>2023 йил вафот этган</a:t>
                      </a:r>
                    </a:p>
                    <a:p>
                      <a:pPr algn="l">
                        <a:lnSpc>
                          <a:spcPct val="85000"/>
                        </a:lnSpc>
                      </a:pPr>
                      <a:r>
                        <a:rPr lang="uz-Cyrl-UZ" sz="800" b="0" kern="1200" noProof="0" dirty="0">
                          <a:solidFill>
                            <a:schemeClr val="tx1"/>
                          </a:solidFill>
                          <a:latin typeface="+mn-lt"/>
                          <a:ea typeface="+mn-ea"/>
                          <a:cs typeface="Arial" panose="020B0604020202020204" pitchFamily="34" charset="0"/>
                        </a:rPr>
                        <a:t>(</a:t>
                      </a:r>
                      <a:r>
                        <a:rPr lang="uz-Cyrl-UZ" sz="800" b="0" kern="1200" dirty="0">
                          <a:solidFill>
                            <a:schemeClr val="tx1"/>
                          </a:solidFill>
                          <a:latin typeface="+mn-lt"/>
                          <a:ea typeface="+mn-ea"/>
                          <a:cs typeface="Arial" panose="020B0604020202020204" pitchFamily="34" charset="0"/>
                        </a:rPr>
                        <a:t>Тошкент шаҳар Яккасарой тумани ИИБ ходими</a:t>
                      </a:r>
                      <a:r>
                        <a:rPr lang="uz-Cyrl-UZ"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84803">
                <a:tc gridSpan="5">
                  <a:txBody>
                    <a:bodyPr/>
                    <a:lstStyle/>
                    <a:p>
                      <a:pPr algn="ctr">
                        <a:lnSpc>
                          <a:spcPct val="85000"/>
                        </a:lnSpc>
                      </a:pPr>
                      <a:r>
                        <a:rPr lang="uz-Cyrl-UZ" sz="8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42400">
                <a:tc gridSpan="3">
                  <a:txBody>
                    <a:bodyPr/>
                    <a:lstStyle/>
                    <a:p>
                      <a:pPr algn="l">
                        <a:lnSpc>
                          <a:spcPct val="85000"/>
                        </a:lnSpc>
                      </a:pPr>
                      <a:r>
                        <a:rPr lang="uz-Cyrl-UZ" sz="800" b="1" noProof="0" dirty="0">
                          <a:latin typeface="+mn-lt"/>
                        </a:rPr>
                        <a:t>Тамомлаган ОТМ:</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a:solidFill>
                            <a:schemeClr val="tx1"/>
                          </a:solidFill>
                          <a:latin typeface="+mn-lt"/>
                          <a:ea typeface="+mn-ea"/>
                          <a:cs typeface="+mn-cs"/>
                        </a:rPr>
                        <a:t>1985 й. </a:t>
                      </a:r>
                      <a:r>
                        <a:rPr lang="ru-RU" sz="800" b="0" kern="1200" noProof="0" dirty="0" err="1">
                          <a:solidFill>
                            <a:schemeClr val="tx1"/>
                          </a:solidFill>
                          <a:latin typeface="+mn-lt"/>
                          <a:ea typeface="+mn-ea"/>
                          <a:cs typeface="+mn-cs"/>
                        </a:rPr>
                        <a:t>Тошкент</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давлат</a:t>
                      </a:r>
                      <a:r>
                        <a:rPr lang="ru-RU" sz="800" b="0" kern="1200" noProof="0" dirty="0">
                          <a:solidFill>
                            <a:schemeClr val="tx1"/>
                          </a:solidFill>
                          <a:latin typeface="+mn-lt"/>
                          <a:ea typeface="+mn-ea"/>
                          <a:cs typeface="+mn-cs"/>
                        </a:rPr>
                        <a:t> театр </a:t>
                      </a:r>
                      <a:r>
                        <a:rPr lang="ru-RU" sz="800" b="0" kern="1200" noProof="0" dirty="0" err="1">
                          <a:solidFill>
                            <a:schemeClr val="tx1"/>
                          </a:solidFill>
                          <a:latin typeface="+mn-lt"/>
                          <a:ea typeface="+mn-ea"/>
                          <a:cs typeface="+mn-cs"/>
                        </a:rPr>
                        <a:t>ва</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рассомчилик</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санъати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институти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кундузги</a:t>
                      </a:r>
                      <a:r>
                        <a:rPr lang="ru-RU" sz="8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38451">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800" b="1" noProof="0" dirty="0">
                          <a:latin typeface="+mn-lt"/>
                        </a:rPr>
                        <a:t>Мутахассислиги:</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Мусиқали драма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72183">
                <a:tc gridSpan="3">
                  <a:txBody>
                    <a:bodyPr/>
                    <a:lstStyle/>
                    <a:p>
                      <a:pPr algn="l">
                        <a:lnSpc>
                          <a:spcPct val="85000"/>
                        </a:lnSpc>
                      </a:pPr>
                      <a:r>
                        <a:rPr lang="uz-Cyrl-UZ" sz="800" b="1" kern="1200" noProof="0" dirty="0">
                          <a:solidFill>
                            <a:schemeClr val="tx1"/>
                          </a:solidFill>
                          <a:latin typeface="+mn-lt"/>
                          <a:ea typeface="+mn-ea"/>
                          <a:cs typeface="+mn-cs"/>
                        </a:rPr>
                        <a:t>Илмий даража</a:t>
                      </a:r>
                      <a:r>
                        <a:rPr lang="en-US" sz="800" b="1" kern="1200" noProof="0" dirty="0">
                          <a:solidFill>
                            <a:schemeClr val="tx1"/>
                          </a:solidFill>
                          <a:latin typeface="+mn-lt"/>
                          <a:ea typeface="+mn-ea"/>
                          <a:cs typeface="+mn-cs"/>
                        </a:rPr>
                        <a:t> (</a:t>
                      </a:r>
                      <a:r>
                        <a:rPr lang="uz-Cyrl-UZ" sz="800" b="1" kern="1200" noProof="0" dirty="0">
                          <a:solidFill>
                            <a:schemeClr val="tx1"/>
                          </a:solidFill>
                          <a:latin typeface="+mn-lt"/>
                          <a:ea typeface="+mn-ea"/>
                          <a:cs typeface="+mn-cs"/>
                        </a:rPr>
                        <a:t>унвон</a:t>
                      </a:r>
                      <a:r>
                        <a:rPr lang="en-US" sz="800" b="1" kern="1200" noProof="0" dirty="0">
                          <a:solidFill>
                            <a:schemeClr val="tx1"/>
                          </a:solidFill>
                          <a:latin typeface="+mn-lt"/>
                          <a:ea typeface="+mn-ea"/>
                          <a:cs typeface="+mn-cs"/>
                        </a:rPr>
                        <a:t>)</a:t>
                      </a:r>
                      <a:r>
                        <a:rPr lang="uz-Cyrl-UZ" sz="8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Йўқ</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72183">
                <a:tc gridSpan="3">
                  <a:txBody>
                    <a:bodyPr/>
                    <a:lstStyle/>
                    <a:p>
                      <a:pPr algn="l">
                        <a:lnSpc>
                          <a:spcPct val="85000"/>
                        </a:lnSpc>
                      </a:pPr>
                      <a:r>
                        <a:rPr lang="uz-Cyrl-UZ" sz="8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Рус тили</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293428">
                <a:tc gridSpan="3">
                  <a:txBody>
                    <a:bodyPr/>
                    <a:lstStyle/>
                    <a:p>
                      <a:pPr algn="l">
                        <a:lnSpc>
                          <a:spcPct val="85000"/>
                        </a:lnSpc>
                      </a:pPr>
                      <a:r>
                        <a:rPr lang="uz-Cyrl-UZ" sz="8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err="1">
                          <a:solidFill>
                            <a:schemeClr val="tx1"/>
                          </a:solidFill>
                          <a:latin typeface="+mn-lt"/>
                          <a:ea typeface="+mn-ea"/>
                          <a:cs typeface="+mn-cs"/>
                        </a:rPr>
                        <a:t>Йўқ</a:t>
                      </a:r>
                      <a:endParaRPr lang="ru-RU"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831895037"/>
              </p:ext>
            </p:extLst>
          </p:nvPr>
        </p:nvGraphicFramePr>
        <p:xfrm>
          <a:off x="3662362" y="865689"/>
          <a:ext cx="3185005" cy="5918237"/>
        </p:xfrm>
        <a:graphic>
          <a:graphicData uri="http://schemas.openxmlformats.org/drawingml/2006/table">
            <a:tbl>
              <a:tblPr firstRow="1" bandRow="1">
                <a:tableStyleId>{C083E6E3-FA7D-4D7B-A595-EF9225AFEA82}</a:tableStyleId>
              </a:tblPr>
              <a:tblGrid>
                <a:gridCol w="1509406">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19525">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90134">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800" b="1" kern="1200" noProof="0" dirty="0">
                          <a:solidFill>
                            <a:schemeClr val="tx1"/>
                          </a:solidFill>
                          <a:latin typeface="+mn-lt"/>
                          <a:ea typeface="+mn-ea"/>
                          <a:cs typeface="+mn-cs"/>
                        </a:rPr>
                        <a:t>1985 йилдан Муқимий номидаги Ўзбекистон давлат академик мусиқали театри солист-вокалисти</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8421">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800" b="0" kern="1200" noProof="0" dirty="0">
                          <a:solidFill>
                            <a:schemeClr val="tx1"/>
                          </a:solidFill>
                          <a:latin typeface="+mn-lt"/>
                          <a:ea typeface="+mn-ea"/>
                          <a:cs typeface="+mn-cs"/>
                        </a:rPr>
                        <a:t>Й</a:t>
                      </a:r>
                      <a:r>
                        <a:rPr lang="ru-RU" sz="800" b="0" kern="1200" noProof="0" dirty="0" err="1">
                          <a:solidFill>
                            <a:schemeClr val="tx1"/>
                          </a:solidFill>
                          <a:latin typeface="+mn-lt"/>
                          <a:ea typeface="+mn-ea"/>
                          <a:cs typeface="+mn-cs"/>
                        </a:rPr>
                        <a:t>ўқ</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523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41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114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5079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algn="l" defTabSz="914400" rtl="0" eaLnBrk="1" latinLnBrk="0" hangingPunct="1"/>
                      <a:endParaRPr lang="ru-RU" sz="800" b="1"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177347">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428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428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5152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1135">
                <a:tc gridSpan="2">
                  <a:txBody>
                    <a:bodyPr/>
                    <a:lstStyle/>
                    <a:p>
                      <a:pPr algn="ctr"/>
                      <a:r>
                        <a:rPr lang="uz-Cyrl-UZ" sz="8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384410">
                <a:tc gridSpan="2">
                  <a:txBody>
                    <a:bodyPr/>
                    <a:lstStyle/>
                    <a:p>
                      <a:pPr marL="0" algn="l" defTabSz="914400" rtl="0" eaLnBrk="1" latinLnBrk="0" hangingPunct="1"/>
                      <a:r>
                        <a:rPr lang="ru-RU" sz="900" kern="1200" dirty="0">
                          <a:solidFill>
                            <a:schemeClr val="tx1"/>
                          </a:solidFill>
                          <a:effectLst/>
                          <a:latin typeface="+mn-lt"/>
                          <a:ea typeface="+mn-ea"/>
                          <a:cs typeface="Times New Roman" panose="02020603050405020304" pitchFamily="18" charset="0"/>
                        </a:rPr>
                        <a:t>1980-1985 </a:t>
                      </a:r>
                      <a:r>
                        <a:rPr lang="ru-RU" sz="900" kern="1200" dirty="0" err="1">
                          <a:solidFill>
                            <a:schemeClr val="tx1"/>
                          </a:solidFill>
                          <a:effectLst/>
                          <a:latin typeface="+mn-lt"/>
                          <a:ea typeface="+mn-ea"/>
                          <a:cs typeface="Times New Roman" panose="02020603050405020304" pitchFamily="18" charset="0"/>
                        </a:rPr>
                        <a:t>йй</a:t>
                      </a:r>
                      <a:r>
                        <a:rPr lang="ru-RU" sz="900" kern="1200" dirty="0">
                          <a:solidFill>
                            <a:schemeClr val="tx1"/>
                          </a:solidFill>
                          <a:effectLst/>
                          <a:latin typeface="+mn-lt"/>
                          <a:ea typeface="+mn-ea"/>
                          <a:cs typeface="Times New Roman" panose="02020603050405020304" pitchFamily="18" charset="0"/>
                        </a:rPr>
                        <a:t>. - </a:t>
                      </a:r>
                      <a:r>
                        <a:rPr lang="ru-RU" sz="900" kern="1200" dirty="0" err="1">
                          <a:solidFill>
                            <a:schemeClr val="tx1"/>
                          </a:solidFill>
                          <a:effectLst/>
                          <a:latin typeface="+mn-lt"/>
                          <a:ea typeface="+mn-ea"/>
                          <a:cs typeface="Times New Roman" panose="02020603050405020304" pitchFamily="18" charset="0"/>
                        </a:rPr>
                        <a:t>Тошкент</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давлат</a:t>
                      </a:r>
                      <a:r>
                        <a:rPr lang="ru-RU" sz="900" kern="1200" dirty="0">
                          <a:solidFill>
                            <a:schemeClr val="tx1"/>
                          </a:solidFill>
                          <a:effectLst/>
                          <a:latin typeface="+mn-lt"/>
                          <a:ea typeface="+mn-ea"/>
                          <a:cs typeface="Times New Roman" panose="02020603050405020304" pitchFamily="18" charset="0"/>
                        </a:rPr>
                        <a:t> театр </a:t>
                      </a:r>
                      <a:r>
                        <a:rPr lang="ru-RU" sz="900" kern="1200" dirty="0" err="1">
                          <a:solidFill>
                            <a:schemeClr val="tx1"/>
                          </a:solidFill>
                          <a:effectLst/>
                          <a:latin typeface="+mn-lt"/>
                          <a:ea typeface="+mn-ea"/>
                          <a:cs typeface="Times New Roman" panose="02020603050405020304" pitchFamily="18" charset="0"/>
                        </a:rPr>
                        <a:t>ва</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рассомлик</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санъати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институти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талабаси</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ru-RU" sz="900" kern="1200" dirty="0">
                          <a:solidFill>
                            <a:schemeClr val="tx1"/>
                          </a:solidFill>
                          <a:effectLst/>
                          <a:latin typeface="+mn-lt"/>
                          <a:ea typeface="+mn-ea"/>
                          <a:cs typeface="Times New Roman" panose="02020603050405020304" pitchFamily="18" charset="0"/>
                        </a:rPr>
                        <a:t>1985 й. -  </a:t>
                      </a:r>
                      <a:r>
                        <a:rPr lang="ru-RU" sz="900" kern="1200" dirty="0" err="1">
                          <a:solidFill>
                            <a:schemeClr val="tx1"/>
                          </a:solidFill>
                          <a:effectLst/>
                          <a:latin typeface="+mn-lt"/>
                          <a:ea typeface="+mn-ea"/>
                          <a:cs typeface="Times New Roman" panose="02020603050405020304" pitchFamily="18" charset="0"/>
                        </a:rPr>
                        <a:t>ҳ.в</a:t>
                      </a:r>
                      <a:r>
                        <a:rPr lang="ru-RU" sz="900" kern="1200" dirty="0">
                          <a:solidFill>
                            <a:schemeClr val="tx1"/>
                          </a:solidFill>
                          <a:effectLst/>
                          <a:latin typeface="+mn-lt"/>
                          <a:ea typeface="+mn-ea"/>
                          <a:cs typeface="Times New Roman" panose="02020603050405020304" pitchFamily="18" charset="0"/>
                        </a:rPr>
                        <a:t>.   - </a:t>
                      </a:r>
                      <a:r>
                        <a:rPr lang="ru-RU" sz="900" kern="1200" dirty="0" err="1">
                          <a:solidFill>
                            <a:schemeClr val="tx1"/>
                          </a:solidFill>
                          <a:effectLst/>
                          <a:latin typeface="+mn-lt"/>
                          <a:ea typeface="+mn-ea"/>
                          <a:cs typeface="Times New Roman" panose="02020603050405020304" pitchFamily="18" charset="0"/>
                        </a:rPr>
                        <a:t>Муқимий</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номидаги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ўзбекистон</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давлат</a:t>
                      </a:r>
                      <a:r>
                        <a:rPr lang="ru-RU" sz="900" kern="1200" dirty="0">
                          <a:solidFill>
                            <a:schemeClr val="tx1"/>
                          </a:solidFill>
                          <a:effectLst/>
                          <a:latin typeface="+mn-lt"/>
                          <a:ea typeface="+mn-ea"/>
                          <a:cs typeface="Times New Roman" panose="02020603050405020304" pitchFamily="18" charset="0"/>
                        </a:rPr>
                        <a:t> академик </a:t>
                      </a:r>
                      <a:r>
                        <a:rPr lang="ru-RU" sz="900" kern="1200" dirty="0" err="1">
                          <a:solidFill>
                            <a:schemeClr val="tx1"/>
                          </a:solidFill>
                          <a:effectLst/>
                          <a:latin typeface="+mn-lt"/>
                          <a:ea typeface="+mn-ea"/>
                          <a:cs typeface="Times New Roman" panose="02020603050405020304" pitchFamily="18" charset="0"/>
                        </a:rPr>
                        <a:t>мусиқали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театри</a:t>
                      </a:r>
                      <a:r>
                        <a:rPr lang="ru-RU" sz="900" kern="1200" dirty="0">
                          <a:solidFill>
                            <a:schemeClr val="tx1"/>
                          </a:solidFill>
                          <a:effectLst/>
                          <a:latin typeface="+mn-lt"/>
                          <a:ea typeface="+mn-ea"/>
                          <a:cs typeface="Times New Roman" panose="02020603050405020304" pitchFamily="18" charset="0"/>
                        </a:rPr>
                        <a:t> </a:t>
                      </a:r>
                      <a:r>
                        <a:rPr lang="ru-RU" sz="900" kern="1200" dirty="0" smtClean="0">
                          <a:solidFill>
                            <a:schemeClr val="tx1"/>
                          </a:solidFill>
                          <a:effectLst/>
                          <a:latin typeface="+mn-lt"/>
                          <a:ea typeface="+mn-ea"/>
                          <a:cs typeface="Times New Roman" panose="02020603050405020304" pitchFamily="18" charset="0"/>
                        </a:rPr>
                        <a:t>солист-</a:t>
                      </a:r>
                      <a:r>
                        <a:rPr lang="ru-RU" sz="900" kern="1200" dirty="0" err="1" smtClean="0">
                          <a:solidFill>
                            <a:schemeClr val="tx1"/>
                          </a:solidFill>
                          <a:effectLst/>
                          <a:latin typeface="+mn-lt"/>
                          <a:ea typeface="+mn-ea"/>
                          <a:cs typeface="Times New Roman" panose="02020603050405020304" pitchFamily="18" charset="0"/>
                        </a:rPr>
                        <a:t>вокалисти</a:t>
                      </a:r>
                      <a:endParaRPr lang="ru-RU" sz="900"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993338751"/>
              </p:ext>
            </p:extLst>
          </p:nvPr>
        </p:nvGraphicFramePr>
        <p:xfrm>
          <a:off x="6868160" y="865689"/>
          <a:ext cx="2854270" cy="5926643"/>
        </p:xfrm>
        <a:graphic>
          <a:graphicData uri="http://schemas.openxmlformats.org/drawingml/2006/table">
            <a:tbl>
              <a:tblPr firstRow="1" bandRow="1">
                <a:tableStyleId>{C083E6E3-FA7D-4D7B-A595-EF9225AFEA82}</a:tableStyleId>
              </a:tblPr>
              <a:tblGrid>
                <a:gridCol w="2854270">
                  <a:extLst>
                    <a:ext uri="{9D8B030D-6E8A-4147-A177-3AD203B41FA5}">
                      <a16:colId xmlns:a16="http://schemas.microsoft.com/office/drawing/2014/main" val="2715609854"/>
                    </a:ext>
                  </a:extLst>
                </a:gridCol>
              </a:tblGrid>
              <a:tr h="227291">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9816">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62356">
                <a:tc>
                  <a:txBody>
                    <a:bodyPr/>
                    <a:lstStyle/>
                    <a:p>
                      <a:pPr marL="0" algn="just" defTabSz="914400" rtl="0" eaLnBrk="1" latinLnBrk="0" hangingPunct="1"/>
                      <a:r>
                        <a:rPr lang="uz-Cyrl-UZ" sz="900" b="0" kern="1200" dirty="0" smtClean="0">
                          <a:solidFill>
                            <a:schemeClr val="tx1"/>
                          </a:solidFill>
                          <a:latin typeface="+mn-lt"/>
                          <a:ea typeface="+mn-ea"/>
                          <a:cs typeface="+mn-cs"/>
                        </a:rPr>
                        <a:t>Қуйидаги </a:t>
                      </a:r>
                      <a:r>
                        <a:rPr lang="uz-Cyrl-UZ" sz="900" b="0" kern="1200" dirty="0">
                          <a:solidFill>
                            <a:schemeClr val="tx1"/>
                          </a:solidFill>
                          <a:latin typeface="+mn-lt"/>
                          <a:ea typeface="+mn-ea"/>
                          <a:cs typeface="+mn-cs"/>
                        </a:rPr>
                        <a:t>спектакллардаги роллари томошабинлар томонидан илиқ кутиб олинган "Тошболта ошиқ" спектаклида Афифа, "Гулсора"да Файзихон, "Паранжи сирлари"да Зебо, "Узилган торлар" да Вера, "Аршин мол-олон"да Зебо, "Хийлаий шаърий"да Захро , "Диёнатга хиёнат"да Сарвигул, "Бобур соғинчи"да Байда, "Қизи борнинг нози бор"да Меҳри, "Бу чоллар, ёмон чоллар" да Кобра, "Суперқайнона-1"да Норпошша, "Суперқайнона-2" да Тўтинисо, "Осмонга сиғмаган қуш" да Қайнона, "Осмондаги Ҳулкарим" ўгай она, "Жайдари келин" да Азиза, "Тошкентнинг нозанин маликаси"да Судья, "Хонума хоним" да Текле, "Машраб" да энага, "Куёвликка номзод" да Пўлат Темировна, "Антиқа совчилар" да Маръям, "Олифта"да Ҳадича, "Тоҳир ва Зуҳра"да Она, "Фариштали аёл"да  Мунира</a:t>
                      </a:r>
                      <a:r>
                        <a:rPr lang="uz-Cyrl-UZ" sz="900" b="0" kern="1200" dirty="0" smtClean="0">
                          <a:solidFill>
                            <a:schemeClr val="tx1"/>
                          </a:solidFill>
                          <a:latin typeface="+mn-lt"/>
                          <a:ea typeface="+mn-ea"/>
                          <a:cs typeface="+mn-cs"/>
                        </a:rPr>
                        <a:t>,</a:t>
                      </a:r>
                      <a:r>
                        <a:rPr lang="uz-Cyrl-UZ" sz="900" b="0" kern="1200" baseline="0" dirty="0" smtClean="0">
                          <a:solidFill>
                            <a:schemeClr val="tx1"/>
                          </a:solidFill>
                          <a:latin typeface="+mn-lt"/>
                          <a:ea typeface="+mn-ea"/>
                          <a:cs typeface="+mn-cs"/>
                        </a:rPr>
                        <a:t> </a:t>
                      </a:r>
                      <a:r>
                        <a:rPr lang="uz-Cyrl-UZ" sz="900" b="0" kern="1200" dirty="0" smtClean="0">
                          <a:solidFill>
                            <a:schemeClr val="tx1"/>
                          </a:solidFill>
                          <a:latin typeface="+mn-lt"/>
                          <a:ea typeface="+mn-ea"/>
                          <a:cs typeface="+mn-cs"/>
                        </a:rPr>
                        <a:t>"</a:t>
                      </a:r>
                      <a:r>
                        <a:rPr lang="uz-Cyrl-UZ" sz="900" b="0" kern="1200" dirty="0">
                          <a:solidFill>
                            <a:schemeClr val="tx1"/>
                          </a:solidFill>
                          <a:latin typeface="+mn-lt"/>
                          <a:ea typeface="+mn-ea"/>
                          <a:cs typeface="+mn-cs"/>
                        </a:rPr>
                        <a:t>Синбоднинг саргузаштлари"да  Дев, "Додагинам" да Арофат, "Олтин даврим" да Она, "Олтин бошоқ"да Ялмоғиз, "Кўнглимнинг кўчаси"да Аноргул, "Зўлдир" да Бекпошша, "Дайди хўроз"да Она товуқ, "Ўлдинг, азиз бўлдинг"да марсиячи, “Мангу машал” да Аямажуз, “Усмон Носир”да Она, “Қайнона” да Жаннат, “Замон Авлонийси” да Бева аёл, “Дилдаги доғ”да Қўшни аёл  каби кўплаб роллари орқали томошабинларни завқлантириб, уларнинг олқишларига сазовор бўлган.</a:t>
                      </a:r>
                      <a:endParaRPr lang="ru-RU" sz="900" b="0" kern="1200" dirty="0">
                        <a:solidFill>
                          <a:schemeClr val="tx1"/>
                        </a:solidFill>
                        <a:latin typeface="+mn-lt"/>
                        <a:ea typeface="+mn-ea"/>
                        <a:cs typeface="+mn-cs"/>
                      </a:endParaRPr>
                    </a:p>
                    <a:p>
                      <a:pPr marL="0" algn="just" defTabSz="914400" rtl="0" eaLnBrk="1" latinLnBrk="0" hangingPunct="1"/>
                      <a:r>
                        <a:rPr lang="uz-Cyrl-UZ" sz="900" b="0" kern="1200" dirty="0" smtClean="0">
                          <a:solidFill>
                            <a:schemeClr val="tx1"/>
                          </a:solidFill>
                          <a:latin typeface="+mn-lt"/>
                          <a:ea typeface="+mn-ea"/>
                          <a:cs typeface="+mn-cs"/>
                        </a:rPr>
                        <a:t>Шу </a:t>
                      </a:r>
                      <a:r>
                        <a:rPr lang="uz-Cyrl-UZ" sz="900" b="0" kern="1200" dirty="0">
                          <a:solidFill>
                            <a:schemeClr val="tx1"/>
                          </a:solidFill>
                          <a:latin typeface="+mn-lt"/>
                          <a:ea typeface="+mn-ea"/>
                          <a:cs typeface="+mn-cs"/>
                        </a:rPr>
                        <a:t>жумладан, телеэкран орқали намойиш этиладиган “Оталар сўзи-аклнинг кўзи”, “Чорраҳадаги уй”, “Туташ тақдирлар”, “Денгиздан томчи” сериалларида актриса ўта характерли образлар яратиб, эл назарига тушган. “Ўзбекфильм” киностудиясида суратга олинганларидан “Улфатлар 2” фильмида эпизодик ролларни ҳам мароқ билан ижро этгани, ижодда катта-кичик роллар бўлмаслигининг далолатидир</a:t>
                      </a:r>
                      <a:r>
                        <a:rPr lang="uz-Cyrl-UZ" sz="900" b="0" kern="1200" dirty="0" smtClean="0">
                          <a:solidFill>
                            <a:schemeClr val="tx1"/>
                          </a:solidFill>
                          <a:latin typeface="+mn-lt"/>
                          <a:ea typeface="+mn-ea"/>
                          <a:cs typeface="+mn-cs"/>
                        </a:rPr>
                        <a:t>.</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12245">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7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7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70715">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a:extLst>
              <a:ext uri="{FF2B5EF4-FFF2-40B4-BE49-F238E27FC236}">
                <a16:creationId xmlns:a16="http://schemas.microsoft.com/office/drawing/2014/main" id="{E9716AB3-1C76-DC7B-6DE9-F95CE9F372BA}"/>
              </a:ext>
            </a:extLst>
          </p:cNvPr>
          <p:cNvPicPr>
            <a:picLocks noChangeAspect="1"/>
          </p:cNvPicPr>
          <p:nvPr/>
        </p:nvPicPr>
        <p:blipFill>
          <a:blip r:embed="rId2"/>
          <a:stretch>
            <a:fillRect/>
          </a:stretch>
        </p:blipFill>
        <p:spPr>
          <a:xfrm>
            <a:off x="356303" y="1219291"/>
            <a:ext cx="763837" cy="1018450"/>
          </a:xfrm>
          <a:prstGeom prst="rect">
            <a:avLst/>
          </a:prstGeom>
        </p:spPr>
      </p:pic>
    </p:spTree>
    <p:extLst>
      <p:ext uri="{BB962C8B-B14F-4D97-AF65-F5344CB8AC3E}">
        <p14:creationId xmlns:p14="http://schemas.microsoft.com/office/powerpoint/2010/main" val="470641088"/>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404999933"/>
              </p:ext>
            </p:extLst>
          </p:nvPr>
        </p:nvGraphicFramePr>
        <p:xfrm>
          <a:off x="183570" y="868680"/>
          <a:ext cx="3427547" cy="5988900"/>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85981">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641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Т</a:t>
                      </a:r>
                      <a:r>
                        <a:rPr lang="ru-RU" sz="900" b="0" kern="1200" dirty="0" smtClean="0">
                          <a:solidFill>
                            <a:schemeClr val="tx1"/>
                          </a:solidFill>
                          <a:latin typeface="+mn-lt"/>
                          <a:ea typeface="+mn-ea"/>
                          <a:cs typeface="+mn-cs"/>
                        </a:rPr>
                        <a:t>ЎХТАЕВ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64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Хамид</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64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Вохидович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641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64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2</a:t>
                      </a:r>
                      <a:r>
                        <a:rPr lang="ru-RU" sz="800" b="0" kern="1200" dirty="0">
                          <a:solidFill>
                            <a:schemeClr val="tx1"/>
                          </a:solidFill>
                          <a:latin typeface="+mn-lt"/>
                          <a:ea typeface="+mn-ea"/>
                          <a:cs typeface="+mn-cs"/>
                        </a:rPr>
                        <a:t>5.02.1960</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64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Бухоро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8416">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655140">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Муқимий номидаги Ўзбекистон давлат академик мусиқали театири солист вокалисти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8416">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15097">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Тўхтаев Вохид</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1930 йил, Бухоро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err="1">
                          <a:solidFill>
                            <a:schemeClr val="tx1"/>
                          </a:solidFill>
                          <a:latin typeface="+mn-lt"/>
                          <a:ea typeface="+mn-ea"/>
                          <a:cs typeface="Arial" panose="020B0604020202020204" pitchFamily="34" charset="0"/>
                        </a:rPr>
                        <a:t>Пенсияда</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ru-RU" sz="800" b="0" kern="1200" noProof="0" dirty="0" err="1">
                          <a:solidFill>
                            <a:schemeClr val="tx1"/>
                          </a:solidFill>
                          <a:latin typeface="+mn-lt"/>
                          <a:ea typeface="+mn-ea"/>
                          <a:cs typeface="Arial" panose="020B0604020202020204" pitchFamily="34" charset="0"/>
                        </a:rPr>
                        <a:t>Варахша</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жамоа</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хўжалиги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механизатори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930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Бозорова Жумагул</a:t>
                      </a:r>
                      <a:br>
                        <a:rPr lang="uz-Cyrl-UZ" sz="800" b="0" kern="1200" dirty="0">
                          <a:solidFill>
                            <a:schemeClr val="tx1"/>
                          </a:solidFill>
                          <a:latin typeface="+mn-lt"/>
                          <a:ea typeface="+mn-ea"/>
                          <a:cs typeface="Arial" panose="020B0604020202020204" pitchFamily="34" charset="0"/>
                        </a:rPr>
                      </a:br>
                      <a:r>
                        <a:rPr lang="uz-Cyrl-UZ" sz="800" b="0" kern="1200" noProof="0" dirty="0">
                          <a:solidFill>
                            <a:schemeClr val="tx1"/>
                          </a:solidFill>
                          <a:latin typeface="+mn-lt"/>
                          <a:ea typeface="+mn-ea"/>
                          <a:cs typeface="Arial" panose="020B0604020202020204" pitchFamily="34" charset="0"/>
                        </a:rPr>
                        <a:t>1934 йил, Бухоро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1999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ru-RU" sz="800" b="0" kern="1200" noProof="0" dirty="0" err="1">
                          <a:solidFill>
                            <a:schemeClr val="tx1"/>
                          </a:solidFill>
                          <a:latin typeface="+mn-lt"/>
                          <a:ea typeface="+mn-ea"/>
                          <a:cs typeface="Arial" panose="020B0604020202020204" pitchFamily="34" charset="0"/>
                        </a:rPr>
                        <a:t>Варахша</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жамоа</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хўжалиги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ишчиси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604501">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800" b="0" kern="1200" dirty="0">
                          <a:solidFill>
                            <a:schemeClr val="tx1"/>
                          </a:solidFill>
                          <a:latin typeface="+mn-lt"/>
                          <a:ea typeface="+mn-ea"/>
                          <a:cs typeface="Arial" panose="020B0604020202020204" pitchFamily="34" charset="0"/>
                        </a:rPr>
                        <a:t>Тўхтаева Мушарраф</a:t>
                      </a:r>
                    </a:p>
                    <a:p>
                      <a:pPr algn="l">
                        <a:lnSpc>
                          <a:spcPct val="85000"/>
                        </a:lnSpc>
                      </a:pPr>
                      <a:r>
                        <a:rPr lang="uz-Cyrl-UZ" sz="800" b="0" kern="1200" noProof="0" dirty="0">
                          <a:solidFill>
                            <a:schemeClr val="tx1"/>
                          </a:solidFill>
                          <a:latin typeface="+mn-lt"/>
                          <a:ea typeface="+mn-ea"/>
                          <a:cs typeface="Arial" panose="020B0604020202020204" pitchFamily="34" charset="0"/>
                        </a:rPr>
                        <a:t>1960 йил, Бухоро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Arial" panose="020B0604020202020204" pitchFamily="34" charset="0"/>
                        </a:rPr>
                        <a:t>Пенсияда</a:t>
                      </a:r>
                    </a:p>
                    <a:p>
                      <a:pPr algn="l">
                        <a:lnSpc>
                          <a:spcPct val="85000"/>
                        </a:lnSpc>
                      </a:pPr>
                      <a:r>
                        <a:rPr lang="uz-Cyrl-UZ" sz="800" b="0" kern="1200" noProof="0" dirty="0">
                          <a:solidFill>
                            <a:schemeClr val="tx1"/>
                          </a:solidFill>
                          <a:latin typeface="+mn-lt"/>
                          <a:ea typeface="+mn-ea"/>
                          <a:cs typeface="Arial" panose="020B0604020202020204" pitchFamily="34" charset="0"/>
                        </a:rPr>
                        <a:t>(</a:t>
                      </a:r>
                      <a:r>
                        <a:rPr lang="uz-Cyrl-UZ" sz="800" b="0" kern="1200" dirty="0">
                          <a:solidFill>
                            <a:schemeClr val="tx1"/>
                          </a:solidFill>
                          <a:latin typeface="+mn-lt"/>
                          <a:ea typeface="+mn-ea"/>
                          <a:cs typeface="Arial" panose="020B0604020202020204" pitchFamily="34" charset="0"/>
                        </a:rPr>
                        <a:t>Муқимий номидаги Ўзбекистон давлат мусиқали театри  вокал артисти</a:t>
                      </a:r>
                      <a:r>
                        <a:rPr lang="uz-Cyrl-UZ"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90861">
                <a:tc gridSpan="5">
                  <a:txBody>
                    <a:bodyPr/>
                    <a:lstStyle/>
                    <a:p>
                      <a:pPr algn="ctr">
                        <a:lnSpc>
                          <a:spcPct val="85000"/>
                        </a:lnSpc>
                      </a:pPr>
                      <a:r>
                        <a:rPr lang="uz-Cyrl-UZ" sz="8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73712">
                <a:tc gridSpan="3">
                  <a:txBody>
                    <a:bodyPr/>
                    <a:lstStyle/>
                    <a:p>
                      <a:pPr algn="l">
                        <a:lnSpc>
                          <a:spcPct val="85000"/>
                        </a:lnSpc>
                      </a:pPr>
                      <a:r>
                        <a:rPr lang="uz-Cyrl-UZ" sz="800" b="1" noProof="0" dirty="0">
                          <a:latin typeface="+mn-lt"/>
                        </a:rPr>
                        <a:t>Тамомлаган ОТМ:</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a:solidFill>
                            <a:schemeClr val="tx1"/>
                          </a:solidFill>
                          <a:latin typeface="+mn-lt"/>
                          <a:ea typeface="+mn-ea"/>
                          <a:cs typeface="+mn-cs"/>
                        </a:rPr>
                        <a:t>1982 й. </a:t>
                      </a:r>
                      <a:r>
                        <a:rPr lang="ru-RU" sz="800" b="0" kern="1200" noProof="0" dirty="0" err="1">
                          <a:solidFill>
                            <a:schemeClr val="tx1"/>
                          </a:solidFill>
                          <a:latin typeface="+mn-lt"/>
                          <a:ea typeface="+mn-ea"/>
                          <a:cs typeface="+mn-cs"/>
                        </a:rPr>
                        <a:t>Тошкент</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давлат</a:t>
                      </a:r>
                      <a:r>
                        <a:rPr lang="ru-RU" sz="800" b="0" kern="1200" noProof="0" dirty="0">
                          <a:solidFill>
                            <a:schemeClr val="tx1"/>
                          </a:solidFill>
                          <a:latin typeface="+mn-lt"/>
                          <a:ea typeface="+mn-ea"/>
                          <a:cs typeface="+mn-cs"/>
                        </a:rPr>
                        <a:t> театр </a:t>
                      </a:r>
                      <a:r>
                        <a:rPr lang="ru-RU" sz="800" b="0" kern="1200" noProof="0" dirty="0" err="1">
                          <a:solidFill>
                            <a:schemeClr val="tx1"/>
                          </a:solidFill>
                          <a:latin typeface="+mn-lt"/>
                          <a:ea typeface="+mn-ea"/>
                          <a:cs typeface="+mn-cs"/>
                        </a:rPr>
                        <a:t>ва</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рассомчилик</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санъати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институти</a:t>
                      </a:r>
                      <a:r>
                        <a:rPr lang="ru-RU" sz="800" b="0" kern="1200" noProof="0" dirty="0">
                          <a:solidFill>
                            <a:schemeClr val="tx1"/>
                          </a:solidFill>
                          <a:latin typeface="+mn-lt"/>
                          <a:ea typeface="+mn-ea"/>
                          <a:cs typeface="+mn-cs"/>
                        </a:rPr>
                        <a:t> (</a:t>
                      </a:r>
                      <a:r>
                        <a:rPr lang="ru-RU" sz="800" b="0" kern="1200" noProof="0" dirty="0" err="1">
                          <a:solidFill>
                            <a:schemeClr val="tx1"/>
                          </a:solidFill>
                          <a:latin typeface="+mn-lt"/>
                          <a:ea typeface="+mn-ea"/>
                          <a:cs typeface="+mn-cs"/>
                        </a:rPr>
                        <a:t>кундузги</a:t>
                      </a:r>
                      <a:r>
                        <a:rPr lang="ru-RU" sz="8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52217">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800" b="1" noProof="0" dirty="0">
                          <a:latin typeface="+mn-lt"/>
                        </a:rPr>
                        <a:t>Мутахассислиги:</a:t>
                      </a:r>
                      <a:endParaRPr lang="uz-Cyrl-UZ" sz="8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Мусиқали драма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87896">
                <a:tc gridSpan="3">
                  <a:txBody>
                    <a:bodyPr/>
                    <a:lstStyle/>
                    <a:p>
                      <a:pPr algn="l">
                        <a:lnSpc>
                          <a:spcPct val="85000"/>
                        </a:lnSpc>
                      </a:pPr>
                      <a:r>
                        <a:rPr lang="uz-Cyrl-UZ" sz="800" b="1" kern="1200" noProof="0" dirty="0">
                          <a:solidFill>
                            <a:schemeClr val="tx1"/>
                          </a:solidFill>
                          <a:latin typeface="+mn-lt"/>
                          <a:ea typeface="+mn-ea"/>
                          <a:cs typeface="+mn-cs"/>
                        </a:rPr>
                        <a:t>Илмий даража</a:t>
                      </a:r>
                      <a:r>
                        <a:rPr lang="en-US" sz="800" b="1" kern="1200" noProof="0" dirty="0">
                          <a:solidFill>
                            <a:schemeClr val="tx1"/>
                          </a:solidFill>
                          <a:latin typeface="+mn-lt"/>
                          <a:ea typeface="+mn-ea"/>
                          <a:cs typeface="+mn-cs"/>
                        </a:rPr>
                        <a:t> (</a:t>
                      </a:r>
                      <a:r>
                        <a:rPr lang="uz-Cyrl-UZ" sz="800" b="1" kern="1200" noProof="0" dirty="0">
                          <a:solidFill>
                            <a:schemeClr val="tx1"/>
                          </a:solidFill>
                          <a:latin typeface="+mn-lt"/>
                          <a:ea typeface="+mn-ea"/>
                          <a:cs typeface="+mn-cs"/>
                        </a:rPr>
                        <a:t>унвон</a:t>
                      </a:r>
                      <a:r>
                        <a:rPr lang="en-US" sz="800" b="1" kern="1200" noProof="0" dirty="0">
                          <a:solidFill>
                            <a:schemeClr val="tx1"/>
                          </a:solidFill>
                          <a:latin typeface="+mn-lt"/>
                          <a:ea typeface="+mn-ea"/>
                          <a:cs typeface="+mn-cs"/>
                        </a:rPr>
                        <a:t>)</a:t>
                      </a:r>
                      <a:r>
                        <a:rPr lang="uz-Cyrl-UZ" sz="8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Йўқ</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87896">
                <a:tc gridSpan="3">
                  <a:txBody>
                    <a:bodyPr/>
                    <a:lstStyle/>
                    <a:p>
                      <a:pPr algn="l">
                        <a:lnSpc>
                          <a:spcPct val="85000"/>
                        </a:lnSpc>
                      </a:pPr>
                      <a:r>
                        <a:rPr lang="uz-Cyrl-UZ" sz="8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b="0" kern="1200" noProof="0" dirty="0">
                          <a:solidFill>
                            <a:schemeClr val="tx1"/>
                          </a:solidFill>
                          <a:latin typeface="+mn-lt"/>
                          <a:ea typeface="+mn-ea"/>
                          <a:cs typeface="+mn-cs"/>
                        </a:rPr>
                        <a:t>Рус тили</a:t>
                      </a:r>
                      <a:endParaRPr lang="ru-RU" sz="8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287284">
                <a:tc gridSpan="3">
                  <a:txBody>
                    <a:bodyPr/>
                    <a:lstStyle/>
                    <a:p>
                      <a:pPr algn="l">
                        <a:lnSpc>
                          <a:spcPct val="85000"/>
                        </a:lnSpc>
                      </a:pPr>
                      <a:r>
                        <a:rPr lang="uz-Cyrl-UZ" sz="8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err="1">
                          <a:solidFill>
                            <a:schemeClr val="tx1"/>
                          </a:solidFill>
                          <a:latin typeface="+mn-lt"/>
                          <a:ea typeface="+mn-ea"/>
                          <a:cs typeface="+mn-cs"/>
                        </a:rPr>
                        <a:t>Йўқ</a:t>
                      </a:r>
                      <a:endParaRPr lang="ru-RU"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759811101"/>
              </p:ext>
            </p:extLst>
          </p:nvPr>
        </p:nvGraphicFramePr>
        <p:xfrm>
          <a:off x="3662362" y="865687"/>
          <a:ext cx="3185005" cy="5991890"/>
        </p:xfrm>
        <a:graphic>
          <a:graphicData uri="http://schemas.openxmlformats.org/drawingml/2006/table">
            <a:tbl>
              <a:tblPr firstRow="1" bandRow="1">
                <a:tableStyleId>{C083E6E3-FA7D-4D7B-A595-EF9225AFEA82}</a:tableStyleId>
              </a:tblPr>
              <a:tblGrid>
                <a:gridCol w="1509406">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23501">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96233">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800" b="1" kern="1200" noProof="0" dirty="0">
                          <a:solidFill>
                            <a:schemeClr val="tx1"/>
                          </a:solidFill>
                          <a:latin typeface="+mn-lt"/>
                          <a:ea typeface="+mn-ea"/>
                          <a:cs typeface="+mn-cs"/>
                        </a:rPr>
                        <a:t>1982 йилдан Муқимий номидаги Ўзбекистон давлат академик мусиқали театри солист-вокалисти</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41388">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800" b="0" kern="1200" noProof="0" dirty="0">
                          <a:solidFill>
                            <a:schemeClr val="tx1"/>
                          </a:solidFill>
                          <a:latin typeface="+mn-lt"/>
                          <a:ea typeface="+mn-ea"/>
                          <a:cs typeface="+mn-cs"/>
                        </a:rPr>
                        <a:t>Й</a:t>
                      </a:r>
                      <a:r>
                        <a:rPr lang="ru-RU" sz="800" b="0" kern="1200" noProof="0" dirty="0" err="1">
                          <a:solidFill>
                            <a:schemeClr val="tx1"/>
                          </a:solidFill>
                          <a:latin typeface="+mn-lt"/>
                          <a:ea typeface="+mn-ea"/>
                          <a:cs typeface="+mn-cs"/>
                        </a:rPr>
                        <a:t>ўқ</a:t>
                      </a:r>
                      <a:endParaRPr lang="uz-Cyrl-UZ" sz="8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779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44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352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noProof="0" dirty="0">
                          <a:effectLst/>
                          <a:latin typeface="+mn-lt"/>
                          <a:ea typeface="Calibri" panose="020F0502020204030204" pitchFamily="34" charset="0"/>
                          <a:cs typeface="Times New Roman" panose="02020603050405020304" pitchFamily="18" charset="0"/>
                        </a:rPr>
                        <a:t>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6138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algn="l" defTabSz="914400" rtl="0" eaLnBrk="1" latinLnBrk="0" hangingPunct="1"/>
                      <a:endParaRPr lang="ru-RU" sz="800" b="1"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179554">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7946">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7946">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5465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3887">
                <a:tc gridSpan="2">
                  <a:txBody>
                    <a:bodyPr/>
                    <a:lstStyle/>
                    <a:p>
                      <a:pPr algn="ctr"/>
                      <a:r>
                        <a:rPr lang="uz-Cyrl-UZ" sz="8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414084">
                <a:tc gridSpan="2">
                  <a:txBody>
                    <a:bodyPr/>
                    <a:lstStyle/>
                    <a:p>
                      <a:pPr marL="0" algn="l" defTabSz="914400" rtl="0" eaLnBrk="1" latinLnBrk="0" hangingPunct="1"/>
                      <a:r>
                        <a:rPr lang="ru-RU" sz="900" kern="1200" dirty="0">
                          <a:solidFill>
                            <a:schemeClr val="tx1"/>
                          </a:solidFill>
                          <a:effectLst/>
                          <a:latin typeface="+mn-lt"/>
                          <a:ea typeface="+mn-ea"/>
                          <a:cs typeface="Times New Roman" panose="02020603050405020304" pitchFamily="18" charset="0"/>
                        </a:rPr>
                        <a:t>2001 й. “</a:t>
                      </a:r>
                      <a:r>
                        <a:rPr lang="ru-RU" sz="900" kern="1200" dirty="0" err="1">
                          <a:solidFill>
                            <a:schemeClr val="tx1"/>
                          </a:solidFill>
                          <a:effectLst/>
                          <a:latin typeface="+mn-lt"/>
                          <a:ea typeface="+mn-ea"/>
                          <a:cs typeface="Times New Roman" panose="02020603050405020304" pitchFamily="18" charset="0"/>
                        </a:rPr>
                        <a:t>Ўзбекистон</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Республикасида</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хизмат</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кўрсатган</a:t>
                      </a:r>
                      <a:r>
                        <a:rPr lang="ru-RU" sz="900" kern="1200" dirty="0">
                          <a:solidFill>
                            <a:schemeClr val="tx1"/>
                          </a:solidFill>
                          <a:effectLst/>
                          <a:latin typeface="+mn-lt"/>
                          <a:ea typeface="+mn-ea"/>
                          <a:cs typeface="Times New Roman" panose="02020603050405020304" pitchFamily="18" charset="0"/>
                        </a:rPr>
                        <a:t> артист” </a:t>
                      </a:r>
                      <a:r>
                        <a:rPr lang="ru-RU" sz="900" kern="1200" dirty="0" err="1">
                          <a:solidFill>
                            <a:schemeClr val="tx1"/>
                          </a:solidFill>
                          <a:effectLst/>
                          <a:latin typeface="+mn-lt"/>
                          <a:ea typeface="+mn-ea"/>
                          <a:cs typeface="Times New Roman" panose="02020603050405020304" pitchFamily="18" charset="0"/>
                        </a:rPr>
                        <a:t>фахрий</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унвони</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r>
                        <a:rPr lang="ru-RU" sz="900" kern="1200" dirty="0">
                          <a:solidFill>
                            <a:schemeClr val="tx1"/>
                          </a:solidFill>
                          <a:effectLst/>
                          <a:latin typeface="+mn-lt"/>
                          <a:ea typeface="+mn-ea"/>
                          <a:cs typeface="Times New Roman" panose="02020603050405020304" pitchFamily="18" charset="0"/>
                        </a:rPr>
                        <a:t>1982 й. -  </a:t>
                      </a:r>
                      <a:r>
                        <a:rPr lang="ru-RU" sz="900" kern="1200" dirty="0" err="1">
                          <a:solidFill>
                            <a:schemeClr val="tx1"/>
                          </a:solidFill>
                          <a:effectLst/>
                          <a:latin typeface="+mn-lt"/>
                          <a:ea typeface="+mn-ea"/>
                          <a:cs typeface="Times New Roman" panose="02020603050405020304" pitchFamily="18" charset="0"/>
                        </a:rPr>
                        <a:t>ҳ.в</a:t>
                      </a:r>
                      <a:r>
                        <a:rPr lang="ru-RU" sz="900" kern="1200" dirty="0">
                          <a:solidFill>
                            <a:schemeClr val="tx1"/>
                          </a:solidFill>
                          <a:effectLst/>
                          <a:latin typeface="+mn-lt"/>
                          <a:ea typeface="+mn-ea"/>
                          <a:cs typeface="Times New Roman" panose="02020603050405020304" pitchFamily="18" charset="0"/>
                        </a:rPr>
                        <a:t>.  - </a:t>
                      </a:r>
                      <a:r>
                        <a:rPr lang="ru-RU" sz="900" kern="1200" dirty="0" err="1">
                          <a:solidFill>
                            <a:schemeClr val="tx1"/>
                          </a:solidFill>
                          <a:effectLst/>
                          <a:latin typeface="+mn-lt"/>
                          <a:ea typeface="+mn-ea"/>
                          <a:cs typeface="Times New Roman" panose="02020603050405020304" pitchFamily="18" charset="0"/>
                        </a:rPr>
                        <a:t>Муқимий</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номидаги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Ўзбекистон</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давлат</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мусиқали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театри</a:t>
                      </a:r>
                      <a:r>
                        <a:rPr lang="ru-RU" sz="900" kern="1200" dirty="0">
                          <a:solidFill>
                            <a:schemeClr val="tx1"/>
                          </a:solidFill>
                          <a:effectLst/>
                          <a:latin typeface="+mn-lt"/>
                          <a:ea typeface="+mn-ea"/>
                          <a:cs typeface="Times New Roman" panose="02020603050405020304" pitchFamily="18" charset="0"/>
                        </a:rPr>
                        <a:t>  солист-</a:t>
                      </a:r>
                      <a:r>
                        <a:rPr lang="ru-RU" sz="900" kern="1200" dirty="0" err="1">
                          <a:solidFill>
                            <a:schemeClr val="tx1"/>
                          </a:solidFill>
                          <a:effectLst/>
                          <a:latin typeface="+mn-lt"/>
                          <a:ea typeface="+mn-ea"/>
                          <a:cs typeface="Times New Roman" panose="02020603050405020304" pitchFamily="18" charset="0"/>
                        </a:rPr>
                        <a:t>вокалисти</a:t>
                      </a:r>
                      <a:endParaRPr lang="ru-RU" sz="900"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378468076"/>
              </p:ext>
            </p:extLst>
          </p:nvPr>
        </p:nvGraphicFramePr>
        <p:xfrm>
          <a:off x="6898612" y="902735"/>
          <a:ext cx="2868492" cy="5971543"/>
        </p:xfrm>
        <a:graphic>
          <a:graphicData uri="http://schemas.openxmlformats.org/drawingml/2006/table">
            <a:tbl>
              <a:tblPr firstRow="1" bandRow="1">
                <a:tableStyleId>{C083E6E3-FA7D-4D7B-A595-EF9225AFEA82}</a:tableStyleId>
              </a:tblPr>
              <a:tblGrid>
                <a:gridCol w="2868492">
                  <a:extLst>
                    <a:ext uri="{9D8B030D-6E8A-4147-A177-3AD203B41FA5}">
                      <a16:colId xmlns:a16="http://schemas.microsoft.com/office/drawing/2014/main" val="2715609854"/>
                    </a:ext>
                  </a:extLst>
                </a:gridCol>
              </a:tblGrid>
              <a:tr h="189968">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75658">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3892274">
                <a:tc>
                  <a:txBody>
                    <a:bodyPr/>
                    <a:lstStyle/>
                    <a:p>
                      <a:pPr algn="just"/>
                      <a:r>
                        <a:rPr lang="uz-Cyrl-UZ" sz="900" b="0" kern="1200" dirty="0" smtClean="0">
                          <a:solidFill>
                            <a:schemeClr val="tx1"/>
                          </a:solidFill>
                          <a:latin typeface="+mn-lt"/>
                          <a:ea typeface="+mn-ea"/>
                          <a:cs typeface="+mn-cs"/>
                        </a:rPr>
                        <a:t>    “</a:t>
                      </a:r>
                      <a:r>
                        <a:rPr lang="uz-Cyrl-UZ" sz="900" b="0" kern="1200" dirty="0">
                          <a:solidFill>
                            <a:schemeClr val="tx1"/>
                          </a:solidFill>
                          <a:latin typeface="+mn-lt"/>
                          <a:ea typeface="+mn-ea"/>
                          <a:cs typeface="+mn-cs"/>
                        </a:rPr>
                        <a:t>Ака-ука совчилар” спектаклида Нортой, “Алпомишнинг қайтиши” да Қоражон, “Юсуф ва Зулайҳо” да Юсуф, “Нодирабегим” да Мадалихон, “Девона” да Ёдгор, “Севги нидоси” да Нодир, Фотима Зухра, Ҳамудулла,“Оқибат” да Жасур, “Топталган туйғу” да Матлаб, “Бу телба хонадон” да Хилми, “Тўмарис”да Омарк, “Отабек ва Кумушбиби”да Юсуфбек хожи, “Замон авлонийси”да Тохта Мурод, “Жадидлар” да, Р Исхоқхон тўра Ибрат “Антиқа совчилар”да “Прафести Рустам Мемор” да Прокурор, “Дилдаги доғ”да Раҳим, “Лайли мажнун”да, Ноффал “Тошкентнинг нозанин маликаси”да Прокурор, “Намрут” да Хозор, “Дилафрузга тўрт ошиқ” да Жамил, “Тўйлар муборак”да Нематила, “Киёвнинг омонати”да Одил бой, “Машраб” да Зоҳид, “Бобур соғинчи” да Бобур, “Киёвлар кўнкурсти” да Валижон, “Хижрон” да Урхон каби образлари мутахассислар томонидан юқори </a:t>
                      </a:r>
                      <a:r>
                        <a:rPr lang="uz-Cyrl-UZ" sz="900" b="0" kern="1200" dirty="0" smtClean="0">
                          <a:solidFill>
                            <a:schemeClr val="tx1"/>
                          </a:solidFill>
                          <a:latin typeface="+mn-lt"/>
                          <a:ea typeface="+mn-ea"/>
                          <a:cs typeface="+mn-cs"/>
                        </a:rPr>
                        <a:t>баҳоланган.</a:t>
                      </a:r>
                    </a:p>
                    <a:p>
                      <a:pPr algn="just"/>
                      <a:r>
                        <a:rPr lang="uz-Cyrl-UZ" sz="900" b="0" kern="1200" dirty="0" smtClean="0">
                          <a:solidFill>
                            <a:schemeClr val="tx1"/>
                          </a:solidFill>
                          <a:latin typeface="+mn-lt"/>
                          <a:ea typeface="+mn-ea"/>
                          <a:cs typeface="+mn-cs"/>
                        </a:rPr>
                        <a:t>    У </a:t>
                      </a:r>
                      <a:r>
                        <a:rPr lang="uz-Cyrl-UZ" sz="900" b="0" kern="1200" dirty="0">
                          <a:solidFill>
                            <a:schemeClr val="tx1"/>
                          </a:solidFill>
                          <a:latin typeface="+mn-lt"/>
                          <a:ea typeface="+mn-ea"/>
                          <a:cs typeface="+mn-cs"/>
                        </a:rPr>
                        <a:t>театр билан бир қаторда кино ва телевидениеда ҳам сермаҳсул ижод қилиб, эл-юртнинг эътиборига тушган. Жумладан, “Кўнгил кўчалари” видеофилмида милиционер, “Мирзо Улуғбек” да Хусайн, “Жалолиддин Мангуберди” да Амир, “Янги ой чиққан кеча” да шифокор, “Ўч” да режиссёр, “Талваса” филмида прокурор, “Муҳаббат синовлари” да шифокор, “Тақдир зарбаси” да йигит каби роллари томошабинлар ёдида </a:t>
                      </a:r>
                      <a:r>
                        <a:rPr lang="uz-Cyrl-UZ" sz="900" b="0" kern="1200" dirty="0" smtClean="0">
                          <a:solidFill>
                            <a:schemeClr val="tx1"/>
                          </a:solidFill>
                          <a:latin typeface="+mn-lt"/>
                          <a:ea typeface="+mn-ea"/>
                          <a:cs typeface="+mn-cs"/>
                        </a:rPr>
                        <a:t>қолган.</a:t>
                      </a:r>
                      <a:endParaRPr lang="ru-RU" sz="900" b="0" kern="1200" dirty="0" smtClean="0">
                        <a:solidFill>
                          <a:schemeClr val="tx1"/>
                        </a:solidFill>
                        <a:latin typeface="+mn-lt"/>
                        <a:ea typeface="+mn-ea"/>
                        <a:cs typeface="+mn-cs"/>
                      </a:endParaRPr>
                    </a:p>
                    <a:p>
                      <a:pPr algn="just"/>
                      <a:r>
                        <a:rPr lang="ru-RU" sz="900" b="0" kern="1200" baseline="0" dirty="0" smtClean="0">
                          <a:solidFill>
                            <a:schemeClr val="tx1"/>
                          </a:solidFill>
                          <a:latin typeface="+mn-lt"/>
                          <a:ea typeface="+mn-ea"/>
                          <a:cs typeface="+mn-cs"/>
                        </a:rPr>
                        <a:t>    </a:t>
                      </a:r>
                      <a:r>
                        <a:rPr lang="uz-Cyrl-UZ" sz="900" b="0" kern="1200" dirty="0" smtClean="0">
                          <a:solidFill>
                            <a:schemeClr val="tx1"/>
                          </a:solidFill>
                          <a:latin typeface="+mn-lt"/>
                          <a:ea typeface="+mn-ea"/>
                          <a:cs typeface="+mn-cs"/>
                        </a:rPr>
                        <a:t>Айниқса</a:t>
                      </a:r>
                      <a:r>
                        <a:rPr lang="uz-Cyrl-UZ" sz="900" b="0" kern="1200" dirty="0">
                          <a:solidFill>
                            <a:schemeClr val="tx1"/>
                          </a:solidFill>
                          <a:latin typeface="+mn-lt"/>
                          <a:ea typeface="+mn-ea"/>
                          <a:cs typeface="+mn-cs"/>
                        </a:rPr>
                        <a:t>, Давлат хавфсизлик хизмати, Ўзбекистон Республикаси ички ишлар вазирлиги, Миллий гвардия, Ўзбекистон Республикаси Мудофаа вазирлиги, Республика маънавият ва маърифат тарғибот марказининг уюштирадиган кўпгина тадбирларида фаол маънавият тарғиботчиси сифатида иштирок этган. </a:t>
                      </a:r>
                      <a:endParaRPr lang="ru-RU" sz="900" b="0" kern="1200" dirty="0">
                        <a:solidFill>
                          <a:schemeClr val="tx1"/>
                        </a:solidFill>
                        <a:latin typeface="+mn-lt"/>
                        <a:ea typeface="+mn-ea"/>
                        <a:cs typeface="+mn-cs"/>
                      </a:endParaRPr>
                    </a:p>
                    <a:p>
                      <a:endParaRPr lang="uz-Cyrl-UZ" sz="7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86578">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7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7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80010">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a:extLst>
              <a:ext uri="{FF2B5EF4-FFF2-40B4-BE49-F238E27FC236}">
                <a16:creationId xmlns:a16="http://schemas.microsoft.com/office/drawing/2014/main" id="{76843730-FFA8-FBBD-D4C7-659DD29373E6}"/>
              </a:ext>
            </a:extLst>
          </p:cNvPr>
          <p:cNvPicPr>
            <a:picLocks noChangeAspect="1"/>
          </p:cNvPicPr>
          <p:nvPr/>
        </p:nvPicPr>
        <p:blipFill>
          <a:blip r:embed="rId2"/>
          <a:stretch>
            <a:fillRect/>
          </a:stretch>
        </p:blipFill>
        <p:spPr>
          <a:xfrm>
            <a:off x="324197" y="1191724"/>
            <a:ext cx="800963" cy="1067951"/>
          </a:xfrm>
          <a:prstGeom prst="rect">
            <a:avLst/>
          </a:prstGeom>
        </p:spPr>
      </p:pic>
    </p:spTree>
    <p:extLst>
      <p:ext uri="{BB962C8B-B14F-4D97-AF65-F5344CB8AC3E}">
        <p14:creationId xmlns:p14="http://schemas.microsoft.com/office/powerpoint/2010/main" val="2410735822"/>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4290859800"/>
              </p:ext>
            </p:extLst>
          </p:nvPr>
        </p:nvGraphicFramePr>
        <p:xfrm>
          <a:off x="144489" y="865702"/>
          <a:ext cx="3427547" cy="5935724"/>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3587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439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a:solidFill>
                            <a:schemeClr val="tx1"/>
                          </a:solidFill>
                          <a:latin typeface="+mn-lt"/>
                          <a:ea typeface="+mn-ea"/>
                          <a:cs typeface="+mn-cs"/>
                        </a:rPr>
                        <a:t>АРТИКОВ</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439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Суръат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439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Джурабаевич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439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latin typeface="+mn-lt"/>
                      </a:endParaRPr>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439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31.05.1975</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439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3835">
                <a:tc gridSpan="5">
                  <a:txBody>
                    <a:bodyPr/>
                    <a:lstStyle/>
                    <a:p>
                      <a:pPr algn="ctr"/>
                      <a:r>
                        <a:rPr lang="uz-Cyrl-UZ" sz="1000" b="1" noProof="0" dirty="0">
                          <a:solidFill>
                            <a:schemeClr val="bg1"/>
                          </a:solidFill>
                          <a:latin typeface="+mn-lt"/>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7512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ўғил фарзанди бор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3835">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mn-lt"/>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49935">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АРТИКОВ Джурабой  Абдувасикович</a:t>
                      </a:r>
                    </a:p>
                    <a:p>
                      <a:pPr algn="l">
                        <a:lnSpc>
                          <a:spcPct val="85000"/>
                        </a:lnSpc>
                      </a:pPr>
                      <a:r>
                        <a:rPr lang="uz-Cyrl-UZ" sz="900" b="0" kern="1200" noProof="0" dirty="0">
                          <a:solidFill>
                            <a:schemeClr val="tx1"/>
                          </a:solidFill>
                          <a:latin typeface="+mn-lt"/>
                          <a:ea typeface="+mn-ea"/>
                          <a:cs typeface="Arial" panose="020B0604020202020204" pitchFamily="34" charset="0"/>
                        </a:rPr>
                        <a:t>1949 йил, Тошкент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2021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Муқимий</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номидаги</a:t>
                      </a:r>
                      <a:r>
                        <a:rPr lang="ru-RU" sz="900" b="0" kern="1200" noProof="0" dirty="0">
                          <a:solidFill>
                            <a:schemeClr val="tx1"/>
                          </a:solidFill>
                          <a:latin typeface="+mn-lt"/>
                          <a:ea typeface="+mn-ea"/>
                          <a:cs typeface="Arial" panose="020B0604020202020204" pitchFamily="34" charset="0"/>
                        </a:rPr>
                        <a:t> </a:t>
                      </a:r>
                      <a:r>
                        <a:rPr lang="uz-Latn-UZ" sz="900" kern="1200" dirty="0">
                          <a:solidFill>
                            <a:schemeClr val="tx1"/>
                          </a:solidFill>
                          <a:effectLst/>
                          <a:latin typeface="+mn-lt"/>
                          <a:ea typeface="+mn-ea"/>
                          <a:cs typeface="+mn-cs"/>
                        </a:rPr>
                        <a:t>Ўзбекистон</a:t>
                      </a:r>
                      <a:r>
                        <a:rPr lang="uz-Cyrl-UZ" sz="900" kern="1200" dirty="0">
                          <a:solidFill>
                            <a:schemeClr val="tx1"/>
                          </a:solidFill>
                          <a:effectLst/>
                          <a:latin typeface="+mn-lt"/>
                          <a:ea typeface="+mn-ea"/>
                          <a:cs typeface="+mn-cs"/>
                        </a:rPr>
                        <a:t> давлат мусиқали театри </a:t>
                      </a:r>
                      <a:r>
                        <a:rPr lang="ru-RU" sz="900" b="0" kern="1200" noProof="0" dirty="0">
                          <a:solidFill>
                            <a:schemeClr val="tx1"/>
                          </a:solidFill>
                          <a:latin typeface="+mn-lt"/>
                          <a:ea typeface="+mn-ea"/>
                          <a:cs typeface="Arial" panose="020B0604020202020204" pitchFamily="34" charset="0"/>
                        </a:rPr>
                        <a:t>бош </a:t>
                      </a:r>
                      <a:r>
                        <a:rPr lang="ru-RU" sz="900" b="0" kern="1200" noProof="0" dirty="0" err="1">
                          <a:solidFill>
                            <a:schemeClr val="tx1"/>
                          </a:solidFill>
                          <a:latin typeface="+mn-lt"/>
                          <a:ea typeface="+mn-ea"/>
                          <a:cs typeface="Arial" panose="020B0604020202020204" pitchFamily="34" charset="0"/>
                        </a:rPr>
                        <a:t>дирижёри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19705">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АРТИКОВА Наиля Александровна </a:t>
                      </a:r>
                    </a:p>
                    <a:p>
                      <a:pPr algn="l">
                        <a:lnSpc>
                          <a:spcPct val="85000"/>
                        </a:lnSpc>
                      </a:pPr>
                      <a:r>
                        <a:rPr lang="uz-Cyrl-UZ" sz="900" b="0" kern="1200" noProof="0" dirty="0">
                          <a:solidFill>
                            <a:schemeClr val="tx1"/>
                          </a:solidFill>
                          <a:latin typeface="+mn-lt"/>
                          <a:ea typeface="+mn-ea"/>
                          <a:cs typeface="Arial" panose="020B0604020202020204" pitchFamily="34" charset="0"/>
                        </a:rPr>
                        <a:t>1951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err="1">
                          <a:solidFill>
                            <a:schemeClr val="tx1"/>
                          </a:solidFill>
                          <a:latin typeface="+mn-lt"/>
                          <a:ea typeface="+mn-ea"/>
                          <a:cs typeface="Arial" panose="020B0604020202020204" pitchFamily="34" charset="0"/>
                        </a:rPr>
                        <a:t>Пенсияда</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Булбулча</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болалар</a:t>
                      </a:r>
                      <a:r>
                        <a:rPr lang="ru-RU" sz="900" b="0" kern="1200" noProof="0" dirty="0">
                          <a:solidFill>
                            <a:schemeClr val="tx1"/>
                          </a:solidFill>
                          <a:latin typeface="+mn-lt"/>
                          <a:ea typeface="+mn-ea"/>
                          <a:cs typeface="Arial" panose="020B0604020202020204" pitchFamily="34" charset="0"/>
                        </a:rPr>
                        <a:t> ансамбли бош </a:t>
                      </a:r>
                      <a:r>
                        <a:rPr lang="ru-RU" sz="900" b="0" kern="1200" noProof="0" dirty="0" err="1">
                          <a:solidFill>
                            <a:schemeClr val="tx1"/>
                          </a:solidFill>
                          <a:latin typeface="+mn-lt"/>
                          <a:ea typeface="+mn-ea"/>
                          <a:cs typeface="Arial" panose="020B0604020202020204" pitchFamily="34" charset="0"/>
                        </a:rPr>
                        <a:t>балетмейстери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649935">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КАСИМОВА Дилноза Рустамбековна </a:t>
                      </a:r>
                    </a:p>
                    <a:p>
                      <a:pPr algn="l">
                        <a:lnSpc>
                          <a:spcPct val="85000"/>
                        </a:lnSpc>
                      </a:pPr>
                      <a:r>
                        <a:rPr lang="uz-Cyrl-UZ" sz="900" b="0" kern="1200" noProof="0" dirty="0">
                          <a:solidFill>
                            <a:schemeClr val="tx1"/>
                          </a:solidFill>
                          <a:latin typeface="+mn-lt"/>
                          <a:ea typeface="+mn-ea"/>
                          <a:cs typeface="Arial" panose="020B0604020202020204" pitchFamily="34" charset="0"/>
                        </a:rPr>
                        <a:t>1984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kern="1200" dirty="0">
                          <a:solidFill>
                            <a:schemeClr val="tx1"/>
                          </a:solidFill>
                          <a:effectLst/>
                          <a:latin typeface="+mn-lt"/>
                          <a:ea typeface="+mn-ea"/>
                          <a:cs typeface="+mn-cs"/>
                        </a:rPr>
                        <a:t>Ўзбекистон</a:t>
                      </a:r>
                      <a:r>
                        <a:rPr lang="uz-Latn-UZ" sz="900" kern="1200" dirty="0">
                          <a:solidFill>
                            <a:schemeClr val="tx1"/>
                          </a:solidFill>
                          <a:effectLst/>
                          <a:latin typeface="+mn-lt"/>
                          <a:ea typeface="+mn-ea"/>
                          <a:cs typeface="+mn-cs"/>
                        </a:rPr>
                        <a:t> давлат мусиқали комедия (оперетта) театри </a:t>
                      </a:r>
                      <a:r>
                        <a:rPr lang="uz-Cyrl-UZ" sz="900" kern="1200" dirty="0">
                          <a:solidFill>
                            <a:schemeClr val="tx1"/>
                          </a:solidFill>
                          <a:effectLst/>
                          <a:latin typeface="+mn-lt"/>
                          <a:ea typeface="+mn-ea"/>
                          <a:cs typeface="+mn-cs"/>
                        </a:rPr>
                        <a:t>олий даражали хор артисти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2392">
                <a:tc gridSpan="5">
                  <a:txBody>
                    <a:bodyPr/>
                    <a:lstStyle/>
                    <a:p>
                      <a:pPr algn="ctr">
                        <a:lnSpc>
                          <a:spcPct val="85000"/>
                        </a:lnSpc>
                      </a:pPr>
                      <a:r>
                        <a:rPr lang="uz-Cyrl-UZ" sz="1000" b="1" kern="1200" noProof="0" dirty="0">
                          <a:solidFill>
                            <a:schemeClr val="bg1"/>
                          </a:solidFill>
                          <a:latin typeface="+mn-lt"/>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64371">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1975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маданият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4811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Ҳаваскорлик жамоалари рахбари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4591">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4591">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92167">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266752069"/>
              </p:ext>
            </p:extLst>
          </p:nvPr>
        </p:nvGraphicFramePr>
        <p:xfrm>
          <a:off x="3674526" y="865689"/>
          <a:ext cx="3172841" cy="5900868"/>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667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60598">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2004 йилдан етакчи саҳна устаси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8683">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267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28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739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22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2309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2004 й. - </a:t>
                      </a:r>
                      <a:r>
                        <a:rPr lang="uz-Latn-UZ" sz="900" kern="1200" dirty="0">
                          <a:solidFill>
                            <a:schemeClr val="tx1"/>
                          </a:solidFill>
                          <a:effectLst/>
                          <a:latin typeface="+mn-lt"/>
                          <a:ea typeface="+mn-ea"/>
                          <a:cs typeface="+mn-cs"/>
                        </a:rPr>
                        <a:t>Ўзбекистон</a:t>
                      </a:r>
                      <a:r>
                        <a:rPr lang="uz-Cyrl-UZ" sz="900" kern="1200" dirty="0">
                          <a:solidFill>
                            <a:schemeClr val="tx1"/>
                          </a:solidFill>
                          <a:effectLst/>
                          <a:latin typeface="+mn-lt"/>
                          <a:ea typeface="+mn-ea"/>
                          <a:cs typeface="+mn-cs"/>
                        </a:rPr>
                        <a:t> давлат мусиқали комедия (оперетта) театри етакчи саҳна устаси</a:t>
                      </a:r>
                      <a:endParaRPr lang="ru-RU" sz="900" kern="1200" dirty="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611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6116">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419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2896">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992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52498">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2005 й. Ўзбекистонда хизмат кўрстаган артист</a:t>
                      </a:r>
                    </a:p>
                    <a:p>
                      <a:pPr marL="0" marR="0" lvl="0" indent="0" algn="just" defTabSz="914400" rtl="0" eaLnBrk="1" fontAlgn="auto" latinLnBrk="0" hangingPunct="1">
                        <a:lnSpc>
                          <a:spcPct val="107000"/>
                        </a:lnSpc>
                        <a:spcBef>
                          <a:spcPts val="0"/>
                        </a:spcBef>
                        <a:spcAft>
                          <a:spcPts val="0"/>
                        </a:spcAft>
                        <a:buClrTx/>
                        <a:buSzTx/>
                        <a:buFontTx/>
                        <a:buNone/>
                        <a:tabLst/>
                        <a:defRPr/>
                      </a:pPr>
                      <a:r>
                        <a:rPr lang="uz-Latn-UZ" sz="900" kern="1200" dirty="0">
                          <a:solidFill>
                            <a:schemeClr val="tx1"/>
                          </a:solidFill>
                          <a:effectLst/>
                          <a:latin typeface="+mn-lt"/>
                          <a:ea typeface="+mn-ea"/>
                          <a:cs typeface="+mn-cs"/>
                        </a:rPr>
                        <a:t>202</a:t>
                      </a:r>
                      <a:r>
                        <a:rPr lang="ru-RU" sz="900" kern="1200" dirty="0">
                          <a:solidFill>
                            <a:schemeClr val="tx1"/>
                          </a:solidFill>
                          <a:effectLst/>
                          <a:latin typeface="+mn-lt"/>
                          <a:ea typeface="+mn-ea"/>
                          <a:cs typeface="+mn-cs"/>
                        </a:rPr>
                        <a:t>5</a:t>
                      </a:r>
                      <a:r>
                        <a:rPr lang="uz-Latn-UZ" sz="900" kern="1200" dirty="0">
                          <a:solidFill>
                            <a:schemeClr val="tx1"/>
                          </a:solidFill>
                          <a:effectLst/>
                          <a:latin typeface="+mn-lt"/>
                          <a:ea typeface="+mn-ea"/>
                          <a:cs typeface="+mn-cs"/>
                        </a:rPr>
                        <a:t> й</a:t>
                      </a:r>
                      <a:r>
                        <a:rPr lang="ru-RU" sz="900" kern="1200" dirty="0">
                          <a:solidFill>
                            <a:schemeClr val="tx1"/>
                          </a:solidFill>
                          <a:effectLst/>
                          <a:latin typeface="+mn-lt"/>
                          <a:ea typeface="+mn-ea"/>
                          <a:cs typeface="+mn-cs"/>
                        </a:rPr>
                        <a:t>.</a:t>
                      </a:r>
                      <a:r>
                        <a:rPr lang="uz-Latn-UZ" sz="900" kern="1200" dirty="0">
                          <a:solidFill>
                            <a:schemeClr val="tx1"/>
                          </a:solidFill>
                          <a:effectLst/>
                          <a:latin typeface="+mn-lt"/>
                          <a:ea typeface="+mn-ea"/>
                          <a:cs typeface="+mn-cs"/>
                        </a:rPr>
                        <a:t> “Маданият ва санъат фидокори”  </a:t>
                      </a:r>
                      <a:endParaRPr lang="ru-RU" sz="900" kern="1200" dirty="0">
                        <a:solidFill>
                          <a:schemeClr val="tx1"/>
                        </a:solidFill>
                        <a:effectLst/>
                        <a:latin typeface="+mn-lt"/>
                        <a:ea typeface="+mn-ea"/>
                        <a:cs typeface="+mn-cs"/>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024578933"/>
              </p:ext>
            </p:extLst>
          </p:nvPr>
        </p:nvGraphicFramePr>
        <p:xfrm>
          <a:off x="6949857" y="869287"/>
          <a:ext cx="2817247" cy="5910968"/>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31150">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5416">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28732">
                <a:tc>
                  <a:txBody>
                    <a:bodyPr/>
                    <a:lstStyle/>
                    <a:p>
                      <a:pPr algn="just"/>
                      <a:r>
                        <a:rPr lang="uz-Cyrl-UZ" sz="900" b="0" kern="1200" dirty="0" smtClean="0">
                          <a:solidFill>
                            <a:schemeClr val="tx1"/>
                          </a:solidFill>
                          <a:effectLst/>
                          <a:latin typeface="+mn-lt"/>
                          <a:ea typeface="+mn-ea"/>
                          <a:cs typeface="+mn-cs"/>
                        </a:rPr>
                        <a:t>    Театрдаги </a:t>
                      </a:r>
                      <a:r>
                        <a:rPr lang="uz-Cyrl-UZ" sz="900" b="0" kern="1200" dirty="0">
                          <a:solidFill>
                            <a:schemeClr val="tx1"/>
                          </a:solidFill>
                          <a:effectLst/>
                          <a:latin typeface="+mn-lt"/>
                          <a:ea typeface="+mn-ea"/>
                          <a:cs typeface="+mn-cs"/>
                        </a:rPr>
                        <a:t>фаолияти давомида спектаклларда ижро этган ўттиздан ортиқ салмоқли роллари томошабинлар олқишига сазовор бўлди, театршунослар, танқидчилар ва журналистлар эътиборини қозонди. Улар орасида: “</a:t>
                      </a:r>
                      <a:r>
                        <a:rPr lang="ru-RU" sz="900" b="0" kern="1200" dirty="0">
                          <a:solidFill>
                            <a:schemeClr val="tx1"/>
                          </a:solidFill>
                          <a:effectLst/>
                          <a:latin typeface="+mn-lt"/>
                          <a:ea typeface="+mn-ea"/>
                          <a:cs typeface="+mn-cs"/>
                        </a:rPr>
                        <a:t>Женитьба Фигаро</a:t>
                      </a:r>
                      <a:r>
                        <a:rPr lang="uz-Cyrl-UZ" sz="900" b="0" kern="1200" dirty="0">
                          <a:solidFill>
                            <a:schemeClr val="tx1"/>
                          </a:solidFill>
                          <a:effectLst/>
                          <a:latin typeface="+mn-lt"/>
                          <a:ea typeface="+mn-ea"/>
                          <a:cs typeface="+mn-cs"/>
                        </a:rPr>
                        <a:t>”да </a:t>
                      </a:r>
                      <a:r>
                        <a:rPr lang="ru-RU" sz="900" b="0" kern="1200" dirty="0" err="1">
                          <a:solidFill>
                            <a:schemeClr val="tx1"/>
                          </a:solidFill>
                          <a:effectLst/>
                          <a:latin typeface="+mn-lt"/>
                          <a:ea typeface="+mn-ea"/>
                          <a:cs typeface="+mn-cs"/>
                        </a:rPr>
                        <a:t>Керубино</a:t>
                      </a:r>
                      <a:r>
                        <a:rPr lang="uz-Cyrl-UZ" sz="900" b="0" kern="1200" dirty="0">
                          <a:solidFill>
                            <a:schemeClr val="tx1"/>
                          </a:solidFill>
                          <a:effectLst/>
                          <a:latin typeface="+mn-lt"/>
                          <a:ea typeface="+mn-ea"/>
                          <a:cs typeface="+mn-cs"/>
                        </a:rPr>
                        <a:t>, “</a:t>
                      </a:r>
                      <a:r>
                        <a:rPr lang="ru-RU" sz="900" b="0" kern="1200" dirty="0">
                          <a:solidFill>
                            <a:schemeClr val="tx1"/>
                          </a:solidFill>
                          <a:effectLst/>
                          <a:latin typeface="+mn-lt"/>
                          <a:ea typeface="+mn-ea"/>
                          <a:cs typeface="+mn-cs"/>
                        </a:rPr>
                        <a:t>Биндюжник и </a:t>
                      </a:r>
                      <a:r>
                        <a:rPr lang="uz-Cyrl-UZ" sz="900" b="0" kern="1200" dirty="0">
                          <a:solidFill>
                            <a:schemeClr val="tx1"/>
                          </a:solidFill>
                          <a:effectLst/>
                          <a:latin typeface="+mn-lt"/>
                          <a:ea typeface="+mn-ea"/>
                          <a:cs typeface="+mn-cs"/>
                        </a:rPr>
                        <a:t>К</a:t>
                      </a:r>
                      <a:r>
                        <a:rPr lang="ru-RU" sz="900" b="0" kern="1200" dirty="0" err="1">
                          <a:solidFill>
                            <a:schemeClr val="tx1"/>
                          </a:solidFill>
                          <a:effectLst/>
                          <a:latin typeface="+mn-lt"/>
                          <a:ea typeface="+mn-ea"/>
                          <a:cs typeface="+mn-cs"/>
                        </a:rPr>
                        <a:t>ороль</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Беня Крик,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Свадьба Кречинского</a:t>
                      </a:r>
                      <a:r>
                        <a:rPr lang="uz-Cyrl-UZ" sz="900" b="0" kern="1200" dirty="0">
                          <a:solidFill>
                            <a:schemeClr val="tx1"/>
                          </a:solidFill>
                          <a:effectLst/>
                          <a:latin typeface="+mn-lt"/>
                          <a:ea typeface="+mn-ea"/>
                          <a:cs typeface="+mn-cs"/>
                        </a:rPr>
                        <a:t>”да </a:t>
                      </a:r>
                      <a:r>
                        <a:rPr lang="ru-RU" sz="900" b="0" kern="1200" dirty="0" err="1">
                          <a:solidFill>
                            <a:schemeClr val="tx1"/>
                          </a:solidFill>
                          <a:effectLst/>
                          <a:latin typeface="+mn-lt"/>
                          <a:ea typeface="+mn-ea"/>
                          <a:cs typeface="+mn-cs"/>
                        </a:rPr>
                        <a:t>Нелькин</a:t>
                      </a:r>
                      <a:r>
                        <a:rPr lang="uz-Cyrl-UZ" sz="900" b="0" kern="1200" dirty="0">
                          <a:solidFill>
                            <a:schemeClr val="tx1"/>
                          </a:solidFill>
                          <a:effectLst/>
                          <a:latin typeface="+mn-lt"/>
                          <a:ea typeface="+mn-ea"/>
                          <a:cs typeface="+mn-cs"/>
                        </a:rPr>
                        <a:t>, “</a:t>
                      </a:r>
                      <a:r>
                        <a:rPr lang="ru-RU" sz="900" b="0" kern="1200" dirty="0">
                          <a:solidFill>
                            <a:schemeClr val="tx1"/>
                          </a:solidFill>
                          <a:effectLst/>
                          <a:latin typeface="+mn-lt"/>
                          <a:ea typeface="+mn-ea"/>
                          <a:cs typeface="+mn-cs"/>
                        </a:rPr>
                        <a:t>Весёлая вдова</a:t>
                      </a:r>
                      <a:r>
                        <a:rPr lang="uz-Cyrl-UZ" sz="900" b="0" kern="1200" dirty="0">
                          <a:solidFill>
                            <a:schemeClr val="tx1"/>
                          </a:solidFill>
                          <a:effectLst/>
                          <a:latin typeface="+mn-lt"/>
                          <a:ea typeface="+mn-ea"/>
                          <a:cs typeface="+mn-cs"/>
                        </a:rPr>
                        <a:t>”да </a:t>
                      </a:r>
                      <a:r>
                        <a:rPr lang="ru-RU" sz="900" b="0" kern="1200" dirty="0" err="1">
                          <a:solidFill>
                            <a:schemeClr val="tx1"/>
                          </a:solidFill>
                          <a:effectLst/>
                          <a:latin typeface="+mn-lt"/>
                          <a:ea typeface="+mn-ea"/>
                          <a:cs typeface="+mn-cs"/>
                        </a:rPr>
                        <a:t>Негаш</a:t>
                      </a:r>
                      <a:r>
                        <a:rPr lang="ru-RU" sz="900" b="0" kern="1200" dirty="0">
                          <a:solidFill>
                            <a:schemeClr val="tx1"/>
                          </a:solidFill>
                          <a:effectLst/>
                          <a:latin typeface="+mn-lt"/>
                          <a:ea typeface="+mn-ea"/>
                          <a:cs typeface="+mn-cs"/>
                        </a:rPr>
                        <a:t>,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Девичий переполох</a:t>
                      </a:r>
                      <a:r>
                        <a:rPr lang="uz-Cyrl-UZ" sz="900" b="0" kern="1200" dirty="0">
                          <a:solidFill>
                            <a:schemeClr val="tx1"/>
                          </a:solidFill>
                          <a:effectLst/>
                          <a:latin typeface="+mn-lt"/>
                          <a:ea typeface="+mn-ea"/>
                          <a:cs typeface="+mn-cs"/>
                        </a:rPr>
                        <a:t>”да </a:t>
                      </a:r>
                      <a:r>
                        <a:rPr lang="ru-RU" sz="900" b="0" kern="1200" dirty="0" err="1">
                          <a:solidFill>
                            <a:schemeClr val="tx1"/>
                          </a:solidFill>
                          <a:effectLst/>
                          <a:latin typeface="+mn-lt"/>
                          <a:ea typeface="+mn-ea"/>
                          <a:cs typeface="+mn-cs"/>
                        </a:rPr>
                        <a:t>Бесомыка</a:t>
                      </a:r>
                      <a:r>
                        <a:rPr lang="ru-RU" sz="900" b="0" kern="1200" dirty="0">
                          <a:solidFill>
                            <a:schemeClr val="tx1"/>
                          </a:solidFill>
                          <a:effectLst/>
                          <a:latin typeface="+mn-lt"/>
                          <a:ea typeface="+mn-ea"/>
                          <a:cs typeface="+mn-cs"/>
                        </a:rPr>
                        <a:t>,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Крошка</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Жак,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Марица</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Мориц,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Баядера</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Филипп,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Прекрасная Елена</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Аякс,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Сердце на ладони</a:t>
                      </a:r>
                      <a:r>
                        <a:rPr lang="uz-Cyrl-UZ" sz="900" b="0" kern="1200" dirty="0">
                          <a:solidFill>
                            <a:schemeClr val="tx1"/>
                          </a:solidFill>
                          <a:effectLst/>
                          <a:latin typeface="+mn-lt"/>
                          <a:ea typeface="+mn-ea"/>
                          <a:cs typeface="+mn-cs"/>
                        </a:rPr>
                        <a:t>”да </a:t>
                      </a:r>
                      <a:r>
                        <a:rPr lang="ru-RU" sz="900" b="0" kern="1200" dirty="0" err="1">
                          <a:solidFill>
                            <a:schemeClr val="tx1"/>
                          </a:solidFill>
                          <a:effectLst/>
                          <a:latin typeface="+mn-lt"/>
                          <a:ea typeface="+mn-ea"/>
                          <a:cs typeface="+mn-cs"/>
                        </a:rPr>
                        <a:t>Б.Закиров</a:t>
                      </a:r>
                      <a:r>
                        <a:rPr lang="ru-RU" sz="900" b="0" kern="1200" dirty="0">
                          <a:solidFill>
                            <a:schemeClr val="tx1"/>
                          </a:solidFill>
                          <a:effectLst/>
                          <a:latin typeface="+mn-lt"/>
                          <a:ea typeface="+mn-ea"/>
                          <a:cs typeface="+mn-cs"/>
                        </a:rPr>
                        <a:t>, </a:t>
                      </a:r>
                      <a:r>
                        <a:rPr lang="uz-Cyrl-UZ" sz="900" b="0" kern="1200" dirty="0">
                          <a:solidFill>
                            <a:schemeClr val="tx1"/>
                          </a:solidFill>
                          <a:effectLst/>
                          <a:latin typeface="+mn-lt"/>
                          <a:ea typeface="+mn-ea"/>
                          <a:cs typeface="+mn-cs"/>
                        </a:rPr>
                        <a:t>“</a:t>
                      </a:r>
                      <a:r>
                        <a:rPr lang="ru-RU" sz="900" b="0" kern="1200" dirty="0" err="1">
                          <a:solidFill>
                            <a:schemeClr val="tx1"/>
                          </a:solidFill>
                          <a:effectLst/>
                          <a:latin typeface="+mn-lt"/>
                          <a:ea typeface="+mn-ea"/>
                          <a:cs typeface="+mn-cs"/>
                        </a:rPr>
                        <a:t>Голландочка</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Министр без портфеля,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Однажды в Нью-Йорке</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Майкл,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Тётя, я женюсь</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Тимур</a:t>
                      </a:r>
                      <a:r>
                        <a:rPr lang="uz-Cyrl-UZ" sz="900" b="0" kern="1200" dirty="0">
                          <a:solidFill>
                            <a:schemeClr val="tx1"/>
                          </a:solidFill>
                          <a:effectLst/>
                          <a:latin typeface="+mn-lt"/>
                          <a:ea typeface="+mn-ea"/>
                          <a:cs typeface="+mn-cs"/>
                        </a:rPr>
                        <a:t> ва </a:t>
                      </a:r>
                      <a:r>
                        <a:rPr lang="ru-RU" sz="900" b="0" kern="1200" dirty="0">
                          <a:solidFill>
                            <a:schemeClr val="tx1"/>
                          </a:solidFill>
                          <a:effectLst/>
                          <a:latin typeface="+mn-lt"/>
                          <a:ea typeface="+mn-ea"/>
                          <a:cs typeface="+mn-cs"/>
                        </a:rPr>
                        <a:t>Эркин,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Весёлый грешник</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Насреддин,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Холопка</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Герольд,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Принцесса цирка</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Тони, Пуассон</a:t>
                      </a:r>
                      <a:r>
                        <a:rPr lang="uz-Cyrl-UZ" sz="900" b="0" kern="1200" dirty="0">
                          <a:solidFill>
                            <a:schemeClr val="tx1"/>
                          </a:solidFill>
                          <a:effectLst/>
                          <a:latin typeface="+mn-lt"/>
                          <a:ea typeface="+mn-ea"/>
                          <a:cs typeface="+mn-cs"/>
                        </a:rPr>
                        <a:t> ва</a:t>
                      </a:r>
                      <a:r>
                        <a:rPr lang="ru-RU" sz="900" b="0" kern="1200" dirty="0">
                          <a:solidFill>
                            <a:schemeClr val="tx1"/>
                          </a:solidFill>
                          <a:effectLst/>
                          <a:latin typeface="+mn-lt"/>
                          <a:ea typeface="+mn-ea"/>
                          <a:cs typeface="+mn-cs"/>
                        </a:rPr>
                        <a:t> Пеликан,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Левша</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Левша,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Здравствуйте, я ваша тётя</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Джек,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Свадебное платье для Роз-Мари</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Герман,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Летучая мышь</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Альфред</a:t>
                      </a:r>
                      <a:r>
                        <a:rPr lang="uz-Cyrl-UZ" sz="900" b="0" kern="1200" dirty="0">
                          <a:solidFill>
                            <a:schemeClr val="tx1"/>
                          </a:solidFill>
                          <a:effectLst/>
                          <a:latin typeface="+mn-lt"/>
                          <a:ea typeface="+mn-ea"/>
                          <a:cs typeface="+mn-cs"/>
                        </a:rPr>
                        <a:t> ва </a:t>
                      </a:r>
                      <a:r>
                        <a:rPr lang="ru-RU" sz="900" b="0" kern="1200" dirty="0">
                          <a:solidFill>
                            <a:schemeClr val="tx1"/>
                          </a:solidFill>
                          <a:effectLst/>
                          <a:latin typeface="+mn-lt"/>
                          <a:ea typeface="+mn-ea"/>
                          <a:cs typeface="+mn-cs"/>
                        </a:rPr>
                        <a:t>Помощник,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Сильва</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Леопольд,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Веер</a:t>
                      </a:r>
                      <a:r>
                        <a:rPr lang="uz-Cyrl-UZ" sz="900" b="0" kern="1200" dirty="0">
                          <a:solidFill>
                            <a:schemeClr val="tx1"/>
                          </a:solidFill>
                          <a:effectLst/>
                          <a:latin typeface="+mn-lt"/>
                          <a:ea typeface="+mn-ea"/>
                          <a:cs typeface="+mn-cs"/>
                        </a:rPr>
                        <a:t>”да </a:t>
                      </a:r>
                      <a:r>
                        <a:rPr lang="ru-RU" sz="900" b="0" kern="1200" dirty="0" err="1">
                          <a:solidFill>
                            <a:schemeClr val="tx1"/>
                          </a:solidFill>
                          <a:effectLst/>
                          <a:latin typeface="+mn-lt"/>
                          <a:ea typeface="+mn-ea"/>
                          <a:cs typeface="+mn-cs"/>
                        </a:rPr>
                        <a:t>Эвариста</a:t>
                      </a:r>
                      <a:r>
                        <a:rPr lang="ru-RU" sz="900" b="0" kern="1200" dirty="0">
                          <a:solidFill>
                            <a:schemeClr val="tx1"/>
                          </a:solidFill>
                          <a:effectLst/>
                          <a:latin typeface="+mn-lt"/>
                          <a:ea typeface="+mn-ea"/>
                          <a:cs typeface="+mn-cs"/>
                        </a:rPr>
                        <a:t>,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Легендарный шут</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Король Филипп,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Аршин мал Алан</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Аскер,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Эхо любви</a:t>
                      </a:r>
                      <a:r>
                        <a:rPr lang="uz-Cyrl-UZ" sz="900" b="0" kern="1200" dirty="0">
                          <a:solidFill>
                            <a:schemeClr val="tx1"/>
                          </a:solidFill>
                          <a:effectLst/>
                          <a:latin typeface="+mn-lt"/>
                          <a:ea typeface="+mn-ea"/>
                          <a:cs typeface="+mn-cs"/>
                        </a:rPr>
                        <a:t>”да </a:t>
                      </a:r>
                      <a:r>
                        <a:rPr lang="ru-RU" sz="900" b="0" kern="1200" dirty="0" err="1">
                          <a:solidFill>
                            <a:schemeClr val="tx1"/>
                          </a:solidFill>
                          <a:effectLst/>
                          <a:latin typeface="+mn-lt"/>
                          <a:ea typeface="+mn-ea"/>
                          <a:cs typeface="+mn-cs"/>
                        </a:rPr>
                        <a:t>Шухрат</a:t>
                      </a:r>
                      <a:r>
                        <a:rPr lang="ru-RU" sz="900" b="0" kern="1200" dirty="0">
                          <a:solidFill>
                            <a:schemeClr val="tx1"/>
                          </a:solidFill>
                          <a:effectLst/>
                          <a:latin typeface="+mn-lt"/>
                          <a:ea typeface="+mn-ea"/>
                          <a:cs typeface="+mn-cs"/>
                        </a:rPr>
                        <a:t>,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Продолжение Дон Жуана</a:t>
                      </a:r>
                      <a:r>
                        <a:rPr lang="uz-Cyrl-UZ" sz="900" b="0" kern="1200" dirty="0">
                          <a:solidFill>
                            <a:schemeClr val="tx1"/>
                          </a:solidFill>
                          <a:effectLst/>
                          <a:latin typeface="+mn-lt"/>
                          <a:ea typeface="+mn-ea"/>
                          <a:cs typeface="+mn-cs"/>
                        </a:rPr>
                        <a:t>”да </a:t>
                      </a:r>
                      <a:r>
                        <a:rPr lang="ru-RU" sz="900" b="0" kern="1200" dirty="0" err="1">
                          <a:solidFill>
                            <a:schemeClr val="tx1"/>
                          </a:solidFill>
                          <a:effectLst/>
                          <a:latin typeface="+mn-lt"/>
                          <a:ea typeface="+mn-ea"/>
                          <a:cs typeface="+mn-cs"/>
                        </a:rPr>
                        <a:t>Лепорелло</a:t>
                      </a:r>
                      <a:r>
                        <a:rPr lang="ru-RU" sz="900" b="0" kern="1200" dirty="0">
                          <a:solidFill>
                            <a:schemeClr val="tx1"/>
                          </a:solidFill>
                          <a:effectLst/>
                          <a:latin typeface="+mn-lt"/>
                          <a:ea typeface="+mn-ea"/>
                          <a:cs typeface="+mn-cs"/>
                        </a:rPr>
                        <a:t>,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Украденная невеста</a:t>
                      </a:r>
                      <a:r>
                        <a:rPr lang="uz-Cyrl-UZ" sz="900" b="0" kern="1200" dirty="0">
                          <a:solidFill>
                            <a:schemeClr val="tx1"/>
                          </a:solidFill>
                          <a:effectLst/>
                          <a:latin typeface="+mn-lt"/>
                          <a:ea typeface="+mn-ea"/>
                          <a:cs typeface="+mn-cs"/>
                        </a:rPr>
                        <a:t>”да </a:t>
                      </a:r>
                      <a:r>
                        <a:rPr lang="ru-RU" sz="900" b="0" kern="1200" dirty="0" err="1">
                          <a:solidFill>
                            <a:schemeClr val="tx1"/>
                          </a:solidFill>
                          <a:effectLst/>
                          <a:latin typeface="+mn-lt"/>
                          <a:ea typeface="+mn-ea"/>
                          <a:cs typeface="+mn-cs"/>
                        </a:rPr>
                        <a:t>Эристо</a:t>
                      </a:r>
                      <a:r>
                        <a:rPr lang="ru-RU" sz="900" b="0" kern="1200" dirty="0">
                          <a:solidFill>
                            <a:schemeClr val="tx1"/>
                          </a:solidFill>
                          <a:effectLst/>
                          <a:latin typeface="+mn-lt"/>
                          <a:ea typeface="+mn-ea"/>
                          <a:cs typeface="+mn-cs"/>
                        </a:rPr>
                        <a:t>,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Не поверишь, жена, умру…</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Муж,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А у нас во дворе</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Тимур,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Актриса</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Додик,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Граф Люксембург</a:t>
                      </a:r>
                      <a:r>
                        <a:rPr lang="uz-Cyrl-UZ" sz="900" b="0" kern="1200" dirty="0">
                          <a:solidFill>
                            <a:schemeClr val="tx1"/>
                          </a:solidFill>
                          <a:effectLst/>
                          <a:latin typeface="+mn-lt"/>
                          <a:ea typeface="+mn-ea"/>
                          <a:cs typeface="+mn-cs"/>
                        </a:rPr>
                        <a:t>”да </a:t>
                      </a:r>
                      <a:r>
                        <a:rPr lang="ru-RU" sz="900" b="0" kern="1200" dirty="0" err="1">
                          <a:solidFill>
                            <a:schemeClr val="tx1"/>
                          </a:solidFill>
                          <a:effectLst/>
                          <a:latin typeface="+mn-lt"/>
                          <a:ea typeface="+mn-ea"/>
                          <a:cs typeface="+mn-cs"/>
                        </a:rPr>
                        <a:t>Брисар</a:t>
                      </a:r>
                      <a:r>
                        <a:rPr lang="ru-RU" sz="900" b="0" kern="1200" dirty="0">
                          <a:solidFill>
                            <a:schemeClr val="tx1"/>
                          </a:solidFill>
                          <a:effectLst/>
                          <a:latin typeface="+mn-lt"/>
                          <a:ea typeface="+mn-ea"/>
                          <a:cs typeface="+mn-cs"/>
                        </a:rPr>
                        <a:t>,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Ханума</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Акоп, </a:t>
                      </a:r>
                      <a:r>
                        <a:rPr lang="uz-Cyrl-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Сильное чувство</a:t>
                      </a:r>
                      <a:r>
                        <a:rPr lang="uz-Cyrl-UZ" sz="900" b="0" kern="1200" dirty="0">
                          <a:solidFill>
                            <a:schemeClr val="tx1"/>
                          </a:solidFill>
                          <a:effectLst/>
                          <a:latin typeface="+mn-lt"/>
                          <a:ea typeface="+mn-ea"/>
                          <a:cs typeface="+mn-cs"/>
                        </a:rPr>
                        <a:t>”да </a:t>
                      </a:r>
                      <a:r>
                        <a:rPr lang="ru-RU" sz="900" b="0" kern="1200" dirty="0">
                          <a:solidFill>
                            <a:schemeClr val="tx1"/>
                          </a:solidFill>
                          <a:effectLst/>
                          <a:latin typeface="+mn-lt"/>
                          <a:ea typeface="+mn-ea"/>
                          <a:cs typeface="+mn-cs"/>
                        </a:rPr>
                        <a:t>Мистер Пит</a:t>
                      </a:r>
                      <a:r>
                        <a:rPr lang="uz-Cyrl-UZ" sz="900" b="0" kern="1200" dirty="0">
                          <a:solidFill>
                            <a:schemeClr val="tx1"/>
                          </a:solidFill>
                          <a:effectLst/>
                          <a:latin typeface="+mn-lt"/>
                          <a:ea typeface="+mn-ea"/>
                          <a:cs typeface="+mn-cs"/>
                        </a:rPr>
                        <a:t>, “Очарован тобой”да Суръат Артыков</a:t>
                      </a:r>
                      <a:r>
                        <a:rPr lang="ru-RU" sz="900" b="0" kern="1200" dirty="0">
                          <a:solidFill>
                            <a:schemeClr val="tx1"/>
                          </a:solidFill>
                          <a:effectLst/>
                          <a:latin typeface="+mn-lt"/>
                          <a:ea typeface="+mn-ea"/>
                          <a:cs typeface="+mn-cs"/>
                        </a:rPr>
                        <a:t>, </a:t>
                      </a:r>
                      <a:r>
                        <a:rPr lang="uz-Latn-UZ" sz="900" b="0" kern="1200" dirty="0">
                          <a:solidFill>
                            <a:schemeClr val="tx1"/>
                          </a:solidFill>
                          <a:effectLst/>
                          <a:latin typeface="+mn-lt"/>
                          <a:ea typeface="+mn-ea"/>
                          <a:cs typeface="+mn-cs"/>
                        </a:rPr>
                        <a:t>“Ребёнок напрокат”да Гамье, “12 стульев”да Коробейников, “Невеста Хлестакова”да Хлестаков, “</a:t>
                      </a:r>
                      <a:r>
                        <a:rPr lang="uz-Cyrl-UZ" sz="900" b="0" kern="1200" dirty="0">
                          <a:solidFill>
                            <a:schemeClr val="tx1"/>
                          </a:solidFill>
                          <a:effectLst/>
                          <a:latin typeface="+mn-lt"/>
                          <a:ea typeface="+mn-ea"/>
                          <a:cs typeface="+mn-cs"/>
                        </a:rPr>
                        <a:t>Это </a:t>
                      </a:r>
                      <a:r>
                        <a:rPr lang="ru-RU" sz="900" b="0" kern="1200" dirty="0">
                          <a:solidFill>
                            <a:schemeClr val="tx1"/>
                          </a:solidFill>
                          <a:effectLst/>
                          <a:latin typeface="+mn-lt"/>
                          <a:ea typeface="+mn-ea"/>
                          <a:cs typeface="+mn-cs"/>
                        </a:rPr>
                        <a:t>было в </a:t>
                      </a:r>
                      <a:r>
                        <a:rPr lang="ru-RU" sz="900" b="0" kern="1200" dirty="0" err="1">
                          <a:solidFill>
                            <a:schemeClr val="tx1"/>
                          </a:solidFill>
                          <a:effectLst/>
                          <a:latin typeface="+mn-lt"/>
                          <a:ea typeface="+mn-ea"/>
                          <a:cs typeface="+mn-cs"/>
                        </a:rPr>
                        <a:t>махалле</a:t>
                      </a:r>
                      <a:r>
                        <a:rPr lang="uz-Latn-UZ" sz="900" b="0" kern="1200" dirty="0">
                          <a:solidFill>
                            <a:schemeClr val="tx1"/>
                          </a:solidFill>
                          <a:effectLst/>
                          <a:latin typeface="+mn-lt"/>
                          <a:ea typeface="+mn-ea"/>
                          <a:cs typeface="+mn-cs"/>
                        </a:rPr>
                        <a:t>”</a:t>
                      </a:r>
                      <a:r>
                        <a:rPr lang="uz-Cyrl-UZ" sz="900" b="0" kern="1200" dirty="0">
                          <a:solidFill>
                            <a:schemeClr val="tx1"/>
                          </a:solidFill>
                          <a:effectLst/>
                          <a:latin typeface="+mn-lt"/>
                          <a:ea typeface="+mn-ea"/>
                          <a:cs typeface="+mn-cs"/>
                        </a:rPr>
                        <a:t>да </a:t>
                      </a:r>
                      <a:r>
                        <a:rPr lang="uz-Latn-UZ" sz="900" b="0" kern="1200" dirty="0">
                          <a:solidFill>
                            <a:schemeClr val="tx1"/>
                          </a:solidFill>
                          <a:effectLst/>
                          <a:latin typeface="+mn-lt"/>
                          <a:ea typeface="+mn-ea"/>
                          <a:cs typeface="+mn-cs"/>
                        </a:rPr>
                        <a:t>Чойхоначи Али </a:t>
                      </a:r>
                      <a:r>
                        <a:rPr lang="uz-Cyrl-UZ" sz="900" b="0" kern="1200" dirty="0">
                          <a:solidFill>
                            <a:schemeClr val="tx1"/>
                          </a:solidFill>
                          <a:effectLst/>
                          <a:latin typeface="+mn-lt"/>
                          <a:ea typeface="+mn-ea"/>
                          <a:cs typeface="+mn-cs"/>
                        </a:rPr>
                        <a:t>ва бошқалар шулар </a:t>
                      </a:r>
                      <a:r>
                        <a:rPr lang="uz-Cyrl-UZ" sz="900" b="0" kern="1200" dirty="0" smtClean="0">
                          <a:solidFill>
                            <a:schemeClr val="tx1"/>
                          </a:solidFill>
                          <a:effectLst/>
                          <a:latin typeface="+mn-lt"/>
                          <a:ea typeface="+mn-ea"/>
                          <a:cs typeface="+mn-cs"/>
                        </a:rPr>
                        <a:t>жумласидандир.</a:t>
                      </a:r>
                    </a:p>
                    <a:p>
                      <a:pPr algn="just"/>
                      <a:r>
                        <a:rPr lang="uz-Cyrl-UZ"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Мазкур </a:t>
                      </a:r>
                      <a:r>
                        <a:rPr lang="uz-Cyrl-UZ" sz="900" b="0" kern="1200" dirty="0">
                          <a:solidFill>
                            <a:schemeClr val="tx1"/>
                          </a:solidFill>
                          <a:effectLst/>
                          <a:latin typeface="+mn-lt"/>
                          <a:ea typeface="+mn-ea"/>
                          <a:cs typeface="+mn-cs"/>
                        </a:rPr>
                        <a:t>асарларда унинг ёрқин ижроси, юксак ижодий маҳорати, ўзига хос ижро услуби, серқирра истеъдоди намоён бўлди. </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9372">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5260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a:effectLst/>
                          <a:latin typeface="+mn-lt"/>
                          <a:ea typeface="Calibri" panose="020F0502020204030204" pitchFamily="34" charset="0"/>
                          <a:cs typeface="Times New Roman" panose="02020603050405020304" pitchFamily="18" charset="0"/>
                        </a:rPr>
                        <a:t>Республикамизда</a:t>
                      </a:r>
                      <a:r>
                        <a:rPr lang="uz-Cyrl-UZ" sz="800" b="0" baseline="0" dirty="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9" name="Рисунок 8">
            <a:extLst>
              <a:ext uri="{FF2B5EF4-FFF2-40B4-BE49-F238E27FC236}">
                <a16:creationId xmlns:a16="http://schemas.microsoft.com/office/drawing/2014/main" id="{59E3BFD0-78B6-41ED-9B22-99F34A42A328}"/>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274320" y="1133476"/>
            <a:ext cx="881141" cy="1077710"/>
          </a:xfrm>
          <a:prstGeom prst="rect">
            <a:avLst/>
          </a:prstGeom>
        </p:spPr>
      </p:pic>
    </p:spTree>
    <p:extLst>
      <p:ext uri="{BB962C8B-B14F-4D97-AF65-F5344CB8AC3E}">
        <p14:creationId xmlns:p14="http://schemas.microsoft.com/office/powerpoint/2010/main" val="1623462253"/>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205746110"/>
              </p:ext>
            </p:extLst>
          </p:nvPr>
        </p:nvGraphicFramePr>
        <p:xfrm>
          <a:off x="144489" y="865704"/>
          <a:ext cx="3427547" cy="5929217"/>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0229">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7803">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a:solidFill>
                            <a:schemeClr val="tx1"/>
                          </a:solidFill>
                          <a:latin typeface="+mn-lt"/>
                          <a:ea typeface="+mn-ea"/>
                          <a:cs typeface="+mn-cs"/>
                        </a:rPr>
                        <a:t>ИСАЕВА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780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Феруза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780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Абдувалиевна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7803">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780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30.06.1955</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780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7969">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50573">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1 нафар ўғил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a:t>
                      </a:r>
                      <a:r>
                        <a:rPr lang="ru-RU" sz="900" kern="1200" dirty="0">
                          <a:solidFill>
                            <a:schemeClr val="tx1"/>
                          </a:solidFill>
                          <a:effectLst/>
                          <a:latin typeface="+mn-lt"/>
                          <a:ea typeface="+mn-ea"/>
                          <a:cs typeface="+mn-cs"/>
                        </a:rPr>
                        <a:t>51411</a:t>
                      </a:r>
                      <a:r>
                        <a:rPr lang="uz-Cyrl-UZ" sz="900" kern="1200" dirty="0">
                          <a:solidFill>
                            <a:schemeClr val="tx1"/>
                          </a:solidFill>
                          <a:effectLst/>
                          <a:latin typeface="+mn-lt"/>
                          <a:ea typeface="+mn-ea"/>
                          <a:cs typeface="+mn-cs"/>
                        </a:rPr>
                        <a:t>-ҳарбий қисм хизматчиси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7969">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779178">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САГДУЛЛАЕВ Абдували  Абдуганиевич</a:t>
                      </a:r>
                    </a:p>
                    <a:p>
                      <a:pPr algn="l">
                        <a:lnSpc>
                          <a:spcPct val="85000"/>
                        </a:lnSpc>
                      </a:pPr>
                      <a:r>
                        <a:rPr lang="uz-Cyrl-UZ" sz="900" b="0" kern="1200" noProof="0" dirty="0">
                          <a:solidFill>
                            <a:schemeClr val="tx1"/>
                          </a:solidFill>
                          <a:latin typeface="+mn-lt"/>
                          <a:ea typeface="+mn-ea"/>
                          <a:cs typeface="Arial" panose="020B0604020202020204" pitchFamily="34" charset="0"/>
                        </a:rPr>
                        <a:t>1923 йил, Қозоғистон Республикаси, Қизл-Ўрда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1993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Тошкент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шаҳар</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кўргазмали</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маҳсулотлар</a:t>
                      </a:r>
                      <a:r>
                        <a:rPr lang="ru-RU" sz="900" b="0" kern="1200" noProof="0" dirty="0">
                          <a:solidFill>
                            <a:schemeClr val="tx1"/>
                          </a:solidFill>
                          <a:latin typeface="+mn-lt"/>
                          <a:ea typeface="+mn-ea"/>
                          <a:cs typeface="Arial" panose="020B0604020202020204" pitchFamily="34" charset="0"/>
                        </a:rPr>
                        <a:t> заводи смена </a:t>
                      </a:r>
                      <a:r>
                        <a:rPr lang="ru-RU" sz="900" b="0" kern="1200" noProof="0" dirty="0" err="1">
                          <a:solidFill>
                            <a:schemeClr val="tx1"/>
                          </a:solidFill>
                          <a:latin typeface="+mn-lt"/>
                          <a:ea typeface="+mn-ea"/>
                          <a:cs typeface="Arial" panose="020B0604020202020204" pitchFamily="34" charset="0"/>
                        </a:rPr>
                        <a:t>бошлиғи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661937">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САГДУЛЛАЕВА Марьям Канзилбаяновна</a:t>
                      </a:r>
                    </a:p>
                    <a:p>
                      <a:pPr algn="l">
                        <a:lnSpc>
                          <a:spcPct val="85000"/>
                        </a:lnSpc>
                      </a:pPr>
                      <a:r>
                        <a:rPr lang="uz-Cyrl-UZ" sz="900" b="0" kern="1200" noProof="0" dirty="0">
                          <a:solidFill>
                            <a:schemeClr val="tx1"/>
                          </a:solidFill>
                          <a:latin typeface="+mn-lt"/>
                          <a:ea typeface="+mn-ea"/>
                          <a:cs typeface="Arial" panose="020B0604020202020204" pitchFamily="34" charset="0"/>
                        </a:rPr>
                        <a:t>1925 йил, Қозоғистон Республикаси, Қизил-Ўрда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1999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Тошкент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шаҳар</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музлатгич</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мосламалари</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комбинати</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ишчиси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44696">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ИСАЕВ Шавкат Қаюмович</a:t>
                      </a:r>
                    </a:p>
                    <a:p>
                      <a:pPr algn="l">
                        <a:lnSpc>
                          <a:spcPct val="85000"/>
                        </a:lnSpc>
                      </a:pPr>
                      <a:r>
                        <a:rPr lang="uz-Cyrl-UZ" sz="900" b="0" kern="1200" noProof="0" dirty="0">
                          <a:solidFill>
                            <a:schemeClr val="tx1"/>
                          </a:solidFill>
                          <a:latin typeface="+mn-lt"/>
                          <a:ea typeface="+mn-ea"/>
                          <a:cs typeface="Arial" panose="020B0604020202020204" pitchFamily="34" charset="0"/>
                        </a:rPr>
                        <a:t>1954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Пенсияда (“Автомагистраль” унитар корхонаси директор ўринбосари)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4980">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421577">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1993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маданият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2643">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Ҳаваскор хореография жамоаси рахбари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021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021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10216">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669981220"/>
              </p:ext>
            </p:extLst>
          </p:nvPr>
        </p:nvGraphicFramePr>
        <p:xfrm>
          <a:off x="3674526" y="865689"/>
          <a:ext cx="3172841" cy="592923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03622">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30103">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2001 йилдан бош балетмейстер </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26556">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9502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45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163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25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0845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2001 й. - </a:t>
                      </a:r>
                      <a:r>
                        <a:rPr lang="uz-Latn-UZ" sz="900" kern="1200" dirty="0">
                          <a:solidFill>
                            <a:schemeClr val="tx1"/>
                          </a:solidFill>
                          <a:effectLst/>
                          <a:latin typeface="+mn-lt"/>
                          <a:ea typeface="+mn-ea"/>
                          <a:cs typeface="+mn-cs"/>
                        </a:rPr>
                        <a:t>Ўзбекистон</a:t>
                      </a:r>
                      <a:r>
                        <a:rPr lang="uz-Cyrl-UZ" sz="900" kern="1200" dirty="0">
                          <a:solidFill>
                            <a:schemeClr val="tx1"/>
                          </a:solidFill>
                          <a:effectLst/>
                          <a:latin typeface="+mn-lt"/>
                          <a:ea typeface="+mn-ea"/>
                          <a:cs typeface="+mn-cs"/>
                        </a:rPr>
                        <a:t> давлат мусиқали комедия (оперетта) театри бош балетмейстери</a:t>
                      </a:r>
                      <a:endParaRPr lang="ru-RU" sz="900" kern="1200" dirty="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7135">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93526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2025 й. Ўзбекистон Республикаси Президенти </a:t>
                      </a:r>
                      <a:r>
                        <a:rPr lang="uz-Cyrl-UZ" sz="900" kern="1200" noProof="0">
                          <a:solidFill>
                            <a:schemeClr val="tx1"/>
                          </a:solidFill>
                          <a:effectLst/>
                          <a:latin typeface="+mn-lt"/>
                          <a:ea typeface="Calibri" panose="020F0502020204030204" pitchFamily="34" charset="0"/>
                          <a:cs typeface="Times New Roman" panose="02020603050405020304" pitchFamily="18" charset="0"/>
                        </a:rPr>
                        <a:t>Администрациясининг хузуридаги 1-сонли </a:t>
                      </a: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марказий клиник шифхонасида даволанган</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713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3900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013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885170">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1983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032028074"/>
              </p:ext>
            </p:extLst>
          </p:nvPr>
        </p:nvGraphicFramePr>
        <p:xfrm>
          <a:off x="6949857" y="869286"/>
          <a:ext cx="2817247" cy="5925635"/>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uz-Cyrl-UZ" sz="900" b="0" noProof="0" dirty="0">
                          <a:solidFill>
                            <a:schemeClr val="tx1"/>
                          </a:solidFill>
                          <a:latin typeface="+mn-lt"/>
                        </a:rPr>
                        <a:t>    </a:t>
                      </a:r>
                      <a:r>
                        <a:rPr lang="uz-Cyrl-UZ" sz="900" b="0" kern="1200" dirty="0">
                          <a:solidFill>
                            <a:schemeClr val="tx1"/>
                          </a:solidFill>
                          <a:effectLst/>
                          <a:latin typeface="+mn-lt"/>
                          <a:ea typeface="+mn-ea"/>
                          <a:cs typeface="+mn-cs"/>
                        </a:rPr>
                        <a:t>Ф.Исаева</a:t>
                      </a:r>
                      <a:r>
                        <a:rPr lang="ru-RU" sz="900" b="0" kern="1200" dirty="0">
                          <a:solidFill>
                            <a:schemeClr val="tx1"/>
                          </a:solidFill>
                          <a:effectLst/>
                          <a:latin typeface="+mn-lt"/>
                          <a:ea typeface="+mn-ea"/>
                          <a:cs typeface="+mn-cs"/>
                        </a:rPr>
                        <a:t> </a:t>
                      </a:r>
                      <a:r>
                        <a:rPr lang="uz-Cyrl-UZ" sz="900" b="0" kern="1200" dirty="0">
                          <a:solidFill>
                            <a:schemeClr val="tx1"/>
                          </a:solidFill>
                          <a:effectLst/>
                          <a:latin typeface="+mn-lt"/>
                          <a:ea typeface="+mn-ea"/>
                          <a:cs typeface="+mn-cs"/>
                        </a:rPr>
                        <a:t>Ўзбекистон давлат мусиқали комедия (оперетта) театри бош балетмейстери вазифасидаги ижодий фаолияти давомида “Арабское танго” (М.Хачатуров), “Бременские музыканты” (Г.Гладков), “Донна Флор и два её мужа” (Н.Черёмухина), “Ханума</a:t>
                      </a:r>
                      <a:r>
                        <a:rPr lang="uz-Latn-UZ" sz="900" b="0" kern="1200" dirty="0">
                          <a:solidFill>
                            <a:schemeClr val="tx1"/>
                          </a:solidFill>
                          <a:effectLst/>
                          <a:latin typeface="+mn-lt"/>
                          <a:ea typeface="+mn-ea"/>
                          <a:cs typeface="+mn-cs"/>
                        </a:rPr>
                        <a:t>”</a:t>
                      </a:r>
                      <a:r>
                        <a:rPr lang="uz-Cyrl-UZ" sz="900" b="0" kern="1200" dirty="0">
                          <a:solidFill>
                            <a:schemeClr val="tx1"/>
                          </a:solidFill>
                          <a:effectLst/>
                          <a:latin typeface="+mn-lt"/>
                          <a:ea typeface="+mn-ea"/>
                          <a:cs typeface="+mn-cs"/>
                        </a:rPr>
                        <a:t> (Г.Канчели), “Тётя, я женюсь” (А.Икрамов), “</a:t>
                      </a:r>
                      <a:r>
                        <a:rPr lang="uz-Latn-UZ" sz="900" b="0" kern="1200" dirty="0">
                          <a:solidFill>
                            <a:schemeClr val="tx1"/>
                          </a:solidFill>
                          <a:effectLst/>
                          <a:latin typeface="+mn-lt"/>
                          <a:ea typeface="+mn-ea"/>
                          <a:cs typeface="+mn-cs"/>
                        </a:rPr>
                        <a:t>Биндюжник и король</a:t>
                      </a:r>
                      <a:r>
                        <a:rPr lang="uz-Cyrl-UZ" sz="900" b="0" kern="1200" dirty="0">
                          <a:solidFill>
                            <a:schemeClr val="tx1"/>
                          </a:solidFill>
                          <a:effectLst/>
                          <a:latin typeface="+mn-lt"/>
                          <a:ea typeface="+mn-ea"/>
                          <a:cs typeface="+mn-cs"/>
                        </a:rPr>
                        <a:t>” (У.Салихов), “</a:t>
                      </a:r>
                      <a:r>
                        <a:rPr lang="uz-Latn-UZ" sz="900" b="0" kern="1200" dirty="0">
                          <a:solidFill>
                            <a:schemeClr val="tx1"/>
                          </a:solidFill>
                          <a:effectLst/>
                          <a:latin typeface="+mn-lt"/>
                          <a:ea typeface="+mn-ea"/>
                          <a:cs typeface="+mn-cs"/>
                        </a:rPr>
                        <a:t>Восточная легенда</a:t>
                      </a:r>
                      <a:r>
                        <a:rPr lang="uz-Cyrl-UZ" sz="900" b="0" kern="1200" dirty="0">
                          <a:solidFill>
                            <a:schemeClr val="tx1"/>
                          </a:solidFill>
                          <a:effectLst/>
                          <a:latin typeface="+mn-lt"/>
                          <a:ea typeface="+mn-ea"/>
                          <a:cs typeface="+mn-cs"/>
                        </a:rPr>
                        <a:t>” (И.Берлин), “</a:t>
                      </a:r>
                      <a:r>
                        <a:rPr lang="uz-Latn-UZ" sz="900" b="0" kern="1200" dirty="0">
                          <a:solidFill>
                            <a:schemeClr val="tx1"/>
                          </a:solidFill>
                          <a:effectLst/>
                          <a:latin typeface="+mn-lt"/>
                          <a:ea typeface="+mn-ea"/>
                          <a:cs typeface="+mn-cs"/>
                        </a:rPr>
                        <a:t>Продолжение </a:t>
                      </a:r>
                      <a:r>
                        <a:rPr lang="uz-Cyrl-UZ" sz="900" b="0" kern="1200" dirty="0">
                          <a:solidFill>
                            <a:schemeClr val="tx1"/>
                          </a:solidFill>
                          <a:effectLst/>
                          <a:latin typeface="+mn-lt"/>
                          <a:ea typeface="+mn-ea"/>
                          <a:cs typeface="+mn-cs"/>
                        </a:rPr>
                        <a:t>Дон Жуан</a:t>
                      </a:r>
                      <a:r>
                        <a:rPr lang="uz-Latn-UZ" sz="900" b="0" kern="1200" dirty="0">
                          <a:solidFill>
                            <a:schemeClr val="tx1"/>
                          </a:solidFill>
                          <a:effectLst/>
                          <a:latin typeface="+mn-lt"/>
                          <a:ea typeface="+mn-ea"/>
                          <a:cs typeface="+mn-cs"/>
                        </a:rPr>
                        <a:t>а</a:t>
                      </a:r>
                      <a:r>
                        <a:rPr lang="uz-Cyrl-UZ" sz="900" b="0" kern="1200" dirty="0">
                          <a:solidFill>
                            <a:schemeClr val="tx1"/>
                          </a:solidFill>
                          <a:effectLst/>
                          <a:latin typeface="+mn-lt"/>
                          <a:ea typeface="+mn-ea"/>
                          <a:cs typeface="+mn-cs"/>
                        </a:rPr>
                        <a:t>” (У.Салихов), “</a:t>
                      </a:r>
                      <a:r>
                        <a:rPr lang="uz-Latn-UZ" sz="900" b="0" kern="1200" dirty="0">
                          <a:solidFill>
                            <a:schemeClr val="tx1"/>
                          </a:solidFill>
                          <a:effectLst/>
                          <a:latin typeface="+mn-lt"/>
                          <a:ea typeface="+mn-ea"/>
                          <a:cs typeface="+mn-cs"/>
                        </a:rPr>
                        <a:t>Легендарн</a:t>
                      </a:r>
                      <a:r>
                        <a:rPr lang="uz-Cyrl-UZ" sz="900" b="0" kern="1200" dirty="0">
                          <a:solidFill>
                            <a:schemeClr val="tx1"/>
                          </a:solidFill>
                          <a:effectLst/>
                          <a:latin typeface="+mn-lt"/>
                          <a:ea typeface="+mn-ea"/>
                          <a:cs typeface="+mn-cs"/>
                        </a:rPr>
                        <a:t>ы</a:t>
                      </a:r>
                      <a:r>
                        <a:rPr lang="uz-Latn-UZ" sz="900" b="0" kern="1200" dirty="0">
                          <a:solidFill>
                            <a:schemeClr val="tx1"/>
                          </a:solidFill>
                          <a:effectLst/>
                          <a:latin typeface="+mn-lt"/>
                          <a:ea typeface="+mn-ea"/>
                          <a:cs typeface="+mn-cs"/>
                        </a:rPr>
                        <a:t>й шут</a:t>
                      </a:r>
                      <a:r>
                        <a:rPr lang="uz-Cyrl-UZ" sz="900" b="0" kern="1200" dirty="0">
                          <a:solidFill>
                            <a:schemeClr val="tx1"/>
                          </a:solidFill>
                          <a:effectLst/>
                          <a:latin typeface="+mn-lt"/>
                          <a:ea typeface="+mn-ea"/>
                          <a:cs typeface="+mn-cs"/>
                        </a:rPr>
                        <a:t>” (Е.Комарова), “Эхо любви” (С.Абсалямов), “Аршин мал алан” (У.Гаджибеков), “Свадьба Кречинского” (А.Колкер), “Летучая мышь” (И.Штраус), “Марица” (И.Кальман), “Сильва” (И.Кальман), “Свадебное платье для Роз-Мари” (Г.Стотгарт, Р.Фримль), “Здравствуйте, я ваша тётя” (Б.Томас), ”А у нас во дворе,” “Снимается кино или а у нас во дворе-2” (спектакль-концерт), “Сердце на ладони” (С.Мухамедов, В.Баграмов), “Ловушка” (Р.Тома), “Это было в махалле”, “Очарован тобой” (Г.Нажидова), “Наша Майсара” (А.Эргашев, А.Васильева), “12 стульев” (И.Ильф,  Е.Петров), “Невеста Хлестакова” (А.Эргашев, С.Каприелов), “Дружба спасёт мир” (Э.Уринов) каби спектаклларда балет </a:t>
                      </a:r>
                      <a:r>
                        <a:rPr lang="uz-Latn-UZ" sz="900" b="0" kern="1200" dirty="0">
                          <a:solidFill>
                            <a:schemeClr val="tx1"/>
                          </a:solidFill>
                          <a:effectLst/>
                          <a:latin typeface="+mn-lt"/>
                          <a:ea typeface="+mn-ea"/>
                          <a:cs typeface="+mn-cs"/>
                        </a:rPr>
                        <a:t>рақсларини </a:t>
                      </a:r>
                      <a:r>
                        <a:rPr lang="uz-Cyrl-UZ" sz="900" b="0" kern="1200" dirty="0">
                          <a:solidFill>
                            <a:schemeClr val="tx1"/>
                          </a:solidFill>
                          <a:effectLst/>
                          <a:latin typeface="+mn-lt"/>
                          <a:ea typeface="+mn-ea"/>
                          <a:cs typeface="+mn-cs"/>
                        </a:rPr>
                        <a:t>саҳналаштириб мутахассислар ва кенг жамоатчилик эътиборига тушган.</a:t>
                      </a:r>
                    </a:p>
                    <a:p>
                      <a:pPr marL="0" marR="0" lvl="0" indent="0" algn="just" defTabSz="914400" rtl="0" eaLnBrk="1" fontAlgn="auto" latinLnBrk="0" hangingPunct="1">
                        <a:lnSpc>
                          <a:spcPct val="100000"/>
                        </a:lnSpc>
                        <a:spcBef>
                          <a:spcPts val="0"/>
                        </a:spcBef>
                        <a:spcAft>
                          <a:spcPts val="0"/>
                        </a:spcAft>
                        <a:buClrTx/>
                        <a:buSzTx/>
                        <a:buFontTx/>
                        <a:buNone/>
                        <a:tabLst/>
                        <a:defRPr/>
                      </a:pPr>
                      <a:r>
                        <a:rPr lang="uz-Cyrl-UZ" sz="900" b="0" kern="1200" dirty="0">
                          <a:solidFill>
                            <a:schemeClr val="tx1"/>
                          </a:solidFill>
                          <a:effectLst/>
                          <a:latin typeface="+mn-lt"/>
                          <a:ea typeface="+mn-ea"/>
                          <a:cs typeface="+mn-cs"/>
                        </a:rPr>
                        <a:t>    Ф.Исаева айни кунларда ўзининг бой тажрибасини театрга энди кириб келаётган ёшларга бажонидил ўргатиб келмоқда. Театр бадиий кенгашининг доимий аъзоси сифатида барча ижодий жараёнларга нисбатан ўз фикр ва мулоҳазалари билан доим ўртоқлашиб, жорий репертуарнинг шаклланишига ўз ҳиссасини қўшиб келмоқда.</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a:effectLst/>
                          <a:latin typeface="+mn-lt"/>
                          <a:ea typeface="Calibri" panose="020F0502020204030204" pitchFamily="34" charset="0"/>
                          <a:cs typeface="Times New Roman" panose="02020603050405020304" pitchFamily="18" charset="0"/>
                        </a:rPr>
                        <a:t>Республикамизда</a:t>
                      </a:r>
                      <a:r>
                        <a:rPr lang="uz-Cyrl-UZ" sz="800" b="0" baseline="0" dirty="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9" name="Рисунок 8">
            <a:extLst>
              <a:ext uri="{FF2B5EF4-FFF2-40B4-BE49-F238E27FC236}">
                <a16:creationId xmlns:a16="http://schemas.microsoft.com/office/drawing/2014/main" id="{125B1261-B792-4D9C-A48E-1341421D9921}"/>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283112" y="1138842"/>
            <a:ext cx="833881" cy="1072133"/>
          </a:xfrm>
          <a:prstGeom prst="rect">
            <a:avLst/>
          </a:prstGeom>
        </p:spPr>
      </p:pic>
    </p:spTree>
    <p:extLst>
      <p:ext uri="{BB962C8B-B14F-4D97-AF65-F5344CB8AC3E}">
        <p14:creationId xmlns:p14="http://schemas.microsoft.com/office/powerpoint/2010/main" val="2953369000"/>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440920641"/>
              </p:ext>
            </p:extLst>
          </p:nvPr>
        </p:nvGraphicFramePr>
        <p:xfrm>
          <a:off x="144489" y="865702"/>
          <a:ext cx="3427547" cy="5935176"/>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7989">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2557">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a:solidFill>
                            <a:schemeClr val="tx1"/>
                          </a:solidFill>
                          <a:latin typeface="+mn-lt"/>
                          <a:ea typeface="+mn-ea"/>
                          <a:cs typeface="+mn-cs"/>
                        </a:rPr>
                        <a:t>МАКСУДОВ</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255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Фируз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255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Саадиевич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2557">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ТОЖИК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255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01.12.1950</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255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5332">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22774">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1 нафар қиз фарзанди бор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5332">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5037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МАКСУДОВ Саади   Максудович</a:t>
                      </a:r>
                    </a:p>
                    <a:p>
                      <a:pPr algn="l">
                        <a:lnSpc>
                          <a:spcPct val="85000"/>
                        </a:lnSpc>
                      </a:pPr>
                      <a:r>
                        <a:rPr lang="uz-Cyrl-UZ" sz="900" b="0" kern="1200" noProof="0" dirty="0">
                          <a:solidFill>
                            <a:schemeClr val="tx1"/>
                          </a:solidFill>
                          <a:latin typeface="+mn-lt"/>
                          <a:ea typeface="+mn-ea"/>
                          <a:cs typeface="Arial" panose="020B0604020202020204" pitchFamily="34" charset="0"/>
                        </a:rPr>
                        <a:t>1913 йил, Тошкент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1990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маълумотга</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эга</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эмас</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40208">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МАКСУДОВА Мухиба Нигматзяновна </a:t>
                      </a:r>
                    </a:p>
                    <a:p>
                      <a:pPr algn="l">
                        <a:lnSpc>
                          <a:spcPct val="85000"/>
                        </a:lnSpc>
                      </a:pPr>
                      <a:r>
                        <a:rPr lang="uz-Cyrl-UZ" sz="900" b="0" kern="1200" noProof="0" dirty="0">
                          <a:solidFill>
                            <a:schemeClr val="tx1"/>
                          </a:solidFill>
                          <a:latin typeface="+mn-lt"/>
                          <a:ea typeface="+mn-ea"/>
                          <a:cs typeface="Arial" panose="020B0604020202020204" pitchFamily="34" charset="0"/>
                        </a:rPr>
                        <a:t>1919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2000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маълумотга</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эга</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эмас</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40208">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МАКСУДОВА Тамара Исламовна </a:t>
                      </a:r>
                    </a:p>
                    <a:p>
                      <a:pPr algn="l">
                        <a:lnSpc>
                          <a:spcPct val="85000"/>
                        </a:lnSpc>
                      </a:pPr>
                      <a:r>
                        <a:rPr lang="uz-Cyrl-UZ" sz="900" b="0" kern="1200" noProof="0" dirty="0">
                          <a:solidFill>
                            <a:schemeClr val="tx1"/>
                          </a:solidFill>
                          <a:latin typeface="+mn-lt"/>
                          <a:ea typeface="+mn-ea"/>
                          <a:cs typeface="Arial" panose="020B0604020202020204" pitchFamily="34" charset="0"/>
                        </a:rPr>
                        <a:t>1950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(1985 йил никох бекор қилинган)</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1601">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36053">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1975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маданият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9624">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a:solidFill>
                            <a:schemeClr val="tx1"/>
                          </a:solidFill>
                          <a:effectLst/>
                          <a:latin typeface="+mn-lt"/>
                          <a:ea typeface="+mn-ea"/>
                          <a:cs typeface="+mn-cs"/>
                        </a:rPr>
                        <a:t>Ҳаваскорлик жамоалари </a:t>
                      </a:r>
                      <a:r>
                        <a:rPr lang="uz-Cyrl-UZ" sz="900" kern="1200" dirty="0">
                          <a:solidFill>
                            <a:schemeClr val="tx1"/>
                          </a:solidFill>
                          <a:effectLst/>
                          <a:latin typeface="+mn-lt"/>
                          <a:ea typeface="+mn-ea"/>
                          <a:cs typeface="+mn-cs"/>
                        </a:rPr>
                        <a:t>рахбари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9181">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9181">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41977">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27136102"/>
              </p:ext>
            </p:extLst>
          </p:nvPr>
        </p:nvGraphicFramePr>
        <p:xfrm>
          <a:off x="3674526" y="865689"/>
          <a:ext cx="3172841" cy="593519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8694">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62696">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2003 йилдан етакчи саҳна устаси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0187">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397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50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859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23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2846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2003 й. - </a:t>
                      </a:r>
                      <a:r>
                        <a:rPr lang="uz-Latn-UZ" sz="900" kern="1200" dirty="0">
                          <a:solidFill>
                            <a:schemeClr val="tx1"/>
                          </a:solidFill>
                          <a:effectLst/>
                          <a:latin typeface="+mn-lt"/>
                          <a:ea typeface="+mn-ea"/>
                          <a:cs typeface="+mn-cs"/>
                        </a:rPr>
                        <a:t>Ўзбекистон</a:t>
                      </a:r>
                      <a:r>
                        <a:rPr lang="uz-Cyrl-UZ" sz="900" kern="1200" dirty="0">
                          <a:solidFill>
                            <a:schemeClr val="tx1"/>
                          </a:solidFill>
                          <a:effectLst/>
                          <a:latin typeface="+mn-lt"/>
                          <a:ea typeface="+mn-ea"/>
                          <a:cs typeface="+mn-cs"/>
                        </a:rPr>
                        <a:t> давлат мусиқали комедия (оперетта) театри етакчи саҳна устаси</a:t>
                      </a:r>
                      <a:endParaRPr lang="ru-RU" sz="900" kern="1200" dirty="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7897">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789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2026 й. “Шох” тиббиёт марказида  даволанган</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596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448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1323">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65018">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1991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0749049"/>
              </p:ext>
            </p:extLst>
          </p:nvPr>
        </p:nvGraphicFramePr>
        <p:xfrm>
          <a:off x="6949857" y="869287"/>
          <a:ext cx="2817247" cy="5946199"/>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25204">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6789">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509669">
                <a:tc>
                  <a:txBody>
                    <a:bodyPr/>
                    <a:lstStyle/>
                    <a:p>
                      <a:pPr algn="just"/>
                      <a:r>
                        <a:rPr lang="uz-Cyrl-UZ" sz="900" b="0" noProof="0" dirty="0">
                          <a:solidFill>
                            <a:schemeClr val="tx1"/>
                          </a:solidFill>
                          <a:latin typeface="+mn-lt"/>
                        </a:rPr>
                        <a:t>    </a:t>
                      </a:r>
                      <a:r>
                        <a:rPr lang="uz-Cyrl-UZ" sz="900" b="0" kern="1200" dirty="0">
                          <a:solidFill>
                            <a:schemeClr val="tx1"/>
                          </a:solidFill>
                          <a:effectLst/>
                          <a:latin typeface="+mn-lt"/>
                          <a:ea typeface="+mn-ea"/>
                          <a:cs typeface="+mn-cs"/>
                        </a:rPr>
                        <a:t>Театрда саҳналаштирилган кўплаб асарларда Ф.Максудов турли характердаги образларни яратиб келмоқда, жумладан: </a:t>
                      </a:r>
                      <a:r>
                        <a:rPr lang="uz-Latn-UZ" sz="900" b="0" kern="1200" dirty="0">
                          <a:solidFill>
                            <a:schemeClr val="tx1"/>
                          </a:solidFill>
                          <a:effectLst/>
                          <a:latin typeface="+mn-lt"/>
                          <a:ea typeface="+mn-ea"/>
                          <a:cs typeface="+mn-cs"/>
                        </a:rPr>
                        <a:t>“</a:t>
                      </a:r>
                      <a:r>
                        <a:rPr lang="uz-Cyrl-UZ" sz="900" b="0" kern="1200" dirty="0">
                          <a:solidFill>
                            <a:schemeClr val="tx1"/>
                          </a:solidFill>
                          <a:effectLst/>
                          <a:latin typeface="+mn-lt"/>
                          <a:ea typeface="+mn-ea"/>
                          <a:cs typeface="+mn-cs"/>
                        </a:rPr>
                        <a:t>Эдмонд Фонтаж</a:t>
                      </a:r>
                      <a:r>
                        <a:rPr lang="uz-Latn-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да </a:t>
                      </a:r>
                      <a:r>
                        <a:rPr lang="uz-Cyrl-UZ" sz="900" b="0" kern="1200" dirty="0">
                          <a:solidFill>
                            <a:schemeClr val="tx1"/>
                          </a:solidFill>
                          <a:effectLst/>
                          <a:latin typeface="+mn-lt"/>
                          <a:ea typeface="+mn-ea"/>
                          <a:cs typeface="+mn-cs"/>
                        </a:rPr>
                        <a:t>Миттича, “</a:t>
                      </a:r>
                      <a:r>
                        <a:rPr lang="uz-Latn-UZ" sz="900" b="0" kern="1200" dirty="0">
                          <a:solidFill>
                            <a:schemeClr val="tx1"/>
                          </a:solidFill>
                          <a:effectLst/>
                          <a:latin typeface="+mn-lt"/>
                          <a:ea typeface="+mn-ea"/>
                          <a:cs typeface="+mn-cs"/>
                        </a:rPr>
                        <a:t>Фиалка </a:t>
                      </a:r>
                      <a:r>
                        <a:rPr lang="uz-Cyrl-UZ" sz="900" b="0" kern="1200" dirty="0">
                          <a:solidFill>
                            <a:schemeClr val="tx1"/>
                          </a:solidFill>
                          <a:effectLst/>
                          <a:latin typeface="+mn-lt"/>
                          <a:ea typeface="+mn-ea"/>
                          <a:cs typeface="+mn-cs"/>
                        </a:rPr>
                        <a:t>Монмартр</a:t>
                      </a:r>
                      <a:r>
                        <a:rPr lang="uz-Latn-UZ" sz="900" b="0" kern="1200" dirty="0">
                          <a:solidFill>
                            <a:schemeClr val="tx1"/>
                          </a:solidFill>
                          <a:effectLst/>
                          <a:latin typeface="+mn-lt"/>
                          <a:ea typeface="+mn-ea"/>
                          <a:cs typeface="+mn-cs"/>
                        </a:rPr>
                        <a:t>а”</a:t>
                      </a:r>
                      <a:r>
                        <a:rPr lang="ru-RU" sz="900" b="0" kern="1200" dirty="0">
                          <a:solidFill>
                            <a:schemeClr val="tx1"/>
                          </a:solidFill>
                          <a:effectLst/>
                          <a:latin typeface="+mn-lt"/>
                          <a:ea typeface="+mn-ea"/>
                          <a:cs typeface="+mn-cs"/>
                        </a:rPr>
                        <a:t>да </a:t>
                      </a:r>
                      <a:r>
                        <a:rPr lang="uz-Cyrl-UZ" sz="900" b="0" kern="1200" dirty="0">
                          <a:solidFill>
                            <a:schemeClr val="tx1"/>
                          </a:solidFill>
                          <a:effectLst/>
                          <a:latin typeface="+mn-lt"/>
                          <a:ea typeface="+mn-ea"/>
                          <a:cs typeface="+mn-cs"/>
                        </a:rPr>
                        <a:t>Фраскатти, “</a:t>
                      </a:r>
                      <a:r>
                        <a:rPr lang="uz-Latn-UZ" sz="900" b="0" kern="1200" dirty="0">
                          <a:solidFill>
                            <a:schemeClr val="tx1"/>
                          </a:solidFill>
                          <a:effectLst/>
                          <a:latin typeface="+mn-lt"/>
                          <a:ea typeface="+mn-ea"/>
                          <a:cs typeface="+mn-cs"/>
                        </a:rPr>
                        <a:t>Не поверишь жена, умру</a:t>
                      </a:r>
                      <a:r>
                        <a:rPr lang="uz-Cyrl-UZ" sz="900" b="0" kern="1200" dirty="0">
                          <a:solidFill>
                            <a:schemeClr val="tx1"/>
                          </a:solidFill>
                          <a:effectLst/>
                          <a:latin typeface="+mn-lt"/>
                          <a:ea typeface="+mn-ea"/>
                          <a:cs typeface="+mn-cs"/>
                        </a:rPr>
                        <a:t>”да Кошкин, “</a:t>
                      </a:r>
                      <a:r>
                        <a:rPr lang="uz-Latn-UZ" sz="900" b="0" kern="1200" dirty="0">
                          <a:solidFill>
                            <a:schemeClr val="tx1"/>
                          </a:solidFill>
                          <a:effectLst/>
                          <a:latin typeface="+mn-lt"/>
                          <a:ea typeface="+mn-ea"/>
                          <a:cs typeface="+mn-cs"/>
                        </a:rPr>
                        <a:t>Летучая м</a:t>
                      </a:r>
                      <a:r>
                        <a:rPr lang="ru-RU" sz="900" b="0" kern="1200" dirty="0">
                          <a:solidFill>
                            <a:schemeClr val="tx1"/>
                          </a:solidFill>
                          <a:effectLst/>
                          <a:latin typeface="+mn-lt"/>
                          <a:ea typeface="+mn-ea"/>
                          <a:cs typeface="+mn-cs"/>
                        </a:rPr>
                        <a:t>ы</a:t>
                      </a:r>
                      <a:r>
                        <a:rPr lang="uz-Latn-UZ" sz="900" b="0" kern="1200" dirty="0">
                          <a:solidFill>
                            <a:schemeClr val="tx1"/>
                          </a:solidFill>
                          <a:effectLst/>
                          <a:latin typeface="+mn-lt"/>
                          <a:ea typeface="+mn-ea"/>
                          <a:cs typeface="+mn-cs"/>
                        </a:rPr>
                        <a:t>шь</a:t>
                      </a:r>
                      <a:r>
                        <a:rPr lang="uz-Cyrl-UZ" sz="900" b="0" kern="1200" dirty="0">
                          <a:solidFill>
                            <a:schemeClr val="tx1"/>
                          </a:solidFill>
                          <a:effectLst/>
                          <a:latin typeface="+mn-lt"/>
                          <a:ea typeface="+mn-ea"/>
                          <a:cs typeface="+mn-cs"/>
                        </a:rPr>
                        <a:t>”да Амадей, “Арабское танго”да В</a:t>
                      </a:r>
                      <a:r>
                        <a:rPr lang="uz-Latn-UZ" sz="900" b="0" kern="1200" dirty="0">
                          <a:solidFill>
                            <a:schemeClr val="tx1"/>
                          </a:solidFill>
                          <a:effectLst/>
                          <a:latin typeface="+mn-lt"/>
                          <a:ea typeface="+mn-ea"/>
                          <a:cs typeface="+mn-cs"/>
                        </a:rPr>
                        <a:t>еду</a:t>
                      </a:r>
                      <a:r>
                        <a:rPr lang="uz-Cyrl-UZ" sz="900" b="0" kern="1200" dirty="0">
                          <a:solidFill>
                            <a:schemeClr val="tx1"/>
                          </a:solidFill>
                          <a:effectLst/>
                          <a:latin typeface="+mn-lt"/>
                          <a:ea typeface="+mn-ea"/>
                          <a:cs typeface="+mn-cs"/>
                        </a:rPr>
                        <a:t>щ</a:t>
                      </a:r>
                      <a:r>
                        <a:rPr lang="uz-Latn-UZ" sz="900" b="0" kern="1200" dirty="0">
                          <a:solidFill>
                            <a:schemeClr val="tx1"/>
                          </a:solidFill>
                          <a:effectLst/>
                          <a:latin typeface="+mn-lt"/>
                          <a:ea typeface="+mn-ea"/>
                          <a:cs typeface="+mn-cs"/>
                        </a:rPr>
                        <a:t>ий</a:t>
                      </a:r>
                      <a:r>
                        <a:rPr lang="uz-Cyrl-UZ" sz="900" b="0" kern="1200" dirty="0">
                          <a:solidFill>
                            <a:schemeClr val="tx1"/>
                          </a:solidFill>
                          <a:effectLst/>
                          <a:latin typeface="+mn-lt"/>
                          <a:ea typeface="+mn-ea"/>
                          <a:cs typeface="+mn-cs"/>
                        </a:rPr>
                        <a:t>, “Цыганский барон”да Корнеро, “Донна Флор и её два мужа”да Мирандон, “Марица”да Пенижик,  “Голландочка”да Фон Блеф, “Прекрасная Елена</a:t>
                      </a:r>
                      <a:r>
                        <a:rPr lang="uz-Latn-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да </a:t>
                      </a:r>
                      <a:r>
                        <a:rPr lang="uz-Cyrl-UZ" sz="900" b="0" kern="1200" dirty="0">
                          <a:solidFill>
                            <a:schemeClr val="tx1"/>
                          </a:solidFill>
                          <a:effectLst/>
                          <a:latin typeface="+mn-lt"/>
                          <a:ea typeface="+mn-ea"/>
                          <a:cs typeface="+mn-cs"/>
                        </a:rPr>
                        <a:t>Эвриклей, </a:t>
                      </a:r>
                      <a:r>
                        <a:rPr lang="uz-Latn-UZ" sz="900" b="0" kern="1200" dirty="0">
                          <a:solidFill>
                            <a:schemeClr val="tx1"/>
                          </a:solidFill>
                          <a:effectLst/>
                          <a:latin typeface="+mn-lt"/>
                          <a:ea typeface="+mn-ea"/>
                          <a:cs typeface="+mn-cs"/>
                        </a:rPr>
                        <a:t>“Красотки к</a:t>
                      </a:r>
                      <a:r>
                        <a:rPr lang="uz-Cyrl-UZ" sz="900" b="0" kern="1200" dirty="0">
                          <a:solidFill>
                            <a:schemeClr val="tx1"/>
                          </a:solidFill>
                          <a:effectLst/>
                          <a:latin typeface="+mn-lt"/>
                          <a:ea typeface="+mn-ea"/>
                          <a:cs typeface="+mn-cs"/>
                        </a:rPr>
                        <a:t>абаре</a:t>
                      </a:r>
                      <a:r>
                        <a:rPr lang="uz-Latn-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да </a:t>
                      </a:r>
                      <a:r>
                        <a:rPr lang="uz-Cyrl-UZ" sz="900" b="0" kern="1200" dirty="0">
                          <a:solidFill>
                            <a:schemeClr val="tx1"/>
                          </a:solidFill>
                          <a:effectLst/>
                          <a:latin typeface="+mn-lt"/>
                          <a:ea typeface="+mn-ea"/>
                          <a:cs typeface="+mn-cs"/>
                        </a:rPr>
                        <a:t>Генерал, </a:t>
                      </a:r>
                      <a:r>
                        <a:rPr lang="uz-Latn-UZ" sz="900" b="0" kern="1200" dirty="0">
                          <a:solidFill>
                            <a:schemeClr val="tx1"/>
                          </a:solidFill>
                          <a:effectLst/>
                          <a:latin typeface="+mn-lt"/>
                          <a:ea typeface="+mn-ea"/>
                          <a:cs typeface="+mn-cs"/>
                        </a:rPr>
                        <a:t>“Принцесса </a:t>
                      </a:r>
                      <a:r>
                        <a:rPr lang="uz-Cyrl-UZ" sz="900" b="0" kern="1200" dirty="0">
                          <a:solidFill>
                            <a:schemeClr val="tx1"/>
                          </a:solidFill>
                          <a:effectLst/>
                          <a:latin typeface="+mn-lt"/>
                          <a:ea typeface="+mn-ea"/>
                          <a:cs typeface="+mn-cs"/>
                        </a:rPr>
                        <a:t>Цирк</a:t>
                      </a:r>
                      <a:r>
                        <a:rPr lang="uz-Latn-UZ" sz="900" b="0" kern="1200" dirty="0">
                          <a:solidFill>
                            <a:schemeClr val="tx1"/>
                          </a:solidFill>
                          <a:effectLst/>
                          <a:latin typeface="+mn-lt"/>
                          <a:ea typeface="+mn-ea"/>
                          <a:cs typeface="+mn-cs"/>
                        </a:rPr>
                        <a:t>а”</a:t>
                      </a:r>
                      <a:r>
                        <a:rPr lang="ru-RU" sz="900" b="0" kern="1200" dirty="0">
                          <a:solidFill>
                            <a:schemeClr val="tx1"/>
                          </a:solidFill>
                          <a:effectLst/>
                          <a:latin typeface="+mn-lt"/>
                          <a:ea typeface="+mn-ea"/>
                          <a:cs typeface="+mn-cs"/>
                        </a:rPr>
                        <a:t>да </a:t>
                      </a:r>
                      <a:r>
                        <a:rPr lang="uz-Cyrl-UZ" sz="900" b="0" kern="1200" dirty="0">
                          <a:solidFill>
                            <a:schemeClr val="tx1"/>
                          </a:solidFill>
                          <a:effectLst/>
                          <a:latin typeface="+mn-lt"/>
                          <a:ea typeface="+mn-ea"/>
                          <a:cs typeface="+mn-cs"/>
                        </a:rPr>
                        <a:t>Пеликан, </a:t>
                      </a:r>
                      <a:r>
                        <a:rPr lang="uz-Latn-UZ" sz="900" b="0" kern="1200" dirty="0">
                          <a:solidFill>
                            <a:schemeClr val="tx1"/>
                          </a:solidFill>
                          <a:effectLst/>
                          <a:latin typeface="+mn-lt"/>
                          <a:ea typeface="+mn-ea"/>
                          <a:cs typeface="+mn-cs"/>
                        </a:rPr>
                        <a:t>“Ограбление в полночь”</a:t>
                      </a:r>
                      <a:r>
                        <a:rPr lang="ru-RU" sz="900" b="0" kern="1200" dirty="0">
                          <a:solidFill>
                            <a:schemeClr val="tx1"/>
                          </a:solidFill>
                          <a:effectLst/>
                          <a:latin typeface="+mn-lt"/>
                          <a:ea typeface="+mn-ea"/>
                          <a:cs typeface="+mn-cs"/>
                        </a:rPr>
                        <a:t>да </a:t>
                      </a:r>
                      <a:r>
                        <a:rPr lang="uz-Cyrl-UZ" sz="900" b="0" kern="1200" dirty="0">
                          <a:solidFill>
                            <a:schemeClr val="tx1"/>
                          </a:solidFill>
                          <a:effectLst/>
                          <a:latin typeface="+mn-lt"/>
                          <a:ea typeface="+mn-ea"/>
                          <a:cs typeface="+mn-cs"/>
                        </a:rPr>
                        <a:t>Милан, </a:t>
                      </a:r>
                      <a:r>
                        <a:rPr lang="uz-Latn-UZ" sz="900" b="0" kern="1200" dirty="0">
                          <a:solidFill>
                            <a:schemeClr val="tx1"/>
                          </a:solidFill>
                          <a:effectLst/>
                          <a:latin typeface="+mn-lt"/>
                          <a:ea typeface="+mn-ea"/>
                          <a:cs typeface="+mn-cs"/>
                        </a:rPr>
                        <a:t>“</a:t>
                      </a:r>
                      <a:r>
                        <a:rPr lang="uz-Cyrl-UZ" sz="900" b="0" kern="1200" dirty="0">
                          <a:solidFill>
                            <a:schemeClr val="tx1"/>
                          </a:solidFill>
                          <a:effectLst/>
                          <a:latin typeface="+mn-lt"/>
                          <a:ea typeface="+mn-ea"/>
                          <a:cs typeface="+mn-cs"/>
                        </a:rPr>
                        <a:t>Х</a:t>
                      </a:r>
                      <a:r>
                        <a:rPr lang="uz-Latn-UZ" sz="900" b="0" kern="1200" dirty="0">
                          <a:solidFill>
                            <a:schemeClr val="tx1"/>
                          </a:solidFill>
                          <a:effectLst/>
                          <a:latin typeface="+mn-lt"/>
                          <a:ea typeface="+mn-ea"/>
                          <a:cs typeface="+mn-cs"/>
                        </a:rPr>
                        <a:t>а</a:t>
                      </a:r>
                      <a:r>
                        <a:rPr lang="uz-Cyrl-UZ" sz="900" b="0" kern="1200" dirty="0">
                          <a:solidFill>
                            <a:schemeClr val="tx1"/>
                          </a:solidFill>
                          <a:effectLst/>
                          <a:latin typeface="+mn-lt"/>
                          <a:ea typeface="+mn-ea"/>
                          <a:cs typeface="+mn-cs"/>
                        </a:rPr>
                        <a:t>н</a:t>
                      </a:r>
                      <a:r>
                        <a:rPr lang="uz-Latn-UZ" sz="900" b="0" kern="1200" dirty="0">
                          <a:solidFill>
                            <a:schemeClr val="tx1"/>
                          </a:solidFill>
                          <a:effectLst/>
                          <a:latin typeface="+mn-lt"/>
                          <a:ea typeface="+mn-ea"/>
                          <a:cs typeface="+mn-cs"/>
                        </a:rPr>
                        <a:t>у</a:t>
                      </a:r>
                      <a:r>
                        <a:rPr lang="uz-Cyrl-UZ" sz="900" b="0" kern="1200" dirty="0">
                          <a:solidFill>
                            <a:schemeClr val="tx1"/>
                          </a:solidFill>
                          <a:effectLst/>
                          <a:latin typeface="+mn-lt"/>
                          <a:ea typeface="+mn-ea"/>
                          <a:cs typeface="+mn-cs"/>
                        </a:rPr>
                        <a:t>ма</a:t>
                      </a:r>
                      <a:r>
                        <a:rPr lang="uz-Latn-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да </a:t>
                      </a:r>
                      <a:r>
                        <a:rPr lang="uz-Cyrl-UZ" sz="900" b="0" kern="1200" dirty="0">
                          <a:solidFill>
                            <a:schemeClr val="tx1"/>
                          </a:solidFill>
                          <a:effectLst/>
                          <a:latin typeface="+mn-lt"/>
                          <a:ea typeface="+mn-ea"/>
                          <a:cs typeface="+mn-cs"/>
                        </a:rPr>
                        <a:t>Акоп,</a:t>
                      </a:r>
                      <a:r>
                        <a:rPr lang="uz-Latn-UZ" sz="900" b="0" kern="1200" dirty="0">
                          <a:solidFill>
                            <a:schemeClr val="tx1"/>
                          </a:solidFill>
                          <a:effectLst/>
                          <a:latin typeface="+mn-lt"/>
                          <a:ea typeface="+mn-ea"/>
                          <a:cs typeface="+mn-cs"/>
                        </a:rPr>
                        <a:t> ”Однажд</a:t>
                      </a:r>
                      <a:r>
                        <a:rPr lang="uz-Cyrl-UZ" sz="900" b="0" kern="1200" dirty="0">
                          <a:solidFill>
                            <a:schemeClr val="tx1"/>
                          </a:solidFill>
                          <a:effectLst/>
                          <a:latin typeface="+mn-lt"/>
                          <a:ea typeface="+mn-ea"/>
                          <a:cs typeface="+mn-cs"/>
                        </a:rPr>
                        <a:t>ы</a:t>
                      </a:r>
                      <a:r>
                        <a:rPr lang="uz-Latn-UZ" sz="900" b="0" kern="1200" dirty="0">
                          <a:solidFill>
                            <a:schemeClr val="tx1"/>
                          </a:solidFill>
                          <a:effectLst/>
                          <a:latin typeface="+mn-lt"/>
                          <a:ea typeface="+mn-ea"/>
                          <a:cs typeface="+mn-cs"/>
                        </a:rPr>
                        <a:t> в </a:t>
                      </a:r>
                      <a:r>
                        <a:rPr lang="uz-Cyrl-UZ" sz="900" b="0" kern="1200" dirty="0">
                          <a:solidFill>
                            <a:schemeClr val="tx1"/>
                          </a:solidFill>
                          <a:effectLst/>
                          <a:latin typeface="+mn-lt"/>
                          <a:ea typeface="+mn-ea"/>
                          <a:cs typeface="+mn-cs"/>
                        </a:rPr>
                        <a:t>Нью-Йорк</a:t>
                      </a:r>
                      <a:r>
                        <a:rPr lang="uz-Latn-UZ" sz="900" b="0" kern="1200" dirty="0">
                          <a:solidFill>
                            <a:schemeClr val="tx1"/>
                          </a:solidFill>
                          <a:effectLst/>
                          <a:latin typeface="+mn-lt"/>
                          <a:ea typeface="+mn-ea"/>
                          <a:cs typeface="+mn-cs"/>
                        </a:rPr>
                        <a:t>е”</a:t>
                      </a:r>
                      <a:r>
                        <a:rPr lang="ru-RU" sz="900" b="0" kern="1200" dirty="0">
                          <a:solidFill>
                            <a:schemeClr val="tx1"/>
                          </a:solidFill>
                          <a:effectLst/>
                          <a:latin typeface="+mn-lt"/>
                          <a:ea typeface="+mn-ea"/>
                          <a:cs typeface="+mn-cs"/>
                        </a:rPr>
                        <a:t>да </a:t>
                      </a:r>
                      <a:r>
                        <a:rPr lang="uz-Cyrl-UZ" sz="900" b="0" kern="1200" dirty="0">
                          <a:solidFill>
                            <a:schemeClr val="tx1"/>
                          </a:solidFill>
                          <a:effectLst/>
                          <a:latin typeface="+mn-lt"/>
                          <a:ea typeface="+mn-ea"/>
                          <a:cs typeface="+mn-cs"/>
                        </a:rPr>
                        <a:t>Лучано Скола, </a:t>
                      </a:r>
                      <a:r>
                        <a:rPr lang="uz-Latn-UZ" sz="900" b="0" kern="1200" dirty="0">
                          <a:solidFill>
                            <a:schemeClr val="tx1"/>
                          </a:solidFill>
                          <a:effectLst/>
                          <a:latin typeface="+mn-lt"/>
                          <a:ea typeface="+mn-ea"/>
                          <a:cs typeface="+mn-cs"/>
                        </a:rPr>
                        <a:t>“Тётя, я женюсь”</a:t>
                      </a:r>
                      <a:r>
                        <a:rPr lang="ru-RU" sz="900" b="0" kern="1200" dirty="0">
                          <a:solidFill>
                            <a:schemeClr val="tx1"/>
                          </a:solidFill>
                          <a:effectLst/>
                          <a:latin typeface="+mn-lt"/>
                          <a:ea typeface="+mn-ea"/>
                          <a:cs typeface="+mn-cs"/>
                        </a:rPr>
                        <a:t>да </a:t>
                      </a:r>
                      <a:r>
                        <a:rPr lang="uz-Cyrl-UZ" sz="900" b="0" kern="1200" dirty="0">
                          <a:solidFill>
                            <a:schemeClr val="tx1"/>
                          </a:solidFill>
                          <a:effectLst/>
                          <a:latin typeface="+mn-lt"/>
                          <a:ea typeface="+mn-ea"/>
                          <a:cs typeface="+mn-cs"/>
                        </a:rPr>
                        <a:t>Сеня Парилка, </a:t>
                      </a:r>
                      <a:r>
                        <a:rPr lang="uz-Latn-UZ" sz="900" b="0" kern="1200" dirty="0">
                          <a:solidFill>
                            <a:schemeClr val="tx1"/>
                          </a:solidFill>
                          <a:effectLst/>
                          <a:latin typeface="+mn-lt"/>
                          <a:ea typeface="+mn-ea"/>
                          <a:cs typeface="+mn-cs"/>
                        </a:rPr>
                        <a:t>“</a:t>
                      </a:r>
                      <a:r>
                        <a:rPr lang="uz-Cyrl-UZ" sz="900" b="0" kern="1200" dirty="0">
                          <a:solidFill>
                            <a:schemeClr val="tx1"/>
                          </a:solidFill>
                          <a:effectLst/>
                          <a:latin typeface="+mn-lt"/>
                          <a:ea typeface="+mn-ea"/>
                          <a:cs typeface="+mn-cs"/>
                        </a:rPr>
                        <a:t>Любовный вертеж</a:t>
                      </a:r>
                      <a:r>
                        <a:rPr lang="uz-Latn-UZ" sz="900" b="0" kern="1200" dirty="0">
                          <a:solidFill>
                            <a:schemeClr val="tx1"/>
                          </a:solidFill>
                          <a:effectLst/>
                          <a:latin typeface="+mn-lt"/>
                          <a:ea typeface="+mn-ea"/>
                          <a:cs typeface="+mn-cs"/>
                        </a:rPr>
                        <a:t>”</a:t>
                      </a:r>
                      <a:r>
                        <a:rPr lang="ru-RU" sz="900" b="0" kern="1200" dirty="0">
                          <a:solidFill>
                            <a:schemeClr val="tx1"/>
                          </a:solidFill>
                          <a:effectLst/>
                          <a:latin typeface="+mn-lt"/>
                          <a:ea typeface="+mn-ea"/>
                          <a:cs typeface="+mn-cs"/>
                        </a:rPr>
                        <a:t>да </a:t>
                      </a:r>
                      <a:r>
                        <a:rPr lang="uz-Cyrl-UZ" sz="900" b="0" kern="1200" dirty="0">
                          <a:solidFill>
                            <a:schemeClr val="tx1"/>
                          </a:solidFill>
                          <a:effectLst/>
                          <a:latin typeface="+mn-lt"/>
                          <a:ea typeface="+mn-ea"/>
                          <a:cs typeface="+mn-cs"/>
                        </a:rPr>
                        <a:t>Прокоп, воевода, “Девичий переполох”да Богданович, “Весёлая вдова”да Кроман, “Биндюжник и король”да Мендель Крик, “Холопка”да Елпидифор, “Украденная невеста”да Рацер, “Актриса”да Пеньков, “Влюблённый странник”да Ҳусайн Хуслия, Амир, “Баядера”да Пимпринетти, “А у нас во дворе...”да Файзулла, “Свадьба Кречинского”, “Страсти-мордасти”да Бек, “Сильва”да князь Воляпюк, “Легендарный шут”да жаллод, “Атилло Самуэли”да “Цилиндр”да Атилло Самуэли, “Сердце на ладони”да Журналист Закиров,, “Здравствуйте, я ваша тётя”да Светлайг ва бошқалар актёрнинг юксак истеъдоди, бой тажриба ва салоҳиятидан далолатдир.</a:t>
                      </a:r>
                      <a:endParaRPr lang="ru-RU" sz="900" b="0" kern="1200" dirty="0">
                        <a:solidFill>
                          <a:schemeClr val="tx1"/>
                        </a:solidFill>
                        <a:effectLst/>
                        <a:latin typeface="+mn-lt"/>
                        <a:ea typeface="+mn-ea"/>
                        <a:cs typeface="+mn-cs"/>
                      </a:endParaRPr>
                    </a:p>
                    <a:p>
                      <a:pPr algn="just"/>
                      <a:r>
                        <a:rPr lang="uz-Cyrl-UZ" sz="900" b="0" kern="1200" dirty="0">
                          <a:solidFill>
                            <a:schemeClr val="tx1"/>
                          </a:solidFill>
                          <a:effectLst/>
                          <a:latin typeface="+mn-lt"/>
                          <a:ea typeface="+mn-ea"/>
                          <a:cs typeface="+mn-cs"/>
                        </a:rPr>
                        <a:t>    Ф.Максудов етакчи саҳна устаси, маҳоратли актёр, ёшларнинг севимли устози бўлиш билан бир қаторда, яхши ижодкор, драматург, сценарийчи ҳамдир. Унинг болажонлар учун ёзган “Шўх жин”, “Янги йил арчасининг бош меҳмони” каби эртак-томошалари бугунги кунда ҳам оперетта театри саҳнасида муваффақият билан намойиш этиб келинмоқда.</a:t>
                      </a:r>
                      <a:endParaRPr lang="ru-RU"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552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19435">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a:effectLst/>
                          <a:latin typeface="+mn-lt"/>
                          <a:ea typeface="Calibri" panose="020F0502020204030204" pitchFamily="34" charset="0"/>
                          <a:cs typeface="Times New Roman" panose="02020603050405020304" pitchFamily="18" charset="0"/>
                        </a:rPr>
                        <a:t>Республикамизда</a:t>
                      </a:r>
                      <a:r>
                        <a:rPr lang="uz-Cyrl-UZ" sz="800" b="0" baseline="0" dirty="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a:extLst>
              <a:ext uri="{FF2B5EF4-FFF2-40B4-BE49-F238E27FC236}">
                <a16:creationId xmlns:a16="http://schemas.microsoft.com/office/drawing/2014/main" id="{0979E3C1-C5DF-4ACF-9C60-6F45FB8E2E61}"/>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216922" y="1137864"/>
            <a:ext cx="970646" cy="1081634"/>
          </a:xfrm>
          <a:prstGeom prst="rect">
            <a:avLst/>
          </a:prstGeom>
        </p:spPr>
      </p:pic>
    </p:spTree>
    <p:extLst>
      <p:ext uri="{BB962C8B-B14F-4D97-AF65-F5344CB8AC3E}">
        <p14:creationId xmlns:p14="http://schemas.microsoft.com/office/powerpoint/2010/main" val="1967255494"/>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436950511"/>
              </p:ext>
            </p:extLst>
          </p:nvPr>
        </p:nvGraphicFramePr>
        <p:xfrm>
          <a:off x="144489" y="865702"/>
          <a:ext cx="3427547" cy="5946429"/>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АВДЮШКИНА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Ирина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Геннадьевна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РУС</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08.05.1954</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Оилали, 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АВДЮШКИН Геннадий  Витальевич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1931 йил, Тошкент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2010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Тошкент</a:t>
                      </a:r>
                      <a:r>
                        <a:rPr lang="ru-RU" sz="900" b="0" kern="1200" baseline="0" noProof="0" dirty="0" smtClean="0">
                          <a:solidFill>
                            <a:schemeClr val="tx1"/>
                          </a:solidFill>
                          <a:latin typeface="+mn-lt"/>
                          <a:ea typeface="+mn-ea"/>
                          <a:cs typeface="Arial" panose="020B0604020202020204" pitchFamily="34" charset="0"/>
                        </a:rPr>
                        <a:t> трактор заводи бош </a:t>
                      </a:r>
                      <a:r>
                        <a:rPr lang="ru-RU" sz="900" b="0" kern="1200" baseline="0" noProof="0" dirty="0" err="1" smtClean="0">
                          <a:solidFill>
                            <a:schemeClr val="tx1"/>
                          </a:solidFill>
                          <a:latin typeface="+mn-lt"/>
                          <a:ea typeface="+mn-ea"/>
                          <a:cs typeface="Arial" panose="020B0604020202020204" pitchFamily="34" charset="0"/>
                        </a:rPr>
                        <a:t>механиги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АВДЮШКИНА Ольга Павловна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1930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2002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Уй</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АРХИПОВ Сергей Владимирович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1979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spcAft>
                          <a:spcPts val="0"/>
                        </a:spcAft>
                      </a:pPr>
                      <a:r>
                        <a:rPr lang="uz-Cyrl-UZ" sz="900" dirty="0">
                          <a:effectLst/>
                          <a:latin typeface="+mn-lt"/>
                          <a:ea typeface="Times New Roman" panose="02020603050405020304" pitchFamily="18" charset="0"/>
                          <a:cs typeface="Times New Roman" panose="02020603050405020304" pitchFamily="18" charset="0"/>
                        </a:rPr>
                        <a:t>Ўзбекистон давлат академик рус драма театри олий тоифали актери</a:t>
                      </a:r>
                      <a:endParaRPr lang="ru-RU" sz="900" dirty="0">
                        <a:effectLst/>
                        <a:latin typeface="+mn-lt"/>
                        <a:ea typeface="Times New Roman" panose="02020603050405020304" pitchFamily="18"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48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1981 й. А.Н.</a:t>
                      </a:r>
                      <a:r>
                        <a:rPr lang="ru-RU" sz="900" kern="1200" dirty="0" smtClean="0">
                          <a:solidFill>
                            <a:schemeClr val="tx1"/>
                          </a:solidFill>
                          <a:effectLst/>
                          <a:latin typeface="+mn-lt"/>
                          <a:ea typeface="+mn-ea"/>
                          <a:cs typeface="+mn-cs"/>
                        </a:rPr>
                        <a:t>Островский </a:t>
                      </a:r>
                      <a:r>
                        <a:rPr lang="ru-RU" sz="900" kern="1200" dirty="0" err="1" smtClean="0">
                          <a:solidFill>
                            <a:schemeClr val="tx1"/>
                          </a:solidFill>
                          <a:effectLst/>
                          <a:latin typeface="+mn-lt"/>
                          <a:ea typeface="+mn-ea"/>
                          <a:cs typeface="+mn-cs"/>
                        </a:rPr>
                        <a:t>номидаги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Тошкент</a:t>
                      </a:r>
                      <a:r>
                        <a:rPr lang="ru-RU" sz="900" kern="1200" dirty="0" smtClean="0">
                          <a:solidFill>
                            <a:schemeClr val="tx1"/>
                          </a:solidFill>
                          <a:effectLst/>
                          <a:latin typeface="+mn-lt"/>
                          <a:ea typeface="+mn-ea"/>
                          <a:cs typeface="+mn-cs"/>
                        </a:rPr>
                        <a:t> театр </a:t>
                      </a:r>
                      <a:r>
                        <a:rPr lang="uz-Cyrl-UZ" sz="900" kern="1200" dirty="0" smtClean="0">
                          <a:solidFill>
                            <a:schemeClr val="tx1"/>
                          </a:solidFill>
                          <a:effectLst/>
                          <a:latin typeface="+mn-lt"/>
                          <a:ea typeface="+mn-ea"/>
                          <a:cs typeface="+mn-cs"/>
                        </a:rPr>
                        <a:t>ва рассомлик </a:t>
                      </a:r>
                      <a:r>
                        <a:rPr lang="ru-RU" sz="900" kern="1200" dirty="0" err="1" smtClean="0">
                          <a:solidFill>
                            <a:schemeClr val="tx1"/>
                          </a:solidFill>
                          <a:effectLst/>
                          <a:latin typeface="+mn-lt"/>
                          <a:ea typeface="+mn-ea"/>
                          <a:cs typeface="+mn-cs"/>
                        </a:rPr>
                        <a:t>санъат</a:t>
                      </a:r>
                      <a:r>
                        <a:rPr lang="uz-Cyrl-UZ" sz="900" kern="1200" dirty="0" smtClean="0">
                          <a:solidFill>
                            <a:schemeClr val="tx1"/>
                          </a:solidFill>
                          <a:effectLst/>
                          <a:latin typeface="+mn-lt"/>
                          <a:ea typeface="+mn-ea"/>
                          <a:cs typeface="+mn-cs"/>
                        </a:rPr>
                        <a:t>и </a:t>
                      </a:r>
                      <a:r>
                        <a:rPr lang="ru-RU" sz="900" kern="1200" dirty="0" err="1" smtClean="0">
                          <a:solidFill>
                            <a:schemeClr val="tx1"/>
                          </a:solidFill>
                          <a:effectLst/>
                          <a:latin typeface="+mn-lt"/>
                          <a:ea typeface="+mn-ea"/>
                          <a:cs typeface="+mn-cs"/>
                        </a:rPr>
                        <a:t>институти</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6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театр ва кино актрисаси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1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809123249"/>
              </p:ext>
            </p:extLst>
          </p:nvPr>
        </p:nvGraphicFramePr>
        <p:xfrm>
          <a:off x="3674526" y="865689"/>
          <a:ext cx="3172841" cy="5961512"/>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761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1174">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kern="1200" dirty="0" smtClean="0">
                          <a:solidFill>
                            <a:schemeClr val="tx1"/>
                          </a:solidFill>
                          <a:effectLst/>
                          <a:latin typeface="+mn-lt"/>
                          <a:ea typeface="+mn-ea"/>
                          <a:cs typeface="+mn-cs"/>
                        </a:rPr>
                        <a:t>Ўзбекистон давлат академик рус драма театри саҳналаштирувчи режиссери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192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685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37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97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Йўқ</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896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811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178013">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2022 й. 2-сонли давлат поликлиникаси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624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576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365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242843">
                <a:tc gridSpan="2">
                  <a:txBody>
                    <a:bodyPr/>
                    <a:lstStyle/>
                    <a:p>
                      <a:r>
                        <a:rPr lang="uz-Cyrl-UZ" sz="900" kern="1200" dirty="0" smtClean="0">
                          <a:solidFill>
                            <a:schemeClr val="tx1"/>
                          </a:solidFill>
                          <a:effectLst/>
                          <a:latin typeface="+mn-lt"/>
                          <a:ea typeface="+mn-ea"/>
                          <a:cs typeface="+mn-cs"/>
                        </a:rPr>
                        <a:t>1994 й. “Ўзбекистон Республикасида хизмат кўрсатган артист” фахрий унвони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881870751"/>
              </p:ext>
            </p:extLst>
          </p:nvPr>
        </p:nvGraphicFramePr>
        <p:xfrm>
          <a:off x="6949857" y="869288"/>
          <a:ext cx="2817247" cy="5955500"/>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61717">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9447">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463618">
                <a:tc>
                  <a:txBody>
                    <a:bodyPr/>
                    <a:lstStyle/>
                    <a:p>
                      <a:pPr algn="just"/>
                      <a:r>
                        <a:rPr lang="uz-Cyrl-UZ"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И.Геннадьеванинг саҳнада яратаётган образлари ёрқинлиги, ҳар томонлама мукаммаллиги билан ажралиб туради.</a:t>
                      </a:r>
                      <a:endParaRPr lang="ru-RU" sz="900" b="0" kern="1200" dirty="0" smtClean="0">
                        <a:solidFill>
                          <a:schemeClr val="tx1"/>
                        </a:solidFill>
                        <a:effectLst/>
                        <a:latin typeface="+mn-lt"/>
                        <a:ea typeface="+mn-ea"/>
                        <a:cs typeface="+mn-cs"/>
                      </a:endParaRPr>
                    </a:p>
                    <a:p>
                      <a:pPr algn="just"/>
                      <a:r>
                        <a:rPr lang="uz-Cyrl-UZ"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Актриса ўз фаолияти давомида турли театр саҳналарида ижод қилиб келган ва театр ихлосмандларини кўплаб эсда қоларли роллар билан қалбини забт этди, жумладан,« Да здравствует королева, Виват!»Р. </a:t>
                      </a:r>
                      <a:r>
                        <a:rPr lang="ru-RU" sz="900" b="0" kern="1200" dirty="0" smtClean="0">
                          <a:solidFill>
                            <a:schemeClr val="tx1"/>
                          </a:solidFill>
                          <a:effectLst/>
                          <a:latin typeface="+mn-lt"/>
                          <a:ea typeface="+mn-ea"/>
                          <a:cs typeface="+mn-cs"/>
                        </a:rPr>
                        <a:t>Болта (Дама), «Фантазии </a:t>
                      </a:r>
                      <a:r>
                        <a:rPr lang="ru-RU" sz="900" b="0" kern="1200" dirty="0" err="1" smtClean="0">
                          <a:solidFill>
                            <a:schemeClr val="tx1"/>
                          </a:solidFill>
                          <a:effectLst/>
                          <a:latin typeface="+mn-lt"/>
                          <a:ea typeface="+mn-ea"/>
                          <a:cs typeface="+mn-cs"/>
                        </a:rPr>
                        <a:t>Фарятьева</a:t>
                      </a:r>
                      <a:r>
                        <a:rPr lang="ru-RU" sz="900" b="0" kern="1200" dirty="0" smtClean="0">
                          <a:solidFill>
                            <a:schemeClr val="tx1"/>
                          </a:solidFill>
                          <a:effectLst/>
                          <a:latin typeface="+mn-lt"/>
                          <a:ea typeface="+mn-ea"/>
                          <a:cs typeface="+mn-cs"/>
                        </a:rPr>
                        <a:t>» А. Соколовой (Люба), «Бунт невесток» С. Ахмада (</a:t>
                      </a:r>
                      <a:r>
                        <a:rPr lang="ru-RU" sz="900" b="0" kern="1200" dirty="0" err="1" smtClean="0">
                          <a:solidFill>
                            <a:schemeClr val="tx1"/>
                          </a:solidFill>
                          <a:effectLst/>
                          <a:latin typeface="+mn-lt"/>
                          <a:ea typeface="+mn-ea"/>
                          <a:cs typeface="+mn-cs"/>
                        </a:rPr>
                        <a:t>Нигора</a:t>
                      </a:r>
                      <a:r>
                        <a:rPr lang="ru-RU" sz="900" b="0" kern="1200" dirty="0" smtClean="0">
                          <a:solidFill>
                            <a:schemeClr val="tx1"/>
                          </a:solidFill>
                          <a:effectLst/>
                          <a:latin typeface="+mn-lt"/>
                          <a:ea typeface="+mn-ea"/>
                          <a:cs typeface="+mn-cs"/>
                        </a:rPr>
                        <a:t>), «Жестокие игры» А. Арбузова (Неля), «Аэропорт» А. </a:t>
                      </a:r>
                      <a:r>
                        <a:rPr lang="ru-RU" sz="900" b="0" kern="1200" dirty="0" err="1" smtClean="0">
                          <a:solidFill>
                            <a:schemeClr val="tx1"/>
                          </a:solidFill>
                          <a:effectLst/>
                          <a:latin typeface="+mn-lt"/>
                          <a:ea typeface="+mn-ea"/>
                          <a:cs typeface="+mn-cs"/>
                        </a:rPr>
                        <a:t>Хейли</a:t>
                      </a:r>
                      <a:r>
                        <a:rPr lang="ru-RU" sz="900" b="0" kern="1200" dirty="0" smtClean="0">
                          <a:solidFill>
                            <a:schemeClr val="tx1"/>
                          </a:solidFill>
                          <a:effectLst/>
                          <a:latin typeface="+mn-lt"/>
                          <a:ea typeface="+mn-ea"/>
                          <a:cs typeface="+mn-cs"/>
                        </a:rPr>
                        <a:t> (Гвен), «Варвары» А. Горького (</a:t>
                      </a:r>
                      <a:r>
                        <a:rPr lang="ru-RU" sz="900" b="0" kern="1200" dirty="0" err="1" smtClean="0">
                          <a:solidFill>
                            <a:schemeClr val="tx1"/>
                          </a:solidFill>
                          <a:effectLst/>
                          <a:latin typeface="+mn-lt"/>
                          <a:ea typeface="+mn-ea"/>
                          <a:cs typeface="+mn-cs"/>
                        </a:rPr>
                        <a:t>Веселика</a:t>
                      </a:r>
                      <a:r>
                        <a:rPr lang="ru-RU" sz="900" b="0" kern="1200" dirty="0" smtClean="0">
                          <a:solidFill>
                            <a:schemeClr val="tx1"/>
                          </a:solidFill>
                          <a:effectLst/>
                          <a:latin typeface="+mn-lt"/>
                          <a:ea typeface="+mn-ea"/>
                          <a:cs typeface="+mn-cs"/>
                        </a:rPr>
                        <a:t>), «Закон вечности» Н. Думбадзе (Женя), « Вишневый сад» А. Чехова (Аня), « Трое» А. Горького ( Олимпиада), « Ночные забавы» В. Мережко ( Ольга), «Чайка» А. Чехова (Маша), « Через год в тот же день» Б. </a:t>
                      </a:r>
                      <a:r>
                        <a:rPr lang="ru-RU" sz="900" b="0" kern="1200" dirty="0" err="1" smtClean="0">
                          <a:solidFill>
                            <a:schemeClr val="tx1"/>
                          </a:solidFill>
                          <a:effectLst/>
                          <a:latin typeface="+mn-lt"/>
                          <a:ea typeface="+mn-ea"/>
                          <a:cs typeface="+mn-cs"/>
                        </a:rPr>
                        <a:t>Слейда</a:t>
                      </a:r>
                      <a:r>
                        <a:rPr lang="ru-RU" sz="900" b="0" kern="1200" dirty="0" smtClean="0">
                          <a:solidFill>
                            <a:schemeClr val="tx1"/>
                          </a:solidFill>
                          <a:effectLst/>
                          <a:latin typeface="+mn-lt"/>
                          <a:ea typeface="+mn-ea"/>
                          <a:cs typeface="+mn-cs"/>
                        </a:rPr>
                        <a:t> (Дорис), «Зойкина квартира» М. Булгакова ( Алла Вадимовна), «Все в саду» Э. </a:t>
                      </a:r>
                      <a:r>
                        <a:rPr lang="ru-RU" sz="900" b="0" kern="1200" dirty="0" err="1" smtClean="0">
                          <a:solidFill>
                            <a:schemeClr val="tx1"/>
                          </a:solidFill>
                          <a:effectLst/>
                          <a:latin typeface="+mn-lt"/>
                          <a:ea typeface="+mn-ea"/>
                          <a:cs typeface="+mn-cs"/>
                        </a:rPr>
                        <a:t>Олби</a:t>
                      </a:r>
                      <a:r>
                        <a:rPr lang="ru-RU" sz="900" b="0" kern="1200" dirty="0" smtClean="0">
                          <a:solidFill>
                            <a:schemeClr val="tx1"/>
                          </a:solidFill>
                          <a:effectLst/>
                          <a:latin typeface="+mn-lt"/>
                          <a:ea typeface="+mn-ea"/>
                          <a:cs typeface="+mn-cs"/>
                        </a:rPr>
                        <a:t> (Джейн), «Двойная игра» Э. Элис и Р. Риз (Филиппа Джейн), «Папа, папа, бедный папа…»  А. </a:t>
                      </a:r>
                      <a:r>
                        <a:rPr lang="ru-RU" sz="900" b="0" kern="1200" dirty="0" err="1" smtClean="0">
                          <a:solidFill>
                            <a:schemeClr val="tx1"/>
                          </a:solidFill>
                          <a:effectLst/>
                          <a:latin typeface="+mn-lt"/>
                          <a:ea typeface="+mn-ea"/>
                          <a:cs typeface="+mn-cs"/>
                        </a:rPr>
                        <a:t>Копита</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Розпетл</a:t>
                      </a:r>
                      <a:r>
                        <a:rPr lang="ru-RU" sz="900" b="0" kern="1200" dirty="0" smtClean="0">
                          <a:solidFill>
                            <a:schemeClr val="tx1"/>
                          </a:solidFill>
                          <a:effectLst/>
                          <a:latin typeface="+mn-lt"/>
                          <a:ea typeface="+mn-ea"/>
                          <a:cs typeface="+mn-cs"/>
                        </a:rPr>
                        <a:t>), «</a:t>
                      </a:r>
                      <a:r>
                        <a:rPr lang="ru-RU" sz="900" b="0" kern="1200" dirty="0" err="1" smtClean="0">
                          <a:solidFill>
                            <a:schemeClr val="tx1"/>
                          </a:solidFill>
                          <a:effectLst/>
                          <a:latin typeface="+mn-lt"/>
                          <a:ea typeface="+mn-ea"/>
                          <a:cs typeface="+mn-cs"/>
                        </a:rPr>
                        <a:t>Ужасныеродители</a:t>
                      </a:r>
                      <a:r>
                        <a:rPr lang="ru-RU" sz="900" b="0" kern="1200" dirty="0" smtClean="0">
                          <a:solidFill>
                            <a:schemeClr val="tx1"/>
                          </a:solidFill>
                          <a:effectLst/>
                          <a:latin typeface="+mn-lt"/>
                          <a:ea typeface="+mn-ea"/>
                          <a:cs typeface="+mn-cs"/>
                        </a:rPr>
                        <a:t>» Ж. Кокто (</a:t>
                      </a:r>
                      <a:r>
                        <a:rPr lang="ru-RU" sz="900" b="0" kern="1200" dirty="0" err="1" smtClean="0">
                          <a:solidFill>
                            <a:schemeClr val="tx1"/>
                          </a:solidFill>
                          <a:effectLst/>
                          <a:latin typeface="+mn-lt"/>
                          <a:ea typeface="+mn-ea"/>
                          <a:cs typeface="+mn-cs"/>
                        </a:rPr>
                        <a:t>Леони</a:t>
                      </a:r>
                      <a:r>
                        <a:rPr lang="ru-RU" sz="900" b="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ва бошқалар.</a:t>
                      </a:r>
                      <a:r>
                        <a:rPr lang="ru-RU"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Серқирра ижодкор охирги йилларда ушбу театр саҳнасида ўзини режиссёр сифатида ҳам намоён қилди ва бу театр мухлислари томонидан илиқ кутиб олинди. Сўнгги йилларда яратилаётган спектакллар айнан режиссёрнинг неча йиллик тажриба эгаси эканлигидан далолатдир.Булардан: «Времени вагон» С. Носова, «Эзоп» Г. Фигейредо,  «Крошка» Ж. Летраза, «Потерянная душа» Л. Хеллман, «Страсти по-испански» С. Алешина, «Волки и овцы» А.Н.Островский шулар жумласидан.</a:t>
                      </a:r>
                    </a:p>
                    <a:p>
                      <a:pPr algn="just"/>
                      <a:r>
                        <a:rPr lang="uz-Cyrl-UZ"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Театр-режиссёр учун ижод намунаси, оиласи ҳисобланади. </a:t>
                      </a:r>
                      <a:endParaRPr lang="ru-RU" sz="900" b="0" kern="1200" dirty="0" smtClean="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62601">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96763">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smtClean="0">
                          <a:effectLst/>
                          <a:latin typeface="+mn-lt"/>
                          <a:ea typeface="Calibri" panose="020F0502020204030204" pitchFamily="34" charset="0"/>
                          <a:cs typeface="Times New Roman" panose="02020603050405020304" pitchFamily="18" charset="0"/>
                        </a:rPr>
                        <a:t>Республикамизда</a:t>
                      </a:r>
                      <a:r>
                        <a:rPr lang="uz-Cyrl-UZ" sz="8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55491" y="1126960"/>
            <a:ext cx="755269" cy="1088848"/>
          </a:xfrm>
          <a:prstGeom prst="rect">
            <a:avLst/>
          </a:prstGeom>
        </p:spPr>
      </p:pic>
    </p:spTree>
    <p:extLst>
      <p:ext uri="{BB962C8B-B14F-4D97-AF65-F5344CB8AC3E}">
        <p14:creationId xmlns:p14="http://schemas.microsoft.com/office/powerpoint/2010/main" val="1439597198"/>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4294903908"/>
              </p:ext>
            </p:extLst>
          </p:nvPr>
        </p:nvGraphicFramePr>
        <p:xfrm>
          <a:off x="144489" y="865703"/>
          <a:ext cx="3500412" cy="5894062"/>
        </p:xfrm>
        <a:graphic>
          <a:graphicData uri="http://schemas.openxmlformats.org/drawingml/2006/table">
            <a:tbl>
              <a:tblPr firstRow="1" bandRow="1">
                <a:tableStyleId>{C083E6E3-FA7D-4D7B-A595-EF9225AFEA82}</a:tableStyleId>
              </a:tblPr>
              <a:tblGrid>
                <a:gridCol w="607843">
                  <a:extLst>
                    <a:ext uri="{9D8B030D-6E8A-4147-A177-3AD203B41FA5}">
                      <a16:colId xmlns:a16="http://schemas.microsoft.com/office/drawing/2014/main" val="2288412290"/>
                    </a:ext>
                  </a:extLst>
                </a:gridCol>
                <a:gridCol w="514248">
                  <a:extLst>
                    <a:ext uri="{9D8B030D-6E8A-4147-A177-3AD203B41FA5}">
                      <a16:colId xmlns:a16="http://schemas.microsoft.com/office/drawing/2014/main" val="1678982439"/>
                    </a:ext>
                  </a:extLst>
                </a:gridCol>
                <a:gridCol w="156762">
                  <a:extLst>
                    <a:ext uri="{9D8B030D-6E8A-4147-A177-3AD203B41FA5}">
                      <a16:colId xmlns:a16="http://schemas.microsoft.com/office/drawing/2014/main" val="2721661767"/>
                    </a:ext>
                  </a:extLst>
                </a:gridCol>
                <a:gridCol w="929563">
                  <a:extLst>
                    <a:ext uri="{9D8B030D-6E8A-4147-A177-3AD203B41FA5}">
                      <a16:colId xmlns:a16="http://schemas.microsoft.com/office/drawing/2014/main" val="546773760"/>
                    </a:ext>
                  </a:extLst>
                </a:gridCol>
                <a:gridCol w="1291996">
                  <a:extLst>
                    <a:ext uri="{9D8B030D-6E8A-4147-A177-3AD203B41FA5}">
                      <a16:colId xmlns:a16="http://schemas.microsoft.com/office/drawing/2014/main" val="546443978"/>
                    </a:ext>
                  </a:extLst>
                </a:gridCol>
              </a:tblGrid>
              <a:tr h="235659">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1536">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ВАСИЛЬЕВ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153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Олег</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153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Анатольевич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1536">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РУС</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153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03.03.1956</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5651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uz-Cyrl-UZ" sz="900" kern="1200" smtClean="0">
                          <a:solidFill>
                            <a:schemeClr val="tx1"/>
                          </a:solidFill>
                          <a:effectLst/>
                          <a:latin typeface="+mn-lt"/>
                          <a:ea typeface="+mn-ea"/>
                          <a:cs typeface="+mn-cs"/>
                        </a:rPr>
                        <a:t>Тошкент шаҳри</a:t>
                      </a:r>
                      <a:endParaRPr lang="ru-RU" sz="90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3631">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98425">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3631">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48341">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ВАСИЛЬЕВ</a:t>
                      </a:r>
                      <a:r>
                        <a:rPr lang="uz-Cyrl-UZ" sz="900" b="1" kern="1200" baseline="0" noProof="0" dirty="0" smtClean="0">
                          <a:solidFill>
                            <a:schemeClr val="tx1"/>
                          </a:solidFill>
                          <a:latin typeface="+mn-lt"/>
                          <a:ea typeface="+mn-ea"/>
                          <a:cs typeface="Arial" panose="020B0604020202020204" pitchFamily="34" charset="0"/>
                        </a:rPr>
                        <a:t> Анатолий Григорье</a:t>
                      </a:r>
                      <a:r>
                        <a:rPr lang="uz-Cyrl-UZ" sz="900" b="1" kern="1200" noProof="0" dirty="0" smtClean="0">
                          <a:solidFill>
                            <a:schemeClr val="tx1"/>
                          </a:solidFill>
                          <a:latin typeface="+mn-lt"/>
                          <a:ea typeface="+mn-ea"/>
                          <a:cs typeface="Arial" panose="020B0604020202020204" pitchFamily="34" charset="0"/>
                        </a:rPr>
                        <a:t>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1938 йил, Россия Федерацияси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2010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(“Автодор” корхонаси ишчиси)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79209">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dirty="0" smtClean="0">
                          <a:solidFill>
                            <a:schemeClr val="tx1"/>
                          </a:solidFill>
                          <a:effectLst/>
                          <a:latin typeface="+mn-lt"/>
                          <a:ea typeface="+mn-ea"/>
                          <a:cs typeface="+mn-cs"/>
                        </a:rPr>
                        <a:t>ВАСИЛЬЕВА Любовь Николаевна </a:t>
                      </a:r>
                      <a:r>
                        <a:rPr lang="uz-Cyrl-UZ" sz="900" b="0" kern="1200" noProof="0" dirty="0" smtClean="0">
                          <a:solidFill>
                            <a:schemeClr val="tx1"/>
                          </a:solidFill>
                          <a:latin typeface="+mn-lt"/>
                          <a:ea typeface="+mn-ea"/>
                          <a:cs typeface="Arial" panose="020B0604020202020204" pitchFamily="34" charset="0"/>
                        </a:rPr>
                        <a:t>1929 йил, Россия</a:t>
                      </a:r>
                      <a:r>
                        <a:rPr lang="uz-Cyrl-UZ" sz="900" b="0" kern="1200" baseline="0" noProof="0" dirty="0" smtClean="0">
                          <a:solidFill>
                            <a:schemeClr val="tx1"/>
                          </a:solidFill>
                          <a:latin typeface="+mn-lt"/>
                          <a:ea typeface="+mn-ea"/>
                          <a:cs typeface="Arial" panose="020B0604020202020204" pitchFamily="34" charset="0"/>
                        </a:rPr>
                        <a:t> Федерацияси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2005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(“Автодор” кор</a:t>
                      </a:r>
                    </a:p>
                    <a:p>
                      <a:r>
                        <a:rPr lang="uz-Cyrl-UZ" sz="900" kern="1200" dirty="0" smtClean="0">
                          <a:solidFill>
                            <a:schemeClr val="tx1"/>
                          </a:solidFill>
                          <a:effectLst/>
                          <a:latin typeface="+mn-lt"/>
                          <a:ea typeface="+mn-ea"/>
                          <a:cs typeface="+mn-cs"/>
                        </a:rPr>
                        <a:t>хонаси ишчиси)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33332">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dirty="0" smtClean="0">
                          <a:solidFill>
                            <a:schemeClr val="tx1"/>
                          </a:solidFill>
                          <a:effectLst/>
                          <a:latin typeface="+mn-lt"/>
                          <a:ea typeface="+mn-ea"/>
                          <a:cs typeface="+mn-cs"/>
                        </a:rPr>
                        <a:t>ЛЮБОВЕНКО Валентина Дмитриевна </a:t>
                      </a:r>
                      <a:r>
                        <a:rPr lang="uz-Cyrl-UZ" sz="900" b="0" kern="1200" noProof="0" dirty="0" smtClean="0">
                          <a:solidFill>
                            <a:schemeClr val="tx1"/>
                          </a:solidFill>
                          <a:latin typeface="+mn-lt"/>
                          <a:ea typeface="+mn-ea"/>
                          <a:cs typeface="Arial" panose="020B0604020202020204" pitchFamily="34" charset="0"/>
                        </a:rPr>
                        <a:t>1956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mn-cs"/>
                        </a:rPr>
                        <a:t>Нафақада.</a:t>
                      </a:r>
                      <a:r>
                        <a:rPr lang="uz-Cyrl-UZ" sz="900" b="0" kern="1200" baseline="0" noProof="0" dirty="0" smtClean="0">
                          <a:solidFill>
                            <a:schemeClr val="tx1"/>
                          </a:solidFill>
                          <a:latin typeface="+mn-lt"/>
                          <a:ea typeface="+mn-ea"/>
                          <a:cs typeface="+mn-cs"/>
                        </a:rPr>
                        <a:t> </a:t>
                      </a:r>
                      <a:r>
                        <a:rPr lang="uz-Cyrl-UZ" sz="900" b="0" kern="1200" noProof="0" dirty="0" smtClean="0">
                          <a:solidFill>
                            <a:schemeClr val="tx1"/>
                          </a:solidFill>
                          <a:latin typeface="+mn-lt"/>
                          <a:ea typeface="+mn-ea"/>
                          <a:cs typeface="+mn-cs"/>
                        </a:rPr>
                        <a:t> </a:t>
                      </a:r>
                      <a:r>
                        <a:rPr lang="uz-Cyrl-UZ" sz="900" kern="1200" dirty="0" smtClean="0">
                          <a:solidFill>
                            <a:schemeClr val="tx1"/>
                          </a:solidFill>
                          <a:effectLst/>
                          <a:latin typeface="+mn-lt"/>
                          <a:ea typeface="+mn-ea"/>
                          <a:cs typeface="+mn-cs"/>
                        </a:rPr>
                        <a:t>“INFO ZONE” МЧЖ маълумотлар базаси таҳлилчиси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1081">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99420">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1984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рассомлик</a:t>
                      </a:r>
                      <a:r>
                        <a:rPr lang="ru-RU" sz="900" b="0" kern="1200" baseline="0" noProof="0" dirty="0" smtClean="0">
                          <a:solidFill>
                            <a:schemeClr val="tx1"/>
                          </a:solidFill>
                          <a:latin typeface="+mn-lt"/>
                          <a:ea typeface="+mn-ea"/>
                          <a:cs typeface="+mn-cs"/>
                        </a:rPr>
                        <a:t> </a:t>
                      </a:r>
                      <a:r>
                        <a:rPr lang="ru-RU" sz="900" b="0" kern="1200" baseline="0" noProof="0" dirty="0" err="1" smtClean="0">
                          <a:solidFill>
                            <a:schemeClr val="tx1"/>
                          </a:solidFill>
                          <a:latin typeface="+mn-lt"/>
                          <a:ea typeface="+mn-ea"/>
                          <a:cs typeface="+mn-cs"/>
                        </a:rPr>
                        <a:t>санъати</a:t>
                      </a:r>
                      <a:r>
                        <a:rPr lang="ru-RU" sz="900" b="0" kern="1200" baseline="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63520">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Театр ва кино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3312">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0798">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13097">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054164556"/>
              </p:ext>
            </p:extLst>
          </p:nvPr>
        </p:nvGraphicFramePr>
        <p:xfrm>
          <a:off x="3674526" y="865690"/>
          <a:ext cx="3172841" cy="5874368"/>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5120">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8979">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kern="1200" dirty="0" smtClean="0">
                          <a:solidFill>
                            <a:schemeClr val="tx1"/>
                          </a:solidFill>
                          <a:effectLst/>
                          <a:latin typeface="+mn-lt"/>
                          <a:ea typeface="+mn-ea"/>
                          <a:cs typeface="+mn-cs"/>
                        </a:rPr>
                        <a:t>Ўзбекистон давлат</a:t>
                      </a:r>
                      <a:r>
                        <a:rPr lang="uz-Cyrl-UZ" sz="900" kern="1200" baseline="0" dirty="0" smtClean="0">
                          <a:solidFill>
                            <a:schemeClr val="tx1"/>
                          </a:solidFill>
                          <a:effectLst/>
                          <a:latin typeface="+mn-lt"/>
                          <a:ea typeface="+mn-ea"/>
                          <a:cs typeface="+mn-cs"/>
                        </a:rPr>
                        <a:t> академик рус драма театри директори </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7521">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167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solidFill>
                            <a:schemeClr val="tx1"/>
                          </a:solidFill>
                          <a:effectLst/>
                          <a:latin typeface="+mn-lt"/>
                          <a:ea typeface="Calibri" panose="020F0502020204030204" pitchFamily="34" charset="0"/>
                          <a:cs typeface="Times New Roman" panose="02020603050405020304" pitchFamily="18" charset="0"/>
                        </a:rPr>
                        <a:t>50 </a:t>
                      </a:r>
                      <a:r>
                        <a:rPr lang="uz-Cyrl-UZ" sz="900" b="0" noProof="0" dirty="0">
                          <a:solidFill>
                            <a:schemeClr val="tx1"/>
                          </a:solidFill>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645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10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1894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noProof="0" dirty="0" smtClean="0">
                          <a:effectLst/>
                          <a:latin typeface="+mn-lt"/>
                          <a:ea typeface="Calibri" panose="020F0502020204030204" pitchFamily="34" charset="0"/>
                          <a:cs typeface="Times New Roman" panose="02020603050405020304" pitchFamily="18" charset="0"/>
                        </a:rPr>
                        <a:t>2016-</a:t>
                      </a:r>
                      <a:r>
                        <a:rPr lang="uz-Cyrl-UZ" sz="900" noProof="0" dirty="0" smtClean="0">
                          <a:effectLst/>
                          <a:latin typeface="+mn-lt"/>
                          <a:ea typeface="Calibri" panose="020F0502020204030204" pitchFamily="34" charset="0"/>
                          <a:cs typeface="Times New Roman" panose="02020603050405020304" pitchFamily="18" charset="0"/>
                        </a:rPr>
                        <a:t> х.в. йй. – Ўзбекистон</a:t>
                      </a:r>
                      <a:r>
                        <a:rPr lang="uz-Cyrl-UZ" sz="900" baseline="0" noProof="0" dirty="0" smtClean="0">
                          <a:effectLst/>
                          <a:latin typeface="+mn-lt"/>
                          <a:ea typeface="Calibri" panose="020F0502020204030204" pitchFamily="34" charset="0"/>
                          <a:cs typeface="Times New Roman" panose="02020603050405020304" pitchFamily="18" charset="0"/>
                        </a:rPr>
                        <a:t> давлат академик рус драма театри директори</a:t>
                      </a:r>
                      <a:endParaRPr lang="uz-Cyrl-UZ" sz="900" noProof="0" dirty="0" smtClean="0">
                        <a:effectLst/>
                        <a:latin typeface="+mn-lt"/>
                        <a:ea typeface="Calibri" panose="020F0502020204030204" pitchFamily="34" charset="0"/>
                        <a:cs typeface="Times New Roman" panose="02020603050405020304" pitchFamily="18" charset="0"/>
                      </a:endParaRPr>
                    </a:p>
                    <a:p>
                      <a:pPr algn="l">
                        <a:lnSpc>
                          <a:spcPct val="107000"/>
                        </a:lnSpc>
                        <a:spcAft>
                          <a:spcPts val="0"/>
                        </a:spcAft>
                      </a:pP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474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474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2026 й. </a:t>
                      </a: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2-</a:t>
                      </a:r>
                      <a:r>
                        <a:rPr lang="ru-RU" sz="900" kern="1200" noProof="0" dirty="0" err="1" smtClean="0">
                          <a:solidFill>
                            <a:schemeClr val="tx1"/>
                          </a:solidFill>
                          <a:effectLst/>
                          <a:latin typeface="+mn-lt"/>
                          <a:ea typeface="Calibri" panose="020F0502020204030204" pitchFamily="34" charset="0"/>
                          <a:cs typeface="Times New Roman" panose="02020603050405020304" pitchFamily="18" charset="0"/>
                        </a:rPr>
                        <a:t>сонли</a:t>
                      </a:r>
                      <a:r>
                        <a:rPr lang="ru-RU" sz="900" kern="1200" baseline="0" noProof="0" dirty="0" smtClean="0">
                          <a:solidFill>
                            <a:schemeClr val="tx1"/>
                          </a:solidFill>
                          <a:effectLst/>
                          <a:latin typeface="+mn-lt"/>
                          <a:ea typeface="Calibri" panose="020F0502020204030204" pitchFamily="34" charset="0"/>
                          <a:cs typeface="Times New Roman" panose="02020603050405020304" pitchFamily="18" charset="0"/>
                        </a:rPr>
                        <a:t> </a:t>
                      </a:r>
                      <a:r>
                        <a:rPr lang="ru-RU" sz="900" kern="1200" baseline="0" noProof="0" dirty="0" err="1" smtClean="0">
                          <a:solidFill>
                            <a:schemeClr val="tx1"/>
                          </a:solidFill>
                          <a:effectLst/>
                          <a:latin typeface="+mn-lt"/>
                          <a:ea typeface="Calibri" panose="020F0502020204030204" pitchFamily="34" charset="0"/>
                          <a:cs typeface="Times New Roman" panose="02020603050405020304" pitchFamily="18" charset="0"/>
                        </a:rPr>
                        <a:t>давлат</a:t>
                      </a:r>
                      <a:r>
                        <a:rPr lang="ru-RU" sz="900" kern="1200" baseline="0" noProof="0" dirty="0" smtClean="0">
                          <a:solidFill>
                            <a:schemeClr val="tx1"/>
                          </a:solidFill>
                          <a:effectLst/>
                          <a:latin typeface="+mn-lt"/>
                          <a:ea typeface="Calibri" panose="020F0502020204030204" pitchFamily="34" charset="0"/>
                          <a:cs typeface="Times New Roman" panose="02020603050405020304" pitchFamily="18" charset="0"/>
                        </a:rPr>
                        <a:t> </a:t>
                      </a:r>
                      <a:r>
                        <a:rPr lang="uz-Cyrl-UZ" sz="900" kern="1200" baseline="0" noProof="0" dirty="0" smtClean="0">
                          <a:solidFill>
                            <a:schemeClr val="tx1"/>
                          </a:solidFill>
                          <a:effectLst/>
                          <a:latin typeface="+mn-lt"/>
                          <a:ea typeface="Calibri" panose="020F0502020204030204" pitchFamily="34" charset="0"/>
                          <a:cs typeface="Times New Roman" panose="02020603050405020304" pitchFamily="18" charset="0"/>
                        </a:rPr>
                        <a:t>поликлиникаси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2828">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Ха</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167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885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42831">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2011 й. Ўзбекистонда хизмат кўрстаган артист</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6"/>
          <a:ext cx="2817247" cy="5870771"/>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marL="0" marR="0" indent="0" algn="just" defTabSz="914400" rtl="0" eaLnBrk="1" fontAlgn="auto" latinLnBrk="0" hangingPunct="1">
                        <a:lnSpc>
                          <a:spcPct val="85000"/>
                        </a:lnSpc>
                        <a:spcBef>
                          <a:spcPts val="0"/>
                        </a:spcBef>
                        <a:spcAft>
                          <a:spcPts val="0"/>
                        </a:spcAft>
                        <a:buClrTx/>
                        <a:buSzTx/>
                        <a:buFontTx/>
                        <a:buNone/>
                        <a:tabLst/>
                        <a:defRPr/>
                      </a:pPr>
                      <a:r>
                        <a:rPr lang="uz-Cyrl-UZ" sz="900" b="0" noProof="0" dirty="0" smtClean="0">
                          <a:solidFill>
                            <a:schemeClr val="tx1"/>
                          </a:solidFill>
                          <a:latin typeface="+mn-lt"/>
                        </a:rPr>
                        <a:t>        </a:t>
                      </a:r>
                      <a:r>
                        <a:rPr lang="uz-Cyrl-UZ" sz="900" kern="1200" dirty="0" smtClean="0">
                          <a:solidFill>
                            <a:schemeClr val="tx1"/>
                          </a:solidFill>
                          <a:effectLst/>
                          <a:latin typeface="+mn-lt"/>
                          <a:ea typeface="+mn-ea"/>
                          <a:cs typeface="+mn-cs"/>
                        </a:rPr>
                        <a:t>О.Васильев  истеъдодли, кенг имкониятли, драматик характердаги актёр бўлиб,ижодий фаолияти давомида рус драма театри саҳнасида 40 дан ортиқ асарларда турли характердаги бош ва етакчи қаҳрамонлар образларини маҳорат билан яратиб, томошабинлар ва театр санъати танқидчиларининг эътиборини қозонди. Хусусан, Э.Олбининг “Кто боится Вирджинии Вульф” спектаклида – Ник, А.Галиннинг “Звезды на утреннем небе” асарида  Николай, Эдуардо де-Филиппонинг “Великая магия” спектаклида Женнарино, С.Лобозеровнинг “Провинциальный анекдот” спектаклида Тимофей, Э.Ионесконинг “Лысая певица” спектаклида жаноб Мартен, Жан Батист Мольер асари бўйича саҳналаштирилган “Жорж Данден” спектаклида Колен, Т.Зулфиқоровнинг “Первая любовь Насреддина” спектаклида Мустафо бобо, Насриддиннинг отаси, ҳарам оғаси, М.Булгаковнинг “Зойкина квартира” спектаклида  уй бошқарувчи, Н.Островскийнинг “Свои люди сочтемся” спектаклида Самсон Силыч Большов, П.Бомарше асари бўйича саҳналаштирилган “Фигаро-эскиз” спектаклда  Антонио, А.П.Чехов асари бўйича саҳнага қўйилган “Коломенковый рай” спектаклида  Гаев, В.Шукшиннинг “До третьих петухов” ҳикояси асосида саҳналаштирилган спектаклда Иван, Ж.Пьер Абунинг “Семейный ужин” спектаклида  Жан сингари  бир-бирига ўхшамаган образлар яратди. </a:t>
                      </a:r>
                      <a:endParaRPr lang="ru-RU" sz="900" kern="1200" dirty="0" smtClean="0">
                        <a:solidFill>
                          <a:schemeClr val="tx1"/>
                        </a:solidFill>
                        <a:effectLst/>
                        <a:latin typeface="+mn-lt"/>
                        <a:ea typeface="+mn-ea"/>
                        <a:cs typeface="+mn-cs"/>
                      </a:endParaRPr>
                    </a:p>
                    <a:p>
                      <a:pPr marL="0" marR="0" indent="0" algn="just" defTabSz="914400" rtl="0" eaLnBrk="1" fontAlgn="auto" latinLnBrk="0" hangingPunct="1">
                        <a:lnSpc>
                          <a:spcPct val="85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       О.Васильев кўпқиррали, диапазони кенг санъаткор. Унинг юксак истеъдоди ва иқтидори саҳнада драматик қаҳрамон ёки комик образ ёхуд трагифарс бўладими, томошабин кўнглидан жой олган. Саҳнада яратаётган образлари О.Васильевнинг театр санъатига садоқати ва муҳаббатининг нақадар ческиз эканини кўрсатади.</a:t>
                      </a:r>
                      <a:endParaRPr lang="ru-RU" sz="900" kern="1200" dirty="0" smtClean="0">
                        <a:solidFill>
                          <a:schemeClr val="tx1"/>
                        </a:solidFill>
                        <a:effectLst/>
                        <a:latin typeface="+mn-lt"/>
                        <a:ea typeface="+mn-ea"/>
                        <a:cs typeface="+mn-cs"/>
                      </a:endParaRPr>
                    </a:p>
                    <a:p>
                      <a:pPr algn="just">
                        <a:lnSpc>
                          <a:spcPct val="85000"/>
                        </a:lnSpc>
                      </a:pP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smtClean="0">
                          <a:effectLst/>
                          <a:latin typeface="+mn-lt"/>
                          <a:ea typeface="Calibri" panose="020F0502020204030204" pitchFamily="34" charset="0"/>
                          <a:cs typeface="Times New Roman" panose="02020603050405020304" pitchFamily="18" charset="0"/>
                        </a:rPr>
                        <a:t>Республикамизда</a:t>
                      </a:r>
                      <a:r>
                        <a:rPr lang="uz-Cyrl-UZ" sz="800" b="0" baseline="0" dirty="0" smtClean="0">
                          <a:effectLst/>
                          <a:latin typeface="+mn-lt"/>
                          <a:ea typeface="Calibri" panose="020F0502020204030204" pitchFamily="34" charset="0"/>
                          <a:cs typeface="Times New Roman" panose="02020603050405020304" pitchFamily="18" charset="0"/>
                        </a:rPr>
                        <a:t> ўтказилиб келаётган барча оммавий маданий тадбирлар ва давлат тадбирлари, шунингдек, давлат қабулларида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descr="Васильев О А103"/>
          <p:cNvPicPr/>
          <p:nvPr/>
        </p:nvPicPr>
        <p:blipFill>
          <a:blip r:embed="rId2" cstate="print"/>
          <a:stretch>
            <a:fillRect/>
          </a:stretch>
        </p:blipFill>
        <p:spPr bwMode="auto">
          <a:xfrm>
            <a:off x="305223" y="1129945"/>
            <a:ext cx="880110" cy="1060805"/>
          </a:xfrm>
          <a:prstGeom prst="rect">
            <a:avLst/>
          </a:prstGeom>
          <a:solidFill>
            <a:schemeClr val="bg1"/>
          </a:solidFill>
          <a:ln w="9525">
            <a:noFill/>
            <a:miter lim="800000"/>
            <a:headEnd/>
            <a:tailEnd/>
          </a:ln>
          <a:scene3d>
            <a:camera prst="orthographicFront"/>
            <a:lightRig rig="threePt" dir="t"/>
          </a:scene3d>
          <a:sp3d contourW="12700">
            <a:contourClr>
              <a:schemeClr val="bg1"/>
            </a:contourClr>
          </a:sp3d>
        </p:spPr>
      </p:pic>
    </p:spTree>
    <p:extLst>
      <p:ext uri="{BB962C8B-B14F-4D97-AF65-F5344CB8AC3E}">
        <p14:creationId xmlns:p14="http://schemas.microsoft.com/office/powerpoint/2010/main" val="216643789"/>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934812"/>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ГАЛАХОВ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Олег</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Викторович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РУС</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09.06.1967</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Белоруссия республикаси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Турмуш</a:t>
                      </a:r>
                      <a:r>
                        <a:rPr lang="uz-Cyrl-UZ" sz="900" b="0" kern="1200" baseline="0" noProof="0" dirty="0" smtClean="0">
                          <a:solidFill>
                            <a:schemeClr val="tx1"/>
                          </a:solidFill>
                          <a:latin typeface="+mn-lt"/>
                          <a:ea typeface="+mn-ea"/>
                          <a:cs typeface="+mn-cs"/>
                        </a:rPr>
                        <a:t> қурмаган,</a:t>
                      </a:r>
                      <a:r>
                        <a:rPr lang="uz-Cyrl-UZ" sz="900" b="0" kern="1200" noProof="0" dirty="0" smtClean="0">
                          <a:solidFill>
                            <a:schemeClr val="tx1"/>
                          </a:solidFill>
                          <a:latin typeface="+mn-lt"/>
                          <a:ea typeface="+mn-ea"/>
                          <a:cs typeface="+mn-cs"/>
                        </a:rPr>
                        <a:t>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1" kern="1200" noProof="0" dirty="0" smtClean="0">
                          <a:solidFill>
                            <a:schemeClr val="tx1"/>
                          </a:solidFill>
                          <a:latin typeface="+mn-lt"/>
                          <a:ea typeface="+mn-ea"/>
                          <a:cs typeface="Arial" panose="020B0604020202020204" pitchFamily="34" charset="0"/>
                        </a:rPr>
                        <a:t>ГАЛАХОВ Виктор</a:t>
                      </a:r>
                    </a:p>
                    <a:p>
                      <a:pPr algn="l">
                        <a:lnSpc>
                          <a:spcPct val="85000"/>
                        </a:lnSpc>
                      </a:pPr>
                      <a:r>
                        <a:rPr lang="uz-Cyrl-UZ" sz="900" b="0" kern="1200" noProof="0" dirty="0" smtClean="0">
                          <a:solidFill>
                            <a:schemeClr val="tx1"/>
                          </a:solidFill>
                          <a:latin typeface="+mn-lt"/>
                          <a:ea typeface="+mn-ea"/>
                          <a:cs typeface="Arial" panose="020B0604020202020204" pitchFamily="34" charset="0"/>
                        </a:rPr>
                        <a:t>1938 йил, Тошкент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2009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(Слесарь-</a:t>
                      </a:r>
                      <a:r>
                        <a:rPr lang="ru-RU" sz="900" b="0" kern="1200" noProof="0" dirty="0" err="1" smtClean="0">
                          <a:solidFill>
                            <a:schemeClr val="tx1"/>
                          </a:solidFill>
                          <a:latin typeface="+mn-lt"/>
                          <a:ea typeface="+mn-ea"/>
                          <a:cs typeface="Arial" panose="020B0604020202020204" pitchFamily="34" charset="0"/>
                        </a:rPr>
                        <a:t>санхтехник</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ГАЛАХОВА Анна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1938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err="1" smtClean="0">
                          <a:solidFill>
                            <a:schemeClr val="tx1"/>
                          </a:solidFill>
                          <a:latin typeface="+mn-lt"/>
                          <a:ea typeface="+mn-ea"/>
                          <a:cs typeface="Arial" panose="020B0604020202020204" pitchFamily="34" charset="0"/>
                        </a:rPr>
                        <a:t>Пенсияда</a:t>
                      </a:r>
                      <a:r>
                        <a:rPr lang="ru-RU" sz="900" b="0" kern="1200" noProof="0" dirty="0" smtClean="0">
                          <a:solidFill>
                            <a:schemeClr val="tx1"/>
                          </a:solidFill>
                          <a:latin typeface="+mn-lt"/>
                          <a:ea typeface="+mn-ea"/>
                          <a:cs typeface="Arial" panose="020B0604020202020204" pitchFamily="34" charset="0"/>
                        </a:rPr>
                        <a:t>, </a:t>
                      </a: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Уй</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48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1993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6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актерлиги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1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946929626"/>
              </p:ext>
            </p:extLst>
          </p:nvPr>
        </p:nvGraphicFramePr>
        <p:xfrm>
          <a:off x="3674526" y="865689"/>
          <a:ext cx="3172841" cy="5934824"/>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4306">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32455">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0" kern="1200" noProof="0" dirty="0" smtClean="0">
                          <a:solidFill>
                            <a:schemeClr val="tx1"/>
                          </a:solidFill>
                          <a:latin typeface="+mn-lt"/>
                          <a:ea typeface="+mn-ea"/>
                          <a:cs typeface="+mn-cs"/>
                        </a:rPr>
                        <a:t>Ўзбекистон давлат академик рус драма театри етакчи саҳна устаси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6913">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115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42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597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Йўқ</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1677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402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402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2019 й. 2-сонли давлат поликлиникаси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2113">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102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8286">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37773">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2010 й. “Дўстлик” ордени сохиби</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2015 й. Ўзбекистонда хизмат кўрстаган артист</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962072345"/>
              </p:ext>
            </p:extLst>
          </p:nvPr>
        </p:nvGraphicFramePr>
        <p:xfrm>
          <a:off x="6949857" y="869285"/>
          <a:ext cx="2817247" cy="5931227"/>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9798">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2207">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303420">
                <a:tc>
                  <a:txBody>
                    <a:bodyPr/>
                    <a:lstStyle/>
                    <a:p>
                      <a:pPr algn="just"/>
                      <a:r>
                        <a:rPr lang="uz-Cyrl-UZ" sz="900" b="0" noProof="0" dirty="0" smtClean="0">
                          <a:solidFill>
                            <a:schemeClr val="tx1"/>
                          </a:solidFill>
                          <a:latin typeface="+mn-lt"/>
                        </a:rPr>
                        <a:t>        </a:t>
                      </a:r>
                      <a:r>
                        <a:rPr lang="uz-Cyrl-UZ" sz="900" kern="1200" dirty="0" smtClean="0">
                          <a:solidFill>
                            <a:schemeClr val="tx1"/>
                          </a:solidFill>
                          <a:effectLst/>
                          <a:latin typeface="+mn-lt"/>
                          <a:ea typeface="+mn-ea"/>
                          <a:cs typeface="+mn-cs"/>
                        </a:rPr>
                        <a:t>Етакчи саҳна устаси сифатида у ижодий жамоа фаолиятини самарали ташкил қила олган, иш жараёнларини режалаштириш ва назорат қилишда аниқлик ҳамда талабчанлик кўрсатган. Унинг ташаббускорлиги, ташкилотчилик қобилияти ва масъулиятни ўз зиммасига олиш хусусияти театр жамоаси томонидан юқори баҳоланиб келинмоқда.</a:t>
                      </a:r>
                    </a:p>
                    <a:p>
                      <a:pPr algn="just"/>
                      <a:r>
                        <a:rPr lang="uz-Cyrl-UZ" sz="900" kern="1200" dirty="0" smtClean="0">
                          <a:solidFill>
                            <a:schemeClr val="tx1"/>
                          </a:solidFill>
                          <a:effectLst/>
                          <a:latin typeface="+mn-lt"/>
                          <a:ea typeface="+mn-ea"/>
                          <a:cs typeface="+mn-cs"/>
                        </a:rPr>
                        <a:t>       </a:t>
                      </a:r>
                      <a:r>
                        <a:rPr lang="ru-RU" sz="900" kern="1200" dirty="0" smtClean="0">
                          <a:solidFill>
                            <a:schemeClr val="tx1"/>
                          </a:solidFill>
                          <a:effectLst/>
                          <a:latin typeface="+mn-lt"/>
                          <a:ea typeface="+mn-ea"/>
                          <a:cs typeface="+mn-cs"/>
                        </a:rPr>
                        <a:t>Артист </a:t>
                      </a:r>
                      <a:r>
                        <a:rPr lang="ru-RU" sz="900" kern="1200" dirty="0" err="1" smtClean="0">
                          <a:solidFill>
                            <a:schemeClr val="tx1"/>
                          </a:solidFill>
                          <a:effectLst/>
                          <a:latin typeface="+mn-lt"/>
                          <a:ea typeface="+mn-ea"/>
                          <a:cs typeface="+mn-cs"/>
                        </a:rPr>
                        <a:t>сифатида</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О.</a:t>
                      </a:r>
                      <a:r>
                        <a:rPr lang="ru-RU" sz="900" kern="1200" dirty="0" smtClean="0">
                          <a:solidFill>
                            <a:schemeClr val="tx1"/>
                          </a:solidFill>
                          <a:effectLst/>
                          <a:latin typeface="+mn-lt"/>
                          <a:ea typeface="+mn-ea"/>
                          <a:cs typeface="+mn-cs"/>
                        </a:rPr>
                        <a:t>Галахов </a:t>
                      </a:r>
                      <a:r>
                        <a:rPr lang="ru-RU" sz="900" kern="1200" dirty="0" err="1" smtClean="0">
                          <a:solidFill>
                            <a:schemeClr val="tx1"/>
                          </a:solidFill>
                          <a:effectLst/>
                          <a:latin typeface="+mn-lt"/>
                          <a:ea typeface="+mn-ea"/>
                          <a:cs typeface="+mn-cs"/>
                        </a:rPr>
                        <a:t>турли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жанрдаги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спектаклларда</a:t>
                      </a:r>
                      <a:r>
                        <a:rPr lang="ru-RU" sz="900" kern="1200" dirty="0" smtClean="0">
                          <a:solidFill>
                            <a:schemeClr val="tx1"/>
                          </a:solidFill>
                          <a:effectLst/>
                          <a:latin typeface="+mn-lt"/>
                          <a:ea typeface="+mn-ea"/>
                          <a:cs typeface="+mn-cs"/>
                        </a:rPr>
                        <a:t> ранг-</a:t>
                      </a:r>
                      <a:r>
                        <a:rPr lang="ru-RU" sz="900" kern="1200" dirty="0" err="1" smtClean="0">
                          <a:solidFill>
                            <a:schemeClr val="tx1"/>
                          </a:solidFill>
                          <a:effectLst/>
                          <a:latin typeface="+mn-lt"/>
                          <a:ea typeface="+mn-ea"/>
                          <a:cs typeface="+mn-cs"/>
                        </a:rPr>
                        <a:t>баранг</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образларни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маҳорат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билан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ижро</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этган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Хусусан</a:t>
                      </a:r>
                      <a:r>
                        <a:rPr lang="ru-RU" sz="900" kern="1200" dirty="0" smtClean="0">
                          <a:solidFill>
                            <a:schemeClr val="tx1"/>
                          </a:solidFill>
                          <a:effectLst/>
                          <a:latin typeface="+mn-lt"/>
                          <a:ea typeface="+mn-ea"/>
                          <a:cs typeface="+mn-cs"/>
                        </a:rPr>
                        <a:t>, «Бешеные деньги» </a:t>
                      </a:r>
                      <a:r>
                        <a:rPr lang="ru-RU" sz="900" kern="1200" dirty="0" err="1" smtClean="0">
                          <a:solidFill>
                            <a:schemeClr val="tx1"/>
                          </a:solidFill>
                          <a:effectLst/>
                          <a:latin typeface="+mn-lt"/>
                          <a:ea typeface="+mn-ea"/>
                          <a:cs typeface="+mn-cs"/>
                        </a:rPr>
                        <a:t>спектаклида</a:t>
                      </a:r>
                      <a:r>
                        <a:rPr lang="ru-RU" sz="900" kern="1200" dirty="0" smtClean="0">
                          <a:solidFill>
                            <a:schemeClr val="tx1"/>
                          </a:solidFill>
                          <a:effectLst/>
                          <a:latin typeface="+mn-lt"/>
                          <a:ea typeface="+mn-ea"/>
                          <a:cs typeface="+mn-cs"/>
                        </a:rPr>
                        <a:t> Телятьев, «Семейный </a:t>
                      </a:r>
                      <a:r>
                        <a:rPr lang="ru-RU" sz="900" kern="1200" dirty="0" err="1" smtClean="0">
                          <a:solidFill>
                            <a:schemeClr val="tx1"/>
                          </a:solidFill>
                          <a:effectLst/>
                          <a:latin typeface="+mn-lt"/>
                          <a:ea typeface="+mn-ea"/>
                          <a:cs typeface="+mn-cs"/>
                        </a:rPr>
                        <a:t>ужин»да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Фабрис</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Монтекантини</a:t>
                      </a:r>
                      <a:r>
                        <a:rPr lang="ru-RU" sz="900" kern="1200" dirty="0" smtClean="0">
                          <a:solidFill>
                            <a:schemeClr val="tx1"/>
                          </a:solidFill>
                          <a:effectLst/>
                          <a:latin typeface="+mn-lt"/>
                          <a:ea typeface="+mn-ea"/>
                          <a:cs typeface="+mn-cs"/>
                        </a:rPr>
                        <a:t>, «Зойкина </a:t>
                      </a:r>
                      <a:r>
                        <a:rPr lang="ru-RU" sz="900" kern="1200" dirty="0" err="1" smtClean="0">
                          <a:solidFill>
                            <a:schemeClr val="tx1"/>
                          </a:solidFill>
                          <a:effectLst/>
                          <a:latin typeface="+mn-lt"/>
                          <a:ea typeface="+mn-ea"/>
                          <a:cs typeface="+mn-cs"/>
                        </a:rPr>
                        <a:t>квартира»да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Обольянинов</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Ретро»да</a:t>
                      </a:r>
                      <a:r>
                        <a:rPr lang="ru-RU" sz="900" kern="1200" dirty="0" smtClean="0">
                          <a:solidFill>
                            <a:schemeClr val="tx1"/>
                          </a:solidFill>
                          <a:effectLst/>
                          <a:latin typeface="+mn-lt"/>
                          <a:ea typeface="+mn-ea"/>
                          <a:cs typeface="+mn-cs"/>
                        </a:rPr>
                        <a:t> Леонид, «Плачу </a:t>
                      </a:r>
                      <a:r>
                        <a:rPr lang="ru-RU" sz="900" kern="1200" dirty="0" err="1" smtClean="0">
                          <a:solidFill>
                            <a:schemeClr val="tx1"/>
                          </a:solidFill>
                          <a:effectLst/>
                          <a:latin typeface="+mn-lt"/>
                          <a:ea typeface="+mn-ea"/>
                          <a:cs typeface="+mn-cs"/>
                        </a:rPr>
                        <a:t>вперёд»да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Распятов</a:t>
                      </a:r>
                      <a:r>
                        <a:rPr lang="ru-RU" sz="900" kern="1200" dirty="0" smtClean="0">
                          <a:solidFill>
                            <a:schemeClr val="tx1"/>
                          </a:solidFill>
                          <a:effectLst/>
                          <a:latin typeface="+mn-lt"/>
                          <a:ea typeface="+mn-ea"/>
                          <a:cs typeface="+mn-cs"/>
                        </a:rPr>
                        <a:t>, «Звёздный </a:t>
                      </a:r>
                      <a:r>
                        <a:rPr lang="ru-RU" sz="900" kern="1200" dirty="0" err="1" smtClean="0">
                          <a:solidFill>
                            <a:schemeClr val="tx1"/>
                          </a:solidFill>
                          <a:effectLst/>
                          <a:latin typeface="+mn-lt"/>
                          <a:ea typeface="+mn-ea"/>
                          <a:cs typeface="+mn-cs"/>
                        </a:rPr>
                        <a:t>час»да</a:t>
                      </a:r>
                      <a:r>
                        <a:rPr lang="ru-RU" sz="900" kern="1200" dirty="0" smtClean="0">
                          <a:solidFill>
                            <a:schemeClr val="tx1"/>
                          </a:solidFill>
                          <a:effectLst/>
                          <a:latin typeface="+mn-lt"/>
                          <a:ea typeface="+mn-ea"/>
                          <a:cs typeface="+mn-cs"/>
                        </a:rPr>
                        <a:t> Тито </a:t>
                      </a:r>
                      <a:r>
                        <a:rPr lang="ru-RU" sz="900" kern="1200" dirty="0" err="1" smtClean="0">
                          <a:solidFill>
                            <a:schemeClr val="tx1"/>
                          </a:solidFill>
                          <a:effectLst/>
                          <a:latin typeface="+mn-lt"/>
                          <a:ea typeface="+mn-ea"/>
                          <a:cs typeface="+mn-cs"/>
                        </a:rPr>
                        <a:t>Морелли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Ревизор»да</a:t>
                      </a:r>
                      <a:r>
                        <a:rPr lang="ru-RU" sz="900" kern="1200" dirty="0" smtClean="0">
                          <a:solidFill>
                            <a:schemeClr val="tx1"/>
                          </a:solidFill>
                          <a:effectLst/>
                          <a:latin typeface="+mn-lt"/>
                          <a:ea typeface="+mn-ea"/>
                          <a:cs typeface="+mn-cs"/>
                        </a:rPr>
                        <a:t> Антон Антонович </a:t>
                      </a:r>
                      <a:r>
                        <a:rPr lang="ru-RU" sz="900" kern="1200" dirty="0" err="1" smtClean="0">
                          <a:solidFill>
                            <a:schemeClr val="tx1"/>
                          </a:solidFill>
                          <a:effectLst/>
                          <a:latin typeface="+mn-lt"/>
                          <a:ea typeface="+mn-ea"/>
                          <a:cs typeface="+mn-cs"/>
                        </a:rPr>
                        <a:t>Сквозник-Дмухановский</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ролларини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юқори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бадиий</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даражада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ижро</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этган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Шунингдек</a:t>
                      </a:r>
                      <a:r>
                        <a:rPr lang="ru-RU" sz="900" kern="1200" dirty="0" smtClean="0">
                          <a:solidFill>
                            <a:schemeClr val="tx1"/>
                          </a:solidFill>
                          <a:effectLst/>
                          <a:latin typeface="+mn-lt"/>
                          <a:ea typeface="+mn-ea"/>
                          <a:cs typeface="+mn-cs"/>
                        </a:rPr>
                        <a:t>, у «Как украсть бриллианты», «Самоубийца», «С любимыми не расставайтесь», «Гамлет», «Эзоп», «Волки и овцы», «Последние дни», «Медведь», «Предложение», «Потерянная душа», «Лавина», «Времени вагон» </a:t>
                      </a:r>
                      <a:r>
                        <a:rPr lang="ru-RU" sz="900" kern="1200" dirty="0" err="1" smtClean="0">
                          <a:solidFill>
                            <a:schemeClr val="tx1"/>
                          </a:solidFill>
                          <a:effectLst/>
                          <a:latin typeface="+mn-lt"/>
                          <a:ea typeface="+mn-ea"/>
                          <a:cs typeface="+mn-cs"/>
                        </a:rPr>
                        <a:t>каби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спектаклларда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иштирок</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этиб</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ўзининг</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актёрлик</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маҳорати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саҳна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маданияти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образга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кириш</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қобилиятини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намоён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этган</a:t>
                      </a:r>
                      <a:r>
                        <a:rPr lang="ru-RU" sz="900" kern="1200" dirty="0" smtClean="0">
                          <a:solidFill>
                            <a:schemeClr val="tx1"/>
                          </a:solidFill>
                          <a:effectLst/>
                          <a:latin typeface="+mn-lt"/>
                          <a:ea typeface="+mn-ea"/>
                          <a:cs typeface="+mn-cs"/>
                        </a:rPr>
                        <a:t>.</a:t>
                      </a:r>
                    </a:p>
                    <a:p>
                      <a:pPr algn="just"/>
                      <a:r>
                        <a:rPr lang="ru-RU" sz="900" kern="1200" dirty="0" smtClean="0">
                          <a:solidFill>
                            <a:schemeClr val="tx1"/>
                          </a:solidFill>
                          <a:effectLst/>
                          <a:latin typeface="+mn-lt"/>
                          <a:ea typeface="+mn-ea"/>
                          <a:cs typeface="+mn-cs"/>
                        </a:rPr>
                        <a:t>            У </a:t>
                      </a:r>
                      <a:r>
                        <a:rPr lang="ru-RU" sz="900" kern="1200" dirty="0" err="1" smtClean="0">
                          <a:solidFill>
                            <a:schemeClr val="tx1"/>
                          </a:solidFill>
                          <a:effectLst/>
                          <a:latin typeface="+mn-lt"/>
                          <a:ea typeface="+mn-ea"/>
                          <a:cs typeface="+mn-cs"/>
                        </a:rPr>
                        <a:t>ҳар</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бир</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ролга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пухта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тайёргарлик</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кўради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драматургик</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материални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чуқур</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таҳлил</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қилади</a:t>
                      </a:r>
                      <a:r>
                        <a:rPr lang="ru-RU" sz="900" kern="1200" dirty="0" smtClean="0">
                          <a:solidFill>
                            <a:schemeClr val="tx1"/>
                          </a:solidFill>
                          <a:effectLst/>
                          <a:latin typeface="+mn-lt"/>
                          <a:ea typeface="+mn-ea"/>
                          <a:cs typeface="+mn-cs"/>
                        </a:rPr>
                        <a:t>, режиссёр </a:t>
                      </a:r>
                      <a:r>
                        <a:rPr lang="ru-RU" sz="900" kern="1200" dirty="0" err="1" smtClean="0">
                          <a:solidFill>
                            <a:schemeClr val="tx1"/>
                          </a:solidFill>
                          <a:effectLst/>
                          <a:latin typeface="+mn-lt"/>
                          <a:ea typeface="+mn-ea"/>
                          <a:cs typeface="+mn-cs"/>
                        </a:rPr>
                        <a:t>топшириқларини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аниқ</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ижодий</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ёндашув</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билан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бажаради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Томошабинлар</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билан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ишлаш</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маданияти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юқори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саҳнада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эркин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ишонч</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билан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ҳаракат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қилади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Унинг</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ижроси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жонли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таъсирчан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мазмунлилиги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билан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ажралиб</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туради</a:t>
                      </a:r>
                      <a:r>
                        <a:rPr lang="ru-RU" sz="900" kern="1200" dirty="0" smtClean="0">
                          <a:solidFill>
                            <a:schemeClr val="tx1"/>
                          </a:solidFill>
                          <a:effectLst/>
                          <a:latin typeface="+mn-lt"/>
                          <a:ea typeface="+mn-ea"/>
                          <a:cs typeface="+mn-cs"/>
                        </a:rPr>
                        <a:t>.</a:t>
                      </a:r>
                      <a:endParaRPr lang="ru-RU" sz="9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3835">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21967">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smtClean="0">
                          <a:effectLst/>
                          <a:latin typeface="+mn-lt"/>
                          <a:ea typeface="Calibri" panose="020F0502020204030204" pitchFamily="34" charset="0"/>
                          <a:cs typeface="Times New Roman" panose="02020603050405020304" pitchFamily="18" charset="0"/>
                        </a:rPr>
                        <a:t>Республикамизда</a:t>
                      </a:r>
                      <a:r>
                        <a:rPr lang="uz-Cyrl-UZ" sz="8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p:cNvPicPr>
            <a:picLocks noChangeAspect="1"/>
          </p:cNvPicPr>
          <p:nvPr/>
        </p:nvPicPr>
        <p:blipFill rotWithShape="1">
          <a:blip r:embed="rId2">
            <a:extLst>
              <a:ext uri="{28A0092B-C50C-407E-A947-70E740481C1C}">
                <a14:useLocalDpi xmlns:a14="http://schemas.microsoft.com/office/drawing/2010/main" val="0"/>
              </a:ext>
            </a:extLst>
          </a:blip>
          <a:srcRect b="7833"/>
          <a:stretch/>
        </p:blipFill>
        <p:spPr>
          <a:xfrm>
            <a:off x="229588" y="1151899"/>
            <a:ext cx="927579" cy="1142415"/>
          </a:xfrm>
          <a:prstGeom prst="rect">
            <a:avLst/>
          </a:prstGeom>
        </p:spPr>
      </p:pic>
    </p:spTree>
    <p:extLst>
      <p:ext uri="{BB962C8B-B14F-4D97-AF65-F5344CB8AC3E}">
        <p14:creationId xmlns:p14="http://schemas.microsoft.com/office/powerpoint/2010/main" val="137162365"/>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955605"/>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effectLst/>
                          <a:latin typeface="+mn-lt"/>
                          <a:ea typeface="+mn-ea"/>
                          <a:cs typeface="+mn-cs"/>
                        </a:rPr>
                        <a:t>ОВЧИННИКОВА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900" b="0" kern="1200" dirty="0" smtClean="0">
                          <a:solidFill>
                            <a:schemeClr val="tx1"/>
                          </a:solidFill>
                          <a:effectLst/>
                          <a:latin typeface="+mn-lt"/>
                          <a:ea typeface="+mn-ea"/>
                          <a:cs typeface="+mn-cs"/>
                        </a:rPr>
                        <a:t>Ольга </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900" b="0" kern="1200" dirty="0" smtClean="0">
                          <a:solidFill>
                            <a:schemeClr val="tx1"/>
                          </a:solidFill>
                          <a:effectLst/>
                          <a:latin typeface="+mn-lt"/>
                          <a:ea typeface="+mn-ea"/>
                          <a:cs typeface="+mn-cs"/>
                        </a:rPr>
                        <a:t>Даниловна </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РУС</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08.05.1937</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smtClean="0">
                          <a:solidFill>
                            <a:schemeClr val="tx1"/>
                          </a:solidFill>
                          <a:latin typeface="+mn-lt"/>
                          <a:ea typeface="+mn-ea"/>
                          <a:cs typeface="+mn-cs"/>
                        </a:rPr>
                        <a:t>Отаси</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ОВЧИННИКОВ Данил </a:t>
                      </a:r>
                      <a:br>
                        <a:rPr lang="uz-Cyrl-UZ" sz="900" b="1" kern="1200" noProof="0" dirty="0" smtClean="0">
                          <a:solidFill>
                            <a:schemeClr val="tx1"/>
                          </a:solidFill>
                          <a:latin typeface="+mn-lt"/>
                          <a:ea typeface="+mn-ea"/>
                          <a:cs typeface="Arial" panose="020B0604020202020204" pitchFamily="34" charset="0"/>
                        </a:rPr>
                      </a:br>
                      <a:r>
                        <a:rPr lang="uz-Cyrl-UZ" sz="900" b="0" kern="1200" noProof="0" dirty="0" smtClean="0">
                          <a:solidFill>
                            <a:schemeClr val="tx1"/>
                          </a:solidFill>
                          <a:latin typeface="+mn-lt"/>
                          <a:ea typeface="+mn-ea"/>
                          <a:cs typeface="Arial" panose="020B0604020202020204" pitchFamily="34" charset="0"/>
                        </a:rPr>
                        <a:t>1905 йил</a:t>
                      </a:r>
                      <a:r>
                        <a:rPr lang="uz-Cyrl-UZ" sz="900" b="0" kern="1200" baseline="0" noProof="0" dirty="0" smtClean="0">
                          <a:solidFill>
                            <a:schemeClr val="tx1"/>
                          </a:solidFill>
                          <a:latin typeface="+mn-lt"/>
                          <a:ea typeface="+mn-ea"/>
                          <a:cs typeface="Arial" panose="020B0604020202020204" pitchFamily="34" charset="0"/>
                        </a:rPr>
                        <a:t>, Россия Федерацияси</a:t>
                      </a:r>
                      <a:r>
                        <a:rPr lang="uz-Cyrl-UZ" sz="900" b="0" kern="1200" noProof="0" dirty="0" smtClean="0">
                          <a:solidFill>
                            <a:schemeClr val="tx1"/>
                          </a:solidFill>
                          <a:latin typeface="+mn-lt"/>
                          <a:ea typeface="+mn-ea"/>
                          <a:cs typeface="Arial" panose="020B0604020202020204" pitchFamily="34" charset="0"/>
                        </a:rPr>
                        <a:t> </a:t>
                      </a: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1985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эткан</a:t>
                      </a:r>
                      <a:r>
                        <a:rPr lang="ru-RU" sz="900" b="0" kern="1200" baseline="0" noProof="0" dirty="0" smtClean="0">
                          <a:solidFill>
                            <a:schemeClr val="tx1"/>
                          </a:solidFill>
                          <a:latin typeface="+mn-lt"/>
                          <a:ea typeface="+mn-ea"/>
                          <a:cs typeface="Arial" panose="020B0604020202020204" pitchFamily="34" charset="0"/>
                        </a:rPr>
                        <a:t>(</a:t>
                      </a:r>
                      <a:r>
                        <a:rPr lang="ru-RU" sz="900" b="0" kern="1200" baseline="0" noProof="0" dirty="0" err="1" smtClean="0">
                          <a:solidFill>
                            <a:schemeClr val="tx1"/>
                          </a:solidFill>
                          <a:latin typeface="+mn-lt"/>
                          <a:ea typeface="+mn-ea"/>
                          <a:cs typeface="Arial" panose="020B0604020202020204" pitchFamily="34" charset="0"/>
                        </a:rPr>
                        <a:t>Хабаровс</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шаҳри</a:t>
                      </a:r>
                      <a:r>
                        <a:rPr lang="ru-RU" sz="900" b="0" kern="1200" baseline="0" noProof="0" dirty="0" smtClean="0">
                          <a:solidFill>
                            <a:schemeClr val="tx1"/>
                          </a:solidFill>
                          <a:latin typeface="+mn-lt"/>
                          <a:ea typeface="+mn-ea"/>
                          <a:cs typeface="Arial" panose="020B0604020202020204" pitchFamily="34" charset="0"/>
                        </a:rPr>
                        <a:t> пенсия </a:t>
                      </a:r>
                      <a:r>
                        <a:rPr lang="ru-RU" sz="900" b="0" kern="1200" baseline="0" noProof="0" dirty="0" err="1" smtClean="0">
                          <a:solidFill>
                            <a:schemeClr val="tx1"/>
                          </a:solidFill>
                          <a:latin typeface="+mn-lt"/>
                          <a:ea typeface="+mn-ea"/>
                          <a:cs typeface="Arial" panose="020B0604020202020204" pitchFamily="34" charset="0"/>
                        </a:rPr>
                        <a:t>жамғармаси</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раиси</a:t>
                      </a:r>
                      <a:r>
                        <a:rPr lang="ru-RU" sz="900" b="0" kern="1200" baseline="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smtClean="0">
                          <a:solidFill>
                            <a:schemeClr val="tx1"/>
                          </a:solidFill>
                          <a:latin typeface="+mn-lt"/>
                          <a:ea typeface="+mn-ea"/>
                          <a:cs typeface="+mn-cs"/>
                        </a:rPr>
                        <a:t>Онаси: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УЖВЕНКО Мария</a:t>
                      </a:r>
                      <a:r>
                        <a:rPr lang="uz-Cyrl-UZ" sz="900" b="1" kern="1200" baseline="0" noProof="0" dirty="0" smtClean="0">
                          <a:solidFill>
                            <a:schemeClr val="tx1"/>
                          </a:solidFill>
                          <a:latin typeface="+mn-lt"/>
                          <a:ea typeface="+mn-ea"/>
                          <a:cs typeface="Arial" panose="020B0604020202020204" pitchFamily="34" charset="0"/>
                        </a:rPr>
                        <a:t> </a:t>
                      </a:r>
                      <a:endParaRPr lang="uz-Cyrl-UZ" sz="900" b="1" kern="1200" noProof="0" dirty="0" smtClean="0">
                        <a:solidFill>
                          <a:schemeClr val="tx1"/>
                        </a:solidFill>
                        <a:latin typeface="+mn-lt"/>
                        <a:ea typeface="+mn-ea"/>
                        <a:cs typeface="Arial" panose="020B0604020202020204" pitchFamily="34" charset="0"/>
                      </a:endParaRPr>
                    </a:p>
                    <a:p>
                      <a:pPr marL="0" marR="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1916 йил, Украина</a:t>
                      </a:r>
                      <a:r>
                        <a:rPr lang="uz-Cyrl-UZ" sz="900" b="0" kern="1200" baseline="0" noProof="0" dirty="0" smtClean="0">
                          <a:solidFill>
                            <a:schemeClr val="tx1"/>
                          </a:solidFill>
                          <a:latin typeface="+mn-lt"/>
                          <a:ea typeface="+mn-ea"/>
                          <a:cs typeface="Arial" panose="020B0604020202020204" pitchFamily="34" charset="0"/>
                        </a:rPr>
                        <a:t> республикаси</a:t>
                      </a:r>
                      <a:r>
                        <a:rPr lang="uz-Cyrl-UZ" sz="900" b="0" kern="1200" noProof="0" dirty="0" smtClean="0">
                          <a:solidFill>
                            <a:schemeClr val="tx1"/>
                          </a:solidFill>
                          <a:latin typeface="+mn-lt"/>
                          <a:ea typeface="+mn-ea"/>
                          <a:cs typeface="Arial" panose="020B0604020202020204" pitchFamily="34" charset="0"/>
                        </a:rPr>
                        <a:t>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1985 йил вафот эткан(Уй бекаси)</a:t>
                      </a:r>
                      <a:endParaRPr lang="ru-RU"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КОЛЬЦОВ</a:t>
                      </a:r>
                      <a:r>
                        <a:rPr lang="uz-Cyrl-UZ" sz="900" b="1" kern="1200" baseline="0" noProof="0" dirty="0" smtClean="0">
                          <a:solidFill>
                            <a:schemeClr val="tx1"/>
                          </a:solidFill>
                          <a:latin typeface="+mn-lt"/>
                          <a:ea typeface="+mn-ea"/>
                          <a:cs typeface="Arial" panose="020B0604020202020204" pitchFamily="34" charset="0"/>
                        </a:rPr>
                        <a:t> Валерий Иванович</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1941 йил, Россия Федерацияси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1983 йил вафот эткан (Ўзбекистон давлат академик рус драма театри артисти)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48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kern="1200" dirty="0" smtClean="0">
                          <a:solidFill>
                            <a:schemeClr val="tx1"/>
                          </a:solidFill>
                          <a:effectLst/>
                          <a:latin typeface="+mn-lt"/>
                          <a:ea typeface="+mn-ea"/>
                          <a:cs typeface="+mn-cs"/>
                        </a:rPr>
                        <a:t>1960 й</a:t>
                      </a:r>
                      <a:r>
                        <a:rPr lang="uz-Cyrl-UZ" sz="900" kern="1200" dirty="0" smtClean="0">
                          <a:solidFill>
                            <a:schemeClr val="tx1"/>
                          </a:solidFill>
                          <a:effectLst/>
                          <a:latin typeface="+mn-lt"/>
                          <a:ea typeface="+mn-ea"/>
                          <a:cs typeface="+mn-cs"/>
                        </a:rPr>
                        <a:t>. Тошкент театр ва санъат </a:t>
                      </a:r>
                      <a:r>
                        <a:rPr lang="ru-RU" sz="900" kern="1200" dirty="0" err="1" smtClean="0">
                          <a:solidFill>
                            <a:schemeClr val="tx1"/>
                          </a:solidFill>
                          <a:effectLst/>
                          <a:latin typeface="+mn-lt"/>
                          <a:ea typeface="+mn-ea"/>
                          <a:cs typeface="+mn-cs"/>
                        </a:rPr>
                        <a:t>институти</a:t>
                      </a:r>
                      <a:r>
                        <a:rPr lang="ru-RU" sz="900" kern="1200" dirty="0" smtClean="0">
                          <a:solidFill>
                            <a:schemeClr val="tx1"/>
                          </a:solidFill>
                          <a:effectLst/>
                          <a:latin typeface="+mn-lt"/>
                          <a:ea typeface="+mn-ea"/>
                          <a:cs typeface="+mn-cs"/>
                        </a:rPr>
                        <a:t> </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6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театр ва кино актрисаси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Йўқ</a:t>
                      </a:r>
                      <a:endParaRPr lang="ru-RU" sz="900" dirty="0" smtClean="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1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852816222"/>
              </p:ext>
            </p:extLst>
          </p:nvPr>
        </p:nvGraphicFramePr>
        <p:xfrm>
          <a:off x="3674526" y="865689"/>
          <a:ext cx="3172841" cy="592923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9285">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26148">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0" kern="1200" noProof="0" dirty="0" smtClean="0">
                          <a:solidFill>
                            <a:schemeClr val="tx1"/>
                          </a:solidFill>
                          <a:latin typeface="+mn-lt"/>
                          <a:ea typeface="+mn-ea"/>
                          <a:cs typeface="+mn-cs"/>
                        </a:rPr>
                        <a:t>Ўзбекистон давлат академик рус драма театри етакчи саҳна устачи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3166">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793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63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296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Йўқ</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73111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9588">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9588">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2020 й.  2-сонли  давлат</a:t>
                      </a:r>
                      <a:r>
                        <a:rPr lang="uz-Cyrl-UZ" sz="900" kern="1200" baseline="0" noProof="0" dirty="0" smtClean="0">
                          <a:solidFill>
                            <a:schemeClr val="tx1"/>
                          </a:solidFill>
                          <a:effectLst/>
                          <a:latin typeface="+mn-lt"/>
                          <a:ea typeface="Calibri" panose="020F0502020204030204" pitchFamily="34" charset="0"/>
                          <a:cs typeface="Times New Roman" panose="02020603050405020304" pitchFamily="18" charset="0"/>
                        </a:rPr>
                        <a:t> поликлиникаси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770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707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4811">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359851">
                <a:tc gridSpan="2">
                  <a:txBody>
                    <a:bodyPr/>
                    <a:lstStyle/>
                    <a:p>
                      <a:r>
                        <a:rPr lang="uz-Cyrl-UZ" sz="900" kern="1200" dirty="0" smtClean="0">
                          <a:solidFill>
                            <a:schemeClr val="tx1"/>
                          </a:solidFill>
                          <a:effectLst/>
                          <a:latin typeface="+mn-lt"/>
                          <a:ea typeface="+mn-ea"/>
                          <a:cs typeface="+mn-cs"/>
                        </a:rPr>
                        <a:t>1997 й.  “Ўзбекистон Республикасида хизмат кўрсатган артист” </a:t>
                      </a:r>
                    </a:p>
                    <a:p>
                      <a:r>
                        <a:rPr lang="uz-Cyrl-UZ" sz="900" kern="1200" dirty="0" smtClean="0">
                          <a:solidFill>
                            <a:schemeClr val="tx1"/>
                          </a:solidFill>
                          <a:effectLst/>
                          <a:latin typeface="+mn-lt"/>
                          <a:ea typeface="+mn-ea"/>
                          <a:cs typeface="+mn-cs"/>
                        </a:rPr>
                        <a:t>                  фахрий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2021 й.  “Дўстлик” ордени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261687986"/>
              </p:ext>
            </p:extLst>
          </p:nvPr>
        </p:nvGraphicFramePr>
        <p:xfrm>
          <a:off x="6949857" y="869286"/>
          <a:ext cx="2817247" cy="5925635"/>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algn="just"/>
                      <a:r>
                        <a:rPr lang="uz-Cyrl-UZ" sz="900" kern="120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Актриса ижодий фаолияти давомида кўплаб спектаклларда турли образлар яратди. Унинг шўх ва шодон кўриниши, ундан уфуриб турган табиий гўзаллик ва инсоний илиқлик турли пландаги ролларни ижро этишига имкон беради. У яратган образлар ўзининг табиийлиги, томошабинга руҳий яқинлиги билан ажралиб туради. Жумладан, “С тобой и без тебя”, “Мою жену зовут Морис”, “Ретро” , “Лавина”, “Четыре капли” , “Ханума”, “Моя жена лгунья”, “Солдатская вдова”) спектаклларида бир-биридан ёрқин образлар яратган. </a:t>
                      </a:r>
                      <a:endParaRPr lang="ru-RU" sz="900" b="0" kern="1200" dirty="0" smtClean="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           О.Овчинникова театрда кейинги йиллар давомида саҳналаштирилган бир нечта асарларда ҳам эсда қоларли роллар ижро этди. “Банкрот, или Свои люди - сочтёмся”, “Чехов. Осень. Сцен</a:t>
                      </a:r>
                      <a:r>
                        <a:rPr lang="ru-RU" sz="900" b="0" kern="1200" dirty="0" smtClean="0">
                          <a:solidFill>
                            <a:schemeClr val="tx1"/>
                          </a:solidFill>
                          <a:effectLst/>
                          <a:latin typeface="+mn-lt"/>
                          <a:ea typeface="+mn-ea"/>
                          <a:cs typeface="+mn-cs"/>
                        </a:rPr>
                        <a:t>ы</a:t>
                      </a:r>
                      <a:r>
                        <a:rPr lang="uz-Cyrl-UZ" sz="900" b="0" kern="1200" dirty="0" smtClean="0">
                          <a:solidFill>
                            <a:schemeClr val="tx1"/>
                          </a:solidFill>
                          <a:effectLst/>
                          <a:latin typeface="+mn-lt"/>
                          <a:ea typeface="+mn-ea"/>
                          <a:cs typeface="+mn-cs"/>
                        </a:rPr>
                        <a:t>”</a:t>
                      </a:r>
                      <a:r>
                        <a:rPr lang="ru-RU" sz="900" b="0" kern="1200" dirty="0" smtClean="0">
                          <a:solidFill>
                            <a:schemeClr val="tx1"/>
                          </a:solidFill>
                          <a:effectLst/>
                          <a:latin typeface="+mn-lt"/>
                          <a:ea typeface="+mn-ea"/>
                          <a:cs typeface="+mn-cs"/>
                        </a:rPr>
                        <a:t>,</a:t>
                      </a:r>
                      <a:r>
                        <a:rPr lang="ru-RU"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“Дядя Ваня”,“Тётки” , “Узник 2-ой авенью”, “Ревизор”, “Колыбельная”,</a:t>
                      </a:r>
                      <a:r>
                        <a:rPr lang="uz-Cyrl-UZ"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“Дорогие мои старики” спектаклларидаги қатор бош роллари шулар жумласидан.</a:t>
                      </a:r>
                      <a:endParaRPr lang="ru-RU" sz="900" b="0" kern="1200" dirty="0" smtClean="0">
                        <a:solidFill>
                          <a:schemeClr val="tx1"/>
                        </a:solidFill>
                        <a:effectLst/>
                        <a:latin typeface="+mn-lt"/>
                        <a:ea typeface="+mn-ea"/>
                        <a:cs typeface="+mn-cs"/>
                      </a:endParaRPr>
                    </a:p>
                    <a:p>
                      <a:pPr algn="just"/>
                      <a:r>
                        <a:rPr lang="uz-Cyrl-UZ" sz="900" b="0" noProof="0" dirty="0" smtClean="0"/>
                        <a:t>            Ҳозирги репертуарда Овчинникова О.Д. қуйидаги спектаклларда иштирок этмоқда: “С тобой и без тебя” спектаклида — Ида, “Цветок смеющийся” спектаклида — Леди Солтберн, “Когда лошадь теряет сознание” спектаклида — Фелисити Честерфилд, “Бешеные деньги” спектаклида — Надежда Чебоксарова, “Звездный час” спектаклида — Джулия, “Ретро” спектаклида — Роза Александровна ва бошқа қатор спектаклларда муваффақиятли ижод қилиб келмоқда.</a:t>
                      </a:r>
                    </a:p>
                    <a:p>
                      <a:pPr algn="just"/>
                      <a:r>
                        <a:rPr lang="uz-Cyrl-UZ" sz="900" b="0" noProof="0" dirty="0" smtClean="0"/>
                        <a:t>              Овчинникова О.Д. жамоа орасида ҳурмат ва юқори обрў-эътиборга эга.</a:t>
                      </a:r>
                      <a:endParaRPr lang="uz-Cyrl-UZ" sz="900" b="0" noProof="0" dirty="0"/>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smtClean="0">
                          <a:effectLst/>
                          <a:latin typeface="+mn-lt"/>
                          <a:ea typeface="Calibri" panose="020F0502020204030204" pitchFamily="34" charset="0"/>
                          <a:cs typeface="Times New Roman" panose="02020603050405020304" pitchFamily="18" charset="0"/>
                        </a:rPr>
                        <a:t>Республикамизда</a:t>
                      </a:r>
                      <a:r>
                        <a:rPr lang="uz-Cyrl-UZ" sz="8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294352" y="1148622"/>
            <a:ext cx="803192" cy="1070923"/>
          </a:xfrm>
          <a:prstGeom prst="rect">
            <a:avLst/>
          </a:prstGeom>
        </p:spPr>
      </p:pic>
    </p:spTree>
    <p:extLst>
      <p:ext uri="{BB962C8B-B14F-4D97-AF65-F5344CB8AC3E}">
        <p14:creationId xmlns:p14="http://schemas.microsoft.com/office/powerpoint/2010/main" val="3544521738"/>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923703"/>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baseline="0" dirty="0" smtClean="0">
                          <a:solidFill>
                            <a:schemeClr val="tx1"/>
                          </a:solidFill>
                          <a:latin typeface="+mn-lt"/>
                          <a:ea typeface="+mn-ea"/>
                          <a:cs typeface="+mn-cs"/>
                        </a:rPr>
                        <a:t>ПЕНЬКОВА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Анастасия</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smtClean="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Васильевна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РУС</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06.06.1986</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қиз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ПЕНЬКОВ Василий </a:t>
                      </a:r>
                    </a:p>
                    <a:p>
                      <a:pPr algn="l">
                        <a:lnSpc>
                          <a:spcPct val="85000"/>
                        </a:lnSpc>
                      </a:pPr>
                      <a:r>
                        <a:rPr lang="uz-Cyrl-UZ" sz="900" b="0" kern="1200" noProof="0" dirty="0" smtClean="0">
                          <a:solidFill>
                            <a:schemeClr val="tx1"/>
                          </a:solidFill>
                          <a:latin typeface="+mn-lt"/>
                          <a:ea typeface="+mn-ea"/>
                          <a:cs typeface="Arial" panose="020B0604020202020204" pitchFamily="34" charset="0"/>
                        </a:rPr>
                        <a:t>1955 йил, Тошкент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Пенсияда,</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Узнефтигаз</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мухандиси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ПЕНЬКОВА Лилия </a:t>
                      </a:r>
                    </a:p>
                    <a:p>
                      <a:pPr algn="l">
                        <a:lnSpc>
                          <a:spcPct val="85000"/>
                        </a:lnSpc>
                      </a:pPr>
                      <a:r>
                        <a:rPr lang="uz-Cyrl-UZ" sz="900" b="0" kern="1200" noProof="0" dirty="0" smtClean="0">
                          <a:solidFill>
                            <a:schemeClr val="tx1"/>
                          </a:solidFill>
                          <a:latin typeface="+mn-lt"/>
                          <a:ea typeface="+mn-ea"/>
                          <a:cs typeface="Arial" panose="020B0604020202020204" pitchFamily="34" charset="0"/>
                        </a:rPr>
                        <a:t>1952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2020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Соғлиқни</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сақлаш</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Вазирлиги</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инспектори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СТЕПАНОВ</a:t>
                      </a:r>
                      <a:r>
                        <a:rPr lang="uz-Cyrl-UZ" sz="900" b="1" kern="1200" baseline="0" noProof="0" dirty="0" smtClean="0">
                          <a:solidFill>
                            <a:schemeClr val="tx1"/>
                          </a:solidFill>
                          <a:latin typeface="+mn-lt"/>
                          <a:ea typeface="+mn-ea"/>
                          <a:cs typeface="Arial" panose="020B0604020202020204" pitchFamily="34" charset="0"/>
                        </a:rPr>
                        <a:t> </a:t>
                      </a:r>
                      <a:r>
                        <a:rPr lang="uz-Cyrl-UZ" sz="900" b="1" kern="1200" noProof="0" dirty="0" smtClean="0">
                          <a:solidFill>
                            <a:schemeClr val="tx1"/>
                          </a:solidFill>
                          <a:latin typeface="+mn-lt"/>
                          <a:ea typeface="+mn-ea"/>
                          <a:cs typeface="Arial" panose="020B0604020202020204" pitchFamily="34" charset="0"/>
                        </a:rPr>
                        <a:t> Антон Борисович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1982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Хусусий</a:t>
                      </a:r>
                      <a:r>
                        <a:rPr lang="uz-Cyrl-UZ" sz="900" b="0" kern="1200" baseline="0" noProof="0" dirty="0" smtClean="0">
                          <a:solidFill>
                            <a:schemeClr val="tx1"/>
                          </a:solidFill>
                          <a:latin typeface="+mn-lt"/>
                          <a:ea typeface="+mn-ea"/>
                          <a:cs typeface="Arial" panose="020B0604020202020204" pitchFamily="34" charset="0"/>
                        </a:rPr>
                        <a:t> тадбиркор</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48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2015 й. </a:t>
                      </a:r>
                      <a:r>
                        <a:rPr lang="ru-RU" sz="900" b="0" kern="1200" noProof="0" dirty="0" err="1" smtClean="0">
                          <a:solidFill>
                            <a:schemeClr val="tx1"/>
                          </a:solidFill>
                          <a:latin typeface="+mn-lt"/>
                          <a:ea typeface="+mn-ea"/>
                          <a:cs typeface="+mn-cs"/>
                        </a:rPr>
                        <a:t>Ўзбекистон</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давлат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маданият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6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effectLst/>
                          <a:latin typeface="+mn-lt"/>
                          <a:ea typeface="+mn-ea"/>
                          <a:cs typeface="+mn-cs"/>
                        </a:rPr>
                        <a:t>эстрада актерлиги</a:t>
                      </a:r>
                      <a:r>
                        <a:rPr lang="uz-Cyrl-UZ" sz="900" b="0" kern="1200" baseline="0" noProof="0" dirty="0" smtClean="0">
                          <a:solidFill>
                            <a:schemeClr val="tx1"/>
                          </a:solidFill>
                          <a:effectLst/>
                          <a:latin typeface="+mn-lt"/>
                          <a:ea typeface="+mn-ea"/>
                          <a:cs typeface="+mn-cs"/>
                        </a:rPr>
                        <a:t> </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1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52770481"/>
              </p:ext>
            </p:extLst>
          </p:nvPr>
        </p:nvGraphicFramePr>
        <p:xfrm>
          <a:off x="3674526" y="865689"/>
          <a:ext cx="3172841" cy="5923717"/>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8020">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61994">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2010 йилдан буён </a:t>
                      </a:r>
                      <a:r>
                        <a:rPr lang="uz-Cyrl-UZ" sz="900" b="0" kern="1200" noProof="0" dirty="0" smtClean="0">
                          <a:solidFill>
                            <a:schemeClr val="tx1"/>
                          </a:solidFill>
                          <a:latin typeface="+mn-lt"/>
                          <a:ea typeface="+mn-ea"/>
                          <a:cs typeface="+mn-cs"/>
                        </a:rPr>
                        <a:t>олий тоифали артист</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9684">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354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11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819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Йўқ</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2666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Й</a:t>
                      </a:r>
                      <a:r>
                        <a:rPr lang="uz-Cyrl-UZ" sz="900" noProof="0" smtClean="0">
                          <a:effectLst/>
                          <a:latin typeface="+mn-lt"/>
                          <a:ea typeface="Calibri" panose="020F0502020204030204" pitchFamily="34" charset="0"/>
                          <a:cs typeface="Times New Roman" panose="02020603050405020304" pitchFamily="18" charset="0"/>
                        </a:rPr>
                        <a:t>ўқ</a:t>
                      </a: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730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730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2024 й. 2-сонли Давлат поликлиникаси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537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3953">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0856">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60832">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2023 й. “Маданият ва санъат фидойиси” кўкрак нишони</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2023й. Ўзбекистонда хизмат кўрстаган артист</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554716490"/>
              </p:ext>
            </p:extLst>
          </p:nvPr>
        </p:nvGraphicFramePr>
        <p:xfrm>
          <a:off x="6949857" y="869288"/>
          <a:ext cx="2817247" cy="5941195"/>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27654">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0344">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742213">
                <a:tc>
                  <a:txBody>
                    <a:bodyPr/>
                    <a:lstStyle/>
                    <a:p>
                      <a:pPr marL="0" marR="0" indent="0" algn="just" defTabSz="914400" rtl="0" eaLnBrk="1" fontAlgn="auto" latinLnBrk="0" hangingPunct="1">
                        <a:lnSpc>
                          <a:spcPct val="85000"/>
                        </a:lnSpc>
                        <a:spcBef>
                          <a:spcPts val="0"/>
                        </a:spcBef>
                        <a:spcAft>
                          <a:spcPts val="0"/>
                        </a:spcAft>
                        <a:buClrTx/>
                        <a:buSzTx/>
                        <a:buFontTx/>
                        <a:buNone/>
                        <a:tabLst/>
                        <a:defRPr/>
                      </a:pPr>
                      <a:r>
                        <a:rPr lang="uz-Cyrl-UZ" sz="900" b="0" noProof="0" dirty="0" smtClean="0">
                          <a:solidFill>
                            <a:schemeClr val="tx1"/>
                          </a:solidFill>
                          <a:latin typeface="+mn-lt"/>
                        </a:rPr>
                        <a:t>    </a:t>
                      </a:r>
                      <a:r>
                        <a:rPr lang="uz-Cyrl-UZ" sz="900" b="0" kern="1200" dirty="0" smtClean="0">
                          <a:solidFill>
                            <a:schemeClr val="tx1"/>
                          </a:solidFill>
                          <a:effectLst/>
                          <a:latin typeface="+mn-lt"/>
                          <a:ea typeface="+mn-ea"/>
                          <a:cs typeface="+mn-cs"/>
                        </a:rPr>
                        <a:t>Актриса ижодий фаолияти давомида кўплаб спектаклларда турли образлар яратди. Шулардан: “Дом, где все кувырком” (А.Портес асари, Леонсия образи), “Компаньоны” (А.Галин асари,  Лена образи), “Блэз” (К.Манье асари, Женевьева образи), “Ночь в Венеции” (Н.Тердзолли Э.Вайме асари, Барбара образи), “Любовь до гроба” (А.Николаи асари, Ева образи).</a:t>
                      </a:r>
                    </a:p>
                    <a:p>
                      <a:pPr marL="0" marR="0" indent="0" algn="just" defTabSz="914400" rtl="0" eaLnBrk="1" fontAlgn="auto" latinLnBrk="0" hangingPunct="1">
                        <a:lnSpc>
                          <a:spcPct val="85000"/>
                        </a:lnSpc>
                        <a:spcBef>
                          <a:spcPts val="0"/>
                        </a:spcBef>
                        <a:spcAft>
                          <a:spcPts val="0"/>
                        </a:spcAft>
                        <a:buClrTx/>
                        <a:buSzTx/>
                        <a:buFontTx/>
                        <a:buNone/>
                        <a:tabLst/>
                        <a:defRPr/>
                      </a:pPr>
                      <a:r>
                        <a:rPr lang="uz-Cyrl-UZ" sz="900" b="0" kern="1200" baseline="0" noProof="0" dirty="0" smtClean="0">
                          <a:solidFill>
                            <a:schemeClr val="tx1"/>
                          </a:solidFill>
                          <a:effectLst/>
                          <a:latin typeface="+mn-lt"/>
                          <a:ea typeface="+mn-ea"/>
                          <a:cs typeface="+mn-cs"/>
                        </a:rPr>
                        <a:t>    </a:t>
                      </a:r>
                      <a:r>
                        <a:rPr lang="uz-Cyrl-UZ" sz="900" b="0" noProof="0" dirty="0" smtClean="0">
                          <a:solidFill>
                            <a:schemeClr val="tx1"/>
                          </a:solidFill>
                          <a:latin typeface="+mn-lt"/>
                        </a:rPr>
                        <a:t>Унинг 50 дан ортиқ қўшиқлари Ўзбекистон телерадиокомпанияси “Олтин фонди” да сақланиб келмоқда. </a:t>
                      </a:r>
                    </a:p>
                    <a:p>
                      <a:pPr algn="just"/>
                      <a:r>
                        <a:rPr lang="uz-Cyrl-UZ" sz="900" b="0" kern="1200" dirty="0" smtClean="0">
                          <a:solidFill>
                            <a:schemeClr val="tx1"/>
                          </a:solidFill>
                          <a:effectLst/>
                          <a:latin typeface="+mn-lt"/>
                          <a:ea typeface="+mn-ea"/>
                          <a:cs typeface="+mn-cs"/>
                        </a:rPr>
                        <a:t>       А.Пенькова театрда кейинги йиллар давомида саҳналаштирилган бир нечта асарларда ҳам эсда қоларли роллар ижро этди. “Плачу вперед” (Н.Птушкина асари, Натуся), “Банкрот, или Свои люди - сочтемся” (А.Н.Островский асари, Липочка), “Зойкина квартира”(М.Булгаков асариЛизонька), “Баба Шанель”(Н.Колядиасари, Сара Абрамовна), “Лавина” (Тюнджер Дюдженоглу асари, Повитуха), “Жанна” (Я.Пулинович асари, Ольга)  спектаклларидаги қатор бош роллари шулар жумласидан.</a:t>
                      </a:r>
                      <a:endParaRPr lang="ru-RU" sz="900" b="0" kern="1200" dirty="0" smtClean="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    Театрнинг бу йилги репертуарларидан жой олган премьера спектакллардан бири бўлган, дунё миқёсидаги машҳур асарлар қаторидан жой олган “Гамлет”(В.Шекспир асари, Офелия) спектаклдаги роли алоҳида эьтирофга лойиқдир.</a:t>
                      </a:r>
                      <a:endParaRPr lang="ru-RU" sz="900" b="0" kern="1200" dirty="0" smtClean="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    А.Пенькова ҳар бир образ устида жиддий ишлайди. Яратаётган қаҳрамонининг томошабин кўнглини ром этадиган энг нозик қирраларини илғай олади. Истеъдодли актриса айни пайтда театр жамоасига қўшилаётган ёшларга ўз кўмагини аямайди. Уларга мунтазам актёрлик маҳорати сирларини қунт билан ўргатади, зарур профессионал маслаҳатларини беради.</a:t>
                      </a:r>
                      <a:endParaRPr lang="ru-RU" sz="900" b="0" kern="1200" dirty="0" smtClean="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7113">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72794">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smtClean="0">
                          <a:effectLst/>
                          <a:latin typeface="+mn-lt"/>
                          <a:ea typeface="Calibri" panose="020F0502020204030204" pitchFamily="34" charset="0"/>
                          <a:cs typeface="Times New Roman" panose="02020603050405020304" pitchFamily="18" charset="0"/>
                        </a:rPr>
                        <a:t>Республикамизда</a:t>
                      </a:r>
                      <a:r>
                        <a:rPr lang="uz-Cyrl-UZ" sz="8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328650" y="1128354"/>
            <a:ext cx="808951" cy="1086060"/>
          </a:xfrm>
          <a:prstGeom prst="rect">
            <a:avLst/>
          </a:prstGeom>
        </p:spPr>
      </p:pic>
    </p:spTree>
    <p:extLst>
      <p:ext uri="{BB962C8B-B14F-4D97-AF65-F5344CB8AC3E}">
        <p14:creationId xmlns:p14="http://schemas.microsoft.com/office/powerpoint/2010/main" val="2606376947"/>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901974002"/>
              </p:ext>
            </p:extLst>
          </p:nvPr>
        </p:nvGraphicFramePr>
        <p:xfrm>
          <a:off x="138896" y="866775"/>
          <a:ext cx="3427547" cy="5945741"/>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403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7987">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РАФИҚОВ</a:t>
                      </a:r>
                      <a:r>
                        <a:rPr lang="uz-Cyrl-UZ" sz="900" b="0" kern="1200" baseline="0" dirty="0" smtClean="0">
                          <a:solidFill>
                            <a:schemeClr val="tx1"/>
                          </a:solidFill>
                          <a:latin typeface="+mn-lt"/>
                          <a:ea typeface="+mn-ea"/>
                          <a:cs typeface="+mn-cs"/>
                        </a:rPr>
                        <a:t>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798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Абзал</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798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Азимович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7987">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798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kern="1200" dirty="0" smtClean="0">
                          <a:solidFill>
                            <a:schemeClr val="tx1"/>
                          </a:solidFill>
                          <a:effectLst/>
                          <a:latin typeface="+mn-lt"/>
                          <a:ea typeface="+mn-ea"/>
                          <a:cs typeface="+mn-cs"/>
                        </a:rPr>
                        <a:t>21.08.1948</a:t>
                      </a:r>
                      <a:endParaRPr lang="ru-RU" sz="1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798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kern="1200" dirty="0" smtClean="0">
                          <a:solidFill>
                            <a:schemeClr val="tx1"/>
                          </a:solidFill>
                          <a:effectLst/>
                          <a:latin typeface="+mn-lt"/>
                          <a:ea typeface="+mn-ea"/>
                          <a:cs typeface="+mn-cs"/>
                        </a:rPr>
                        <a:t>Тошкент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577">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01922">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3 нафар ўғил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577">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840681">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baseline="0" noProof="0" dirty="0" smtClean="0">
                          <a:solidFill>
                            <a:schemeClr val="tx1"/>
                          </a:solidFill>
                          <a:latin typeface="+mn-lt"/>
                          <a:ea typeface="+mn-ea"/>
                          <a:cs typeface="Arial" panose="020B0604020202020204" pitchFamily="34" charset="0"/>
                        </a:rPr>
                        <a:t>РАФИҚОВ Азим Джаббарович </a:t>
                      </a:r>
                      <a:endParaRPr lang="uz-Cyrl-UZ" sz="900" b="1" kern="1200" noProof="0" dirty="0" smtClean="0">
                        <a:solidFill>
                          <a:schemeClr val="tx1"/>
                        </a:solidFill>
                        <a:latin typeface="+mn-lt"/>
                        <a:ea typeface="+mn-ea"/>
                        <a:cs typeface="Arial" panose="020B0604020202020204" pitchFamily="34" charset="0"/>
                      </a:endParaRPr>
                    </a:p>
                    <a:p>
                      <a:r>
                        <a:rPr lang="ru-RU" sz="900" kern="1200" dirty="0" smtClean="0">
                          <a:solidFill>
                            <a:schemeClr val="tx1"/>
                          </a:solidFill>
                          <a:effectLst/>
                          <a:latin typeface="+mn-lt"/>
                          <a:ea typeface="+mn-ea"/>
                          <a:cs typeface="+mn-cs"/>
                        </a:rPr>
                        <a:t>1925 </a:t>
                      </a:r>
                      <a:r>
                        <a:rPr lang="uz-Cyrl-UZ" sz="900" kern="1200" dirty="0" smtClean="0">
                          <a:solidFill>
                            <a:schemeClr val="tx1"/>
                          </a:solidFill>
                          <a:effectLst/>
                          <a:latin typeface="+mn-lt"/>
                          <a:ea typeface="+mn-ea"/>
                          <a:cs typeface="+mn-cs"/>
                        </a:rPr>
                        <a:t>йил,</a:t>
                      </a:r>
                      <a:r>
                        <a:rPr lang="ru-RU" sz="900" kern="1200" baseline="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Тошкент шаҳри </a:t>
                      </a:r>
                      <a:endParaRPr lang="uz-Cyrl-UZ" sz="2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spcAft>
                          <a:spcPts val="0"/>
                        </a:spcAft>
                      </a:pPr>
                      <a:r>
                        <a:rPr lang="ru-RU" sz="900" dirty="0">
                          <a:effectLst/>
                          <a:latin typeface="+mn-lt"/>
                          <a:ea typeface="Times New Roman" panose="02020603050405020304" pitchFamily="18" charset="0"/>
                          <a:cs typeface="Times New Roman" panose="02020603050405020304" pitchFamily="18" charset="0"/>
                        </a:rPr>
                        <a:t>2014 </a:t>
                      </a:r>
                      <a:r>
                        <a:rPr lang="ru-RU" sz="900" dirty="0" err="1">
                          <a:effectLst/>
                          <a:latin typeface="+mn-lt"/>
                          <a:ea typeface="Times New Roman" panose="02020603050405020304" pitchFamily="18" charset="0"/>
                          <a:cs typeface="Times New Roman" panose="02020603050405020304" pitchFamily="18" charset="0"/>
                        </a:rPr>
                        <a:t>йил</a:t>
                      </a:r>
                      <a:r>
                        <a:rPr lang="ru-RU" sz="900" dirty="0">
                          <a:effectLst/>
                          <a:latin typeface="+mn-lt"/>
                          <a:ea typeface="Times New Roman" panose="02020603050405020304" pitchFamily="18" charset="0"/>
                          <a:cs typeface="Times New Roman" panose="02020603050405020304" pitchFamily="18" charset="0"/>
                        </a:rPr>
                        <a:t> </a:t>
                      </a:r>
                      <a:r>
                        <a:rPr lang="ru-RU" sz="900" dirty="0" err="1">
                          <a:effectLst/>
                          <a:latin typeface="+mn-lt"/>
                          <a:ea typeface="Times New Roman" panose="02020603050405020304" pitchFamily="18" charset="0"/>
                          <a:cs typeface="Times New Roman" panose="02020603050405020304" pitchFamily="18" charset="0"/>
                        </a:rPr>
                        <a:t>вафот</a:t>
                      </a:r>
                      <a:r>
                        <a:rPr lang="ru-RU" sz="900" dirty="0">
                          <a:effectLst/>
                          <a:latin typeface="+mn-lt"/>
                          <a:ea typeface="Times New Roman" panose="02020603050405020304" pitchFamily="18" charset="0"/>
                          <a:cs typeface="Times New Roman" panose="02020603050405020304" pitchFamily="18" charset="0"/>
                        </a:rPr>
                        <a:t> </a:t>
                      </a:r>
                      <a:r>
                        <a:rPr lang="ru-RU" sz="900" dirty="0" err="1">
                          <a:effectLst/>
                          <a:latin typeface="+mn-lt"/>
                          <a:ea typeface="Times New Roman" panose="02020603050405020304" pitchFamily="18" charset="0"/>
                          <a:cs typeface="Times New Roman" panose="02020603050405020304" pitchFamily="18" charset="0"/>
                        </a:rPr>
                        <a:t>этган</a:t>
                      </a:r>
                      <a:endParaRPr lang="ru-RU" sz="900" dirty="0">
                        <a:effectLst/>
                        <a:latin typeface="+mn-lt"/>
                        <a:ea typeface="Times New Roman" panose="02020603050405020304" pitchFamily="18" charset="0"/>
                        <a:cs typeface="Times New Roman" panose="02020603050405020304" pitchFamily="18" charset="0"/>
                      </a:endParaRPr>
                    </a:p>
                    <a:p>
                      <a:pPr algn="l">
                        <a:spcAft>
                          <a:spcPts val="0"/>
                        </a:spcAft>
                      </a:pPr>
                      <a:r>
                        <a:rPr lang="ru-RU" sz="900" dirty="0">
                          <a:effectLst/>
                          <a:latin typeface="+mn-lt"/>
                          <a:ea typeface="Times New Roman" panose="02020603050405020304" pitchFamily="18" charset="0"/>
                          <a:cs typeface="Times New Roman" panose="02020603050405020304" pitchFamily="18" charset="0"/>
                        </a:rPr>
                        <a:t>(</a:t>
                      </a:r>
                      <a:r>
                        <a:rPr lang="ru-RU" sz="900" dirty="0" err="1">
                          <a:effectLst/>
                          <a:latin typeface="+mn-lt"/>
                          <a:ea typeface="Times New Roman" panose="02020603050405020304" pitchFamily="18" charset="0"/>
                          <a:cs typeface="Times New Roman" panose="02020603050405020304" pitchFamily="18" charset="0"/>
                        </a:rPr>
                        <a:t>Низомий</a:t>
                      </a:r>
                      <a:r>
                        <a:rPr lang="ru-RU" sz="900" dirty="0">
                          <a:effectLst/>
                          <a:latin typeface="+mn-lt"/>
                          <a:ea typeface="Times New Roman" panose="02020603050405020304" pitchFamily="18" charset="0"/>
                          <a:cs typeface="Times New Roman" panose="02020603050405020304" pitchFamily="18" charset="0"/>
                        </a:rPr>
                        <a:t> </a:t>
                      </a:r>
                      <a:r>
                        <a:rPr lang="ru-RU" sz="900" dirty="0" err="1">
                          <a:effectLst/>
                          <a:latin typeface="+mn-lt"/>
                          <a:ea typeface="Times New Roman" panose="02020603050405020304" pitchFamily="18" charset="0"/>
                          <a:cs typeface="Times New Roman" panose="02020603050405020304" pitchFamily="18" charset="0"/>
                        </a:rPr>
                        <a:t>номидаги</a:t>
                      </a:r>
                      <a:r>
                        <a:rPr lang="ru-RU" sz="900" dirty="0">
                          <a:effectLst/>
                          <a:latin typeface="+mn-lt"/>
                          <a:ea typeface="Times New Roman" panose="02020603050405020304" pitchFamily="18" charset="0"/>
                          <a:cs typeface="Times New Roman" panose="02020603050405020304" pitchFamily="18" charset="0"/>
                        </a:rPr>
                        <a:t> </a:t>
                      </a:r>
                      <a:r>
                        <a:rPr lang="ru-RU" sz="900" dirty="0" err="1">
                          <a:effectLst/>
                          <a:latin typeface="+mn-lt"/>
                          <a:ea typeface="Times New Roman" panose="02020603050405020304" pitchFamily="18" charset="0"/>
                          <a:cs typeface="Times New Roman" panose="02020603050405020304" pitchFamily="18" charset="0"/>
                        </a:rPr>
                        <a:t>Тошкент</a:t>
                      </a:r>
                      <a:r>
                        <a:rPr lang="ru-RU" sz="900" dirty="0">
                          <a:effectLst/>
                          <a:latin typeface="+mn-lt"/>
                          <a:ea typeface="Times New Roman" panose="02020603050405020304" pitchFamily="18" charset="0"/>
                          <a:cs typeface="Times New Roman" panose="02020603050405020304" pitchFamily="18" charset="0"/>
                        </a:rPr>
                        <a:t> </a:t>
                      </a:r>
                      <a:r>
                        <a:rPr lang="ru-RU" sz="900" dirty="0" err="1">
                          <a:effectLst/>
                          <a:latin typeface="+mn-lt"/>
                          <a:ea typeface="Times New Roman" panose="02020603050405020304" pitchFamily="18" charset="0"/>
                          <a:cs typeface="Times New Roman" panose="02020603050405020304" pitchFamily="18" charset="0"/>
                        </a:rPr>
                        <a:t>давлат</a:t>
                      </a:r>
                      <a:r>
                        <a:rPr lang="ru-RU" sz="900" dirty="0">
                          <a:effectLst/>
                          <a:latin typeface="+mn-lt"/>
                          <a:ea typeface="Times New Roman" panose="02020603050405020304" pitchFamily="18" charset="0"/>
                          <a:cs typeface="Times New Roman" panose="02020603050405020304" pitchFamily="18" charset="0"/>
                        </a:rPr>
                        <a:t> педагогика </a:t>
                      </a:r>
                      <a:r>
                        <a:rPr lang="uz-Cyrl-UZ" sz="900" dirty="0">
                          <a:effectLst/>
                          <a:latin typeface="+mn-lt"/>
                          <a:ea typeface="Times New Roman" panose="02020603050405020304" pitchFamily="18" charset="0"/>
                          <a:cs typeface="Times New Roman" panose="02020603050405020304" pitchFamily="18" charset="0"/>
                        </a:rPr>
                        <a:t>у</a:t>
                      </a:r>
                      <a:r>
                        <a:rPr lang="ru-RU" sz="900" dirty="0" err="1">
                          <a:effectLst/>
                          <a:latin typeface="+mn-lt"/>
                          <a:ea typeface="Times New Roman" panose="02020603050405020304" pitchFamily="18" charset="0"/>
                          <a:cs typeface="Times New Roman" panose="02020603050405020304" pitchFamily="18" charset="0"/>
                        </a:rPr>
                        <a:t>ниверситети</a:t>
                      </a:r>
                      <a:r>
                        <a:rPr lang="ru-RU" sz="900" dirty="0">
                          <a:effectLst/>
                          <a:latin typeface="+mn-lt"/>
                          <a:ea typeface="Times New Roman" panose="02020603050405020304" pitchFamily="18" charset="0"/>
                          <a:cs typeface="Times New Roman" panose="02020603050405020304" pitchFamily="18" charset="0"/>
                        </a:rPr>
                        <a:t> </a:t>
                      </a:r>
                      <a:r>
                        <a:rPr lang="ru-RU" sz="900" dirty="0" err="1">
                          <a:effectLst/>
                          <a:latin typeface="+mn-lt"/>
                          <a:ea typeface="Times New Roman" panose="02020603050405020304" pitchFamily="18" charset="0"/>
                          <a:cs typeface="Times New Roman" panose="02020603050405020304" pitchFamily="18" charset="0"/>
                        </a:rPr>
                        <a:t>профессори</a:t>
                      </a:r>
                      <a:r>
                        <a:rPr lang="ru-RU" sz="900" dirty="0">
                          <a:effectLst/>
                          <a:latin typeface="+mn-lt"/>
                          <a:ea typeface="Times New Roman" panose="02020603050405020304" pitchFamily="18" charset="0"/>
                          <a:cs typeface="Times New Roman" panose="02020603050405020304" pitchFamily="18" charset="0"/>
                        </a:rPr>
                        <a:t>)</a:t>
                      </a: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18497">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РАФИҚОВА Хамро</a:t>
                      </a:r>
                    </a:p>
                    <a:p>
                      <a:pPr algn="l">
                        <a:lnSpc>
                          <a:spcPct val="85000"/>
                        </a:lnSpc>
                      </a:pPr>
                      <a:r>
                        <a:rPr lang="uz-Cyrl-UZ" sz="900" b="0" kern="1200" noProof="0" dirty="0" smtClean="0">
                          <a:solidFill>
                            <a:schemeClr val="tx1"/>
                          </a:solidFill>
                          <a:latin typeface="+mn-lt"/>
                          <a:ea typeface="+mn-ea"/>
                          <a:cs typeface="Arial" panose="020B0604020202020204" pitchFamily="34" charset="0"/>
                        </a:rPr>
                        <a:t>1925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ru-RU" sz="900" kern="1200" dirty="0" smtClean="0">
                          <a:solidFill>
                            <a:schemeClr val="tx1"/>
                          </a:solidFill>
                          <a:effectLst/>
                          <a:latin typeface="+mn-lt"/>
                          <a:ea typeface="+mn-ea"/>
                          <a:cs typeface="+mn-cs"/>
                        </a:rPr>
                        <a:t>1989 </a:t>
                      </a:r>
                      <a:r>
                        <a:rPr lang="ru-RU" sz="900" kern="1200" dirty="0" err="1" smtClean="0">
                          <a:solidFill>
                            <a:schemeClr val="tx1"/>
                          </a:solidFill>
                          <a:effectLst/>
                          <a:latin typeface="+mn-lt"/>
                          <a:ea typeface="+mn-ea"/>
                          <a:cs typeface="+mn-cs"/>
                        </a:rPr>
                        <a:t>йил</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вафот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этган</a:t>
                      </a:r>
                      <a:endParaRPr lang="ru-RU" sz="900" kern="1200" dirty="0" smtClean="0">
                        <a:solidFill>
                          <a:schemeClr val="tx1"/>
                        </a:solidFill>
                        <a:effectLst/>
                        <a:latin typeface="+mn-lt"/>
                        <a:ea typeface="+mn-ea"/>
                        <a:cs typeface="+mn-cs"/>
                      </a:endParaRPr>
                    </a:p>
                    <a:p>
                      <a:pPr algn="l"/>
                      <a:r>
                        <a:rPr lang="ru-RU" sz="900" kern="1200" dirty="0" smtClean="0">
                          <a:solidFill>
                            <a:schemeClr val="tx1"/>
                          </a:solidFill>
                          <a:effectLst/>
                          <a:latin typeface="+mn-lt"/>
                          <a:ea typeface="+mn-ea"/>
                          <a:cs typeface="+mn-cs"/>
                        </a:rPr>
                        <a:t>(</a:t>
                      </a:r>
                      <a:r>
                        <a:rPr lang="uz-Cyrl-UZ" sz="900" kern="1200" dirty="0" smtClean="0">
                          <a:solidFill>
                            <a:schemeClr val="tx1"/>
                          </a:solidFill>
                          <a:effectLst/>
                          <a:latin typeface="+mn-lt"/>
                          <a:ea typeface="+mn-ea"/>
                          <a:cs typeface="+mn-cs"/>
                        </a:rPr>
                        <a:t>У</a:t>
                      </a:r>
                      <a:r>
                        <a:rPr lang="ru-RU" sz="900" kern="1200" dirty="0" smtClean="0">
                          <a:solidFill>
                            <a:schemeClr val="tx1"/>
                          </a:solidFill>
                          <a:effectLst/>
                          <a:latin typeface="+mn-lt"/>
                          <a:ea typeface="+mn-ea"/>
                          <a:cs typeface="+mn-cs"/>
                        </a:rPr>
                        <a:t>й </a:t>
                      </a:r>
                      <a:r>
                        <a:rPr lang="ru-RU" sz="900" kern="1200" dirty="0" err="1" smtClean="0">
                          <a:solidFill>
                            <a:schemeClr val="tx1"/>
                          </a:solidFill>
                          <a:effectLst/>
                          <a:latin typeface="+mn-lt"/>
                          <a:ea typeface="+mn-ea"/>
                          <a:cs typeface="+mn-cs"/>
                        </a:rPr>
                        <a:t>бекаси</a:t>
                      </a:r>
                      <a:r>
                        <a:rPr lang="ru-RU" sz="900" kern="1200" dirty="0" smtClean="0">
                          <a:solidFill>
                            <a:schemeClr val="tx1"/>
                          </a:solidFill>
                          <a:effectLst/>
                          <a:latin typeface="+mn-lt"/>
                          <a:ea typeface="+mn-ea"/>
                          <a:cs typeface="+mn-cs"/>
                        </a:rPr>
                        <a:t>)</a:t>
                      </a:r>
                      <a:endParaRPr lang="ru-RU" sz="90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18497">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РАФИҚОВА Шохида </a:t>
                      </a:r>
                    </a:p>
                    <a:p>
                      <a:pPr algn="l">
                        <a:lnSpc>
                          <a:spcPct val="85000"/>
                        </a:lnSpc>
                      </a:pPr>
                      <a:r>
                        <a:rPr lang="uz-Cyrl-UZ" sz="900" b="0" kern="1200" noProof="0" dirty="0" smtClean="0">
                          <a:solidFill>
                            <a:schemeClr val="tx1"/>
                          </a:solidFill>
                          <a:latin typeface="+mn-lt"/>
                          <a:ea typeface="+mn-ea"/>
                          <a:cs typeface="Arial" panose="020B0604020202020204" pitchFamily="34" charset="0"/>
                        </a:rPr>
                        <a:t>1951</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spcAft>
                          <a:spcPts val="0"/>
                        </a:spcAft>
                      </a:pPr>
                      <a:r>
                        <a:rPr lang="uz-Cyrl-UZ" sz="900" dirty="0" smtClean="0">
                          <a:effectLst/>
                          <a:latin typeface="+mn-lt"/>
                          <a:ea typeface="Times New Roman" panose="02020603050405020304" pitchFamily="18" charset="0"/>
                          <a:cs typeface="Times New Roman" panose="02020603050405020304" pitchFamily="18" charset="0"/>
                        </a:rPr>
                        <a:t>Нафақада</a:t>
                      </a:r>
                      <a:r>
                        <a:rPr lang="ru-RU" sz="900" dirty="0" smtClean="0">
                          <a:effectLst/>
                          <a:latin typeface="+mn-lt"/>
                          <a:ea typeface="Times New Roman" panose="02020603050405020304" pitchFamily="18" charset="0"/>
                          <a:cs typeface="Times New Roman" panose="02020603050405020304" pitchFamily="18" charset="0"/>
                        </a:rPr>
                        <a:t>                   </a:t>
                      </a:r>
                      <a:r>
                        <a:rPr lang="ru-RU" sz="900" dirty="0">
                          <a:effectLst/>
                          <a:latin typeface="+mn-lt"/>
                          <a:ea typeface="Times New Roman" panose="02020603050405020304" pitchFamily="18" charset="0"/>
                          <a:cs typeface="Times New Roman" panose="02020603050405020304" pitchFamily="18" charset="0"/>
                        </a:rPr>
                        <a:t>РЦЭМП, </a:t>
                      </a:r>
                      <a:r>
                        <a:rPr lang="ru-RU" sz="900" dirty="0" err="1">
                          <a:effectLst/>
                          <a:latin typeface="+mn-lt"/>
                          <a:ea typeface="Times New Roman" panose="02020603050405020304" pitchFamily="18" charset="0"/>
                          <a:cs typeface="Times New Roman" panose="02020603050405020304" pitchFamily="18" charset="0"/>
                        </a:rPr>
                        <a:t>шифокор</a:t>
                      </a:r>
                      <a:r>
                        <a:rPr lang="uz-Cyrl-UZ" sz="900" dirty="0">
                          <a:effectLst/>
                          <a:latin typeface="+mn-lt"/>
                          <a:ea typeface="Times New Roman" panose="02020603050405020304" pitchFamily="18" charset="0"/>
                          <a:cs typeface="Times New Roman" panose="02020603050405020304" pitchFamily="18" charset="0"/>
                        </a:rPr>
                        <a:t>и</a:t>
                      </a:r>
                      <a:endParaRPr lang="ru-RU" sz="900" dirty="0">
                        <a:effectLst/>
                        <a:latin typeface="+mn-lt"/>
                        <a:ea typeface="Times New Roman" panose="02020603050405020304" pitchFamily="18"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8225">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04682">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1974 й. А.Н.</a:t>
                      </a:r>
                      <a:r>
                        <a:rPr lang="ru-RU" sz="900" kern="1200" dirty="0" smtClean="0">
                          <a:solidFill>
                            <a:schemeClr val="tx1"/>
                          </a:solidFill>
                          <a:effectLst/>
                          <a:latin typeface="+mn-lt"/>
                          <a:ea typeface="+mn-ea"/>
                          <a:cs typeface="+mn-cs"/>
                        </a:rPr>
                        <a:t>Островский </a:t>
                      </a:r>
                      <a:r>
                        <a:rPr lang="ru-RU" sz="900" kern="1200" dirty="0" err="1" smtClean="0">
                          <a:solidFill>
                            <a:schemeClr val="tx1"/>
                          </a:solidFill>
                          <a:effectLst/>
                          <a:latin typeface="+mn-lt"/>
                          <a:ea typeface="+mn-ea"/>
                          <a:cs typeface="+mn-cs"/>
                        </a:rPr>
                        <a:t>номидаги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Тошкент</a:t>
                      </a:r>
                      <a:r>
                        <a:rPr lang="ru-RU" sz="900" kern="1200" dirty="0" smtClean="0">
                          <a:solidFill>
                            <a:schemeClr val="tx1"/>
                          </a:solidFill>
                          <a:effectLst/>
                          <a:latin typeface="+mn-lt"/>
                          <a:ea typeface="+mn-ea"/>
                          <a:cs typeface="+mn-cs"/>
                        </a:rPr>
                        <a:t> театр </a:t>
                      </a:r>
                      <a:r>
                        <a:rPr lang="uz-Cyrl-UZ" sz="900" kern="1200" dirty="0" smtClean="0">
                          <a:solidFill>
                            <a:schemeClr val="tx1"/>
                          </a:solidFill>
                          <a:effectLst/>
                          <a:latin typeface="+mn-lt"/>
                          <a:ea typeface="+mn-ea"/>
                          <a:cs typeface="+mn-cs"/>
                        </a:rPr>
                        <a:t>ва рассомлик </a:t>
                      </a:r>
                      <a:r>
                        <a:rPr lang="ru-RU" sz="900" kern="1200" dirty="0" err="1" smtClean="0">
                          <a:solidFill>
                            <a:schemeClr val="tx1"/>
                          </a:solidFill>
                          <a:effectLst/>
                          <a:latin typeface="+mn-lt"/>
                          <a:ea typeface="+mn-ea"/>
                          <a:cs typeface="+mn-cs"/>
                        </a:rPr>
                        <a:t>санъат</a:t>
                      </a:r>
                      <a:r>
                        <a:rPr lang="uz-Cyrl-UZ" sz="900" kern="1200" dirty="0" smtClean="0">
                          <a:solidFill>
                            <a:schemeClr val="tx1"/>
                          </a:solidFill>
                          <a:effectLst/>
                          <a:latin typeface="+mn-lt"/>
                          <a:ea typeface="+mn-ea"/>
                          <a:cs typeface="+mn-cs"/>
                        </a:rPr>
                        <a:t>и </a:t>
                      </a:r>
                      <a:r>
                        <a:rPr lang="ru-RU" sz="900" kern="1200" dirty="0" err="1" smtClean="0">
                          <a:solidFill>
                            <a:schemeClr val="tx1"/>
                          </a:solidFill>
                          <a:effectLst/>
                          <a:latin typeface="+mn-lt"/>
                          <a:ea typeface="+mn-ea"/>
                          <a:cs typeface="+mn-cs"/>
                        </a:rPr>
                        <a:t>институти</a:t>
                      </a:r>
                      <a:endParaRPr lang="ru-RU" sz="90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65834">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effectLst/>
                          <a:latin typeface="+mn-lt"/>
                          <a:ea typeface="+mn-ea"/>
                          <a:cs typeface="+mn-cs"/>
                        </a:rPr>
                        <a:t>Театр</a:t>
                      </a:r>
                      <a:r>
                        <a:rPr lang="uz-Cyrl-UZ" sz="900" b="0" kern="1200" baseline="0" noProof="0" dirty="0" smtClean="0">
                          <a:solidFill>
                            <a:schemeClr val="tx1"/>
                          </a:solidFill>
                          <a:effectLst/>
                          <a:latin typeface="+mn-lt"/>
                          <a:ea typeface="+mn-ea"/>
                          <a:cs typeface="+mn-cs"/>
                        </a:rPr>
                        <a:t> ва кино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4089">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4089">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24116">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499968592"/>
              </p:ext>
            </p:extLst>
          </p:nvPr>
        </p:nvGraphicFramePr>
        <p:xfrm>
          <a:off x="3674526" y="865689"/>
          <a:ext cx="3172841" cy="5946825"/>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5002">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33330">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0" kern="1200" noProof="0" dirty="0" smtClean="0">
                          <a:solidFill>
                            <a:schemeClr val="tx1"/>
                          </a:solidFill>
                          <a:latin typeface="+mn-lt"/>
                          <a:ea typeface="+mn-ea"/>
                          <a:cs typeface="+mn-cs"/>
                        </a:rPr>
                        <a:t>Ўзбекистон давлат</a:t>
                      </a:r>
                      <a:r>
                        <a:rPr lang="uz-Cyrl-UZ" sz="900" b="0" kern="1200" baseline="0" noProof="0" dirty="0" smtClean="0">
                          <a:solidFill>
                            <a:schemeClr val="tx1"/>
                          </a:solidFill>
                          <a:latin typeface="+mn-lt"/>
                          <a:ea typeface="+mn-ea"/>
                          <a:cs typeface="+mn-cs"/>
                        </a:rPr>
                        <a:t> академик рус драма театри етакчи саҳна устаси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743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160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56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638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Йўқ</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1863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4637">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463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2021 й.  2-сонли далат</a:t>
                      </a:r>
                      <a:r>
                        <a:rPr lang="uz-Cyrl-UZ" sz="900" kern="1200" baseline="0" noProof="0" dirty="0" smtClean="0">
                          <a:solidFill>
                            <a:schemeClr val="tx1"/>
                          </a:solidFill>
                          <a:effectLst/>
                          <a:latin typeface="+mn-lt"/>
                          <a:ea typeface="Calibri" panose="020F0502020204030204" pitchFamily="34" charset="0"/>
                          <a:cs typeface="Times New Roman" panose="02020603050405020304" pitchFamily="18" charset="0"/>
                        </a:rPr>
                        <a:t> поликлиникаси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272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157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8768">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42095">
                <a:tc gridSpan="2">
                  <a:txBody>
                    <a:bodyPr/>
                    <a:lstStyle/>
                    <a:p>
                      <a:r>
                        <a:rPr lang="uz-Cyrl-UZ" sz="900" kern="1200" dirty="0" smtClean="0">
                          <a:solidFill>
                            <a:schemeClr val="tx1"/>
                          </a:solidFill>
                          <a:effectLst/>
                          <a:latin typeface="+mn-lt"/>
                          <a:ea typeface="+mn-ea"/>
                          <a:cs typeface="+mn-cs"/>
                        </a:rPr>
                        <a:t>1992 й. “Ўзбекистон Республикасида хизмат кўрсатган артист”</a:t>
                      </a:r>
                    </a:p>
                    <a:p>
                      <a:r>
                        <a:rPr lang="uz-Cyrl-UZ" sz="900" kern="1200" dirty="0" smtClean="0">
                          <a:solidFill>
                            <a:schemeClr val="tx1"/>
                          </a:solidFill>
                          <a:effectLst/>
                          <a:latin typeface="+mn-lt"/>
                          <a:ea typeface="+mn-ea"/>
                          <a:cs typeface="+mn-cs"/>
                        </a:rPr>
                        <a:t>                 фахрий унвони</a:t>
                      </a:r>
                      <a:endParaRPr lang="ru-RU" sz="900" kern="1200" dirty="0" smtClean="0">
                        <a:solidFill>
                          <a:schemeClr val="tx1"/>
                        </a:solidFill>
                        <a:effectLst/>
                        <a:latin typeface="+mn-lt"/>
                        <a:ea typeface="+mn-ea"/>
                        <a:cs typeface="+mn-cs"/>
                      </a:endParaRPr>
                    </a:p>
                    <a:p>
                      <a:r>
                        <a:rPr lang="ru-RU" sz="900" kern="1200" dirty="0" smtClean="0">
                          <a:solidFill>
                            <a:schemeClr val="tx1"/>
                          </a:solidFill>
                          <a:effectLst/>
                          <a:latin typeface="+mn-lt"/>
                          <a:ea typeface="+mn-ea"/>
                          <a:cs typeface="+mn-cs"/>
                        </a:rPr>
                        <a:t>2000 й</a:t>
                      </a:r>
                      <a:r>
                        <a:rPr lang="uz-Cyrl-UZ" sz="900" kern="1200" dirty="0" smtClean="0">
                          <a:solidFill>
                            <a:schemeClr val="tx1"/>
                          </a:solidFill>
                          <a:effectLst/>
                          <a:latin typeface="+mn-lt"/>
                          <a:ea typeface="+mn-ea"/>
                          <a:cs typeface="+mn-cs"/>
                        </a:rPr>
                        <a:t>. “Ў</a:t>
                      </a:r>
                      <a:r>
                        <a:rPr lang="ru-RU" sz="900" kern="1200" dirty="0" err="1" smtClean="0">
                          <a:solidFill>
                            <a:schemeClr val="tx1"/>
                          </a:solidFill>
                          <a:effectLst/>
                          <a:latin typeface="+mn-lt"/>
                          <a:ea typeface="+mn-ea"/>
                          <a:cs typeface="+mn-cs"/>
                        </a:rPr>
                        <a:t>збекистон</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Республикаси х</a:t>
                      </a:r>
                      <a:r>
                        <a:rPr lang="ru-RU" sz="900" kern="1200" dirty="0" err="1" smtClean="0">
                          <a:solidFill>
                            <a:schemeClr val="tx1"/>
                          </a:solidFill>
                          <a:effectLst/>
                          <a:latin typeface="+mn-lt"/>
                          <a:ea typeface="+mn-ea"/>
                          <a:cs typeface="+mn-cs"/>
                        </a:rPr>
                        <a:t>алк</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артисти</a:t>
                      </a:r>
                      <a:r>
                        <a:rPr lang="uz-Cyrl-UZ" sz="900" kern="1200" dirty="0" smtClean="0">
                          <a:solidFill>
                            <a:schemeClr val="tx1"/>
                          </a:solidFill>
                          <a:effectLst/>
                          <a:latin typeface="+mn-lt"/>
                          <a:ea typeface="+mn-ea"/>
                          <a:cs typeface="+mn-cs"/>
                        </a:rPr>
                        <a:t>” фахрий </a:t>
                      </a:r>
                    </a:p>
                    <a:p>
                      <a:r>
                        <a:rPr lang="uz-Cyrl-UZ" sz="900" kern="1200" dirty="0" smtClean="0">
                          <a:solidFill>
                            <a:schemeClr val="tx1"/>
                          </a:solidFill>
                          <a:effectLst/>
                          <a:latin typeface="+mn-lt"/>
                          <a:ea typeface="+mn-ea"/>
                          <a:cs typeface="+mn-cs"/>
                        </a:rPr>
                        <a:t>                унвони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2010 й. “Меҳнат шухрати” ордени</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947252105"/>
              </p:ext>
            </p:extLst>
          </p:nvPr>
        </p:nvGraphicFramePr>
        <p:xfrm>
          <a:off x="6949857" y="869287"/>
          <a:ext cx="2817247" cy="5950062"/>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51467">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4529">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344969">
                <a:tc>
                  <a:txBody>
                    <a:bodyPr/>
                    <a:lstStyle/>
                    <a:p>
                      <a:pPr algn="just"/>
                      <a:r>
                        <a:rPr lang="uz-Cyrl-UZ"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Юксак ижро маҳорати ва ноёб овози билан халқ меҳрини қозонган.</a:t>
                      </a:r>
                      <a:r>
                        <a:rPr lang="ru-RU"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“Искандар”, “Келинлар қўзғолони”, “Ёзилмаган мактуб”, “Қирол Лир”, “Шарқ алломалари”, “Маликалар”, “Тоға ва жиянлар”, "Тирик мурда", "Нодирабегим", “Когда лошадь теряет сознание”, “Бешенные деньги”, “Дядя Ваня”, “ Ретро”, “Одинокая лодка”, “Иди моё творение в народ”, “Лавина”, "Отелло", "Фаридун" каби спектакллар ва “Яратганга шукур”, “Алпомиш” каби фильмларда турли тақдирли инсонлар образини яратган.   “Навоий”, “Яго” ва “Қирол Лир”образлари юксак эътироф этилган.</a:t>
                      </a:r>
                      <a:r>
                        <a:rPr lang="ru-RU"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Барча роллари ранг-баранг, хилма-хил, бир-бирига ўхшамайди. Бу актёр истеъдодининг нақадар юқори ва бетакрорлигидан далолатдир. Касбига бўлган хурмати ва мухаббати хар бир ролни мукаммал чуқур ўрганиб, уни моҳиятини тўлиқ пухта қилиб ижро этишида замин ва таянч вазифасини ўтайди</a:t>
                      </a:r>
                      <a:endParaRPr lang="ru-RU" sz="900" b="0" kern="1200" dirty="0" smtClean="0">
                        <a:solidFill>
                          <a:schemeClr val="tx1"/>
                        </a:solidFill>
                        <a:effectLst/>
                        <a:latin typeface="+mn-lt"/>
                        <a:ea typeface="+mn-ea"/>
                        <a:cs typeface="+mn-cs"/>
                      </a:endParaRPr>
                    </a:p>
                    <a:p>
                      <a:pPr algn="just"/>
                      <a:r>
                        <a:rPr lang="uz-Cyrl-UZ"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Айниқса актёрнинг овози театр томошабинини ҳам телерадио тингловчиларининг ҳам ич-ичига кириб бориб, вужудини ларзага солишга қодир.Унинг овози ўзбек халқининг ғурури десак булади.  Радиода 100 дан ортиқ постановкаларда иштирок этган. Юксак артистлик истеъдоди, ноёб овози ва маҳорати билан мамлакатимиз театр ва кино жамоатчилиги, халқимиз ўртасида ҳурмат қозонган. </a:t>
                      </a:r>
                      <a:r>
                        <a:rPr lang="ru-RU" sz="900" b="0" kern="1200" dirty="0" smtClean="0">
                          <a:solidFill>
                            <a:schemeClr val="tx1"/>
                          </a:solidFill>
                          <a:effectLst/>
                          <a:latin typeface="+mn-lt"/>
                          <a:ea typeface="+mn-ea"/>
                          <a:cs typeface="+mn-cs"/>
                        </a:rPr>
                        <a:t>Актёр</a:t>
                      </a:r>
                      <a:r>
                        <a:rPr lang="ru-RU" sz="900" b="0" kern="1200" baseline="0" dirty="0" smtClean="0">
                          <a:solidFill>
                            <a:schemeClr val="tx1"/>
                          </a:solidFill>
                          <a:effectLst/>
                          <a:latin typeface="+mn-lt"/>
                          <a:ea typeface="+mn-ea"/>
                          <a:cs typeface="+mn-cs"/>
                        </a:rPr>
                        <a:t> </a:t>
                      </a:r>
                      <a:r>
                        <a:rPr lang="uz-Cyrl-UZ" sz="900" b="0" kern="1200" baseline="0" dirty="0" smtClean="0">
                          <a:solidFill>
                            <a:schemeClr val="tx1"/>
                          </a:solidFill>
                          <a:effectLst/>
                          <a:latin typeface="+mn-lt"/>
                          <a:ea typeface="+mn-ea"/>
                          <a:cs typeface="+mn-cs"/>
                        </a:rPr>
                        <a:t>Р</a:t>
                      </a:r>
                      <a:r>
                        <a:rPr lang="uz-Cyrl-UZ" sz="900" b="0" kern="1200" dirty="0" smtClean="0">
                          <a:solidFill>
                            <a:schemeClr val="tx1"/>
                          </a:solidFill>
                          <a:effectLst/>
                          <a:latin typeface="+mn-lt"/>
                          <a:ea typeface="+mn-ea"/>
                          <a:cs typeface="+mn-cs"/>
                        </a:rPr>
                        <a:t>еспубликамизнинг энг олий мукофотига лойиқ инсонлардан бири. А.Рафиқовга тенг келадиган маҳоратли устозлар сони камайиб бормоқда. Унинг Ўзбекистон театр санъати ва Ўзбекистондаги рус драма санъатига, бу билан Ўзбекистон ва Россия дўстлигига қўшаётган ҳиссаси беқиёс.</a:t>
                      </a:r>
                      <a:endParaRPr lang="ru-RU" sz="900" b="0" kern="1200" dirty="0" smtClean="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6233">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738735">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07572" y="1155063"/>
            <a:ext cx="793030" cy="1059416"/>
          </a:xfrm>
          <a:prstGeom prst="rect">
            <a:avLst/>
          </a:prstGeom>
        </p:spPr>
      </p:pic>
    </p:spTree>
    <p:extLst>
      <p:ext uri="{BB962C8B-B14F-4D97-AF65-F5344CB8AC3E}">
        <p14:creationId xmlns:p14="http://schemas.microsoft.com/office/powerpoint/2010/main" val="852092225"/>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103902371"/>
              </p:ext>
            </p:extLst>
          </p:nvPr>
        </p:nvGraphicFramePr>
        <p:xfrm>
          <a:off x="138896" y="883920"/>
          <a:ext cx="3502228" cy="5960764"/>
        </p:xfrm>
        <a:graphic>
          <a:graphicData uri="http://schemas.openxmlformats.org/drawingml/2006/table">
            <a:tbl>
              <a:tblPr firstRow="1" bandRow="1">
                <a:tableStyleId>{C083E6E3-FA7D-4D7B-A595-EF9225AFEA82}</a:tableStyleId>
              </a:tblPr>
              <a:tblGrid>
                <a:gridCol w="608158">
                  <a:extLst>
                    <a:ext uri="{9D8B030D-6E8A-4147-A177-3AD203B41FA5}">
                      <a16:colId xmlns:a16="http://schemas.microsoft.com/office/drawing/2014/main" val="2288412290"/>
                    </a:ext>
                  </a:extLst>
                </a:gridCol>
                <a:gridCol w="514515">
                  <a:extLst>
                    <a:ext uri="{9D8B030D-6E8A-4147-A177-3AD203B41FA5}">
                      <a16:colId xmlns:a16="http://schemas.microsoft.com/office/drawing/2014/main" val="1678982439"/>
                    </a:ext>
                  </a:extLst>
                </a:gridCol>
                <a:gridCol w="156842">
                  <a:extLst>
                    <a:ext uri="{9D8B030D-6E8A-4147-A177-3AD203B41FA5}">
                      <a16:colId xmlns:a16="http://schemas.microsoft.com/office/drawing/2014/main" val="2721661767"/>
                    </a:ext>
                  </a:extLst>
                </a:gridCol>
                <a:gridCol w="930046">
                  <a:extLst>
                    <a:ext uri="{9D8B030D-6E8A-4147-A177-3AD203B41FA5}">
                      <a16:colId xmlns:a16="http://schemas.microsoft.com/office/drawing/2014/main" val="546773760"/>
                    </a:ext>
                  </a:extLst>
                </a:gridCol>
                <a:gridCol w="1292667">
                  <a:extLst>
                    <a:ext uri="{9D8B030D-6E8A-4147-A177-3AD203B41FA5}">
                      <a16:colId xmlns:a16="http://schemas.microsoft.com/office/drawing/2014/main" val="546443978"/>
                    </a:ext>
                  </a:extLst>
                </a:gridCol>
              </a:tblGrid>
              <a:tr h="221975">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73533">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СТОЦКАЯ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374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900" b="0" kern="1200" dirty="0" smtClean="0">
                          <a:solidFill>
                            <a:schemeClr val="tx1"/>
                          </a:solidFill>
                          <a:effectLst/>
                          <a:latin typeface="+mn-lt"/>
                          <a:ea typeface="+mn-ea"/>
                          <a:cs typeface="+mn-cs"/>
                        </a:rPr>
                        <a:t>Людмила</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648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ru-RU" sz="900" b="0" kern="1200" dirty="0" smtClean="0">
                          <a:solidFill>
                            <a:schemeClr val="tx1"/>
                          </a:solidFill>
                          <a:effectLst/>
                          <a:latin typeface="+mn-lt"/>
                          <a:ea typeface="+mn-ea"/>
                          <a:cs typeface="+mn-cs"/>
                        </a:rPr>
                        <a:t>Ивановна</a:t>
                      </a:r>
                      <a:endParaRPr lang="ru-RU" sz="900" b="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73533">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РУС</a:t>
                      </a:r>
                      <a:r>
                        <a:rPr lang="uz-Cyrl-UZ" sz="900" b="0" kern="1200" baseline="0" dirty="0" smtClean="0">
                          <a:solidFill>
                            <a:schemeClr val="tx1"/>
                          </a:solidFill>
                          <a:latin typeface="+mn-lt"/>
                          <a:ea typeface="+mn-ea"/>
                          <a:cs typeface="+mn-cs"/>
                        </a:rPr>
                        <a:t>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7353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17.01.1945</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7295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Россия Федерацияси, Красноярск шахри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10646">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23934">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10646">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11638">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ГУДЗЬ Иван Максимович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1920 йил, Украина Республикаси,</a:t>
                      </a:r>
                      <a:r>
                        <a:rPr lang="uz-Cyrl-UZ" sz="900" b="0" kern="1200" baseline="0" noProof="0" dirty="0" smtClean="0">
                          <a:solidFill>
                            <a:schemeClr val="tx1"/>
                          </a:solidFill>
                          <a:latin typeface="+mn-lt"/>
                          <a:ea typeface="+mn-ea"/>
                          <a:cs typeface="Arial" panose="020B0604020202020204" pitchFamily="34" charset="0"/>
                        </a:rPr>
                        <a:t> Тернопол вилояти</a:t>
                      </a:r>
                      <a:endParaRPr lang="uz-Cyrl-UZ"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spcAft>
                          <a:spcPts val="0"/>
                        </a:spcAft>
                      </a:pPr>
                      <a:r>
                        <a:rPr lang="uz-Cyrl-UZ" sz="900" dirty="0">
                          <a:effectLst/>
                          <a:latin typeface="+mn-lt"/>
                          <a:ea typeface="Times New Roman" panose="02020603050405020304" pitchFamily="18" charset="0"/>
                        </a:rPr>
                        <a:t>1990 йил вафот этган</a:t>
                      </a:r>
                      <a:endParaRPr lang="ru-RU" sz="900" dirty="0">
                        <a:effectLst/>
                        <a:latin typeface="+mn-lt"/>
                        <a:ea typeface="Times New Roman" panose="02020603050405020304" pitchFamily="18" charset="0"/>
                      </a:endParaRPr>
                    </a:p>
                    <a:p>
                      <a:pPr algn="l">
                        <a:spcAft>
                          <a:spcPts val="0"/>
                        </a:spcAft>
                      </a:pPr>
                      <a:r>
                        <a:rPr lang="uz-Cyrl-UZ" sz="900" dirty="0">
                          <a:effectLst/>
                          <a:latin typeface="+mn-lt"/>
                          <a:ea typeface="Times New Roman" panose="02020603050405020304" pitchFamily="18" charset="0"/>
                        </a:rPr>
                        <a:t>(Красноярск шаҳар 20-сонли ўрта мактаб ўқитувчиси)</a:t>
                      </a:r>
                      <a:endParaRPr lang="ru-RU" sz="900" dirty="0">
                        <a:effectLst/>
                        <a:latin typeface="+mn-lt"/>
                        <a:ea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706281">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ГУДЗЬ Мария Карповна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1923 йил, Украина Республикаси</a:t>
                      </a:r>
                      <a:r>
                        <a:rPr lang="uz-Cyrl-UZ" sz="900" b="0" kern="1200" baseline="0" noProof="0" dirty="0" smtClean="0">
                          <a:solidFill>
                            <a:schemeClr val="tx1"/>
                          </a:solidFill>
                          <a:latin typeface="+mn-lt"/>
                          <a:ea typeface="+mn-ea"/>
                          <a:cs typeface="Arial" panose="020B0604020202020204" pitchFamily="34" charset="0"/>
                        </a:rPr>
                        <a:t>, Тернапол вилояти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2000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(Красноярск шаҳридаги “Сибирь тиббиёт заводи” ишчиси)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611638">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МАРДАНОВ Юрий Григорьевич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1937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Нафақада, </a:t>
                      </a:r>
                      <a:r>
                        <a:rPr lang="en-US" sz="900" b="0" kern="120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Ўзбекистон</a:t>
                      </a:r>
                      <a:r>
                        <a:rPr lang="uz-Cyrl-UZ" sz="900" b="0" kern="1200" baseline="0" noProof="0" dirty="0" smtClean="0">
                          <a:solidFill>
                            <a:schemeClr val="tx1"/>
                          </a:solidFill>
                          <a:latin typeface="+mn-lt"/>
                          <a:ea typeface="+mn-ea"/>
                          <a:cs typeface="Arial" panose="020B0604020202020204" pitchFamily="34" charset="0"/>
                        </a:rPr>
                        <a:t> давлат академик рус драма театри директор ўринбосари)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89404">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2393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1971 й. Красноярск театр билим юрти (кундузги)</a:t>
                      </a:r>
                      <a:endParaRPr lang="ru-RU" sz="90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196485">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Театр ва кино</a:t>
                      </a:r>
                      <a:r>
                        <a:rPr lang="uz-Cyrl-UZ" sz="900" b="0" kern="1200" baseline="0" noProof="0" dirty="0" smtClean="0">
                          <a:solidFill>
                            <a:schemeClr val="tx1"/>
                          </a:solidFill>
                          <a:latin typeface="+mn-lt"/>
                          <a:ea typeface="+mn-ea"/>
                          <a:cs typeface="+mn-cs"/>
                        </a:rPr>
                        <a:t> актрисаси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86643">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196485">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286643">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117262764"/>
              </p:ext>
            </p:extLst>
          </p:nvPr>
        </p:nvGraphicFramePr>
        <p:xfrm>
          <a:off x="3674526" y="891538"/>
          <a:ext cx="3172841" cy="5965402"/>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267972">
                <a:tc gridSpan="2">
                  <a:txBody>
                    <a:bodyPr/>
                    <a:lstStyle/>
                    <a:p>
                      <a:pPr algn="ctr"/>
                      <a:r>
                        <a:rPr lang="uz-Cyrl-UZ" sz="1200" b="0"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27258">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0" kern="1200" noProof="0" dirty="0" smtClean="0">
                          <a:solidFill>
                            <a:schemeClr val="tx1"/>
                          </a:solidFill>
                          <a:latin typeface="+mn-lt"/>
                          <a:ea typeface="+mn-ea"/>
                          <a:cs typeface="+mn-cs"/>
                        </a:rPr>
                        <a:t>Ўзбекистон давлат академик рус драма театри етакчи саҳна</a:t>
                      </a:r>
                      <a:r>
                        <a:rPr lang="uz-Cyrl-UZ" sz="900" b="0" kern="1200" baseline="0" noProof="0" dirty="0" smtClean="0">
                          <a:solidFill>
                            <a:schemeClr val="tx1"/>
                          </a:solidFill>
                          <a:latin typeface="+mn-lt"/>
                          <a:ea typeface="+mn-ea"/>
                          <a:cs typeface="+mn-cs"/>
                        </a:rPr>
                        <a:t> устаси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2497">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596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55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1044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Йўқ</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3670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10630">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1063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2025 й.  2-сонли</a:t>
                      </a:r>
                      <a:r>
                        <a:rPr lang="uz-Cyrl-UZ" sz="900" kern="1200" baseline="0" noProof="0" dirty="0" smtClean="0">
                          <a:solidFill>
                            <a:schemeClr val="tx1"/>
                          </a:solidFill>
                          <a:effectLst/>
                          <a:latin typeface="+mn-lt"/>
                          <a:ea typeface="Calibri" panose="020F0502020204030204" pitchFamily="34" charset="0"/>
                          <a:cs typeface="Times New Roman" panose="02020603050405020304" pitchFamily="18" charset="0"/>
                        </a:rPr>
                        <a:t> давлат поликлиникаси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867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2025</a:t>
                      </a:r>
                      <a:r>
                        <a:rPr lang="uz-Cyrl-UZ" sz="900" kern="1200" baseline="0" noProof="0" dirty="0" smtClean="0">
                          <a:solidFill>
                            <a:schemeClr val="tx1"/>
                          </a:solidFill>
                          <a:effectLst/>
                          <a:latin typeface="+mn-lt"/>
                          <a:ea typeface="Calibri" panose="020F0502020204030204" pitchFamily="34" charset="0"/>
                          <a:cs typeface="Times New Roman" panose="02020603050405020304" pitchFamily="18" charset="0"/>
                        </a:rPr>
                        <a:t> й.</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692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3465">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84236">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2002 й. “Ўзбекистон Республикасида хизмат кўрсатган артист” </a:t>
                      </a:r>
                    </a:p>
                    <a:p>
                      <a:pPr marL="0" marR="0" indent="0" algn="l" defTabSz="914400" rtl="0" eaLnBrk="1" fontAlgn="auto" latinLnBrk="0" hangingPunct="1">
                        <a:lnSpc>
                          <a:spcPct val="100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                  фахрий унвони </a:t>
                      </a:r>
                      <a:br>
                        <a:rPr lang="uz-Cyrl-UZ" sz="900" kern="1200" dirty="0" smtClean="0">
                          <a:solidFill>
                            <a:schemeClr val="tx1"/>
                          </a:solidFill>
                          <a:effectLst/>
                          <a:latin typeface="+mn-lt"/>
                          <a:ea typeface="+mn-ea"/>
                          <a:cs typeface="+mn-cs"/>
                        </a:rPr>
                      </a:br>
                      <a:r>
                        <a:rPr lang="uz-Cyrl-UZ" sz="900" kern="1200" dirty="0" smtClean="0">
                          <a:solidFill>
                            <a:schemeClr val="tx1"/>
                          </a:solidFill>
                          <a:effectLst/>
                          <a:latin typeface="+mn-lt"/>
                          <a:ea typeface="+mn-ea"/>
                          <a:cs typeface="+mn-cs"/>
                        </a:rPr>
                        <a:t>2019 й. “ Маданият ва санъат фидокори” кўкрак нишони</a:t>
                      </a:r>
                      <a:endParaRPr lang="ru-RU" sz="900" kern="1200" dirty="0" smtClean="0">
                        <a:solidFill>
                          <a:schemeClr val="tx1"/>
                        </a:solidFill>
                        <a:effectLst/>
                        <a:latin typeface="+mn-lt"/>
                        <a:ea typeface="+mn-ea"/>
                        <a:cs typeface="+mn-cs"/>
                      </a:endParaRPr>
                    </a:p>
                    <a:p>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679475609"/>
              </p:ext>
            </p:extLst>
          </p:nvPr>
        </p:nvGraphicFramePr>
        <p:xfrm>
          <a:off x="6949857" y="869286"/>
          <a:ext cx="2817247" cy="5996264"/>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39020">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837">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43637">
                <a:tc>
                  <a:txBody>
                    <a:bodyPr/>
                    <a:lstStyle/>
                    <a:p>
                      <a:pPr algn="just"/>
                      <a:r>
                        <a:rPr lang="uz-Cyrl-UZ" sz="900" kern="1200" dirty="0" smtClean="0">
                          <a:solidFill>
                            <a:schemeClr val="tx1"/>
                          </a:solidFill>
                          <a:effectLst/>
                          <a:latin typeface="+mn-lt"/>
                          <a:ea typeface="+mn-ea"/>
                          <a:cs typeface="+mn-cs"/>
                        </a:rPr>
                        <a:t>    Л,Стоцкая ушбу театрда “Платье для выходного дня” (Карасев), “Четыре капли” (В.Розов), “Ханума” (А.Цыгарели), “Моя жена лгунья” (М.Мейо), “Солдатская вдова” (Ю.Грушас) спектаклларида бир-биридан ёрқин образлар яратган.</a:t>
                      </a:r>
                    </a:p>
                    <a:p>
                      <a:pPr algn="just"/>
                      <a:r>
                        <a:rPr lang="uz-Cyrl-UZ" sz="900" kern="1200" baseline="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Людмила Стоцкая яратган образлар ўзининг табиийлиги, томошабинга руҳий яқинлиги билан ажралиб туради. А.Менчеллнинг “С тобой и без тебя” асаридаги Люсиль, Р.Шартнинг “Мою жену зовут Морис” спектаклидаги мадам Труабаль, К.Маньенинг “Блэз” асаридаги мадам Карлье, А.Галиннинг “Ретро” спектаклидаги Диана Владимировна ва “Компаньоны”даги Петровна ролларини айтиш мумкин.</a:t>
                      </a:r>
                      <a:endParaRPr lang="ru-RU" sz="900" kern="1200" dirty="0" smtClean="0">
                        <a:solidFill>
                          <a:schemeClr val="tx1"/>
                        </a:solidFill>
                        <a:effectLst/>
                        <a:latin typeface="+mn-lt"/>
                        <a:ea typeface="+mn-ea"/>
                        <a:cs typeface="+mn-cs"/>
                      </a:endParaRPr>
                    </a:p>
                    <a:p>
                      <a:pPr marL="0" marR="0" indent="0" algn="just" defTabSz="914400" rtl="0" eaLnBrk="1" fontAlgn="auto" latinLnBrk="0" hangingPunct="1">
                        <a:lnSpc>
                          <a:spcPct val="100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    Л.Стоцкая театрда кейинги йиллар давомида саҳналаштирилган бир нечта асарларда ҳам эсда қоларли роллар ижро этди. “Банкрот, или Свои люди - сочтёмся”да Аграфена Кондратьевна, “Чехов. Осень. Сцены”да “Дядя Ваня”, Марина, кекса энага, “Тётки” (А.Коровкин, Генриетта Карловна), “Узник 2-ой авенью” (Н.Саймон, Перл), “Ревизор” (Н.В.Гоголь, Марья Андреевна), “Колыбельная” (Т.Миннуллин, Айзара Ахатовна, шифокор) спектаклларидаги қатор ролларини айтиш мумкин.</a:t>
                      </a:r>
                    </a:p>
                    <a:p>
                      <a:pPr marL="0" marR="0" indent="0" algn="just" defTabSz="914400" rtl="0" eaLnBrk="1" fontAlgn="auto" latinLnBrk="0" hangingPunct="1">
                        <a:lnSpc>
                          <a:spcPct val="100000"/>
                        </a:lnSpc>
                        <a:spcBef>
                          <a:spcPts val="0"/>
                        </a:spcBef>
                        <a:spcAft>
                          <a:spcPts val="0"/>
                        </a:spcAft>
                        <a:buClrTx/>
                        <a:buSzTx/>
                        <a:buFontTx/>
                        <a:buNone/>
                        <a:tabLst/>
                        <a:defRPr/>
                      </a:pPr>
                      <a:r>
                        <a:rPr lang="uz-Cyrl-UZ" sz="900" kern="1200" baseline="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Л.Стоцкая ҳар бир образ устида жиддий ишлайди. Яратаётган қаҳрамонининг томошабин кўнглини ром этадиган энг нозик қирраларини илғай олади. Истеъдодли актриса айни пайтда театр жамоасига қўшилаётган ёшларнинг севимли ва маҳоратли устози. Уларга мунтазам актёрлик маҳорати сирларини қунт билан ўргатади, зарур профессионал маслаҳатларини аямайди. </a:t>
                      </a:r>
                      <a:endParaRPr lang="ru-RU" sz="8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4458">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0370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descr="Стоцкая"/>
          <p:cNvPicPr/>
          <p:nvPr/>
        </p:nvPicPr>
        <p:blipFill>
          <a:blip r:embed="rId2"/>
          <a:stretch>
            <a:fillRect/>
          </a:stretch>
        </p:blipFill>
        <p:spPr bwMode="auto">
          <a:xfrm>
            <a:off x="274321" y="1227137"/>
            <a:ext cx="872490" cy="1100427"/>
          </a:xfrm>
          <a:prstGeom prst="rect">
            <a:avLst/>
          </a:prstGeom>
          <a:noFill/>
          <a:ln w="9525">
            <a:noFill/>
            <a:miter lim="800000"/>
            <a:headEnd/>
            <a:tailEnd/>
          </a:ln>
        </p:spPr>
      </p:pic>
    </p:spTree>
    <p:extLst>
      <p:ext uri="{BB962C8B-B14F-4D97-AF65-F5344CB8AC3E}">
        <p14:creationId xmlns:p14="http://schemas.microsoft.com/office/powerpoint/2010/main" val="1777261676"/>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38896" y="826055"/>
          <a:ext cx="3452151" cy="5976894"/>
        </p:xfrm>
        <a:graphic>
          <a:graphicData uri="http://schemas.openxmlformats.org/drawingml/2006/table">
            <a:tbl>
              <a:tblPr firstRow="1" bandRow="1">
                <a:tableStyleId>{C083E6E3-FA7D-4D7B-A595-EF9225AFEA82}</a:tableStyleId>
              </a:tblPr>
              <a:tblGrid>
                <a:gridCol w="599462">
                  <a:extLst>
                    <a:ext uri="{9D8B030D-6E8A-4147-A177-3AD203B41FA5}">
                      <a16:colId xmlns:a16="http://schemas.microsoft.com/office/drawing/2014/main" val="2288412290"/>
                    </a:ext>
                  </a:extLst>
                </a:gridCol>
                <a:gridCol w="507158">
                  <a:extLst>
                    <a:ext uri="{9D8B030D-6E8A-4147-A177-3AD203B41FA5}">
                      <a16:colId xmlns:a16="http://schemas.microsoft.com/office/drawing/2014/main" val="1678982439"/>
                    </a:ext>
                  </a:extLst>
                </a:gridCol>
                <a:gridCol w="154600">
                  <a:extLst>
                    <a:ext uri="{9D8B030D-6E8A-4147-A177-3AD203B41FA5}">
                      <a16:colId xmlns:a16="http://schemas.microsoft.com/office/drawing/2014/main" val="2721661767"/>
                    </a:ext>
                  </a:extLst>
                </a:gridCol>
                <a:gridCol w="916748">
                  <a:extLst>
                    <a:ext uri="{9D8B030D-6E8A-4147-A177-3AD203B41FA5}">
                      <a16:colId xmlns:a16="http://schemas.microsoft.com/office/drawing/2014/main" val="546773760"/>
                    </a:ext>
                  </a:extLst>
                </a:gridCol>
                <a:gridCol w="1274183">
                  <a:extLst>
                    <a:ext uri="{9D8B030D-6E8A-4147-A177-3AD203B41FA5}">
                      <a16:colId xmlns:a16="http://schemas.microsoft.com/office/drawing/2014/main" val="546443978"/>
                    </a:ext>
                  </a:extLst>
                </a:gridCol>
              </a:tblGrid>
              <a:tr h="0">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271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УМАРОВ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27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Валихон  </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27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Мирвосилевич</a:t>
                      </a:r>
                      <a:r>
                        <a:rPr lang="uz-Cyrl-UZ" sz="800" b="0" kern="1200" baseline="0" dirty="0" smtClean="0">
                          <a:solidFill>
                            <a:schemeClr val="tx1"/>
                          </a:solidFill>
                          <a:latin typeface="+mn-lt"/>
                          <a:ea typeface="+mn-ea"/>
                          <a:cs typeface="+mn-cs"/>
                        </a:rPr>
                        <a:t> </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271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27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kern="1200" dirty="0" smtClean="0">
                          <a:solidFill>
                            <a:schemeClr val="tx1"/>
                          </a:solidFill>
                          <a:effectLst/>
                          <a:latin typeface="+mn-lt"/>
                          <a:ea typeface="+mn-ea"/>
                          <a:cs typeface="+mn-cs"/>
                        </a:rPr>
                        <a:t>04.06.1955</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39474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kern="1200" dirty="0" smtClean="0">
                          <a:solidFill>
                            <a:schemeClr val="tx1"/>
                          </a:solidFill>
                          <a:effectLst/>
                          <a:latin typeface="+mn-lt"/>
                          <a:ea typeface="+mn-ea"/>
                          <a:cs typeface="+mn-cs"/>
                        </a:rPr>
                        <a:t>Тошкент вилояти</a:t>
                      </a:r>
                      <a:endParaRPr lang="uz-Cyrl-UZ" sz="1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1786">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41065">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 3 навар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1786">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69187">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УМАРОВ Мирвосил</a:t>
                      </a:r>
                      <a:r>
                        <a:rPr lang="uz-Cyrl-UZ" sz="900" b="1" kern="1200" baseline="0" noProof="0" dirty="0" smtClean="0">
                          <a:solidFill>
                            <a:schemeClr val="tx1"/>
                          </a:solidFill>
                          <a:latin typeface="+mn-lt"/>
                          <a:ea typeface="+mn-ea"/>
                          <a:cs typeface="Arial" panose="020B0604020202020204" pitchFamily="34" charset="0"/>
                        </a:rPr>
                        <a:t> Абдурасулович </a:t>
                      </a:r>
                      <a:endParaRPr lang="uz-Cyrl-UZ" sz="900" b="1" kern="1200" noProof="0" dirty="0" smtClean="0">
                        <a:solidFill>
                          <a:schemeClr val="tx1"/>
                        </a:solidFill>
                        <a:latin typeface="+mn-lt"/>
                        <a:ea typeface="+mn-ea"/>
                        <a:cs typeface="Arial" panose="020B0604020202020204" pitchFamily="34" charset="0"/>
                      </a:endParaRPr>
                    </a:p>
                    <a:p>
                      <a:r>
                        <a:rPr lang="ru-RU" sz="900" kern="1200" dirty="0" smtClean="0">
                          <a:solidFill>
                            <a:schemeClr val="tx1"/>
                          </a:solidFill>
                          <a:effectLst/>
                          <a:latin typeface="+mn-lt"/>
                          <a:ea typeface="+mn-ea"/>
                          <a:cs typeface="+mn-cs"/>
                        </a:rPr>
                        <a:t>1928 </a:t>
                      </a:r>
                      <a:r>
                        <a:rPr lang="uz-Cyrl-UZ" sz="900" kern="1200" dirty="0" smtClean="0">
                          <a:solidFill>
                            <a:schemeClr val="tx1"/>
                          </a:solidFill>
                          <a:effectLst/>
                          <a:latin typeface="+mn-lt"/>
                          <a:ea typeface="+mn-ea"/>
                          <a:cs typeface="+mn-cs"/>
                        </a:rPr>
                        <a:t>йил,</a:t>
                      </a:r>
                      <a:r>
                        <a:rPr lang="ru-RU" sz="900" kern="1200" baseline="0" dirty="0" smtClean="0">
                          <a:solidFill>
                            <a:schemeClr val="tx1"/>
                          </a:solidFill>
                          <a:effectLst/>
                          <a:latin typeface="+mn-lt"/>
                          <a:ea typeface="+mn-ea"/>
                          <a:cs typeface="+mn-cs"/>
                        </a:rPr>
                        <a:t>  </a:t>
                      </a:r>
                      <a:r>
                        <a:rPr lang="ru-RU" sz="900" kern="1200" baseline="0" dirty="0" err="1" smtClean="0">
                          <a:solidFill>
                            <a:schemeClr val="tx1"/>
                          </a:solidFill>
                          <a:effectLst/>
                          <a:latin typeface="+mn-lt"/>
                          <a:ea typeface="+mn-ea"/>
                          <a:cs typeface="+mn-cs"/>
                        </a:rPr>
                        <a:t>Тошкент</a:t>
                      </a:r>
                      <a:r>
                        <a:rPr lang="ru-RU" sz="900" kern="1200" baseline="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вилояти </a:t>
                      </a:r>
                      <a:endParaRPr lang="uz-Cyrl-UZ" sz="2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spcAft>
                          <a:spcPts val="0"/>
                        </a:spcAft>
                      </a:pPr>
                      <a:r>
                        <a:rPr lang="uz-Cyrl-UZ" sz="900" dirty="0">
                          <a:effectLst/>
                          <a:latin typeface="+mn-lt"/>
                          <a:ea typeface="Times New Roman" panose="02020603050405020304" pitchFamily="18" charset="0"/>
                        </a:rPr>
                        <a:t>2002 йил вафот этган</a:t>
                      </a:r>
                      <a:endParaRPr lang="ru-RU" sz="900" dirty="0">
                        <a:effectLst/>
                        <a:latin typeface="+mn-lt"/>
                        <a:ea typeface="Times New Roman" panose="02020603050405020304" pitchFamily="18" charset="0"/>
                      </a:endParaRPr>
                    </a:p>
                    <a:p>
                      <a:pPr algn="ctr">
                        <a:spcAft>
                          <a:spcPts val="0"/>
                        </a:spcAft>
                      </a:pPr>
                      <a:r>
                        <a:rPr lang="uz-Cyrl-UZ" sz="900" dirty="0">
                          <a:effectLst/>
                          <a:latin typeface="+mn-lt"/>
                          <a:ea typeface="Times New Roman" panose="02020603050405020304" pitchFamily="18" charset="0"/>
                        </a:rPr>
                        <a:t>(“Ўзқишлоқхўжаликтехника” бирлашмаси ҳуқуқшуноси)</a:t>
                      </a:r>
                      <a:endParaRPr lang="ru-RU" sz="900" dirty="0">
                        <a:effectLst/>
                        <a:latin typeface="+mn-lt"/>
                        <a:ea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69187">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dirty="0" smtClean="0">
                          <a:solidFill>
                            <a:schemeClr val="tx1"/>
                          </a:solidFill>
                          <a:effectLst/>
                          <a:latin typeface="+mn-lt"/>
                          <a:ea typeface="+mn-ea"/>
                          <a:cs typeface="+mn-cs"/>
                        </a:rPr>
                        <a:t>УМАРОВА Улфат </a:t>
                      </a:r>
                    </a:p>
                    <a:p>
                      <a:r>
                        <a:rPr lang="uz-Cyrl-UZ" sz="900" kern="1200" dirty="0" smtClean="0">
                          <a:solidFill>
                            <a:schemeClr val="tx1"/>
                          </a:solidFill>
                          <a:effectLst/>
                          <a:latin typeface="+mn-lt"/>
                          <a:ea typeface="+mn-ea"/>
                          <a:cs typeface="+mn-cs"/>
                        </a:rPr>
                        <a:t>1932 йил,</a:t>
                      </a:r>
                      <a:r>
                        <a:rPr lang="ru-RU" sz="900" kern="1200" baseline="0" dirty="0" smtClean="0">
                          <a:solidFill>
                            <a:schemeClr val="tx1"/>
                          </a:solidFill>
                          <a:effectLst/>
                          <a:latin typeface="+mn-lt"/>
                          <a:ea typeface="+mn-ea"/>
                          <a:cs typeface="+mn-cs"/>
                        </a:rPr>
                        <a:t> </a:t>
                      </a:r>
                      <a:r>
                        <a:rPr lang="ru-RU" sz="900" kern="1200" baseline="0" dirty="0" err="1" smtClean="0">
                          <a:solidFill>
                            <a:schemeClr val="tx1"/>
                          </a:solidFill>
                          <a:effectLst/>
                          <a:latin typeface="+mn-lt"/>
                          <a:ea typeface="+mn-ea"/>
                          <a:cs typeface="+mn-cs"/>
                        </a:rPr>
                        <a:t>Фарғона</a:t>
                      </a:r>
                      <a:r>
                        <a:rPr lang="ru-RU" sz="900" kern="1200" baseline="0" dirty="0" smtClean="0">
                          <a:solidFill>
                            <a:schemeClr val="tx1"/>
                          </a:solidFill>
                          <a:effectLst/>
                          <a:latin typeface="+mn-lt"/>
                          <a:ea typeface="+mn-ea"/>
                          <a:cs typeface="+mn-cs"/>
                        </a:rPr>
                        <a:t> </a:t>
                      </a:r>
                      <a:r>
                        <a:rPr lang="ru-RU" sz="900" kern="1200" baseline="0" dirty="0" err="1" smtClean="0">
                          <a:solidFill>
                            <a:schemeClr val="tx1"/>
                          </a:solidFill>
                          <a:effectLst/>
                          <a:latin typeface="+mn-lt"/>
                          <a:ea typeface="+mn-ea"/>
                          <a:cs typeface="+mn-cs"/>
                        </a:rPr>
                        <a:t>шахри</a:t>
                      </a:r>
                      <a:r>
                        <a:rPr lang="uz-Cyrl-UZ" sz="900" kern="1200" baseline="0" dirty="0" smtClean="0">
                          <a:solidFill>
                            <a:schemeClr val="tx1"/>
                          </a:solidFill>
                          <a:effectLst/>
                          <a:latin typeface="+mn-lt"/>
                          <a:ea typeface="+mn-ea"/>
                          <a:cs typeface="+mn-cs"/>
                        </a:rPr>
                        <a:t> </a:t>
                      </a:r>
                      <a:endParaRPr lang="ru-RU" sz="90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spcAft>
                          <a:spcPts val="0"/>
                        </a:spcAft>
                      </a:pPr>
                      <a:r>
                        <a:rPr lang="uz-Cyrl-UZ" sz="900" dirty="0" smtClean="0">
                          <a:effectLst/>
                          <a:latin typeface="+mn-lt"/>
                          <a:ea typeface="Times New Roman" panose="02020603050405020304" pitchFamily="18" charset="0"/>
                        </a:rPr>
                        <a:t>2026</a:t>
                      </a:r>
                      <a:r>
                        <a:rPr lang="uz-Cyrl-UZ" sz="900" baseline="0" dirty="0" smtClean="0">
                          <a:effectLst/>
                          <a:latin typeface="+mn-lt"/>
                          <a:ea typeface="Times New Roman" panose="02020603050405020304" pitchFamily="18" charset="0"/>
                        </a:rPr>
                        <a:t> йил вафот этган</a:t>
                      </a:r>
                      <a:r>
                        <a:rPr lang="uz-Cyrl-UZ" sz="900" dirty="0" smtClean="0">
                          <a:effectLst/>
                          <a:latin typeface="+mn-lt"/>
                          <a:ea typeface="Times New Roman" panose="02020603050405020304" pitchFamily="18" charset="0"/>
                        </a:rPr>
                        <a:t>,</a:t>
                      </a:r>
                      <a:endParaRPr lang="ru-RU" sz="900" dirty="0">
                        <a:effectLst/>
                        <a:latin typeface="+mn-lt"/>
                        <a:ea typeface="Times New Roman" panose="02020603050405020304" pitchFamily="18" charset="0"/>
                      </a:endParaRPr>
                    </a:p>
                    <a:p>
                      <a:pPr algn="ctr">
                        <a:spcAft>
                          <a:spcPts val="0"/>
                        </a:spcAft>
                      </a:pPr>
                      <a:r>
                        <a:rPr lang="uz-Cyrl-UZ" sz="900" dirty="0">
                          <a:effectLst/>
                          <a:latin typeface="+mn-lt"/>
                          <a:ea typeface="Times New Roman" panose="02020603050405020304" pitchFamily="18" charset="0"/>
                        </a:rPr>
                        <a:t>(Ангрен нон зав</a:t>
                      </a:r>
                      <a:r>
                        <a:rPr lang="ru-RU" sz="900" dirty="0" err="1">
                          <a:effectLst/>
                          <a:latin typeface="+mn-lt"/>
                          <a:ea typeface="Times New Roman" panose="02020603050405020304" pitchFamily="18" charset="0"/>
                        </a:rPr>
                        <a:t>оди</a:t>
                      </a:r>
                      <a:r>
                        <a:rPr lang="ru-RU" sz="900" dirty="0">
                          <a:effectLst/>
                          <a:latin typeface="+mn-lt"/>
                          <a:ea typeface="Times New Roman" panose="02020603050405020304" pitchFamily="18" charset="0"/>
                        </a:rPr>
                        <a:t> </a:t>
                      </a:r>
                      <a:r>
                        <a:rPr lang="ru-RU" sz="900" dirty="0" err="1">
                          <a:effectLst/>
                          <a:latin typeface="+mn-lt"/>
                          <a:ea typeface="Times New Roman" panose="02020603050405020304" pitchFamily="18" charset="0"/>
                        </a:rPr>
                        <a:t>ишчи</a:t>
                      </a:r>
                      <a:r>
                        <a:rPr lang="uz-Cyrl-UZ" sz="900" dirty="0">
                          <a:effectLst/>
                          <a:latin typeface="+mn-lt"/>
                          <a:ea typeface="Times New Roman" panose="02020603050405020304" pitchFamily="18" charset="0"/>
                        </a:rPr>
                        <a:t>си)</a:t>
                      </a:r>
                      <a:endParaRPr lang="ru-RU" sz="900" dirty="0">
                        <a:effectLst/>
                        <a:latin typeface="+mn-lt"/>
                        <a:ea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60944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ru-RU" sz="900" b="1" kern="1200" dirty="0" smtClean="0">
                          <a:solidFill>
                            <a:schemeClr val="tx1"/>
                          </a:solidFill>
                          <a:effectLst/>
                          <a:latin typeface="+mn-lt"/>
                          <a:ea typeface="+mn-ea"/>
                          <a:cs typeface="+mn-cs"/>
                        </a:rPr>
                        <a:t>УМАРОВА </a:t>
                      </a:r>
                      <a:r>
                        <a:rPr lang="uz-Cyrl-UZ" sz="900" b="1" kern="1200" dirty="0" smtClean="0">
                          <a:solidFill>
                            <a:schemeClr val="tx1"/>
                          </a:solidFill>
                          <a:effectLst/>
                          <a:latin typeface="+mn-lt"/>
                          <a:ea typeface="+mn-ea"/>
                          <a:cs typeface="+mn-cs"/>
                        </a:rPr>
                        <a:t>Г</a:t>
                      </a:r>
                      <a:r>
                        <a:rPr lang="ru-RU" sz="900" b="1" kern="1200" dirty="0" err="1" smtClean="0">
                          <a:solidFill>
                            <a:schemeClr val="tx1"/>
                          </a:solidFill>
                          <a:effectLst/>
                          <a:latin typeface="+mn-lt"/>
                          <a:ea typeface="+mn-ea"/>
                          <a:cs typeface="+mn-cs"/>
                        </a:rPr>
                        <a:t>ульнора</a:t>
                      </a:r>
                      <a:r>
                        <a:rPr lang="ru-RU" sz="900" b="1" kern="1200" dirty="0" smtClean="0">
                          <a:solidFill>
                            <a:schemeClr val="tx1"/>
                          </a:solidFill>
                          <a:effectLst/>
                          <a:latin typeface="+mn-lt"/>
                          <a:ea typeface="+mn-ea"/>
                          <a:cs typeface="+mn-cs"/>
                        </a:rPr>
                        <a:t> </a:t>
                      </a:r>
                      <a:r>
                        <a:rPr lang="uz-Cyrl-UZ" sz="900" b="1" kern="1200" dirty="0" smtClean="0">
                          <a:solidFill>
                            <a:schemeClr val="tx1"/>
                          </a:solidFill>
                          <a:effectLst/>
                          <a:latin typeface="+mn-lt"/>
                          <a:ea typeface="+mn-ea"/>
                          <a:cs typeface="+mn-cs"/>
                        </a:rPr>
                        <a:t>Б</a:t>
                      </a:r>
                      <a:r>
                        <a:rPr lang="ru-RU" sz="900" b="1" kern="1200" dirty="0" err="1" smtClean="0">
                          <a:solidFill>
                            <a:schemeClr val="tx1"/>
                          </a:solidFill>
                          <a:effectLst/>
                          <a:latin typeface="+mn-lt"/>
                          <a:ea typeface="+mn-ea"/>
                          <a:cs typeface="+mn-cs"/>
                        </a:rPr>
                        <a:t>ориевна</a:t>
                      </a:r>
                      <a:r>
                        <a:rPr lang="ru-RU" sz="900" b="1" kern="1200" dirty="0" smtClean="0">
                          <a:solidFill>
                            <a:schemeClr val="tx1"/>
                          </a:solidFill>
                          <a:effectLst/>
                          <a:latin typeface="+mn-lt"/>
                          <a:ea typeface="+mn-ea"/>
                          <a:cs typeface="+mn-cs"/>
                        </a:rPr>
                        <a:t> </a:t>
                      </a:r>
                      <a:r>
                        <a:rPr lang="ru-RU" sz="900" kern="1200" dirty="0" smtClean="0">
                          <a:solidFill>
                            <a:schemeClr val="tx1"/>
                          </a:solidFill>
                          <a:effectLst/>
                          <a:latin typeface="+mn-lt"/>
                          <a:ea typeface="+mn-ea"/>
                          <a:cs typeface="+mn-cs"/>
                        </a:rPr>
                        <a:t>1959 </a:t>
                      </a:r>
                      <a:r>
                        <a:rPr lang="uz-Cyrl-UZ" sz="900" kern="1200" dirty="0" smtClean="0">
                          <a:solidFill>
                            <a:schemeClr val="tx1"/>
                          </a:solidFill>
                          <a:effectLst/>
                          <a:latin typeface="+mn-lt"/>
                          <a:ea typeface="+mn-ea"/>
                          <a:cs typeface="+mn-cs"/>
                        </a:rPr>
                        <a:t>йил,</a:t>
                      </a:r>
                      <a:r>
                        <a:rPr lang="ru-RU" sz="900" kern="1200" baseline="0" dirty="0" smtClean="0">
                          <a:solidFill>
                            <a:schemeClr val="tx1"/>
                          </a:solidFill>
                          <a:effectLst/>
                          <a:latin typeface="+mn-lt"/>
                          <a:ea typeface="+mn-ea"/>
                          <a:cs typeface="+mn-cs"/>
                        </a:rPr>
                        <a:t> </a:t>
                      </a:r>
                      <a:r>
                        <a:rPr lang="ru-RU" sz="900" kern="1200" dirty="0" smtClean="0">
                          <a:solidFill>
                            <a:schemeClr val="tx1"/>
                          </a:solidFill>
                          <a:effectLst/>
                          <a:latin typeface="+mn-lt"/>
                          <a:ea typeface="+mn-ea"/>
                          <a:cs typeface="+mn-cs"/>
                        </a:rPr>
                        <a:t>Т</a:t>
                      </a:r>
                      <a:r>
                        <a:rPr lang="uz-Cyrl-UZ" sz="900" kern="1200" dirty="0" smtClean="0">
                          <a:solidFill>
                            <a:schemeClr val="tx1"/>
                          </a:solidFill>
                          <a:effectLst/>
                          <a:latin typeface="+mn-lt"/>
                          <a:ea typeface="+mn-ea"/>
                          <a:cs typeface="+mn-cs"/>
                        </a:rPr>
                        <a:t>о</a:t>
                      </a:r>
                      <a:r>
                        <a:rPr lang="ru-RU" sz="900" kern="1200" dirty="0" err="1" smtClean="0">
                          <a:solidFill>
                            <a:schemeClr val="tx1"/>
                          </a:solidFill>
                          <a:effectLst/>
                          <a:latin typeface="+mn-lt"/>
                          <a:ea typeface="+mn-ea"/>
                          <a:cs typeface="+mn-cs"/>
                        </a:rPr>
                        <a:t>шкент</a:t>
                      </a:r>
                      <a:r>
                        <a:rPr lang="uz-Cyrl-UZ" sz="900" kern="1200" dirty="0" smtClean="0">
                          <a:solidFill>
                            <a:schemeClr val="tx1"/>
                          </a:solidFill>
                          <a:effectLst/>
                          <a:latin typeface="+mn-lt"/>
                          <a:ea typeface="+mn-ea"/>
                          <a:cs typeface="+mn-cs"/>
                        </a:rPr>
                        <a:t> шаҳри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spcAft>
                          <a:spcPts val="0"/>
                        </a:spcAft>
                      </a:pPr>
                      <a:r>
                        <a:rPr lang="uz-Cyrl-UZ" sz="900" dirty="0" smtClean="0">
                          <a:effectLst/>
                          <a:latin typeface="+mn-lt"/>
                          <a:ea typeface="Times New Roman" panose="02020603050405020304" pitchFamily="18" charset="0"/>
                        </a:rPr>
                        <a:t>Нафақада,</a:t>
                      </a:r>
                      <a:endParaRPr lang="ru-RU" sz="900" dirty="0">
                        <a:effectLst/>
                        <a:latin typeface="+mn-lt"/>
                        <a:ea typeface="Times New Roman" panose="02020603050405020304" pitchFamily="18" charset="0"/>
                      </a:endParaRPr>
                    </a:p>
                    <a:p>
                      <a:pPr algn="ctr">
                        <a:spcAft>
                          <a:spcPts val="0"/>
                        </a:spcAft>
                      </a:pPr>
                      <a:r>
                        <a:rPr lang="uz-Cyrl-UZ" sz="900" dirty="0">
                          <a:effectLst/>
                          <a:latin typeface="+mn-lt"/>
                          <a:ea typeface="Times New Roman" panose="02020603050405020304" pitchFamily="18" charset="0"/>
                        </a:rPr>
                        <a:t>(Ўзбекистон миллий рақс ва хореография олий мактаби ўқитувчиси)</a:t>
                      </a:r>
                      <a:endParaRPr lang="ru-RU" sz="900" dirty="0">
                        <a:effectLst/>
                        <a:latin typeface="+mn-lt"/>
                        <a:ea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99421">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459267">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1978 й</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Тошкент театр ва рассомлик санъати институти (кундузги)</a:t>
                      </a:r>
                      <a:endParaRPr lang="ru-RU" sz="90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06876">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Театр актёри ва режиссёри</a:t>
                      </a:r>
                      <a:r>
                        <a:rPr lang="uz-Cyrl-UZ" sz="900" b="0" kern="1200" baseline="0" noProof="0" dirty="0" smtClean="0">
                          <a:solidFill>
                            <a:schemeClr val="tx1"/>
                          </a:solidFill>
                          <a:latin typeface="+mn-lt"/>
                          <a:ea typeface="+mn-ea"/>
                          <a:cs typeface="+mn-cs"/>
                        </a:rPr>
                        <a:t> </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1802">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1802">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278004">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89"/>
          <a:ext cx="3172841" cy="597375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761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1174">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0" kern="1200" noProof="0" dirty="0" smtClean="0">
                          <a:solidFill>
                            <a:schemeClr val="tx1"/>
                          </a:solidFill>
                          <a:latin typeface="+mn-lt"/>
                          <a:ea typeface="+mn-ea"/>
                          <a:cs typeface="+mn-cs"/>
                        </a:rPr>
                        <a:t>Ўзбекистон давлат</a:t>
                      </a:r>
                      <a:r>
                        <a:rPr lang="uz-Cyrl-UZ" sz="900" b="0" kern="1200" baseline="0" noProof="0" dirty="0" smtClean="0">
                          <a:solidFill>
                            <a:schemeClr val="tx1"/>
                          </a:solidFill>
                          <a:latin typeface="+mn-lt"/>
                          <a:ea typeface="+mn-ea"/>
                          <a:cs typeface="+mn-cs"/>
                        </a:rPr>
                        <a:t> академик рус драма театри бош режиссери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192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685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48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97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3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896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dirty="0" smtClean="0">
                          <a:solidFill>
                            <a:schemeClr val="tx1"/>
                          </a:solidFill>
                          <a:effectLst/>
                          <a:latin typeface="+mn-lt"/>
                          <a:ea typeface="+mn-ea"/>
                          <a:cs typeface="+mn-cs"/>
                        </a:rPr>
                        <a:t>2013-2016 йй. - “Ўзбектеатр” ижодий-ишлаб чиқариш бирлашмаси бош директори</a:t>
                      </a: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811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811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2021 й. Республика хурургия маркази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624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Ҳа</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576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365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250463">
                <a:tc gridSpan="2">
                  <a:txBody>
                    <a:bodyPr/>
                    <a:lstStyle/>
                    <a:p>
                      <a:r>
                        <a:rPr lang="uz-Cyrl-UZ" sz="900" kern="1200" dirty="0" smtClean="0">
                          <a:solidFill>
                            <a:schemeClr val="tx1"/>
                          </a:solidFill>
                          <a:effectLst/>
                          <a:latin typeface="+mn-lt"/>
                          <a:ea typeface="+mn-ea"/>
                          <a:cs typeface="+mn-cs"/>
                        </a:rPr>
                        <a:t>1998 й. “Ўзбекистон Республикасида хизмат кўрсатган артист”</a:t>
                      </a:r>
                    </a:p>
                    <a:p>
                      <a:r>
                        <a:rPr lang="uz-Cyrl-UZ" sz="900" kern="1200" dirty="0" smtClean="0">
                          <a:solidFill>
                            <a:schemeClr val="tx1"/>
                          </a:solidFill>
                          <a:effectLst/>
                          <a:latin typeface="+mn-lt"/>
                          <a:ea typeface="+mn-ea"/>
                          <a:cs typeface="+mn-cs"/>
                        </a:rPr>
                        <a:t>                фахрий унвони</a:t>
                      </a:r>
                      <a:endParaRPr lang="ru-RU" sz="900" kern="1200" dirty="0" smtClean="0">
                        <a:solidFill>
                          <a:schemeClr val="tx1"/>
                        </a:solidFill>
                        <a:effectLst/>
                        <a:latin typeface="+mn-lt"/>
                        <a:ea typeface="+mn-ea"/>
                        <a:cs typeface="+mn-cs"/>
                      </a:endParaRPr>
                    </a:p>
                    <a:p>
                      <a:r>
                        <a:rPr lang="ru-RU" sz="900" kern="1200" dirty="0" smtClean="0">
                          <a:solidFill>
                            <a:schemeClr val="tx1"/>
                          </a:solidFill>
                          <a:effectLst/>
                          <a:latin typeface="+mn-lt"/>
                          <a:ea typeface="+mn-ea"/>
                          <a:cs typeface="+mn-cs"/>
                        </a:rPr>
                        <a:t>2024 </a:t>
                      </a:r>
                      <a:r>
                        <a:rPr lang="uz-Cyrl-UZ" sz="900" kern="1200" dirty="0" smtClean="0">
                          <a:solidFill>
                            <a:schemeClr val="tx1"/>
                          </a:solidFill>
                          <a:effectLst/>
                          <a:latin typeface="+mn-lt"/>
                          <a:ea typeface="+mn-ea"/>
                          <a:cs typeface="+mn-cs"/>
                        </a:rPr>
                        <a:t>й. “Ўзбекистон Республикаси ҳалқ артисти” фахрий </a:t>
                      </a:r>
                    </a:p>
                    <a:p>
                      <a:r>
                        <a:rPr lang="uz-Cyrl-UZ" sz="900" kern="1200" dirty="0" smtClean="0">
                          <a:solidFill>
                            <a:schemeClr val="tx1"/>
                          </a:solidFill>
                          <a:effectLst/>
                          <a:latin typeface="+mn-lt"/>
                          <a:ea typeface="+mn-ea"/>
                          <a:cs typeface="+mn-cs"/>
                        </a:rPr>
                        <a:t>                 унвони</a:t>
                      </a:r>
                      <a:endParaRPr lang="ru-RU" sz="9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869235210"/>
              </p:ext>
            </p:extLst>
          </p:nvPr>
        </p:nvGraphicFramePr>
        <p:xfrm>
          <a:off x="6949857" y="869286"/>
          <a:ext cx="2817247" cy="5979337"/>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algn="just"/>
                      <a:r>
                        <a:rPr lang="uz-Cyrl-UZ" sz="900" kern="1200" baseline="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1986-1988 йиллар Б.В.Шукин номидаги Москва давлат театр санъати олийгоҳи стажор-ассистенти бўлган, кейинчалик “Илҳом” театрида ижодини давом этирди. “Илҳом” театрида режиссёр сифатида истеъдодли драматург Ш.Бошбековнинг “Тикансиз типратиканлар” ва “Оқ отлар учун вальс” ва “Темир хотин” асарларини муваффақиятли саҳналаштирди.</a:t>
                      </a:r>
                      <a:endParaRPr lang="ru-RU" sz="900" kern="1200" dirty="0" smtClean="0">
                        <a:solidFill>
                          <a:schemeClr val="tx1"/>
                        </a:solidFill>
                        <a:effectLst/>
                        <a:latin typeface="+mn-lt"/>
                        <a:ea typeface="+mn-ea"/>
                        <a:cs typeface="+mn-cs"/>
                      </a:endParaRPr>
                    </a:p>
                    <a:p>
                      <a:pPr marL="0" marR="0" indent="0" algn="just" defTabSz="914400" rtl="0" eaLnBrk="1" fontAlgn="auto" latinLnBrk="0" hangingPunct="1">
                        <a:lnSpc>
                          <a:spcPct val="100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       В.Умаров кейинги фаолиятини Фарғона ва Сирдарё театрларида бош режиссёр вазифасида давом эттирди. Ушбу театрларда  режиссёрнинг жаҳон ва ўзбек мумтоз драматургияси хамда замонавий муаллифлар асарлари асосида сахналаштирган спектакллари театр мухлисларининг тилига тушди. А.Несиннинг “Жонимни ол жонгинам”, “Тарослик ёвуз”, Ш.Бошбековнинг “Учар табиб” ва “Тентак фаришта”, “Оловуддиннинг сехрли чироғи”, И.Содиқовнинг “Бахти қаро келин” ва Баграмовнинг “Қизил гул” каби асарлари билан вилоят театрларида хам юксак савияли бадиий асарлар яратиш мумкинлигини</a:t>
                      </a:r>
                      <a:r>
                        <a:rPr lang="uz-Cyrl-UZ" sz="900" kern="1200" baseline="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исботлади.</a:t>
                      </a:r>
                    </a:p>
                    <a:p>
                      <a:pPr marL="0" marR="0" indent="0" algn="just" defTabSz="914400" rtl="0" eaLnBrk="1" fontAlgn="auto" latinLnBrk="0" hangingPunct="1">
                        <a:lnSpc>
                          <a:spcPct val="100000"/>
                        </a:lnSpc>
                        <a:spcBef>
                          <a:spcPts val="0"/>
                        </a:spcBef>
                        <a:spcAft>
                          <a:spcPts val="0"/>
                        </a:spcAft>
                        <a:buClrTx/>
                        <a:buSzTx/>
                        <a:buFontTx/>
                        <a:buNone/>
                        <a:tabLst/>
                        <a:defRPr/>
                      </a:pPr>
                      <a:r>
                        <a:rPr lang="uz-Cyrl-UZ" sz="900" kern="1200" baseline="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В.Умаров узоқ йиллар Ўзбек Миллий Академик драма театрида бош режиссёр вазифасида фаолият юритиб, юксак даражадаги сара спектакллар саҳналаштирган ва ўзининг мислсиз истеъдодини намоён этган. У “Бир қадам йўл”, “Кундузсиз кечалар (Чўлпон ҳақида)”,  “Ўтган замон хангомалари”, “Адибнинг умри (Ойбек ҳақида)”, “Огоҳ бўлинг, одамлар”, “Аёлғу”, “Танхо юлдуз”, “Увайсий”, “Энг сулув келинчак”, “Дарахтлар тик туриб жон беради”, “Уйқусиз кеча”, “Тақдир синовлари”, “Оилавий сир”, “Қуёшни сен уйғотасан”, “Одинокая лодка”, “Лавина” каби спектаклларни юксак маҳорат билан саҳналаштирди.</a:t>
                      </a:r>
                      <a:endParaRPr lang="ru-RU" sz="8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04931">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66007" y="1169085"/>
            <a:ext cx="880803" cy="1124937"/>
          </a:xfrm>
          <a:prstGeom prst="rect">
            <a:avLst/>
          </a:prstGeom>
        </p:spPr>
      </p:pic>
    </p:spTree>
    <p:extLst>
      <p:ext uri="{BB962C8B-B14F-4D97-AF65-F5344CB8AC3E}">
        <p14:creationId xmlns:p14="http://schemas.microsoft.com/office/powerpoint/2010/main" val="1510802224"/>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393516764"/>
              </p:ext>
            </p:extLst>
          </p:nvPr>
        </p:nvGraphicFramePr>
        <p:xfrm>
          <a:off x="144489" y="865702"/>
          <a:ext cx="3427547" cy="5929218"/>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251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589">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АБДУЛЛАЕВА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58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Азатхон</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58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ХХХ</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589">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58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23.09.1952</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40960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Қирғизистон</a:t>
                      </a:r>
                      <a:r>
                        <a:rPr lang="uz-Cyrl-UZ" sz="800" b="0" kern="1200" baseline="0" dirty="0" smtClean="0">
                          <a:solidFill>
                            <a:schemeClr val="tx1"/>
                          </a:solidFill>
                          <a:latin typeface="+mn-lt"/>
                          <a:ea typeface="+mn-ea"/>
                          <a:cs typeface="+mn-cs"/>
                        </a:rPr>
                        <a:t> Республикаси, Ўш 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0136">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314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ва2 нафар қиз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0136">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74972">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Азимов</a:t>
                      </a:r>
                      <a:r>
                        <a:rPr lang="uz-Cyrl-UZ" sz="900" b="1" kern="1200" baseline="0" noProof="0" dirty="0" smtClean="0">
                          <a:solidFill>
                            <a:schemeClr val="tx1"/>
                          </a:solidFill>
                          <a:latin typeface="+mn-lt"/>
                          <a:ea typeface="+mn-ea"/>
                          <a:cs typeface="Arial" panose="020B0604020202020204" pitchFamily="34" charset="0"/>
                        </a:rPr>
                        <a:t> Мўминжон</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1911 йил, Андижон вилояти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1996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(СИУ</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ишчиси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1521">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Азимова Осиёхон</a:t>
                      </a:r>
                    </a:p>
                    <a:p>
                      <a:pPr algn="l">
                        <a:lnSpc>
                          <a:spcPct val="85000"/>
                        </a:lnSpc>
                      </a:pPr>
                      <a:r>
                        <a:rPr lang="uz-Cyrl-UZ" sz="900" b="0" kern="1200" noProof="0" dirty="0" smtClean="0">
                          <a:solidFill>
                            <a:schemeClr val="tx1"/>
                          </a:solidFill>
                          <a:latin typeface="+mn-lt"/>
                          <a:ea typeface="+mn-ea"/>
                          <a:cs typeface="Arial" panose="020B0604020202020204" pitchFamily="34" charset="0"/>
                        </a:rPr>
                        <a:t>1924 йил, Қирғизистон Республикаси Ўш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2012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нафақада</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1521">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АБДУЛЛАЕВ Адҳам Жуманович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1953 йил, Тошкент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2020 йил вафот этган (Олий даражали драма артисти)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692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64283">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1975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давлат</a:t>
                      </a:r>
                      <a:r>
                        <a:rPr lang="ru-RU" sz="900" b="0" kern="1200" noProof="0" dirty="0" smtClean="0">
                          <a:solidFill>
                            <a:schemeClr val="tx1"/>
                          </a:solidFill>
                          <a:latin typeface="+mn-lt"/>
                          <a:ea typeface="+mn-ea"/>
                          <a:cs typeface="+mn-cs"/>
                        </a:rPr>
                        <a:t> театр</a:t>
                      </a:r>
                      <a:r>
                        <a:rPr lang="ru-RU" sz="900" b="0" kern="1200" baseline="0" noProof="0" dirty="0" smtClean="0">
                          <a:solidFill>
                            <a:schemeClr val="tx1"/>
                          </a:solidFill>
                          <a:latin typeface="+mn-lt"/>
                          <a:ea typeface="+mn-ea"/>
                          <a:cs typeface="+mn-cs"/>
                        </a:rPr>
                        <a:t> </a:t>
                      </a:r>
                      <a:r>
                        <a:rPr lang="ru-RU" sz="900" b="0" kern="1200" baseline="0" noProof="0" dirty="0" err="1" smtClean="0">
                          <a:solidFill>
                            <a:schemeClr val="tx1"/>
                          </a:solidFill>
                          <a:latin typeface="+mn-lt"/>
                          <a:ea typeface="+mn-ea"/>
                          <a:cs typeface="+mn-cs"/>
                        </a:rPr>
                        <a:t>ва</a:t>
                      </a:r>
                      <a:r>
                        <a:rPr lang="ru-RU" sz="900" b="0" kern="1200" baseline="0" noProof="0" dirty="0" smtClean="0">
                          <a:solidFill>
                            <a:schemeClr val="tx1"/>
                          </a:solidFill>
                          <a:latin typeface="+mn-lt"/>
                          <a:ea typeface="+mn-ea"/>
                          <a:cs typeface="+mn-cs"/>
                        </a:rPr>
                        <a:t> </a:t>
                      </a:r>
                      <a:r>
                        <a:rPr lang="ru-RU" sz="900" b="0" kern="1200" baseline="0" noProof="0" dirty="0" err="1" smtClean="0">
                          <a:solidFill>
                            <a:schemeClr val="tx1"/>
                          </a:solidFill>
                          <a:latin typeface="+mn-lt"/>
                          <a:ea typeface="+mn-ea"/>
                          <a:cs typeface="+mn-cs"/>
                        </a:rPr>
                        <a:t>рассомчилик</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48073">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Мусиқали комедия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16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16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92106">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110619847"/>
              </p:ext>
            </p:extLst>
          </p:nvPr>
        </p:nvGraphicFramePr>
        <p:xfrm>
          <a:off x="3674526" y="865689"/>
          <a:ext cx="3172841" cy="5990956"/>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8344">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62331">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2021 йилдан буён </a:t>
                      </a:r>
                      <a:r>
                        <a:rPr lang="uz-Cyrl-UZ" sz="900" b="1" kern="1200" baseline="0" noProof="0" dirty="0" smtClean="0">
                          <a:solidFill>
                            <a:schemeClr val="tx1"/>
                          </a:solidFill>
                          <a:latin typeface="+mn-lt"/>
                          <a:ea typeface="+mn-ea"/>
                          <a:cs typeface="+mn-cs"/>
                        </a:rPr>
                        <a:t>Сирдарё вилояти мусиқали драма театри </a:t>
                      </a:r>
                      <a:r>
                        <a:rPr lang="uz-Cyrl-UZ" sz="900" b="1" kern="1200" noProof="0" dirty="0" smtClean="0">
                          <a:solidFill>
                            <a:schemeClr val="tx1"/>
                          </a:solidFill>
                          <a:latin typeface="+mn-lt"/>
                          <a:ea typeface="+mn-ea"/>
                          <a:cs typeface="+mn-cs"/>
                        </a:rPr>
                        <a:t>Етакчи саҳна устаси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9926">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374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51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838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 йўқ</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2753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7588">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7588">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565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4208">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1081">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62844">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2000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690409017"/>
              </p:ext>
            </p:extLst>
          </p:nvPr>
        </p:nvGraphicFramePr>
        <p:xfrm>
          <a:off x="6949857" y="869286"/>
          <a:ext cx="2817247" cy="5925635"/>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algn="just"/>
                      <a:r>
                        <a:rPr lang="uz-Cyrl-UZ" sz="900" b="0" noProof="0" dirty="0" smtClean="0">
                          <a:solidFill>
                            <a:schemeClr val="tx1"/>
                          </a:solidFill>
                          <a:latin typeface="+mn-lt"/>
                        </a:rPr>
                        <a:t>    </a:t>
                      </a:r>
                      <a:r>
                        <a:rPr lang="en-US" sz="900" kern="1200" dirty="0" err="1" smtClean="0">
                          <a:solidFill>
                            <a:schemeClr val="tx1"/>
                          </a:solidFill>
                          <a:effectLst/>
                          <a:latin typeface="+mn-lt"/>
                          <a:ea typeface="+mn-ea"/>
                          <a:cs typeface="+mn-cs"/>
                        </a:rPr>
                        <a:t>Унинг</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санъатидан</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нафақат</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республикамиз</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балки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қўшни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Қозоғистон</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Қирғизистон</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Тожикистон</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Республикалари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ҳамда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Россия</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Федерасиясининг</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Москва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шаҳрида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бўлиб</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ўтган</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Ўзбекистон</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кунларида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Россиялик</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санъат</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мухлислари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ҳам</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кўп</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бора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бахраманд</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бўлганлар</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А.Абдуллаева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ижоди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давомида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кўплаб</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спектаклларда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бош</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ва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етакчи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роллари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билан</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халққа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танилган</a:t>
                      </a:r>
                      <a:r>
                        <a:rPr lang="en-US" sz="900" kern="1200" dirty="0" smtClean="0">
                          <a:solidFill>
                            <a:schemeClr val="tx1"/>
                          </a:solidFill>
                          <a:effectLst/>
                          <a:latin typeface="+mn-lt"/>
                          <a:ea typeface="+mn-ea"/>
                          <a:cs typeface="+mn-cs"/>
                        </a:rPr>
                        <a:t>.</a:t>
                      </a:r>
                      <a:endParaRPr lang="ru-RU" sz="900" kern="1200" dirty="0" smtClean="0">
                        <a:solidFill>
                          <a:schemeClr val="tx1"/>
                        </a:solidFill>
                        <a:effectLst/>
                        <a:latin typeface="+mn-lt"/>
                        <a:ea typeface="+mn-ea"/>
                        <a:cs typeface="+mn-cs"/>
                      </a:endParaRPr>
                    </a:p>
                    <a:p>
                      <a:pPr algn="just"/>
                      <a:r>
                        <a:rPr lang="uz-Cyrl-UZ" sz="900" b="0" noProof="0" dirty="0" smtClean="0">
                          <a:solidFill>
                            <a:schemeClr val="tx1"/>
                          </a:solidFill>
                          <a:latin typeface="+mn-lt"/>
                        </a:rPr>
                        <a:t>    </a:t>
                      </a:r>
                      <a:r>
                        <a:rPr lang="en-US" sz="900" kern="1200" dirty="0" err="1" smtClean="0">
                          <a:solidFill>
                            <a:schemeClr val="tx1"/>
                          </a:solidFill>
                          <a:effectLst/>
                          <a:latin typeface="+mn-lt"/>
                          <a:ea typeface="+mn-ea"/>
                          <a:cs typeface="+mn-cs"/>
                        </a:rPr>
                        <a:t>Фидойи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санъаткор</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устоз-шогирдлик</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анъаналарига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асосланган</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ҳолда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шогирдларига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юксак</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билим</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бериб</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унинг</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самараси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ўлароқ</a:t>
                      </a:r>
                      <a:r>
                        <a:rPr lang="en-US" sz="900" kern="1200" dirty="0" smtClean="0">
                          <a:solidFill>
                            <a:schemeClr val="tx1"/>
                          </a:solidFill>
                          <a:effectLst/>
                          <a:latin typeface="+mn-lt"/>
                          <a:ea typeface="+mn-ea"/>
                          <a:cs typeface="+mn-cs"/>
                        </a:rPr>
                        <a:t>, 2025-йили </a:t>
                      </a:r>
                      <a:r>
                        <a:rPr lang="en-US" sz="900" kern="1200" dirty="0" err="1" smtClean="0">
                          <a:solidFill>
                            <a:schemeClr val="tx1"/>
                          </a:solidFill>
                          <a:effectLst/>
                          <a:latin typeface="+mn-lt"/>
                          <a:ea typeface="+mn-ea"/>
                          <a:cs typeface="+mn-cs"/>
                        </a:rPr>
                        <a:t>Гулистон</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давлат</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университети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Санъатшунослик</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факултети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талабаси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Шералиева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Жасмина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Зулфия</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номидаги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давлат</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мукофоти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совриндори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бўлди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Гулистон</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давлат</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университетида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ташкил</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этилган</a:t>
                      </a:r>
                      <a:r>
                        <a:rPr lang="en-US" sz="900" kern="1200" dirty="0" smtClean="0">
                          <a:solidFill>
                            <a:schemeClr val="tx1"/>
                          </a:solidFill>
                          <a:effectLst/>
                          <a:latin typeface="+mn-lt"/>
                          <a:ea typeface="+mn-ea"/>
                          <a:cs typeface="+mn-cs"/>
                        </a:rPr>
                        <a:t> </a:t>
                      </a:r>
                      <a:r>
                        <a:rPr lang="en-US" sz="900" b="1" kern="1200" dirty="0" smtClean="0">
                          <a:solidFill>
                            <a:schemeClr val="tx1"/>
                          </a:solidFill>
                          <a:effectLst/>
                          <a:latin typeface="+mn-lt"/>
                          <a:ea typeface="+mn-ea"/>
                          <a:cs typeface="+mn-cs"/>
                        </a:rPr>
                        <a:t>“</a:t>
                      </a:r>
                      <a:r>
                        <a:rPr lang="en-US" sz="900" b="1" kern="1200" dirty="0" err="1" smtClean="0">
                          <a:solidFill>
                            <a:schemeClr val="tx1"/>
                          </a:solidFill>
                          <a:effectLst/>
                          <a:latin typeface="+mn-lt"/>
                          <a:ea typeface="+mn-ea"/>
                          <a:cs typeface="+mn-cs"/>
                        </a:rPr>
                        <a:t>Гулистон</a:t>
                      </a:r>
                      <a:r>
                        <a:rPr lang="en-US" sz="900" b="1" kern="1200" dirty="0" smtClean="0">
                          <a:solidFill>
                            <a:schemeClr val="tx1"/>
                          </a:solidFill>
                          <a:effectLst/>
                          <a:latin typeface="+mn-lt"/>
                          <a:ea typeface="+mn-ea"/>
                          <a:cs typeface="+mn-cs"/>
                        </a:rPr>
                        <a:t> </a:t>
                      </a:r>
                      <a:r>
                        <a:rPr lang="en-US" sz="900" b="1" kern="1200" dirty="0" err="1" smtClean="0">
                          <a:solidFill>
                            <a:schemeClr val="tx1"/>
                          </a:solidFill>
                          <a:effectLst/>
                          <a:latin typeface="+mn-lt"/>
                          <a:ea typeface="+mn-ea"/>
                          <a:cs typeface="+mn-cs"/>
                        </a:rPr>
                        <a:t>гулдастаси</a:t>
                      </a:r>
                      <a:r>
                        <a:rPr lang="en-US" sz="900" b="1"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театр</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студияси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бадиий</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раҳбари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ҳисобланади</a:t>
                      </a:r>
                      <a:r>
                        <a:rPr lang="en-US" sz="900" kern="1200" dirty="0" smtClean="0">
                          <a:solidFill>
                            <a:schemeClr val="tx1"/>
                          </a:solidFill>
                          <a:effectLst/>
                          <a:latin typeface="+mn-lt"/>
                          <a:ea typeface="+mn-ea"/>
                          <a:cs typeface="+mn-cs"/>
                        </a:rPr>
                        <a:t>.</a:t>
                      </a:r>
                      <a:endParaRPr lang="uz-Cyrl-UZ" sz="900" kern="1200" dirty="0" smtClean="0">
                        <a:solidFill>
                          <a:schemeClr val="tx1"/>
                        </a:solidFill>
                        <a:effectLst/>
                        <a:latin typeface="+mn-lt"/>
                        <a:ea typeface="+mn-ea"/>
                        <a:cs typeface="+mn-cs"/>
                      </a:endParaRPr>
                    </a:p>
                    <a:p>
                      <a:pPr algn="just"/>
                      <a:r>
                        <a:rPr lang="ru-RU"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А.Абдуллаеванинг</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ўзбек</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театр</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ва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қўшиқчилик</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санъатини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ривожлантириш</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ҳамда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тарғиб</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қилишдаги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кўп</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йиллик</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ижоди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муносиб</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тақдирланиб</a:t>
                      </a:r>
                      <a:r>
                        <a:rPr lang="en-US" sz="900" kern="1200" dirty="0" smtClean="0">
                          <a:solidFill>
                            <a:schemeClr val="tx1"/>
                          </a:solidFill>
                          <a:effectLst/>
                          <a:latin typeface="+mn-lt"/>
                          <a:ea typeface="+mn-ea"/>
                          <a:cs typeface="+mn-cs"/>
                        </a:rPr>
                        <a:t>, 1977-йил </a:t>
                      </a:r>
                      <a:r>
                        <a:rPr lang="en-US" sz="900" kern="1200" dirty="0" err="1" smtClean="0">
                          <a:solidFill>
                            <a:schemeClr val="tx1"/>
                          </a:solidFill>
                          <a:effectLst/>
                          <a:latin typeface="+mn-lt"/>
                          <a:ea typeface="+mn-ea"/>
                          <a:cs typeface="+mn-cs"/>
                        </a:rPr>
                        <a:t>Бутун</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иттифоқ</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халқ</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хўжалиги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кўргазмасининг</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нишони</a:t>
                      </a:r>
                      <a:r>
                        <a:rPr lang="en-US" sz="900" kern="1200" dirty="0" smtClean="0">
                          <a:solidFill>
                            <a:schemeClr val="tx1"/>
                          </a:solidFill>
                          <a:effectLst/>
                          <a:latin typeface="+mn-lt"/>
                          <a:ea typeface="+mn-ea"/>
                          <a:cs typeface="+mn-cs"/>
                        </a:rPr>
                        <a:t>, 1980-йил “</a:t>
                      </a:r>
                      <a:r>
                        <a:rPr lang="en-US" sz="900" kern="1200" dirty="0" err="1" smtClean="0">
                          <a:solidFill>
                            <a:schemeClr val="tx1"/>
                          </a:solidFill>
                          <a:effectLst/>
                          <a:latin typeface="+mn-lt"/>
                          <a:ea typeface="+mn-ea"/>
                          <a:cs typeface="+mn-cs"/>
                        </a:rPr>
                        <a:t>Шавкатли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меҳнати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учун</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медали</a:t>
                      </a:r>
                      <a:r>
                        <a:rPr lang="en-US" sz="900" kern="1200" dirty="0" smtClean="0">
                          <a:solidFill>
                            <a:schemeClr val="tx1"/>
                          </a:solidFill>
                          <a:effectLst/>
                          <a:latin typeface="+mn-lt"/>
                          <a:ea typeface="+mn-ea"/>
                          <a:cs typeface="+mn-cs"/>
                        </a:rPr>
                        <a:t>, 1986-йил </a:t>
                      </a:r>
                      <a:r>
                        <a:rPr lang="en-US" sz="900" kern="1200" dirty="0" err="1" smtClean="0">
                          <a:solidFill>
                            <a:schemeClr val="tx1"/>
                          </a:solidFill>
                          <a:effectLst/>
                          <a:latin typeface="+mn-lt"/>
                          <a:ea typeface="+mn-ea"/>
                          <a:cs typeface="+mn-cs"/>
                        </a:rPr>
                        <a:t>Бутун</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иттифоқ</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халқ</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ижодиёти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кўрик</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танлови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лауреати</a:t>
                      </a:r>
                      <a:r>
                        <a:rPr lang="en-US" sz="900" kern="1200" dirty="0" smtClean="0">
                          <a:solidFill>
                            <a:schemeClr val="tx1"/>
                          </a:solidFill>
                          <a:effectLst/>
                          <a:latin typeface="+mn-lt"/>
                          <a:ea typeface="+mn-ea"/>
                          <a:cs typeface="+mn-cs"/>
                        </a:rPr>
                        <a:t>, 1999-йил “</a:t>
                      </a:r>
                      <a:r>
                        <a:rPr lang="en-US" sz="900" kern="1200" dirty="0" err="1" smtClean="0">
                          <a:solidFill>
                            <a:schemeClr val="tx1"/>
                          </a:solidFill>
                          <a:effectLst/>
                          <a:latin typeface="+mn-lt"/>
                          <a:ea typeface="+mn-ea"/>
                          <a:cs typeface="+mn-cs"/>
                        </a:rPr>
                        <a:t>Саҳна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санъати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маликалари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республика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кўрик-танлови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совриндори</a:t>
                      </a:r>
                      <a:r>
                        <a:rPr lang="en-US" sz="900" kern="1200" dirty="0" smtClean="0">
                          <a:solidFill>
                            <a:schemeClr val="tx1"/>
                          </a:solidFill>
                          <a:effectLst/>
                          <a:latin typeface="+mn-lt"/>
                          <a:ea typeface="+mn-ea"/>
                          <a:cs typeface="+mn-cs"/>
                        </a:rPr>
                        <a:t>, 2013-йил “</a:t>
                      </a:r>
                      <a:r>
                        <a:rPr lang="en-US" sz="900" kern="1200" dirty="0" err="1" smtClean="0">
                          <a:solidFill>
                            <a:schemeClr val="tx1"/>
                          </a:solidFill>
                          <a:effectLst/>
                          <a:latin typeface="+mn-lt"/>
                          <a:ea typeface="+mn-ea"/>
                          <a:cs typeface="+mn-cs"/>
                        </a:rPr>
                        <a:t>Йилнинг</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энг</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фаол</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оилавий</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санъаткорлари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мукофотлари</a:t>
                      </a:r>
                      <a:r>
                        <a:rPr lang="en-US" sz="900" kern="1200" dirty="0" smtClean="0">
                          <a:solidFill>
                            <a:schemeClr val="tx1"/>
                          </a:solidFill>
                          <a:effectLst/>
                          <a:latin typeface="+mn-lt"/>
                          <a:ea typeface="+mn-ea"/>
                          <a:cs typeface="+mn-cs"/>
                        </a:rPr>
                        <a:t>, 2020-йил 7-декабрда </a:t>
                      </a:r>
                      <a:r>
                        <a:rPr lang="en-US" sz="900" kern="1200" dirty="0" err="1" smtClean="0">
                          <a:solidFill>
                            <a:schemeClr val="tx1"/>
                          </a:solidFill>
                          <a:effectLst/>
                          <a:latin typeface="+mn-lt"/>
                          <a:ea typeface="+mn-ea"/>
                          <a:cs typeface="+mn-cs"/>
                        </a:rPr>
                        <a:t>Ўзбекистон</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Республикаси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Маданият</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вазирлигининг</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Маданият</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ва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санъат</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фидокори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кўкрак</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нишони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билан</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Ўзбекистон</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Республикаси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Мустақиллигининг</a:t>
                      </a:r>
                      <a:r>
                        <a:rPr lang="en-US" sz="900" kern="1200" dirty="0" smtClean="0">
                          <a:solidFill>
                            <a:schemeClr val="tx1"/>
                          </a:solidFill>
                          <a:effectLst/>
                          <a:latin typeface="+mn-lt"/>
                          <a:ea typeface="+mn-ea"/>
                          <a:cs typeface="+mn-cs"/>
                        </a:rPr>
                        <a:t> 30 </a:t>
                      </a:r>
                      <a:r>
                        <a:rPr lang="en-US" sz="900" kern="1200" dirty="0" err="1" smtClean="0">
                          <a:solidFill>
                            <a:schemeClr val="tx1"/>
                          </a:solidFill>
                          <a:effectLst/>
                          <a:latin typeface="+mn-lt"/>
                          <a:ea typeface="+mn-ea"/>
                          <a:cs typeface="+mn-cs"/>
                        </a:rPr>
                        <a:t>йиллиги</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эсдалик</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нишонига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муносиб</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топилган</a:t>
                      </a:r>
                      <a:r>
                        <a:rPr lang="en-US" sz="900" kern="1200" dirty="0" smtClean="0">
                          <a:solidFill>
                            <a:schemeClr val="tx1"/>
                          </a:solidFill>
                          <a:effectLst/>
                          <a:latin typeface="+mn-lt"/>
                          <a:ea typeface="+mn-ea"/>
                          <a:cs typeface="+mn-cs"/>
                        </a:rPr>
                        <a:t>. </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a:picLocks noChangeAspect="1"/>
          </p:cNvPicPr>
          <p:nvPr/>
        </p:nvPicPr>
        <p:blipFill>
          <a:blip r:embed="rId2"/>
          <a:stretch>
            <a:fillRect/>
          </a:stretch>
        </p:blipFill>
        <p:spPr>
          <a:xfrm>
            <a:off x="207819" y="1162575"/>
            <a:ext cx="939338" cy="1178992"/>
          </a:xfrm>
          <a:prstGeom prst="rect">
            <a:avLst/>
          </a:prstGeom>
        </p:spPr>
      </p:pic>
    </p:spTree>
    <p:extLst>
      <p:ext uri="{BB962C8B-B14F-4D97-AF65-F5344CB8AC3E}">
        <p14:creationId xmlns:p14="http://schemas.microsoft.com/office/powerpoint/2010/main" val="713662806"/>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4278056905"/>
              </p:ext>
            </p:extLst>
          </p:nvPr>
        </p:nvGraphicFramePr>
        <p:xfrm>
          <a:off x="144489" y="865702"/>
          <a:ext cx="3427547" cy="5944826"/>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9021">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3359">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МАМАТИЛОХУНОВА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335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Мавлуда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335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Адиловна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3359">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335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26.09.1958</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335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6311">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24534">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4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6311">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37611">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Бегматов Одил</a:t>
                      </a:r>
                    </a:p>
                    <a:p>
                      <a:pPr algn="l">
                        <a:lnSpc>
                          <a:spcPct val="85000"/>
                        </a:lnSpc>
                      </a:pPr>
                      <a:r>
                        <a:rPr lang="uz-Cyrl-UZ" sz="900" b="0" kern="1200" noProof="0" dirty="0" smtClean="0">
                          <a:solidFill>
                            <a:schemeClr val="tx1"/>
                          </a:solidFill>
                          <a:latin typeface="+mn-lt"/>
                          <a:ea typeface="+mn-ea"/>
                          <a:cs typeface="Arial" panose="020B0604020202020204" pitchFamily="34" charset="0"/>
                        </a:rPr>
                        <a:t>1924 йил, Тошкент вилояти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1990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ишчи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42040">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Бегматова</a:t>
                      </a:r>
                      <a:r>
                        <a:rPr lang="uz-Cyrl-UZ" sz="900" b="1" kern="1200" baseline="0" noProof="0" dirty="0" smtClean="0">
                          <a:solidFill>
                            <a:schemeClr val="tx1"/>
                          </a:solidFill>
                          <a:latin typeface="+mn-lt"/>
                          <a:ea typeface="+mn-ea"/>
                          <a:cs typeface="Arial" panose="020B0604020202020204" pitchFamily="34" charset="0"/>
                        </a:rPr>
                        <a:t> Халима</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1928 йил, Тошкент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2018йил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уй</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42040">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Маматилохунов Ғайбулло</a:t>
                      </a:r>
                    </a:p>
                    <a:p>
                      <a:pPr algn="l">
                        <a:lnSpc>
                          <a:spcPct val="85000"/>
                        </a:lnSpc>
                      </a:pPr>
                      <a:r>
                        <a:rPr lang="uz-Cyrl-UZ" sz="900" b="0" kern="1200" noProof="0" dirty="0" smtClean="0">
                          <a:solidFill>
                            <a:schemeClr val="tx1"/>
                          </a:solidFill>
                          <a:latin typeface="+mn-lt"/>
                          <a:ea typeface="+mn-ea"/>
                          <a:cs typeface="Arial" panose="020B0604020202020204" pitchFamily="34" charset="0"/>
                        </a:rPr>
                        <a:t>1958йил, Тошкент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2023 йил вафот этган(Театр</a:t>
                      </a:r>
                      <a:r>
                        <a:rPr lang="uz-Cyrl-UZ" sz="900" b="0" kern="1200" baseline="0" noProof="0" dirty="0" smtClean="0">
                          <a:solidFill>
                            <a:schemeClr val="tx1"/>
                          </a:solidFill>
                          <a:latin typeface="+mn-lt"/>
                          <a:ea typeface="+mn-ea"/>
                          <a:cs typeface="Arial" panose="020B0604020202020204" pitchFamily="34" charset="0"/>
                        </a:rPr>
                        <a:t> овоз оператори)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2482">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38700">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1979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давлат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маданият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80788">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effectLst/>
                          <a:latin typeface="+mn-lt"/>
                          <a:ea typeface="+mn-ea"/>
                          <a:cs typeface="+mn-cs"/>
                        </a:rPr>
                        <a:t>Драма</a:t>
                      </a:r>
                      <a:r>
                        <a:rPr lang="uz-Cyrl-UZ" sz="900" b="0" kern="1200" baseline="0" noProof="0" dirty="0" smtClean="0">
                          <a:solidFill>
                            <a:schemeClr val="tx1"/>
                          </a:solidFill>
                          <a:effectLst/>
                          <a:latin typeface="+mn-lt"/>
                          <a:ea typeface="+mn-ea"/>
                          <a:cs typeface="+mn-cs"/>
                        </a:rPr>
                        <a:t> ва кино актёрлиги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20509">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20509">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43816">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772072772"/>
              </p:ext>
            </p:extLst>
          </p:nvPr>
        </p:nvGraphicFramePr>
        <p:xfrm>
          <a:off x="3674526" y="865689"/>
          <a:ext cx="3172841" cy="6005609"/>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9261">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63285">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2006 йилдан буён </a:t>
                      </a:r>
                      <a:r>
                        <a:rPr lang="uz-Cyrl-UZ" sz="900" b="1" kern="1200" baseline="0" noProof="0" dirty="0" smtClean="0">
                          <a:solidFill>
                            <a:schemeClr val="tx1"/>
                          </a:solidFill>
                          <a:latin typeface="+mn-lt"/>
                          <a:ea typeface="+mn-ea"/>
                          <a:cs typeface="+mn-cs"/>
                        </a:rPr>
                        <a:t> Сирдарё вилояти мусиқали драма театри етакчи саҳна устаси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0610">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433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47</a:t>
                      </a:r>
                      <a:r>
                        <a:rPr lang="uz-Cyrl-UZ" sz="900" b="0" baseline="0" noProof="0" dirty="0" smtClean="0">
                          <a:effectLst/>
                          <a:latin typeface="+mn-lt"/>
                          <a:ea typeface="Calibri" panose="020F0502020204030204" pitchFamily="34" charset="0"/>
                          <a:cs typeface="Times New Roman" panose="02020603050405020304" pitchFamily="18" charset="0"/>
                        </a:rPr>
                        <a:t> </a:t>
                      </a:r>
                      <a:r>
                        <a:rPr lang="uz-Cyrl-UZ" sz="900" b="0" noProof="0" dirty="0" smtClean="0">
                          <a:effectLst/>
                          <a:latin typeface="+mn-lt"/>
                          <a:ea typeface="Calibri" panose="020F0502020204030204" pitchFamily="34" charset="0"/>
                          <a:cs typeface="Times New Roman" panose="02020603050405020304" pitchFamily="18" charset="0"/>
                        </a:rPr>
                        <a:t>йил</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893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2997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8397">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839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646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2025</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493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1715">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68538">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2005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2019 й. “Шуҳрат” медали соҳибаси</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998078611"/>
              </p:ext>
            </p:extLst>
          </p:nvPr>
        </p:nvGraphicFramePr>
        <p:xfrm>
          <a:off x="6949857" y="869287"/>
          <a:ext cx="2817247" cy="5940226"/>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66811">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5858">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59655">
                <a:tc>
                  <a:txBody>
                    <a:bodyPr/>
                    <a:lstStyle/>
                    <a:p>
                      <a:pPr algn="just">
                        <a:lnSpc>
                          <a:spcPct val="85000"/>
                        </a:lnSpc>
                      </a:pPr>
                      <a:r>
                        <a:rPr lang="uz-Cyrl-UZ" sz="900" b="0" noProof="0" dirty="0" smtClean="0">
                          <a:solidFill>
                            <a:schemeClr val="tx1"/>
                          </a:solidFill>
                          <a:latin typeface="+mn-lt"/>
                        </a:rPr>
                        <a:t>    Меҳнатсеварлик, изланувчанлик, ўқиш, ўрганиш актриса Маматиллахунованинг энг муҳим хислатларидан. Театр-томоша санъатининг кўплаб жанрлари, сиру синоатларини пухта эгаллаган, ўзлаштирган санъаткор 100 дан зиёд турли ёш, турлича характер, касбкор ва маслакка эга бўлган ранг-баранг образлар галлереясини яратди.</a:t>
                      </a:r>
                    </a:p>
                    <a:p>
                      <a:pPr algn="just">
                        <a:lnSpc>
                          <a:spcPct val="85000"/>
                        </a:lnSpc>
                      </a:pPr>
                      <a:r>
                        <a:rPr lang="uz-Cyrl-UZ" sz="900" b="0" noProof="0" dirty="0" smtClean="0">
                          <a:solidFill>
                            <a:schemeClr val="tx1"/>
                          </a:solidFill>
                          <a:latin typeface="+mn-lt"/>
                        </a:rPr>
                        <a:t>    Унинг В.Шекспирнинг “Ричард ИИИ”даги Қиролича Анна, В.Маяковскийнинг “Ҳаммом”даги Нурафшон аёл, М.Бобоевнинг “Ер томири”даги Зебо, А.Гелманнинг “Имзо”даги Алла Ивановна, Т.Жамоловнинг “Сўнмас юлдузлар”даги Анора, Т.Минуллиннинг “Одам ва Ажал”даги Гулфира, М.Бобоевнинг “30 ёшлилар”даги Латофат, А.Дударевнинг “Порог”даги Алина, “История метронпажем”даги Виктория, Максим Каримовнинг “Кандидат в гуманисты”даги Фароғат, Ж.Маҳмудовнинг “Қичқир хўроз”даги Тулки, А.Қаҳҳорнинг “Оғриқ тишлар”даги Насиба, Ж.Маҳмудовнинг “Аёллар фарёд”даги Фотима, Ҳ.Жовуднинг “Амир Темур”даги Олга, Ш.Жумаевнинг “Тўй ҳангомалари”даги Она, К.Авазнинг “Марварид таққан аёл”даги Чинора, А.Жамолнинг “Меҳрибонлар”даги Сарвихон,  “Қутича ёки жинни бўлиш ҳеч гап эмас”даги Эркиной, “Жонгинам шартингни айт”даги Муборокхон, “Тафаккур”даги Бувзилол, “Кўча болалари” (Эски шаҳар гаврошлари)даги Ҳуринисо, “Момо ер”даги Тўлғаной, “Бибихоним”да Бибихоним, “Аҳли жаҳондин яхшилиғ”да Қутлуғнигорхоним, “Яхши кун” фолклор томошасида Мазлума аёл, Явдат Илясовнинг “Ғазаб сўқмоғи” асари асосида саҳналаштирилган “Широқ” трагедиясидаги Она, Р.Н.Гунтегиннинг “Ҳалала” мусиқали комедиясидаги Руқия, Ш.Бошбековнинг “Тушов узган тулпорлар” драмасидаги Ҳалима хола, Еврипиднинг “Медея” трагедиясидаги Энага каби роллари шулар жумласидандир.</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65766">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783813">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Вилоятимизда</a:t>
                      </a:r>
                      <a:r>
                        <a:rPr lang="uz-Cyrl-UZ" sz="900" b="0" baseline="0" dirty="0" smtClean="0">
                          <a:effectLst/>
                          <a:latin typeface="+mn-lt"/>
                          <a:ea typeface="Calibri" panose="020F0502020204030204" pitchFamily="34" charset="0"/>
                          <a:cs typeface="Times New Roman" panose="02020603050405020304" pitchFamily="18" charset="0"/>
                        </a:rPr>
                        <a:t> ўтказилиб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p:nvPr/>
        </p:nvPicPr>
        <p:blipFill>
          <a:blip r:embed="rId2" cstate="print"/>
          <a:srcRect/>
          <a:stretch>
            <a:fillRect/>
          </a:stretch>
        </p:blipFill>
        <p:spPr bwMode="auto">
          <a:xfrm>
            <a:off x="280412" y="1153680"/>
            <a:ext cx="871220" cy="1058180"/>
          </a:xfrm>
          <a:prstGeom prst="rect">
            <a:avLst/>
          </a:prstGeom>
          <a:noFill/>
          <a:ln w="9525">
            <a:noFill/>
            <a:miter lim="800000"/>
            <a:headEnd/>
            <a:tailEnd/>
          </a:ln>
        </p:spPr>
      </p:pic>
    </p:spTree>
    <p:extLst>
      <p:ext uri="{BB962C8B-B14F-4D97-AF65-F5344CB8AC3E}">
        <p14:creationId xmlns:p14="http://schemas.microsoft.com/office/powerpoint/2010/main" val="480972342"/>
      </p:ext>
    </p:ext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745024890"/>
              </p:ext>
            </p:extLst>
          </p:nvPr>
        </p:nvGraphicFramePr>
        <p:xfrm>
          <a:off x="144489" y="865702"/>
          <a:ext cx="3427547" cy="5965405"/>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50879">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6129">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УРУНОВ</a:t>
                      </a:r>
                      <a:r>
                        <a:rPr lang="uz-Cyrl-UZ" sz="900" b="0" kern="1200" baseline="0" dirty="0" smtClean="0">
                          <a:solidFill>
                            <a:schemeClr val="tx1"/>
                          </a:solidFill>
                          <a:latin typeface="+mn-lt"/>
                          <a:ea typeface="+mn-ea"/>
                          <a:cs typeface="+mn-cs"/>
                        </a:rPr>
                        <a:t>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612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Фарход</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612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Хамидович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6129">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612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12.02.1961</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612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Самарқанд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8075">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23220">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8075">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35948">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1933 йил, Самарканд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2002йил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тадбиркор</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40672">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Қодирова</a:t>
                      </a:r>
                      <a:r>
                        <a:rPr lang="uz-Cyrl-UZ" sz="900" b="1" kern="1200" baseline="0" noProof="0" dirty="0" smtClean="0">
                          <a:solidFill>
                            <a:schemeClr val="tx1"/>
                          </a:solidFill>
                          <a:latin typeface="+mn-lt"/>
                          <a:ea typeface="+mn-ea"/>
                          <a:cs typeface="Arial" panose="020B0604020202020204" pitchFamily="34" charset="0"/>
                        </a:rPr>
                        <a:t> Қундузхон</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19237йил, Самарқанд</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2000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хонанда</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40672">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Ўринова</a:t>
                      </a:r>
                      <a:r>
                        <a:rPr lang="uz-Cyrl-UZ" sz="900" b="1" kern="1200" baseline="0" noProof="0" dirty="0" smtClean="0">
                          <a:solidFill>
                            <a:schemeClr val="tx1"/>
                          </a:solidFill>
                          <a:latin typeface="+mn-lt"/>
                          <a:ea typeface="+mn-ea"/>
                          <a:cs typeface="Arial" panose="020B0604020202020204" pitchFamily="34" charset="0"/>
                        </a:rPr>
                        <a:t> Меҳри</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1969 йил, Самарканд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Уй бекаси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4068">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36723">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1984й.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давлат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маданият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991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effectLst/>
                          <a:latin typeface="+mn-lt"/>
                          <a:ea typeface="+mn-ea"/>
                          <a:cs typeface="+mn-cs"/>
                        </a:rPr>
                        <a:t>Драма</a:t>
                      </a:r>
                      <a:r>
                        <a:rPr lang="uz-Cyrl-UZ" sz="900" b="0" kern="1200" baseline="0" noProof="0" dirty="0" smtClean="0">
                          <a:solidFill>
                            <a:schemeClr val="tx1"/>
                          </a:solidFill>
                          <a:effectLst/>
                          <a:latin typeface="+mn-lt"/>
                          <a:ea typeface="+mn-ea"/>
                          <a:cs typeface="+mn-cs"/>
                        </a:rPr>
                        <a:t> ва кино актёрлиги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23969">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23969">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42442">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749388103"/>
              </p:ext>
            </p:extLst>
          </p:nvPr>
        </p:nvGraphicFramePr>
        <p:xfrm>
          <a:off x="3674526" y="865689"/>
          <a:ext cx="3172841" cy="6024932"/>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0470">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64543">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baseline="0" noProof="0" dirty="0" smtClean="0">
                          <a:solidFill>
                            <a:schemeClr val="tx1"/>
                          </a:solidFill>
                          <a:latin typeface="+mn-lt"/>
                          <a:ea typeface="+mn-ea"/>
                          <a:cs typeface="+mn-cs"/>
                        </a:rPr>
                        <a:t>Сирдарё вилояти мусиқали драма театри </a:t>
                      </a:r>
                      <a:r>
                        <a:rPr lang="uz-Cyrl-UZ" sz="900" b="1" kern="1200" noProof="0" dirty="0" smtClean="0">
                          <a:solidFill>
                            <a:schemeClr val="tx1"/>
                          </a:solidFill>
                          <a:latin typeface="+mn-lt"/>
                          <a:ea typeface="+mn-ea"/>
                          <a:cs typeface="+mn-cs"/>
                        </a:rPr>
                        <a:t>Олий</a:t>
                      </a:r>
                      <a:r>
                        <a:rPr lang="uz-Cyrl-UZ" sz="900" b="1" kern="1200" baseline="0" noProof="0" dirty="0" smtClean="0">
                          <a:solidFill>
                            <a:schemeClr val="tx1"/>
                          </a:solidFill>
                          <a:latin typeface="+mn-lt"/>
                          <a:ea typeface="+mn-ea"/>
                          <a:cs typeface="+mn-cs"/>
                        </a:rPr>
                        <a:t> даражали драма артисти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151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511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42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966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3319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9465">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9465">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752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588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2552">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76045">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2019 й. “Шуҳрат” медаль соҳиби</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829190556"/>
              </p:ext>
            </p:extLst>
          </p:nvPr>
        </p:nvGraphicFramePr>
        <p:xfrm>
          <a:off x="6949857" y="869286"/>
          <a:ext cx="2817247" cy="5960807"/>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0349">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0311">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316132">
                <a:tc>
                  <a:txBody>
                    <a:bodyPr/>
                    <a:lstStyle/>
                    <a:p>
                      <a:pPr algn="just">
                        <a:lnSpc>
                          <a:spcPct val="85000"/>
                        </a:lnSpc>
                      </a:pPr>
                      <a:r>
                        <a:rPr lang="uz-Cyrl-UZ" sz="900" b="0" noProof="0" dirty="0" smtClean="0">
                          <a:solidFill>
                            <a:schemeClr val="tx1"/>
                          </a:solidFill>
                          <a:latin typeface="+mn-lt"/>
                        </a:rPr>
                        <a:t>    У ўзининг ижодий фаолияти мабойнида театр репертуаридан ўрин олган 100 дан зиёд спектаклларда ижро этган ранг-баранг образлари орқали аллақачонлар томошабинларнинг севимли артисти шарафига сазовор бўлган. </a:t>
                      </a:r>
                    </a:p>
                    <a:p>
                      <a:pPr algn="just">
                        <a:lnSpc>
                          <a:spcPct val="85000"/>
                        </a:lnSpc>
                      </a:pPr>
                      <a:r>
                        <a:rPr lang="uz-Cyrl-UZ" sz="900" b="0" noProof="0" dirty="0" smtClean="0">
                          <a:solidFill>
                            <a:schemeClr val="tx1"/>
                          </a:solidFill>
                          <a:latin typeface="+mn-lt"/>
                        </a:rPr>
                        <a:t>    Унинг ижросидаги “Карвон бехатар бўлмас” тарихий драмасида Чўлибой, “Ватан ишқи”да Олимжон, “Гапир”да Василий, “Қаердасан, жон болам?”да Султон,  “Меҳрибонлар”да Аждар, “Шум бола”да Милиционер, “Тўй”да Гиёҳвандлар бошлиғи,  “Заҳарли томчилар”да Ўқитувчи ва руҳ, “Қайрағоч соясидаги эҳтриос”да Катта ўғил, “Бремен созандалари”да Темир одам, “Лақма ит”да Ҳўкиз оға, “Марварид таққан аёл”даги Мўминжон, “Аёллар машмашаси” даги Беппо “Ибтидо” фалсафий мулоҳаза спектаклида Жаброил, “Инон ўзинг...” да Отавали, “Жонгинам шартингни айт”да Ҳоким, “Тафаккур”да Доктор, “Ниқоб”да ота, “Инсонликка номзод”да уруш ногирони, “Бибихоним”да Амир Темур, “Отамдан қолган далалар”да Жамолиддин Кетмон, “Сарвқомат дилбарим”да Омонжулов, “Хусрав ва Ширин” мусиқали лирик драмасида Шох, “Қуш тили”да Шайх Санъон, “Она”да Хоқон, Ота ва Ровий, “Широқ”да Ҳугава, “Тушов узган тулпорлар”да Отахон, “Қирол Лир”да (2022-й) Албани, “Яхши кун”да Ҳофиз ва Деҳқон, “Медея”да шоҳ Креонт, “Анвар ва Раъно” мусиқали лирик драмасида Худоёрхон, “Антиқа шолғом”да Шолғом, “Алпомиш”да Ғовур роллари фикримизни тасдиқлайди. Актёр ижросидаги образлар энг аввало, бадиий баркамоллиги, нутқининг равонлиги, ижросининг самимийлиги ҳамда эҳтиросларга бойлиги билан томошабинни мафтун этади. </a:t>
                      </a:r>
                    </a:p>
                    <a:p>
                      <a:pPr algn="just">
                        <a:lnSpc>
                          <a:spcPct val="85000"/>
                        </a:lnSpc>
                      </a:pPr>
                      <a:r>
                        <a:rPr lang="uz-Cyrl-UZ" sz="900" b="0" noProof="0" dirty="0" smtClean="0">
                          <a:solidFill>
                            <a:schemeClr val="tx1"/>
                          </a:solidFill>
                          <a:latin typeface="+mn-lt"/>
                        </a:rPr>
                        <a:t>    Ижодкорнинг хонандалик санъати алоҳида олқишга лойиқ. Унинг юксак пардадаги нола-ю, қочиримларга бой овози, ижросидаги, дилгиру дилсўз қўшиқлари томошабинларнинг юксак баҳоларга сазовор бўлди. </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67964">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794205">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Вилоятмизда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2516" y="1163782"/>
            <a:ext cx="867243" cy="10727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3158985"/>
      </p:ext>
    </p:ext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4068506696"/>
              </p:ext>
            </p:extLst>
          </p:nvPr>
        </p:nvGraphicFramePr>
        <p:xfrm>
          <a:off x="144489" y="865702"/>
          <a:ext cx="3427547" cy="5900858"/>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6555">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1444">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ЖУМАЕВ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144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Шариф</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144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Каримович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1444">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144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12.081952</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144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Бухоро 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3971">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20329">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14нафар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3971">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47191">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Жумаев Каримбой</a:t>
                      </a:r>
                    </a:p>
                    <a:p>
                      <a:pPr algn="l">
                        <a:lnSpc>
                          <a:spcPct val="85000"/>
                        </a:lnSpc>
                      </a:pPr>
                      <a:r>
                        <a:rPr lang="uz-Cyrl-UZ" sz="900" b="0" kern="1200" noProof="0" dirty="0" smtClean="0">
                          <a:solidFill>
                            <a:schemeClr val="tx1"/>
                          </a:solidFill>
                          <a:latin typeface="+mn-lt"/>
                          <a:ea typeface="+mn-ea"/>
                          <a:cs typeface="Arial" panose="020B0604020202020204" pitchFamily="34" charset="0"/>
                        </a:rPr>
                        <a:t>1900 йил, </a:t>
                      </a:r>
                    </a:p>
                    <a:p>
                      <a:pPr algn="l">
                        <a:lnSpc>
                          <a:spcPct val="85000"/>
                        </a:lnSpc>
                      </a:pPr>
                      <a:r>
                        <a:rPr lang="uz-Cyrl-UZ" sz="900" b="0" kern="1200" noProof="0" smtClean="0">
                          <a:solidFill>
                            <a:schemeClr val="tx1"/>
                          </a:solidFill>
                          <a:latin typeface="+mn-lt"/>
                          <a:ea typeface="+mn-ea"/>
                          <a:cs typeface="Arial" panose="020B0604020202020204" pitchFamily="34" charset="0"/>
                        </a:rPr>
                        <a:t>Бухоро вилояти</a:t>
                      </a: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1970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ишчи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766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Жумаева Муқаддам</a:t>
                      </a:r>
                    </a:p>
                    <a:p>
                      <a:pPr algn="l">
                        <a:lnSpc>
                          <a:spcPct val="85000"/>
                        </a:lnSpc>
                      </a:pPr>
                      <a:r>
                        <a:rPr lang="uz-Cyrl-UZ" sz="900" b="0" kern="1200" noProof="0" dirty="0" smtClean="0">
                          <a:solidFill>
                            <a:schemeClr val="tx1"/>
                          </a:solidFill>
                          <a:latin typeface="+mn-lt"/>
                          <a:ea typeface="+mn-ea"/>
                          <a:cs typeface="Arial" panose="020B0604020202020204" pitchFamily="34" charset="0"/>
                        </a:rPr>
                        <a:t>1910 йил, Бухоро</a:t>
                      </a:r>
                      <a:r>
                        <a:rPr lang="uz-Cyrl-UZ" sz="900" b="0" kern="1200" baseline="0" noProof="0" dirty="0" smtClean="0">
                          <a:solidFill>
                            <a:schemeClr val="tx1"/>
                          </a:solidFill>
                          <a:latin typeface="+mn-lt"/>
                          <a:ea typeface="+mn-ea"/>
                          <a:cs typeface="Arial" panose="020B0604020202020204" pitchFamily="34" charset="0"/>
                        </a:rPr>
                        <a:t> вилояти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1998йил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уй</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766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Жумаева Самида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1956 йил, Сирдарё</a:t>
                      </a:r>
                      <a:r>
                        <a:rPr lang="uz-Cyrl-UZ" sz="900" b="0" kern="1200" baseline="0" noProof="0" dirty="0" smtClean="0">
                          <a:solidFill>
                            <a:schemeClr val="tx1"/>
                          </a:solidFill>
                          <a:latin typeface="+mn-lt"/>
                          <a:ea typeface="+mn-ea"/>
                          <a:cs typeface="Arial" panose="020B0604020202020204" pitchFamily="34" charset="0"/>
                        </a:rPr>
                        <a:t> вилояти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Нафақада</a:t>
                      </a:r>
                      <a:r>
                        <a:rPr lang="uz-Cyrl-UZ" sz="900" b="0" kern="1200" baseline="0" noProof="0" dirty="0" smtClean="0">
                          <a:solidFill>
                            <a:schemeClr val="tx1"/>
                          </a:solidFill>
                          <a:latin typeface="+mn-lt"/>
                          <a:ea typeface="+mn-ea"/>
                          <a:cs typeface="Arial" panose="020B0604020202020204" pitchFamily="34" charset="0"/>
                        </a:rPr>
                        <a:t> (ҳамшира)</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0378">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32375">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1978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a:t>
                      </a:r>
                      <a:r>
                        <a:rPr lang="ru-RU" sz="900" b="0" kern="1200" baseline="0" noProof="0" dirty="0" smtClean="0">
                          <a:solidFill>
                            <a:schemeClr val="tx1"/>
                          </a:solidFill>
                          <a:latin typeface="+mn-lt"/>
                          <a:ea typeface="+mn-ea"/>
                          <a:cs typeface="+mn-cs"/>
                        </a:rPr>
                        <a:t> театр </a:t>
                      </a:r>
                      <a:r>
                        <a:rPr lang="ru-RU" sz="900" b="0" kern="1200" baseline="0" noProof="0" dirty="0" err="1" smtClean="0">
                          <a:solidFill>
                            <a:schemeClr val="tx1"/>
                          </a:solidFill>
                          <a:latin typeface="+mn-lt"/>
                          <a:ea typeface="+mn-ea"/>
                          <a:cs typeface="+mn-cs"/>
                        </a:rPr>
                        <a:t>ва</a:t>
                      </a:r>
                      <a:r>
                        <a:rPr lang="ru-RU" sz="900" b="0" kern="1200" baseline="0" noProof="0" dirty="0" smtClean="0">
                          <a:solidFill>
                            <a:schemeClr val="tx1"/>
                          </a:solidFill>
                          <a:latin typeface="+mn-lt"/>
                          <a:ea typeface="+mn-ea"/>
                          <a:cs typeface="+mn-cs"/>
                        </a:rPr>
                        <a:t> </a:t>
                      </a:r>
                      <a:r>
                        <a:rPr lang="ru-RU" sz="900" b="0" kern="1200" baseline="0" noProof="0" dirty="0" err="1" smtClean="0">
                          <a:solidFill>
                            <a:schemeClr val="tx1"/>
                          </a:solidFill>
                          <a:latin typeface="+mn-lt"/>
                          <a:ea typeface="+mn-ea"/>
                          <a:cs typeface="+mn-cs"/>
                        </a:rPr>
                        <a:t>рассомлик</a:t>
                      </a:r>
                      <a:r>
                        <a:rPr lang="ru-RU" sz="900" b="0" kern="1200" baseline="0" noProof="0" dirty="0" smtClean="0">
                          <a:solidFill>
                            <a:schemeClr val="tx1"/>
                          </a:solidFill>
                          <a:latin typeface="+mn-lt"/>
                          <a:ea typeface="+mn-ea"/>
                          <a:cs typeface="+mn-cs"/>
                        </a:rPr>
                        <a:t> </a:t>
                      </a:r>
                      <a:r>
                        <a:rPr lang="ru-RU" sz="900" b="0" kern="1200" baseline="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8007">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effectLst/>
                          <a:latin typeface="+mn-lt"/>
                          <a:ea typeface="+mn-ea"/>
                          <a:cs typeface="+mn-cs"/>
                        </a:rPr>
                        <a:t>Драма</a:t>
                      </a:r>
                      <a:r>
                        <a:rPr lang="uz-Cyrl-UZ" sz="900" b="0" kern="1200" baseline="0" noProof="0" dirty="0" smtClean="0">
                          <a:solidFill>
                            <a:schemeClr val="tx1"/>
                          </a:solidFill>
                          <a:effectLst/>
                          <a:latin typeface="+mn-lt"/>
                          <a:ea typeface="+mn-ea"/>
                          <a:cs typeface="+mn-cs"/>
                        </a:rPr>
                        <a:t> ва кино актёрлиги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7335">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7335">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9421">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106484163"/>
              </p:ext>
            </p:extLst>
          </p:nvPr>
        </p:nvGraphicFramePr>
        <p:xfrm>
          <a:off x="3674526" y="865689"/>
          <a:ext cx="3172841" cy="5964327"/>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6678">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60598">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2006 йилдан буён Сирдарё вилояти мусиқали драма театри Етакчи саҳна устаси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8683">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267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51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739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2309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611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611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419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289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9928">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52499">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2000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2015 й “Дўстлик” ордени</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652396133"/>
              </p:ext>
            </p:extLst>
          </p:nvPr>
        </p:nvGraphicFramePr>
        <p:xfrm>
          <a:off x="6949857" y="869286"/>
          <a:ext cx="2817247" cy="5897275"/>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8197">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0191">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78785">
                <a:tc>
                  <a:txBody>
                    <a:bodyPr/>
                    <a:lstStyle/>
                    <a:p>
                      <a:pPr algn="just">
                        <a:lnSpc>
                          <a:spcPct val="85000"/>
                        </a:lnSpc>
                      </a:pPr>
                      <a:r>
                        <a:rPr lang="uz-Cyrl-UZ" sz="900" b="0" noProof="0" dirty="0" smtClean="0">
                          <a:solidFill>
                            <a:schemeClr val="tx1"/>
                          </a:solidFill>
                          <a:latin typeface="+mn-lt"/>
                        </a:rPr>
                        <a:t>    Ш.Жумаев ташаббуси билан ҳар йили театр репертуар режасига миллий қадриятларни қадрлаш, асраш, уларни ёшлар орасида тўғри талқин этиш ва шу йўл билан ватанпарварликка даъватнинг бадиий талқинини ўзида акс эттирган асарлар киритилади. «Алишер Навоий», «Амир Темур», «Ватан ишқи», «Тўй», «Ибтидо», «Фирибгар», «Оддий аскарлар», «Оғриқ тишлар», «Оқибат» каби турли жанрдаги асарлар шулар жумласидандир.</a:t>
                      </a:r>
                    </a:p>
                    <a:p>
                      <a:pPr algn="just">
                        <a:lnSpc>
                          <a:spcPct val="85000"/>
                        </a:lnSpc>
                      </a:pPr>
                      <a:r>
                        <a:rPr lang="uz-Cyrl-UZ" sz="900" b="0" noProof="0" dirty="0" smtClean="0">
                          <a:solidFill>
                            <a:schemeClr val="tx1"/>
                          </a:solidFill>
                          <a:latin typeface="+mn-lt"/>
                        </a:rPr>
                        <a:t>    Маҳоратли актёр театр санъати сирларини пухта ўзлаштирган. Ўтган йиллар мобайнида 80 дан зиёд турли хил характердаги қаҳрамонлар образларини яратган.</a:t>
                      </a:r>
                    </a:p>
                    <a:p>
                      <a:pPr algn="just">
                        <a:lnSpc>
                          <a:spcPct val="85000"/>
                        </a:lnSpc>
                      </a:pPr>
                      <a:r>
                        <a:rPr lang="uz-Cyrl-UZ" sz="900" b="0" noProof="0" dirty="0" smtClean="0">
                          <a:solidFill>
                            <a:schemeClr val="tx1"/>
                          </a:solidFill>
                          <a:latin typeface="+mn-lt"/>
                        </a:rPr>
                        <a:t>    «Муҳаббат» драмасида (А.Қаҳҳор) оқсоқ чол, «Алишер Навоий»да (Уйғун ва Иззат Султон) Мансур, «Ричард-ИИИ»да (В.Шекспир) Граф Риверс, «Қирол Лир»да Эдгар, «Серғайрат кишилар»да (В.Шукшин) Кал, «Ер томири»да (М.Бобоев) туман ҳокими, «Сўнмас юлдузлар»да (Т.Жамол) Ҳолиқмахсум, «Сохта оқсуяк»да (Ж.Б.Молер) фалсафа муаллими, «Гапир»да (А.Буравский) Гиргиттон, «Ватан ишқи»да (З.Фатхуллин) Хушмамат, «Марварид таққан аёл»да (К.Аваз) Баҳодир, «Дабдабали тўй»да (Ю.Бўлат) Чумез, «Тентак фаришталар»да (Ш.Бошбеков) Шокир ота, «Амир Темур»да (Ҳ.Жовид) Шайх Бухорий, «Тарослик ёвуз»да (А.Несин) Нурибей, «Тўй»да (М.Ризо) Назаржонов, «Бу юрт муқаддас тупроғимдир...»да (Т.Тўла) Ҳаққул, «Инсон ўзинг...»да (Н.Аббосхон) Одил қори, “Момо ер”да (Ч.Айтматов) Усенбой, “Инсонликка номзод”да (М.Каримов) Уруш ногирони, “Ҳалала”да Имом, “Анвар ва Рано” мусиқали лирик драмасида Шаҳодат муфти, “Ҳалима”да Ҳ.Худойбердиеванинг отаси образлари томошабинлар меҳрини қозонган ва театр олтин фондидан ўрин эгаллаган.</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2840">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1726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Вилоятимизда</a:t>
                      </a:r>
                      <a:r>
                        <a:rPr lang="uz-Cyrl-UZ" sz="900" b="0" baseline="0" dirty="0" smtClean="0">
                          <a:effectLst/>
                          <a:latin typeface="+mn-lt"/>
                          <a:ea typeface="Calibri" panose="020F0502020204030204" pitchFamily="34" charset="0"/>
                          <a:cs typeface="Times New Roman" panose="02020603050405020304" pitchFamily="18" charset="0"/>
                        </a:rPr>
                        <a:t> ўтказилиб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Picture 2" descr="Ш"/>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9381" y="1147156"/>
            <a:ext cx="904289" cy="10889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72772632"/>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154184900"/>
              </p:ext>
            </p:extLst>
          </p:nvPr>
        </p:nvGraphicFramePr>
        <p:xfrm>
          <a:off x="144489" y="865702"/>
          <a:ext cx="3427547" cy="5929973"/>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8399">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2876">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КАТТАБОБОЕВ</a:t>
                      </a:r>
                      <a:r>
                        <a:rPr lang="uz-Cyrl-UZ" sz="900" b="0" kern="1200" baseline="0" dirty="0" smtClean="0">
                          <a:solidFill>
                            <a:schemeClr val="tx1"/>
                          </a:solidFill>
                          <a:latin typeface="+mn-lt"/>
                          <a:ea typeface="+mn-ea"/>
                          <a:cs typeface="+mn-cs"/>
                        </a:rPr>
                        <a:t>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287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Шерзод</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287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Мухиддинович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2876">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287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13.06.1981</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287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Наманган</a:t>
                      </a:r>
                      <a:r>
                        <a:rPr lang="uz-Cyrl-UZ" sz="800" b="0" kern="1200" baseline="0" dirty="0" smtClean="0">
                          <a:solidFill>
                            <a:schemeClr val="tx1"/>
                          </a:solidFill>
                          <a:latin typeface="+mn-lt"/>
                          <a:ea typeface="+mn-ea"/>
                          <a:cs typeface="+mn-cs"/>
                        </a:rPr>
                        <a:t> 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5721">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23473">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5721">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36267">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Каттабобоев</a:t>
                      </a:r>
                      <a:r>
                        <a:rPr lang="uz-Cyrl-UZ" sz="900" b="1" kern="1200" baseline="0" noProof="0" dirty="0" smtClean="0">
                          <a:solidFill>
                            <a:schemeClr val="tx1"/>
                          </a:solidFill>
                          <a:latin typeface="+mn-lt"/>
                          <a:ea typeface="+mn-ea"/>
                          <a:cs typeface="Arial" panose="020B0604020202020204" pitchFamily="34" charset="0"/>
                        </a:rPr>
                        <a:t> Мухиддин</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1956 йил, Наманган</a:t>
                      </a:r>
                      <a:r>
                        <a:rPr lang="uz-Cyrl-UZ" sz="900" b="0" kern="1200" baseline="0" noProof="0" dirty="0" smtClean="0">
                          <a:solidFill>
                            <a:schemeClr val="tx1"/>
                          </a:solidFill>
                          <a:latin typeface="+mn-lt"/>
                          <a:ea typeface="+mn-ea"/>
                          <a:cs typeface="Arial" panose="020B0604020202020204" pitchFamily="34" charset="0"/>
                        </a:rPr>
                        <a:t> вилояти</a:t>
                      </a:r>
                      <a:endParaRPr lang="uz-Cyrl-UZ"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2014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Ўқитувчи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40936">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Юсупова</a:t>
                      </a:r>
                      <a:r>
                        <a:rPr lang="uz-Cyrl-UZ" sz="900" b="1" kern="1200" baseline="0" noProof="0" dirty="0" smtClean="0">
                          <a:solidFill>
                            <a:schemeClr val="tx1"/>
                          </a:solidFill>
                          <a:latin typeface="+mn-lt"/>
                          <a:ea typeface="+mn-ea"/>
                          <a:cs typeface="Arial" panose="020B0604020202020204" pitchFamily="34" charset="0"/>
                        </a:rPr>
                        <a:t> Малика</a:t>
                      </a:r>
                      <a:r>
                        <a:rPr lang="uz-Cyrl-UZ" sz="900" b="1" kern="1200" noProof="0" dirty="0" smtClean="0">
                          <a:solidFill>
                            <a:schemeClr val="tx1"/>
                          </a:solidFill>
                          <a:latin typeface="+mn-lt"/>
                          <a:ea typeface="+mn-ea"/>
                          <a:cs typeface="Arial" panose="020B0604020202020204" pitchFamily="34" charset="0"/>
                        </a:rPr>
                        <a:t>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1958йил, Наманган</a:t>
                      </a:r>
                      <a:r>
                        <a:rPr lang="uz-Cyrl-UZ" sz="900" b="0" kern="1200" baseline="0" noProof="0" dirty="0" smtClean="0">
                          <a:solidFill>
                            <a:schemeClr val="tx1"/>
                          </a:solidFill>
                          <a:latin typeface="+mn-lt"/>
                          <a:ea typeface="+mn-ea"/>
                          <a:cs typeface="Arial" panose="020B0604020202020204" pitchFamily="34" charset="0"/>
                        </a:rPr>
                        <a:t> вилояти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нафақада</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ўқитувчи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40936">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Ғойибназарова Маъмура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1981йил, Наманган</a:t>
                      </a:r>
                      <a:r>
                        <a:rPr lang="uz-Cyrl-UZ" sz="900" b="0" kern="1200" baseline="0" noProof="0" dirty="0" smtClean="0">
                          <a:solidFill>
                            <a:schemeClr val="tx1"/>
                          </a:solidFill>
                          <a:latin typeface="+mn-lt"/>
                          <a:ea typeface="+mn-ea"/>
                          <a:cs typeface="Arial" panose="020B0604020202020204" pitchFamily="34" charset="0"/>
                        </a:rPr>
                        <a:t> вилояти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ўқитувчи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1951">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371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2021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давлат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маданият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80086">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effectLst/>
                          <a:latin typeface="+mn-lt"/>
                          <a:ea typeface="+mn-ea"/>
                          <a:cs typeface="+mn-cs"/>
                        </a:rPr>
                        <a:t>Мусиқали</a:t>
                      </a:r>
                      <a:r>
                        <a:rPr lang="uz-Cyrl-UZ" sz="900" b="0" kern="1200" baseline="0" noProof="0" dirty="0" smtClean="0">
                          <a:solidFill>
                            <a:schemeClr val="tx1"/>
                          </a:solidFill>
                          <a:effectLst/>
                          <a:latin typeface="+mn-lt"/>
                          <a:ea typeface="+mn-ea"/>
                          <a:cs typeface="+mn-cs"/>
                        </a:rPr>
                        <a:t> театр актёрлиги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9708">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9708">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42707">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423011149"/>
              </p:ext>
            </p:extLst>
          </p:nvPr>
        </p:nvGraphicFramePr>
        <p:xfrm>
          <a:off x="3674526" y="865689"/>
          <a:ext cx="3172841" cy="6108248"/>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8388">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62377">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2000 йилдан буён  </a:t>
                      </a:r>
                      <a:r>
                        <a:rPr lang="uz-Cyrl-UZ" sz="900" b="1" kern="1200" baseline="0" noProof="0" dirty="0" smtClean="0">
                          <a:solidFill>
                            <a:schemeClr val="tx1"/>
                          </a:solidFill>
                          <a:latin typeface="+mn-lt"/>
                          <a:ea typeface="+mn-ea"/>
                          <a:cs typeface="+mn-cs"/>
                        </a:rPr>
                        <a:t>Сирдарё вилояти мусиқали драма театри </a:t>
                      </a:r>
                      <a:r>
                        <a:rPr lang="uz-Cyrl-UZ" sz="900" b="1" kern="1200" noProof="0" dirty="0" smtClean="0">
                          <a:solidFill>
                            <a:schemeClr val="tx1"/>
                          </a:solidFill>
                          <a:latin typeface="+mn-lt"/>
                          <a:ea typeface="+mn-ea"/>
                          <a:cs typeface="+mn-cs"/>
                        </a:rPr>
                        <a:t>олий даражали драма артисти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9959">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377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26</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841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2764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7627">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762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5695">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4243">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1111">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63119">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2025 й. “Шуҳрат” медаль соҳиби</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951185520"/>
              </p:ext>
            </p:extLst>
          </p:nvPr>
        </p:nvGraphicFramePr>
        <p:xfrm>
          <a:off x="6949857" y="869286"/>
          <a:ext cx="2817247" cy="5925372"/>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64097">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2443">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75441">
                <a:tc>
                  <a:txBody>
                    <a:bodyPr/>
                    <a:lstStyle/>
                    <a:p>
                      <a:pPr algn="just">
                        <a:lnSpc>
                          <a:spcPct val="85000"/>
                        </a:lnSpc>
                      </a:pPr>
                      <a:r>
                        <a:rPr lang="uz-Cyrl-UZ" sz="900" b="0" noProof="0" dirty="0" smtClean="0">
                          <a:solidFill>
                            <a:schemeClr val="tx1"/>
                          </a:solidFill>
                          <a:latin typeface="+mn-lt"/>
                        </a:rPr>
                        <a:t>   Театр саҳнасида саҳналаштирилган 100 га яқин спектаклларда, жумладан, “Тўй ҳангомалари”да Йигит ва Куёв, “Қичқир хўроз”да Бўри, “Хотинимнинг уч ошиғи”да Тансоқчи, “Меҳрибонлар”да Бўри, “Ғаройиб карнавал”да Чиябўри ва Улоқча, “Тўй”да Йигит, “Аёллар машмашаси”да Арлекин, “Шум бола”да Банги, “Аловуддиннинг сеҳрли чироғи”да Жин ва Ўғри, “Жавоҳирлар шаҳри сеҳргари”да Дала қўриқчиси, “Ёмоннинг бир қилиғи”да Қароқчи, “Заҳарли томчилар”да Салим, “Стандарт куёв”да Шоир йигит, “Бремен созандалари”да Қароқчи, “Падаркуш”да Тангриқул ва Хайрулло, “Ғаройиб томоша”да Сантехник, “Қайрағоч соясидаги эҳтирос” Эбин, “Келинг, бир кулишайлик”да Эр,  “Қотил юраги”да Адвокат, “Жонгинам шартингни айт”да Газета мухбири,, “Сирли китоб”да Ўлмас Кашшей ва Ваҳший, “Ўрмон аҳли”да Шер, “Музлаган соат”да Олашақшақ, “Оппоғойнинг саргузаштлари” Довдир, “Гномлар янги йили”да Капитан, “Инсонликка номзод”да Азим, “Бибихоним”да Одил дарвеш, “Отамдан қолган далалар”да Ақраб қўрбоши, “Қуш тили”да Ҳудҳуд, “Қувноқ шаҳарча”да Қароқчи, “Аҳли жаҳондин яхшилиғ”да Аҳмад Тамбал, Явдат Илясовнинг “Ғазаб сўқмоғи” асари асосида саҳналаштирилган “Широқ” трагедиясида Ҳугава, У.Шекспирнинг “Қирол Лир” трагедиясида граф Глостер, Р.Н.Гунтегиннинг “Ҳалала” мусиқали комедиясида бош қаҳрамонлардан бири Шариф,  “Анвар ва Раъно”да Султон Али, “Ҳалима”да Тепакал, “Майсаранинг иши” мусиқали комедиясида Мулла Рўзи аълам, “Алпомиш”да Бойбўри ва Қултой, “Сеҳрли калитлар”да Олов ҳукмдори, “Бўёқчи”да Тахсинбей, Сирдарё вилояти Прокуратураси таклифига биноан саҳналаштирилган С.Маманазаровнинг “Бир пиёла чой” драмасида Саид каби ранг-баранг характердаги роллар ижроси билан халқимиз эътиборини қозонган.</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64080">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775841">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Вилоятмизда</a:t>
                      </a:r>
                      <a:r>
                        <a:rPr lang="uz-Cyrl-UZ" sz="900" b="0" baseline="0" dirty="0" smtClean="0">
                          <a:effectLst/>
                          <a:latin typeface="+mn-lt"/>
                          <a:ea typeface="Calibri" panose="020F0502020204030204" pitchFamily="34" charset="0"/>
                          <a:cs typeface="Times New Roman" panose="02020603050405020304" pitchFamily="18" charset="0"/>
                        </a:rPr>
                        <a:t> ўтказилиб келинадиган барча оммавий мадаий тадбирлар ва давлат тадбирларида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5673" y="1122218"/>
            <a:ext cx="879475" cy="1130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54137504"/>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554480324"/>
              </p:ext>
            </p:extLst>
          </p:nvPr>
        </p:nvGraphicFramePr>
        <p:xfrm>
          <a:off x="144489" y="902490"/>
          <a:ext cx="3427547" cy="5898192"/>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5492">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20164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uz-Cyrl-UZ" sz="800" b="1" kern="1200" dirty="0" smtClean="0">
                          <a:solidFill>
                            <a:schemeClr val="tx1"/>
                          </a:solidFill>
                          <a:effectLst/>
                          <a:latin typeface="+mn-lt"/>
                          <a:ea typeface="+mn-ea"/>
                          <a:cs typeface="+mn-cs"/>
                        </a:rPr>
                        <a:t>ЭШМУРАТОВА</a:t>
                      </a:r>
                      <a:r>
                        <a:rPr lang="uz-Cyrl-UZ" sz="800" kern="1200" dirty="0" smtClean="0">
                          <a:solidFill>
                            <a:schemeClr val="tx1"/>
                          </a:solidFill>
                          <a:effectLst/>
                          <a:latin typeface="+mn-lt"/>
                          <a:ea typeface="+mn-ea"/>
                          <a:cs typeface="+mn-cs"/>
                        </a:rPr>
                        <a:t> </a:t>
                      </a:r>
                      <a:endParaRPr lang="uz-Cyrl-UZ" sz="80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64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uz-Cyrl-UZ" sz="800" b="1" kern="1200" dirty="0" smtClean="0">
                          <a:solidFill>
                            <a:schemeClr val="tx1"/>
                          </a:solidFill>
                          <a:effectLst/>
                          <a:latin typeface="+mn-lt"/>
                          <a:ea typeface="+mn-ea"/>
                          <a:cs typeface="+mn-cs"/>
                        </a:rPr>
                        <a:t>Зулфия</a:t>
                      </a:r>
                      <a:r>
                        <a:rPr lang="uz-Cyrl-UZ" sz="800" kern="1200" dirty="0" smtClean="0">
                          <a:solidFill>
                            <a:schemeClr val="tx1"/>
                          </a:solidFill>
                          <a:effectLst/>
                          <a:latin typeface="+mn-lt"/>
                          <a:ea typeface="+mn-ea"/>
                          <a:cs typeface="+mn-cs"/>
                        </a:rPr>
                        <a:t> </a:t>
                      </a:r>
                      <a:endParaRPr lang="uz-Cyrl-UZ" sz="80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438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Меллиевна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4381">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438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kern="1200" dirty="0" smtClean="0">
                          <a:solidFill>
                            <a:schemeClr val="tx1"/>
                          </a:solidFill>
                          <a:effectLst/>
                          <a:latin typeface="+mn-lt"/>
                          <a:ea typeface="+mn-ea"/>
                          <a:cs typeface="+mn-cs"/>
                        </a:rPr>
                        <a:t>03.09.1949 </a:t>
                      </a:r>
                      <a:r>
                        <a:rPr lang="ru-RU" sz="800" kern="1200" dirty="0" err="1" smtClean="0">
                          <a:solidFill>
                            <a:schemeClr val="tx1"/>
                          </a:solidFill>
                          <a:effectLst/>
                          <a:latin typeface="+mn-lt"/>
                          <a:ea typeface="+mn-ea"/>
                          <a:cs typeface="+mn-cs"/>
                        </a:rPr>
                        <a:t>йил</a:t>
                      </a:r>
                      <a:r>
                        <a:rPr lang="ru-RU" sz="800" kern="1200" dirty="0" smtClean="0">
                          <a:solidFill>
                            <a:schemeClr val="tx1"/>
                          </a:solidFill>
                          <a:effectLst/>
                          <a:latin typeface="+mn-lt"/>
                          <a:ea typeface="+mn-ea"/>
                          <a:cs typeface="+mn-cs"/>
                        </a:rPr>
                        <a:t> </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438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kern="1200" dirty="0" err="1" smtClean="0">
                          <a:solidFill>
                            <a:schemeClr val="tx1"/>
                          </a:solidFill>
                          <a:effectLst/>
                          <a:latin typeface="+mn-lt"/>
                          <a:ea typeface="+mn-ea"/>
                          <a:cs typeface="+mn-cs"/>
                        </a:rPr>
                        <a:t>Самарқанд</a:t>
                      </a:r>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756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9204">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фарзанди ва 1 навар қиз фарзанди  бор, </a:t>
                      </a:r>
                      <a:br>
                        <a:rPr lang="uz-Cyrl-UZ" sz="900" b="0" kern="1200" noProof="0" dirty="0" smtClean="0">
                          <a:solidFill>
                            <a:schemeClr val="tx1"/>
                          </a:solidFill>
                          <a:latin typeface="+mn-lt"/>
                          <a:ea typeface="+mn-ea"/>
                          <a:cs typeface="+mn-cs"/>
                        </a:rPr>
                      </a:b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756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55585">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Меллиев Эшмурат</a:t>
                      </a:r>
                    </a:p>
                    <a:p>
                      <a:pPr algn="l">
                        <a:lnSpc>
                          <a:spcPct val="85000"/>
                        </a:lnSpc>
                      </a:pPr>
                      <a:r>
                        <a:rPr lang="uz-Cyrl-UZ" sz="900" b="0" kern="1200" noProof="0" dirty="0" smtClean="0">
                          <a:solidFill>
                            <a:schemeClr val="tx1"/>
                          </a:solidFill>
                          <a:latin typeface="+mn-lt"/>
                          <a:ea typeface="+mn-ea"/>
                          <a:cs typeface="Arial" panose="020B0604020202020204" pitchFamily="34" charset="0"/>
                        </a:rPr>
                        <a:t>1920 йил,Самарқанд</a:t>
                      </a:r>
                    </a:p>
                    <a:p>
                      <a:pPr algn="l">
                        <a:lnSpc>
                          <a:spcPct val="85000"/>
                        </a:lnSpc>
                      </a:pPr>
                      <a:r>
                        <a:rPr lang="uz-Cyrl-UZ" sz="900" b="0" kern="1200" noProof="0" dirty="0" smtClean="0">
                          <a:solidFill>
                            <a:schemeClr val="tx1"/>
                          </a:solidFill>
                          <a:latin typeface="+mn-lt"/>
                          <a:ea typeface="+mn-ea"/>
                          <a:cs typeface="Arial" panose="020B0604020202020204" pitchFamily="34" charset="0"/>
                        </a:rPr>
                        <a:t>вилояти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1969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Ҳайдовчи</a:t>
                      </a:r>
                      <a:r>
                        <a:rPr lang="ru-RU" sz="900" b="0" kern="1200" noProof="0" dirty="0" smtClean="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55585">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Меллиева Майрам</a:t>
                      </a:r>
                    </a:p>
                    <a:p>
                      <a:pPr algn="l">
                        <a:lnSpc>
                          <a:spcPct val="85000"/>
                        </a:lnSpc>
                      </a:pPr>
                      <a:r>
                        <a:rPr lang="uz-Cyrl-UZ" sz="900" b="0" kern="1200" noProof="0" dirty="0" smtClean="0">
                          <a:solidFill>
                            <a:schemeClr val="tx1"/>
                          </a:solidFill>
                          <a:latin typeface="+mn-lt"/>
                          <a:ea typeface="+mn-ea"/>
                          <a:cs typeface="Arial" panose="020B0604020202020204" pitchFamily="34" charset="0"/>
                        </a:rPr>
                        <a:t>1921 йил,Самарқанд</a:t>
                      </a:r>
                    </a:p>
                    <a:p>
                      <a:pPr algn="l">
                        <a:lnSpc>
                          <a:spcPct val="85000"/>
                        </a:lnSpc>
                      </a:pPr>
                      <a:r>
                        <a:rPr lang="uz-Cyrl-UZ" sz="900" b="0" kern="1200" noProof="0" dirty="0" smtClean="0">
                          <a:solidFill>
                            <a:schemeClr val="tx1"/>
                          </a:solidFill>
                          <a:latin typeface="+mn-lt"/>
                          <a:ea typeface="+mn-ea"/>
                          <a:cs typeface="Arial" panose="020B0604020202020204" pitchFamily="34" charset="0"/>
                        </a:rPr>
                        <a:t>вилояти</a:t>
                      </a:r>
                    </a:p>
                    <a:p>
                      <a:pPr algn="l">
                        <a:lnSpc>
                          <a:spcPct val="85000"/>
                        </a:lnSpc>
                      </a:pP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1994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Уй</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бекаси</a:t>
                      </a:r>
                      <a:r>
                        <a:rPr lang="ru-RU" sz="900" b="0" kern="1200" noProof="0" dirty="0" smtClean="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44376">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Қаноатов Тўлабой</a:t>
                      </a:r>
                    </a:p>
                    <a:p>
                      <a:pPr algn="l">
                        <a:lnSpc>
                          <a:spcPct val="85000"/>
                        </a:lnSpc>
                      </a:pPr>
                      <a:r>
                        <a:rPr lang="uz-Cyrl-UZ" sz="900" b="0" kern="1200" noProof="0" dirty="0" smtClean="0">
                          <a:solidFill>
                            <a:schemeClr val="tx1"/>
                          </a:solidFill>
                          <a:latin typeface="+mn-lt"/>
                          <a:ea typeface="+mn-ea"/>
                          <a:cs typeface="Arial" panose="020B0604020202020204" pitchFamily="34" charset="0"/>
                        </a:rPr>
                        <a:t>1937 йил,</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Тошкент</a:t>
                      </a:r>
                    </a:p>
                    <a:p>
                      <a:pPr algn="l">
                        <a:lnSpc>
                          <a:spcPct val="85000"/>
                        </a:lnSpc>
                      </a:pPr>
                      <a:r>
                        <a:rPr lang="uz-Cyrl-UZ" sz="900" b="0" kern="1200" noProof="0" dirty="0" smtClean="0">
                          <a:solidFill>
                            <a:schemeClr val="tx1"/>
                          </a:solidFill>
                          <a:latin typeface="+mn-lt"/>
                          <a:ea typeface="+mn-ea"/>
                          <a:cs typeface="Arial" panose="020B0604020202020204" pitchFamily="34" charset="0"/>
                        </a:rPr>
                        <a:t>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2013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вилоят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театрида</a:t>
                      </a:r>
                      <a:r>
                        <a:rPr lang="ru-RU" sz="900" b="0" kern="1200" noProof="0" dirty="0" smtClean="0">
                          <a:solidFill>
                            <a:schemeClr val="tx1"/>
                          </a:solidFill>
                          <a:latin typeface="+mn-lt"/>
                          <a:ea typeface="+mn-ea"/>
                          <a:cs typeface="Arial" panose="020B0604020202020204" pitchFamily="34" charset="0"/>
                        </a:rPr>
                        <a:t> актёр)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3605">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460458">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kern="1200" dirty="0" smtClean="0">
                          <a:solidFill>
                            <a:schemeClr val="tx1"/>
                          </a:solidFill>
                          <a:effectLst/>
                          <a:latin typeface="+mn-lt"/>
                          <a:ea typeface="+mn-ea"/>
                          <a:cs typeface="+mn-cs"/>
                        </a:rPr>
                        <a:t>1975 й. </a:t>
                      </a:r>
                      <a:r>
                        <a:rPr lang="ru-RU" sz="900" kern="1200" dirty="0" err="1" smtClean="0">
                          <a:solidFill>
                            <a:schemeClr val="tx1"/>
                          </a:solidFill>
                          <a:effectLst/>
                          <a:latin typeface="+mn-lt"/>
                          <a:ea typeface="+mn-ea"/>
                          <a:cs typeface="+mn-cs"/>
                        </a:rPr>
                        <a:t>Тошкент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давлат</a:t>
                      </a:r>
                      <a:r>
                        <a:rPr lang="ru-RU" sz="900" kern="1200" dirty="0" smtClean="0">
                          <a:solidFill>
                            <a:schemeClr val="tx1"/>
                          </a:solidFill>
                          <a:effectLst/>
                          <a:latin typeface="+mn-lt"/>
                          <a:ea typeface="+mn-ea"/>
                          <a:cs typeface="+mn-cs"/>
                        </a:rPr>
                        <a:t> театр </a:t>
                      </a:r>
                      <a:r>
                        <a:rPr lang="ru-RU" sz="900" kern="1200" dirty="0" err="1" smtClean="0">
                          <a:solidFill>
                            <a:schemeClr val="tx1"/>
                          </a:solidFill>
                          <a:effectLst/>
                          <a:latin typeface="+mn-lt"/>
                          <a:ea typeface="+mn-ea"/>
                          <a:cs typeface="+mn-cs"/>
                        </a:rPr>
                        <a:t>ва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рассомчилик</a:t>
                      </a:r>
                      <a:r>
                        <a:rPr lang="ru-RU" sz="900" kern="1200" dirty="0" smtClean="0">
                          <a:solidFill>
                            <a:schemeClr val="tx1"/>
                          </a:solidFill>
                          <a:effectLst/>
                          <a:latin typeface="+mn-lt"/>
                          <a:ea typeface="+mn-ea"/>
                          <a:cs typeface="+mn-cs"/>
                        </a:rPr>
                        <a:t/>
                      </a:r>
                      <a:br>
                        <a:rPr lang="ru-RU" sz="900" kern="1200" dirty="0" smtClean="0">
                          <a:solidFill>
                            <a:schemeClr val="tx1"/>
                          </a:solidFill>
                          <a:effectLst/>
                          <a:latin typeface="+mn-lt"/>
                          <a:ea typeface="+mn-ea"/>
                          <a:cs typeface="+mn-cs"/>
                        </a:rPr>
                      </a:br>
                      <a:r>
                        <a:rPr lang="ru-RU" sz="900" kern="1200" dirty="0" err="1" smtClean="0">
                          <a:solidFill>
                            <a:schemeClr val="tx1"/>
                          </a:solidFill>
                          <a:effectLst/>
                          <a:latin typeface="+mn-lt"/>
                          <a:ea typeface="+mn-ea"/>
                          <a:cs typeface="+mn-cs"/>
                        </a:rPr>
                        <a:t>институти</a:t>
                      </a:r>
                      <a:r>
                        <a:rPr lang="ru-RU" sz="900" kern="1200" dirty="0" smtClean="0">
                          <a:solidFill>
                            <a:schemeClr val="tx1"/>
                          </a:solidFill>
                          <a:effectLst/>
                          <a:latin typeface="+mn-lt"/>
                          <a:ea typeface="+mn-ea"/>
                          <a:cs typeface="+mn-cs"/>
                        </a:rPr>
                        <a:t> </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8227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kern="1200" dirty="0" err="1" smtClean="0">
                          <a:solidFill>
                            <a:schemeClr val="tx1"/>
                          </a:solidFill>
                          <a:effectLst/>
                          <a:latin typeface="+mn-lt"/>
                          <a:ea typeface="+mn-ea"/>
                          <a:cs typeface="+mn-cs"/>
                        </a:rPr>
                        <a:t>мусиқали</a:t>
                      </a:r>
                      <a:r>
                        <a:rPr lang="ru-RU" sz="900" kern="1200" dirty="0" smtClean="0">
                          <a:solidFill>
                            <a:schemeClr val="tx1"/>
                          </a:solidFill>
                          <a:effectLst/>
                          <a:latin typeface="+mn-lt"/>
                          <a:ea typeface="+mn-ea"/>
                          <a:cs typeface="+mn-cs"/>
                        </a:rPr>
                        <a:t> драма </a:t>
                      </a:r>
                      <a:r>
                        <a:rPr lang="ru-RU" sz="900" kern="1200" dirty="0" err="1" smtClean="0">
                          <a:solidFill>
                            <a:schemeClr val="tx1"/>
                          </a:solidFill>
                          <a:effectLst/>
                          <a:latin typeface="+mn-lt"/>
                          <a:ea typeface="+mn-ea"/>
                          <a:cs typeface="+mn-cs"/>
                        </a:rPr>
                        <a:t>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22203">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22203">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15967">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54423030"/>
              </p:ext>
            </p:extLst>
          </p:nvPr>
        </p:nvGraphicFramePr>
        <p:xfrm>
          <a:off x="3674526" y="865689"/>
          <a:ext cx="3172841" cy="5909674"/>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284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30622">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ru-RU" sz="900" b="0" kern="1200" noProof="0" dirty="0" err="1" smtClean="0">
                          <a:solidFill>
                            <a:schemeClr val="tx1"/>
                          </a:solidFill>
                          <a:latin typeface="+mn-lt"/>
                          <a:ea typeface="+mn-ea"/>
                          <a:cs typeface="+mn-cs"/>
                        </a:rPr>
                        <a:t>Сирдарё</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вилояти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мусиқали</a:t>
                      </a:r>
                      <a:r>
                        <a:rPr lang="ru-RU" sz="900" b="0" kern="1200" noProof="0" dirty="0" smtClean="0">
                          <a:solidFill>
                            <a:schemeClr val="tx1"/>
                          </a:solidFill>
                          <a:latin typeface="+mn-lt"/>
                          <a:ea typeface="+mn-ea"/>
                          <a:cs typeface="+mn-cs"/>
                        </a:rPr>
                        <a:t> драма </a:t>
                      </a:r>
                      <a:r>
                        <a:rPr lang="ru-RU" sz="900" b="0" kern="1200" noProof="0" dirty="0" err="1" smtClean="0">
                          <a:solidFill>
                            <a:schemeClr val="tx1"/>
                          </a:solidFill>
                          <a:latin typeface="+mn-lt"/>
                          <a:ea typeface="+mn-ea"/>
                          <a:cs typeface="+mn-cs"/>
                        </a:rPr>
                        <a:t>театри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олий</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даражали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хонанда</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5824">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021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51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509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йўқ</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1289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2734">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273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0833">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988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7276">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28713">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ru-RU" sz="900" noProof="0" dirty="0" smtClean="0">
                          <a:effectLst/>
                          <a:latin typeface="+mn-lt"/>
                          <a:ea typeface="Calibri" panose="020F0502020204030204" pitchFamily="34" charset="0"/>
                          <a:cs typeface="Times New Roman" panose="02020603050405020304" pitchFamily="18" charset="0"/>
                        </a:rPr>
                        <a:t>2007 й. “</a:t>
                      </a:r>
                      <a:r>
                        <a:rPr lang="ru-RU" sz="900" noProof="0" dirty="0" err="1" smtClean="0">
                          <a:effectLst/>
                          <a:latin typeface="+mn-lt"/>
                          <a:ea typeface="Calibri" panose="020F0502020204030204" pitchFamily="34" charset="0"/>
                          <a:cs typeface="Times New Roman" panose="02020603050405020304" pitchFamily="18" charset="0"/>
                        </a:rPr>
                        <a:t>Ўзбекистон</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Республикасида</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хизмат</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кўрсатган</a:t>
                      </a:r>
                      <a:r>
                        <a:rPr lang="ru-RU" sz="900" noProof="0" dirty="0" smtClean="0">
                          <a:effectLst/>
                          <a:latin typeface="+mn-lt"/>
                          <a:ea typeface="Calibri" panose="020F0502020204030204" pitchFamily="34" charset="0"/>
                          <a:cs typeface="Times New Roman" panose="02020603050405020304" pitchFamily="18" charset="0"/>
                        </a:rPr>
                        <a:t> артист” </a:t>
                      </a:r>
                      <a:r>
                        <a:rPr lang="ru-RU" sz="900" noProof="0" dirty="0" err="1" smtClean="0">
                          <a:effectLst/>
                          <a:latin typeface="+mn-lt"/>
                          <a:ea typeface="Calibri" panose="020F0502020204030204" pitchFamily="34" charset="0"/>
                          <a:cs typeface="Times New Roman" panose="02020603050405020304" pitchFamily="18" charset="0"/>
                        </a:rPr>
                        <a:t>фахрий</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унвони</a:t>
                      </a:r>
                      <a:endParaRPr lang="ru-RU"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693705600"/>
              </p:ext>
            </p:extLst>
          </p:nvPr>
        </p:nvGraphicFramePr>
        <p:xfrm>
          <a:off x="6949857" y="869286"/>
          <a:ext cx="2817247" cy="5905061"/>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algn="just"/>
                      <a:r>
                        <a:rPr lang="uz-Cyrl-UZ" sz="900" kern="1200" baseline="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Иқтидорли санъаткор  ўтган  эллик бир  йиллик  ижодий  фаолияти мобайнида олтмишдан  зиёд  драматик,  фожеий, мусиқали  ҳам  эртак  қаҳрамонларининг  бетакрор  образларини   яратди. </a:t>
                      </a:r>
                      <a:endParaRPr lang="ru-RU" sz="900" kern="1200" dirty="0" smtClean="0">
                        <a:solidFill>
                          <a:schemeClr val="tx1"/>
                        </a:solidFill>
                        <a:effectLst/>
                        <a:latin typeface="+mn-lt"/>
                        <a:ea typeface="+mn-ea"/>
                        <a:cs typeface="+mn-cs"/>
                      </a:endParaRPr>
                    </a:p>
                    <a:p>
                      <a:pPr algn="just"/>
                      <a:r>
                        <a:rPr lang="uz-Cyrl-UZ" sz="900" kern="1200" dirty="0" smtClean="0">
                          <a:solidFill>
                            <a:schemeClr val="tx1"/>
                          </a:solidFill>
                          <a:effectLst/>
                          <a:latin typeface="+mn-lt"/>
                          <a:ea typeface="+mn-ea"/>
                          <a:cs typeface="+mn-cs"/>
                        </a:rPr>
                        <a:t>    А.Балакаевнинг «Она  юраги»  да  Момо,  М.Мирзаева  «Сўнги фожиа» да  Минаввар  Хўжаевна,  А.Гельман  «Имзо» да Виалетта   Матвеевна,  В.Шексир «Ричард –III» да Йорк  Маликаси, М.Сейталиев «Шайтон келинчак» да  Татти, А.Дударев «Оддий аскарлар» да Вера, А.Қаҳҳор «Оғриқ  тишлар» да  Оқила,  М.Каримов «Инсонликка номзод» да Она, Р.Гунтекин «Ҳийлайи шаърий» да  Руқия, А.Буравский «Гапир» да Карпова, Х.Жовуд «Амир Темур» да  Қишлоқлик  Аёл, Ш.Жумаев «Тўй ҳангомалари» да Момо,  К.Аваз  «Марварид  таққан  аёл» да  Сарви, Қ.Муҳаммад Ризо “Тўй” да  Зуҳра, К.Гальдони  «Аёллар машмашаси» да  Сгуальдо,   А.Волков “Жавоҳирлар шаҳри сеҳргари” да Одамхўр  аёл, О.Ҳакимов “Бу чоллар,  ёмон  чоллар” да  Меҳринисо,   И.Турсунова “Стандарт  куёв” да  Салима, И.Турсуновнинг “Фирибгар”  да  Қўшни  аёл – ўқитувчи  ҳамда  А.Цагарелли ва Г.Канчелиларнинг “Хонума хоним” идаги Ануш буви, “Нодирбегим”да Увайсий, “Жонгинам шартингни айт”да Қайнона, “Тафаккур”да Қўши аёл, “Оппоқ қор излаб...”да Буви роллари  шулар  жумласидандир.</a:t>
                      </a:r>
                      <a:endParaRPr lang="ru-RU" sz="900" kern="1200" dirty="0" smtClean="0">
                        <a:solidFill>
                          <a:schemeClr val="tx1"/>
                        </a:solidFill>
                        <a:effectLst/>
                        <a:latin typeface="+mn-lt"/>
                        <a:ea typeface="+mn-ea"/>
                        <a:cs typeface="+mn-cs"/>
                      </a:endParaRPr>
                    </a:p>
                    <a:p>
                      <a:pPr algn="just"/>
                      <a:r>
                        <a:rPr lang="uz-Cyrl-UZ" sz="900" kern="1200" dirty="0" smtClean="0">
                          <a:solidFill>
                            <a:schemeClr val="tx1"/>
                          </a:solidFill>
                          <a:effectLst/>
                          <a:latin typeface="+mn-lt"/>
                          <a:ea typeface="+mn-ea"/>
                          <a:cs typeface="+mn-cs"/>
                        </a:rPr>
                        <a:t>    Вилоят  миқёсида  ўйингоҳ  ҳамда томошагоҳларда “Наврўзи  олам”  ҳамда “Мустақиллик” байрамлари  тантаналарида  ижро этган  ранг - баранг  Момолар  ва  Оналар  сиймолари  алоҳида  таҳсинга  лойиқ. </a:t>
                      </a:r>
                      <a:endParaRPr lang="ru-RU" sz="900" kern="1200" dirty="0" smtClean="0">
                        <a:solidFill>
                          <a:schemeClr val="tx1"/>
                        </a:solidFill>
                        <a:effectLst/>
                        <a:latin typeface="+mn-lt"/>
                        <a:ea typeface="+mn-ea"/>
                        <a:cs typeface="+mn-cs"/>
                      </a:endParaRPr>
                    </a:p>
                    <a:p>
                      <a:pPr algn="just">
                        <a:lnSpc>
                          <a:spcPct val="85000"/>
                        </a:lnSpc>
                      </a:pP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Вилоятимизда</a:t>
                      </a:r>
                      <a:r>
                        <a:rPr lang="uz-Cyrl-UZ" sz="900" b="0" baseline="0" dirty="0" smtClean="0">
                          <a:effectLst/>
                          <a:latin typeface="+mn-lt"/>
                          <a:ea typeface="Calibri" panose="020F0502020204030204" pitchFamily="34" charset="0"/>
                          <a:cs typeface="Times New Roman" panose="02020603050405020304" pitchFamily="18" charset="0"/>
                        </a:rPr>
                        <a:t> ўтказилиб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74319" y="1159729"/>
            <a:ext cx="831273" cy="1075577"/>
          </a:xfrm>
          <a:prstGeom prst="rect">
            <a:avLst/>
          </a:prstGeom>
        </p:spPr>
      </p:pic>
    </p:spTree>
    <p:extLst>
      <p:ext uri="{BB962C8B-B14F-4D97-AF65-F5344CB8AC3E}">
        <p14:creationId xmlns:p14="http://schemas.microsoft.com/office/powerpoint/2010/main" val="2130988541"/>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53522399"/>
              </p:ext>
            </p:extLst>
          </p:nvPr>
        </p:nvGraphicFramePr>
        <p:xfrm>
          <a:off x="138895" y="865692"/>
          <a:ext cx="3426425" cy="5903347"/>
        </p:xfrm>
        <a:graphic>
          <a:graphicData uri="http://schemas.openxmlformats.org/drawingml/2006/table">
            <a:tbl>
              <a:tblPr firstRow="1" bandRow="1">
                <a:tableStyleId>{C083E6E3-FA7D-4D7B-A595-EF9225AFEA82}</a:tableStyleId>
              </a:tblPr>
              <a:tblGrid>
                <a:gridCol w="594995">
                  <a:extLst>
                    <a:ext uri="{9D8B030D-6E8A-4147-A177-3AD203B41FA5}">
                      <a16:colId xmlns:a16="http://schemas.microsoft.com/office/drawing/2014/main" val="2288412290"/>
                    </a:ext>
                  </a:extLst>
                </a:gridCol>
                <a:gridCol w="503378">
                  <a:extLst>
                    <a:ext uri="{9D8B030D-6E8A-4147-A177-3AD203B41FA5}">
                      <a16:colId xmlns:a16="http://schemas.microsoft.com/office/drawing/2014/main" val="1678982439"/>
                    </a:ext>
                  </a:extLst>
                </a:gridCol>
                <a:gridCol w="153448">
                  <a:extLst>
                    <a:ext uri="{9D8B030D-6E8A-4147-A177-3AD203B41FA5}">
                      <a16:colId xmlns:a16="http://schemas.microsoft.com/office/drawing/2014/main" val="2721661767"/>
                    </a:ext>
                  </a:extLst>
                </a:gridCol>
                <a:gridCol w="909916">
                  <a:extLst>
                    <a:ext uri="{9D8B030D-6E8A-4147-A177-3AD203B41FA5}">
                      <a16:colId xmlns:a16="http://schemas.microsoft.com/office/drawing/2014/main" val="546773760"/>
                    </a:ext>
                  </a:extLst>
                </a:gridCol>
                <a:gridCol w="1264688">
                  <a:extLst>
                    <a:ext uri="{9D8B030D-6E8A-4147-A177-3AD203B41FA5}">
                      <a16:colId xmlns:a16="http://schemas.microsoft.com/office/drawing/2014/main" val="546443978"/>
                    </a:ext>
                  </a:extLst>
                </a:gridCol>
              </a:tblGrid>
              <a:tr h="240925">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8347">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ЖАББОРОВА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834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Карима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834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effectLst/>
                          <a:latin typeface="+mn-lt"/>
                          <a:ea typeface="+mn-ea"/>
                          <a:cs typeface="+mn-cs"/>
                        </a:rPr>
                        <a:t>Ирназаровна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8347">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834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kern="1200" dirty="0">
                          <a:solidFill>
                            <a:schemeClr val="tx1"/>
                          </a:solidFill>
                          <a:effectLst/>
                          <a:latin typeface="+mn-lt"/>
                          <a:ea typeface="+mn-ea"/>
                          <a:cs typeface="+mn-cs"/>
                        </a:rPr>
                        <a:t>24.02.1961</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834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 Тошкент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8629">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8991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фарзанди бор, қиз, ўғил</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 қиз  “</a:t>
                      </a:r>
                      <a:r>
                        <a:rPr lang="en-US" sz="900" b="0" kern="1200" noProof="0" dirty="0">
                          <a:solidFill>
                            <a:schemeClr val="tx1"/>
                          </a:solidFill>
                          <a:latin typeface="+mn-lt"/>
                          <a:ea typeface="+mn-ea"/>
                          <a:cs typeface="+mn-cs"/>
                        </a:rPr>
                        <a:t>ZOR TV</a:t>
                      </a:r>
                      <a:r>
                        <a:rPr lang="uz-Cyrl-UZ" sz="900" b="0" kern="1200" noProof="0" dirty="0">
                          <a:solidFill>
                            <a:schemeClr val="tx1"/>
                          </a:solidFill>
                          <a:latin typeface="+mn-lt"/>
                          <a:ea typeface="+mn-ea"/>
                          <a:cs typeface="+mn-cs"/>
                        </a:rPr>
                        <a:t>”</a:t>
                      </a:r>
                      <a:r>
                        <a:rPr lang="en-US" sz="900" b="0" kern="1200" noProof="0" dirty="0">
                          <a:solidFill>
                            <a:schemeClr val="tx1"/>
                          </a:solidFill>
                          <a:latin typeface="+mn-lt"/>
                          <a:ea typeface="+mn-ea"/>
                          <a:cs typeface="+mn-cs"/>
                        </a:rPr>
                        <a:t> </a:t>
                      </a:r>
                      <a:r>
                        <a:rPr lang="uz-Cyrl-UZ" sz="900" b="0" kern="1200" noProof="0" dirty="0">
                          <a:solidFill>
                            <a:schemeClr val="tx1"/>
                          </a:solidFill>
                          <a:latin typeface="+mn-lt"/>
                          <a:ea typeface="+mn-ea"/>
                          <a:cs typeface="+mn-cs"/>
                        </a:rPr>
                        <a:t>телеканалида журналис, ўғли хорижда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8629">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17485">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 УМАРЗОҚОВ Эрназар </a:t>
                      </a:r>
                    </a:p>
                    <a:p>
                      <a:pPr algn="l">
                        <a:lnSpc>
                          <a:spcPct val="85000"/>
                        </a:lnSpc>
                      </a:pPr>
                      <a:r>
                        <a:rPr lang="uz-Cyrl-UZ" sz="900" b="0" kern="1200" noProof="0" dirty="0">
                          <a:solidFill>
                            <a:schemeClr val="tx1"/>
                          </a:solidFill>
                          <a:latin typeface="+mn-lt"/>
                          <a:ea typeface="+mn-ea"/>
                          <a:cs typeface="Arial" panose="020B0604020202020204" pitchFamily="34" charset="0"/>
                        </a:rPr>
                        <a:t>1929 йил, Тошкент вилояти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1991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 Гидроэлектростанция, </a:t>
                      </a:r>
                      <a:r>
                        <a:rPr lang="ru-RU" sz="800" b="0" kern="1200" noProof="0" dirty="0" err="1">
                          <a:solidFill>
                            <a:schemeClr val="tx1"/>
                          </a:solidFill>
                          <a:latin typeface="+mn-lt"/>
                          <a:ea typeface="+mn-ea"/>
                          <a:cs typeface="Arial" panose="020B0604020202020204" pitchFamily="34" charset="0"/>
                        </a:rPr>
                        <a:t>ишчи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67920">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УМАРЗОҚОВА Пашша </a:t>
                      </a:r>
                    </a:p>
                    <a:p>
                      <a:pPr algn="l">
                        <a:lnSpc>
                          <a:spcPct val="85000"/>
                        </a:lnSpc>
                      </a:pPr>
                      <a:r>
                        <a:rPr lang="uz-Cyrl-UZ" sz="900" b="0" kern="1200" noProof="0" dirty="0">
                          <a:solidFill>
                            <a:schemeClr val="tx1"/>
                          </a:solidFill>
                          <a:latin typeface="+mn-lt"/>
                          <a:ea typeface="+mn-ea"/>
                          <a:cs typeface="Arial" panose="020B0604020202020204" pitchFamily="34" charset="0"/>
                        </a:rPr>
                        <a:t>1933 йил, Тошкент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1996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 Уй </a:t>
                      </a:r>
                      <a:r>
                        <a:rPr lang="ru-RU" sz="800" b="0" kern="1200" noProof="0" dirty="0" err="1">
                          <a:solidFill>
                            <a:schemeClr val="tx1"/>
                          </a:solidFill>
                          <a:latin typeface="+mn-lt"/>
                          <a:ea typeface="+mn-ea"/>
                          <a:cs typeface="Arial" panose="020B0604020202020204" pitchFamily="34" charset="0"/>
                        </a:rPr>
                        <a:t>бекаси</a:t>
                      </a:r>
                      <a:r>
                        <a:rPr lang="ru-RU" sz="800" b="0" kern="1200" noProof="0" dirty="0">
                          <a:solidFill>
                            <a:schemeClr val="tx1"/>
                          </a:solidFill>
                          <a:latin typeface="+mn-lt"/>
                          <a:ea typeface="+mn-ea"/>
                          <a:cs typeface="Arial" panose="020B0604020202020204" pitchFamily="34" charset="0"/>
                        </a:rPr>
                        <a:t>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46274">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ЖАББАРОВ  Шермат  Мажитович</a:t>
                      </a:r>
                    </a:p>
                    <a:p>
                      <a:pPr algn="l">
                        <a:lnSpc>
                          <a:spcPct val="85000"/>
                        </a:lnSpc>
                      </a:pPr>
                      <a:r>
                        <a:rPr lang="uz-Cyrl-UZ" sz="900" b="0" kern="1200" noProof="0" dirty="0">
                          <a:solidFill>
                            <a:schemeClr val="tx1"/>
                          </a:solidFill>
                          <a:latin typeface="+mn-lt"/>
                          <a:ea typeface="+mn-ea"/>
                          <a:cs typeface="Arial" panose="020B0604020202020204" pitchFamily="34" charset="0"/>
                        </a:rPr>
                        <a:t>1959 йил,Самарқанд вилояти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mn-cs"/>
                        </a:rPr>
                        <a:t>Ўзбек Миллий қўғирчоқ театри, Олий тоифали актёр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5574">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74226">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1982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театр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рассомлик</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санъати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5244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қўғирчоқ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1114">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1114">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99015">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631834880"/>
              </p:ext>
            </p:extLst>
          </p:nvPr>
        </p:nvGraphicFramePr>
        <p:xfrm>
          <a:off x="3565321" y="865694"/>
          <a:ext cx="3282046" cy="5931309"/>
        </p:xfrm>
        <a:graphic>
          <a:graphicData uri="http://schemas.openxmlformats.org/drawingml/2006/table">
            <a:tbl>
              <a:tblPr firstRow="1" bandRow="1">
                <a:tableStyleId>{C083E6E3-FA7D-4D7B-A595-EF9225AFEA82}</a:tableStyleId>
              </a:tblPr>
              <a:tblGrid>
                <a:gridCol w="1552321">
                  <a:extLst>
                    <a:ext uri="{9D8B030D-6E8A-4147-A177-3AD203B41FA5}">
                      <a16:colId xmlns:a16="http://schemas.microsoft.com/office/drawing/2014/main" val="2715609854"/>
                    </a:ext>
                  </a:extLst>
                </a:gridCol>
                <a:gridCol w="1729725">
                  <a:extLst>
                    <a:ext uri="{9D8B030D-6E8A-4147-A177-3AD203B41FA5}">
                      <a16:colId xmlns:a16="http://schemas.microsoft.com/office/drawing/2014/main" val="546443978"/>
                    </a:ext>
                  </a:extLst>
                </a:gridCol>
              </a:tblGrid>
              <a:tr h="259362">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28684">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2023 йилдан буён  Ўзбек Миллий қўғирчоқ театри</a:t>
                      </a:r>
                      <a:r>
                        <a:rPr lang="uz-Cyrl-UZ" sz="900" b="1" kern="1200" dirty="0">
                          <a:solidFill>
                            <a:schemeClr val="tx1"/>
                          </a:solidFill>
                          <a:effectLst/>
                          <a:latin typeface="+mn-lt"/>
                          <a:ea typeface="+mn-ea"/>
                          <a:cs typeface="+mn-cs"/>
                        </a:rPr>
                        <a:t>, </a:t>
                      </a:r>
                    </a:p>
                    <a:p>
                      <a:pPr marL="0" indent="0" algn="l">
                        <a:lnSpc>
                          <a:spcPct val="85000"/>
                        </a:lnSpc>
                      </a:pPr>
                      <a:r>
                        <a:rPr lang="uz-Cyrl-UZ" sz="900" b="0" kern="1200" noProof="0" dirty="0">
                          <a:solidFill>
                            <a:schemeClr val="tx1"/>
                          </a:solidFill>
                          <a:latin typeface="+mn-lt"/>
                          <a:ea typeface="+mn-ea"/>
                          <a:cs typeface="+mn-cs"/>
                        </a:rPr>
                        <a:t> Олий тоифали Актёр</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193529">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4146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b="0" noProof="0" dirty="0">
                          <a:effectLst/>
                          <a:latin typeface="+mn-lt"/>
                          <a:ea typeface="Calibri" panose="020F0502020204030204" pitchFamily="34" charset="0"/>
                          <a:cs typeface="Times New Roman" panose="02020603050405020304" pitchFamily="18" charset="0"/>
                        </a:rPr>
                        <a:t>43</a:t>
                      </a:r>
                      <a:r>
                        <a:rPr lang="uz-Cyrl-UZ" sz="900" b="0" noProof="0" dirty="0">
                          <a:effectLst/>
                          <a:latin typeface="+mn-lt"/>
                          <a:ea typeface="Calibri" panose="020F0502020204030204" pitchFamily="34" charset="0"/>
                          <a:cs typeface="Times New Roman" panose="02020603050405020304" pitchFamily="18" charset="0"/>
                        </a:rPr>
                        <a:t>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4146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 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278272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1982-1994 йй Бухоро Давлат қўғирчоқ театри актёри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1994 й- ҳ.в. -Ўзбек Миллий қўғирчоқ театри, </a:t>
                      </a:r>
                      <a:r>
                        <a:rPr lang="uz-Cyrl-UZ" sz="900" b="0" kern="1200" noProof="0" dirty="0">
                          <a:solidFill>
                            <a:schemeClr val="tx1"/>
                          </a:solidFill>
                          <a:latin typeface="+mn-lt"/>
                          <a:ea typeface="+mn-ea"/>
                          <a:cs typeface="+mn-cs"/>
                        </a:rPr>
                        <a:t>Олий тоифали Актёр</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89460">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89460">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2020 йил “Қибрай” санаториясида даволанган</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89460">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14146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53696">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792574">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062608000"/>
              </p:ext>
            </p:extLst>
          </p:nvPr>
        </p:nvGraphicFramePr>
        <p:xfrm>
          <a:off x="6847367" y="869291"/>
          <a:ext cx="2919737" cy="5896366"/>
        </p:xfrm>
        <a:graphic>
          <a:graphicData uri="http://schemas.openxmlformats.org/drawingml/2006/table">
            <a:tbl>
              <a:tblPr firstRow="1" bandRow="1">
                <a:tableStyleId>{C083E6E3-FA7D-4D7B-A595-EF9225AFEA82}</a:tableStyleId>
              </a:tblPr>
              <a:tblGrid>
                <a:gridCol w="2919737">
                  <a:extLst>
                    <a:ext uri="{9D8B030D-6E8A-4147-A177-3AD203B41FA5}">
                      <a16:colId xmlns:a16="http://schemas.microsoft.com/office/drawing/2014/main" val="2715609854"/>
                    </a:ext>
                  </a:extLst>
                </a:gridCol>
              </a:tblGrid>
              <a:tr h="226563">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8761">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729932">
                <a:tc>
                  <a:txBody>
                    <a:bodyPr/>
                    <a:lstStyle/>
                    <a:p>
                      <a:pPr algn="just"/>
                      <a:r>
                        <a:rPr lang="uz-Cyrl-UZ" sz="900" b="0" noProof="0" dirty="0" smtClean="0">
                          <a:solidFill>
                            <a:schemeClr val="tx1"/>
                          </a:solidFill>
                          <a:latin typeface="+mn-lt"/>
                        </a:rPr>
                        <a:t>    К.Жабборова </a:t>
                      </a:r>
                      <a:r>
                        <a:rPr lang="uz-Cyrl-UZ" sz="900" b="0" noProof="0" dirty="0">
                          <a:solidFill>
                            <a:schemeClr val="tx1"/>
                          </a:solidFill>
                          <a:latin typeface="+mn-lt"/>
                        </a:rPr>
                        <a:t>1982-йил Н.Островский номли Тошкент театр ва рассомлик санъати институтини тугатган. Ўз ижодий фаолиятини Бухоро вилояти қўғирчоқ театрида актриса сифатида бошлаган.  </a:t>
                      </a:r>
                    </a:p>
                    <a:p>
                      <a:pPr algn="just"/>
                      <a:r>
                        <a:rPr lang="uz-Cyrl-UZ" sz="900" b="0" noProof="0" dirty="0" smtClean="0">
                          <a:solidFill>
                            <a:schemeClr val="tx1"/>
                          </a:solidFill>
                          <a:latin typeface="+mn-lt"/>
                        </a:rPr>
                        <a:t>    Ўзбек </a:t>
                      </a:r>
                      <a:r>
                        <a:rPr lang="uz-Cyrl-UZ" sz="900" b="0" noProof="0" dirty="0">
                          <a:solidFill>
                            <a:schemeClr val="tx1"/>
                          </a:solidFill>
                          <a:latin typeface="+mn-lt"/>
                        </a:rPr>
                        <a:t>Миллий  қўғирчоқ театрида 1994-йилдан бери фаолият кўрсатиб келмоқда. Ўз касбининг фидоийси, ёшларнинг севимли устози. Кўп йиллик фаолияти давомида у турли жанрдаги спектаклларда 30дан ортиқ роллар ижро этган. Актриса ўзининг кўп йиллик фаолияти давомида орттирган билим ва тажрибаларини театрдаги ёшларга  ўргатиб келмоқда. </a:t>
                      </a:r>
                    </a:p>
                    <a:p>
                      <a:pPr algn="just"/>
                      <a:r>
                        <a:rPr lang="uz-Cyrl-UZ" sz="900" b="0" noProof="0" dirty="0" smtClean="0">
                          <a:solidFill>
                            <a:schemeClr val="tx1"/>
                          </a:solidFill>
                          <a:latin typeface="+mn-lt"/>
                        </a:rPr>
                        <a:t>    Оҳирги </a:t>
                      </a:r>
                      <a:r>
                        <a:rPr lang="uz-Cyrl-UZ" sz="900" b="0" noProof="0" dirty="0">
                          <a:solidFill>
                            <a:schemeClr val="tx1"/>
                          </a:solidFill>
                          <a:latin typeface="+mn-lt"/>
                        </a:rPr>
                        <a:t>йилларда унинг “Ўн икки ой”да Ўгай она, “Миу номли мушукча”да Буви, “Ҳурушни ҳохламаган кучукча”да Тулки, “Букри ошпаз”да Ханна роллари театр ихлосмандларига манзур бўлмоқда. </a:t>
                      </a:r>
                    </a:p>
                    <a:p>
                      <a:pPr algn="just"/>
                      <a:r>
                        <a:rPr lang="uz-Cyrl-UZ" sz="900" b="0" noProof="0" dirty="0" smtClean="0">
                          <a:solidFill>
                            <a:schemeClr val="tx1"/>
                          </a:solidFill>
                          <a:latin typeface="+mn-lt"/>
                        </a:rPr>
                        <a:t>    К.Жаббарова </a:t>
                      </a:r>
                      <a:r>
                        <a:rPr lang="uz-Cyrl-UZ" sz="900" b="0" noProof="0" dirty="0">
                          <a:solidFill>
                            <a:schemeClr val="tx1"/>
                          </a:solidFill>
                          <a:latin typeface="+mn-lt"/>
                        </a:rPr>
                        <a:t>ўзбек қўғирчоқ театри санъатини хориж мамлакатларида намойиш этган ижодкорлардан.</a:t>
                      </a:r>
                      <a:endParaRPr lang="uz-Latn-UZ" sz="9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6408">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380234">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келаниган қўғирчоқ театр фестевалларда, Давлат қўғирчоқ театр фестевалларда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8" name="Picture 4">
            <a:extLst>
              <a:ext uri="{FF2B5EF4-FFF2-40B4-BE49-F238E27FC236}">
                <a16:creationId xmlns:a16="http://schemas.microsoft.com/office/drawing/2014/main" id="{94C5782C-3B25-4B79-96E3-31BEA37D71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9382" y="1132515"/>
            <a:ext cx="925153" cy="107273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4362632"/>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050906272"/>
              </p:ext>
            </p:extLst>
          </p:nvPr>
        </p:nvGraphicFramePr>
        <p:xfrm>
          <a:off x="144489" y="865703"/>
          <a:ext cx="3427547" cy="5889228"/>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0605">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809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ЖАББОРОВ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676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Шермат</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676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effectLst/>
                          <a:latin typeface="+mn-lt"/>
                          <a:ea typeface="+mn-ea"/>
                          <a:cs typeface="+mn-cs"/>
                        </a:rPr>
                        <a:t>Мажитович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6764">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676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kern="1200" dirty="0">
                          <a:solidFill>
                            <a:schemeClr val="tx1"/>
                          </a:solidFill>
                          <a:effectLst/>
                          <a:latin typeface="+mn-lt"/>
                          <a:ea typeface="+mn-ea"/>
                          <a:cs typeface="+mn-cs"/>
                        </a:rPr>
                        <a:t>26.04.1959</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676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 Самарқанд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8326">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8926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фарзанди бор, қиз, ўғил</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 қиз  “</a:t>
                      </a:r>
                      <a:r>
                        <a:rPr lang="en-US" sz="900" b="0" kern="1200" noProof="0" dirty="0">
                          <a:solidFill>
                            <a:schemeClr val="tx1"/>
                          </a:solidFill>
                          <a:latin typeface="+mn-lt"/>
                          <a:ea typeface="+mn-ea"/>
                          <a:cs typeface="+mn-cs"/>
                        </a:rPr>
                        <a:t>ZOR TV</a:t>
                      </a:r>
                      <a:r>
                        <a:rPr lang="uz-Cyrl-UZ" sz="900" b="0" kern="1200" noProof="0">
                          <a:solidFill>
                            <a:schemeClr val="tx1"/>
                          </a:solidFill>
                          <a:latin typeface="+mn-lt"/>
                          <a:ea typeface="+mn-ea"/>
                          <a:cs typeface="+mn-cs"/>
                        </a:rPr>
                        <a:t>”</a:t>
                      </a:r>
                      <a:r>
                        <a:rPr lang="en-US" sz="900" b="0" kern="1200" noProof="0">
                          <a:solidFill>
                            <a:schemeClr val="tx1"/>
                          </a:solidFill>
                          <a:latin typeface="+mn-lt"/>
                          <a:ea typeface="+mn-ea"/>
                          <a:cs typeface="+mn-cs"/>
                        </a:rPr>
                        <a:t> </a:t>
                      </a:r>
                      <a:r>
                        <a:rPr lang="uz-Cyrl-UZ" sz="900" b="0" kern="1200" noProof="0" dirty="0">
                          <a:solidFill>
                            <a:schemeClr val="tx1"/>
                          </a:solidFill>
                          <a:latin typeface="+mn-lt"/>
                          <a:ea typeface="+mn-ea"/>
                          <a:cs typeface="+mn-cs"/>
                        </a:rPr>
                        <a:t>телеканалида журналис, ўғли хорижда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8326">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44527">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 ЖАББОРОВ Мажит </a:t>
                      </a:r>
                    </a:p>
                    <a:p>
                      <a:pPr algn="l">
                        <a:lnSpc>
                          <a:spcPct val="85000"/>
                        </a:lnSpc>
                      </a:pPr>
                      <a:r>
                        <a:rPr lang="uz-Cyrl-UZ" sz="900" b="0" kern="1200" noProof="0" dirty="0">
                          <a:solidFill>
                            <a:schemeClr val="tx1"/>
                          </a:solidFill>
                          <a:latin typeface="+mn-lt"/>
                          <a:ea typeface="+mn-ea"/>
                          <a:cs typeface="Arial" panose="020B0604020202020204" pitchFamily="34" charset="0"/>
                        </a:rPr>
                        <a:t>1934 йил, </a:t>
                      </a:r>
                    </a:p>
                    <a:p>
                      <a:pPr algn="l">
                        <a:lnSpc>
                          <a:spcPct val="85000"/>
                        </a:lnSpc>
                      </a:pPr>
                      <a:r>
                        <a:rPr lang="uz-Cyrl-UZ" sz="900" b="0" kern="1200" noProof="0" dirty="0">
                          <a:solidFill>
                            <a:schemeClr val="tx1"/>
                          </a:solidFill>
                          <a:latin typeface="+mn-lt"/>
                          <a:ea typeface="+mn-ea"/>
                          <a:cs typeface="Arial" panose="020B0604020202020204" pitchFamily="34" charset="0"/>
                        </a:rPr>
                        <a:t>Самарқанд вилояти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2005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ru-RU" sz="800" b="0" kern="1200" noProof="0" dirty="0" err="1">
                          <a:solidFill>
                            <a:schemeClr val="tx1"/>
                          </a:solidFill>
                          <a:latin typeface="+mn-lt"/>
                          <a:ea typeface="+mn-ea"/>
                          <a:cs typeface="Arial" panose="020B0604020202020204" pitchFamily="34" charset="0"/>
                        </a:rPr>
                        <a:t>Навоий</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вилояти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Нурота</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тумани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Марказий</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шифохонада</a:t>
                      </a:r>
                      <a:r>
                        <a:rPr lang="ru-RU" sz="800" b="0" kern="1200" noProof="0" dirty="0">
                          <a:solidFill>
                            <a:schemeClr val="tx1"/>
                          </a:solidFill>
                          <a:latin typeface="+mn-lt"/>
                          <a:ea typeface="+mn-ea"/>
                          <a:cs typeface="Arial" panose="020B0604020202020204" pitchFamily="34" charset="0"/>
                        </a:rPr>
                        <a:t> , </a:t>
                      </a:r>
                      <a:r>
                        <a:rPr lang="ru-RU" sz="800" b="0" kern="1200" noProof="0" dirty="0" err="1">
                          <a:solidFill>
                            <a:schemeClr val="tx1"/>
                          </a:solidFill>
                          <a:latin typeface="+mn-lt"/>
                          <a:ea typeface="+mn-ea"/>
                          <a:cs typeface="Arial" panose="020B0604020202020204" pitchFamily="34" charset="0"/>
                        </a:rPr>
                        <a:t>Шифокор</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92338">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ОЛИМОВА Зулфия </a:t>
                      </a:r>
                    </a:p>
                    <a:p>
                      <a:pPr algn="l">
                        <a:lnSpc>
                          <a:spcPct val="85000"/>
                        </a:lnSpc>
                      </a:pPr>
                      <a:r>
                        <a:rPr lang="uz-Cyrl-UZ" sz="900" b="0" kern="1200" noProof="0" dirty="0">
                          <a:solidFill>
                            <a:schemeClr val="tx1"/>
                          </a:solidFill>
                          <a:latin typeface="+mn-lt"/>
                          <a:ea typeface="+mn-ea"/>
                          <a:cs typeface="Arial" panose="020B0604020202020204" pitchFamily="34" charset="0"/>
                        </a:rPr>
                        <a:t>1939 йил, Самарқанд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2000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ru-RU" sz="800" b="0" kern="1200" noProof="0" dirty="0" err="1">
                          <a:solidFill>
                            <a:schemeClr val="tx1"/>
                          </a:solidFill>
                          <a:latin typeface="+mn-lt"/>
                          <a:ea typeface="+mn-ea"/>
                          <a:cs typeface="Arial" panose="020B0604020202020204" pitchFamily="34" charset="0"/>
                        </a:rPr>
                        <a:t>Навоий</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вилояти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Нурота</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тумани</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Марказий</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шифохонада</a:t>
                      </a:r>
                      <a:r>
                        <a:rPr lang="ru-RU" sz="800" b="0" kern="1200" noProof="0" dirty="0">
                          <a:solidFill>
                            <a:schemeClr val="tx1"/>
                          </a:solidFill>
                          <a:latin typeface="+mn-lt"/>
                          <a:ea typeface="+mn-ea"/>
                          <a:cs typeface="Arial" panose="020B0604020202020204" pitchFamily="34" charset="0"/>
                        </a:rPr>
                        <a:t> , </a:t>
                      </a:r>
                      <a:r>
                        <a:rPr lang="ru-RU" sz="800" b="0" kern="1200" noProof="0" dirty="0" err="1">
                          <a:solidFill>
                            <a:schemeClr val="tx1"/>
                          </a:solidFill>
                          <a:latin typeface="+mn-lt"/>
                          <a:ea typeface="+mn-ea"/>
                          <a:cs typeface="Arial" panose="020B0604020202020204" pitchFamily="34" charset="0"/>
                        </a:rPr>
                        <a:t>Хамшира</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2710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ЖАББАРОВА Карима  Ирназаровна</a:t>
                      </a:r>
                    </a:p>
                    <a:p>
                      <a:pPr algn="l">
                        <a:lnSpc>
                          <a:spcPct val="85000"/>
                        </a:lnSpc>
                      </a:pPr>
                      <a:r>
                        <a:rPr lang="uz-Cyrl-UZ" sz="900" b="0" kern="1200" noProof="0" dirty="0">
                          <a:solidFill>
                            <a:schemeClr val="tx1"/>
                          </a:solidFill>
                          <a:latin typeface="+mn-lt"/>
                          <a:ea typeface="+mn-ea"/>
                          <a:cs typeface="Arial" panose="020B0604020202020204" pitchFamily="34" charset="0"/>
                        </a:rPr>
                        <a:t>1961 йил, Ангрен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mn-cs"/>
                        </a:rPr>
                        <a:t>Ўзбекистон давлат саъат ва маданият институти ўқитувчиси,доцент</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5301">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05368">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1982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театр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рассомлик</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санъати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66134">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қўғирчоқ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9679">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9679">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20656">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77869646"/>
              </p:ext>
            </p:extLst>
          </p:nvPr>
        </p:nvGraphicFramePr>
        <p:xfrm>
          <a:off x="3565321" y="865694"/>
          <a:ext cx="3282046" cy="5909783"/>
        </p:xfrm>
        <a:graphic>
          <a:graphicData uri="http://schemas.openxmlformats.org/drawingml/2006/table">
            <a:tbl>
              <a:tblPr firstRow="1" bandRow="1">
                <a:tableStyleId>{C083E6E3-FA7D-4D7B-A595-EF9225AFEA82}</a:tableStyleId>
              </a:tblPr>
              <a:tblGrid>
                <a:gridCol w="1552321">
                  <a:extLst>
                    <a:ext uri="{9D8B030D-6E8A-4147-A177-3AD203B41FA5}">
                      <a16:colId xmlns:a16="http://schemas.microsoft.com/office/drawing/2014/main" val="2715609854"/>
                    </a:ext>
                  </a:extLst>
                </a:gridCol>
                <a:gridCol w="1729725">
                  <a:extLst>
                    <a:ext uri="{9D8B030D-6E8A-4147-A177-3AD203B41FA5}">
                      <a16:colId xmlns:a16="http://schemas.microsoft.com/office/drawing/2014/main" val="546443978"/>
                    </a:ext>
                  </a:extLst>
                </a:gridCol>
              </a:tblGrid>
              <a:tr h="254041">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18884">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2023 йилдан буён  Ўзбек Миллий қўғирчоқ театри</a:t>
                      </a:r>
                      <a:r>
                        <a:rPr lang="uz-Cyrl-UZ" sz="900" b="1" kern="1200" dirty="0">
                          <a:solidFill>
                            <a:schemeClr val="tx1"/>
                          </a:solidFill>
                          <a:effectLst/>
                          <a:latin typeface="+mn-lt"/>
                          <a:ea typeface="+mn-ea"/>
                          <a:cs typeface="+mn-cs"/>
                        </a:rPr>
                        <a:t>, </a:t>
                      </a:r>
                    </a:p>
                    <a:p>
                      <a:pPr marL="0" indent="0" algn="l">
                        <a:lnSpc>
                          <a:spcPct val="85000"/>
                        </a:lnSpc>
                      </a:pPr>
                      <a:r>
                        <a:rPr lang="uz-Cyrl-UZ" sz="900" b="0" kern="1200" noProof="0" dirty="0">
                          <a:solidFill>
                            <a:schemeClr val="tx1"/>
                          </a:solidFill>
                          <a:latin typeface="+mn-lt"/>
                          <a:ea typeface="+mn-ea"/>
                          <a:cs typeface="+mn-cs"/>
                        </a:rPr>
                        <a:t> Олий тоифали Актёр</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188555">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4496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10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4496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 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275423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1982-1998 йй.- Бухоро Давлат қўғирчоқ театри актёри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1994-2001 йй.- Республика қўғирчоқ театри, актёри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2005-2013 йй.- Республика қўғирчоқ театри, саҳна устаси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2016-2017 йй.-Республика эстрада цирк коллежи ўқитувчиси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2019-2020 йй.-Тошкент вилояти Маданият бошқармаси “Мақом”ансамблиннг бош маъмури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2021-2023 йй.-Ўзбек Миллий қўғирчоқ театри, режиссёр ёрдамчиси </a:t>
                      </a:r>
                    </a:p>
                    <a:p>
                      <a:pPr marL="0" marR="0" lvl="0" indent="0" algn="l"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2023 йй -ҳ.в. Ўзбек Миллий қўғирчоқ театри, </a:t>
                      </a:r>
                      <a:r>
                        <a:rPr lang="uz-Cyrl-UZ" sz="900" b="0" kern="1200" noProof="0" dirty="0">
                          <a:solidFill>
                            <a:schemeClr val="tx1"/>
                          </a:solidFill>
                          <a:latin typeface="+mn-lt"/>
                          <a:ea typeface="+mn-ea"/>
                          <a:cs typeface="+mn-cs"/>
                        </a:rPr>
                        <a:t>Олий тоифали Актёр</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89919">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89919">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2020 йил “Қибрай” санаториясида даволанган</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89919">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144960">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50542">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776311">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697123887"/>
              </p:ext>
            </p:extLst>
          </p:nvPr>
        </p:nvGraphicFramePr>
        <p:xfrm>
          <a:off x="6847367" y="869292"/>
          <a:ext cx="2919737" cy="5895216"/>
        </p:xfrm>
        <a:graphic>
          <a:graphicData uri="http://schemas.openxmlformats.org/drawingml/2006/table">
            <a:tbl>
              <a:tblPr firstRow="1" bandRow="1">
                <a:tableStyleId>{C083E6E3-FA7D-4D7B-A595-EF9225AFEA82}</a:tableStyleId>
              </a:tblPr>
              <a:tblGrid>
                <a:gridCol w="2919737">
                  <a:extLst>
                    <a:ext uri="{9D8B030D-6E8A-4147-A177-3AD203B41FA5}">
                      <a16:colId xmlns:a16="http://schemas.microsoft.com/office/drawing/2014/main" val="2715609854"/>
                    </a:ext>
                  </a:extLst>
                </a:gridCol>
              </a:tblGrid>
              <a:tr h="229688">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3295">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728782">
                <a:tc>
                  <a:txBody>
                    <a:bodyPr/>
                    <a:lstStyle/>
                    <a:p>
                      <a:pPr algn="just"/>
                      <a:r>
                        <a:rPr lang="uz-Cyrl-UZ" sz="900" b="0" noProof="0" dirty="0">
                          <a:solidFill>
                            <a:schemeClr val="tx1"/>
                          </a:solidFill>
                          <a:latin typeface="+mn-lt"/>
                        </a:rPr>
                        <a:t>    1982–1994-йилларда — Бухоро давлат қўғирчоқ театри актёри сифатида фаолият юритади. 1994-йилдан ҳозирги кунгача — Ўзбек Миллий қўғирчоқ театри олий тоифали актёри.</a:t>
                      </a:r>
                    </a:p>
                    <a:p>
                      <a:pPr algn="just"/>
                      <a:r>
                        <a:rPr lang="uz-Cyrl-UZ" sz="900" b="0" noProof="0" dirty="0" smtClean="0">
                          <a:solidFill>
                            <a:schemeClr val="tx1"/>
                          </a:solidFill>
                          <a:latin typeface="+mn-lt"/>
                        </a:rPr>
                        <a:t>    Ш.Жабборов </a:t>
                      </a:r>
                      <a:r>
                        <a:rPr lang="uz-Cyrl-UZ" sz="900" b="0" noProof="0" dirty="0">
                          <a:solidFill>
                            <a:schemeClr val="tx1"/>
                          </a:solidFill>
                          <a:latin typeface="+mn-lt"/>
                        </a:rPr>
                        <a:t>бугунги кунга қадар "Гозча" спектаклида Типратикан, "Фотиманинг саргузаштлари"да Чинор, "Алдар коса"да Каримбой, "Алвон гул ва Сохибжамол ва Махлуқ"да Сотувчи, "Миу номли мушукча"да Қозон, "Фронтга хат"да Немис, "Букри ошпаз"да Қирол, "Ўн икки ой" спектаклларида Професор ролларини ижро этиб келмоқда.</a:t>
                      </a:r>
                      <a:endParaRPr lang="uz-Latn-UZ" sz="9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63028">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30847">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келаниган қўғирчоқ театр фестевалларда, Давлат қўғирчоқ театр фестевалларда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9" name="Рисунок 8">
            <a:extLst>
              <a:ext uri="{FF2B5EF4-FFF2-40B4-BE49-F238E27FC236}">
                <a16:creationId xmlns:a16="http://schemas.microsoft.com/office/drawing/2014/main" id="{C43C3433-A104-4FE5-A51F-3BBDAF4D28AD}"/>
              </a:ext>
            </a:extLst>
          </p:cNvPr>
          <p:cNvPicPr>
            <a:picLocks noChangeAspect="1"/>
          </p:cNvPicPr>
          <p:nvPr/>
        </p:nvPicPr>
        <p:blipFill>
          <a:blip r:embed="rId2"/>
          <a:stretch>
            <a:fillRect/>
          </a:stretch>
        </p:blipFill>
        <p:spPr>
          <a:xfrm>
            <a:off x="211882" y="1129211"/>
            <a:ext cx="996505" cy="1090288"/>
          </a:xfrm>
          <a:prstGeom prst="rect">
            <a:avLst/>
          </a:prstGeom>
        </p:spPr>
      </p:pic>
    </p:spTree>
    <p:extLst>
      <p:ext uri="{BB962C8B-B14F-4D97-AF65-F5344CB8AC3E}">
        <p14:creationId xmlns:p14="http://schemas.microsoft.com/office/powerpoint/2010/main" val="3988953238"/>
      </p:ext>
    </p:extLst>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763458048"/>
              </p:ext>
            </p:extLst>
          </p:nvPr>
        </p:nvGraphicFramePr>
        <p:xfrm>
          <a:off x="138895" y="865698"/>
          <a:ext cx="3426426" cy="5920998"/>
        </p:xfrm>
        <a:graphic>
          <a:graphicData uri="http://schemas.openxmlformats.org/drawingml/2006/table">
            <a:tbl>
              <a:tblPr firstRow="1" bandRow="1">
                <a:tableStyleId>{C083E6E3-FA7D-4D7B-A595-EF9225AFEA82}</a:tableStyleId>
              </a:tblPr>
              <a:tblGrid>
                <a:gridCol w="594996">
                  <a:extLst>
                    <a:ext uri="{9D8B030D-6E8A-4147-A177-3AD203B41FA5}">
                      <a16:colId xmlns:a16="http://schemas.microsoft.com/office/drawing/2014/main" val="2288412290"/>
                    </a:ext>
                  </a:extLst>
                </a:gridCol>
                <a:gridCol w="503378">
                  <a:extLst>
                    <a:ext uri="{9D8B030D-6E8A-4147-A177-3AD203B41FA5}">
                      <a16:colId xmlns:a16="http://schemas.microsoft.com/office/drawing/2014/main" val="1678982439"/>
                    </a:ext>
                  </a:extLst>
                </a:gridCol>
                <a:gridCol w="153448">
                  <a:extLst>
                    <a:ext uri="{9D8B030D-6E8A-4147-A177-3AD203B41FA5}">
                      <a16:colId xmlns:a16="http://schemas.microsoft.com/office/drawing/2014/main" val="2721661767"/>
                    </a:ext>
                  </a:extLst>
                </a:gridCol>
                <a:gridCol w="909916">
                  <a:extLst>
                    <a:ext uri="{9D8B030D-6E8A-4147-A177-3AD203B41FA5}">
                      <a16:colId xmlns:a16="http://schemas.microsoft.com/office/drawing/2014/main" val="546773760"/>
                    </a:ext>
                  </a:extLst>
                </a:gridCol>
                <a:gridCol w="1264688">
                  <a:extLst>
                    <a:ext uri="{9D8B030D-6E8A-4147-A177-3AD203B41FA5}">
                      <a16:colId xmlns:a16="http://schemas.microsoft.com/office/drawing/2014/main" val="546443978"/>
                    </a:ext>
                  </a:extLst>
                </a:gridCol>
              </a:tblGrid>
              <a:tr h="24056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8065">
                <a:tc rowSpan="6" gridSpan="2">
                  <a:txBody>
                    <a:bodyPr/>
                    <a:lstStyle/>
                    <a:p>
                      <a:pPr algn="l">
                        <a:lnSpc>
                          <a:spcPct val="90000"/>
                        </a:lnSpc>
                      </a:pPr>
                      <a:r>
                        <a:rPr lang="ru-RU" sz="500" b="0" dirty="0">
                          <a:latin typeface="+mn-lt"/>
                        </a:rPr>
                        <a:t>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ИГАМНАЗАРОВА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531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Муниса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531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effectLst/>
                          <a:latin typeface="+mn-lt"/>
                          <a:ea typeface="+mn-ea"/>
                          <a:cs typeface="+mn-cs"/>
                        </a:rPr>
                        <a:t>Турсуналиевна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5315">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531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kern="1200" dirty="0">
                          <a:solidFill>
                            <a:schemeClr val="tx1"/>
                          </a:solidFill>
                          <a:effectLst/>
                          <a:latin typeface="+mn-lt"/>
                          <a:ea typeface="+mn-ea"/>
                          <a:cs typeface="+mn-cs"/>
                        </a:rPr>
                        <a:t>31.07.1960</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531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 Тожикистон Республика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8286">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903550">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фарзанди бор,  қиз, ўғил</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 қиз  </a:t>
                      </a:r>
                      <a:r>
                        <a:rPr lang="uz-Cyrl-UZ" sz="900" kern="1200" dirty="0">
                          <a:solidFill>
                            <a:schemeClr val="tx1"/>
                          </a:solidFill>
                          <a:effectLst/>
                          <a:latin typeface="+mn-lt"/>
                          <a:ea typeface="+mn-ea"/>
                          <a:cs typeface="+mn-cs"/>
                        </a:rPr>
                        <a:t>Тошкент шаҳар “Камолот” Ёшлар ижтимоий ҳаракати қошидаги “Ўқув услубий маркази” нодавлат таълим муассаси услубий бўлим бош мутахассиси</a:t>
                      </a:r>
                      <a:r>
                        <a:rPr lang="uz-Cyrl-UZ" sz="900" b="0" kern="1200" noProof="0" dirty="0">
                          <a:solidFill>
                            <a:schemeClr val="tx1"/>
                          </a:solidFill>
                          <a:latin typeface="+mn-lt"/>
                          <a:ea typeface="+mn-ea"/>
                          <a:cs typeface="+mn-cs"/>
                        </a:rPr>
                        <a:t>, ўғли  Ўзбекистон Ёшлар театри, актёр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8286">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92253">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 ПАРПИЕВ Турсунали </a:t>
                      </a:r>
                    </a:p>
                    <a:p>
                      <a:pPr algn="l">
                        <a:lnSpc>
                          <a:spcPct val="85000"/>
                        </a:lnSpc>
                      </a:pPr>
                      <a:r>
                        <a:rPr lang="uz-Cyrl-UZ" sz="900" b="0" kern="1200" noProof="0" dirty="0">
                          <a:solidFill>
                            <a:schemeClr val="tx1"/>
                          </a:solidFill>
                          <a:latin typeface="+mn-lt"/>
                          <a:ea typeface="+mn-ea"/>
                          <a:cs typeface="Arial" panose="020B0604020202020204" pitchFamily="34" charset="0"/>
                        </a:rPr>
                        <a:t>1924 йил, Қўқон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1969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uz-Cyrl-UZ" sz="800" kern="1200" dirty="0">
                          <a:solidFill>
                            <a:schemeClr val="tx1"/>
                          </a:solidFill>
                          <a:effectLst/>
                          <a:latin typeface="+mn-lt"/>
                          <a:ea typeface="+mn-ea"/>
                          <a:cs typeface="+mn-cs"/>
                        </a:rPr>
                        <a:t>(Қўқон шаҳри Ўзбекистон тумани қишлоқ хўжалиги раиси</a:t>
                      </a:r>
                      <a:r>
                        <a:rPr lang="ru-RU" sz="8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9225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АБДУЛЛАЕВА Хидохон </a:t>
                      </a:r>
                    </a:p>
                    <a:p>
                      <a:pPr algn="l">
                        <a:lnSpc>
                          <a:spcPct val="85000"/>
                        </a:lnSpc>
                      </a:pPr>
                      <a:r>
                        <a:rPr lang="uz-Cyrl-UZ" sz="900" b="0" kern="1200" noProof="0" dirty="0">
                          <a:solidFill>
                            <a:schemeClr val="tx1"/>
                          </a:solidFill>
                          <a:latin typeface="+mn-lt"/>
                          <a:ea typeface="+mn-ea"/>
                          <a:cs typeface="Arial" panose="020B0604020202020204" pitchFamily="34" charset="0"/>
                        </a:rPr>
                        <a:t>1929 йил, Қўқон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a:solidFill>
                            <a:schemeClr val="tx1"/>
                          </a:solidFill>
                          <a:latin typeface="+mn-lt"/>
                          <a:ea typeface="+mn-ea"/>
                          <a:cs typeface="Arial" panose="020B0604020202020204" pitchFamily="34" charset="0"/>
                        </a:rPr>
                        <a:t>2020 </a:t>
                      </a:r>
                      <a:r>
                        <a:rPr lang="ru-RU" sz="800" b="0" kern="1200" noProof="0" dirty="0" err="1">
                          <a:solidFill>
                            <a:schemeClr val="tx1"/>
                          </a:solidFill>
                          <a:latin typeface="+mn-lt"/>
                          <a:ea typeface="+mn-ea"/>
                          <a:cs typeface="Arial" panose="020B0604020202020204" pitchFamily="34" charset="0"/>
                        </a:rPr>
                        <a:t>йил</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вафот</a:t>
                      </a:r>
                      <a:r>
                        <a:rPr lang="ru-RU" sz="800" b="0" kern="1200" noProof="0" dirty="0">
                          <a:solidFill>
                            <a:schemeClr val="tx1"/>
                          </a:solidFill>
                          <a:latin typeface="+mn-lt"/>
                          <a:ea typeface="+mn-ea"/>
                          <a:cs typeface="Arial" panose="020B0604020202020204" pitchFamily="34" charset="0"/>
                        </a:rPr>
                        <a:t> </a:t>
                      </a:r>
                      <a:r>
                        <a:rPr lang="ru-RU" sz="800" b="0" kern="1200" noProof="0" dirty="0" err="1">
                          <a:solidFill>
                            <a:schemeClr val="tx1"/>
                          </a:solidFill>
                          <a:latin typeface="+mn-lt"/>
                          <a:ea typeface="+mn-ea"/>
                          <a:cs typeface="Arial" panose="020B0604020202020204" pitchFamily="34" charset="0"/>
                        </a:rPr>
                        <a:t>этган</a:t>
                      </a:r>
                      <a:endParaRPr lang="ru-RU" sz="800" b="0" kern="1200" noProof="0" dirty="0">
                        <a:solidFill>
                          <a:schemeClr val="tx1"/>
                        </a:solidFill>
                        <a:latin typeface="+mn-lt"/>
                        <a:ea typeface="+mn-ea"/>
                        <a:cs typeface="Arial" panose="020B0604020202020204" pitchFamily="34" charset="0"/>
                      </a:endParaRPr>
                    </a:p>
                    <a:p>
                      <a:pPr algn="l">
                        <a:lnSpc>
                          <a:spcPct val="85000"/>
                        </a:lnSpc>
                      </a:pPr>
                      <a:r>
                        <a:rPr lang="ru-RU" sz="800" b="0" kern="1200" noProof="0" dirty="0">
                          <a:solidFill>
                            <a:schemeClr val="tx1"/>
                          </a:solidFill>
                          <a:latin typeface="+mn-lt"/>
                          <a:ea typeface="+mn-ea"/>
                          <a:cs typeface="Arial" panose="020B0604020202020204" pitchFamily="34" charset="0"/>
                        </a:rPr>
                        <a:t>(</a:t>
                      </a:r>
                      <a:r>
                        <a:rPr lang="uz-Cyrl-UZ" sz="800" kern="1200" dirty="0">
                          <a:solidFill>
                            <a:schemeClr val="tx1"/>
                          </a:solidFill>
                          <a:effectLst/>
                          <a:latin typeface="+mn-lt"/>
                          <a:ea typeface="+mn-ea"/>
                          <a:cs typeface="+mn-cs"/>
                        </a:rPr>
                        <a:t>Қўқон шаҳри бош универмаги бўлим мудири)</a:t>
                      </a:r>
                      <a:endParaRPr lang="ru-RU" sz="8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27029">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ИГАМНАЗАРОВ Шухрат  Хамидуллаевич</a:t>
                      </a:r>
                    </a:p>
                    <a:p>
                      <a:pPr algn="l">
                        <a:lnSpc>
                          <a:spcPct val="85000"/>
                        </a:lnSpc>
                      </a:pPr>
                      <a:r>
                        <a:rPr lang="uz-Cyrl-UZ" sz="900" b="0" kern="1200" noProof="0" dirty="0">
                          <a:solidFill>
                            <a:schemeClr val="tx1"/>
                          </a:solidFill>
                          <a:latin typeface="+mn-lt"/>
                          <a:ea typeface="+mn-ea"/>
                          <a:cs typeface="Arial" panose="020B0604020202020204" pitchFamily="34" charset="0"/>
                        </a:rPr>
                        <a:t>1961 йил,Тошкент шаҳри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mn-cs"/>
                        </a:rPr>
                        <a:t>Ишсиз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5266">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403557">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1982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театр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рассомлик</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санъати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293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қўғирчоқ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9625">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9625">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53126">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565321" y="865696"/>
          <a:ext cx="3282046" cy="5920999"/>
        </p:xfrm>
        <a:graphic>
          <a:graphicData uri="http://schemas.openxmlformats.org/drawingml/2006/table">
            <a:tbl>
              <a:tblPr firstRow="1" bandRow="1">
                <a:tableStyleId>{C083E6E3-FA7D-4D7B-A595-EF9225AFEA82}</a:tableStyleId>
              </a:tblPr>
              <a:tblGrid>
                <a:gridCol w="1552321">
                  <a:extLst>
                    <a:ext uri="{9D8B030D-6E8A-4147-A177-3AD203B41FA5}">
                      <a16:colId xmlns:a16="http://schemas.microsoft.com/office/drawing/2014/main" val="2715609854"/>
                    </a:ext>
                  </a:extLst>
                </a:gridCol>
                <a:gridCol w="1729725">
                  <a:extLst>
                    <a:ext uri="{9D8B030D-6E8A-4147-A177-3AD203B41FA5}">
                      <a16:colId xmlns:a16="http://schemas.microsoft.com/office/drawing/2014/main" val="546443978"/>
                    </a:ext>
                  </a:extLst>
                </a:gridCol>
              </a:tblGrid>
              <a:tr h="236998">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91719">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2020 йилдан буён  Ўзбек Миллий қўғирчоқ театри</a:t>
                      </a:r>
                      <a:r>
                        <a:rPr lang="uz-Cyrl-UZ" sz="900" b="1" kern="1200" dirty="0">
                          <a:solidFill>
                            <a:schemeClr val="tx1"/>
                          </a:solidFill>
                          <a:effectLst/>
                          <a:latin typeface="+mn-lt"/>
                          <a:ea typeface="+mn-ea"/>
                          <a:cs typeface="+mn-cs"/>
                        </a:rPr>
                        <a:t>, </a:t>
                      </a:r>
                    </a:p>
                    <a:p>
                      <a:pPr marL="0" indent="0" algn="l">
                        <a:lnSpc>
                          <a:spcPct val="85000"/>
                        </a:lnSpc>
                      </a:pPr>
                      <a:r>
                        <a:rPr lang="uz-Cyrl-UZ" sz="900" b="0" kern="1200" noProof="0" dirty="0">
                          <a:solidFill>
                            <a:schemeClr val="tx1"/>
                          </a:solidFill>
                          <a:latin typeface="+mn-lt"/>
                          <a:ea typeface="+mn-ea"/>
                          <a:cs typeface="+mn-cs"/>
                        </a:rPr>
                        <a:t> Етакчи сахна устаси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17684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2926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38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2926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 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341275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a:solidFill>
                            <a:schemeClr val="tx1"/>
                          </a:solidFill>
                          <a:effectLst/>
                          <a:latin typeface="+mn-lt"/>
                          <a:ea typeface="+mn-ea"/>
                          <a:cs typeface="+mn-cs"/>
                        </a:rPr>
                        <a:t>1983-1985 йй. - Қўқон шаҳри “Химик” номли маданият саройи бадиий раҳбари</a:t>
                      </a:r>
                      <a:endParaRPr lang="uz-Latn-UZ"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1985-1986 йй. - Қўқон шаҳридаги 12-сонли болалар уйи тарбиячиси</a:t>
                      </a:r>
                      <a:endParaRPr lang="uz-Latn-UZ"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1986-1995 йй. - Ўзбекистон давлат </a:t>
                      </a:r>
                      <a:r>
                        <a:rPr lang="ru-RU" sz="900" kern="1200" dirty="0" err="1">
                          <a:solidFill>
                            <a:schemeClr val="tx1"/>
                          </a:solidFill>
                          <a:effectLst/>
                          <a:latin typeface="+mn-lt"/>
                          <a:ea typeface="+mn-ea"/>
                          <a:cs typeface="+mn-cs"/>
                        </a:rPr>
                        <a:t>қўғирчоқ</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театри</a:t>
                      </a:r>
                      <a:r>
                        <a:rPr lang="uz-Cyrl-UZ" sz="900" kern="1200" dirty="0">
                          <a:solidFill>
                            <a:schemeClr val="tx1"/>
                          </a:solidFill>
                          <a:effectLst/>
                          <a:latin typeface="+mn-lt"/>
                          <a:ea typeface="+mn-ea"/>
                          <a:cs typeface="+mn-cs"/>
                        </a:rPr>
                        <a:t> актрисаси</a:t>
                      </a:r>
                      <a:endParaRPr lang="uz-Latn-UZ"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1996-1996 йй. - Болалар ижодиёт уйи қўғирчоқ театри раҳбари</a:t>
                      </a:r>
                      <a:endParaRPr lang="uz-Latn-UZ"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1996-2008 йй. - Ўзбекистон давлат қўғирчоқ театри актрисаси</a:t>
                      </a:r>
                      <a:endParaRPr lang="uz-Latn-UZ"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2008-2012 йй. - Тайванд мамлакати Хуалин шаҳридаги хусусий театр актрисаси</a:t>
                      </a:r>
                    </a:p>
                    <a:p>
                      <a:r>
                        <a:rPr lang="uz-Cyrl-UZ" sz="900" kern="1200" dirty="0">
                          <a:solidFill>
                            <a:schemeClr val="tx1"/>
                          </a:solidFill>
                          <a:effectLst/>
                          <a:latin typeface="+mn-lt"/>
                          <a:ea typeface="+mn-ea"/>
                          <a:cs typeface="+mn-cs"/>
                        </a:rPr>
                        <a:t>2014-2016 йй. - </a:t>
                      </a:r>
                      <a:r>
                        <a:rPr lang="ru-RU" sz="900" kern="1200" dirty="0">
                          <a:solidFill>
                            <a:schemeClr val="tx1"/>
                          </a:solidFill>
                          <a:effectLst/>
                          <a:latin typeface="+mn-lt"/>
                          <a:ea typeface="+mn-ea"/>
                          <a:cs typeface="+mn-cs"/>
                        </a:rPr>
                        <a:t>Республика </a:t>
                      </a:r>
                      <a:r>
                        <a:rPr lang="uz-Cyrl-UZ" sz="900" kern="1200" dirty="0">
                          <a:solidFill>
                            <a:schemeClr val="tx1"/>
                          </a:solidFill>
                          <a:effectLst/>
                          <a:latin typeface="+mn-lt"/>
                          <a:ea typeface="+mn-ea"/>
                          <a:cs typeface="+mn-cs"/>
                        </a:rPr>
                        <a:t>эстрада цирк коллежи ўқитувчиси</a:t>
                      </a:r>
                      <a:endParaRPr lang="uz-Latn-UZ"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2017-2020 йй. - Ўзбек Миллий қўғирчоқ театри актрисаси</a:t>
                      </a:r>
                      <a:endParaRPr lang="uz-Latn-UZ"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2020 й. -  ҳ.в.  - Ўзбек Миллий қўғирчоқ театри етакчи сахна устаси</a:t>
                      </a:r>
                      <a:endParaRPr lang="uz-Latn-UZ" sz="900" kern="1200" dirty="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64501">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6450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6450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129266">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40443">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29266">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836404565"/>
              </p:ext>
            </p:extLst>
          </p:nvPr>
        </p:nvGraphicFramePr>
        <p:xfrm>
          <a:off x="6847367" y="869292"/>
          <a:ext cx="2976141" cy="5921136"/>
        </p:xfrm>
        <a:graphic>
          <a:graphicData uri="http://schemas.openxmlformats.org/drawingml/2006/table">
            <a:tbl>
              <a:tblPr firstRow="1" bandRow="1">
                <a:tableStyleId>{C083E6E3-FA7D-4D7B-A595-EF9225AFEA82}</a:tableStyleId>
              </a:tblPr>
              <a:tblGrid>
                <a:gridCol w="2976141">
                  <a:extLst>
                    <a:ext uri="{9D8B030D-6E8A-4147-A177-3AD203B41FA5}">
                      <a16:colId xmlns:a16="http://schemas.microsoft.com/office/drawing/2014/main" val="2715609854"/>
                    </a:ext>
                  </a:extLst>
                </a:gridCol>
              </a:tblGrid>
              <a:tr h="231198">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5587">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761003">
                <a:tc>
                  <a:txBody>
                    <a:bodyPr/>
                    <a:lstStyle/>
                    <a:p>
                      <a:pPr algn="just"/>
                      <a:r>
                        <a:rPr lang="ru-RU" sz="900" kern="1200" dirty="0" smtClean="0">
                          <a:solidFill>
                            <a:schemeClr val="tx1"/>
                          </a:solidFill>
                          <a:effectLst/>
                          <a:latin typeface="+mn-lt"/>
                          <a:ea typeface="+mn-ea"/>
                          <a:cs typeface="+mn-cs"/>
                        </a:rPr>
                        <a:t>    “</a:t>
                      </a:r>
                      <a:r>
                        <a:rPr lang="ru-RU" sz="900" kern="1200" dirty="0" err="1">
                          <a:solidFill>
                            <a:schemeClr val="tx1"/>
                          </a:solidFill>
                          <a:effectLst/>
                          <a:latin typeface="+mn-lt"/>
                          <a:ea typeface="+mn-ea"/>
                          <a:cs typeface="+mn-cs"/>
                        </a:rPr>
                        <a:t>Ўткир</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шоҳли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буқача”да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Буқача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Фотиманинг</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саргузаштлари”да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Фотима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Алпомиш”да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Ойбарчин</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Чўп</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қўғирчоқ”да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Буви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Бахт</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излаган</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Хасан”да</a:t>
                      </a:r>
                      <a:r>
                        <a:rPr lang="ru-RU" sz="900" kern="1200" dirty="0">
                          <a:solidFill>
                            <a:schemeClr val="tx1"/>
                          </a:solidFill>
                          <a:effectLst/>
                          <a:latin typeface="+mn-lt"/>
                          <a:ea typeface="+mn-ea"/>
                          <a:cs typeface="+mn-cs"/>
                        </a:rPr>
                        <a:t> Малика, “</a:t>
                      </a:r>
                      <a:r>
                        <a:rPr lang="ru-RU" sz="900" kern="1200" dirty="0" err="1">
                          <a:solidFill>
                            <a:schemeClr val="tx1"/>
                          </a:solidFill>
                          <a:effectLst/>
                          <a:latin typeface="+mn-lt"/>
                          <a:ea typeface="+mn-ea"/>
                          <a:cs typeface="+mn-cs"/>
                        </a:rPr>
                        <a:t>Гугурт</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кўтарган</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қизча”да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Қизалоқ</a:t>
                      </a:r>
                      <a:r>
                        <a:rPr lang="ru-RU" sz="900" kern="1200" dirty="0">
                          <a:solidFill>
                            <a:schemeClr val="tx1"/>
                          </a:solidFill>
                          <a:effectLst/>
                          <a:latin typeface="+mn-lt"/>
                          <a:ea typeface="+mn-ea"/>
                          <a:cs typeface="+mn-cs"/>
                        </a:rPr>
                        <a:t>, “Шум </a:t>
                      </a:r>
                      <a:r>
                        <a:rPr lang="ru-RU" sz="900" kern="1200" dirty="0" err="1">
                          <a:solidFill>
                            <a:schemeClr val="tx1"/>
                          </a:solidFill>
                          <a:effectLst/>
                          <a:latin typeface="+mn-lt"/>
                          <a:ea typeface="+mn-ea"/>
                          <a:cs typeface="+mn-cs"/>
                        </a:rPr>
                        <a:t>бола”да</a:t>
                      </a:r>
                      <a:r>
                        <a:rPr lang="ru-RU" sz="900" kern="1200" dirty="0">
                          <a:solidFill>
                            <a:schemeClr val="tx1"/>
                          </a:solidFill>
                          <a:effectLst/>
                          <a:latin typeface="+mn-lt"/>
                          <a:ea typeface="+mn-ea"/>
                          <a:cs typeface="+mn-cs"/>
                        </a:rPr>
                        <a:t> бой </a:t>
                      </a:r>
                      <a:r>
                        <a:rPr lang="ru-RU" sz="900" kern="1200" dirty="0" err="1">
                          <a:solidFill>
                            <a:schemeClr val="tx1"/>
                          </a:solidFill>
                          <a:effectLst/>
                          <a:latin typeface="+mn-lt"/>
                          <a:ea typeface="+mn-ea"/>
                          <a:cs typeface="+mn-cs"/>
                        </a:rPr>
                        <a:t>хотин</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Ғозча”да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Бошловчи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Золушка”да</a:t>
                      </a:r>
                      <a:r>
                        <a:rPr lang="ru-RU" sz="900" kern="1200" dirty="0">
                          <a:solidFill>
                            <a:schemeClr val="tx1"/>
                          </a:solidFill>
                          <a:effectLst/>
                          <a:latin typeface="+mn-lt"/>
                          <a:ea typeface="+mn-ea"/>
                          <a:cs typeface="+mn-cs"/>
                        </a:rPr>
                        <a:t> “Золушка”, “</a:t>
                      </a:r>
                      <a:r>
                        <a:rPr lang="ru-RU" sz="900" kern="1200" dirty="0" err="1">
                          <a:solidFill>
                            <a:schemeClr val="tx1"/>
                          </a:solidFill>
                          <a:effectLst/>
                          <a:latin typeface="+mn-lt"/>
                          <a:ea typeface="+mn-ea"/>
                          <a:cs typeface="+mn-cs"/>
                        </a:rPr>
                        <a:t>Ўн</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икки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ой”да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Ўгай</a:t>
                      </a:r>
                      <a:r>
                        <a:rPr lang="ru-RU" sz="900" kern="1200" dirty="0">
                          <a:solidFill>
                            <a:schemeClr val="tx1"/>
                          </a:solidFill>
                          <a:effectLst/>
                          <a:latin typeface="+mn-lt"/>
                          <a:ea typeface="+mn-ea"/>
                          <a:cs typeface="+mn-cs"/>
                        </a:rPr>
                        <a:t> она, “</a:t>
                      </a:r>
                      <a:r>
                        <a:rPr lang="ru-RU" sz="900" kern="1200" dirty="0" err="1">
                          <a:solidFill>
                            <a:schemeClr val="tx1"/>
                          </a:solidFill>
                          <a:effectLst/>
                          <a:latin typeface="+mn-lt"/>
                          <a:ea typeface="+mn-ea"/>
                          <a:cs typeface="+mn-cs"/>
                        </a:rPr>
                        <a:t>Олтин</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калит”да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Тулки</a:t>
                      </a:r>
                      <a:r>
                        <a:rPr lang="ru-RU" sz="900" kern="1200" dirty="0">
                          <a:solidFill>
                            <a:schemeClr val="tx1"/>
                          </a:solidFill>
                          <a:effectLst/>
                          <a:latin typeface="+mn-lt"/>
                          <a:ea typeface="+mn-ea"/>
                          <a:cs typeface="+mn-cs"/>
                        </a:rPr>
                        <a:t> Алиса, “</a:t>
                      </a:r>
                      <a:r>
                        <a:rPr lang="ru-RU" sz="900" kern="1200" dirty="0" err="1">
                          <a:solidFill>
                            <a:schemeClr val="tx1"/>
                          </a:solidFill>
                          <a:effectLst/>
                          <a:latin typeface="+mn-lt"/>
                          <a:ea typeface="+mn-ea"/>
                          <a:cs typeface="+mn-cs"/>
                        </a:rPr>
                        <a:t>Қор</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Маликаси”да</a:t>
                      </a:r>
                      <a:r>
                        <a:rPr lang="ru-RU" sz="900" kern="1200" dirty="0">
                          <a:solidFill>
                            <a:schemeClr val="tx1"/>
                          </a:solidFill>
                          <a:effectLst/>
                          <a:latin typeface="+mn-lt"/>
                          <a:ea typeface="+mn-ea"/>
                          <a:cs typeface="+mn-cs"/>
                        </a:rPr>
                        <a:t> Герда </a:t>
                      </a:r>
                      <a:r>
                        <a:rPr lang="ru-RU" sz="900" kern="1200" dirty="0" err="1">
                          <a:solidFill>
                            <a:schemeClr val="tx1"/>
                          </a:solidFill>
                          <a:effectLst/>
                          <a:latin typeface="+mn-lt"/>
                          <a:ea typeface="+mn-ea"/>
                          <a:cs typeface="+mn-cs"/>
                        </a:rPr>
                        <a:t>ролларида</a:t>
                      </a:r>
                      <a:r>
                        <a:rPr lang="ru-RU" sz="900" kern="1200" dirty="0">
                          <a:solidFill>
                            <a:schemeClr val="tx1"/>
                          </a:solidFill>
                          <a:effectLst/>
                          <a:latin typeface="+mn-lt"/>
                          <a:ea typeface="+mn-ea"/>
                          <a:cs typeface="+mn-cs"/>
                        </a:rPr>
                        <a:t> актриса бор </a:t>
                      </a:r>
                      <a:r>
                        <a:rPr lang="ru-RU" sz="900" kern="1200" dirty="0" err="1">
                          <a:solidFill>
                            <a:schemeClr val="tx1"/>
                          </a:solidFill>
                          <a:effectLst/>
                          <a:latin typeface="+mn-lt"/>
                          <a:ea typeface="+mn-ea"/>
                          <a:cs typeface="+mn-cs"/>
                        </a:rPr>
                        <a:t>иқтидорини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намойиш</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қилган</a:t>
                      </a:r>
                      <a:r>
                        <a:rPr lang="ru-RU" sz="900" kern="1200" dirty="0">
                          <a:solidFill>
                            <a:schemeClr val="tx1"/>
                          </a:solidFill>
                          <a:effectLst/>
                          <a:latin typeface="+mn-lt"/>
                          <a:ea typeface="+mn-ea"/>
                          <a:cs typeface="+mn-cs"/>
                        </a:rPr>
                        <a:t>. </a:t>
                      </a:r>
                    </a:p>
                    <a:p>
                      <a:pPr algn="just"/>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Бу</a:t>
                      </a:r>
                      <a:r>
                        <a:rPr lang="ru-RU" sz="900" kern="1200" dirty="0" smtClean="0">
                          <a:solidFill>
                            <a:schemeClr val="tx1"/>
                          </a:solidFill>
                          <a:effectLst/>
                          <a:latin typeface="+mn-lt"/>
                          <a:ea typeface="+mn-ea"/>
                          <a:cs typeface="+mn-cs"/>
                        </a:rPr>
                        <a:t> </a:t>
                      </a:r>
                      <a:r>
                        <a:rPr lang="ru-RU" sz="900" kern="1200" dirty="0" err="1">
                          <a:solidFill>
                            <a:schemeClr val="tx1"/>
                          </a:solidFill>
                          <a:effectLst/>
                          <a:latin typeface="+mn-lt"/>
                          <a:ea typeface="+mn-ea"/>
                          <a:cs typeface="+mn-cs"/>
                        </a:rPr>
                        <a:t>санъаткор</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муаллиф</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ва</a:t>
                      </a:r>
                      <a:r>
                        <a:rPr lang="ru-RU" sz="900" kern="1200" dirty="0">
                          <a:solidFill>
                            <a:schemeClr val="tx1"/>
                          </a:solidFill>
                          <a:effectLst/>
                          <a:latin typeface="+mn-lt"/>
                          <a:ea typeface="+mn-ea"/>
                          <a:cs typeface="+mn-cs"/>
                        </a:rPr>
                        <a:t> режиссёр </a:t>
                      </a:r>
                      <a:r>
                        <a:rPr lang="ru-RU" sz="900" kern="1200" dirty="0" err="1">
                          <a:solidFill>
                            <a:schemeClr val="tx1"/>
                          </a:solidFill>
                          <a:effectLst/>
                          <a:latin typeface="+mn-lt"/>
                          <a:ea typeface="+mn-ea"/>
                          <a:cs typeface="+mn-cs"/>
                        </a:rPr>
                        <a:t>сифатида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Баҳорой</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ва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Наврўз</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Қўғирчоқларнинг</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ғаройиб</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олами</a:t>
                      </a:r>
                      <a:r>
                        <a:rPr lang="ru-RU" sz="900" kern="1200" dirty="0">
                          <a:solidFill>
                            <a:schemeClr val="tx1"/>
                          </a:solidFill>
                          <a:effectLst/>
                          <a:latin typeface="+mn-lt"/>
                          <a:ea typeface="+mn-ea"/>
                          <a:cs typeface="+mn-cs"/>
                        </a:rPr>
                        <a:t>”, “Кашмир </a:t>
                      </a:r>
                      <a:r>
                        <a:rPr lang="ru-RU" sz="900" kern="1200" dirty="0" err="1">
                          <a:solidFill>
                            <a:schemeClr val="tx1"/>
                          </a:solidFill>
                          <a:effectLst/>
                          <a:latin typeface="+mn-lt"/>
                          <a:ea typeface="+mn-ea"/>
                          <a:cs typeface="+mn-cs"/>
                        </a:rPr>
                        <a:t>афсонаси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спектаклларини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саҳналаштирган</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Оҳирги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йилларда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саҳна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устаси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М.Игамназарова</a:t>
                      </a:r>
                      <a:r>
                        <a:rPr lang="ru-RU" sz="900" kern="1200" dirty="0">
                          <a:solidFill>
                            <a:schemeClr val="tx1"/>
                          </a:solidFill>
                          <a:effectLst/>
                          <a:latin typeface="+mn-lt"/>
                          <a:ea typeface="+mn-ea"/>
                          <a:cs typeface="+mn-cs"/>
                        </a:rPr>
                        <a:t> режиссёр, </a:t>
                      </a:r>
                      <a:r>
                        <a:rPr lang="ru-RU" sz="900" kern="1200" dirty="0" err="1">
                          <a:solidFill>
                            <a:schemeClr val="tx1"/>
                          </a:solidFill>
                          <a:effectLst/>
                          <a:latin typeface="+mn-lt"/>
                          <a:ea typeface="+mn-ea"/>
                          <a:cs typeface="+mn-cs"/>
                        </a:rPr>
                        <a:t>муаллиф</a:t>
                      </a:r>
                      <a:r>
                        <a:rPr lang="ru-RU" sz="900" kern="1200" dirty="0">
                          <a:solidFill>
                            <a:schemeClr val="tx1"/>
                          </a:solidFill>
                          <a:effectLst/>
                          <a:latin typeface="+mn-lt"/>
                          <a:ea typeface="+mn-ea"/>
                          <a:cs typeface="+mn-cs"/>
                        </a:rPr>
                        <a:t>, актриса, </a:t>
                      </a:r>
                      <a:r>
                        <a:rPr lang="ru-RU" sz="900" kern="1200" dirty="0" err="1">
                          <a:solidFill>
                            <a:schemeClr val="tx1"/>
                          </a:solidFill>
                          <a:effectLst/>
                          <a:latin typeface="+mn-lt"/>
                          <a:ea typeface="+mn-ea"/>
                          <a:cs typeface="+mn-cs"/>
                        </a:rPr>
                        <a:t>қўғирчоқ</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санъат</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турини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етук</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мутахассиси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сифатида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хайъат</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аъзоси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сифатида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нуфузли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Халқаро</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фестивалларда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иштирок</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этиб</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келмоқда</a:t>
                      </a:r>
                      <a:r>
                        <a:rPr lang="ru-RU" sz="900" kern="1200" dirty="0">
                          <a:solidFill>
                            <a:schemeClr val="tx1"/>
                          </a:solidFill>
                          <a:effectLst/>
                          <a:latin typeface="+mn-lt"/>
                          <a:ea typeface="+mn-ea"/>
                          <a:cs typeface="+mn-cs"/>
                        </a:rPr>
                        <a:t>. 2023-йил </a:t>
                      </a:r>
                      <a:r>
                        <a:rPr lang="ru-RU" sz="900" kern="1200" dirty="0" err="1">
                          <a:solidFill>
                            <a:schemeClr val="tx1"/>
                          </a:solidFill>
                          <a:effectLst/>
                          <a:latin typeface="+mn-lt"/>
                          <a:ea typeface="+mn-ea"/>
                          <a:cs typeface="+mn-cs"/>
                        </a:rPr>
                        <a:t>Қозоғистоннинг</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Остона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шаҳрида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бўлиб</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ўтган</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Қуралай</a:t>
                      </a:r>
                      <a:r>
                        <a:rPr lang="ru-RU" sz="900" kern="1200" dirty="0">
                          <a:solidFill>
                            <a:schemeClr val="tx1"/>
                          </a:solidFill>
                          <a:effectLst/>
                          <a:latin typeface="+mn-lt"/>
                          <a:ea typeface="+mn-ea"/>
                          <a:cs typeface="+mn-cs"/>
                        </a:rPr>
                        <a:t>” </a:t>
                      </a:r>
                      <a:r>
                        <a:rPr lang="uz-Latn-UZ" sz="900" kern="1200" dirty="0">
                          <a:solidFill>
                            <a:schemeClr val="tx1"/>
                          </a:solidFill>
                          <a:effectLst/>
                          <a:latin typeface="+mn-lt"/>
                          <a:ea typeface="+mn-ea"/>
                          <a:cs typeface="+mn-cs"/>
                        </a:rPr>
                        <a:t>III </a:t>
                      </a:r>
                      <a:r>
                        <a:rPr lang="ru-RU" sz="900" kern="1200" dirty="0" err="1">
                          <a:solidFill>
                            <a:schemeClr val="tx1"/>
                          </a:solidFill>
                          <a:effectLst/>
                          <a:latin typeface="+mn-lt"/>
                          <a:ea typeface="+mn-ea"/>
                          <a:cs typeface="+mn-cs"/>
                        </a:rPr>
                        <a:t>Халқаро</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қўғирчоқлар</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фестивалида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М.Игамназарова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саҳналаштирган</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Қўғирчоқларнинг</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ғаройиб</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олами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концерти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катта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мувоффақият</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қозонган</a:t>
                      </a:r>
                      <a:r>
                        <a:rPr lang="ru-RU" sz="900" kern="1200" dirty="0">
                          <a:solidFill>
                            <a:schemeClr val="tx1"/>
                          </a:solidFill>
                          <a:effectLst/>
                          <a:latin typeface="+mn-lt"/>
                          <a:ea typeface="+mn-ea"/>
                          <a:cs typeface="+mn-cs"/>
                        </a:rPr>
                        <a:t>. Шу </a:t>
                      </a:r>
                      <a:r>
                        <a:rPr lang="ru-RU" sz="900" kern="1200" dirty="0" err="1">
                          <a:solidFill>
                            <a:schemeClr val="tx1"/>
                          </a:solidFill>
                          <a:effectLst/>
                          <a:latin typeface="+mn-lt"/>
                          <a:ea typeface="+mn-ea"/>
                          <a:cs typeface="+mn-cs"/>
                        </a:rPr>
                        <a:t>йил</a:t>
                      </a:r>
                      <a:r>
                        <a:rPr lang="ru-RU" sz="900" kern="1200" dirty="0">
                          <a:solidFill>
                            <a:schemeClr val="tx1"/>
                          </a:solidFill>
                          <a:effectLst/>
                          <a:latin typeface="+mn-lt"/>
                          <a:ea typeface="+mn-ea"/>
                          <a:cs typeface="+mn-cs"/>
                        </a:rPr>
                        <a:t>  актриса </a:t>
                      </a:r>
                      <a:r>
                        <a:rPr lang="ru-RU" sz="900" kern="1200" dirty="0" err="1">
                          <a:solidFill>
                            <a:schemeClr val="tx1"/>
                          </a:solidFill>
                          <a:effectLst/>
                          <a:latin typeface="+mn-lt"/>
                          <a:ea typeface="+mn-ea"/>
                          <a:cs typeface="+mn-cs"/>
                        </a:rPr>
                        <a:t>Татаристон</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Республикасининг</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Қозон</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шаҳрида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бўлиб</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ўтган</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туркий</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халқларининг</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Наврўз</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Халқаро</a:t>
                      </a:r>
                      <a:r>
                        <a:rPr lang="ru-RU" sz="900" kern="1200" dirty="0">
                          <a:solidFill>
                            <a:schemeClr val="tx1"/>
                          </a:solidFill>
                          <a:effectLst/>
                          <a:latin typeface="+mn-lt"/>
                          <a:ea typeface="+mn-ea"/>
                          <a:cs typeface="+mn-cs"/>
                        </a:rPr>
                        <a:t> театр </a:t>
                      </a:r>
                      <a:r>
                        <a:rPr lang="ru-RU" sz="900" kern="1200" dirty="0" err="1">
                          <a:solidFill>
                            <a:schemeClr val="tx1"/>
                          </a:solidFill>
                          <a:effectLst/>
                          <a:latin typeface="+mn-lt"/>
                          <a:ea typeface="+mn-ea"/>
                          <a:cs typeface="+mn-cs"/>
                        </a:rPr>
                        <a:t>фестивалида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А.Навоийнинг</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Ҳамса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асаридаги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Сабаъи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сайёр</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достони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асосида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саҳналаштирган</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Баҳром</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ва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Дилором</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спектаклида</a:t>
                      </a:r>
                      <a:r>
                        <a:rPr lang="ru-RU" sz="900" kern="1200" dirty="0">
                          <a:solidFill>
                            <a:schemeClr val="tx1"/>
                          </a:solidFill>
                          <a:effectLst/>
                          <a:latin typeface="+mn-lt"/>
                          <a:ea typeface="+mn-ea"/>
                          <a:cs typeface="+mn-cs"/>
                        </a:rPr>
                        <a:t> бош </a:t>
                      </a:r>
                      <a:r>
                        <a:rPr lang="ru-RU" sz="900" kern="1200" dirty="0" err="1">
                          <a:solidFill>
                            <a:schemeClr val="tx1"/>
                          </a:solidFill>
                          <a:effectLst/>
                          <a:latin typeface="+mn-lt"/>
                          <a:ea typeface="+mn-ea"/>
                          <a:cs typeface="+mn-cs"/>
                        </a:rPr>
                        <a:t>қаҳрамон</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Дилором</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ролини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катта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маҳорат</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билан</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ижро</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этди</a:t>
                      </a:r>
                      <a:r>
                        <a:rPr lang="ru-RU" sz="900" kern="1200" dirty="0">
                          <a:solidFill>
                            <a:schemeClr val="tx1"/>
                          </a:solidFill>
                          <a:effectLst/>
                          <a:latin typeface="+mn-lt"/>
                          <a:ea typeface="+mn-ea"/>
                          <a:cs typeface="+mn-cs"/>
                        </a:rPr>
                        <a:t>.</a:t>
                      </a:r>
                    </a:p>
                    <a:p>
                      <a:pPr algn="just"/>
                      <a:r>
                        <a:rPr lang="ru-RU" sz="900" kern="1200" dirty="0" smtClean="0">
                          <a:solidFill>
                            <a:schemeClr val="tx1"/>
                          </a:solidFill>
                          <a:effectLst/>
                          <a:latin typeface="+mn-lt"/>
                          <a:ea typeface="+mn-ea"/>
                          <a:cs typeface="+mn-cs"/>
                        </a:rPr>
                        <a:t>    2024-йилда </a:t>
                      </a:r>
                      <a:r>
                        <a:rPr lang="ru-RU" sz="900" kern="1200" dirty="0" err="1">
                          <a:solidFill>
                            <a:schemeClr val="tx1"/>
                          </a:solidFill>
                          <a:effectLst/>
                          <a:latin typeface="+mn-lt"/>
                          <a:ea typeface="+mn-ea"/>
                          <a:cs typeface="+mn-cs"/>
                        </a:rPr>
                        <a:t>санъаткор</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Қатар</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давлатининг</a:t>
                      </a:r>
                      <a:r>
                        <a:rPr lang="ru-RU" sz="900" kern="1200" dirty="0">
                          <a:solidFill>
                            <a:schemeClr val="tx1"/>
                          </a:solidFill>
                          <a:effectLst/>
                          <a:latin typeface="+mn-lt"/>
                          <a:ea typeface="+mn-ea"/>
                          <a:cs typeface="+mn-cs"/>
                        </a:rPr>
                        <a:t> Доха </a:t>
                      </a:r>
                      <a:r>
                        <a:rPr lang="ru-RU" sz="900" kern="1200" dirty="0" err="1">
                          <a:solidFill>
                            <a:schemeClr val="tx1"/>
                          </a:solidFill>
                          <a:effectLst/>
                          <a:latin typeface="+mn-lt"/>
                          <a:ea typeface="+mn-ea"/>
                          <a:cs typeface="+mn-cs"/>
                        </a:rPr>
                        <a:t>шаҳрида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бўлиб</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ўтган</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Ўзбекистон</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маданияти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ҳунармандчилиги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ва</a:t>
                      </a:r>
                      <a:r>
                        <a:rPr lang="ru-RU" sz="900" kern="1200" dirty="0">
                          <a:solidFill>
                            <a:schemeClr val="tx1"/>
                          </a:solidFill>
                          <a:effectLst/>
                          <a:latin typeface="+mn-lt"/>
                          <a:ea typeface="+mn-ea"/>
                          <a:cs typeface="+mn-cs"/>
                        </a:rPr>
                        <a:t> туризм </a:t>
                      </a:r>
                      <a:r>
                        <a:rPr lang="ru-RU" sz="900" kern="1200" dirty="0" err="1">
                          <a:solidFill>
                            <a:schemeClr val="tx1"/>
                          </a:solidFill>
                          <a:effectLst/>
                          <a:latin typeface="+mn-lt"/>
                          <a:ea typeface="+mn-ea"/>
                          <a:cs typeface="+mn-cs"/>
                        </a:rPr>
                        <a:t>ҳафталиги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тадбирларида</a:t>
                      </a:r>
                      <a:r>
                        <a:rPr lang="ru-RU" sz="900" kern="1200" dirty="0">
                          <a:solidFill>
                            <a:schemeClr val="tx1"/>
                          </a:solidFill>
                          <a:effectLst/>
                          <a:latin typeface="+mn-lt"/>
                          <a:ea typeface="+mn-ea"/>
                          <a:cs typeface="+mn-cs"/>
                        </a:rPr>
                        <a:t> шу </a:t>
                      </a:r>
                      <a:r>
                        <a:rPr lang="ru-RU" sz="900" kern="1200" dirty="0" err="1">
                          <a:solidFill>
                            <a:schemeClr val="tx1"/>
                          </a:solidFill>
                          <a:effectLst/>
                          <a:latin typeface="+mn-lt"/>
                          <a:ea typeface="+mn-ea"/>
                          <a:cs typeface="+mn-cs"/>
                        </a:rPr>
                        <a:t>йили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яна</a:t>
                      </a:r>
                      <a:r>
                        <a:rPr lang="ru-RU" sz="900" kern="1200" dirty="0">
                          <a:solidFill>
                            <a:schemeClr val="tx1"/>
                          </a:solidFill>
                          <a:effectLst/>
                          <a:latin typeface="+mn-lt"/>
                          <a:ea typeface="+mn-ea"/>
                          <a:cs typeface="+mn-cs"/>
                        </a:rPr>
                        <a:t> Белорус </a:t>
                      </a:r>
                      <a:r>
                        <a:rPr lang="ru-RU" sz="900" kern="1200" dirty="0" err="1">
                          <a:solidFill>
                            <a:schemeClr val="tx1"/>
                          </a:solidFill>
                          <a:effectLst/>
                          <a:latin typeface="+mn-lt"/>
                          <a:ea typeface="+mn-ea"/>
                          <a:cs typeface="+mn-cs"/>
                        </a:rPr>
                        <a:t>Республикасининг</a:t>
                      </a:r>
                      <a:r>
                        <a:rPr lang="ru-RU" sz="900" kern="1200" dirty="0">
                          <a:solidFill>
                            <a:schemeClr val="tx1"/>
                          </a:solidFill>
                          <a:effectLst/>
                          <a:latin typeface="+mn-lt"/>
                          <a:ea typeface="+mn-ea"/>
                          <a:cs typeface="+mn-cs"/>
                        </a:rPr>
                        <a:t> Гродно </a:t>
                      </a:r>
                      <a:r>
                        <a:rPr lang="ru-RU" sz="900" kern="1200" dirty="0" err="1">
                          <a:solidFill>
                            <a:schemeClr val="tx1"/>
                          </a:solidFill>
                          <a:effectLst/>
                          <a:latin typeface="+mn-lt"/>
                          <a:ea typeface="+mn-ea"/>
                          <a:cs typeface="+mn-cs"/>
                        </a:rPr>
                        <a:t>шаҳрида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бўлиб</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ўтган</a:t>
                      </a:r>
                      <a:r>
                        <a:rPr lang="ru-RU" sz="900" kern="1200" dirty="0">
                          <a:solidFill>
                            <a:schemeClr val="tx1"/>
                          </a:solidFill>
                          <a:effectLst/>
                          <a:latin typeface="+mn-lt"/>
                          <a:ea typeface="+mn-ea"/>
                          <a:cs typeface="+mn-cs"/>
                        </a:rPr>
                        <a:t> </a:t>
                      </a:r>
                      <a:r>
                        <a:rPr lang="uz-Latn-UZ" sz="900" kern="1200" dirty="0">
                          <a:solidFill>
                            <a:schemeClr val="tx1"/>
                          </a:solidFill>
                          <a:effectLst/>
                          <a:latin typeface="+mn-lt"/>
                          <a:ea typeface="+mn-ea"/>
                          <a:cs typeface="+mn-cs"/>
                        </a:rPr>
                        <a:t>IX </a:t>
                      </a:r>
                      <a:r>
                        <a:rPr lang="ru-RU" sz="900" kern="1200" dirty="0" err="1">
                          <a:solidFill>
                            <a:schemeClr val="tx1"/>
                          </a:solidFill>
                          <a:effectLst/>
                          <a:latin typeface="+mn-lt"/>
                          <a:ea typeface="+mn-ea"/>
                          <a:cs typeface="+mn-cs"/>
                        </a:rPr>
                        <a:t>Халқаро</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қўғирчоқ</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театрлари</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фестивалида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иштирок</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этган</a:t>
                      </a:r>
                      <a:r>
                        <a:rPr lang="ru-RU" sz="900" kern="1200" dirty="0">
                          <a:solidFill>
                            <a:schemeClr val="tx1"/>
                          </a:solidFill>
                          <a:effectLst/>
                          <a:latin typeface="+mn-lt"/>
                          <a:ea typeface="+mn-ea"/>
                          <a:cs typeface="+mn-cs"/>
                        </a:rPr>
                        <a:t>.</a:t>
                      </a:r>
                      <a:endParaRPr lang="uz-Latn-UZ" sz="9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63102">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36514">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a:effectLst/>
                          <a:latin typeface="+mn-lt"/>
                          <a:ea typeface="Calibri" panose="020F0502020204030204" pitchFamily="34" charset="0"/>
                          <a:cs typeface="Times New Roman" panose="02020603050405020304" pitchFamily="18" charset="0"/>
                        </a:rPr>
                        <a:t>Республикамизда</a:t>
                      </a:r>
                      <a:r>
                        <a:rPr lang="uz-Cyrl-UZ" sz="900" b="0" baseline="0" dirty="0">
                          <a:effectLst/>
                          <a:latin typeface="+mn-lt"/>
                          <a:ea typeface="Calibri" panose="020F0502020204030204" pitchFamily="34" charset="0"/>
                          <a:cs typeface="Times New Roman" panose="02020603050405020304" pitchFamily="18" charset="0"/>
                        </a:rPr>
                        <a:t> ўткалиб келаниган қўғирчоқ театр фестевалларда, Давлат қўғирчоқ театр фестевалларда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1" name="Рисунок 10">
            <a:extLst>
              <a:ext uri="{FF2B5EF4-FFF2-40B4-BE49-F238E27FC236}">
                <a16:creationId xmlns:a16="http://schemas.microsoft.com/office/drawing/2014/main" id="{7111EEB3-EFE1-4A14-A4FF-395DD11688A3}"/>
              </a:ext>
            </a:extLst>
          </p:cNvPr>
          <p:cNvPicPr/>
          <p:nvPr/>
        </p:nvPicPr>
        <p:blipFill>
          <a:blip r:embed="rId2">
            <a:extLst>
              <a:ext uri="{28A0092B-C50C-407E-A947-70E740481C1C}">
                <a14:useLocalDpi xmlns:a14="http://schemas.microsoft.com/office/drawing/2010/main" val="0"/>
              </a:ext>
            </a:extLst>
          </a:blip>
          <a:srcRect/>
          <a:stretch>
            <a:fillRect/>
          </a:stretch>
        </p:blipFill>
        <p:spPr bwMode="auto">
          <a:xfrm>
            <a:off x="199506" y="1118208"/>
            <a:ext cx="966946" cy="1092977"/>
          </a:xfrm>
          <a:prstGeom prst="rect">
            <a:avLst/>
          </a:prstGeom>
          <a:noFill/>
        </p:spPr>
      </p:pic>
    </p:spTree>
    <p:extLst>
      <p:ext uri="{BB962C8B-B14F-4D97-AF65-F5344CB8AC3E}">
        <p14:creationId xmlns:p14="http://schemas.microsoft.com/office/powerpoint/2010/main" val="3881046251"/>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52395018"/>
              </p:ext>
            </p:extLst>
          </p:nvPr>
        </p:nvGraphicFramePr>
        <p:xfrm>
          <a:off x="144489" y="865702"/>
          <a:ext cx="3427547" cy="5992296"/>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965">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0724">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МИРЗАГИЯЗОВ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96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Алишер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96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Самикович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967">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96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09.09.1960</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96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Тошкент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514">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636175">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1 нафар ўғил, 1 нафар қиз  </a:t>
                      </a:r>
                    </a:p>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қизи  уй бекаси, </a:t>
                      </a:r>
                    </a:p>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 ўғил Ўзбек туризм </a:t>
                      </a:r>
                      <a:r>
                        <a:rPr lang="en-US" sz="900" b="0" kern="1200" noProof="0" dirty="0">
                          <a:solidFill>
                            <a:schemeClr val="tx1"/>
                          </a:solidFill>
                          <a:latin typeface="+mn-lt"/>
                          <a:ea typeface="+mn-ea"/>
                          <a:cs typeface="+mn-cs"/>
                        </a:rPr>
                        <a:t>ITE </a:t>
                      </a:r>
                      <a:r>
                        <a:rPr lang="uz-Cyrl-UZ" sz="900" b="0" kern="1200" noProof="0" dirty="0">
                          <a:solidFill>
                            <a:schemeClr val="tx1"/>
                          </a:solidFill>
                          <a:latin typeface="+mn-lt"/>
                          <a:ea typeface="+mn-ea"/>
                          <a:cs typeface="+mn-cs"/>
                        </a:rPr>
                        <a:t>проект, менежери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514">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52130">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МИРЗАГИЯЗОВ Самик Юсупович </a:t>
                      </a:r>
                    </a:p>
                    <a:p>
                      <a:pPr algn="l">
                        <a:lnSpc>
                          <a:spcPct val="85000"/>
                        </a:lnSpc>
                      </a:pPr>
                      <a:r>
                        <a:rPr lang="uz-Cyrl-UZ" sz="900" b="0" kern="1200" noProof="0" dirty="0">
                          <a:solidFill>
                            <a:schemeClr val="tx1"/>
                          </a:solidFill>
                          <a:latin typeface="+mn-lt"/>
                          <a:ea typeface="+mn-ea"/>
                          <a:cs typeface="Arial" panose="020B0604020202020204" pitchFamily="34" charset="0"/>
                        </a:rPr>
                        <a:t>1923 йил, Тошкент вилояти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2005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(1-стационр </a:t>
                      </a:r>
                      <a:r>
                        <a:rPr lang="ru-RU" sz="900" b="0" kern="1200" noProof="0" dirty="0" err="1">
                          <a:solidFill>
                            <a:schemeClr val="tx1"/>
                          </a:solidFill>
                          <a:latin typeface="+mn-lt"/>
                          <a:ea typeface="+mn-ea"/>
                          <a:cs typeface="Arial" panose="020B0604020202020204" pitchFamily="34" charset="0"/>
                        </a:rPr>
                        <a:t>клиникада</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қоравул</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3066">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МИРЗАГИЯЗОВА Азизахон</a:t>
                      </a:r>
                    </a:p>
                    <a:p>
                      <a:pPr algn="l">
                        <a:lnSpc>
                          <a:spcPct val="85000"/>
                        </a:lnSpc>
                      </a:pPr>
                      <a:r>
                        <a:rPr lang="uz-Cyrl-UZ" sz="900" b="0" kern="1200" noProof="0" dirty="0">
                          <a:solidFill>
                            <a:schemeClr val="tx1"/>
                          </a:solidFill>
                          <a:latin typeface="+mn-lt"/>
                          <a:ea typeface="+mn-ea"/>
                          <a:cs typeface="Arial" panose="020B0604020202020204" pitchFamily="34" charset="0"/>
                        </a:rPr>
                        <a:t>1924 йил, Тошкент шахри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1994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(Консерва </a:t>
                      </a:r>
                      <a:r>
                        <a:rPr lang="ru-RU" sz="900" b="0" kern="1200" noProof="0" dirty="0" err="1">
                          <a:solidFill>
                            <a:schemeClr val="tx1"/>
                          </a:solidFill>
                          <a:latin typeface="+mn-lt"/>
                          <a:ea typeface="+mn-ea"/>
                          <a:cs typeface="Arial" panose="020B0604020202020204" pitchFamily="34" charset="0"/>
                        </a:rPr>
                        <a:t>заводида</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ишчи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52130">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МИРЗАГИЯЗОВА Гулнора   Матназаровна</a:t>
                      </a:r>
                    </a:p>
                    <a:p>
                      <a:pPr algn="l">
                        <a:lnSpc>
                          <a:spcPct val="85000"/>
                        </a:lnSpc>
                      </a:pPr>
                      <a:r>
                        <a:rPr lang="uz-Cyrl-UZ" sz="900" b="0" kern="1200" noProof="0" dirty="0">
                          <a:solidFill>
                            <a:schemeClr val="tx1"/>
                          </a:solidFill>
                          <a:latin typeface="+mn-lt"/>
                          <a:ea typeface="+mn-ea"/>
                          <a:cs typeface="Arial" panose="020B0604020202020204" pitchFamily="34" charset="0"/>
                        </a:rPr>
                        <a:t>1964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mn-cs"/>
                        </a:rPr>
                        <a:t>Ўзбек туризм туризм </a:t>
                      </a:r>
                      <a:r>
                        <a:rPr lang="en-US" sz="900" b="0" kern="1200" noProof="0" dirty="0">
                          <a:solidFill>
                            <a:schemeClr val="tx1"/>
                          </a:solidFill>
                          <a:latin typeface="+mn-lt"/>
                          <a:ea typeface="+mn-ea"/>
                          <a:cs typeface="+mn-cs"/>
                        </a:rPr>
                        <a:t>ITE </a:t>
                      </a:r>
                      <a:r>
                        <a:rPr lang="uz-Cyrl-UZ" sz="900" b="0" kern="1200" noProof="0" dirty="0">
                          <a:solidFill>
                            <a:schemeClr val="tx1"/>
                          </a:solidFill>
                          <a:latin typeface="+mn-lt"/>
                          <a:ea typeface="+mn-ea"/>
                          <a:cs typeface="+mn-cs"/>
                        </a:rPr>
                        <a:t>проект,референти</a:t>
                      </a:r>
                    </a:p>
                    <a:p>
                      <a:pPr algn="l">
                        <a:lnSpc>
                          <a:spcPct val="85000"/>
                        </a:lnSpc>
                      </a:pPr>
                      <a:r>
                        <a:rPr lang="uz-Cyrl-UZ" sz="900" b="0" kern="1200" noProof="0" dirty="0">
                          <a:solidFill>
                            <a:schemeClr val="tx1"/>
                          </a:solidFill>
                          <a:latin typeface="+mn-lt"/>
                          <a:ea typeface="+mn-ea"/>
                          <a:cs typeface="+mn-cs"/>
                        </a:rPr>
                        <a:t>(2006 йил никоҳ бекор килинган)</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8168">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3177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1982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театр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рассомлик</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санъати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33780">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қўғирчоқ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4002">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4002">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69517">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228606086"/>
              </p:ext>
            </p:extLst>
          </p:nvPr>
        </p:nvGraphicFramePr>
        <p:xfrm>
          <a:off x="3572036" y="865694"/>
          <a:ext cx="3275331" cy="5992305"/>
        </p:xfrm>
        <a:graphic>
          <a:graphicData uri="http://schemas.openxmlformats.org/drawingml/2006/table">
            <a:tbl>
              <a:tblPr firstRow="1" bandRow="1">
                <a:tableStyleId>{C083E6E3-FA7D-4D7B-A595-EF9225AFEA82}</a:tableStyleId>
              </a:tblPr>
              <a:tblGrid>
                <a:gridCol w="1545606">
                  <a:extLst>
                    <a:ext uri="{9D8B030D-6E8A-4147-A177-3AD203B41FA5}">
                      <a16:colId xmlns:a16="http://schemas.microsoft.com/office/drawing/2014/main" val="2715609854"/>
                    </a:ext>
                  </a:extLst>
                </a:gridCol>
                <a:gridCol w="1729725">
                  <a:extLst>
                    <a:ext uri="{9D8B030D-6E8A-4147-A177-3AD203B41FA5}">
                      <a16:colId xmlns:a16="http://schemas.microsoft.com/office/drawing/2014/main" val="546443978"/>
                    </a:ext>
                  </a:extLst>
                </a:gridCol>
              </a:tblGrid>
              <a:tr h="259222">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27559">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2018 йилдан буён  Ўзбек Миллий қўғирчоқ театри</a:t>
                      </a:r>
                      <a:r>
                        <a:rPr lang="uz-Cyrl-UZ" sz="900" b="1" kern="1200" dirty="0">
                          <a:solidFill>
                            <a:schemeClr val="tx1"/>
                          </a:solidFill>
                          <a:effectLst/>
                          <a:latin typeface="+mn-lt"/>
                          <a:ea typeface="+mn-ea"/>
                          <a:cs typeface="+mn-cs"/>
                        </a:rPr>
                        <a:t>, </a:t>
                      </a:r>
                    </a:p>
                    <a:p>
                      <a:pPr marL="0" indent="0" algn="l">
                        <a:lnSpc>
                          <a:spcPct val="85000"/>
                        </a:lnSpc>
                      </a:pPr>
                      <a:r>
                        <a:rPr lang="uz-Cyrl-UZ" sz="900" b="0" kern="1200" noProof="0" dirty="0">
                          <a:solidFill>
                            <a:schemeClr val="tx1"/>
                          </a:solidFill>
                          <a:effectLst/>
                          <a:latin typeface="+mn-lt"/>
                          <a:ea typeface="+mn-ea"/>
                          <a:cs typeface="+mn-cs"/>
                        </a:rPr>
                        <a:t>Труппа мудири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19302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4791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34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4791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9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251457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1982-1983 йй. - Бухоро давлат қўғирчоқ театри актёри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1983-1985 йй. - Ҳарбий хизматда</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1985-1998 йй. - Республика қўғирчоқ театри актёри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1998-2000 йй. - Республика актёрлар уйи актёри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2000-2004 йй. - Республика Сатира театри 2-даражали артисти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2004-2009 йй. - Республика қўғирчоқ театри актёри </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2012-2013 йй. - “Дийдор” театр студияси олий тоифали ўқитувчиси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2018 й. -  ҳ.в.  - Ўзбек Миллий қўғирчоқ театри труппа мудири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583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5832">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5832">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147916">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53612">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113076">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2026 йил Санъат ва маданият фидокори мукофоти </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66718209"/>
              </p:ext>
            </p:extLst>
          </p:nvPr>
        </p:nvGraphicFramePr>
        <p:xfrm>
          <a:off x="6847367" y="869291"/>
          <a:ext cx="2919737" cy="5996030"/>
        </p:xfrm>
        <a:graphic>
          <a:graphicData uri="http://schemas.openxmlformats.org/drawingml/2006/table">
            <a:tbl>
              <a:tblPr firstRow="1" bandRow="1">
                <a:tableStyleId>{C083E6E3-FA7D-4D7B-A595-EF9225AFEA82}</a:tableStyleId>
              </a:tblPr>
              <a:tblGrid>
                <a:gridCol w="2919737">
                  <a:extLst>
                    <a:ext uri="{9D8B030D-6E8A-4147-A177-3AD203B41FA5}">
                      <a16:colId xmlns:a16="http://schemas.microsoft.com/office/drawing/2014/main" val="2715609854"/>
                    </a:ext>
                  </a:extLst>
                </a:gridCol>
              </a:tblGrid>
              <a:tr h="229595">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3160">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82848">
                <a:tc>
                  <a:txBody>
                    <a:bodyPr/>
                    <a:lstStyle/>
                    <a:p>
                      <a:pPr algn="just"/>
                      <a:r>
                        <a:rPr lang="uz-Cyrl-UZ" sz="900" b="0" noProof="0" dirty="0" smtClean="0">
                          <a:solidFill>
                            <a:schemeClr val="tx1"/>
                          </a:solidFill>
                          <a:latin typeface="+mn-lt"/>
                        </a:rPr>
                        <a:t>    </a:t>
                      </a:r>
                      <a:r>
                        <a:rPr lang="uz-Cyrl-UZ" sz="900" b="0" kern="1200" dirty="0" smtClean="0">
                          <a:solidFill>
                            <a:schemeClr val="tx1"/>
                          </a:solidFill>
                          <a:effectLst/>
                          <a:latin typeface="+mn-lt"/>
                          <a:ea typeface="+mn-ea"/>
                          <a:cs typeface="+mn-cs"/>
                        </a:rPr>
                        <a:t>А</a:t>
                      </a:r>
                      <a:r>
                        <a:rPr lang="uz-Cyrl-UZ" sz="900" b="0" kern="1200" dirty="0">
                          <a:solidFill>
                            <a:schemeClr val="tx1"/>
                          </a:solidFill>
                          <a:effectLst/>
                          <a:latin typeface="+mn-lt"/>
                          <a:ea typeface="+mn-ea"/>
                          <a:cs typeface="+mn-cs"/>
                        </a:rPr>
                        <a:t>. Мирзагиязов Ўзбекистон давлат қўғирчоқ театрида 1985 йилдан 1998 йилгача, сўнгра 2004 йилдан то 2008 йилгача актёр сифатида фаолият юритган. Бу ижодкорнинг қўғирчоқ театрига бўлган иштиёқиюқори баҳоланган ва у саҳна устаси тоифасига муносиб деб топилган.</a:t>
                      </a:r>
                      <a:endParaRPr lang="uz-Latn-UZ" sz="900" b="0" kern="1200" dirty="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    Бу </a:t>
                      </a:r>
                      <a:r>
                        <a:rPr lang="uz-Cyrl-UZ" sz="900" b="0" kern="1200" dirty="0">
                          <a:solidFill>
                            <a:schemeClr val="tx1"/>
                          </a:solidFill>
                          <a:effectLst/>
                          <a:latin typeface="+mn-lt"/>
                          <a:ea typeface="+mn-ea"/>
                          <a:cs typeface="+mn-cs"/>
                        </a:rPr>
                        <a:t>ижодкорнинг “Бука”да Чол бобо, “Букри тойчоқ”да Бўри, “Оппоқ эртак”да Метереолог, “Рикки-Тикки-Тави”да Наг, “Бахт излаган Хасан”да Хасан, “Карвон сарой”да Али, “Оловуддиннинг сеҳрли чироғи” да Жафар, “Ассалом Наврўз”да Аскиячи, “Шоҳ Лайлак”да сеҳргар Кашнур, “Янги йил саргузаштлари”да Бўри, “Сеҳрли харфлар ороли”да Ўқитувчи, Келгинди, Дев, “Уч қувноқ дўмбоқча”да Бўри, “Чўп қўғирчоқ”да бош суварак ва Шер образлари ўзига хослиги, характерларнинг ранг – баранглиги, қўғирчоқ бошқариш маҳоритини усталик билан ижро этиши мақтовга лойиқ.</a:t>
                      </a:r>
                      <a:endParaRPr lang="uz-Latn-UZ" sz="900" b="0" kern="1200" dirty="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    Оҳирги </a:t>
                      </a:r>
                      <a:r>
                        <a:rPr lang="uz-Cyrl-UZ" sz="900" b="0" kern="1200" dirty="0">
                          <a:solidFill>
                            <a:schemeClr val="tx1"/>
                          </a:solidFill>
                          <a:effectLst/>
                          <a:latin typeface="+mn-lt"/>
                          <a:ea typeface="+mn-ea"/>
                          <a:cs typeface="+mn-cs"/>
                        </a:rPr>
                        <a:t>йилларда бу ижодкор театр репертуаридан ўрин олган А.Навоийнинг “Сабъаи сайёр” достони асосида саҳналаштирилган “Баҳром ва Дилором” спектаклидаги бош роль Монийни, У.Шекспирнинг “Ҳамлет” трагедиясида арвоҳ ва руҳонийни, “Лайлакча ва қўриқчи”да эса лайлаклар тўдаси бошлиғи ролиларини маҳорат билан ижро этиб келмоқда.</a:t>
                      </a:r>
                      <a:endParaRPr lang="uz-Latn-UZ" sz="900" b="0" kern="1200" dirty="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    А.Мирзагиязов </a:t>
                      </a:r>
                      <a:r>
                        <a:rPr lang="uz-Cyrl-UZ" sz="900" b="0" kern="1200" dirty="0">
                          <a:solidFill>
                            <a:schemeClr val="tx1"/>
                          </a:solidFill>
                          <a:effectLst/>
                          <a:latin typeface="+mn-lt"/>
                          <a:ea typeface="+mn-ea"/>
                          <a:cs typeface="+mn-cs"/>
                        </a:rPr>
                        <a:t>ўзбек қўғирчоқ санъатини нафақат юртимизда балки чет элларда хам кенг тарғибот қилиб келди. Жумладан, Хиндистон, Болгария, АҚШ, Туркия, Миср, МДХ давлатларининг қўғирчоқ фестивалларида қатнашиб фаҳрий ёрлиқлар билан мукофотланган. Бугунги кунда А. Мирзагиязов труппа бошлиғи лавозимида ўз ижодий фаолиятини давом эттирмоқда. </a:t>
                      </a:r>
                      <a:endParaRPr lang="uz-Latn-UZ"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62963">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8014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келинадиган тадбирлар ва давлат тадбирлари, шунингдек Давлат қўғирчоқ театр фестевалларда иштирок этиб келади.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a:extLst>
              <a:ext uri="{FF2B5EF4-FFF2-40B4-BE49-F238E27FC236}">
                <a16:creationId xmlns:a16="http://schemas.microsoft.com/office/drawing/2014/main" id="{4C5A965B-6AB7-472C-B16C-B9B34F7E8412}"/>
              </a:ext>
            </a:extLst>
          </p:cNvPr>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4444" y="1122602"/>
            <a:ext cx="980902" cy="1105209"/>
          </a:xfrm>
          <a:prstGeom prst="rect">
            <a:avLst/>
          </a:prstGeom>
          <a:noFill/>
          <a:ln>
            <a:noFill/>
          </a:ln>
        </p:spPr>
      </p:pic>
    </p:spTree>
    <p:extLst>
      <p:ext uri="{BB962C8B-B14F-4D97-AF65-F5344CB8AC3E}">
        <p14:creationId xmlns:p14="http://schemas.microsoft.com/office/powerpoint/2010/main" val="2723372532"/>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670364741"/>
              </p:ext>
            </p:extLst>
          </p:nvPr>
        </p:nvGraphicFramePr>
        <p:xfrm>
          <a:off x="144489" y="865698"/>
          <a:ext cx="3427547" cy="5901284"/>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7197">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1943">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ЮСУПОВ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194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Шомурат</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194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ХХХ</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1943">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194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03.01.1956</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194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Хоразм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458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21424">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қиз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чет эл фукароси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458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33673">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 КУРБАНОВ Юсуф </a:t>
                      </a:r>
                    </a:p>
                    <a:p>
                      <a:pPr algn="l">
                        <a:lnSpc>
                          <a:spcPct val="85000"/>
                        </a:lnSpc>
                      </a:pPr>
                      <a:r>
                        <a:rPr lang="uz-Cyrl-UZ" sz="900" b="0" kern="1200" noProof="0" dirty="0">
                          <a:solidFill>
                            <a:schemeClr val="tx1"/>
                          </a:solidFill>
                          <a:latin typeface="+mn-lt"/>
                          <a:ea typeface="+mn-ea"/>
                          <a:cs typeface="Arial" panose="020B0604020202020204" pitchFamily="34" charset="0"/>
                        </a:rPr>
                        <a:t>1901 йил, Хоразм вилояти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1990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Гулистон</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савхози</a:t>
                      </a:r>
                      <a:r>
                        <a:rPr lang="ru-RU" sz="900" b="0" kern="1200" noProof="0" dirty="0">
                          <a:solidFill>
                            <a:schemeClr val="tx1"/>
                          </a:solidFill>
                          <a:latin typeface="+mn-lt"/>
                          <a:ea typeface="+mn-ea"/>
                          <a:cs typeface="Arial" panose="020B0604020202020204" pitchFamily="34" charset="0"/>
                        </a:rPr>
                        <a:t> , </a:t>
                      </a:r>
                      <a:r>
                        <a:rPr lang="ru-RU" sz="900" b="0" kern="1200" noProof="0" dirty="0" err="1">
                          <a:solidFill>
                            <a:schemeClr val="tx1"/>
                          </a:solidFill>
                          <a:latin typeface="+mn-lt"/>
                          <a:ea typeface="+mn-ea"/>
                          <a:cs typeface="Arial" panose="020B0604020202020204" pitchFamily="34" charset="0"/>
                        </a:rPr>
                        <a:t>ишчиси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8802">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КУРБАНОВА  Рахима </a:t>
                      </a:r>
                    </a:p>
                    <a:p>
                      <a:pPr algn="l">
                        <a:lnSpc>
                          <a:spcPct val="85000"/>
                        </a:lnSpc>
                      </a:pPr>
                      <a:r>
                        <a:rPr lang="uz-Cyrl-UZ" sz="900" b="0" kern="1200" noProof="0" dirty="0">
                          <a:solidFill>
                            <a:schemeClr val="tx1"/>
                          </a:solidFill>
                          <a:latin typeface="+mn-lt"/>
                          <a:ea typeface="+mn-ea"/>
                          <a:cs typeface="Arial" panose="020B0604020202020204" pitchFamily="34" charset="0"/>
                        </a:rPr>
                        <a:t>1921 йил, Хоразм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1994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(Уй </a:t>
                      </a:r>
                      <a:r>
                        <a:rPr lang="ru-RU" sz="900" b="0" kern="1200" noProof="0" dirty="0" err="1">
                          <a:solidFill>
                            <a:schemeClr val="tx1"/>
                          </a:solidFill>
                          <a:latin typeface="+mn-lt"/>
                          <a:ea typeface="+mn-ea"/>
                          <a:cs typeface="Arial" panose="020B0604020202020204" pitchFamily="34" charset="0"/>
                        </a:rPr>
                        <a:t>бекаси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8802">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ЮСУПОВА Венера  Исметовна</a:t>
                      </a:r>
                    </a:p>
                    <a:p>
                      <a:pPr algn="l">
                        <a:lnSpc>
                          <a:spcPct val="85000"/>
                        </a:lnSpc>
                      </a:pPr>
                      <a:r>
                        <a:rPr lang="uz-Cyrl-UZ" sz="900" b="0" kern="1200" noProof="0" dirty="0">
                          <a:solidFill>
                            <a:schemeClr val="tx1"/>
                          </a:solidFill>
                          <a:latin typeface="+mn-lt"/>
                          <a:ea typeface="+mn-ea"/>
                          <a:cs typeface="Arial" panose="020B0604020202020204" pitchFamily="34" charset="0"/>
                        </a:rPr>
                        <a:t>1956 йил, Фарғона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mn-cs"/>
                        </a:rPr>
                        <a:t>Ўзбекистон давлат саъат ва маданият институти </a:t>
                      </a:r>
                      <a:r>
                        <a:rPr lang="uz-Cyrl-UZ" sz="800" b="0" kern="1200" noProof="0">
                          <a:solidFill>
                            <a:schemeClr val="tx1"/>
                          </a:solidFill>
                          <a:latin typeface="+mn-lt"/>
                          <a:ea typeface="+mn-ea"/>
                          <a:cs typeface="+mn-cs"/>
                        </a:rPr>
                        <a:t>ўқитувчиси, Доцент</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0926">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34022">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1982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маданият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8731">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қўғирчоқ театри режиссёрлиги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8162">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8162">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40565">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478577964"/>
              </p:ext>
            </p:extLst>
          </p:nvPr>
        </p:nvGraphicFramePr>
        <p:xfrm>
          <a:off x="3572036" y="865007"/>
          <a:ext cx="3275331" cy="5901287"/>
        </p:xfrm>
        <a:graphic>
          <a:graphicData uri="http://schemas.openxmlformats.org/drawingml/2006/table">
            <a:tbl>
              <a:tblPr firstRow="1" bandRow="1">
                <a:tableStyleId>{C083E6E3-FA7D-4D7B-A595-EF9225AFEA82}</a:tableStyleId>
              </a:tblPr>
              <a:tblGrid>
                <a:gridCol w="1545606">
                  <a:extLst>
                    <a:ext uri="{9D8B030D-6E8A-4147-A177-3AD203B41FA5}">
                      <a16:colId xmlns:a16="http://schemas.microsoft.com/office/drawing/2014/main" val="2715609854"/>
                    </a:ext>
                  </a:extLst>
                </a:gridCol>
                <a:gridCol w="1729725">
                  <a:extLst>
                    <a:ext uri="{9D8B030D-6E8A-4147-A177-3AD203B41FA5}">
                      <a16:colId xmlns:a16="http://schemas.microsoft.com/office/drawing/2014/main" val="546443978"/>
                    </a:ext>
                  </a:extLst>
                </a:gridCol>
              </a:tblGrid>
              <a:tr h="257738">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24980">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2020 йилдан буён  Ўзбек Миллий қўғирчоқ театри</a:t>
                      </a:r>
                      <a:r>
                        <a:rPr lang="uz-Cyrl-UZ" sz="900" b="1" kern="1200" dirty="0">
                          <a:solidFill>
                            <a:schemeClr val="tx1"/>
                          </a:solidFill>
                          <a:effectLst/>
                          <a:latin typeface="+mn-lt"/>
                          <a:ea typeface="+mn-ea"/>
                          <a:cs typeface="+mn-cs"/>
                        </a:rPr>
                        <a:t>, </a:t>
                      </a:r>
                    </a:p>
                    <a:p>
                      <a:pPr marL="0" indent="0" algn="l">
                        <a:lnSpc>
                          <a:spcPct val="85000"/>
                        </a:lnSpc>
                      </a:pPr>
                      <a:r>
                        <a:rPr lang="uz-Cyrl-UZ" sz="900" b="0" kern="1200" dirty="0">
                          <a:solidFill>
                            <a:schemeClr val="tx1"/>
                          </a:solidFill>
                          <a:effectLst/>
                          <a:latin typeface="+mn-lt"/>
                          <a:ea typeface="+mn-ea"/>
                          <a:cs typeface="+mn-cs"/>
                        </a:rPr>
                        <a:t>Бош режиссёри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191299">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4707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31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4707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6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264724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1993-1998 йй. - Республика қўғирчоқ театри бадиий раҳбари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1998-2000 йй. - “Ёғду” қўғирчоқ театри бадиий раҳбари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2000-2002 йй. - Республика қўғирчоқ театри бош режиссёри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2006-2012 йй. - Ўзбекистон давлат санъат институти кафедра мудири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2018-2019 йй. - Ўзбекистон давлат санъат институти “қўғирчоқ театри санъати” кафедраси катта ўқитувчиси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2019-2020 йй. - Бухоро вилоят қўғирчоқ театри бош режиссёри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2020 й. - ҳ.в.  - Ўзбек Миллий қўғирчоқ театри бош режиссёри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4138">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4138">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4138">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147070">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52733">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903669">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1996 й. Ўзбекистон Республикасида хизмат кўрстаган артист</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600547120"/>
              </p:ext>
            </p:extLst>
          </p:nvPr>
        </p:nvGraphicFramePr>
        <p:xfrm>
          <a:off x="6847367" y="869291"/>
          <a:ext cx="2919737" cy="5904170"/>
        </p:xfrm>
        <a:graphic>
          <a:graphicData uri="http://schemas.openxmlformats.org/drawingml/2006/table">
            <a:tbl>
              <a:tblPr firstRow="1" bandRow="1">
                <a:tableStyleId>{C083E6E3-FA7D-4D7B-A595-EF9225AFEA82}</a:tableStyleId>
              </a:tblPr>
              <a:tblGrid>
                <a:gridCol w="2919737">
                  <a:extLst>
                    <a:ext uri="{9D8B030D-6E8A-4147-A177-3AD203B41FA5}">
                      <a16:colId xmlns:a16="http://schemas.microsoft.com/office/drawing/2014/main" val="2715609854"/>
                    </a:ext>
                  </a:extLst>
                </a:gridCol>
              </a:tblGrid>
              <a:tr h="226563">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8761">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729932">
                <a:tc>
                  <a:txBody>
                    <a:bodyPr/>
                    <a:lstStyle/>
                    <a:p>
                      <a:pPr algn="just"/>
                      <a:r>
                        <a:rPr lang="uz-Cyrl-UZ" sz="900" b="0" noProof="0" dirty="0" smtClean="0">
                          <a:solidFill>
                            <a:schemeClr val="tx1"/>
                          </a:solidFill>
                          <a:latin typeface="+mn-lt"/>
                        </a:rPr>
                        <a:t>    1982</a:t>
                      </a:r>
                      <a:r>
                        <a:rPr lang="uz-Cyrl-UZ" sz="900" b="0" kern="1200" dirty="0" smtClean="0">
                          <a:solidFill>
                            <a:schemeClr val="tx1"/>
                          </a:solidFill>
                          <a:effectLst/>
                          <a:latin typeface="+mn-lt"/>
                          <a:ea typeface="+mn-ea"/>
                          <a:cs typeface="+mn-cs"/>
                        </a:rPr>
                        <a:t> </a:t>
                      </a:r>
                      <a:r>
                        <a:rPr lang="uz-Cyrl-UZ" sz="900" b="0" kern="1200" dirty="0">
                          <a:solidFill>
                            <a:schemeClr val="tx1"/>
                          </a:solidFill>
                          <a:effectLst/>
                          <a:latin typeface="+mn-lt"/>
                          <a:ea typeface="+mn-ea"/>
                          <a:cs typeface="+mn-cs"/>
                        </a:rPr>
                        <a:t>йили у Бухоро вилоятида қўғирчоқ театрини ташкил қилишда жонбозлик кўрсатиб, бу ерда бош режиссёр сифатида ўз фаолиятини бошлаган. Бу театр саҳнасида у “Бахт излаган Хасан”, “Ўткир шоҳли буқача”,     </a:t>
                      </a:r>
                    </a:p>
                    <a:p>
                      <a:pPr algn="just"/>
                      <a:r>
                        <a:rPr lang="uz-Cyrl-UZ" sz="900" b="0" kern="1200" dirty="0">
                          <a:solidFill>
                            <a:schemeClr val="tx1"/>
                          </a:solidFill>
                          <a:effectLst/>
                          <a:latin typeface="+mn-lt"/>
                          <a:ea typeface="+mn-ea"/>
                          <a:cs typeface="+mn-cs"/>
                        </a:rPr>
                        <a:t>“Хўжа Насриддин“, “Оқ қушдайин қирғича”, “Ўн икки ой”, “Қуёш нурчаси” яна 30 дан ортиқ қўғирчоқ спектаклларини саҳналаштириб театр мутахассислари ва томошабишлар эътиборини, меҳрини қозонди.</a:t>
                      </a:r>
                      <a:endParaRPr lang="uz-Latn-UZ" sz="900" b="0" kern="1200" dirty="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    Кенг </a:t>
                      </a:r>
                      <a:r>
                        <a:rPr lang="uz-Cyrl-UZ" sz="900" b="0" kern="1200" dirty="0">
                          <a:solidFill>
                            <a:schemeClr val="tx1"/>
                          </a:solidFill>
                          <a:effectLst/>
                          <a:latin typeface="+mn-lt"/>
                          <a:ea typeface="+mn-ea"/>
                          <a:cs typeface="+mn-cs"/>
                        </a:rPr>
                        <a:t>дунёқараши, ишга ижодий ёндашуви ва бутун ижодий жамоага ўз ғояларини сингдира оладиган режиссёр Ш.Юсупов ўша кезларда таниқли саҳна расссоми Ўзбекистон Республикаси санъат арбоби В.Акудин билан ҳамкорликда бу театрда “Оловуддиннинг сеҳрли чироғи”, “Нўхат бола”, “Ур тўқмоқ”, “Қор маликаси” ва яна кўплаб спектаклларни севимли болажонларимизга тақдим этганлар. Улар саҳналаштирган “Чодир жамол” спектакли эса А.Қ.Ш да ўтказилган “Буюк ипак йўли” Халқаро фестивалида, Туркия, Покистон, Ҳиндистонда бўлиб ўтган нуфузли фестивалларда намойиш этилган. </a:t>
                      </a:r>
                      <a:endParaRPr lang="uz-Latn-UZ" sz="900" b="0" kern="1200" dirty="0">
                        <a:solidFill>
                          <a:schemeClr val="tx1"/>
                        </a:solidFill>
                        <a:effectLst/>
                        <a:latin typeface="+mn-lt"/>
                        <a:ea typeface="+mn-ea"/>
                        <a:cs typeface="+mn-cs"/>
                      </a:endParaRPr>
                    </a:p>
                    <a:p>
                      <a:pPr algn="just"/>
                      <a:r>
                        <a:rPr lang="uz-Cyrl-UZ" sz="900" b="0" kern="1200" dirty="0">
                          <a:solidFill>
                            <a:schemeClr val="tx1"/>
                          </a:solidFill>
                          <a:effectLst/>
                          <a:latin typeface="+mn-lt"/>
                          <a:ea typeface="+mn-ea"/>
                          <a:cs typeface="+mn-cs"/>
                        </a:rPr>
                        <a:t>тарихий мавзуларда саҳналаштирган “Широқ афсонаси”, “Жалолиддин Мангуберди”, “Тоҳир ва Зуҳра”, “Юрт тумори Тўмарис” спектакллари ўз салобати ҳамда қадр - қиммати билан  бугунги томошабин қалбида ўз аждодлари билан фаҳрланиш туйғусини уйғотади. </a:t>
                      </a:r>
                      <a:endParaRPr lang="uz-Latn-UZ" sz="900" b="0" kern="1200" dirty="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   Бу </a:t>
                      </a:r>
                      <a:r>
                        <a:rPr lang="uz-Cyrl-UZ" sz="900" b="0" kern="1200" dirty="0">
                          <a:solidFill>
                            <a:schemeClr val="tx1"/>
                          </a:solidFill>
                          <a:effectLst/>
                          <a:latin typeface="+mn-lt"/>
                          <a:ea typeface="+mn-ea"/>
                          <a:cs typeface="+mn-cs"/>
                        </a:rPr>
                        <a:t>ижодкорга театр санъатининг энг етук намоёндалари “Қўғирчоқ театрининг шоҳ режиссёри”, деб аташади.</a:t>
                      </a:r>
                      <a:endParaRPr lang="uz-Latn-UZ" sz="900" b="0" kern="1200" dirty="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    Ш.Юсупов </a:t>
                      </a:r>
                      <a:r>
                        <a:rPr lang="uz-Cyrl-UZ" sz="900" b="0" kern="1200" dirty="0">
                          <a:solidFill>
                            <a:schemeClr val="tx1"/>
                          </a:solidFill>
                          <a:effectLst/>
                          <a:latin typeface="+mn-lt"/>
                          <a:ea typeface="+mn-ea"/>
                          <a:cs typeface="+mn-cs"/>
                        </a:rPr>
                        <a:t>бугунги кунда Ўзбек Миллий қўғирчоқ театрида фаолият юритиш билан биргаликда Ўзбекистон давлат санъат ва маданият институтида қўғирчоқ театри режиссёрларини тайёрлаш борасида талабаларга сабоқ бериб келмоқда. </a:t>
                      </a:r>
                      <a:endParaRPr lang="uz-Latn-UZ" sz="9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6408">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380234">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келаниган қўғирчоқ театр фестевалларда, Давлат қўғирчоқ театр фестевалларда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a:extLst>
              <a:ext uri="{FF2B5EF4-FFF2-40B4-BE49-F238E27FC236}">
                <a16:creationId xmlns:a16="http://schemas.microsoft.com/office/drawing/2014/main" id="{4B0DFC0F-9B2B-4E96-9C34-38A1533703A3}"/>
              </a:ext>
            </a:extLst>
          </p:cNvPr>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57695" y="1123974"/>
            <a:ext cx="917374" cy="1087212"/>
          </a:xfrm>
          <a:prstGeom prst="rect">
            <a:avLst/>
          </a:prstGeom>
          <a:noFill/>
          <a:ln>
            <a:noFill/>
          </a:ln>
        </p:spPr>
      </p:pic>
    </p:spTree>
    <p:extLst>
      <p:ext uri="{BB962C8B-B14F-4D97-AF65-F5344CB8AC3E}">
        <p14:creationId xmlns:p14="http://schemas.microsoft.com/office/powerpoint/2010/main" val="3230439062"/>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538282741"/>
              </p:ext>
            </p:extLst>
          </p:nvPr>
        </p:nvGraphicFramePr>
        <p:xfrm>
          <a:off x="144489" y="865702"/>
          <a:ext cx="3427547" cy="5943436"/>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182035">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41346">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БЕГМАТОВА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4776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a:solidFill>
                            <a:schemeClr val="tx1"/>
                          </a:solidFill>
                          <a:latin typeface="+mn-lt"/>
                          <a:ea typeface="+mn-ea"/>
                          <a:cs typeface="+mn-cs"/>
                        </a:rPr>
                        <a:t>Азза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4776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smtClean="0">
                          <a:solidFill>
                            <a:schemeClr val="tx1"/>
                          </a:solidFill>
                          <a:latin typeface="+mn-lt"/>
                          <a:ea typeface="+mn-ea"/>
                          <a:cs typeface="+mn-cs"/>
                        </a:rPr>
                        <a:t>ХХХ</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41346">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4776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900" b="0" kern="1200" dirty="0">
                          <a:solidFill>
                            <a:schemeClr val="tx1"/>
                          </a:solidFill>
                          <a:latin typeface="+mn-lt"/>
                          <a:ea typeface="+mn-ea"/>
                          <a:cs typeface="+mn-cs"/>
                        </a:rPr>
                        <a:t>07.09.1943</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4000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a:solidFill>
                            <a:schemeClr val="tx1"/>
                          </a:solidFill>
                          <a:latin typeface="+mn-lt"/>
                          <a:ea typeface="+mn-ea"/>
                          <a:cs typeface="+mn-cs"/>
                        </a:rPr>
                        <a:t>Сурхандарё вилояти, Денов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172744">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65495">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ўғил фарзанди, 1 нафар қиз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Ўзбекистон давлат драма театрида етакчи саҳна устаси, нафақада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172744">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04757">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Сурхандарё вилояти Денов шаҳрида </a:t>
                      </a:r>
                    </a:p>
                    <a:p>
                      <a:pPr algn="l">
                        <a:lnSpc>
                          <a:spcPct val="85000"/>
                        </a:lnSpc>
                      </a:pPr>
                      <a:r>
                        <a:rPr lang="uz-Cyrl-UZ" sz="900" b="1" kern="1200" noProof="0" dirty="0">
                          <a:solidFill>
                            <a:schemeClr val="tx1"/>
                          </a:solidFill>
                          <a:latin typeface="+mn-lt"/>
                          <a:ea typeface="+mn-ea"/>
                          <a:cs typeface="Arial" panose="020B0604020202020204" pitchFamily="34" charset="0"/>
                        </a:rPr>
                        <a:t>7-Меҳрибонлик уйида</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04757">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b="0" kern="1200" noProof="0" dirty="0" err="1">
                          <a:solidFill>
                            <a:schemeClr val="tx1"/>
                          </a:solidFill>
                          <a:latin typeface="+mn-lt"/>
                          <a:ea typeface="+mn-ea"/>
                          <a:cs typeface="Arial" panose="020B0604020202020204" pitchFamily="34" charset="0"/>
                        </a:rPr>
                        <a:t>Сурхандарё</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вилояти</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Денов</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шаҳрида</a:t>
                      </a:r>
                      <a:r>
                        <a:rPr lang="ru-RU" sz="900" b="0" kern="1200" noProof="0" dirty="0">
                          <a:solidFill>
                            <a:schemeClr val="tx1"/>
                          </a:solidFill>
                          <a:latin typeface="+mn-lt"/>
                          <a:ea typeface="+mn-ea"/>
                          <a:cs typeface="Arial" panose="020B0604020202020204" pitchFamily="34" charset="0"/>
                        </a:rPr>
                        <a:t> </a:t>
                      </a:r>
                    </a:p>
                    <a:p>
                      <a:pPr algn="l">
                        <a:lnSpc>
                          <a:spcPct val="85000"/>
                        </a:lnSpc>
                      </a:pPr>
                      <a:r>
                        <a:rPr lang="ru-RU" sz="900" b="0" kern="1200" noProof="0" dirty="0">
                          <a:solidFill>
                            <a:schemeClr val="tx1"/>
                          </a:solidFill>
                          <a:latin typeface="+mn-lt"/>
                          <a:ea typeface="+mn-ea"/>
                          <a:cs typeface="Arial" panose="020B0604020202020204" pitchFamily="34" charset="0"/>
                        </a:rPr>
                        <a:t>7-Меҳрибонлик </a:t>
                      </a:r>
                      <a:r>
                        <a:rPr lang="ru-RU" sz="900" b="0" kern="1200" noProof="0" dirty="0" err="1">
                          <a:solidFill>
                            <a:schemeClr val="tx1"/>
                          </a:solidFill>
                          <a:latin typeface="+mn-lt"/>
                          <a:ea typeface="+mn-ea"/>
                          <a:cs typeface="Arial" panose="020B0604020202020204" pitchFamily="34" charset="0"/>
                        </a:rPr>
                        <a:t>уйида</a:t>
                      </a:r>
                      <a:endParaRPr lang="ru-RU" sz="900" b="0" kern="1200" noProof="0" dirty="0">
                        <a:solidFill>
                          <a:schemeClr val="tx1"/>
                        </a:solidFill>
                        <a:latin typeface="+mn-lt"/>
                        <a:ea typeface="+mn-ea"/>
                        <a:cs typeface="Arial" panose="020B0604020202020204" pitchFamily="34" charset="0"/>
                      </a:endParaRPr>
                    </a:p>
                    <a:p>
                      <a:pPr algn="l">
                        <a:lnSpc>
                          <a:spcPct val="85000"/>
                        </a:lnSpc>
                      </a:pP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323132">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Содиқов Тўлқин Маҳмудович</a:t>
                      </a:r>
                    </a:p>
                    <a:p>
                      <a:pPr algn="l">
                        <a:lnSpc>
                          <a:spcPct val="85000"/>
                        </a:lnSpc>
                      </a:pPr>
                      <a:r>
                        <a:rPr lang="uz-Cyrl-UZ" sz="900" b="0" kern="1200" noProof="0" dirty="0">
                          <a:solidFill>
                            <a:schemeClr val="tx1"/>
                          </a:solidFill>
                          <a:latin typeface="+mn-lt"/>
                          <a:ea typeface="+mn-ea"/>
                          <a:cs typeface="Arial" panose="020B0604020202020204" pitchFamily="34" charset="0"/>
                        </a:rPr>
                        <a:t>1940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2020 йил вафот этган</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55325">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466890">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1966 й. Островский </a:t>
                      </a:r>
                      <a:r>
                        <a:rPr lang="ru-RU" sz="900" b="0" kern="1200" noProof="0" dirty="0" err="1">
                          <a:solidFill>
                            <a:schemeClr val="tx1"/>
                          </a:solidFill>
                          <a:latin typeface="+mn-lt"/>
                          <a:ea typeface="+mn-ea"/>
                          <a:cs typeface="+mn-cs"/>
                        </a:rPr>
                        <a:t>номидаги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театр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рассомлик</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олийгоҳи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05256">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effectLst/>
                          <a:latin typeface="+mn-lt"/>
                          <a:ea typeface="+mn-ea"/>
                          <a:cs typeface="+mn-cs"/>
                        </a:rPr>
                        <a:t>Мусиқали драма актрисаси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34293">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34293">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2443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845273645"/>
              </p:ext>
            </p:extLst>
          </p:nvPr>
        </p:nvGraphicFramePr>
        <p:xfrm>
          <a:off x="3674526" y="865689"/>
          <a:ext cx="3172841" cy="5953990"/>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73095">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88077">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1966 йидан Ўзбекистон давлат драма театрида актриса</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78394">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Етакчи саҳна устаси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3964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60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8192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47156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53671">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49596">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2025 й. 2-Марказий клиник шифохонасида даволанган</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49596">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Ҳар йил кўрикдан ўтади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9369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5821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316523">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1998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2006 й. Ўзбекистон Республикаси  халқ артисти</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2023 й. Меҳнат шуҳрати ордени </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2023 й. “Маданият ва санъат фидокори” кўкрак нишони</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2000 й. “Офарин” мукофоти</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376564526"/>
              </p:ext>
            </p:extLst>
          </p:nvPr>
        </p:nvGraphicFramePr>
        <p:xfrm>
          <a:off x="6847367" y="869287"/>
          <a:ext cx="2919737" cy="5962085"/>
        </p:xfrm>
        <a:graphic>
          <a:graphicData uri="http://schemas.openxmlformats.org/drawingml/2006/table">
            <a:tbl>
              <a:tblPr firstRow="1" bandRow="1">
                <a:tableStyleId>{C083E6E3-FA7D-4D7B-A595-EF9225AFEA82}</a:tableStyleId>
              </a:tblPr>
              <a:tblGrid>
                <a:gridCol w="2919737">
                  <a:extLst>
                    <a:ext uri="{9D8B030D-6E8A-4147-A177-3AD203B41FA5}">
                      <a16:colId xmlns:a16="http://schemas.microsoft.com/office/drawing/2014/main" val="2715609854"/>
                    </a:ext>
                  </a:extLst>
                </a:gridCol>
              </a:tblGrid>
              <a:tr h="234251">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9916">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831714">
                <a:tc>
                  <a:txBody>
                    <a:bodyPr/>
                    <a:lstStyle/>
                    <a:p>
                      <a:pPr algn="just">
                        <a:lnSpc>
                          <a:spcPct val="85000"/>
                        </a:lnSpc>
                      </a:pPr>
                      <a:r>
                        <a:rPr lang="uz-Cyrl-UZ" sz="900" b="0" noProof="0" dirty="0">
                          <a:solidFill>
                            <a:schemeClr val="tx1"/>
                          </a:solidFill>
                          <a:latin typeface="+mn-lt"/>
                        </a:rPr>
                        <a:t>    А.Бегматова театрда кўп йиллардан фаолият юритади. Жумладан, “Дийдор”да Шарқия, “Беш кунлик куёв”да Ўлмасхон, “Баҳор қайтмайди”да Лобархон, “Паранжи сирлари”да Гулжон, “Ғаройиб оқшом”да Самира, “Қайтар дунё”да Хатира, “Чеча”да Чеча, “Ассалому алайкум қизлар”да Анушахоним,  “Отасининг қизи”да Марямхон, “Ёшлик бебошлик”да Лаззат, “Қирол Лир”да сайрой хоними, “Маъмура кампир”да Салтанат, “Бухорои шариф”да Комилжон,“Майсаранинг иши”да Майсара, “Алвон гул”да энага, “Малика”да Фароғат, “Саратондаги изғирин”да Мўътабар, “Нон, қон, инсон”да  она, “Ҳаёт барибир гўзал”да Баҳринисо, “Заҳарли ҳаёт”да Сора, “Эски муҳаббат”да Райхоной, “Аёллар салтанати”да бошлиқ, “Бир севга ривояти”да Илдизмомо, “Аросат изтироби”да Моҳинисо, “Беш сўм”да Салби, “Тоға-жиянлар”да Асалхон, “Ташвишланманг онажон”да Дадуна, “Жамила”да она, “Хазина”да буви, “Лайли ва Мажнун”да Қайснинг онаси ва яна бошқа образларни маромига етказиб ижро этган. </a:t>
                      </a:r>
                    </a:p>
                    <a:p>
                      <a:pPr algn="just">
                        <a:lnSpc>
                          <a:spcPct val="85000"/>
                        </a:lnSpc>
                      </a:pPr>
                      <a:r>
                        <a:rPr lang="uz-Cyrl-UZ" sz="900" b="0" noProof="0" dirty="0">
                          <a:solidFill>
                            <a:schemeClr val="tx1"/>
                          </a:solidFill>
                          <a:latin typeface="+mn-lt"/>
                        </a:rPr>
                        <a:t>Шунингдек, 2022 йилнинг 31-октябрь куни Ўзбекистон давлат драма театри жамоаси  Марказий Осиё давлатларининг </a:t>
                      </a:r>
                      <a:r>
                        <a:rPr lang="uz-Latn-UZ" sz="900" b="0" noProof="0" dirty="0">
                          <a:solidFill>
                            <a:schemeClr val="tx1"/>
                          </a:solidFill>
                          <a:latin typeface="+mn-lt"/>
                        </a:rPr>
                        <a:t>VIII </a:t>
                      </a:r>
                      <a:r>
                        <a:rPr lang="uz-Cyrl-UZ" sz="900" b="0" noProof="0" dirty="0">
                          <a:solidFill>
                            <a:schemeClr val="tx1"/>
                          </a:solidFill>
                          <a:latin typeface="+mn-lt"/>
                        </a:rPr>
                        <a:t>Халқаро театр фестивали доирасида Мухтар Ауэзовнинг 125 йиллиги муносабати билан 1-7 ноябрь кунлари Қозоғистоннинг Олмаота шаҳрида бўлиб ўтган нуфузли фестивалда Нодар Думбадзенинг “Мен, бувим, Илико ва Илларион” асари асосида саҳналаштирилган “Хазина” спектакли билан иштирок этишди. Ҳакамлар ҳайъатининг хулосасига кўра, Ольга роли учун "Энг яхши аёл роли" номинасияси ғолиби бўлиб, диплом ва пул мукофоти билан тақдирланди.  </a:t>
                      </a:r>
                    </a:p>
                    <a:p>
                      <a:pPr algn="just">
                        <a:lnSpc>
                          <a:spcPct val="85000"/>
                        </a:lnSpc>
                      </a:pPr>
                      <a:r>
                        <a:rPr lang="uz-Cyrl-UZ" sz="900" b="0" noProof="0" dirty="0">
                          <a:solidFill>
                            <a:schemeClr val="tx1"/>
                          </a:solidFill>
                          <a:latin typeface="+mn-lt"/>
                        </a:rPr>
                        <a:t>Театр саҳнасида ижро этган ролларидан ташқари турли видеофильмлар ва кинофильмларда ҳам турли образларни ижро этган: “Тоҳир ва Зуҳра”, “Беш қисмат”, “Янги ой чиққан кеча”, “Еттинчи фалакдан келган товуш”, “Гулҳан атрофидагилар”, “Қаердасан жон болам”, “Домла”, “Аёл зоти” “Алиф Лайло ва маккора”, “Фидоийлар”, “Дилхирож”, “Тўда”, “Чашма”, “Гўзаллик сири”да асосий ва етакчи ролларни, “Бомба”да Қумрихон, “Жанжал”да Карима, ва бошқалар шулар сирасига киради.</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1375">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393136">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smtClean="0">
                          <a:effectLst/>
                          <a:latin typeface="+mn-lt"/>
                          <a:ea typeface="Calibri" panose="020F0502020204030204" pitchFamily="34" charset="0"/>
                          <a:cs typeface="Times New Roman" panose="02020603050405020304" pitchFamily="18" charset="0"/>
                        </a:rPr>
                        <a:t>    Республикамизда</a:t>
                      </a:r>
                      <a:r>
                        <a:rPr lang="uz-Cyrl-UZ" sz="800" b="0" baseline="0" dirty="0" smtClean="0">
                          <a:effectLst/>
                          <a:latin typeface="+mn-lt"/>
                          <a:ea typeface="Calibri" panose="020F0502020204030204" pitchFamily="34" charset="0"/>
                          <a:cs typeface="Times New Roman" panose="02020603050405020304" pitchFamily="18" charset="0"/>
                        </a:rPr>
                        <a:t> </a:t>
                      </a:r>
                      <a:r>
                        <a:rPr lang="uz-Cyrl-UZ" sz="800" b="0" baseline="0" dirty="0">
                          <a:effectLst/>
                          <a:latin typeface="+mn-lt"/>
                          <a:ea typeface="Calibri" panose="020F0502020204030204" pitchFamily="34" charset="0"/>
                          <a:cs typeface="Times New Roman" panose="02020603050405020304" pitchFamily="18" charset="0"/>
                        </a:rPr>
                        <a:t>ўткалиб келинадиган барча оммавий мадаий тадбирлар ва давлат тадбирлари, шунингдек, давлат қабулларида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9" name="Рисунок 8">
            <a:extLst>
              <a:ext uri="{FF2B5EF4-FFF2-40B4-BE49-F238E27FC236}">
                <a16:creationId xmlns:a16="http://schemas.microsoft.com/office/drawing/2014/main" id="{79650764-93FB-D418-C11A-8C6B9F425AE3}"/>
              </a:ext>
            </a:extLst>
          </p:cNvPr>
          <p:cNvPicPr>
            <a:picLocks noChangeAspect="1"/>
          </p:cNvPicPr>
          <p:nvPr/>
        </p:nvPicPr>
        <p:blipFill>
          <a:blip r:embed="rId2"/>
          <a:stretch>
            <a:fillRect/>
          </a:stretch>
        </p:blipFill>
        <p:spPr>
          <a:xfrm>
            <a:off x="241606" y="1143505"/>
            <a:ext cx="933467" cy="1150808"/>
          </a:xfrm>
          <a:prstGeom prst="rect">
            <a:avLst/>
          </a:prstGeom>
        </p:spPr>
      </p:pic>
    </p:spTree>
    <p:extLst>
      <p:ext uri="{BB962C8B-B14F-4D97-AF65-F5344CB8AC3E}">
        <p14:creationId xmlns:p14="http://schemas.microsoft.com/office/powerpoint/2010/main" val="2331800290"/>
      </p:ext>
    </p:ext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371375670"/>
              </p:ext>
            </p:extLst>
          </p:nvPr>
        </p:nvGraphicFramePr>
        <p:xfrm>
          <a:off x="144489" y="865702"/>
          <a:ext cx="3427547" cy="5954569"/>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0925">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834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БЕРДИЕВ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834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Илҳомбек</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834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Юлдашевич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834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834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0</a:t>
                      </a:r>
                      <a:r>
                        <a:rPr lang="ru-RU" sz="800" b="0" kern="1200" dirty="0">
                          <a:solidFill>
                            <a:schemeClr val="tx1"/>
                          </a:solidFill>
                          <a:latin typeface="+mn-lt"/>
                          <a:ea typeface="+mn-ea"/>
                          <a:cs typeface="+mn-cs"/>
                        </a:rPr>
                        <a:t>8.11.1987</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834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Қашқадарё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8629">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89919">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қиз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Ўзбекистон давлат драма театри олий тоифали артисти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8629">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63856">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Бердиев Юлдаш Арзикулович</a:t>
                      </a:r>
                    </a:p>
                    <a:p>
                      <a:pPr algn="l">
                        <a:lnSpc>
                          <a:spcPct val="85000"/>
                        </a:lnSpc>
                      </a:pPr>
                      <a:r>
                        <a:rPr lang="uz-Cyrl-UZ" sz="900" b="0" kern="1200" noProof="0" dirty="0">
                          <a:solidFill>
                            <a:schemeClr val="tx1"/>
                          </a:solidFill>
                          <a:latin typeface="+mn-lt"/>
                          <a:ea typeface="+mn-ea"/>
                          <a:cs typeface="Arial" panose="020B0604020202020204" pitchFamily="34" charset="0"/>
                        </a:rPr>
                        <a:t>1958 йил, Қашқадарё вилояти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Нафақада, Ўзбекистонда хизмат кўрсатган артист</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28695">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Мирзаева Замира Неъматовна</a:t>
                      </a:r>
                    </a:p>
                    <a:p>
                      <a:pPr algn="l">
                        <a:lnSpc>
                          <a:spcPct val="85000"/>
                        </a:lnSpc>
                      </a:pPr>
                      <a:r>
                        <a:rPr lang="uz-Cyrl-UZ" sz="900" b="0" kern="1200" noProof="0" dirty="0">
                          <a:solidFill>
                            <a:schemeClr val="tx1"/>
                          </a:solidFill>
                          <a:latin typeface="+mn-lt"/>
                          <a:ea typeface="+mn-ea"/>
                          <a:cs typeface="Arial" panose="020B0604020202020204" pitchFamily="34" charset="0"/>
                        </a:rPr>
                        <a:t>1959 йил, Андижон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err="1">
                          <a:solidFill>
                            <a:schemeClr val="tx1"/>
                          </a:solidFill>
                          <a:latin typeface="+mn-lt"/>
                          <a:ea typeface="+mn-ea"/>
                          <a:cs typeface="Arial" panose="020B0604020202020204" pitchFamily="34" charset="0"/>
                        </a:rPr>
                        <a:t>нафақада</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46276">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Темирова Шаҳло Зайниддиновна</a:t>
                      </a:r>
                    </a:p>
                    <a:p>
                      <a:pPr algn="l">
                        <a:lnSpc>
                          <a:spcPct val="85000"/>
                        </a:lnSpc>
                      </a:pPr>
                      <a:r>
                        <a:rPr lang="uz-Cyrl-UZ" sz="900" b="0" kern="1200" noProof="0" dirty="0">
                          <a:solidFill>
                            <a:schemeClr val="tx1"/>
                          </a:solidFill>
                          <a:latin typeface="+mn-lt"/>
                          <a:ea typeface="+mn-ea"/>
                          <a:cs typeface="Arial" panose="020B0604020202020204" pitchFamily="34" charset="0"/>
                        </a:rPr>
                        <a:t>1989йил, Самарқанд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Ўзбек миллий академик театри актрисаси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5574">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48020">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2011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санъат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маданият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40923">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Театр ва кино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1115">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1115">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80805">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927835262"/>
              </p:ext>
            </p:extLst>
          </p:nvPr>
        </p:nvGraphicFramePr>
        <p:xfrm>
          <a:off x="3733800" y="865689"/>
          <a:ext cx="3113567" cy="5954584"/>
        </p:xfrm>
        <a:graphic>
          <a:graphicData uri="http://schemas.openxmlformats.org/drawingml/2006/table">
            <a:tbl>
              <a:tblPr firstRow="1" bandRow="1">
                <a:tableStyleId>{C083E6E3-FA7D-4D7B-A595-EF9225AFEA82}</a:tableStyleId>
              </a:tblPr>
              <a:tblGrid>
                <a:gridCol w="1437968">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9752">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3394">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Ўзбекистон давлат драма театри олий тоифали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8386">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3004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13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324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0465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0001">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ўртача</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000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2019 й.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43030">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744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5134">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09497">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2025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2019 й. “Эътироф” мукофоти</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112004219"/>
              </p:ext>
            </p:extLst>
          </p:nvPr>
        </p:nvGraphicFramePr>
        <p:xfrm>
          <a:off x="6949857" y="869287"/>
          <a:ext cx="2817247" cy="5949970"/>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68486">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7967">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85406">
                <a:tc>
                  <a:txBody>
                    <a:bodyPr/>
                    <a:lstStyle/>
                    <a:p>
                      <a:pPr algn="just">
                        <a:lnSpc>
                          <a:spcPct val="85000"/>
                        </a:lnSpc>
                      </a:pPr>
                      <a:r>
                        <a:rPr lang="uz-Cyrl-UZ" sz="900" b="0" noProof="0" dirty="0" smtClean="0">
                          <a:solidFill>
                            <a:schemeClr val="tx1"/>
                          </a:solidFill>
                          <a:latin typeface="+mn-lt"/>
                        </a:rPr>
                        <a:t>    2025 </a:t>
                      </a:r>
                      <a:r>
                        <a:rPr lang="uz-Cyrl-UZ" sz="900" b="0" noProof="0" dirty="0">
                          <a:solidFill>
                            <a:schemeClr val="tx1"/>
                          </a:solidFill>
                          <a:latin typeface="+mn-lt"/>
                        </a:rPr>
                        <a:t>йилда Ўзбекистонда хизмат кўрсатган артист унвони билан тақдирланган.</a:t>
                      </a:r>
                    </a:p>
                    <a:p>
                      <a:pPr algn="just">
                        <a:lnSpc>
                          <a:spcPct val="85000"/>
                        </a:lnSpc>
                      </a:pPr>
                      <a:r>
                        <a:rPr lang="uz-Cyrl-UZ" sz="900" b="0" noProof="0" dirty="0">
                          <a:solidFill>
                            <a:schemeClr val="tx1"/>
                          </a:solidFill>
                          <a:latin typeface="+mn-lt"/>
                        </a:rPr>
                        <a:t>Унинг ижросидаги “Жинлар базми”да Абдулла Қодирий, “Ромео ва Жульетта”да Тибальт, “Ишлагандай бўлайлик”да Раҳбар Раҳбарович, “Ҳукм”да Оғабек Жумаев, “Лайли ва Мажнун”да Ровий “Канфетвойнинг саргузаштлари”да Ақлжон, “Давлат болалари”да Бахтиёр,  “Минг йиллик ҳангома”да қайнона ва куёв, “Қиз-келин”да Саттор, “Вафодор”да қўшни, “Илхақ”да Ғайрат, “Чароғбонлар”да Самар, “Сабъаи сайёр”да мулозим, “Труффальдино-икки бойнинг малайи”да Сильвио, “Тўмарис”да Спарангиз, “Ожиза деманг бизни”да Ғулом, “Синдбод ва унинг дўстлари”да Кема дарғаси Абужаҳл, “Ер барибир айланаверади”да ҳоким, “Дунёнинг ишлари”да Ачинский образлари орқали театр санъатида катта истеъдод соҳиби кашф этилганига амин бўласиз.  </a:t>
                      </a:r>
                    </a:p>
                    <a:p>
                      <a:pPr algn="just">
                        <a:lnSpc>
                          <a:spcPct val="85000"/>
                        </a:lnSpc>
                      </a:pPr>
                      <a:r>
                        <a:rPr lang="uz-Cyrl-UZ" sz="900" b="0" noProof="0" dirty="0" smtClean="0">
                          <a:solidFill>
                            <a:schemeClr val="tx1"/>
                          </a:solidFill>
                          <a:latin typeface="+mn-lt"/>
                        </a:rPr>
                        <a:t>    2014 </a:t>
                      </a:r>
                      <a:r>
                        <a:rPr lang="uz-Cyrl-UZ" sz="900" b="0" noProof="0" dirty="0">
                          <a:solidFill>
                            <a:schemeClr val="tx1"/>
                          </a:solidFill>
                          <a:latin typeface="+mn-lt"/>
                        </a:rPr>
                        <a:t>йилда И.Бердиев Ўзбекистон Республикаси Маданият ва спорт ишлари вазирлиги, “Ўзбектеатр” ижодий-ишлаб чиқариш бирлашмаси томонидан ўтказилган ёш ижодкорларнинг “Дебют 2014” </a:t>
                      </a:r>
                      <a:r>
                        <a:rPr lang="uz-Latn-UZ" sz="900" b="0" noProof="0" dirty="0">
                          <a:solidFill>
                            <a:schemeClr val="tx1"/>
                          </a:solidFill>
                          <a:latin typeface="+mn-lt"/>
                        </a:rPr>
                        <a:t>V </a:t>
                      </a:r>
                      <a:r>
                        <a:rPr lang="uz-Cyrl-UZ" sz="900" b="0" noProof="0" dirty="0">
                          <a:solidFill>
                            <a:schemeClr val="tx1"/>
                          </a:solidFill>
                          <a:latin typeface="+mn-lt"/>
                        </a:rPr>
                        <a:t>республика кўрик-фестивалида иштирок этган “Қиз-келин” спектаклидаги Саттор образи учун “Энг яхши эркак роли ижроси учун” номинацияси ғолиби бўлган. </a:t>
                      </a:r>
                    </a:p>
                    <a:p>
                      <a:pPr algn="just">
                        <a:lnSpc>
                          <a:spcPct val="85000"/>
                        </a:lnSpc>
                      </a:pPr>
                      <a:r>
                        <a:rPr lang="uz-Cyrl-UZ" sz="900" b="0" noProof="0" dirty="0">
                          <a:solidFill>
                            <a:schemeClr val="tx1"/>
                          </a:solidFill>
                          <a:latin typeface="+mn-lt"/>
                        </a:rPr>
                        <a:t>2019 йилда Йилнинг энг яхши классик образи ижрочиси номинацияси бўйича “Эътироф” мукофотини олган. </a:t>
                      </a:r>
                    </a:p>
                    <a:p>
                      <a:pPr algn="just">
                        <a:lnSpc>
                          <a:spcPct val="85000"/>
                        </a:lnSpc>
                      </a:pPr>
                      <a:r>
                        <a:rPr lang="uz-Cyrl-UZ" sz="900" b="0" noProof="0" dirty="0" smtClean="0">
                          <a:solidFill>
                            <a:schemeClr val="tx1"/>
                          </a:solidFill>
                          <a:latin typeface="+mn-lt"/>
                        </a:rPr>
                        <a:t>    У </a:t>
                      </a:r>
                      <a:r>
                        <a:rPr lang="uz-Cyrl-UZ" sz="900" b="0" noProof="0" dirty="0">
                          <a:solidFill>
                            <a:schemeClr val="tx1"/>
                          </a:solidFill>
                          <a:latin typeface="+mn-lt"/>
                        </a:rPr>
                        <a:t>театр саҳнасидаги ижодий изланишлари билан бир қаторда бадиий фильмлар ва телесериалларда ҳам ўзига хос роль ижро этиб келмоқда. “Қўқон шамоли” бадиий фильмидаги Амир Умархон, “Аёл қисмати” бадиий фильмида Санжар, “Йўлбарс изидан” хужжатли фильмида Заҳириддин Муҳаммад Бобур, “Жомий ва Навоий” бадиий фильмида Алишер Навоий роллари билан томошабинлар эътирофига сазовор бўлган. </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66806">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788733">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ўтказиб келинадиган барча оммавий маданий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9" name="Рисунок 8">
            <a:extLst>
              <a:ext uri="{FF2B5EF4-FFF2-40B4-BE49-F238E27FC236}">
                <a16:creationId xmlns:a16="http://schemas.microsoft.com/office/drawing/2014/main" id="{5D672653-EF5A-595F-0CEA-D895D4F8E900}"/>
              </a:ext>
            </a:extLst>
          </p:cNvPr>
          <p:cNvPicPr>
            <a:picLocks noChangeAspect="1"/>
          </p:cNvPicPr>
          <p:nvPr/>
        </p:nvPicPr>
        <p:blipFill>
          <a:blip r:embed="rId2"/>
          <a:stretch>
            <a:fillRect/>
          </a:stretch>
        </p:blipFill>
        <p:spPr>
          <a:xfrm>
            <a:off x="301550" y="1178118"/>
            <a:ext cx="820668" cy="1036044"/>
          </a:xfrm>
          <a:prstGeom prst="rect">
            <a:avLst/>
          </a:prstGeom>
        </p:spPr>
      </p:pic>
    </p:spTree>
    <p:extLst>
      <p:ext uri="{BB962C8B-B14F-4D97-AF65-F5344CB8AC3E}">
        <p14:creationId xmlns:p14="http://schemas.microsoft.com/office/powerpoint/2010/main" val="471304612"/>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4184387250"/>
              </p:ext>
            </p:extLst>
          </p:nvPr>
        </p:nvGraphicFramePr>
        <p:xfrm>
          <a:off x="144489" y="865702"/>
          <a:ext cx="3427547" cy="5962755"/>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85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063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И</a:t>
                      </a:r>
                      <a:r>
                        <a:rPr lang="ru-RU" sz="900" b="0" kern="1200" dirty="0" smtClean="0">
                          <a:solidFill>
                            <a:schemeClr val="tx1"/>
                          </a:solidFill>
                          <a:latin typeface="+mn-lt"/>
                          <a:ea typeface="+mn-ea"/>
                          <a:cs typeface="+mn-cs"/>
                        </a:rPr>
                        <a:t>СМАИЛОВА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063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Дилбар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063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Абидовна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063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063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11.08.1938</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063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41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635890">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1 нафар ўғил, бир нафар қиз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Ўзбекистон давлат драма театри етакчи саҳна устаси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41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52919">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Ҳасанов Обид</a:t>
                      </a:r>
                    </a:p>
                    <a:p>
                      <a:pPr algn="l">
                        <a:lnSpc>
                          <a:spcPct val="85000"/>
                        </a:lnSpc>
                      </a:pPr>
                      <a:r>
                        <a:rPr lang="uz-Cyrl-UZ" sz="900" b="0" kern="1200" noProof="0" dirty="0">
                          <a:solidFill>
                            <a:schemeClr val="tx1"/>
                          </a:solidFill>
                          <a:latin typeface="+mn-lt"/>
                          <a:ea typeface="+mn-ea"/>
                          <a:cs typeface="Arial" panose="020B0604020202020204" pitchFamily="34" charset="0"/>
                        </a:rPr>
                        <a:t>1902 йил, Тошкент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1975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Ўзбек</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миллий</a:t>
                      </a:r>
                      <a:r>
                        <a:rPr lang="ru-RU" sz="900" b="0" kern="1200" noProof="0" dirty="0">
                          <a:solidFill>
                            <a:schemeClr val="tx1"/>
                          </a:solidFill>
                          <a:latin typeface="+mn-lt"/>
                          <a:ea typeface="+mn-ea"/>
                          <a:cs typeface="Arial" panose="020B0604020202020204" pitchFamily="34" charset="0"/>
                        </a:rPr>
                        <a:t> академик драма </a:t>
                      </a:r>
                      <a:r>
                        <a:rPr lang="ru-RU" sz="900" b="0" kern="1200" noProof="0" dirty="0" err="1">
                          <a:solidFill>
                            <a:schemeClr val="tx1"/>
                          </a:solidFill>
                          <a:latin typeface="+mn-lt"/>
                          <a:ea typeface="+mn-ea"/>
                          <a:cs typeface="Arial" panose="020B0604020202020204" pitchFamily="34" charset="0"/>
                        </a:rPr>
                        <a:t>театри</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актёри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52919">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Садриева Зайнаб </a:t>
                      </a:r>
                    </a:p>
                    <a:p>
                      <a:pPr algn="l">
                        <a:lnSpc>
                          <a:spcPct val="85000"/>
                        </a:lnSpc>
                      </a:pPr>
                      <a:r>
                        <a:rPr lang="uz-Cyrl-UZ" sz="900" b="0" kern="1200" noProof="0" dirty="0">
                          <a:solidFill>
                            <a:schemeClr val="tx1"/>
                          </a:solidFill>
                          <a:latin typeface="+mn-lt"/>
                          <a:ea typeface="+mn-ea"/>
                          <a:cs typeface="Arial" panose="020B0604020202020204" pitchFamily="34" charset="0"/>
                        </a:rPr>
                        <a:t>1912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1991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Ўзбек</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миллий</a:t>
                      </a:r>
                      <a:r>
                        <a:rPr lang="ru-RU" sz="900" b="0" kern="1200" noProof="0" dirty="0">
                          <a:solidFill>
                            <a:schemeClr val="tx1"/>
                          </a:solidFill>
                          <a:latin typeface="+mn-lt"/>
                          <a:ea typeface="+mn-ea"/>
                          <a:cs typeface="Arial" panose="020B0604020202020204" pitchFamily="34" charset="0"/>
                        </a:rPr>
                        <a:t> академик драма </a:t>
                      </a:r>
                      <a:r>
                        <a:rPr lang="ru-RU" sz="900" b="0" kern="1200" noProof="0" dirty="0" err="1">
                          <a:solidFill>
                            <a:schemeClr val="tx1"/>
                          </a:solidFill>
                          <a:latin typeface="+mn-lt"/>
                          <a:ea typeface="+mn-ea"/>
                          <a:cs typeface="Arial" panose="020B0604020202020204" pitchFamily="34" charset="0"/>
                        </a:rPr>
                        <a:t>театри</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актрисаси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3909">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Исмаилов Арсен Файзуллаевич</a:t>
                      </a:r>
                    </a:p>
                    <a:p>
                      <a:pPr algn="l">
                        <a:lnSpc>
                          <a:spcPct val="85000"/>
                        </a:lnSpc>
                      </a:pPr>
                      <a:r>
                        <a:rPr lang="uz-Cyrl-UZ" sz="900" b="0" kern="1200" noProof="0" dirty="0">
                          <a:solidFill>
                            <a:schemeClr val="tx1"/>
                          </a:solidFill>
                          <a:latin typeface="+mn-lt"/>
                          <a:ea typeface="+mn-ea"/>
                          <a:cs typeface="Arial" panose="020B0604020202020204" pitchFamily="34" charset="0"/>
                        </a:rPr>
                        <a:t>1937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2021 йил вафот этган</a:t>
                      </a:r>
                    </a:p>
                    <a:p>
                      <a:pPr algn="l">
                        <a:lnSpc>
                          <a:spcPct val="85000"/>
                        </a:lnSpc>
                      </a:pPr>
                      <a:r>
                        <a:rPr lang="uz-Cyrl-UZ" sz="900" b="0" kern="1200" noProof="0" dirty="0">
                          <a:solidFill>
                            <a:schemeClr val="tx1"/>
                          </a:solidFill>
                          <a:latin typeface="+mn-lt"/>
                          <a:ea typeface="+mn-ea"/>
                          <a:cs typeface="Arial" panose="020B0604020202020204" pitchFamily="34" charset="0"/>
                        </a:rPr>
                        <a:t>(ЎзДСМИ профессори)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8075">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1475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1961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театр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рассомлик</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олийгоҳи</a:t>
                      </a:r>
                      <a:r>
                        <a:rPr lang="ru-RU" sz="900" b="0" kern="1200" noProof="0" dirty="0">
                          <a:solidFill>
                            <a:schemeClr val="tx1"/>
                          </a:solidFill>
                          <a:latin typeface="+mn-lt"/>
                          <a:ea typeface="+mn-ea"/>
                          <a:cs typeface="+mn-cs"/>
                        </a:rPr>
                        <a:t>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26298">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Театр актёрлиги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4899">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4899">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57689">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529895845"/>
              </p:ext>
            </p:extLst>
          </p:nvPr>
        </p:nvGraphicFramePr>
        <p:xfrm>
          <a:off x="3674526" y="865688"/>
          <a:ext cx="3172841" cy="596277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6320">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60226">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Етакчи саҳна устаси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8416">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244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68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717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2213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27825">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2782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2026 й. 1-марказий клиник шифохонасида даволанган</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2782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261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968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50275">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1979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1998 й. “Дўстлик” ордени соҳиби</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2003 й. Ўзбекистон Республикаси халқ артисти</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831260931"/>
              </p:ext>
            </p:extLst>
          </p:nvPr>
        </p:nvGraphicFramePr>
        <p:xfrm>
          <a:off x="6949857" y="869288"/>
          <a:ext cx="2817247" cy="5969776"/>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199584">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89611">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17942">
                <a:tc>
                  <a:txBody>
                    <a:bodyPr/>
                    <a:lstStyle/>
                    <a:p>
                      <a:pPr algn="just">
                        <a:lnSpc>
                          <a:spcPct val="85000"/>
                        </a:lnSpc>
                      </a:pPr>
                      <a:r>
                        <a:rPr lang="uz-Cyrl-UZ" sz="900" b="0" noProof="0" dirty="0">
                          <a:solidFill>
                            <a:schemeClr val="tx1"/>
                          </a:solidFill>
                          <a:latin typeface="+mn-lt"/>
                        </a:rPr>
                        <a:t>    Дилбар Исмоилова таҳсил йилларининг ўзида бир нечта, жумладан, “Холисхон” (1958), “Фурқат” (1959), “Юрак енгмоғи керак” (1959), “Тоға жиянлар” (1959), “Ганг дарёсининг қизи” (1959), “Йўлчи юлдуз” (1959), “Фурқат” (1960) спектаклларида роллар ижро этган. 1961  йилда таҳсилни тугатиб, Ҳамза  театрида ишлади, 1987 йилдан  эса  Аброр  Ҳидоятов  номли  Ўзбек  давлат  драма  театрида  ижодий фаолиятини давом эттирди. У қисқа вақт ичида томошабинларнинг қалбидан жой </a:t>
                      </a:r>
                      <a:r>
                        <a:rPr lang="uz-Cyrl-UZ" sz="900" b="0" noProof="0" dirty="0" smtClean="0">
                          <a:solidFill>
                            <a:schemeClr val="tx1"/>
                          </a:solidFill>
                          <a:latin typeface="+mn-lt"/>
                        </a:rPr>
                        <a:t>эгаллади.</a:t>
                      </a:r>
                    </a:p>
                    <a:p>
                      <a:pPr algn="just">
                        <a:lnSpc>
                          <a:spcPct val="85000"/>
                        </a:lnSpc>
                      </a:pPr>
                      <a:r>
                        <a:rPr lang="uz-Cyrl-UZ" sz="900" b="0" baseline="0" noProof="0" dirty="0" smtClean="0">
                          <a:solidFill>
                            <a:schemeClr val="tx1"/>
                          </a:solidFill>
                          <a:latin typeface="+mn-lt"/>
                        </a:rPr>
                        <a:t>    </a:t>
                      </a:r>
                      <a:r>
                        <a:rPr lang="uz-Cyrl-UZ" sz="900" b="0" noProof="0" dirty="0" smtClean="0">
                          <a:solidFill>
                            <a:schemeClr val="tx1"/>
                          </a:solidFill>
                          <a:latin typeface="+mn-lt"/>
                        </a:rPr>
                        <a:t>1979 </a:t>
                      </a:r>
                      <a:r>
                        <a:rPr lang="uz-Cyrl-UZ" sz="900" b="0" noProof="0" dirty="0">
                          <a:solidFill>
                            <a:schemeClr val="tx1"/>
                          </a:solidFill>
                          <a:latin typeface="+mn-lt"/>
                        </a:rPr>
                        <a:t>йилда унга меҳнати учун Ўзбекистонда хизмат кўрсатган артист унвони берилди.  Дилбар Исмоилова бу унвонни олгунга қадар 43 тадан  ортик   спектаклларда  бош қаҳрамон  образини  яратган. Айниқса, унинг шу даврда яратган “Алишер Навоий” спектаклидаги Гули, “Ажал минораси” спектаклида Маргарита, “Ой тутилган тунда” спектаклидаги Шафақ, “Иймон” спектаклидаги Азиза, “Келинлар қўғалони” спектаклида Лутфи, “Қиёмат қарз” спектаклидаги Анвара, “Ғариблар” спектаклидаги Анита, “Саҳро тор” спектаклидаги Зиёда, Ў.Умарбеков қаламига мансуб “Шошма қуёш” спектаклидаги Рисолат каби бош роллари театр ихлосмандларини таҳсинига сазовор бўлган. Актриса 2003 йилда “Ўзбекистон халқ артисти” фахрий унвонига сазовор бўлган. У бунга қадар 200 дан ортиқ спектакл ва фильмларда образлар яратган. Айниқса, унинг “Нодирабегим”, “Кузнинг биринчи куни”, “Баланд қоядаги аёллар”,  “Бой ила хизматчи”, “Юлдузли тунлар”, “Парвона”, “Зебунисо”, “Ревизор”, “Қутлуғ қон”, “Паранжи сирлари”, “Фаридун”, “Маъмура кампир”, “Ғаройиб оқшом”, “Қирол Лир”, “Пайванд” каби спектакллардаги образлари ҳар ир томошабиннинг ёдига муҳрланган. Актриса театрдан ташқари, 50 дан ортиқ фильмларда суратга тушган. 2000 дан  ортиқ  фильмларга  овоз  беришда  иштирок  этган. Исмоилова  Дилбар Ўзбекистон давлат драма театрининг етакчи санъаткори. Унинг бугунги кунда ҳам “Аяжонларим” спектаклидаги Бўстон роли, “Вафодор” спектаклидаги Саодат </a:t>
                      </a:r>
                      <a:r>
                        <a:rPr lang="uz-Cyrl-UZ" sz="900" b="0" noProof="0" dirty="0" smtClean="0">
                          <a:solidFill>
                            <a:schemeClr val="tx1"/>
                          </a:solidFill>
                          <a:latin typeface="+mn-lt"/>
                        </a:rPr>
                        <a:t>роли</a:t>
                      </a:r>
                      <a:r>
                        <a:rPr lang="uz-Cyrl-UZ" sz="900" b="0" baseline="0" noProof="0" dirty="0" smtClean="0">
                          <a:solidFill>
                            <a:schemeClr val="tx1"/>
                          </a:solidFill>
                          <a:latin typeface="+mn-lt"/>
                        </a:rPr>
                        <a:t> </a:t>
                      </a:r>
                      <a:r>
                        <a:rPr lang="uz-Cyrl-UZ" sz="900" b="0" noProof="0" dirty="0" smtClean="0">
                          <a:solidFill>
                            <a:schemeClr val="tx1"/>
                          </a:solidFill>
                          <a:latin typeface="+mn-lt"/>
                        </a:rPr>
                        <a:t>томошабинларни </a:t>
                      </a:r>
                      <a:r>
                        <a:rPr lang="uz-Cyrl-UZ" sz="900" b="0" noProof="0" dirty="0">
                          <a:solidFill>
                            <a:schemeClr val="tx1"/>
                          </a:solidFill>
                          <a:latin typeface="+mn-lt"/>
                        </a:rPr>
                        <a:t>театрга жалб этиб келмоқда. </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03212">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21905">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9" name="Рисунок 8">
            <a:extLst>
              <a:ext uri="{FF2B5EF4-FFF2-40B4-BE49-F238E27FC236}">
                <a16:creationId xmlns:a16="http://schemas.microsoft.com/office/drawing/2014/main" id="{FC389EEB-37C2-61A5-3FF4-44D1D0876A40}"/>
              </a:ext>
            </a:extLst>
          </p:cNvPr>
          <p:cNvPicPr>
            <a:picLocks noChangeAspect="1"/>
          </p:cNvPicPr>
          <p:nvPr/>
        </p:nvPicPr>
        <p:blipFill>
          <a:blip r:embed="rId2"/>
          <a:stretch>
            <a:fillRect/>
          </a:stretch>
        </p:blipFill>
        <p:spPr>
          <a:xfrm>
            <a:off x="254666" y="1140796"/>
            <a:ext cx="850926" cy="1078701"/>
          </a:xfrm>
          <a:prstGeom prst="rect">
            <a:avLst/>
          </a:prstGeom>
        </p:spPr>
      </p:pic>
    </p:spTree>
    <p:extLst>
      <p:ext uri="{BB962C8B-B14F-4D97-AF65-F5344CB8AC3E}">
        <p14:creationId xmlns:p14="http://schemas.microsoft.com/office/powerpoint/2010/main" val="2828160346"/>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879347360"/>
              </p:ext>
            </p:extLst>
          </p:nvPr>
        </p:nvGraphicFramePr>
        <p:xfrm>
          <a:off x="144489" y="865700"/>
          <a:ext cx="3427547" cy="5925798"/>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8527">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2975">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ТЕШАБОЕВА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297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Муножатхон</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297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Турсунбоевна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2975">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297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29.01.1962</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297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Андижон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5842">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5594">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Ўзбекистон давлат драма театри етакчи саҳна устаси, нафақада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5842">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51567">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Тешабоев Турсунбой Тешабаевич</a:t>
                      </a:r>
                    </a:p>
                    <a:p>
                      <a:pPr algn="l">
                        <a:lnSpc>
                          <a:spcPct val="85000"/>
                        </a:lnSpc>
                      </a:pPr>
                      <a:r>
                        <a:rPr lang="uz-Cyrl-UZ" sz="900" b="0" kern="1200" noProof="0" dirty="0">
                          <a:solidFill>
                            <a:schemeClr val="tx1"/>
                          </a:solidFill>
                          <a:latin typeface="+mn-lt"/>
                          <a:ea typeface="+mn-ea"/>
                          <a:cs typeface="Arial" panose="020B0604020202020204" pitchFamily="34" charset="0"/>
                        </a:rPr>
                        <a:t>1932 йил, Андижон вилояти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2008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ўқитувчи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4116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Тешабаева Кимёхон Абдуманноповна</a:t>
                      </a:r>
                    </a:p>
                    <a:p>
                      <a:pPr algn="l">
                        <a:lnSpc>
                          <a:spcPct val="85000"/>
                        </a:lnSpc>
                      </a:pPr>
                      <a:r>
                        <a:rPr lang="uz-Cyrl-UZ" sz="900" b="0" kern="1200" noProof="0" dirty="0">
                          <a:solidFill>
                            <a:schemeClr val="tx1"/>
                          </a:solidFill>
                          <a:latin typeface="+mn-lt"/>
                          <a:ea typeface="+mn-ea"/>
                          <a:cs typeface="Arial" panose="020B0604020202020204" pitchFamily="34" charset="0"/>
                        </a:rPr>
                        <a:t>1934 йил, Андижон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2007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(уй </a:t>
                      </a:r>
                      <a:r>
                        <a:rPr lang="ru-RU" sz="900" b="0" kern="1200" noProof="0" dirty="0" err="1">
                          <a:solidFill>
                            <a:schemeClr val="tx1"/>
                          </a:solidFill>
                          <a:latin typeface="+mn-lt"/>
                          <a:ea typeface="+mn-ea"/>
                          <a:cs typeface="Arial" panose="020B0604020202020204" pitchFamily="34" charset="0"/>
                        </a:rPr>
                        <a:t>бекаси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4116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Геирой Қуёш</a:t>
                      </a:r>
                    </a:p>
                    <a:p>
                      <a:pPr algn="l">
                        <a:lnSpc>
                          <a:spcPct val="85000"/>
                        </a:lnSpc>
                      </a:pPr>
                      <a:r>
                        <a:rPr lang="uz-Cyrl-UZ" sz="900" b="0" kern="1200" noProof="0" dirty="0">
                          <a:solidFill>
                            <a:schemeClr val="tx1"/>
                          </a:solidFill>
                          <a:latin typeface="+mn-lt"/>
                          <a:ea typeface="+mn-ea"/>
                          <a:cs typeface="Arial" panose="020B0604020202020204" pitchFamily="34" charset="0"/>
                        </a:rPr>
                        <a:t>1964 йил, Туркия, Адана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тадбиркор</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2060">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37432">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1984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маданият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80231">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Театр актрисаси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9873">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9873">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48781">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151490071"/>
              </p:ext>
            </p:extLst>
          </p:nvPr>
        </p:nvGraphicFramePr>
        <p:xfrm>
          <a:off x="3674526" y="865689"/>
          <a:ext cx="3172841" cy="592581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8143">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62122">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Етакчи саҳна устаси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9776">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Етакчи саҳна устаси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362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45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826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2699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7410">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7410">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2019 й. 2-марказий клиник шифохонасида даволанган</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5480">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4050">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0942">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61596">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1997 й. Ўзбекистонда хизмат кўрстаган артист</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338307372"/>
              </p:ext>
            </p:extLst>
          </p:nvPr>
        </p:nvGraphicFramePr>
        <p:xfrm>
          <a:off x="6887910" y="869286"/>
          <a:ext cx="2879194" cy="5922213"/>
        </p:xfrm>
        <a:graphic>
          <a:graphicData uri="http://schemas.openxmlformats.org/drawingml/2006/table">
            <a:tbl>
              <a:tblPr firstRow="1" bandRow="1">
                <a:tableStyleId>{C083E6E3-FA7D-4D7B-A595-EF9225AFEA82}</a:tableStyleId>
              </a:tblPr>
              <a:tblGrid>
                <a:gridCol w="2879194">
                  <a:extLst>
                    <a:ext uri="{9D8B030D-6E8A-4147-A177-3AD203B41FA5}">
                      <a16:colId xmlns:a16="http://schemas.microsoft.com/office/drawing/2014/main" val="2715609854"/>
                    </a:ext>
                  </a:extLst>
                </a:gridCol>
              </a:tblGrid>
              <a:tr h="279373">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1672">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96879">
                <a:tc>
                  <a:txBody>
                    <a:bodyPr/>
                    <a:lstStyle/>
                    <a:p>
                      <a:pPr algn="just">
                        <a:lnSpc>
                          <a:spcPct val="85000"/>
                        </a:lnSpc>
                      </a:pPr>
                      <a:r>
                        <a:rPr lang="uz-Cyrl-UZ" sz="900" b="0" noProof="0" dirty="0">
                          <a:solidFill>
                            <a:schemeClr val="tx1"/>
                          </a:solidFill>
                          <a:latin typeface="+mn-lt"/>
                        </a:rPr>
                        <a:t>    У ўзбек миллий ва замонавий эстрада анъаналарига таянган ҳолда ижод қилиб келмоқда. У ўзининг фаолияти давмида мумтоз қўшиқлар ижро этиб </a:t>
                      </a:r>
                      <a:r>
                        <a:rPr lang="uz-Cyrl-UZ" sz="900" b="0" noProof="0" dirty="0" smtClean="0">
                          <a:solidFill>
                            <a:schemeClr val="tx1"/>
                          </a:solidFill>
                          <a:latin typeface="+mn-lt"/>
                        </a:rPr>
                        <a:t>келмоқда.</a:t>
                      </a:r>
                    </a:p>
                    <a:p>
                      <a:pPr algn="just">
                        <a:lnSpc>
                          <a:spcPct val="85000"/>
                        </a:lnSpc>
                      </a:pPr>
                      <a:r>
                        <a:rPr lang="uz-Cyrl-UZ" sz="900" b="0" baseline="0" noProof="0" dirty="0" smtClean="0">
                          <a:solidFill>
                            <a:schemeClr val="tx1"/>
                          </a:solidFill>
                          <a:latin typeface="+mn-lt"/>
                        </a:rPr>
                        <a:t>    </a:t>
                      </a:r>
                      <a:r>
                        <a:rPr lang="uz-Cyrl-UZ" sz="900" b="0" noProof="0" dirty="0" smtClean="0">
                          <a:solidFill>
                            <a:schemeClr val="tx1"/>
                          </a:solidFill>
                          <a:latin typeface="+mn-lt"/>
                        </a:rPr>
                        <a:t>1984 </a:t>
                      </a:r>
                      <a:r>
                        <a:rPr lang="uz-Cyrl-UZ" sz="900" b="0" noProof="0" dirty="0">
                          <a:solidFill>
                            <a:schemeClr val="tx1"/>
                          </a:solidFill>
                          <a:latin typeface="+mn-lt"/>
                        </a:rPr>
                        <a:t>йили Тошкент давлат театр ва рассомлик санъати институтини тамомлаган. Аммо у ўз ижодий иш фаолиятини 1981 йилдан 1984 йилгача Муқимий номидаги Ўзбек Давлат мусиқали театрида бошлаган. 1986 йилдан Ўзбекистон давлат драма театрида фаолият юритишни бошлаган. Унинг “Аршин мололан”да – Зебо, “Фармонбиби аразлади”да – Зуҳра, “Искандар”да – Муғамний, “Паранжи сирлари”да – Девона, “Майсаранинг иши”да – бошловчи, “Қуроқ”да ижрочи, “Медея”да – Ҳофиз, “Гўзаллар ва миршаблар”да – Шаҳноз, “Электра”да – Электра, “Алвидо ҳаёт”да – Мадиска, “Саратондаги изғирин”да – Танзила, “Гулсара”да – Асалхон, “Тошкентликлар”да – Нафиса, “Лайли ва Мажнун”да – Шоҳ қизи, “Йиллар армони”да ашулачи, “Ожиза деманг бизни”да Жаннат, “Уфқ”да она, “Лайли ва Мажнун”да муножотчи ролларини ижро этган.  Унинг  иқтидори кино ва телевидение режиссёрлари назарига тушмай қолмади</a:t>
                      </a:r>
                      <a:r>
                        <a:rPr lang="uz-Cyrl-UZ" sz="900" b="0" noProof="0" dirty="0" smtClean="0">
                          <a:solidFill>
                            <a:schemeClr val="tx1"/>
                          </a:solidFill>
                          <a:latin typeface="+mn-lt"/>
                        </a:rPr>
                        <a:t>.</a:t>
                      </a:r>
                    </a:p>
                    <a:p>
                      <a:pPr algn="just">
                        <a:lnSpc>
                          <a:spcPct val="85000"/>
                        </a:lnSpc>
                      </a:pPr>
                      <a:r>
                        <a:rPr lang="uz-Cyrl-UZ" sz="900" b="0" baseline="0" noProof="0" dirty="0" smtClean="0">
                          <a:solidFill>
                            <a:schemeClr val="tx1"/>
                          </a:solidFill>
                          <a:latin typeface="+mn-lt"/>
                        </a:rPr>
                        <a:t>    </a:t>
                      </a:r>
                      <a:r>
                        <a:rPr lang="uz-Cyrl-UZ" sz="900" b="0" noProof="0" dirty="0" smtClean="0">
                          <a:solidFill>
                            <a:schemeClr val="tx1"/>
                          </a:solidFill>
                          <a:latin typeface="+mn-lt"/>
                        </a:rPr>
                        <a:t>“</a:t>
                      </a:r>
                      <a:r>
                        <a:rPr lang="uz-Cyrl-UZ" sz="900" b="0" noProof="0" dirty="0">
                          <a:solidFill>
                            <a:schemeClr val="tx1"/>
                          </a:solidFill>
                          <a:latin typeface="+mn-lt"/>
                        </a:rPr>
                        <a:t>Ҳаёт валси”да – амма, “Опа сингиллар”да – овсин каби бир қатор телевидение телесериалларида рол ижро этган.</a:t>
                      </a:r>
                    </a:p>
                    <a:p>
                      <a:pPr algn="just">
                        <a:lnSpc>
                          <a:spcPct val="85000"/>
                        </a:lnSpc>
                      </a:pP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3571">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20718">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келинадиган барча оммавий маданий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9" name="Рисунок 8">
            <a:extLst>
              <a:ext uri="{FF2B5EF4-FFF2-40B4-BE49-F238E27FC236}">
                <a16:creationId xmlns:a16="http://schemas.microsoft.com/office/drawing/2014/main" id="{CEFD38A3-E123-7CD3-F173-674EBE18A924}"/>
              </a:ext>
            </a:extLst>
          </p:cNvPr>
          <p:cNvPicPr>
            <a:picLocks noChangeAspect="1"/>
          </p:cNvPicPr>
          <p:nvPr/>
        </p:nvPicPr>
        <p:blipFill>
          <a:blip r:embed="rId2"/>
          <a:stretch>
            <a:fillRect/>
          </a:stretch>
        </p:blipFill>
        <p:spPr>
          <a:xfrm>
            <a:off x="303070" y="1135194"/>
            <a:ext cx="846192" cy="1067680"/>
          </a:xfrm>
          <a:prstGeom prst="rect">
            <a:avLst/>
          </a:prstGeom>
        </p:spPr>
      </p:pic>
    </p:spTree>
    <p:extLst>
      <p:ext uri="{BB962C8B-B14F-4D97-AF65-F5344CB8AC3E}">
        <p14:creationId xmlns:p14="http://schemas.microsoft.com/office/powerpoint/2010/main" val="4033227211"/>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877927793"/>
              </p:ext>
            </p:extLst>
          </p:nvPr>
        </p:nvGraphicFramePr>
        <p:xfrm>
          <a:off x="144489" y="865705"/>
          <a:ext cx="3427547" cy="5952923"/>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5431">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187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НОСИРОВ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187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Элёр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187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Расулович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187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187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22.09.1953</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187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2905">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639999">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ўғил, 1 нафар қиз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Ўзбекистон давлат драма театри етакчи саҳна устаси, нафақада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2905">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98031">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Носиров Расул</a:t>
                      </a:r>
                    </a:p>
                    <a:p>
                      <a:pPr algn="l">
                        <a:lnSpc>
                          <a:spcPct val="85000"/>
                        </a:lnSpc>
                      </a:pPr>
                      <a:r>
                        <a:rPr lang="uz-Cyrl-UZ" sz="900" b="0" kern="1200" noProof="0" dirty="0">
                          <a:solidFill>
                            <a:schemeClr val="tx1"/>
                          </a:solidFill>
                          <a:latin typeface="+mn-lt"/>
                          <a:ea typeface="+mn-ea"/>
                          <a:cs typeface="Arial" panose="020B0604020202020204" pitchFamily="34" charset="0"/>
                        </a:rPr>
                        <a:t>1916 йил, Қўқон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1972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ўқитувчи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09497">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Носирова Мапиратхон</a:t>
                      </a:r>
                    </a:p>
                    <a:p>
                      <a:pPr algn="l">
                        <a:lnSpc>
                          <a:spcPct val="85000"/>
                        </a:lnSpc>
                      </a:pPr>
                      <a:r>
                        <a:rPr lang="uz-Cyrl-UZ" sz="900" b="0" kern="1200" noProof="0" dirty="0">
                          <a:solidFill>
                            <a:schemeClr val="tx1"/>
                          </a:solidFill>
                          <a:latin typeface="+mn-lt"/>
                          <a:ea typeface="+mn-ea"/>
                          <a:cs typeface="Arial" panose="020B0604020202020204" pitchFamily="34" charset="0"/>
                        </a:rPr>
                        <a:t>1922 йил, Қўқон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1984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(уй </a:t>
                      </a:r>
                      <a:r>
                        <a:rPr lang="ru-RU" sz="900" b="0" kern="1200" noProof="0" dirty="0" err="1">
                          <a:solidFill>
                            <a:schemeClr val="tx1"/>
                          </a:solidFill>
                          <a:latin typeface="+mn-lt"/>
                          <a:ea typeface="+mn-ea"/>
                          <a:cs typeface="Arial" panose="020B0604020202020204" pitchFamily="34" charset="0"/>
                        </a:rPr>
                        <a:t>бекаси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671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Носирова Мукаррама  Раҳимжановна</a:t>
                      </a:r>
                    </a:p>
                    <a:p>
                      <a:pPr algn="l">
                        <a:lnSpc>
                          <a:spcPct val="85000"/>
                        </a:lnSpc>
                      </a:pPr>
                      <a:r>
                        <a:rPr lang="uz-Cyrl-UZ" sz="900" b="0" kern="1200" noProof="0" dirty="0">
                          <a:solidFill>
                            <a:schemeClr val="tx1"/>
                          </a:solidFill>
                          <a:latin typeface="+mn-lt"/>
                          <a:ea typeface="+mn-ea"/>
                          <a:cs typeface="Arial" panose="020B0604020202020204" pitchFamily="34" charset="0"/>
                        </a:rPr>
                        <a:t>1957 йил, Тошкент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Шифокор, нафақада</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941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91678">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1974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театр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рассомлик</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60116">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Театр ва кино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6934">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6934">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11141">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262192472"/>
              </p:ext>
            </p:extLst>
          </p:nvPr>
        </p:nvGraphicFramePr>
        <p:xfrm>
          <a:off x="3683237" y="865690"/>
          <a:ext cx="3164130" cy="5952939"/>
        </p:xfrm>
        <a:graphic>
          <a:graphicData uri="http://schemas.openxmlformats.org/drawingml/2006/table">
            <a:tbl>
              <a:tblPr firstRow="1" bandRow="1">
                <a:tableStyleId>{C083E6E3-FA7D-4D7B-A595-EF9225AFEA82}</a:tableStyleId>
              </a:tblPr>
              <a:tblGrid>
                <a:gridCol w="1488531">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97658">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7571">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Етакчи саҳна устаси </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651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081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52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565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1534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18814">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1881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2023 й. 2марказий клиник шифохонасида даволанган</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1881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060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7913">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34432">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1996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2003 й.Ўзбекистон Республикаси халқ артисти </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2020 й. “Дўстлик” ордени </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2023 й. “Маданият ва санъат фидокори” кўкрак нишони</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471117090"/>
              </p:ext>
            </p:extLst>
          </p:nvPr>
        </p:nvGraphicFramePr>
        <p:xfrm>
          <a:off x="6944264" y="843831"/>
          <a:ext cx="2817247" cy="5980860"/>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48837">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18907">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310038">
                <a:tc>
                  <a:txBody>
                    <a:bodyPr/>
                    <a:lstStyle/>
                    <a:p>
                      <a:pPr algn="just">
                        <a:lnSpc>
                          <a:spcPct val="85000"/>
                        </a:lnSpc>
                      </a:pPr>
                      <a:r>
                        <a:rPr lang="uz-Cyrl-UZ" sz="900" b="0" noProof="0" dirty="0">
                          <a:solidFill>
                            <a:schemeClr val="tx1"/>
                          </a:solidFill>
                          <a:latin typeface="+mn-lt"/>
                        </a:rPr>
                        <a:t>    1974 йилда Тошкент давлат театр ва рассомлик институтининг Актёрлик факултетини битирган. Ўша йил Ҳамза номидаги академик театрда ўз фаолиятини бошлаган. 1987 йилда ўша пайтда “Ёш гвардия” деб номланган Ўзбекистон давлат драма театрида фаолиятини давом эттирган. </a:t>
                      </a:r>
                    </a:p>
                    <a:p>
                      <a:pPr algn="just">
                        <a:lnSpc>
                          <a:spcPct val="85000"/>
                        </a:lnSpc>
                      </a:pPr>
                      <a:r>
                        <a:rPr lang="uz-Cyrl-UZ" sz="900" b="0" noProof="0" dirty="0" smtClean="0">
                          <a:solidFill>
                            <a:schemeClr val="tx1"/>
                          </a:solidFill>
                          <a:latin typeface="+mn-lt"/>
                        </a:rPr>
                        <a:t>    Унинг </a:t>
                      </a:r>
                      <a:r>
                        <a:rPr lang="uz-Cyrl-UZ" sz="900" b="0" noProof="0" dirty="0">
                          <a:solidFill>
                            <a:schemeClr val="tx1"/>
                          </a:solidFill>
                          <a:latin typeface="+mn-lt"/>
                        </a:rPr>
                        <a:t>ижросидаги “Шошма қуёшда”да Илҳом, “Рўйхатларда йўқ”да Плужников, “Қалби олов”да Колобов, “Келинлар қўзғалони”да созанда, “Ревизор”да Бобчинский, “Олтин девор”да  Нодир, “Маугли”да Акилла каби бир-бирини такрорламайдиган 40дан ортиқ образлари унга  1996 йилда “Ўзбекистонда хизмат кўрстган артист” унвонига сазовор бўлди. </a:t>
                      </a:r>
                    </a:p>
                    <a:p>
                      <a:pPr algn="just">
                        <a:lnSpc>
                          <a:spcPct val="85000"/>
                        </a:lnSpc>
                      </a:pPr>
                      <a:r>
                        <a:rPr lang="uz-Cyrl-UZ" sz="900" b="0" noProof="0" dirty="0" smtClean="0">
                          <a:solidFill>
                            <a:schemeClr val="tx1"/>
                          </a:solidFill>
                          <a:latin typeface="+mn-lt"/>
                        </a:rPr>
                        <a:t>    “</a:t>
                      </a:r>
                      <a:r>
                        <a:rPr lang="uz-Cyrl-UZ" sz="900" b="0" noProof="0" dirty="0">
                          <a:solidFill>
                            <a:schemeClr val="tx1"/>
                          </a:solidFill>
                          <a:latin typeface="+mn-lt"/>
                        </a:rPr>
                        <a:t>97-хона”да Эр, “Аршин мол-олан”да Асқар, “Искандар”да Искандар, “Ибн Сино”да Раҳматилла, “Шошма қуёш”да Илҳом, “Ҳужжатли аҳмоқ”да судя, “Отелло”да Отелло, “Майсаранинг иши”да доирачи, “Қайтар дунё”да Тоҳир, “Бухорои-шариф”да Қори Ишкамба, “Тоға ва жиянлар”да Трест бошлиғи, “Сеҳрли ҳасса”да Қорбобо, “Ёзилмаган мактуб”да Генерал, “Ғаройиб оқшом”да ўғил, “Ҳаёт барибир гўзал”да Аҳмад қора, “Эзгулик йўлида”да домла, “Отасининг қизи”да Нормурод каби образлари  ҳамда “Узоқ қишлоқ”, “Алдагани хотин яхши”, “Буюк ипак йўли”, “Пайванд”, “Эски муҳаббат” “Ер барибир айланаверади”да муҳандис сингари ролларни спектаклларида ўзига хос эпизодик образларни маҳорат билан ижро этган. Унга  2003 йилда “Ўзбекистон халқ артисти” берилгунга қадар театр саҳнасида 100 дан ортиқ образлар яратган. Актёрнинг кейинги йилларда саҳнада яратган “Жинлар базмида” Юсуф ҳожи, “Труффальдино-икки бойнинг малайида”да Бригелла, Унинг “Ишлагандай бўлайлик”даги Муовин бува, “Уфқ”даги Иноят оқсоқол образлари айниқса, томошабинни мафтун этган.  У 30 дан ортиқ кинода рол ўйнаган,  дубляж санъатида 2000 дан лойиҳада қатнашган. </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5991">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731015">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9" name="Рисунок 8">
            <a:extLst>
              <a:ext uri="{FF2B5EF4-FFF2-40B4-BE49-F238E27FC236}">
                <a16:creationId xmlns:a16="http://schemas.microsoft.com/office/drawing/2014/main" id="{3F98908B-B55B-442D-3369-67D3795C888C}"/>
              </a:ext>
            </a:extLst>
          </p:cNvPr>
          <p:cNvPicPr>
            <a:picLocks noChangeAspect="1"/>
          </p:cNvPicPr>
          <p:nvPr/>
        </p:nvPicPr>
        <p:blipFill>
          <a:blip r:embed="rId2"/>
          <a:stretch>
            <a:fillRect/>
          </a:stretch>
        </p:blipFill>
        <p:spPr>
          <a:xfrm>
            <a:off x="237923" y="1130531"/>
            <a:ext cx="901798" cy="1080654"/>
          </a:xfrm>
          <a:prstGeom prst="rect">
            <a:avLst/>
          </a:prstGeom>
        </p:spPr>
      </p:pic>
    </p:spTree>
    <p:extLst>
      <p:ext uri="{BB962C8B-B14F-4D97-AF65-F5344CB8AC3E}">
        <p14:creationId xmlns:p14="http://schemas.microsoft.com/office/powerpoint/2010/main" val="4181247718"/>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002060"/>
                </a:solidFill>
                <a:latin typeface="Bahnschrift SemiBold" panose="020B0502040204020203" pitchFamily="34" charset="0"/>
              </a:rPr>
              <a:t>ПОРТФОЛИО</a:t>
            </a:r>
            <a:endParaRPr lang="en-US" b="1" dirty="0">
              <a:solidFill>
                <a:srgbClr val="002060"/>
              </a:solidFill>
              <a:latin typeface="Bahnschrift SemiBold" panose="020B0502040204020203" pitchFamily="34" charset="0"/>
            </a:endParaRPr>
          </a:p>
        </p:txBody>
      </p:sp>
      <p:sp>
        <p:nvSpPr>
          <p:cNvPr id="3" name="Прямоугольник 2"/>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altLang="en-US" sz="1600" b="1" dirty="0" smtClean="0">
                <a:solidFill>
                  <a:srgbClr val="002060"/>
                </a:solidFill>
                <a:latin typeface="Bahnschrift SemiBold" panose="020B0502040204020203" pitchFamily="34" charset="0"/>
              </a:rPr>
              <a:t>ТЕАТР ВА ЦИРК ЙЎНАЛИШИ СОҲА ВАКИЛЛАРИ</a:t>
            </a:r>
            <a:endParaRPr lang="en-US" sz="1200" b="1" dirty="0">
              <a:solidFill>
                <a:srgbClr val="002060"/>
              </a:solidFill>
              <a:latin typeface="Bahnschrift SemiBold" panose="020B0502040204020203" pitchFamily="34" charset="0"/>
            </a:endParaRPr>
          </a:p>
        </p:txBody>
      </p:sp>
      <p:graphicFrame>
        <p:nvGraphicFramePr>
          <p:cNvPr id="4" name="Таблица 3"/>
          <p:cNvGraphicFramePr>
            <a:graphicFrameLocks noGrp="1"/>
          </p:cNvGraphicFramePr>
          <p:nvPr/>
        </p:nvGraphicFramePr>
        <p:xfrm>
          <a:off x="144780" y="865505"/>
          <a:ext cx="3427730" cy="5975991"/>
        </p:xfrm>
        <a:graphic>
          <a:graphicData uri="http://schemas.openxmlformats.org/drawingml/2006/table">
            <a:tbl>
              <a:tblPr firstRow="1" bandRow="1">
                <a:tableStyleId>{C083E6E3-FA7D-4D7B-A595-EF9225AFEA82}</a:tableStyleId>
              </a:tblPr>
              <a:tblGrid>
                <a:gridCol w="621030">
                  <a:extLst>
                    <a:ext uri="{9D8B030D-6E8A-4147-A177-3AD203B41FA5}">
                      <a16:colId xmlns:a16="http://schemas.microsoft.com/office/drawing/2014/main" val="20000"/>
                    </a:ext>
                  </a:extLst>
                </a:gridCol>
                <a:gridCol w="477520">
                  <a:extLst>
                    <a:ext uri="{9D8B030D-6E8A-4147-A177-3AD203B41FA5}">
                      <a16:colId xmlns:a16="http://schemas.microsoft.com/office/drawing/2014/main" val="20001"/>
                    </a:ext>
                  </a:extLst>
                </a:gridCol>
                <a:gridCol w="153670">
                  <a:extLst>
                    <a:ext uri="{9D8B030D-6E8A-4147-A177-3AD203B41FA5}">
                      <a16:colId xmlns:a16="http://schemas.microsoft.com/office/drawing/2014/main" val="20002"/>
                    </a:ext>
                  </a:extLst>
                </a:gridCol>
                <a:gridCol w="909955">
                  <a:extLst>
                    <a:ext uri="{9D8B030D-6E8A-4147-A177-3AD203B41FA5}">
                      <a16:colId xmlns:a16="http://schemas.microsoft.com/office/drawing/2014/main" val="20003"/>
                    </a:ext>
                  </a:extLst>
                </a:gridCol>
                <a:gridCol w="1265555">
                  <a:extLst>
                    <a:ext uri="{9D8B030D-6E8A-4147-A177-3AD203B41FA5}">
                      <a16:colId xmlns:a16="http://schemas.microsoft.com/office/drawing/2014/main" val="20004"/>
                    </a:ext>
                  </a:extLst>
                </a:gridCol>
              </a:tblGrid>
              <a:tr h="246380">
                <a:tc gridSpan="5">
                  <a:txBody>
                    <a:bodyPr/>
                    <a:lstStyle/>
                    <a:p>
                      <a:pPr marL="0" marR="0" lvl="0" indent="0" algn="ctr" defTabSz="914400" rtl="0" eaLnBrk="1" fontAlgn="auto" latinLnBrk="0" hangingPunct="1">
                        <a:lnSpc>
                          <a:spcPct val="90000"/>
                        </a:lnSpc>
                        <a:spcBef>
                          <a:spcPts val="0"/>
                        </a:spcBef>
                        <a:spcAft>
                          <a:spcPts val="0"/>
                        </a:spcAft>
                        <a:buClrTx/>
                        <a:buSzTx/>
                        <a:buFontTx/>
                        <a:buNone/>
                        <a:defRPr/>
                      </a:pPr>
                      <a:r>
                        <a:rPr lang="en-US"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191135">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en-US"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 altLang="en-US" sz="900" b="0" kern="1200" dirty="0" smtClean="0">
                          <a:solidFill>
                            <a:schemeClr val="tx1"/>
                          </a:solidFill>
                          <a:latin typeface="+mn-lt"/>
                          <a:ea typeface="+mn-ea"/>
                          <a:cs typeface="+mn-cs"/>
                        </a:rPr>
                        <a:t>АБДУЛЛАЕВ</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190500">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en-US"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 altLang="en-US" sz="800" b="0" kern="1200" dirty="0" smtClean="0">
                          <a:solidFill>
                            <a:schemeClr val="tx1"/>
                          </a:solidFill>
                          <a:latin typeface="+mn-lt"/>
                          <a:ea typeface="+mn-ea"/>
                          <a:cs typeface="+mn-cs"/>
                        </a:rPr>
                        <a:t>Хабибулла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191135">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 altLang="en-US" sz="800" b="0" kern="1200" dirty="0" smtClean="0">
                          <a:solidFill>
                            <a:schemeClr val="tx1"/>
                          </a:solidFill>
                          <a:latin typeface="+mn-lt"/>
                          <a:ea typeface="+mn-ea"/>
                          <a:cs typeface="+mn-cs"/>
                        </a:rPr>
                        <a:t>Убайдуллаевич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9177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en-US"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en-US"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191135">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ru-RU" sz="800" b="0" kern="1200" dirty="0" smtClean="0">
                          <a:solidFill>
                            <a:schemeClr val="tx1"/>
                          </a:solidFill>
                          <a:latin typeface="+mn-lt"/>
                          <a:ea typeface="+mn-ea"/>
                          <a:cs typeface="+mn-cs"/>
                        </a:rPr>
                        <a:t>1</a:t>
                      </a:r>
                      <a:r>
                        <a:rPr lang="" altLang="en-US" sz="800" b="0" kern="1200" dirty="0" smtClean="0">
                          <a:solidFill>
                            <a:schemeClr val="tx1"/>
                          </a:solidFill>
                          <a:latin typeface="+mn-lt"/>
                          <a:ea typeface="+mn-ea"/>
                          <a:cs typeface="+mn-cs"/>
                        </a:rPr>
                        <a:t>9</a:t>
                      </a:r>
                      <a:r>
                        <a:rPr lang="ru-RU" sz="800" b="0" kern="1200" dirty="0" smtClean="0">
                          <a:solidFill>
                            <a:schemeClr val="tx1"/>
                          </a:solidFill>
                          <a:latin typeface="+mn-lt"/>
                          <a:ea typeface="+mn-ea"/>
                          <a:cs typeface="+mn-cs"/>
                        </a:rPr>
                        <a:t>.0</a:t>
                      </a:r>
                      <a:r>
                        <a:rPr lang="" altLang="ru-RU" sz="800" b="0" kern="1200" dirty="0" smtClean="0">
                          <a:solidFill>
                            <a:schemeClr val="tx1"/>
                          </a:solidFill>
                          <a:latin typeface="+mn-lt"/>
                          <a:ea typeface="+mn-ea"/>
                          <a:cs typeface="+mn-cs"/>
                        </a:rPr>
                        <a:t>5</a:t>
                      </a:r>
                      <a:r>
                        <a:rPr lang="ru-RU" sz="800" b="0" kern="1200" dirty="0" smtClean="0">
                          <a:solidFill>
                            <a:schemeClr val="tx1"/>
                          </a:solidFill>
                          <a:latin typeface="+mn-lt"/>
                          <a:ea typeface="+mn-ea"/>
                          <a:cs typeface="+mn-cs"/>
                        </a:rPr>
                        <a:t>.19</a:t>
                      </a:r>
                      <a:r>
                        <a:rPr lang="" altLang="ru-RU" sz="800" b="0" kern="1200" dirty="0" smtClean="0">
                          <a:solidFill>
                            <a:schemeClr val="tx1"/>
                          </a:solidFill>
                          <a:latin typeface="+mn-lt"/>
                          <a:ea typeface="+mn-ea"/>
                          <a:cs typeface="+mn-cs"/>
                        </a:rPr>
                        <a:t>53</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191135">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 altLang="en-US" sz="800" b="0" kern="1200" dirty="0" smtClean="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233680">
                <a:tc gridSpan="5">
                  <a:txBody>
                    <a:bodyPr/>
                    <a:lstStyle/>
                    <a:p>
                      <a:pPr algn="ctr"/>
                      <a:r>
                        <a:rPr lang="en-US"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491490">
                <a:tc gridSpan="2">
                  <a:txBody>
                    <a:bodyPr/>
                    <a:lstStyle/>
                    <a:p>
                      <a:pPr marL="0" marR="0" lvl="0" indent="0" algn="ctr" defTabSz="914400" rtl="0" eaLnBrk="1" fontAlgn="auto" latinLnBrk="0" hangingPunct="1">
                        <a:lnSpc>
                          <a:spcPct val="85000"/>
                        </a:lnSpc>
                        <a:spcBef>
                          <a:spcPts val="0"/>
                        </a:spcBef>
                        <a:spcAft>
                          <a:spcPts val="0"/>
                        </a:spcAft>
                        <a:buClrTx/>
                        <a:buSzTx/>
                        <a:buFontTx/>
                        <a:buNone/>
                        <a:defRPr/>
                      </a:pPr>
                      <a:r>
                        <a:rPr lang="en-US" sz="900" b="1" noProof="0" dirty="0" smtClean="0">
                          <a:latin typeface="+mn-lt"/>
                        </a:rPr>
                        <a:t>Оилавий ва ижтимоий ахволи</a:t>
                      </a:r>
                      <a:r>
                        <a:rPr lang="en-US" sz="900" b="1" noProof="0" dirty="0">
                          <a:latin typeface="+mn-lt"/>
                        </a:rPr>
                        <a:t>:</a:t>
                      </a:r>
                      <a:endParaRPr lang="en-US"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900" b="0" kern="1200" noProof="0" dirty="0">
                          <a:solidFill>
                            <a:schemeClr val="tx1"/>
                          </a:solidFill>
                          <a:latin typeface="+mn-lt"/>
                          <a:ea typeface="+mn-ea"/>
                          <a:cs typeface="+mn-cs"/>
                        </a:rPr>
                        <a:t>Оилали, </a:t>
                      </a:r>
                      <a:r>
                        <a:rPr lang="" altLang="en-US" sz="900" b="0" kern="1200" noProof="0" dirty="0">
                          <a:solidFill>
                            <a:schemeClr val="tx1"/>
                          </a:solidFill>
                          <a:latin typeface="+mn-lt"/>
                          <a:ea typeface="+mn-ea"/>
                          <a:cs typeface="+mn-cs"/>
                        </a:rPr>
                        <a:t>1</a:t>
                      </a:r>
                      <a:r>
                        <a:rPr lang="en-US" sz="900" b="0" kern="1200" noProof="0" dirty="0" smtClean="0">
                          <a:solidFill>
                            <a:schemeClr val="tx1"/>
                          </a:solidFill>
                          <a:latin typeface="+mn-lt"/>
                          <a:ea typeface="+mn-ea"/>
                          <a:cs typeface="+mn-cs"/>
                        </a:rPr>
                        <a:t> </a:t>
                      </a:r>
                      <a:r>
                        <a:rPr lang="en-US" sz="900" b="0" kern="1200" noProof="0" dirty="0">
                          <a:solidFill>
                            <a:schemeClr val="tx1"/>
                          </a:solidFill>
                          <a:latin typeface="+mn-lt"/>
                          <a:ea typeface="+mn-ea"/>
                          <a:cs typeface="+mn-cs"/>
                        </a:rPr>
                        <a:t>нафар </a:t>
                      </a:r>
                      <a:r>
                        <a:rPr lang="en-US" sz="900" b="0" kern="1200" noProof="0" dirty="0" smtClean="0">
                          <a:solidFill>
                            <a:schemeClr val="tx1"/>
                          </a:solidFill>
                          <a:latin typeface="+mn-lt"/>
                          <a:ea typeface="+mn-ea"/>
                          <a:cs typeface="+mn-cs"/>
                        </a:rPr>
                        <a:t>ўғил</a:t>
                      </a:r>
                      <a:r>
                        <a:rPr lang="en-US" altLang="en-US" sz="900" b="0" kern="1200" noProof="0" dirty="0" smtClean="0">
                          <a:solidFill>
                            <a:schemeClr val="tx1"/>
                          </a:solidFill>
                          <a:latin typeface="+mn-lt"/>
                          <a:ea typeface="+mn-ea"/>
                          <a:cs typeface="+mn-cs"/>
                        </a:rPr>
                        <a:t>, </a:t>
                      </a:r>
                      <a:r>
                        <a:rPr lang="" altLang="en-US" sz="900" b="0" kern="1200" noProof="0" dirty="0" smtClean="0">
                          <a:solidFill>
                            <a:schemeClr val="tx1"/>
                          </a:solidFill>
                          <a:latin typeface="+mn-lt"/>
                          <a:ea typeface="+mn-ea"/>
                          <a:cs typeface="+mn-cs"/>
                        </a:rPr>
                        <a:t>2</a:t>
                      </a:r>
                      <a:r>
                        <a:rPr lang="en-US" altLang="en-US" sz="900" b="0" kern="1200" noProof="0" dirty="0" smtClean="0">
                          <a:solidFill>
                            <a:schemeClr val="tx1"/>
                          </a:solidFill>
                          <a:latin typeface="+mn-lt"/>
                          <a:ea typeface="+mn-ea"/>
                          <a:cs typeface="+mn-cs"/>
                        </a:rPr>
                        <a:t> нафар қиз</a:t>
                      </a:r>
                      <a:r>
                        <a:rPr lang="en-US" sz="900" b="0" kern="1200" noProof="0" dirty="0" smtClean="0">
                          <a:solidFill>
                            <a:schemeClr val="tx1"/>
                          </a:solidFill>
                          <a:latin typeface="+mn-lt"/>
                          <a:ea typeface="+mn-ea"/>
                          <a:cs typeface="+mn-cs"/>
                        </a:rPr>
                        <a:t> </a:t>
                      </a:r>
                      <a:r>
                        <a:rPr lang="en-US" sz="900" b="0" kern="1200" noProof="0" dirty="0">
                          <a:solidFill>
                            <a:schemeClr val="tx1"/>
                          </a:solidFill>
                          <a:latin typeface="+mn-lt"/>
                          <a:ea typeface="+mn-ea"/>
                          <a:cs typeface="+mn-cs"/>
                        </a:rPr>
                        <a:t>фарзанди </a:t>
                      </a:r>
                      <a:r>
                        <a:rPr lang="en-US" sz="900" b="0" kern="1200" noProof="0" dirty="0" smtClean="0">
                          <a:solidFill>
                            <a:schemeClr val="tx1"/>
                          </a:solidFill>
                          <a:latin typeface="+mn-lt"/>
                          <a:ea typeface="+mn-ea"/>
                          <a:cs typeface="+mn-cs"/>
                        </a:rPr>
                        <a:t>бор, </a:t>
                      </a:r>
                      <a:br>
                        <a:rPr lang="en-US" sz="900" b="0" kern="1200" noProof="0" dirty="0" smtClean="0">
                          <a:solidFill>
                            <a:schemeClr val="tx1"/>
                          </a:solidFill>
                          <a:latin typeface="+mn-lt"/>
                          <a:ea typeface="+mn-ea"/>
                          <a:cs typeface="+mn-cs"/>
                        </a:rPr>
                      </a:br>
                      <a:r>
                        <a:rPr lang="en-US" sz="900" b="0" kern="1200" noProof="0" dirty="0" smtClean="0">
                          <a:solidFill>
                            <a:schemeClr val="tx1"/>
                          </a:solidFill>
                          <a:latin typeface="+mn-lt"/>
                          <a:ea typeface="+mn-ea"/>
                          <a:cs typeface="+mn-cs"/>
                        </a:rPr>
                        <a:t>ҳозирда нафақада</a:t>
                      </a:r>
                      <a:endParaRPr lang="en-US"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8"/>
                  </a:ext>
                </a:extLst>
              </a:tr>
              <a:tr h="189230">
                <a:tc gridSpan="5">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09"/>
                  </a:ext>
                </a:extLst>
              </a:tr>
              <a:tr h="538480">
                <a:tc>
                  <a:txBody>
                    <a:bodyPr/>
                    <a:lstStyle/>
                    <a:p>
                      <a:pPr algn="ctr">
                        <a:lnSpc>
                          <a:spcPct val="85000"/>
                        </a:lnSpc>
                      </a:pPr>
                      <a:r>
                        <a:rPr lang="en-US"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 altLang="en-US" sz="900" b="1" kern="1200" noProof="0" dirty="0" smtClean="0">
                          <a:solidFill>
                            <a:schemeClr val="tx1"/>
                          </a:solidFill>
                          <a:latin typeface="+mn-lt"/>
                          <a:ea typeface="+mn-ea"/>
                          <a:cs typeface="Arial" panose="020B0604020202020204" pitchFamily="34" charset="0"/>
                        </a:rPr>
                        <a:t>АБДУЛЛАЕВ Убайдулла</a:t>
                      </a:r>
                      <a:endParaRPr lang="en-US" altLang="en-US" sz="900" b="1" kern="1200" noProof="0" dirty="0" smtClean="0">
                        <a:solidFill>
                          <a:schemeClr val="tx1"/>
                        </a:solidFill>
                        <a:latin typeface="+mn-lt"/>
                        <a:ea typeface="+mn-ea"/>
                        <a:cs typeface="Arial" panose="020B0604020202020204" pitchFamily="34" charset="0"/>
                      </a:endParaRPr>
                    </a:p>
                    <a:p>
                      <a:pPr algn="l">
                        <a:lnSpc>
                          <a:spcPct val="85000"/>
                        </a:lnSpc>
                      </a:pPr>
                      <a:r>
                        <a:rPr lang="en-US" sz="900" b="0" kern="1200" noProof="0" dirty="0" smtClean="0">
                          <a:solidFill>
                            <a:schemeClr val="tx1"/>
                          </a:solidFill>
                          <a:latin typeface="+mn-lt"/>
                          <a:ea typeface="+mn-ea"/>
                          <a:cs typeface="Arial" panose="020B0604020202020204" pitchFamily="34" charset="0"/>
                        </a:rPr>
                        <a:t>19</a:t>
                      </a:r>
                      <a:r>
                        <a:rPr lang="" altLang="en-US" sz="900" b="0" kern="1200" noProof="0" dirty="0" smtClean="0">
                          <a:solidFill>
                            <a:schemeClr val="tx1"/>
                          </a:solidFill>
                          <a:latin typeface="+mn-lt"/>
                          <a:ea typeface="+mn-ea"/>
                          <a:cs typeface="Arial" panose="020B0604020202020204" pitchFamily="34" charset="0"/>
                        </a:rPr>
                        <a:t>4</a:t>
                      </a:r>
                      <a:r>
                        <a:rPr lang="en-US" sz="900" b="0" kern="1200" noProof="0" dirty="0" smtClean="0">
                          <a:solidFill>
                            <a:schemeClr val="tx1"/>
                          </a:solidFill>
                          <a:latin typeface="+mn-lt"/>
                          <a:ea typeface="+mn-ea"/>
                          <a:cs typeface="Arial" panose="020B0604020202020204" pitchFamily="34" charset="0"/>
                        </a:rPr>
                        <a:t> йил, </a:t>
                      </a:r>
                      <a:r>
                        <a:rPr lang="" altLang="en-US" sz="900" b="0" kern="1200" noProof="0" dirty="0" smtClean="0">
                          <a:solidFill>
                            <a:schemeClr val="tx1"/>
                          </a:solidFill>
                          <a:latin typeface="+mn-lt"/>
                          <a:ea typeface="+mn-ea"/>
                          <a:cs typeface="Arial" panose="020B0604020202020204" pitchFamily="34" charset="0"/>
                        </a:rPr>
                        <a:t>Тошкент</a:t>
                      </a:r>
                      <a:r>
                        <a:rPr lang="en-US" sz="900" b="0" kern="1200" noProof="0" dirty="0" smtClean="0">
                          <a:solidFill>
                            <a:schemeClr val="tx1"/>
                          </a:solidFill>
                          <a:latin typeface="+mn-lt"/>
                          <a:ea typeface="+mn-ea"/>
                          <a:cs typeface="Arial" panose="020B0604020202020204" pitchFamily="34" charset="0"/>
                        </a:rPr>
                        <a:t> шаҳри</a:t>
                      </a:r>
                      <a:endParaRPr lang="en-US"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Arial" panose="020B0604020202020204" pitchFamily="34" charset="0"/>
                        </a:rPr>
                        <a:t>1964 йил вафот этган</a:t>
                      </a:r>
                    </a:p>
                    <a:p>
                      <a:pPr algn="l">
                        <a:lnSpc>
                          <a:spcPct val="85000"/>
                        </a:lnSpc>
                      </a:pPr>
                      <a:r>
                        <a:rPr lang="en-US" altLang="en-US" sz="900" b="0" kern="1200" noProof="0" dirty="0">
                          <a:solidFill>
                            <a:schemeClr val="tx1"/>
                          </a:solidFill>
                          <a:latin typeface="+mn-lt"/>
                          <a:ea typeface="+mn-ea"/>
                          <a:cs typeface="Arial" panose="020B0604020202020204" pitchFamily="34" charset="0"/>
                        </a:rPr>
                        <a:t>(Туман озиқ-овқат савдо базаси директори)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429895">
                <a:tc>
                  <a:txBody>
                    <a:bodyPr/>
                    <a:lstStyle/>
                    <a:p>
                      <a:pPr algn="ctr">
                        <a:lnSpc>
                          <a:spcPct val="85000"/>
                        </a:lnSpc>
                      </a:pPr>
                      <a:r>
                        <a:rPr lang="en-US"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 altLang="en-US" sz="900" b="1" kern="1200" noProof="0" dirty="0" smtClean="0">
                          <a:solidFill>
                            <a:schemeClr val="tx1"/>
                          </a:solidFill>
                          <a:latin typeface="+mn-lt"/>
                          <a:ea typeface="+mn-ea"/>
                          <a:cs typeface="Arial" panose="020B0604020202020204" pitchFamily="34" charset="0"/>
                        </a:rPr>
                        <a:t>ЮСУПОВ</a:t>
                      </a:r>
                      <a:r>
                        <a:rPr lang="en-US" altLang="en-US" sz="900" b="1" kern="1200" noProof="0" dirty="0" smtClean="0">
                          <a:solidFill>
                            <a:schemeClr val="tx1"/>
                          </a:solidFill>
                          <a:latin typeface="+mn-lt"/>
                          <a:ea typeface="+mn-ea"/>
                          <a:cs typeface="Arial" panose="020B0604020202020204" pitchFamily="34" charset="0"/>
                        </a:rPr>
                        <a:t> </a:t>
                      </a:r>
                      <a:r>
                        <a:rPr lang="en-US" altLang="en-US" sz="900" b="0" kern="1200" noProof="0" dirty="0" smtClean="0">
                          <a:solidFill>
                            <a:schemeClr val="tx1"/>
                          </a:solidFill>
                          <a:latin typeface="+mn-lt"/>
                          <a:ea typeface="+mn-ea"/>
                          <a:cs typeface="Arial" panose="020B0604020202020204" pitchFamily="34" charset="0"/>
                        </a:rPr>
                        <a:t>Турсуной</a:t>
                      </a:r>
                    </a:p>
                    <a:p>
                      <a:pPr algn="l">
                        <a:lnSpc>
                          <a:spcPct val="85000"/>
                        </a:lnSpc>
                      </a:pPr>
                      <a:r>
                        <a:rPr lang="en-US" altLang="en-US" sz="900" b="0" kern="1200" noProof="0" dirty="0" smtClean="0">
                          <a:solidFill>
                            <a:schemeClr val="tx1"/>
                          </a:solidFill>
                          <a:latin typeface="+mn-lt"/>
                          <a:ea typeface="+mn-ea"/>
                          <a:cs typeface="Arial" panose="020B0604020202020204" pitchFamily="34" charset="0"/>
                        </a:rPr>
                        <a:t>1</a:t>
                      </a:r>
                      <a:r>
                        <a:rPr lang="en-US" sz="900" b="0" kern="1200" noProof="0" dirty="0" smtClean="0">
                          <a:solidFill>
                            <a:schemeClr val="tx1"/>
                          </a:solidFill>
                          <a:latin typeface="+mn-lt"/>
                          <a:ea typeface="+mn-ea"/>
                          <a:cs typeface="Arial" panose="020B0604020202020204" pitchFamily="34" charset="0"/>
                        </a:rPr>
                        <a:t>9</a:t>
                      </a:r>
                      <a:r>
                        <a:rPr lang="" altLang="en-US" sz="900" b="0" kern="1200" noProof="0" dirty="0" smtClean="0">
                          <a:solidFill>
                            <a:schemeClr val="tx1"/>
                          </a:solidFill>
                          <a:latin typeface="+mn-lt"/>
                          <a:ea typeface="+mn-ea"/>
                          <a:cs typeface="Arial" panose="020B0604020202020204" pitchFamily="34" charset="0"/>
                        </a:rPr>
                        <a:t>26</a:t>
                      </a:r>
                      <a:r>
                        <a:rPr lang="en-US" sz="900" b="0" kern="1200" noProof="0" dirty="0" smtClean="0">
                          <a:solidFill>
                            <a:schemeClr val="tx1"/>
                          </a:solidFill>
                          <a:latin typeface="+mn-lt"/>
                          <a:ea typeface="+mn-ea"/>
                          <a:cs typeface="Arial" panose="020B0604020202020204" pitchFamily="34" charset="0"/>
                        </a:rPr>
                        <a:t> йил, </a:t>
                      </a:r>
                      <a:r>
                        <a:rPr lang="en-US" altLang="en-US" sz="900" noProof="0" dirty="0" smtClean="0">
                          <a:cs typeface="Arial" panose="020B0604020202020204" pitchFamily="34" charset="0"/>
                          <a:sym typeface="+mn-ea"/>
                        </a:rPr>
                        <a:t>Тошкент</a:t>
                      </a:r>
                      <a:r>
                        <a:rPr lang="en-US" sz="900" noProof="0" dirty="0" smtClean="0">
                          <a:cs typeface="Arial" panose="020B0604020202020204" pitchFamily="34" charset="0"/>
                          <a:sym typeface="+mn-ea"/>
                        </a:rPr>
                        <a:t> шаҳри</a:t>
                      </a:r>
                      <a:endParaRPr lang="en-US"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 altLang="en-US" sz="900" b="0" kern="1200" noProof="0" dirty="0">
                          <a:solidFill>
                            <a:schemeClr val="tx1"/>
                          </a:solidFill>
                          <a:latin typeface="+mn-lt"/>
                          <a:ea typeface="+mn-ea"/>
                          <a:cs typeface="Arial" panose="020B0604020202020204" pitchFamily="34" charset="0"/>
                        </a:rPr>
                        <a:t>пенсионер </a:t>
                      </a:r>
                      <a:r>
                        <a:rPr lang="en-US" altLang="en-US" sz="900" b="0" kern="1200" noProof="0" dirty="0">
                          <a:solidFill>
                            <a:schemeClr val="tx1"/>
                          </a:solidFill>
                          <a:latin typeface="+mn-lt"/>
                          <a:ea typeface="+mn-ea"/>
                          <a:cs typeface="Arial" panose="020B0604020202020204" pitchFamily="34" charset="0"/>
                        </a:rPr>
                        <a:t>(Туман озиқ-овқат савдо базаси директор ўринбосари)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r h="611505">
                <a:tc>
                  <a:txBody>
                    <a:bodyPr/>
                    <a:lstStyle/>
                    <a:p>
                      <a:pPr algn="ctr">
                        <a:lnSpc>
                          <a:spcPct val="85000"/>
                        </a:lnSpc>
                      </a:pPr>
                      <a:r>
                        <a:rPr lang="en-US"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 altLang="en-US" sz="900" b="1" kern="1200" noProof="0" dirty="0" smtClean="0">
                          <a:solidFill>
                            <a:schemeClr val="tx1"/>
                          </a:solidFill>
                          <a:latin typeface="+mn-lt"/>
                          <a:ea typeface="+mn-ea"/>
                          <a:cs typeface="Arial" panose="020B0604020202020204" pitchFamily="34" charset="0"/>
                        </a:rPr>
                        <a:t>ГАБДУРАФИКОВА</a:t>
                      </a:r>
                      <a:r>
                        <a:rPr lang="en-US" altLang="en-US" sz="900" b="1" kern="1200" noProof="0" dirty="0" smtClean="0">
                          <a:solidFill>
                            <a:schemeClr val="tx1"/>
                          </a:solidFill>
                          <a:latin typeface="+mn-lt"/>
                          <a:ea typeface="+mn-ea"/>
                          <a:cs typeface="Arial" panose="020B0604020202020204" pitchFamily="34" charset="0"/>
                        </a:rPr>
                        <a:t> Мадина Нурмиевна</a:t>
                      </a:r>
                    </a:p>
                    <a:p>
                      <a:pPr algn="l">
                        <a:lnSpc>
                          <a:spcPct val="85000"/>
                        </a:lnSpc>
                      </a:pPr>
                      <a:r>
                        <a:rPr lang="en-US" sz="900" b="0" kern="1200" noProof="0" dirty="0" smtClean="0">
                          <a:solidFill>
                            <a:schemeClr val="tx1"/>
                          </a:solidFill>
                          <a:latin typeface="+mn-lt"/>
                          <a:ea typeface="+mn-ea"/>
                          <a:cs typeface="Arial" panose="020B0604020202020204" pitchFamily="34" charset="0"/>
                        </a:rPr>
                        <a:t>19</a:t>
                      </a:r>
                      <a:r>
                        <a:rPr lang="en-US" altLang="en-US" sz="900" b="0" kern="1200" noProof="0" dirty="0" smtClean="0">
                          <a:solidFill>
                            <a:schemeClr val="tx1"/>
                          </a:solidFill>
                          <a:latin typeface="+mn-lt"/>
                          <a:ea typeface="+mn-ea"/>
                          <a:cs typeface="Arial" panose="020B0604020202020204" pitchFamily="34" charset="0"/>
                        </a:rPr>
                        <a:t>5</a:t>
                      </a:r>
                      <a:r>
                        <a:rPr lang="" altLang="en-US" sz="900" b="0" kern="1200" noProof="0" dirty="0" smtClean="0">
                          <a:solidFill>
                            <a:schemeClr val="tx1"/>
                          </a:solidFill>
                          <a:latin typeface="+mn-lt"/>
                          <a:ea typeface="+mn-ea"/>
                          <a:cs typeface="Arial" panose="020B0604020202020204" pitchFamily="34" charset="0"/>
                        </a:rPr>
                        <a:t>5</a:t>
                      </a:r>
                      <a:r>
                        <a:rPr lang="en-US" sz="900" b="0" kern="1200" noProof="0" dirty="0" smtClean="0">
                          <a:solidFill>
                            <a:schemeClr val="tx1"/>
                          </a:solidFill>
                          <a:latin typeface="+mn-lt"/>
                          <a:ea typeface="+mn-ea"/>
                          <a:cs typeface="Arial" panose="020B0604020202020204" pitchFamily="34" charset="0"/>
                        </a:rPr>
                        <a:t> йил, </a:t>
                      </a:r>
                      <a:r>
                        <a:rPr lang="en-US" altLang="en-US" sz="900" noProof="0" dirty="0" smtClean="0">
                          <a:cs typeface="Arial" panose="020B0604020202020204" pitchFamily="34" charset="0"/>
                          <a:sym typeface="+mn-ea"/>
                        </a:rPr>
                        <a:t>Тошкент</a:t>
                      </a:r>
                      <a:r>
                        <a:rPr lang="en-US" sz="900" noProof="0" dirty="0" smtClean="0">
                          <a:cs typeface="Arial" panose="020B0604020202020204" pitchFamily="34" charset="0"/>
                          <a:sym typeface="+mn-ea"/>
                        </a:rPr>
                        <a:t> шаҳри</a:t>
                      </a:r>
                      <a:endParaRPr lang="en-US" sz="900" b="0" kern="1200" noProof="0" dirty="0" smtClean="0">
                        <a:solidFill>
                          <a:schemeClr val="tx1"/>
                        </a:solidFill>
                        <a:latin typeface="+mn-lt"/>
                        <a:ea typeface="+mn-ea"/>
                        <a:cs typeface="Arial" panose="020B0604020202020204" pitchFamily="34" charset="0"/>
                      </a:endParaRPr>
                    </a:p>
                    <a:p>
                      <a:pPr algn="l">
                        <a:lnSpc>
                          <a:spcPct val="85000"/>
                        </a:lnSpc>
                      </a:pPr>
                      <a:endParaRPr lang="en-US" altLang="en-US" sz="900" b="0" kern="1200" noProof="0" dirty="0" smtClean="0">
                        <a:solidFill>
                          <a:schemeClr val="tx1"/>
                        </a:solidFill>
                        <a:latin typeface="+mn-lt"/>
                        <a:ea typeface="+mn-ea"/>
                        <a:cs typeface="Arial" panose="020B0604020202020204" pitchFamily="34" charset="0"/>
                        <a:sym typeface="+mn-ea"/>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 altLang="en-US" sz="900" b="0" kern="1200" noProof="0" dirty="0">
                          <a:solidFill>
                            <a:schemeClr val="tx1"/>
                          </a:solidFill>
                          <a:latin typeface="+mn-lt"/>
                          <a:ea typeface="+mn-ea"/>
                          <a:cs typeface="+mn-cs"/>
                        </a:rPr>
                        <a:t>2024 йил вафот этган (</a:t>
                      </a:r>
                      <a:r>
                        <a:rPr lang="en-US" altLang="en-US" sz="900" b="0" kern="1200" noProof="0" dirty="0">
                          <a:solidFill>
                            <a:schemeClr val="tx1"/>
                          </a:solidFill>
                          <a:latin typeface="+mn-lt"/>
                          <a:ea typeface="+mn-ea"/>
                          <a:cs typeface="+mn-cs"/>
                        </a:rPr>
                        <a:t>Миробод тумани диний маърифат ва маънафий ишлари маслахатчи</a:t>
                      </a:r>
                      <a:r>
                        <a:rPr lang="" altLang="en-US"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2"/>
                  </a:ext>
                </a:extLst>
              </a:tr>
              <a:tr h="166370">
                <a:tc gridSpan="5">
                  <a:txBody>
                    <a:bodyPr/>
                    <a:lstStyle/>
                    <a:p>
                      <a:pPr algn="ctr">
                        <a:lnSpc>
                          <a:spcPct val="85000"/>
                        </a:lnSpc>
                      </a:pPr>
                      <a:r>
                        <a:rPr lang="en-US"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10013"/>
                  </a:ext>
                </a:extLst>
              </a:tr>
              <a:tr h="469900">
                <a:tc gridSpan="3">
                  <a:txBody>
                    <a:bodyPr/>
                    <a:lstStyle/>
                    <a:p>
                      <a:pPr algn="l">
                        <a:lnSpc>
                          <a:spcPct val="85000"/>
                        </a:lnSpc>
                      </a:pPr>
                      <a:r>
                        <a:rPr lang="en-US" sz="900" b="1" noProof="0" dirty="0">
                          <a:latin typeface="+mn-lt"/>
                        </a:rPr>
                        <a:t>Тамомлаган ОТМ:</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 altLang="ru-RU" sz="900" b="0" kern="1200" noProof="0" dirty="0" smtClean="0">
                          <a:solidFill>
                            <a:schemeClr val="tx1"/>
                          </a:solidFill>
                          <a:latin typeface="+mn-lt"/>
                          <a:ea typeface="+mn-ea"/>
                          <a:cs typeface="+mn-cs"/>
                        </a:rPr>
                        <a:t>1974</a:t>
                      </a:r>
                      <a:r>
                        <a:rPr lang="ru-RU" sz="900" b="0" kern="1200" noProof="0" dirty="0" smtClean="0">
                          <a:solidFill>
                            <a:schemeClr val="tx1"/>
                          </a:solidFill>
                          <a:latin typeface="+mn-lt"/>
                          <a:ea typeface="+mn-ea"/>
                          <a:cs typeface="+mn-cs"/>
                        </a:rPr>
                        <a:t> й.</a:t>
                      </a:r>
                      <a:r>
                        <a:rPr lang="en-US" altLang="en-US" sz="900" b="0" kern="1200" noProof="0" dirty="0" smtClean="0">
                          <a:solidFill>
                            <a:schemeClr val="tx1"/>
                          </a:solidFill>
                          <a:latin typeface="+mn-lt"/>
                          <a:ea typeface="+mn-ea"/>
                          <a:cs typeface="+mn-cs"/>
                        </a:rPr>
                        <a:t>Тошкент театр ва рассомлик 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4"/>
                  </a:ext>
                </a:extLst>
              </a:tr>
              <a:tr h="277495">
                <a:tc gridSpan="3">
                  <a:txBody>
                    <a:bodyPr/>
                    <a:lstStyle/>
                    <a:p>
                      <a:pPr marL="0" marR="0" lvl="0" indent="0" algn="l" defTabSz="914400" rtl="0" eaLnBrk="1" fontAlgn="auto" latinLnBrk="0" hangingPunct="1">
                        <a:lnSpc>
                          <a:spcPct val="85000"/>
                        </a:lnSpc>
                        <a:spcBef>
                          <a:spcPts val="0"/>
                        </a:spcBef>
                        <a:spcAft>
                          <a:spcPts val="0"/>
                        </a:spcAft>
                        <a:buClrTx/>
                        <a:buSzTx/>
                        <a:buFontTx/>
                        <a:buNone/>
                        <a:defRPr/>
                      </a:pPr>
                      <a:r>
                        <a:rPr lang="en-US" sz="900" b="1" noProof="0" dirty="0">
                          <a:latin typeface="+mn-lt"/>
                        </a:rPr>
                        <a:t>Мутахассислиги:</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altLang="en-US" sz="900" b="0" kern="1200" noProof="0" dirty="0">
                          <a:solidFill>
                            <a:schemeClr val="tx1"/>
                          </a:solidFill>
                          <a:latin typeface="+mn-lt"/>
                          <a:ea typeface="+mn-ea"/>
                          <a:cs typeface="+mn-cs"/>
                        </a:rPr>
                        <a:t>драма театр ва кино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5"/>
                  </a:ext>
                </a:extLst>
              </a:tr>
              <a:tr h="316865">
                <a:tc gridSpan="3">
                  <a:txBody>
                    <a:bodyPr/>
                    <a:lstStyle/>
                    <a:p>
                      <a:pPr algn="l">
                        <a:lnSpc>
                          <a:spcPct val="85000"/>
                        </a:lnSpc>
                      </a:pPr>
                      <a:r>
                        <a:rPr lang="en-US" sz="900" b="1" kern="1200" noProof="0" dirty="0">
                          <a:solidFill>
                            <a:schemeClr val="tx1"/>
                          </a:solidFill>
                          <a:latin typeface="+mn-lt"/>
                          <a:ea typeface="+mn-ea"/>
                          <a:cs typeface="+mn-cs"/>
                        </a:rPr>
                        <a:t>Илмий даража (унвон):</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6"/>
                  </a:ext>
                </a:extLst>
              </a:tr>
              <a:tr h="316865">
                <a:tc gridSpan="3">
                  <a:txBody>
                    <a:bodyPr/>
                    <a:lstStyle/>
                    <a:p>
                      <a:pPr algn="l">
                        <a:lnSpc>
                          <a:spcPct val="85000"/>
                        </a:lnSpc>
                      </a:pPr>
                      <a:r>
                        <a:rPr lang="en-US"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7"/>
                  </a:ext>
                </a:extLst>
              </a:tr>
              <a:tr h="239395">
                <a:tc gridSpan="3">
                  <a:txBody>
                    <a:bodyPr/>
                    <a:lstStyle/>
                    <a:p>
                      <a:pPr algn="l">
                        <a:lnSpc>
                          <a:spcPct val="85000"/>
                        </a:lnSpc>
                      </a:pPr>
                      <a:r>
                        <a:rPr lang="en-US"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8"/>
                  </a:ext>
                </a:extLst>
              </a:tr>
            </a:tbl>
          </a:graphicData>
        </a:graphic>
      </p:graphicFrame>
      <p:graphicFrame>
        <p:nvGraphicFramePr>
          <p:cNvPr id="5" name="Таблица 4"/>
          <p:cNvGraphicFramePr>
            <a:graphicFrameLocks noGrp="1"/>
          </p:cNvGraphicFramePr>
          <p:nvPr/>
        </p:nvGraphicFramePr>
        <p:xfrm>
          <a:off x="3674745" y="865505"/>
          <a:ext cx="3173095" cy="5879084"/>
        </p:xfrm>
        <a:graphic>
          <a:graphicData uri="http://schemas.openxmlformats.org/drawingml/2006/table">
            <a:tbl>
              <a:tblPr firstRow="1" bandRow="1">
                <a:tableStyleId>{C083E6E3-FA7D-4D7B-A595-EF9225AFEA82}</a:tableStyleId>
              </a:tblPr>
              <a:tblGrid>
                <a:gridCol w="1443990">
                  <a:extLst>
                    <a:ext uri="{9D8B030D-6E8A-4147-A177-3AD203B41FA5}">
                      <a16:colId xmlns:a16="http://schemas.microsoft.com/office/drawing/2014/main" val="20000"/>
                    </a:ext>
                  </a:extLst>
                </a:gridCol>
                <a:gridCol w="1729105">
                  <a:extLst>
                    <a:ext uri="{9D8B030D-6E8A-4147-A177-3AD203B41FA5}">
                      <a16:colId xmlns:a16="http://schemas.microsoft.com/office/drawing/2014/main" val="20001"/>
                    </a:ext>
                  </a:extLst>
                </a:gridCol>
              </a:tblGrid>
              <a:tr h="327660">
                <a:tc gridSpan="2">
                  <a:txBody>
                    <a:bodyPr/>
                    <a:lstStyle/>
                    <a:p>
                      <a:pPr algn="ctr"/>
                      <a:r>
                        <a:rPr lang="en-US"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528955">
                <a:tc>
                  <a:txBody>
                    <a:bodyPr/>
                    <a:lstStyle/>
                    <a:p>
                      <a:pPr algn="l">
                        <a:lnSpc>
                          <a:spcPct val="85000"/>
                        </a:lnSpc>
                      </a:pPr>
                      <a:r>
                        <a:rPr lang="en-US" sz="900" b="1" i="0" noProof="0" dirty="0">
                          <a:solidFill>
                            <a:schemeClr val="tx1"/>
                          </a:solidFill>
                          <a:latin typeface="+mn-lt"/>
                        </a:rPr>
                        <a:t>Эгаллаб турган </a:t>
                      </a:r>
                      <a:r>
                        <a:rPr lang="en-US" sz="900" b="1" i="0" noProof="0" dirty="0" smtClean="0">
                          <a:solidFill>
                            <a:schemeClr val="tx1"/>
                          </a:solidFill>
                          <a:latin typeface="+mn-lt"/>
                        </a:rPr>
                        <a:t>лавозими</a:t>
                      </a:r>
                      <a:r>
                        <a:rPr lang="en-US"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 altLang="en-US" sz="900" b="1" kern="1200" noProof="0" dirty="0" smtClean="0">
                          <a:solidFill>
                            <a:schemeClr val="tx1"/>
                          </a:solidFill>
                          <a:latin typeface="+mn-lt"/>
                          <a:ea typeface="+mn-ea"/>
                          <a:cs typeface="+mn-cs"/>
                        </a:rPr>
                        <a:t>1976 йилда мехнат шартномаси бекор бўлган</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43840">
                <a:tc>
                  <a:txBody>
                    <a:bodyPr/>
                    <a:lstStyle/>
                    <a:p>
                      <a:pPr algn="l">
                        <a:lnSpc>
                          <a:spcPct val="85000"/>
                        </a:lnSpc>
                      </a:pPr>
                      <a:r>
                        <a:rPr lang="en-US"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en-US"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en-US"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10185">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b="0" noProof="0" dirty="0" smtClean="0">
                          <a:effectLst/>
                          <a:latin typeface="+mn-lt"/>
                          <a:ea typeface="Calibri" panose="020F0502020204030204" pitchFamily="34" charset="0"/>
                          <a:cs typeface="Times New Roman" panose="02020603050405020304" pitchFamily="18" charset="0"/>
                        </a:rPr>
                        <a:t> </a:t>
                      </a:r>
                      <a:r>
                        <a:rPr lang="en-US"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96215">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b="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406400">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en-US"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293370">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862965">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en-US" altLang="ru-RU"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293370">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en-US" altLang="en-US" sz="900" kern="1200" noProof="0" dirty="0" smtClean="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8"/>
                  </a:ext>
                </a:extLst>
              </a:tr>
              <a:tr h="257810">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226695">
                <a:tc gridSpan="2">
                  <a:txBody>
                    <a:bodyPr/>
                    <a:lstStyle/>
                    <a:p>
                      <a:pPr algn="ctr"/>
                      <a:r>
                        <a:rPr lang="en-US"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2031365">
                <a:tc gridSpan="2">
                  <a:txBody>
                    <a:bodyPr/>
                    <a:lstStyle/>
                    <a:p>
                      <a:pPr marL="0" marR="0" indent="0" algn="just" defTabSz="914400" rtl="0" eaLnBrk="1" fontAlgn="auto" latinLnBrk="0" hangingPunct="1">
                        <a:lnSpc>
                          <a:spcPct val="107000"/>
                        </a:lnSpc>
                        <a:spcBef>
                          <a:spcPts val="0"/>
                        </a:spcBef>
                        <a:spcAft>
                          <a:spcPts val="0"/>
                        </a:spcAft>
                        <a:buClrTx/>
                        <a:buSzTx/>
                        <a:buFontTx/>
                        <a:buNone/>
                        <a:defRPr/>
                      </a:pPr>
                      <a:r>
                        <a:rPr lang="en-US" altLang="en-US" sz="900" noProof="0" dirty="0" smtClean="0">
                          <a:effectLst/>
                          <a:latin typeface="+mn-lt"/>
                          <a:ea typeface="Calibri" panose="020F0502020204030204" pitchFamily="34" charset="0"/>
                          <a:cs typeface="Times New Roman" panose="02020603050405020304" pitchFamily="18" charset="0"/>
                        </a:rPr>
                        <a:t>20</a:t>
                      </a:r>
                      <a:r>
                        <a:rPr lang="" altLang="en-US" sz="900" noProof="0" dirty="0" smtClean="0">
                          <a:effectLst/>
                          <a:latin typeface="+mn-lt"/>
                          <a:ea typeface="Calibri" panose="020F0502020204030204" pitchFamily="34" charset="0"/>
                          <a:cs typeface="Times New Roman" panose="02020603050405020304" pitchFamily="18" charset="0"/>
                        </a:rPr>
                        <a:t>00</a:t>
                      </a:r>
                      <a:r>
                        <a:rPr lang="en-US" sz="900" noProof="0" dirty="0" smtClean="0">
                          <a:effectLst/>
                          <a:latin typeface="+mn-lt"/>
                          <a:ea typeface="Calibri" panose="020F0502020204030204" pitchFamily="34" charset="0"/>
                          <a:cs typeface="Times New Roman" panose="02020603050405020304" pitchFamily="18" charset="0"/>
                        </a:rPr>
                        <a:t> й. Ўзбекистонда хизмат кўрстаган артист</a:t>
                      </a:r>
                      <a:endParaRPr lang="en-US" altLang="en-US"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endParaRPr lang="ru-RU"/>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bl>
          </a:graphicData>
        </a:graphic>
      </p:graphicFrame>
      <p:graphicFrame>
        <p:nvGraphicFramePr>
          <p:cNvPr id="6" name="Таблица 5"/>
          <p:cNvGraphicFramePr>
            <a:graphicFrameLocks noGrp="1"/>
          </p:cNvGraphicFramePr>
          <p:nvPr>
            <p:extLst>
              <p:ext uri="{D42A27DB-BD31-4B8C-83A1-F6EECF244321}">
                <p14:modId xmlns:p14="http://schemas.microsoft.com/office/powerpoint/2010/main" val="112652489"/>
              </p:ext>
            </p:extLst>
          </p:nvPr>
        </p:nvGraphicFramePr>
        <p:xfrm>
          <a:off x="6949857" y="869285"/>
          <a:ext cx="2817247" cy="5875049"/>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0000"/>
                    </a:ext>
                  </a:extLst>
                </a:gridCol>
              </a:tblGrid>
              <a:tr h="286315">
                <a:tc>
                  <a:txBody>
                    <a:bodyPr/>
                    <a:lstStyle/>
                    <a:p>
                      <a:pPr algn="ctr">
                        <a:lnSpc>
                          <a:spcPct val="85000"/>
                        </a:lnSpc>
                      </a:pPr>
                      <a:r>
                        <a:rPr lang="en-US" sz="1200" b="1" noProof="0" dirty="0" smtClean="0">
                          <a:solidFill>
                            <a:schemeClr val="bg1"/>
                          </a:solidFill>
                          <a:latin typeface="Bahnschrift SemiBold" panose="020B0502040204020203" pitchFamily="34" charset="0"/>
                        </a:rPr>
                        <a:t>ФАОЛИЯТИ</a:t>
                      </a:r>
                      <a:r>
                        <a:rPr lang="en-US" sz="1200" b="1" baseline="0" noProof="0" dirty="0" smtClean="0">
                          <a:solidFill>
                            <a:schemeClr val="bg1"/>
                          </a:solidFill>
                          <a:latin typeface="Bahnschrift SemiBold" panose="020B0502040204020203" pitchFamily="34" charset="0"/>
                        </a:rPr>
                        <a:t> </a:t>
                      </a:r>
                      <a:endParaRPr lang="en-US"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10000"/>
                  </a:ext>
                </a:extLst>
              </a:tr>
              <a:tr h="360410">
                <a:tc>
                  <a:txBody>
                    <a:bodyPr/>
                    <a:lstStyle/>
                    <a:p>
                      <a:pPr algn="ctr">
                        <a:lnSpc>
                          <a:spcPct val="85000"/>
                        </a:lnSpc>
                      </a:pPr>
                      <a:r>
                        <a:rPr lang="en-US" sz="1000" b="1" noProof="0" dirty="0" smtClean="0">
                          <a:solidFill>
                            <a:schemeClr val="bg1"/>
                          </a:solidFill>
                          <a:latin typeface="Bahnschrift SemiBold" panose="020B0502040204020203" pitchFamily="34" charset="0"/>
                        </a:rPr>
                        <a:t>Меҳнат фаолияти ҳақида</a:t>
                      </a:r>
                      <a:r>
                        <a:rPr lang="en-US" sz="1000" b="1" baseline="0" noProof="0" dirty="0" smtClean="0">
                          <a:solidFill>
                            <a:schemeClr val="bg1"/>
                          </a:solidFill>
                          <a:latin typeface="Bahnschrift SemiBold" panose="020B0502040204020203" pitchFamily="34" charset="0"/>
                        </a:rPr>
                        <a:t> қисқача тавсифнома</a:t>
                      </a:r>
                      <a:endParaRPr lang="en-US"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10001"/>
                  </a:ext>
                </a:extLst>
              </a:tr>
              <a:tr h="4403650">
                <a:tc>
                  <a:txBody>
                    <a:bodyPr/>
                    <a:lstStyle/>
                    <a:p>
                      <a:pPr algn="just">
                        <a:lnSpc>
                          <a:spcPct val="85000"/>
                        </a:lnSpc>
                      </a:pPr>
                      <a:r>
                        <a:rPr lang="en-US" sz="900" b="0" noProof="0" dirty="0" smtClean="0">
                          <a:solidFill>
                            <a:schemeClr val="tx1"/>
                          </a:solidFill>
                          <a:latin typeface="+mn-lt"/>
                        </a:rPr>
                        <a:t>   </a:t>
                      </a:r>
                      <a:r>
                        <a:rPr lang="en-US" altLang="en-US" sz="900" b="0" noProof="0" dirty="0">
                          <a:solidFill>
                            <a:schemeClr val="tx1"/>
                          </a:solidFill>
                          <a:latin typeface="+mn-lt"/>
                        </a:rPr>
                        <a:t> Абдуллаев Хабибулла катта ёки кичик образ ижро этишидан қатъи назар, ҳар бир қаҳрамонни эсда қоларли даражада гавдалантириб, болажонларда завқ ва қизиқиш уйғота олган. У айниқса телеминиатюралар орқали кенг томошабинларга яхши </a:t>
                      </a:r>
                      <a:r>
                        <a:rPr lang="en-US" altLang="en-US" sz="900" b="0" noProof="0" dirty="0" err="1">
                          <a:solidFill>
                            <a:schemeClr val="tx1"/>
                          </a:solidFill>
                          <a:latin typeface="+mn-lt"/>
                        </a:rPr>
                        <a:t>танилган</a:t>
                      </a:r>
                      <a:r>
                        <a:rPr lang="en-US" altLang="en-US" sz="900" b="0" noProof="0" dirty="0" smtClean="0">
                          <a:solidFill>
                            <a:schemeClr val="tx1"/>
                          </a:solidFill>
                          <a:latin typeface="+mn-lt"/>
                        </a:rPr>
                        <a:t>.</a:t>
                      </a:r>
                      <a:endParaRPr lang="en-US" altLang="ru-RU" sz="900" b="0" noProof="0" dirty="0">
                        <a:solidFill>
                          <a:schemeClr val="tx1"/>
                        </a:solidFill>
                        <a:latin typeface="+mn-lt"/>
                      </a:endParaRPr>
                    </a:p>
                    <a:p>
                      <a:pPr algn="just">
                        <a:lnSpc>
                          <a:spcPct val="85000"/>
                        </a:lnSpc>
                      </a:pPr>
                      <a:r>
                        <a:rPr lang="ru-RU" altLang="en-US" sz="900" b="0" noProof="0" dirty="0" smtClean="0">
                          <a:solidFill>
                            <a:schemeClr val="tx1"/>
                          </a:solidFill>
                          <a:latin typeface="+mn-lt"/>
                        </a:rPr>
                        <a:t>    </a:t>
                      </a:r>
                      <a:r>
                        <a:rPr lang="en-US" altLang="en-US" sz="900" b="0" noProof="0" dirty="0" err="1" smtClean="0">
                          <a:solidFill>
                            <a:schemeClr val="tx1"/>
                          </a:solidFill>
                          <a:latin typeface="+mn-lt"/>
                        </a:rPr>
                        <a:t>Унинг</a:t>
                      </a:r>
                      <a:r>
                        <a:rPr lang="en-US" altLang="en-US" sz="900" b="0" noProof="0" dirty="0" smtClean="0">
                          <a:solidFill>
                            <a:schemeClr val="tx1"/>
                          </a:solidFill>
                          <a:latin typeface="+mn-lt"/>
                        </a:rPr>
                        <a:t> </a:t>
                      </a:r>
                      <a:r>
                        <a:rPr lang="en-US" altLang="en-US" sz="900" b="0" noProof="0" dirty="0">
                          <a:solidFill>
                            <a:schemeClr val="tx1"/>
                          </a:solidFill>
                          <a:latin typeface="+mn-lt"/>
                        </a:rPr>
                        <a:t>“Алпомиш” спектаклидаги Вазир, “Сеҳрланган шаҳзода”даги Қирол, “Ўз ёрингдан айрилма”даги Шумилов, “Оқ бўри”даги Шоҳ, “Қайнар хумча”даги Терсак, “Эссиз умр”даги Қўрқмас, “Ёввойи мушук”даги Ит, “Зумраша” спектаклидаги Чол ва Бўри каби образлари спектаклларнинг бадиий бутунлигини таъминлашда муҳим аҳамият касб </a:t>
                      </a:r>
                      <a:r>
                        <a:rPr lang="en-US" altLang="en-US" sz="900" b="0" noProof="0" dirty="0" err="1">
                          <a:solidFill>
                            <a:schemeClr val="tx1"/>
                          </a:solidFill>
                          <a:latin typeface="+mn-lt"/>
                        </a:rPr>
                        <a:t>этган</a:t>
                      </a:r>
                      <a:r>
                        <a:rPr lang="en-US" altLang="en-US" sz="900" b="0" noProof="0" dirty="0" smtClean="0">
                          <a:solidFill>
                            <a:schemeClr val="tx1"/>
                          </a:solidFill>
                          <a:latin typeface="+mn-lt"/>
                        </a:rPr>
                        <a:t>.</a:t>
                      </a:r>
                      <a:endParaRPr lang="en-US" altLang="ru-RU" sz="900" b="0" noProof="0" dirty="0">
                        <a:solidFill>
                          <a:schemeClr val="tx1"/>
                        </a:solidFill>
                        <a:latin typeface="+mn-lt"/>
                      </a:endParaRPr>
                    </a:p>
                    <a:p>
                      <a:pPr algn="just">
                        <a:lnSpc>
                          <a:spcPct val="85000"/>
                        </a:lnSpc>
                      </a:pPr>
                      <a:r>
                        <a:rPr lang="ru-RU" altLang="en-US" sz="900" b="0" noProof="0" dirty="0" smtClean="0">
                          <a:solidFill>
                            <a:schemeClr val="tx1"/>
                          </a:solidFill>
                          <a:latin typeface="+mn-lt"/>
                        </a:rPr>
                        <a:t>    </a:t>
                      </a:r>
                      <a:r>
                        <a:rPr lang="en-US" altLang="en-US" sz="900" b="0" noProof="0" dirty="0" err="1" smtClean="0">
                          <a:solidFill>
                            <a:schemeClr val="tx1"/>
                          </a:solidFill>
                          <a:latin typeface="+mn-lt"/>
                        </a:rPr>
                        <a:t>Унинг</a:t>
                      </a:r>
                      <a:r>
                        <a:rPr lang="en-US" altLang="en-US" sz="900" b="0" noProof="0" dirty="0" smtClean="0">
                          <a:solidFill>
                            <a:schemeClr val="tx1"/>
                          </a:solidFill>
                          <a:latin typeface="+mn-lt"/>
                        </a:rPr>
                        <a:t> </a:t>
                      </a:r>
                      <a:r>
                        <a:rPr lang="en-US" altLang="en-US" sz="900" b="0" noProof="0" dirty="0">
                          <a:solidFill>
                            <a:schemeClr val="tx1"/>
                          </a:solidFill>
                          <a:latin typeface="+mn-lt"/>
                        </a:rPr>
                        <a:t>театр санъати ривожига қўшган муносиб ҳиссаси эътироф этилиб, 2000 йилда “Ўзбекистон Республикасида хизмат кўрсатган артист” фахрий унвони билан </a:t>
                      </a:r>
                      <a:r>
                        <a:rPr lang="en-US" altLang="en-US" sz="900" b="0" noProof="0" dirty="0" err="1">
                          <a:solidFill>
                            <a:schemeClr val="tx1"/>
                          </a:solidFill>
                          <a:latin typeface="+mn-lt"/>
                        </a:rPr>
                        <a:t>тақдирланган</a:t>
                      </a:r>
                      <a:r>
                        <a:rPr lang="en-US" altLang="en-US" sz="900" b="0" noProof="0" dirty="0" smtClean="0">
                          <a:solidFill>
                            <a:schemeClr val="tx1"/>
                          </a:solidFill>
                          <a:latin typeface="+mn-lt"/>
                        </a:rPr>
                        <a:t>.</a:t>
                      </a:r>
                      <a:endParaRPr lang="en-US" altLang="en-US"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0002"/>
                  </a:ext>
                </a:extLst>
              </a:tr>
              <a:tr h="177884">
                <a:tc>
                  <a:txBody>
                    <a:bodyPr/>
                    <a:lstStyle/>
                    <a:p>
                      <a:pPr marL="0" marR="0" lvl="0" indent="0" algn="ctr" defTabSz="914400" rtl="0" eaLnBrk="1" fontAlgn="auto" latinLnBrk="0" hangingPunct="1">
                        <a:lnSpc>
                          <a:spcPct val="107000"/>
                        </a:lnSpc>
                        <a:spcBef>
                          <a:spcPts val="0"/>
                        </a:spcBef>
                        <a:spcAft>
                          <a:spcPts val="0"/>
                        </a:spcAft>
                        <a:buClrTx/>
                        <a:buSzTx/>
                        <a:buFontTx/>
                        <a:buNone/>
                        <a:defRPr/>
                      </a:pPr>
                      <a:r>
                        <a:rPr lang="en-US"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10003"/>
                  </a:ext>
                </a:extLst>
              </a:tr>
              <a:tr h="646790">
                <a:tc>
                  <a:txBody>
                    <a:bodyPr/>
                    <a:lstStyle/>
                    <a:p>
                      <a:pPr marL="0" marR="0" lvl="0" indent="0" algn="just" defTabSz="914400" rtl="0" eaLnBrk="1" fontAlgn="auto" latinLnBrk="0" hangingPunct="1">
                        <a:lnSpc>
                          <a:spcPct val="107000"/>
                        </a:lnSpc>
                        <a:spcBef>
                          <a:spcPts val="0"/>
                        </a:spcBef>
                        <a:spcAft>
                          <a:spcPts val="0"/>
                        </a:spcAft>
                        <a:buClrTx/>
                        <a:buSzTx/>
                        <a:buFontTx/>
                        <a:buNone/>
                        <a:defRPr/>
                      </a:pPr>
                      <a:r>
                        <a:rPr lang="ru-RU" sz="900" b="0" dirty="0" smtClean="0">
                          <a:effectLst/>
                          <a:latin typeface="+mn-lt"/>
                          <a:ea typeface="Calibri" panose="020F0502020204030204" pitchFamily="34" charset="0"/>
                          <a:cs typeface="Times New Roman" panose="02020603050405020304" pitchFamily="18" charset="0"/>
                        </a:rPr>
                        <a:t>    </a:t>
                      </a:r>
                      <a:r>
                        <a:rPr lang="en-US" sz="900" b="0" dirty="0" err="1" smtClean="0">
                          <a:effectLst/>
                          <a:latin typeface="+mn-lt"/>
                          <a:ea typeface="Calibri" panose="020F0502020204030204" pitchFamily="34" charset="0"/>
                          <a:cs typeface="Times New Roman" panose="02020603050405020304" pitchFamily="18" charset="0"/>
                        </a:rPr>
                        <a:t>Республикамизда</a:t>
                      </a:r>
                      <a:r>
                        <a:rPr lang="en-US"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bl>
          </a:graphicData>
        </a:graphic>
      </p:graphicFrame>
      <p:pic>
        <p:nvPicPr>
          <p:cNvPr id="9" name="Изображение 1073742849" descr="IMG_256"/>
          <p:cNvPicPr>
            <a:picLocks noChangeAspect="1"/>
          </p:cNvPicPr>
          <p:nvPr/>
        </p:nvPicPr>
        <p:blipFill>
          <a:blip r:embed="rId2"/>
          <a:stretch>
            <a:fillRect/>
          </a:stretch>
        </p:blipFill>
        <p:spPr>
          <a:xfrm>
            <a:off x="275879" y="1127125"/>
            <a:ext cx="815340" cy="1089025"/>
          </a:xfrm>
          <a:prstGeom prst="rect">
            <a:avLst/>
          </a:prstGeom>
          <a:noFill/>
          <a:ln w="9525">
            <a:noFill/>
          </a:ln>
        </p:spPr>
      </p:pic>
    </p:spTree>
    <p:extLst>
      <p:ext uri="{BB962C8B-B14F-4D97-AF65-F5344CB8AC3E}">
        <p14:creationId xmlns:p14="http://schemas.microsoft.com/office/powerpoint/2010/main" val="3429077513"/>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002060"/>
                </a:solidFill>
                <a:latin typeface="Bahnschrift SemiBold" panose="020B0502040204020203" pitchFamily="34" charset="0"/>
              </a:rPr>
              <a:t>ПОРТФОЛИО</a:t>
            </a:r>
            <a:endParaRPr lang="en-US" b="1" dirty="0">
              <a:solidFill>
                <a:srgbClr val="002060"/>
              </a:solidFill>
              <a:latin typeface="Bahnschrift SemiBold" panose="020B0502040204020203" pitchFamily="34" charset="0"/>
            </a:endParaRPr>
          </a:p>
        </p:txBody>
      </p:sp>
      <p:sp>
        <p:nvSpPr>
          <p:cNvPr id="3" name="Прямоугольник 2"/>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altLang="en-US" sz="1600" b="1" dirty="0" smtClean="0">
                <a:solidFill>
                  <a:srgbClr val="002060"/>
                </a:solidFill>
                <a:latin typeface="Bahnschrift SemiBold" panose="020B0502040204020203" pitchFamily="34" charset="0"/>
              </a:rPr>
              <a:t>ТЕАТР ВА ЦИРК ЙЎНАЛИШИ СОҲА ВАКИЛЛАРИ</a:t>
            </a:r>
            <a:endParaRPr lang="en-US" sz="1200" b="1" dirty="0">
              <a:solidFill>
                <a:srgbClr val="002060"/>
              </a:solidFill>
              <a:latin typeface="Bahnschrift SemiBold" panose="020B0502040204020203" pitchFamily="34" charset="0"/>
            </a:endParaRPr>
          </a:p>
        </p:txBody>
      </p:sp>
      <p:graphicFrame>
        <p:nvGraphicFramePr>
          <p:cNvPr id="4" name="Таблица 3"/>
          <p:cNvGraphicFramePr>
            <a:graphicFrameLocks noGrp="1"/>
          </p:cNvGraphicFramePr>
          <p:nvPr>
            <p:extLst>
              <p:ext uri="{D42A27DB-BD31-4B8C-83A1-F6EECF244321}">
                <p14:modId xmlns:p14="http://schemas.microsoft.com/office/powerpoint/2010/main" val="3753001727"/>
              </p:ext>
            </p:extLst>
          </p:nvPr>
        </p:nvGraphicFramePr>
        <p:xfrm>
          <a:off x="144780" y="865505"/>
          <a:ext cx="3427730" cy="5864043"/>
        </p:xfrm>
        <a:graphic>
          <a:graphicData uri="http://schemas.openxmlformats.org/drawingml/2006/table">
            <a:tbl>
              <a:tblPr firstRow="1" bandRow="1">
                <a:tableStyleId>{C083E6E3-FA7D-4D7B-A595-EF9225AFEA82}</a:tableStyleId>
              </a:tblPr>
              <a:tblGrid>
                <a:gridCol w="586105">
                  <a:extLst>
                    <a:ext uri="{9D8B030D-6E8A-4147-A177-3AD203B41FA5}">
                      <a16:colId xmlns:a16="http://schemas.microsoft.com/office/drawing/2014/main" val="20000"/>
                    </a:ext>
                  </a:extLst>
                </a:gridCol>
                <a:gridCol w="512445">
                  <a:extLst>
                    <a:ext uri="{9D8B030D-6E8A-4147-A177-3AD203B41FA5}">
                      <a16:colId xmlns:a16="http://schemas.microsoft.com/office/drawing/2014/main" val="20001"/>
                    </a:ext>
                  </a:extLst>
                </a:gridCol>
                <a:gridCol w="153670">
                  <a:extLst>
                    <a:ext uri="{9D8B030D-6E8A-4147-A177-3AD203B41FA5}">
                      <a16:colId xmlns:a16="http://schemas.microsoft.com/office/drawing/2014/main" val="20002"/>
                    </a:ext>
                  </a:extLst>
                </a:gridCol>
                <a:gridCol w="909955">
                  <a:extLst>
                    <a:ext uri="{9D8B030D-6E8A-4147-A177-3AD203B41FA5}">
                      <a16:colId xmlns:a16="http://schemas.microsoft.com/office/drawing/2014/main" val="20003"/>
                    </a:ext>
                  </a:extLst>
                </a:gridCol>
                <a:gridCol w="1265555">
                  <a:extLst>
                    <a:ext uri="{9D8B030D-6E8A-4147-A177-3AD203B41FA5}">
                      <a16:colId xmlns:a16="http://schemas.microsoft.com/office/drawing/2014/main" val="20004"/>
                    </a:ext>
                  </a:extLst>
                </a:gridCol>
              </a:tblGrid>
              <a:tr h="239402">
                <a:tc gridSpan="5">
                  <a:txBody>
                    <a:bodyPr/>
                    <a:lstStyle/>
                    <a:p>
                      <a:pPr marL="0" marR="0" lvl="0" indent="0" algn="ctr" defTabSz="914400" rtl="0" eaLnBrk="1" fontAlgn="auto" latinLnBrk="0" hangingPunct="1">
                        <a:lnSpc>
                          <a:spcPct val="90000"/>
                        </a:lnSpc>
                        <a:spcBef>
                          <a:spcPts val="0"/>
                        </a:spcBef>
                        <a:spcAft>
                          <a:spcPts val="0"/>
                        </a:spcAft>
                        <a:buClrTx/>
                        <a:buSzTx/>
                        <a:buFontTx/>
                        <a:buNone/>
                        <a:defRPr/>
                      </a:pPr>
                      <a:r>
                        <a:rPr lang="en-US"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187157">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en-US"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en-US" altLang="ru-RU" sz="900" b="0" kern="1200" dirty="0" smtClean="0">
                          <a:solidFill>
                            <a:schemeClr val="tx1"/>
                          </a:solidFill>
                          <a:latin typeface="+mn-lt"/>
                          <a:ea typeface="+mn-ea"/>
                          <a:cs typeface="+mn-cs"/>
                        </a:rPr>
                        <a:t>АТАХАНОВА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187157">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en-US"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Хакимахон</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187157">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ХХХ</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87157">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en-US"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en-US"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187157">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ru-RU" sz="800" b="0" kern="1200" dirty="0" smtClean="0">
                          <a:solidFill>
                            <a:schemeClr val="tx1"/>
                          </a:solidFill>
                          <a:latin typeface="+mn-lt"/>
                          <a:ea typeface="+mn-ea"/>
                          <a:cs typeface="+mn-cs"/>
                        </a:rPr>
                        <a:t>2</a:t>
                      </a:r>
                      <a:r>
                        <a:rPr lang="ru-RU" sz="800" b="0" kern="1200" dirty="0" smtClean="0">
                          <a:solidFill>
                            <a:schemeClr val="tx1"/>
                          </a:solidFill>
                          <a:latin typeface="+mn-lt"/>
                          <a:ea typeface="+mn-ea"/>
                          <a:cs typeface="+mn-cs"/>
                        </a:rPr>
                        <a:t>6.0</a:t>
                      </a:r>
                      <a:r>
                        <a:rPr lang="en-US" altLang="ru-RU" sz="800" b="0" kern="1200" dirty="0" smtClean="0">
                          <a:solidFill>
                            <a:schemeClr val="tx1"/>
                          </a:solidFill>
                          <a:latin typeface="+mn-lt"/>
                          <a:ea typeface="+mn-ea"/>
                          <a:cs typeface="+mn-cs"/>
                        </a:rPr>
                        <a:t>5</a:t>
                      </a:r>
                      <a:r>
                        <a:rPr lang="ru-RU" sz="800" b="0" kern="1200" dirty="0" smtClean="0">
                          <a:solidFill>
                            <a:schemeClr val="tx1"/>
                          </a:solidFill>
                          <a:latin typeface="+mn-lt"/>
                          <a:ea typeface="+mn-ea"/>
                          <a:cs typeface="+mn-cs"/>
                        </a:rPr>
                        <a:t>.19</a:t>
                      </a:r>
                      <a:r>
                        <a:rPr lang="en-US" altLang="ru-RU" sz="800" b="0" kern="1200" dirty="0" smtClean="0">
                          <a:solidFill>
                            <a:schemeClr val="tx1"/>
                          </a:solidFill>
                          <a:latin typeface="+mn-lt"/>
                          <a:ea typeface="+mn-ea"/>
                          <a:cs typeface="+mn-cs"/>
                        </a:rPr>
                        <a:t>5</a:t>
                      </a:r>
                      <a:r>
                        <a:rPr lang="ru-RU" sz="800" b="0" kern="1200" dirty="0" smtClean="0">
                          <a:solidFill>
                            <a:schemeClr val="tx1"/>
                          </a:solidFill>
                          <a:latin typeface="+mn-lt"/>
                          <a:ea typeface="+mn-ea"/>
                          <a:cs typeface="+mn-cs"/>
                        </a:rPr>
                        <a:t>6</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187157">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Андижон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227184">
                <a:tc gridSpan="5">
                  <a:txBody>
                    <a:bodyPr/>
                    <a:lstStyle/>
                    <a:p>
                      <a:pPr algn="ctr"/>
                      <a:r>
                        <a:rPr lang="en-US"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486822">
                <a:tc gridSpan="2">
                  <a:txBody>
                    <a:bodyPr/>
                    <a:lstStyle/>
                    <a:p>
                      <a:pPr marL="0" marR="0" lvl="0" indent="0" algn="ctr" defTabSz="914400" rtl="0" eaLnBrk="1" fontAlgn="auto" latinLnBrk="0" hangingPunct="1">
                        <a:lnSpc>
                          <a:spcPct val="85000"/>
                        </a:lnSpc>
                        <a:spcBef>
                          <a:spcPts val="0"/>
                        </a:spcBef>
                        <a:spcAft>
                          <a:spcPts val="0"/>
                        </a:spcAft>
                        <a:buClrTx/>
                        <a:buSzTx/>
                        <a:buFontTx/>
                        <a:buNone/>
                        <a:defRPr/>
                      </a:pPr>
                      <a:r>
                        <a:rPr lang="en-US" sz="900" b="1" noProof="0" dirty="0" smtClean="0">
                          <a:latin typeface="+mn-lt"/>
                        </a:rPr>
                        <a:t>Оилавий ва ижтимоий ахволи</a:t>
                      </a:r>
                      <a:r>
                        <a:rPr lang="en-US" sz="900" b="1" noProof="0" dirty="0">
                          <a:latin typeface="+mn-lt"/>
                        </a:rPr>
                        <a:t>:</a:t>
                      </a:r>
                      <a:endParaRPr lang="en-US"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900" b="0" kern="1200" noProof="0" dirty="0">
                          <a:solidFill>
                            <a:schemeClr val="tx1"/>
                          </a:solidFill>
                          <a:latin typeface="+mn-lt"/>
                          <a:ea typeface="+mn-ea"/>
                          <a:cs typeface="+mn-cs"/>
                        </a:rPr>
                        <a:t>Оилали, </a:t>
                      </a:r>
                      <a:r>
                        <a:rPr lang="en-US" altLang="en-US" sz="900" b="0" kern="1200" noProof="0" dirty="0">
                          <a:solidFill>
                            <a:schemeClr val="tx1"/>
                          </a:solidFill>
                          <a:latin typeface="+mn-lt"/>
                          <a:ea typeface="+mn-ea"/>
                          <a:cs typeface="+mn-cs"/>
                        </a:rPr>
                        <a:t>1</a:t>
                      </a:r>
                      <a:r>
                        <a:rPr lang="en-US" sz="900" b="0" kern="1200" noProof="0" dirty="0" smtClean="0">
                          <a:solidFill>
                            <a:schemeClr val="tx1"/>
                          </a:solidFill>
                          <a:latin typeface="+mn-lt"/>
                          <a:ea typeface="+mn-ea"/>
                          <a:cs typeface="+mn-cs"/>
                        </a:rPr>
                        <a:t> </a:t>
                      </a:r>
                      <a:r>
                        <a:rPr lang="en-US" sz="900" b="0" kern="1200" noProof="0" dirty="0">
                          <a:solidFill>
                            <a:schemeClr val="tx1"/>
                          </a:solidFill>
                          <a:latin typeface="+mn-lt"/>
                          <a:ea typeface="+mn-ea"/>
                          <a:cs typeface="+mn-cs"/>
                        </a:rPr>
                        <a:t>нафар </a:t>
                      </a:r>
                      <a:r>
                        <a:rPr lang="en-US" sz="900" b="0" kern="1200" noProof="0" dirty="0" smtClean="0">
                          <a:solidFill>
                            <a:schemeClr val="tx1"/>
                          </a:solidFill>
                          <a:latin typeface="+mn-lt"/>
                          <a:ea typeface="+mn-ea"/>
                          <a:cs typeface="+mn-cs"/>
                        </a:rPr>
                        <a:t>ўғил</a:t>
                      </a:r>
                      <a:r>
                        <a:rPr lang="en-US" altLang="en-US" sz="900" b="0" kern="1200" noProof="0" dirty="0" smtClean="0">
                          <a:solidFill>
                            <a:schemeClr val="tx1"/>
                          </a:solidFill>
                          <a:latin typeface="+mn-lt"/>
                          <a:ea typeface="+mn-ea"/>
                          <a:cs typeface="+mn-cs"/>
                        </a:rPr>
                        <a:t>, 2 нафар қиз</a:t>
                      </a:r>
                      <a:r>
                        <a:rPr lang="en-US" sz="900" b="0" kern="1200" noProof="0" dirty="0" smtClean="0">
                          <a:solidFill>
                            <a:schemeClr val="tx1"/>
                          </a:solidFill>
                          <a:latin typeface="+mn-lt"/>
                          <a:ea typeface="+mn-ea"/>
                          <a:cs typeface="+mn-cs"/>
                        </a:rPr>
                        <a:t> </a:t>
                      </a:r>
                      <a:r>
                        <a:rPr lang="en-US" sz="900" b="0" kern="1200" noProof="0" dirty="0">
                          <a:solidFill>
                            <a:schemeClr val="tx1"/>
                          </a:solidFill>
                          <a:latin typeface="+mn-lt"/>
                          <a:ea typeface="+mn-ea"/>
                          <a:cs typeface="+mn-cs"/>
                        </a:rPr>
                        <a:t>фарзанди </a:t>
                      </a:r>
                      <a:r>
                        <a:rPr lang="en-US" sz="900" b="0" kern="1200" noProof="0" dirty="0" smtClean="0">
                          <a:solidFill>
                            <a:schemeClr val="tx1"/>
                          </a:solidFill>
                          <a:latin typeface="+mn-lt"/>
                          <a:ea typeface="+mn-ea"/>
                          <a:cs typeface="+mn-cs"/>
                        </a:rPr>
                        <a:t>бор, </a:t>
                      </a:r>
                      <a:br>
                        <a:rPr lang="en-US" sz="900" b="0" kern="1200" noProof="0" dirty="0" smtClean="0">
                          <a:solidFill>
                            <a:schemeClr val="tx1"/>
                          </a:solidFill>
                          <a:latin typeface="+mn-lt"/>
                          <a:ea typeface="+mn-ea"/>
                          <a:cs typeface="+mn-cs"/>
                        </a:rPr>
                      </a:br>
                      <a:r>
                        <a:rPr lang="en-US" sz="900" b="0" kern="1200" noProof="0" dirty="0" smtClean="0">
                          <a:solidFill>
                            <a:schemeClr val="tx1"/>
                          </a:solidFill>
                          <a:latin typeface="+mn-lt"/>
                          <a:ea typeface="+mn-ea"/>
                          <a:cs typeface="+mn-cs"/>
                        </a:rPr>
                        <a:t>ҳозирда нафақада</a:t>
                      </a:r>
                      <a:endParaRPr lang="en-US"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8"/>
                  </a:ext>
                </a:extLst>
              </a:tr>
              <a:tr h="227184">
                <a:tc gridSpan="5">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09"/>
                  </a:ext>
                </a:extLst>
              </a:tr>
              <a:tr h="659659">
                <a:tc>
                  <a:txBody>
                    <a:bodyPr/>
                    <a:lstStyle/>
                    <a:p>
                      <a:pPr algn="ctr">
                        <a:lnSpc>
                          <a:spcPct val="85000"/>
                        </a:lnSpc>
                      </a:pPr>
                      <a:r>
                        <a:rPr lang="en-US"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kern="1200" noProof="0" dirty="0" smtClean="0">
                          <a:solidFill>
                            <a:schemeClr val="tx1"/>
                          </a:solidFill>
                          <a:latin typeface="+mn-lt"/>
                          <a:ea typeface="+mn-ea"/>
                          <a:cs typeface="Arial" panose="020B0604020202020204" pitchFamily="34" charset="0"/>
                        </a:rPr>
                        <a:t>ОТАХОНОВ Абдуқаххор</a:t>
                      </a:r>
                    </a:p>
                    <a:p>
                      <a:pPr algn="l">
                        <a:lnSpc>
                          <a:spcPct val="85000"/>
                        </a:lnSpc>
                      </a:pPr>
                      <a:r>
                        <a:rPr lang="en-US" sz="900" b="0" kern="1200" noProof="0" dirty="0" smtClean="0">
                          <a:solidFill>
                            <a:schemeClr val="tx1"/>
                          </a:solidFill>
                          <a:latin typeface="+mn-lt"/>
                          <a:ea typeface="+mn-ea"/>
                          <a:cs typeface="Arial" panose="020B0604020202020204" pitchFamily="34" charset="0"/>
                        </a:rPr>
                        <a:t>19</a:t>
                      </a:r>
                      <a:r>
                        <a:rPr lang="en-US" altLang="en-US" sz="900" b="0" kern="1200" noProof="0" dirty="0" smtClean="0">
                          <a:solidFill>
                            <a:schemeClr val="tx1"/>
                          </a:solidFill>
                          <a:latin typeface="+mn-lt"/>
                          <a:ea typeface="+mn-ea"/>
                          <a:cs typeface="Arial" panose="020B0604020202020204" pitchFamily="34" charset="0"/>
                        </a:rPr>
                        <a:t>24</a:t>
                      </a:r>
                      <a:r>
                        <a:rPr lang="en-US" sz="900" b="0" kern="1200" noProof="0" dirty="0" smtClean="0">
                          <a:solidFill>
                            <a:schemeClr val="tx1"/>
                          </a:solidFill>
                          <a:latin typeface="+mn-lt"/>
                          <a:ea typeface="+mn-ea"/>
                          <a:cs typeface="Arial" panose="020B0604020202020204" pitchFamily="34" charset="0"/>
                        </a:rPr>
                        <a:t> йил, </a:t>
                      </a:r>
                      <a:r>
                        <a:rPr lang="en-US" altLang="en-US" sz="900" b="0" kern="1200" noProof="0" dirty="0" smtClean="0">
                          <a:solidFill>
                            <a:schemeClr val="tx1"/>
                          </a:solidFill>
                          <a:latin typeface="+mn-lt"/>
                          <a:ea typeface="+mn-ea"/>
                          <a:cs typeface="Arial" panose="020B0604020202020204" pitchFamily="34" charset="0"/>
                        </a:rPr>
                        <a:t>Андижон вилояти</a:t>
                      </a:r>
                      <a:endParaRPr lang="en-US" altLang="en-US"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Arial" panose="020B0604020202020204" pitchFamily="34" charset="0"/>
                        </a:rPr>
                        <a:t>1991 йил вафот этган.</a:t>
                      </a:r>
                    </a:p>
                    <a:p>
                      <a:pPr algn="l">
                        <a:lnSpc>
                          <a:spcPct val="85000"/>
                        </a:lnSpc>
                      </a:pPr>
                      <a:r>
                        <a:rPr lang="en-US" altLang="en-US" sz="900" b="0" kern="1200" noProof="0" dirty="0">
                          <a:solidFill>
                            <a:schemeClr val="tx1"/>
                          </a:solidFill>
                          <a:latin typeface="+mn-lt"/>
                          <a:ea typeface="+mn-ea"/>
                          <a:cs typeface="Arial" panose="020B0604020202020204" pitchFamily="34" charset="0"/>
                        </a:rPr>
                        <a:t>(Андижон шаҳри 6-умумий ўрта таълим мактаби, тил ва адабиёт ўқитувчиси)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542822">
                <a:tc>
                  <a:txBody>
                    <a:bodyPr/>
                    <a:lstStyle/>
                    <a:p>
                      <a:pPr algn="ctr">
                        <a:lnSpc>
                          <a:spcPct val="85000"/>
                        </a:lnSpc>
                      </a:pPr>
                      <a:r>
                        <a:rPr lang="en-US"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kern="1200" noProof="0" dirty="0" smtClean="0">
                          <a:solidFill>
                            <a:schemeClr val="tx1"/>
                          </a:solidFill>
                          <a:latin typeface="+mn-lt"/>
                          <a:ea typeface="+mn-ea"/>
                          <a:cs typeface="Arial" panose="020B0604020202020204" pitchFamily="34" charset="0"/>
                        </a:rPr>
                        <a:t>ОТАХОНОВА Кимёҳон</a:t>
                      </a:r>
                      <a:endParaRPr lang="en-US" altLang="en-US" sz="900" b="0" kern="1200" noProof="0" dirty="0" smtClean="0">
                        <a:solidFill>
                          <a:schemeClr val="tx1"/>
                        </a:solidFill>
                        <a:latin typeface="+mn-lt"/>
                        <a:ea typeface="+mn-ea"/>
                        <a:cs typeface="Arial" panose="020B0604020202020204" pitchFamily="34" charset="0"/>
                      </a:endParaRPr>
                    </a:p>
                    <a:p>
                      <a:pPr algn="l">
                        <a:lnSpc>
                          <a:spcPct val="85000"/>
                        </a:lnSpc>
                      </a:pPr>
                      <a:r>
                        <a:rPr lang="en-US" sz="900" b="0" kern="1200" noProof="0" dirty="0" smtClean="0">
                          <a:solidFill>
                            <a:schemeClr val="tx1"/>
                          </a:solidFill>
                          <a:latin typeface="+mn-lt"/>
                          <a:ea typeface="+mn-ea"/>
                          <a:cs typeface="Arial" panose="020B0604020202020204" pitchFamily="34" charset="0"/>
                        </a:rPr>
                        <a:t>19</a:t>
                      </a:r>
                      <a:r>
                        <a:rPr lang="en-US" altLang="en-US" sz="900" b="0" kern="1200" noProof="0" dirty="0" smtClean="0">
                          <a:solidFill>
                            <a:schemeClr val="tx1"/>
                          </a:solidFill>
                          <a:latin typeface="+mn-lt"/>
                          <a:ea typeface="+mn-ea"/>
                          <a:cs typeface="Arial" panose="020B0604020202020204" pitchFamily="34" charset="0"/>
                        </a:rPr>
                        <a:t>31</a:t>
                      </a:r>
                      <a:r>
                        <a:rPr lang="en-US" sz="900" b="0" kern="1200" noProof="0" dirty="0" smtClean="0">
                          <a:solidFill>
                            <a:schemeClr val="tx1"/>
                          </a:solidFill>
                          <a:latin typeface="+mn-lt"/>
                          <a:ea typeface="+mn-ea"/>
                          <a:cs typeface="Arial" panose="020B0604020202020204" pitchFamily="34" charset="0"/>
                        </a:rPr>
                        <a:t> йил, </a:t>
                      </a:r>
                      <a:r>
                        <a:rPr lang="en-US" altLang="en-US" sz="900" noProof="0" dirty="0" smtClean="0">
                          <a:cs typeface="Arial" panose="020B0604020202020204" pitchFamily="34" charset="0"/>
                          <a:sym typeface="+mn-ea"/>
                        </a:rPr>
                        <a:t>Андижон вилояти</a:t>
                      </a:r>
                      <a:endParaRPr lang="en-US"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Arial" panose="020B0604020202020204" pitchFamily="34" charset="0"/>
                        </a:rPr>
                        <a:t>2005 йил вафот этган.</a:t>
                      </a:r>
                    </a:p>
                    <a:p>
                      <a:pPr algn="l">
                        <a:lnSpc>
                          <a:spcPct val="85000"/>
                        </a:lnSpc>
                      </a:pPr>
                      <a:r>
                        <a:rPr lang="en-US" altLang="en-US" sz="900" b="0" kern="1200" noProof="0" dirty="0">
                          <a:solidFill>
                            <a:schemeClr val="tx1"/>
                          </a:solidFill>
                          <a:latin typeface="+mn-lt"/>
                          <a:ea typeface="+mn-ea"/>
                          <a:cs typeface="Arial" panose="020B0604020202020204" pitchFamily="34" charset="0"/>
                        </a:rPr>
                        <a:t>(Андижон вилояти 34-мактабгача таълим муассасаси ошпази)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r h="425985">
                <a:tc>
                  <a:txBody>
                    <a:bodyPr/>
                    <a:lstStyle/>
                    <a:p>
                      <a:pPr algn="ctr">
                        <a:lnSpc>
                          <a:spcPct val="85000"/>
                        </a:lnSpc>
                      </a:pPr>
                      <a:r>
                        <a:rPr lang="en-US"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kern="1200" noProof="0" dirty="0" smtClean="0">
                          <a:solidFill>
                            <a:schemeClr val="tx1"/>
                          </a:solidFill>
                          <a:latin typeface="+mn-lt"/>
                          <a:ea typeface="+mn-ea"/>
                          <a:cs typeface="Arial" panose="020B0604020202020204" pitchFamily="34" charset="0"/>
                        </a:rPr>
                        <a:t>ЖАББОРОВ Тўрамирза</a:t>
                      </a:r>
                    </a:p>
                    <a:p>
                      <a:pPr algn="l">
                        <a:lnSpc>
                          <a:spcPct val="85000"/>
                        </a:lnSpc>
                      </a:pPr>
                      <a:r>
                        <a:rPr lang="en-US" sz="900" b="0" kern="1200" noProof="0" dirty="0" smtClean="0">
                          <a:solidFill>
                            <a:schemeClr val="tx1"/>
                          </a:solidFill>
                          <a:latin typeface="+mn-lt"/>
                          <a:ea typeface="+mn-ea"/>
                          <a:cs typeface="Arial" panose="020B0604020202020204" pitchFamily="34" charset="0"/>
                        </a:rPr>
                        <a:t>19</a:t>
                      </a:r>
                      <a:r>
                        <a:rPr lang="en-US" altLang="en-US" sz="900" b="0" kern="1200" noProof="0" dirty="0" smtClean="0">
                          <a:solidFill>
                            <a:schemeClr val="tx1"/>
                          </a:solidFill>
                          <a:latin typeface="+mn-lt"/>
                          <a:ea typeface="+mn-ea"/>
                          <a:cs typeface="Arial" panose="020B0604020202020204" pitchFamily="34" charset="0"/>
                        </a:rPr>
                        <a:t>5</a:t>
                      </a:r>
                      <a:r>
                        <a:rPr lang="en-US" sz="900" b="0" kern="1200" noProof="0" dirty="0" smtClean="0">
                          <a:solidFill>
                            <a:schemeClr val="tx1"/>
                          </a:solidFill>
                          <a:latin typeface="+mn-lt"/>
                          <a:ea typeface="+mn-ea"/>
                          <a:cs typeface="Arial" panose="020B0604020202020204" pitchFamily="34" charset="0"/>
                        </a:rPr>
                        <a:t>6 йил, </a:t>
                      </a:r>
                      <a:r>
                        <a:rPr lang="en-US" altLang="en-US" sz="900" noProof="0" dirty="0" smtClean="0">
                          <a:cs typeface="Arial" panose="020B0604020202020204" pitchFamily="34" charset="0"/>
                          <a:sym typeface="+mn-ea"/>
                        </a:rPr>
                        <a:t>Андижон вилояти</a:t>
                      </a:r>
                      <a:endParaRPr lang="en-US"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mn-cs"/>
                        </a:rPr>
                        <a:t>Муқимий номидаги мусиқали театри адабий эмакдоши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2"/>
                  </a:ext>
                </a:extLst>
              </a:tr>
              <a:tr h="204275">
                <a:tc gridSpan="5">
                  <a:txBody>
                    <a:bodyPr/>
                    <a:lstStyle/>
                    <a:p>
                      <a:pPr algn="ctr">
                        <a:lnSpc>
                          <a:spcPct val="85000"/>
                        </a:lnSpc>
                      </a:pPr>
                      <a:r>
                        <a:rPr lang="en-US"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10013"/>
                  </a:ext>
                </a:extLst>
              </a:tr>
              <a:tr h="534764">
                <a:tc gridSpan="3">
                  <a:txBody>
                    <a:bodyPr/>
                    <a:lstStyle/>
                    <a:p>
                      <a:pPr algn="l">
                        <a:lnSpc>
                          <a:spcPct val="85000"/>
                        </a:lnSpc>
                      </a:pPr>
                      <a:r>
                        <a:rPr lang="en-US" sz="900" b="1" noProof="0" dirty="0">
                          <a:latin typeface="+mn-lt"/>
                        </a:rPr>
                        <a:t>Тамомлаган ОТМ:</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a:t>
                      </a:r>
                      <a:r>
                        <a:rPr lang="en-US" altLang="ru-RU" sz="900" b="0" kern="1200" noProof="0" dirty="0" smtClean="0">
                          <a:solidFill>
                            <a:schemeClr val="tx1"/>
                          </a:solidFill>
                          <a:latin typeface="+mn-lt"/>
                          <a:ea typeface="+mn-ea"/>
                          <a:cs typeface="+mn-cs"/>
                        </a:rPr>
                        <a:t>9</a:t>
                      </a:r>
                      <a:r>
                        <a:rPr lang="ru-RU" sz="900" b="0" kern="1200" noProof="0" dirty="0" smtClean="0">
                          <a:solidFill>
                            <a:schemeClr val="tx1"/>
                          </a:solidFill>
                          <a:latin typeface="+mn-lt"/>
                          <a:ea typeface="+mn-ea"/>
                          <a:cs typeface="+mn-cs"/>
                        </a:rPr>
                        <a:t> й.</a:t>
                      </a:r>
                      <a:r>
                        <a:rPr lang="en-US" altLang="en-US" sz="900" b="0" kern="1200" noProof="0" dirty="0" smtClean="0">
                          <a:solidFill>
                            <a:schemeClr val="tx1"/>
                          </a:solidFill>
                          <a:latin typeface="+mn-lt"/>
                          <a:ea typeface="+mn-ea"/>
                          <a:cs typeface="+mn-cs"/>
                        </a:rPr>
                        <a:t>Тошкент театр ва рассомлик 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4"/>
                  </a:ext>
                </a:extLst>
              </a:tr>
              <a:tr h="265560">
                <a:tc gridSpan="3">
                  <a:txBody>
                    <a:bodyPr/>
                    <a:lstStyle/>
                    <a:p>
                      <a:pPr marL="0" marR="0" lvl="0" indent="0" algn="l" defTabSz="914400" rtl="0" eaLnBrk="1" fontAlgn="auto" latinLnBrk="0" hangingPunct="1">
                        <a:lnSpc>
                          <a:spcPct val="85000"/>
                        </a:lnSpc>
                        <a:spcBef>
                          <a:spcPts val="0"/>
                        </a:spcBef>
                        <a:spcAft>
                          <a:spcPts val="0"/>
                        </a:spcAft>
                        <a:buClrTx/>
                        <a:buSzTx/>
                        <a:buFontTx/>
                        <a:buNone/>
                        <a:defRPr/>
                      </a:pPr>
                      <a:r>
                        <a:rPr lang="en-US" sz="900" b="1" noProof="0" dirty="0">
                          <a:latin typeface="+mn-lt"/>
                        </a:rPr>
                        <a:t>Мутахассислиги:</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altLang="en-US" sz="900" b="0" kern="1200" noProof="0" dirty="0">
                          <a:solidFill>
                            <a:schemeClr val="tx1"/>
                          </a:solidFill>
                          <a:latin typeface="+mn-lt"/>
                          <a:ea typeface="+mn-ea"/>
                          <a:cs typeface="+mn-cs"/>
                        </a:rPr>
                        <a:t>драма театр ва кино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5"/>
                  </a:ext>
                </a:extLst>
              </a:tr>
              <a:tr h="309148">
                <a:tc gridSpan="3">
                  <a:txBody>
                    <a:bodyPr/>
                    <a:lstStyle/>
                    <a:p>
                      <a:pPr algn="l">
                        <a:lnSpc>
                          <a:spcPct val="85000"/>
                        </a:lnSpc>
                      </a:pPr>
                      <a:r>
                        <a:rPr lang="en-US" sz="900" b="1" kern="1200" noProof="0" dirty="0">
                          <a:solidFill>
                            <a:schemeClr val="tx1"/>
                          </a:solidFill>
                          <a:latin typeface="+mn-lt"/>
                          <a:ea typeface="+mn-ea"/>
                          <a:cs typeface="+mn-cs"/>
                        </a:rPr>
                        <a:t>Илмий даража (унвон):</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6"/>
                  </a:ext>
                </a:extLst>
              </a:tr>
              <a:tr h="309148">
                <a:tc gridSpan="3">
                  <a:txBody>
                    <a:bodyPr/>
                    <a:lstStyle/>
                    <a:p>
                      <a:pPr algn="l">
                        <a:lnSpc>
                          <a:spcPct val="85000"/>
                        </a:lnSpc>
                      </a:pPr>
                      <a:r>
                        <a:rPr lang="en-US"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7"/>
                  </a:ext>
                </a:extLst>
              </a:tr>
              <a:tr h="309148">
                <a:tc gridSpan="3">
                  <a:txBody>
                    <a:bodyPr/>
                    <a:lstStyle/>
                    <a:p>
                      <a:pPr algn="l">
                        <a:lnSpc>
                          <a:spcPct val="85000"/>
                        </a:lnSpc>
                      </a:pPr>
                      <a:r>
                        <a:rPr lang="en-US"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8"/>
                  </a:ext>
                </a:extLst>
              </a:tr>
            </a:tbl>
          </a:graphicData>
        </a:graphic>
      </p:graphicFrame>
      <p:graphicFrame>
        <p:nvGraphicFramePr>
          <p:cNvPr id="5" name="Таблица 4"/>
          <p:cNvGraphicFramePr>
            <a:graphicFrameLocks noGrp="1"/>
          </p:cNvGraphicFramePr>
          <p:nvPr>
            <p:extLst>
              <p:ext uri="{D42A27DB-BD31-4B8C-83A1-F6EECF244321}">
                <p14:modId xmlns:p14="http://schemas.microsoft.com/office/powerpoint/2010/main" val="2211093867"/>
              </p:ext>
            </p:extLst>
          </p:nvPr>
        </p:nvGraphicFramePr>
        <p:xfrm>
          <a:off x="3674745" y="865505"/>
          <a:ext cx="3173095" cy="5882459"/>
        </p:xfrm>
        <a:graphic>
          <a:graphicData uri="http://schemas.openxmlformats.org/drawingml/2006/table">
            <a:tbl>
              <a:tblPr firstRow="1" bandRow="1">
                <a:tableStyleId>{C083E6E3-FA7D-4D7B-A595-EF9225AFEA82}</a:tableStyleId>
              </a:tblPr>
              <a:tblGrid>
                <a:gridCol w="1443990">
                  <a:extLst>
                    <a:ext uri="{9D8B030D-6E8A-4147-A177-3AD203B41FA5}">
                      <a16:colId xmlns:a16="http://schemas.microsoft.com/office/drawing/2014/main" val="20000"/>
                    </a:ext>
                  </a:extLst>
                </a:gridCol>
                <a:gridCol w="1729105">
                  <a:extLst>
                    <a:ext uri="{9D8B030D-6E8A-4147-A177-3AD203B41FA5}">
                      <a16:colId xmlns:a16="http://schemas.microsoft.com/office/drawing/2014/main" val="20001"/>
                    </a:ext>
                  </a:extLst>
                </a:gridCol>
              </a:tblGrid>
              <a:tr h="325439">
                <a:tc gridSpan="2">
                  <a:txBody>
                    <a:bodyPr/>
                    <a:lstStyle/>
                    <a:p>
                      <a:pPr algn="ctr"/>
                      <a:r>
                        <a:rPr lang="en-US"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526767">
                <a:tc>
                  <a:txBody>
                    <a:bodyPr/>
                    <a:lstStyle/>
                    <a:p>
                      <a:pPr algn="l">
                        <a:lnSpc>
                          <a:spcPct val="85000"/>
                        </a:lnSpc>
                      </a:pPr>
                      <a:r>
                        <a:rPr lang="en-US" sz="900" b="1" i="0" noProof="0" dirty="0">
                          <a:solidFill>
                            <a:schemeClr val="tx1"/>
                          </a:solidFill>
                          <a:latin typeface="+mn-lt"/>
                        </a:rPr>
                        <a:t>Эгаллаб турган </a:t>
                      </a:r>
                      <a:r>
                        <a:rPr lang="en-US" sz="900" b="1" i="0" noProof="0" dirty="0" smtClean="0">
                          <a:solidFill>
                            <a:schemeClr val="tx1"/>
                          </a:solidFill>
                          <a:latin typeface="+mn-lt"/>
                        </a:rPr>
                        <a:t>лавозими</a:t>
                      </a:r>
                      <a:r>
                        <a:rPr lang="en-US"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en-US" sz="900" b="1" kern="1200" noProof="0" dirty="0" smtClean="0">
                          <a:solidFill>
                            <a:schemeClr val="tx1"/>
                          </a:solidFill>
                          <a:latin typeface="+mn-lt"/>
                          <a:ea typeface="+mn-ea"/>
                          <a:cs typeface="+mn-cs"/>
                        </a:rPr>
                        <a:t>20</a:t>
                      </a:r>
                      <a:r>
                        <a:rPr lang="en-US" altLang="en-US" sz="900" b="1" kern="1200" noProof="0" dirty="0" smtClean="0">
                          <a:solidFill>
                            <a:schemeClr val="tx1"/>
                          </a:solidFill>
                          <a:latin typeface="+mn-lt"/>
                          <a:ea typeface="+mn-ea"/>
                          <a:cs typeface="+mn-cs"/>
                        </a:rPr>
                        <a:t>15</a:t>
                      </a:r>
                      <a:r>
                        <a:rPr lang="en-US" sz="900" b="1" kern="1200" noProof="0" dirty="0" smtClean="0">
                          <a:solidFill>
                            <a:schemeClr val="tx1"/>
                          </a:solidFill>
                          <a:latin typeface="+mn-lt"/>
                          <a:ea typeface="+mn-ea"/>
                          <a:cs typeface="+mn-cs"/>
                        </a:rPr>
                        <a:t> йилдан буён </a:t>
                      </a:r>
                      <a:r>
                        <a:rPr lang="en-US" altLang="en-US" sz="900" b="1" kern="1200" noProof="0" dirty="0" smtClean="0">
                          <a:solidFill>
                            <a:schemeClr val="tx1"/>
                          </a:solidFill>
                          <a:latin typeface="+mn-lt"/>
                          <a:ea typeface="+mn-ea"/>
                          <a:cs typeface="+mn-cs"/>
                        </a:rPr>
                        <a:t>Ўзбекистон давлат ёш томошабинлар театри етакчи сахна устаси артисти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41914">
                <a:tc>
                  <a:txBody>
                    <a:bodyPr/>
                    <a:lstStyle/>
                    <a:p>
                      <a:pPr algn="l">
                        <a:lnSpc>
                          <a:spcPct val="85000"/>
                        </a:lnSpc>
                      </a:pPr>
                      <a:r>
                        <a:rPr lang="en-US"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en-US"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en-US"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09122">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ru-RU" altLang="en-US" sz="900" b="0" noProof="0" dirty="0" smtClean="0">
                          <a:effectLst/>
                          <a:latin typeface="+mn-lt"/>
                          <a:ea typeface="Calibri" panose="020F0502020204030204" pitchFamily="34" charset="0"/>
                          <a:cs typeface="Times New Roman" panose="02020603050405020304" pitchFamily="18" charset="0"/>
                        </a:rPr>
                        <a:t>46</a:t>
                      </a:r>
                      <a:r>
                        <a:rPr lang="en-US" sz="900" b="0" noProof="0" dirty="0" smtClean="0">
                          <a:effectLst/>
                          <a:latin typeface="+mn-lt"/>
                          <a:ea typeface="Calibri" panose="020F0502020204030204" pitchFamily="34" charset="0"/>
                          <a:cs typeface="Times New Roman" panose="02020603050405020304" pitchFamily="18" charset="0"/>
                        </a:rPr>
                        <a:t> </a:t>
                      </a:r>
                      <a:r>
                        <a:rPr lang="en-US"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94892">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b="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403396">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en-US"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286461">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857897">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20</a:t>
                      </a:r>
                      <a:r>
                        <a:rPr lang="en-US" altLang="en-US" sz="900" kern="1200" noProof="0" dirty="0" smtClean="0">
                          <a:solidFill>
                            <a:schemeClr val="tx1"/>
                          </a:solidFill>
                          <a:effectLst/>
                          <a:latin typeface="+mn-lt"/>
                          <a:ea typeface="Calibri" panose="020F0502020204030204" pitchFamily="34" charset="0"/>
                          <a:cs typeface="Times New Roman" panose="02020603050405020304" pitchFamily="18" charset="0"/>
                        </a:rPr>
                        <a:t>26</a:t>
                      </a: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 й. </a:t>
                      </a:r>
                      <a:r>
                        <a:rPr lang="en-US" altLang="en-US" sz="900" kern="1200" noProof="0" dirty="0">
                          <a:solidFill>
                            <a:schemeClr val="tx1"/>
                          </a:solidFill>
                          <a:effectLst/>
                          <a:latin typeface="+mn-lt"/>
                          <a:ea typeface="Calibri" panose="020F0502020204030204" pitchFamily="34" charset="0"/>
                          <a:cs typeface="Times New Roman" panose="02020603050405020304" pitchFamily="18" charset="0"/>
                        </a:rPr>
                        <a:t>Ўзбекистон Республикаси Президенти Администратсияси ҳузуридаги тиббиёт бош бошқармасининг 2-сонли марказий клиник шифохонаси</a:t>
                      </a:r>
                      <a:endParaRPr lang="en-US" altLang="ru-RU"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285966">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kern="1200" noProof="0" dirty="0" smtClean="0">
                          <a:solidFill>
                            <a:schemeClr val="tx1"/>
                          </a:solidFill>
                          <a:effectLst/>
                          <a:latin typeface="+mn-lt"/>
                          <a:ea typeface="Calibri" panose="020F0502020204030204" pitchFamily="34" charset="0"/>
                          <a:cs typeface="Times New Roman" panose="02020603050405020304" pitchFamily="18" charset="0"/>
                        </a:rPr>
                        <a:t>2025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8"/>
                  </a:ext>
                </a:extLst>
              </a:tr>
              <a:tr h="256144">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225209">
                <a:tc gridSpan="2">
                  <a:txBody>
                    <a:bodyPr/>
                    <a:lstStyle/>
                    <a:p>
                      <a:pPr algn="ctr"/>
                      <a:r>
                        <a:rPr lang="en-US"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2018218">
                <a:tc gridSpan="2">
                  <a:txBody>
                    <a:bodyPr/>
                    <a:lstStyle/>
                    <a:p>
                      <a:pPr marL="0" marR="0" indent="0" algn="just" defTabSz="914400" rtl="0" eaLnBrk="1" fontAlgn="auto" latinLnBrk="0" hangingPunct="1">
                        <a:lnSpc>
                          <a:spcPct val="107000"/>
                        </a:lnSpc>
                        <a:spcBef>
                          <a:spcPts val="0"/>
                        </a:spcBef>
                        <a:spcAft>
                          <a:spcPts val="0"/>
                        </a:spcAft>
                        <a:buClrTx/>
                        <a:buSzTx/>
                        <a:buFontTx/>
                        <a:buNone/>
                        <a:defRPr/>
                      </a:pPr>
                      <a:r>
                        <a:rPr lang="en-US" sz="900" noProof="0" dirty="0" smtClean="0">
                          <a:effectLst/>
                          <a:latin typeface="+mn-lt"/>
                          <a:ea typeface="Calibri" panose="020F0502020204030204" pitchFamily="34" charset="0"/>
                          <a:cs typeface="Times New Roman" panose="02020603050405020304" pitchFamily="18" charset="0"/>
                        </a:rPr>
                        <a:t>19</a:t>
                      </a:r>
                      <a:r>
                        <a:rPr lang="en-US" altLang="en-US" sz="900" noProof="0" dirty="0" smtClean="0">
                          <a:effectLst/>
                          <a:latin typeface="+mn-lt"/>
                          <a:ea typeface="Calibri" panose="020F0502020204030204" pitchFamily="34" charset="0"/>
                          <a:cs typeface="Times New Roman" panose="02020603050405020304" pitchFamily="18" charset="0"/>
                        </a:rPr>
                        <a:t>9</a:t>
                      </a:r>
                      <a:r>
                        <a:rPr lang="en-US" sz="900" noProof="0" dirty="0" smtClean="0">
                          <a:effectLst/>
                          <a:latin typeface="+mn-lt"/>
                          <a:ea typeface="Calibri" panose="020F0502020204030204" pitchFamily="34" charset="0"/>
                          <a:cs typeface="Times New Roman" panose="02020603050405020304" pitchFamily="18" charset="0"/>
                        </a:rPr>
                        <a:t>9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defRPr/>
                      </a:pPr>
                      <a:r>
                        <a:rPr lang="en-US" altLang="en-US" sz="900" noProof="0" dirty="0" smtClean="0">
                          <a:effectLst/>
                          <a:latin typeface="+mn-lt"/>
                          <a:ea typeface="Calibri" panose="020F0502020204030204" pitchFamily="34" charset="0"/>
                          <a:cs typeface="Times New Roman" panose="02020603050405020304" pitchFamily="18" charset="0"/>
                        </a:rPr>
                        <a:t>2025</a:t>
                      </a:r>
                      <a:r>
                        <a:rPr lang="en-US" sz="900" noProof="0" dirty="0" smtClean="0">
                          <a:effectLst/>
                          <a:latin typeface="+mn-lt"/>
                          <a:ea typeface="Calibri" panose="020F0502020204030204" pitchFamily="34" charset="0"/>
                          <a:cs typeface="Times New Roman" panose="02020603050405020304" pitchFamily="18" charset="0"/>
                        </a:rPr>
                        <a:t> й. </a:t>
                      </a:r>
                      <a:r>
                        <a:rPr lang="en-US" altLang="en-US" sz="900" noProof="0" dirty="0" smtClean="0">
                          <a:effectLst/>
                          <a:latin typeface="+mn-lt"/>
                          <a:ea typeface="Calibri" panose="020F0502020204030204" pitchFamily="34" charset="0"/>
                          <a:cs typeface="Times New Roman" panose="02020603050405020304" pitchFamily="18" charset="0"/>
                        </a:rPr>
                        <a:t>“Меҳнат шуҳрат ордени” сохибаси</a:t>
                      </a:r>
                      <a:endParaRPr lang="en-US" sz="900" noProof="0" dirty="0" smtClean="0">
                        <a:effectLst/>
                        <a:latin typeface="+mn-lt"/>
                        <a:ea typeface="Calibri" panose="020F0502020204030204" pitchFamily="34" charset="0"/>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defRPr/>
                      </a:pPr>
                      <a:endParaRPr lang="en-US"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endParaRPr lang="ru-RU"/>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bl>
          </a:graphicData>
        </a:graphic>
      </p:graphicFrame>
      <p:graphicFrame>
        <p:nvGraphicFramePr>
          <p:cNvPr id="6" name="Таблица 5"/>
          <p:cNvGraphicFramePr>
            <a:graphicFrameLocks noGrp="1"/>
          </p:cNvGraphicFramePr>
          <p:nvPr>
            <p:extLst>
              <p:ext uri="{D42A27DB-BD31-4B8C-83A1-F6EECF244321}">
                <p14:modId xmlns:p14="http://schemas.microsoft.com/office/powerpoint/2010/main" val="176111877"/>
              </p:ext>
            </p:extLst>
          </p:nvPr>
        </p:nvGraphicFramePr>
        <p:xfrm>
          <a:off x="6949857" y="869286"/>
          <a:ext cx="2817247" cy="5860262"/>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0000"/>
                    </a:ext>
                  </a:extLst>
                </a:gridCol>
              </a:tblGrid>
              <a:tr h="276451">
                <a:tc>
                  <a:txBody>
                    <a:bodyPr/>
                    <a:lstStyle/>
                    <a:p>
                      <a:pPr algn="ctr">
                        <a:lnSpc>
                          <a:spcPct val="85000"/>
                        </a:lnSpc>
                      </a:pPr>
                      <a:r>
                        <a:rPr lang="en-US" sz="1200" b="1" noProof="0" dirty="0" smtClean="0">
                          <a:solidFill>
                            <a:schemeClr val="bg1"/>
                          </a:solidFill>
                          <a:latin typeface="Bahnschrift SemiBold" panose="020B0502040204020203" pitchFamily="34" charset="0"/>
                        </a:rPr>
                        <a:t>ФАОЛИЯТИ</a:t>
                      </a:r>
                      <a:r>
                        <a:rPr lang="en-US" sz="1200" b="1" baseline="0" noProof="0" dirty="0" smtClean="0">
                          <a:solidFill>
                            <a:schemeClr val="bg1"/>
                          </a:solidFill>
                          <a:latin typeface="Bahnschrift SemiBold" panose="020B0502040204020203" pitchFamily="34" charset="0"/>
                        </a:rPr>
                        <a:t> </a:t>
                      </a:r>
                      <a:endParaRPr lang="en-US"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10000"/>
                  </a:ext>
                </a:extLst>
              </a:tr>
              <a:tr h="347993">
                <a:tc>
                  <a:txBody>
                    <a:bodyPr/>
                    <a:lstStyle/>
                    <a:p>
                      <a:pPr algn="ctr">
                        <a:lnSpc>
                          <a:spcPct val="85000"/>
                        </a:lnSpc>
                      </a:pPr>
                      <a:r>
                        <a:rPr lang="en-US" sz="1000" b="1" noProof="0" dirty="0" smtClean="0">
                          <a:solidFill>
                            <a:schemeClr val="bg1"/>
                          </a:solidFill>
                          <a:latin typeface="Bahnschrift SemiBold" panose="020B0502040204020203" pitchFamily="34" charset="0"/>
                        </a:rPr>
                        <a:t>Меҳнат фаолияти ҳақида</a:t>
                      </a:r>
                      <a:r>
                        <a:rPr lang="en-US" sz="1000" b="1" baseline="0" noProof="0" dirty="0" smtClean="0">
                          <a:solidFill>
                            <a:schemeClr val="bg1"/>
                          </a:solidFill>
                          <a:latin typeface="Bahnschrift SemiBold" panose="020B0502040204020203" pitchFamily="34" charset="0"/>
                        </a:rPr>
                        <a:t> қисқача тавсифнома</a:t>
                      </a:r>
                      <a:endParaRPr lang="en-US"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10001"/>
                  </a:ext>
                </a:extLst>
              </a:tr>
              <a:tr h="4251931">
                <a:tc>
                  <a:txBody>
                    <a:bodyPr/>
                    <a:lstStyle/>
                    <a:p>
                      <a:pPr algn="just">
                        <a:lnSpc>
                          <a:spcPct val="85000"/>
                        </a:lnSpc>
                      </a:pPr>
                      <a:r>
                        <a:rPr lang="ru-RU" sz="900" b="0" noProof="0" dirty="0" smtClean="0">
                          <a:solidFill>
                            <a:schemeClr val="tx1"/>
                          </a:solidFill>
                          <a:latin typeface="+mn-lt"/>
                        </a:rPr>
                        <a:t>    </a:t>
                      </a:r>
                      <a:r>
                        <a:rPr lang="en-US" altLang="en-US" sz="900" b="0" noProof="0" dirty="0" smtClean="0">
                          <a:solidFill>
                            <a:schemeClr val="tx1"/>
                          </a:solidFill>
                          <a:latin typeface="+mn-lt"/>
                        </a:rPr>
                        <a:t>1979 </a:t>
                      </a:r>
                      <a:r>
                        <a:rPr lang="en-US" altLang="en-US" sz="900" b="0" noProof="0" dirty="0">
                          <a:solidFill>
                            <a:schemeClr val="tx1"/>
                          </a:solidFill>
                          <a:latin typeface="+mn-lt"/>
                        </a:rPr>
                        <a:t>йилдан буён Ўзбекистон Давлат Ёш томошабинлар театрида </a:t>
                      </a:r>
                      <a:r>
                        <a:rPr lang="en-US" altLang="en-US" sz="900" b="0" noProof="0" dirty="0" err="1">
                          <a:solidFill>
                            <a:schemeClr val="tx1"/>
                          </a:solidFill>
                          <a:latin typeface="+mn-lt"/>
                        </a:rPr>
                        <a:t>ишлаб</a:t>
                      </a:r>
                      <a:r>
                        <a:rPr lang="en-US" altLang="en-US" sz="900" b="0" noProof="0" dirty="0">
                          <a:solidFill>
                            <a:schemeClr val="tx1"/>
                          </a:solidFill>
                          <a:latin typeface="+mn-lt"/>
                        </a:rPr>
                        <a:t> </a:t>
                      </a:r>
                      <a:r>
                        <a:rPr lang="en-US" altLang="en-US" sz="900" b="0" noProof="0" dirty="0" err="1" smtClean="0">
                          <a:solidFill>
                            <a:schemeClr val="tx1"/>
                          </a:solidFill>
                          <a:latin typeface="+mn-lt"/>
                        </a:rPr>
                        <a:t>келмоқда</a:t>
                      </a:r>
                      <a:r>
                        <a:rPr lang="en-US" altLang="en-US" sz="900" b="0" noProof="0" dirty="0" smtClean="0">
                          <a:solidFill>
                            <a:schemeClr val="tx1"/>
                          </a:solidFill>
                          <a:latin typeface="+mn-lt"/>
                        </a:rPr>
                        <a:t>.</a:t>
                      </a:r>
                      <a:endParaRPr lang="ru-RU" altLang="en-US" sz="900" b="0" noProof="0" dirty="0" smtClean="0">
                        <a:solidFill>
                          <a:schemeClr val="tx1"/>
                        </a:solidFill>
                        <a:latin typeface="+mn-lt"/>
                      </a:endParaRPr>
                    </a:p>
                    <a:p>
                      <a:pPr algn="just">
                        <a:lnSpc>
                          <a:spcPct val="85000"/>
                        </a:lnSpc>
                      </a:pPr>
                      <a:r>
                        <a:rPr lang="ru-RU" altLang="en-US" sz="900" b="0" baseline="0" noProof="0" dirty="0" smtClean="0">
                          <a:solidFill>
                            <a:schemeClr val="tx1"/>
                          </a:solidFill>
                          <a:latin typeface="+mn-lt"/>
                        </a:rPr>
                        <a:t>    </a:t>
                      </a:r>
                      <a:r>
                        <a:rPr lang="en-US" altLang="en-US" sz="900" b="0" noProof="0" dirty="0" err="1" smtClean="0">
                          <a:solidFill>
                            <a:schemeClr val="tx1"/>
                          </a:solidFill>
                          <a:latin typeface="+mn-lt"/>
                        </a:rPr>
                        <a:t>Ижодий</a:t>
                      </a:r>
                      <a:r>
                        <a:rPr lang="en-US" altLang="en-US" sz="900" b="0" noProof="0" dirty="0" smtClean="0">
                          <a:solidFill>
                            <a:schemeClr val="tx1"/>
                          </a:solidFill>
                          <a:latin typeface="+mn-lt"/>
                        </a:rPr>
                        <a:t> </a:t>
                      </a:r>
                      <a:r>
                        <a:rPr lang="en-US" altLang="en-US" sz="900" b="0" noProof="0" dirty="0">
                          <a:solidFill>
                            <a:schemeClr val="tx1"/>
                          </a:solidFill>
                          <a:latin typeface="+mn-lt"/>
                        </a:rPr>
                        <a:t>фаолияти давомида ранг-баранг образлар ижрочиси бўлган Ҳакима Отахонованинг роллари орасида айниқса “Ёш Насриддиннинг саргузаштлари” даги Пари, “Ҳамиша қалбимизда” да Отин буви, “Рахмат Капитан” да Назира, “Имтиҳон” да Азиза, “Фарзандим-жигарбандим” да Адолат, “Минг бир кеча” да Она, “Шўх жин” да  Холавачча, “Маликани ким қутқаради” да Сехргар, “Зафар, зафар сехргар” да Бошловчи ҳам Самантой, “Чўп қўғирчоқ” да Буви, “Тўрт эгизак” да Эртакчи, “Сени тақдиринг” да Азиза, “Қўнғироқли алдоқчи” да Тулки, “Ўз уйингдасан” да Бошловчи, “Фотоннинг ҳалокати” да Анна, “УФМ” да Қуён ботир, “Қизил шапкача” да Жучка, “Кийик буғи” да Смеральдина, Наврўз ваБойчечак” да Она чия бўри, “Сирли сандиқ” да Қиммат, “Захарли томчиларда” да Ўқитувчи, “Пахловоннинг ўғирланиши” да Малика, “Гаврош” да Она, “Умид дарахтлари” да Буви, “Қизил шапкача”нинг кейинги вариантида Буви, “Беозор лайлакларга тегманг” да Лайло, “От йиғлаган томон” да Қиммат, “Олтин балиқ” да Аёл,“Мушук ила сичқон” да Мушук. “Дискотека” да Ойбодоқ каби такрорланмас ижролари халқимиз ёдида қолган деб бемалол алоҳида зикр қилиш мумкин. </a:t>
                      </a:r>
                    </a:p>
                    <a:p>
                      <a:pPr algn="just">
                        <a:lnSpc>
                          <a:spcPct val="85000"/>
                        </a:lnSpc>
                      </a:pPr>
                      <a:r>
                        <a:rPr lang="ru-RU" altLang="en-US" sz="900" b="0" noProof="0" dirty="0" smtClean="0">
                          <a:solidFill>
                            <a:schemeClr val="tx1"/>
                          </a:solidFill>
                          <a:latin typeface="+mn-lt"/>
                        </a:rPr>
                        <a:t>    </a:t>
                      </a:r>
                      <a:r>
                        <a:rPr lang="en-US" altLang="en-US" sz="900" b="0" noProof="0" dirty="0" err="1" smtClean="0">
                          <a:solidFill>
                            <a:schemeClr val="tx1"/>
                          </a:solidFill>
                          <a:latin typeface="+mn-lt"/>
                        </a:rPr>
                        <a:t>Шунингдек</a:t>
                      </a:r>
                      <a:r>
                        <a:rPr lang="en-US" altLang="en-US" sz="900" b="0" noProof="0" dirty="0">
                          <a:solidFill>
                            <a:schemeClr val="tx1"/>
                          </a:solidFill>
                          <a:latin typeface="+mn-lt"/>
                        </a:rPr>
                        <a:t>, “Иқрор”, “Оталар сўзи”, “Чархи фалак”, “Сабоқ”, “Кўнгил кўчалари” каби телевизион лойиҳаларда ўзига хос ролларни ижро этиб келади.</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0002"/>
                  </a:ext>
                </a:extLst>
              </a:tr>
              <a:tr h="171755">
                <a:tc>
                  <a:txBody>
                    <a:bodyPr/>
                    <a:lstStyle/>
                    <a:p>
                      <a:pPr marL="0" marR="0" lvl="0" indent="0" algn="ctr" defTabSz="914400" rtl="0" eaLnBrk="1" fontAlgn="auto" latinLnBrk="0" hangingPunct="1">
                        <a:lnSpc>
                          <a:spcPct val="107000"/>
                        </a:lnSpc>
                        <a:spcBef>
                          <a:spcPts val="0"/>
                        </a:spcBef>
                        <a:spcAft>
                          <a:spcPts val="0"/>
                        </a:spcAft>
                        <a:buClrTx/>
                        <a:buSzTx/>
                        <a:buFontTx/>
                        <a:buNone/>
                        <a:defRPr/>
                      </a:pPr>
                      <a:r>
                        <a:rPr lang="en-US"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10003"/>
                  </a:ext>
                </a:extLst>
              </a:tr>
              <a:tr h="812132">
                <a:tc>
                  <a:txBody>
                    <a:bodyPr/>
                    <a:lstStyle/>
                    <a:p>
                      <a:pPr marL="0" marR="0" lvl="0" indent="0" algn="just" defTabSz="914400" rtl="0" eaLnBrk="1" fontAlgn="auto" latinLnBrk="0" hangingPunct="1">
                        <a:lnSpc>
                          <a:spcPct val="107000"/>
                        </a:lnSpc>
                        <a:spcBef>
                          <a:spcPts val="0"/>
                        </a:spcBef>
                        <a:spcAft>
                          <a:spcPts val="0"/>
                        </a:spcAft>
                        <a:buClrTx/>
                        <a:buSzTx/>
                        <a:buFontTx/>
                        <a:buNone/>
                        <a:defRPr/>
                      </a:pPr>
                      <a:r>
                        <a:rPr lang="ru-RU" sz="900" b="0" dirty="0" smtClean="0">
                          <a:effectLst/>
                          <a:latin typeface="+mn-lt"/>
                          <a:ea typeface="Calibri" panose="020F0502020204030204" pitchFamily="34" charset="0"/>
                          <a:cs typeface="Times New Roman" panose="02020603050405020304" pitchFamily="18" charset="0"/>
                        </a:rPr>
                        <a:t>    </a:t>
                      </a:r>
                      <a:r>
                        <a:rPr lang="en-US" sz="900" b="0" dirty="0" err="1" smtClean="0">
                          <a:effectLst/>
                          <a:latin typeface="+mn-lt"/>
                          <a:ea typeface="Calibri" panose="020F0502020204030204" pitchFamily="34" charset="0"/>
                          <a:cs typeface="Times New Roman" panose="02020603050405020304" pitchFamily="18" charset="0"/>
                        </a:rPr>
                        <a:t>Республикамизда</a:t>
                      </a:r>
                      <a:r>
                        <a:rPr lang="en-US"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bl>
          </a:graphicData>
        </a:graphic>
      </p:graphicFrame>
      <p:pic>
        <p:nvPicPr>
          <p:cNvPr id="9" name="Изображение 1073742852" descr="хакимаопа"/>
          <p:cNvPicPr>
            <a:picLocks noChangeAspect="1"/>
          </p:cNvPicPr>
          <p:nvPr/>
        </p:nvPicPr>
        <p:blipFill>
          <a:blip r:embed="rId2"/>
          <a:stretch>
            <a:fillRect/>
          </a:stretch>
        </p:blipFill>
        <p:spPr>
          <a:xfrm>
            <a:off x="325120" y="1183640"/>
            <a:ext cx="815340" cy="1031875"/>
          </a:xfrm>
          <a:prstGeom prst="rect">
            <a:avLst/>
          </a:prstGeom>
          <a:noFill/>
          <a:ln w="9525">
            <a:noFill/>
          </a:ln>
        </p:spPr>
      </p:pic>
    </p:spTree>
    <p:extLst>
      <p:ext uri="{BB962C8B-B14F-4D97-AF65-F5344CB8AC3E}">
        <p14:creationId xmlns:p14="http://schemas.microsoft.com/office/powerpoint/2010/main" val="1923186740"/>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002060"/>
                </a:solidFill>
                <a:latin typeface="Bahnschrift SemiBold" panose="020B0502040204020203" pitchFamily="34" charset="0"/>
              </a:rPr>
              <a:t>ПОРТФОЛИО</a:t>
            </a:r>
            <a:endParaRPr lang="en-US" b="1" dirty="0">
              <a:solidFill>
                <a:srgbClr val="002060"/>
              </a:solidFill>
              <a:latin typeface="Bahnschrift SemiBold" panose="020B0502040204020203" pitchFamily="34" charset="0"/>
            </a:endParaRPr>
          </a:p>
        </p:txBody>
      </p:sp>
      <p:sp>
        <p:nvSpPr>
          <p:cNvPr id="3" name="Прямоугольник 2"/>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altLang="en-US" sz="1600" b="1" dirty="0" smtClean="0">
                <a:solidFill>
                  <a:srgbClr val="002060"/>
                </a:solidFill>
                <a:latin typeface="Bahnschrift SemiBold" panose="020B0502040204020203" pitchFamily="34" charset="0"/>
              </a:rPr>
              <a:t>ТЕАТР ВА ЦИРК ЙЎНАЛИШИ СОҲА ВАКИЛЛАРИ</a:t>
            </a:r>
            <a:endParaRPr lang="en-US" sz="1200" b="1" dirty="0">
              <a:solidFill>
                <a:srgbClr val="002060"/>
              </a:solidFill>
              <a:latin typeface="Bahnschrift SemiBold" panose="020B0502040204020203" pitchFamily="34" charset="0"/>
            </a:endParaRPr>
          </a:p>
        </p:txBody>
      </p:sp>
      <p:graphicFrame>
        <p:nvGraphicFramePr>
          <p:cNvPr id="4" name="Таблица 3"/>
          <p:cNvGraphicFramePr>
            <a:graphicFrameLocks noGrp="1"/>
          </p:cNvGraphicFramePr>
          <p:nvPr>
            <p:extLst>
              <p:ext uri="{D42A27DB-BD31-4B8C-83A1-F6EECF244321}">
                <p14:modId xmlns:p14="http://schemas.microsoft.com/office/powerpoint/2010/main" val="2081840489"/>
              </p:ext>
            </p:extLst>
          </p:nvPr>
        </p:nvGraphicFramePr>
        <p:xfrm>
          <a:off x="144780" y="865505"/>
          <a:ext cx="3427730" cy="5918197"/>
        </p:xfrm>
        <a:graphic>
          <a:graphicData uri="http://schemas.openxmlformats.org/drawingml/2006/table">
            <a:tbl>
              <a:tblPr firstRow="1" bandRow="1">
                <a:tableStyleId>{C083E6E3-FA7D-4D7B-A595-EF9225AFEA82}</a:tableStyleId>
              </a:tblPr>
              <a:tblGrid>
                <a:gridCol w="594360">
                  <a:extLst>
                    <a:ext uri="{9D8B030D-6E8A-4147-A177-3AD203B41FA5}">
                      <a16:colId xmlns:a16="http://schemas.microsoft.com/office/drawing/2014/main" val="20000"/>
                    </a:ext>
                  </a:extLst>
                </a:gridCol>
                <a:gridCol w="504190">
                  <a:extLst>
                    <a:ext uri="{9D8B030D-6E8A-4147-A177-3AD203B41FA5}">
                      <a16:colId xmlns:a16="http://schemas.microsoft.com/office/drawing/2014/main" val="20001"/>
                    </a:ext>
                  </a:extLst>
                </a:gridCol>
                <a:gridCol w="153670">
                  <a:extLst>
                    <a:ext uri="{9D8B030D-6E8A-4147-A177-3AD203B41FA5}">
                      <a16:colId xmlns:a16="http://schemas.microsoft.com/office/drawing/2014/main" val="20002"/>
                    </a:ext>
                  </a:extLst>
                </a:gridCol>
                <a:gridCol w="909955">
                  <a:extLst>
                    <a:ext uri="{9D8B030D-6E8A-4147-A177-3AD203B41FA5}">
                      <a16:colId xmlns:a16="http://schemas.microsoft.com/office/drawing/2014/main" val="20003"/>
                    </a:ext>
                  </a:extLst>
                </a:gridCol>
                <a:gridCol w="1265555">
                  <a:extLst>
                    <a:ext uri="{9D8B030D-6E8A-4147-A177-3AD203B41FA5}">
                      <a16:colId xmlns:a16="http://schemas.microsoft.com/office/drawing/2014/main" val="20004"/>
                    </a:ext>
                  </a:extLst>
                </a:gridCol>
              </a:tblGrid>
              <a:tr h="241675">
                <a:tc gridSpan="5">
                  <a:txBody>
                    <a:bodyPr/>
                    <a:lstStyle/>
                    <a:p>
                      <a:pPr marL="0" marR="0" lvl="0" indent="0" algn="ctr" defTabSz="914400" rtl="0" eaLnBrk="1" fontAlgn="auto" latinLnBrk="0" hangingPunct="1">
                        <a:lnSpc>
                          <a:spcPct val="90000"/>
                        </a:lnSpc>
                        <a:spcBef>
                          <a:spcPts val="0"/>
                        </a:spcBef>
                        <a:spcAft>
                          <a:spcPts val="0"/>
                        </a:spcAft>
                        <a:buClrTx/>
                        <a:buSzTx/>
                        <a:buFontTx/>
                        <a:buNone/>
                        <a:defRPr/>
                      </a:pPr>
                      <a:r>
                        <a:rPr lang="en-US"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188934">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en-US"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 altLang="en-US" sz="900" b="0" kern="1200" dirty="0" smtClean="0">
                          <a:solidFill>
                            <a:schemeClr val="tx1"/>
                          </a:solidFill>
                          <a:latin typeface="+mn-lt"/>
                          <a:ea typeface="+mn-ea"/>
                          <a:cs typeface="+mn-cs"/>
                        </a:rPr>
                        <a:t>ДЖУРАБАЕВ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188934">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en-US"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 altLang="en-US" sz="800" b="0" kern="1200" dirty="0" smtClean="0">
                          <a:solidFill>
                            <a:schemeClr val="tx1"/>
                          </a:solidFill>
                          <a:latin typeface="+mn-lt"/>
                          <a:ea typeface="+mn-ea"/>
                          <a:cs typeface="+mn-cs"/>
                        </a:rPr>
                        <a:t>Абдусамад</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188934">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 altLang="en-US" sz="800" b="0" kern="1200" dirty="0" smtClean="0">
                          <a:solidFill>
                            <a:schemeClr val="tx1"/>
                          </a:solidFill>
                          <a:latin typeface="+mn-lt"/>
                          <a:ea typeface="+mn-ea"/>
                          <a:cs typeface="+mn-cs"/>
                        </a:rPr>
                        <a:t>Абдуманнопович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88934">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en-US"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en-US"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188934">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ru-RU" sz="800" b="0" kern="1200" dirty="0" smtClean="0">
                          <a:solidFill>
                            <a:schemeClr val="tx1"/>
                          </a:solidFill>
                          <a:latin typeface="+mn-lt"/>
                          <a:ea typeface="+mn-ea"/>
                          <a:cs typeface="+mn-cs"/>
                        </a:rPr>
                        <a:t>1</a:t>
                      </a:r>
                      <a:r>
                        <a:rPr lang="" altLang="en-US" sz="800" b="0" kern="1200" dirty="0" smtClean="0">
                          <a:solidFill>
                            <a:schemeClr val="tx1"/>
                          </a:solidFill>
                          <a:latin typeface="+mn-lt"/>
                          <a:ea typeface="+mn-ea"/>
                          <a:cs typeface="+mn-cs"/>
                        </a:rPr>
                        <a:t>8</a:t>
                      </a:r>
                      <a:r>
                        <a:rPr lang="ru-RU" sz="800" b="0" kern="1200" dirty="0" smtClean="0">
                          <a:solidFill>
                            <a:schemeClr val="tx1"/>
                          </a:solidFill>
                          <a:latin typeface="+mn-lt"/>
                          <a:ea typeface="+mn-ea"/>
                          <a:cs typeface="+mn-cs"/>
                        </a:rPr>
                        <a:t>.</a:t>
                      </a:r>
                      <a:r>
                        <a:rPr lang="" altLang="ru-RU" sz="800" b="0" kern="1200" dirty="0" smtClean="0">
                          <a:solidFill>
                            <a:schemeClr val="tx1"/>
                          </a:solidFill>
                          <a:latin typeface="+mn-lt"/>
                          <a:ea typeface="+mn-ea"/>
                          <a:cs typeface="+mn-cs"/>
                        </a:rPr>
                        <a:t>11</a:t>
                      </a:r>
                      <a:r>
                        <a:rPr lang="ru-RU" sz="800" b="0" kern="1200" dirty="0" smtClean="0">
                          <a:solidFill>
                            <a:schemeClr val="tx1"/>
                          </a:solidFill>
                          <a:latin typeface="+mn-lt"/>
                          <a:ea typeface="+mn-ea"/>
                          <a:cs typeface="+mn-cs"/>
                        </a:rPr>
                        <a:t>.19</a:t>
                      </a:r>
                      <a:r>
                        <a:rPr lang="" altLang="ru-RU" sz="800" b="0" kern="1200" dirty="0" smtClean="0">
                          <a:solidFill>
                            <a:schemeClr val="tx1"/>
                          </a:solidFill>
                          <a:latin typeface="+mn-lt"/>
                          <a:ea typeface="+mn-ea"/>
                          <a:cs typeface="+mn-cs"/>
                        </a:rPr>
                        <a:t>52</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188934">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 altLang="en-US" sz="800" b="0" kern="1200" dirty="0" smtClean="0">
                          <a:solidFill>
                            <a:schemeClr val="tx1"/>
                          </a:solidFill>
                          <a:latin typeface="+mn-lt"/>
                          <a:ea typeface="+mn-ea"/>
                          <a:cs typeface="+mn-cs"/>
                        </a:rPr>
                        <a:t>Тошкент</a:t>
                      </a:r>
                      <a:r>
                        <a:rPr lang="en-US" altLang="en-US" sz="800" b="0" kern="1200" dirty="0" smtClean="0">
                          <a:solidFill>
                            <a:schemeClr val="tx1"/>
                          </a:solidFill>
                          <a:latin typeface="+mn-lt"/>
                          <a:ea typeface="+mn-ea"/>
                          <a:cs typeface="+mn-cs"/>
                        </a:rPr>
                        <a:t>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229341">
                <a:tc gridSpan="5">
                  <a:txBody>
                    <a:bodyPr/>
                    <a:lstStyle/>
                    <a:p>
                      <a:pPr algn="ctr"/>
                      <a:r>
                        <a:rPr lang="en-US"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491444">
                <a:tc gridSpan="2">
                  <a:txBody>
                    <a:bodyPr/>
                    <a:lstStyle/>
                    <a:p>
                      <a:pPr marL="0" marR="0" lvl="0" indent="0" algn="ctr" defTabSz="914400" rtl="0" eaLnBrk="1" fontAlgn="auto" latinLnBrk="0" hangingPunct="1">
                        <a:lnSpc>
                          <a:spcPct val="85000"/>
                        </a:lnSpc>
                        <a:spcBef>
                          <a:spcPts val="0"/>
                        </a:spcBef>
                        <a:spcAft>
                          <a:spcPts val="0"/>
                        </a:spcAft>
                        <a:buClrTx/>
                        <a:buSzTx/>
                        <a:buFontTx/>
                        <a:buNone/>
                        <a:defRPr/>
                      </a:pPr>
                      <a:r>
                        <a:rPr lang="en-US" sz="900" b="1" noProof="0" dirty="0" smtClean="0">
                          <a:latin typeface="+mn-lt"/>
                        </a:rPr>
                        <a:t>Оилавий ва ижтимоий ахволи</a:t>
                      </a:r>
                      <a:r>
                        <a:rPr lang="en-US" sz="900" b="1" noProof="0" dirty="0">
                          <a:latin typeface="+mn-lt"/>
                        </a:rPr>
                        <a:t>:</a:t>
                      </a:r>
                      <a:endParaRPr lang="en-US"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900" b="0" kern="1200" noProof="0" dirty="0">
                          <a:solidFill>
                            <a:schemeClr val="tx1"/>
                          </a:solidFill>
                          <a:latin typeface="+mn-lt"/>
                          <a:ea typeface="+mn-ea"/>
                          <a:cs typeface="+mn-cs"/>
                        </a:rPr>
                        <a:t>Оилали, </a:t>
                      </a:r>
                      <a:r>
                        <a:rPr lang="en-US" altLang="en-US" sz="900" b="0" kern="1200" noProof="0" dirty="0">
                          <a:solidFill>
                            <a:schemeClr val="tx1"/>
                          </a:solidFill>
                          <a:latin typeface="+mn-lt"/>
                          <a:ea typeface="+mn-ea"/>
                          <a:cs typeface="+mn-cs"/>
                        </a:rPr>
                        <a:t>2</a:t>
                      </a:r>
                      <a:r>
                        <a:rPr lang="en-US" sz="900" b="0" kern="1200" noProof="0" dirty="0" smtClean="0">
                          <a:solidFill>
                            <a:schemeClr val="tx1"/>
                          </a:solidFill>
                          <a:latin typeface="+mn-lt"/>
                          <a:ea typeface="+mn-ea"/>
                          <a:cs typeface="+mn-cs"/>
                        </a:rPr>
                        <a:t> </a:t>
                      </a:r>
                      <a:r>
                        <a:rPr lang="en-US" sz="900" b="0" kern="1200" noProof="0" dirty="0">
                          <a:solidFill>
                            <a:schemeClr val="tx1"/>
                          </a:solidFill>
                          <a:latin typeface="+mn-lt"/>
                          <a:ea typeface="+mn-ea"/>
                          <a:cs typeface="+mn-cs"/>
                        </a:rPr>
                        <a:t>нафар </a:t>
                      </a:r>
                      <a:r>
                        <a:rPr lang="en-US" sz="900" b="0" kern="1200" noProof="0" dirty="0" smtClean="0">
                          <a:solidFill>
                            <a:schemeClr val="tx1"/>
                          </a:solidFill>
                          <a:latin typeface="+mn-lt"/>
                          <a:ea typeface="+mn-ea"/>
                          <a:cs typeface="+mn-cs"/>
                        </a:rPr>
                        <a:t>ўғил</a:t>
                      </a:r>
                      <a:r>
                        <a:rPr lang="en-US" altLang="en-US" sz="900" b="0" kern="1200" noProof="0" dirty="0" smtClean="0">
                          <a:solidFill>
                            <a:schemeClr val="tx1"/>
                          </a:solidFill>
                          <a:latin typeface="+mn-lt"/>
                          <a:ea typeface="+mn-ea"/>
                          <a:cs typeface="+mn-cs"/>
                        </a:rPr>
                        <a:t>, 1 нафар қиз</a:t>
                      </a:r>
                      <a:r>
                        <a:rPr lang="en-US" sz="900" b="0" kern="1200" noProof="0" dirty="0" smtClean="0">
                          <a:solidFill>
                            <a:schemeClr val="tx1"/>
                          </a:solidFill>
                          <a:latin typeface="+mn-lt"/>
                          <a:ea typeface="+mn-ea"/>
                          <a:cs typeface="+mn-cs"/>
                        </a:rPr>
                        <a:t> </a:t>
                      </a:r>
                      <a:r>
                        <a:rPr lang="en-US" sz="900" b="0" kern="1200" noProof="0" dirty="0">
                          <a:solidFill>
                            <a:schemeClr val="tx1"/>
                          </a:solidFill>
                          <a:latin typeface="+mn-lt"/>
                          <a:ea typeface="+mn-ea"/>
                          <a:cs typeface="+mn-cs"/>
                        </a:rPr>
                        <a:t>фарзанди </a:t>
                      </a:r>
                      <a:r>
                        <a:rPr lang="en-US" sz="900" b="0" kern="1200" noProof="0" dirty="0" smtClean="0">
                          <a:solidFill>
                            <a:schemeClr val="tx1"/>
                          </a:solidFill>
                          <a:latin typeface="+mn-lt"/>
                          <a:ea typeface="+mn-ea"/>
                          <a:cs typeface="+mn-cs"/>
                        </a:rPr>
                        <a:t>бор, </a:t>
                      </a:r>
                      <a:br>
                        <a:rPr lang="en-US" sz="900" b="0" kern="1200" noProof="0" dirty="0" smtClean="0">
                          <a:solidFill>
                            <a:schemeClr val="tx1"/>
                          </a:solidFill>
                          <a:latin typeface="+mn-lt"/>
                          <a:ea typeface="+mn-ea"/>
                          <a:cs typeface="+mn-cs"/>
                        </a:rPr>
                      </a:br>
                      <a:r>
                        <a:rPr lang="en-US" sz="900" b="0" kern="1200" noProof="0" dirty="0" smtClean="0">
                          <a:solidFill>
                            <a:schemeClr val="tx1"/>
                          </a:solidFill>
                          <a:latin typeface="+mn-lt"/>
                          <a:ea typeface="+mn-ea"/>
                          <a:cs typeface="+mn-cs"/>
                        </a:rPr>
                        <a:t>ҳозирда нафақада</a:t>
                      </a:r>
                      <a:endParaRPr lang="en-US"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8"/>
                  </a:ext>
                </a:extLst>
              </a:tr>
              <a:tr h="229341">
                <a:tc gridSpan="5">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09"/>
                  </a:ext>
                </a:extLst>
              </a:tr>
              <a:tr h="596813">
                <a:tc>
                  <a:txBody>
                    <a:bodyPr/>
                    <a:lstStyle/>
                    <a:p>
                      <a:pPr algn="ctr">
                        <a:lnSpc>
                          <a:spcPct val="85000"/>
                        </a:lnSpc>
                      </a:pPr>
                      <a:r>
                        <a:rPr lang="en-US"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 altLang="en-US" sz="900" b="1" kern="1200" noProof="0" dirty="0" smtClean="0">
                          <a:solidFill>
                            <a:schemeClr val="tx1"/>
                          </a:solidFill>
                          <a:latin typeface="+mn-lt"/>
                          <a:ea typeface="+mn-ea"/>
                          <a:cs typeface="Arial" panose="020B0604020202020204" pitchFamily="34" charset="0"/>
                        </a:rPr>
                        <a:t>ДЖУРАБОЕВ</a:t>
                      </a:r>
                      <a:r>
                        <a:rPr lang="en-US" altLang="en-US" sz="900" b="0" kern="1200" noProof="0" dirty="0" smtClean="0">
                          <a:solidFill>
                            <a:schemeClr val="tx1"/>
                          </a:solidFill>
                          <a:latin typeface="+mn-lt"/>
                          <a:ea typeface="+mn-ea"/>
                          <a:cs typeface="Arial" panose="020B0604020202020204" pitchFamily="34" charset="0"/>
                        </a:rPr>
                        <a:t> Абдуманноп Мирзабоевич</a:t>
                      </a:r>
                      <a:r>
                        <a:rPr lang="" altLang="en-US" sz="900" b="0" kern="1200" noProof="0" dirty="0" smtClean="0">
                          <a:solidFill>
                            <a:schemeClr val="tx1"/>
                          </a:solidFill>
                          <a:latin typeface="+mn-lt"/>
                          <a:ea typeface="+mn-ea"/>
                          <a:cs typeface="Arial" panose="020B0604020202020204" pitchFamily="34" charset="0"/>
                        </a:rPr>
                        <a:t> </a:t>
                      </a:r>
                      <a:r>
                        <a:rPr lang="en-US" sz="900" b="0" kern="1200" noProof="0" dirty="0" smtClean="0">
                          <a:solidFill>
                            <a:schemeClr val="tx1"/>
                          </a:solidFill>
                          <a:latin typeface="+mn-lt"/>
                          <a:ea typeface="+mn-ea"/>
                          <a:cs typeface="Arial" panose="020B0604020202020204" pitchFamily="34" charset="0"/>
                        </a:rPr>
                        <a:t>19</a:t>
                      </a:r>
                      <a:r>
                        <a:rPr lang="" altLang="en-US" sz="900" b="0" kern="1200" noProof="0" dirty="0" smtClean="0">
                          <a:solidFill>
                            <a:schemeClr val="tx1"/>
                          </a:solidFill>
                          <a:latin typeface="+mn-lt"/>
                          <a:ea typeface="+mn-ea"/>
                          <a:cs typeface="Arial" panose="020B0604020202020204" pitchFamily="34" charset="0"/>
                        </a:rPr>
                        <a:t>2</a:t>
                      </a:r>
                      <a:r>
                        <a:rPr lang="en-US" altLang="en-US" sz="900" b="0" kern="1200" noProof="0" dirty="0" smtClean="0">
                          <a:solidFill>
                            <a:schemeClr val="tx1"/>
                          </a:solidFill>
                          <a:latin typeface="+mn-lt"/>
                          <a:ea typeface="+mn-ea"/>
                          <a:cs typeface="Arial" panose="020B0604020202020204" pitchFamily="34" charset="0"/>
                        </a:rPr>
                        <a:t>5</a:t>
                      </a:r>
                      <a:r>
                        <a:rPr lang="en-US" sz="900" b="0" kern="1200" noProof="0" dirty="0" smtClean="0">
                          <a:solidFill>
                            <a:schemeClr val="tx1"/>
                          </a:solidFill>
                          <a:latin typeface="+mn-lt"/>
                          <a:ea typeface="+mn-ea"/>
                          <a:cs typeface="Arial" panose="020B0604020202020204" pitchFamily="34" charset="0"/>
                        </a:rPr>
                        <a:t> йил, </a:t>
                      </a:r>
                      <a:r>
                        <a:rPr lang="" altLang="en-US" sz="900" b="0" kern="1200" noProof="0" dirty="0" smtClean="0">
                          <a:solidFill>
                            <a:schemeClr val="tx1"/>
                          </a:solidFill>
                          <a:latin typeface="+mn-lt"/>
                          <a:ea typeface="+mn-ea"/>
                          <a:cs typeface="Arial" panose="020B0604020202020204" pitchFamily="34" charset="0"/>
                        </a:rPr>
                        <a:t>Тошкент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Arial" panose="020B0604020202020204" pitchFamily="34" charset="0"/>
                        </a:rPr>
                        <a:t>2003 йил вафот этган</a:t>
                      </a:r>
                    </a:p>
                    <a:p>
                      <a:pPr algn="l">
                        <a:lnSpc>
                          <a:spcPct val="85000"/>
                        </a:lnSpc>
                      </a:pPr>
                      <a:r>
                        <a:rPr lang="en-US" altLang="en-US" sz="900" b="0" kern="1200" noProof="0" dirty="0">
                          <a:solidFill>
                            <a:schemeClr val="tx1"/>
                          </a:solidFill>
                          <a:latin typeface="+mn-lt"/>
                          <a:ea typeface="+mn-ea"/>
                          <a:cs typeface="Arial" panose="020B0604020202020204" pitchFamily="34" charset="0"/>
                        </a:rPr>
                        <a:t>(Қишлоқ жамоа хўжалиги ишчиси)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455692">
                <a:tc>
                  <a:txBody>
                    <a:bodyPr/>
                    <a:lstStyle/>
                    <a:p>
                      <a:pPr algn="ctr">
                        <a:lnSpc>
                          <a:spcPct val="85000"/>
                        </a:lnSpc>
                      </a:pPr>
                      <a:r>
                        <a:rPr lang="en-US"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noProof="0" dirty="0" smtClean="0">
                          <a:cs typeface="Arial" panose="020B0604020202020204" pitchFamily="34" charset="0"/>
                          <a:sym typeface="+mn-ea"/>
                        </a:rPr>
                        <a:t>ДЖУРАБОЕВ</a:t>
                      </a:r>
                      <a:r>
                        <a:rPr lang="en-US" altLang="en-US" sz="900" b="1" kern="1200" noProof="0" dirty="0" smtClean="0">
                          <a:solidFill>
                            <a:schemeClr val="tx1"/>
                          </a:solidFill>
                          <a:latin typeface="+mn-lt"/>
                          <a:ea typeface="+mn-ea"/>
                          <a:cs typeface="Arial" panose="020B0604020202020204" pitchFamily="34" charset="0"/>
                        </a:rPr>
                        <a:t> </a:t>
                      </a:r>
                      <a:r>
                        <a:rPr lang="en-US" altLang="en-US" sz="900" b="0" kern="1200" noProof="0" dirty="0" smtClean="0">
                          <a:solidFill>
                            <a:schemeClr val="tx1"/>
                          </a:solidFill>
                          <a:latin typeface="+mn-lt"/>
                          <a:ea typeface="+mn-ea"/>
                          <a:cs typeface="Arial" panose="020B0604020202020204" pitchFamily="34" charset="0"/>
                        </a:rPr>
                        <a:t>Салима Турдибаевна</a:t>
                      </a:r>
                      <a:r>
                        <a:rPr lang="" altLang="en-US" sz="900" b="0" kern="1200" noProof="0" dirty="0" smtClean="0">
                          <a:solidFill>
                            <a:schemeClr val="tx1"/>
                          </a:solidFill>
                          <a:latin typeface="+mn-lt"/>
                          <a:ea typeface="+mn-ea"/>
                          <a:cs typeface="Arial" panose="020B0604020202020204" pitchFamily="34" charset="0"/>
                        </a:rPr>
                        <a:t> </a:t>
                      </a:r>
                      <a:r>
                        <a:rPr lang="en-US" altLang="en-US" sz="900" b="0" kern="1200" noProof="0" dirty="0" smtClean="0">
                          <a:solidFill>
                            <a:schemeClr val="tx1"/>
                          </a:solidFill>
                          <a:latin typeface="+mn-lt"/>
                          <a:ea typeface="+mn-ea"/>
                          <a:cs typeface="Arial" panose="020B0604020202020204" pitchFamily="34" charset="0"/>
                        </a:rPr>
                        <a:t>1</a:t>
                      </a:r>
                      <a:r>
                        <a:rPr lang="en-US" sz="900" b="0" kern="1200" noProof="0" dirty="0" smtClean="0">
                          <a:solidFill>
                            <a:schemeClr val="tx1"/>
                          </a:solidFill>
                          <a:latin typeface="+mn-lt"/>
                          <a:ea typeface="+mn-ea"/>
                          <a:cs typeface="Arial" panose="020B0604020202020204" pitchFamily="34" charset="0"/>
                        </a:rPr>
                        <a:t>9</a:t>
                      </a:r>
                      <a:r>
                        <a:rPr lang="" altLang="en-US" sz="900" b="0" kern="1200" noProof="0" dirty="0" smtClean="0">
                          <a:solidFill>
                            <a:schemeClr val="tx1"/>
                          </a:solidFill>
                          <a:latin typeface="+mn-lt"/>
                          <a:ea typeface="+mn-ea"/>
                          <a:cs typeface="Arial" panose="020B0604020202020204" pitchFamily="34" charset="0"/>
                        </a:rPr>
                        <a:t>38</a:t>
                      </a:r>
                      <a:r>
                        <a:rPr lang="en-US" sz="900" b="0" kern="1200" noProof="0" dirty="0" smtClean="0">
                          <a:solidFill>
                            <a:schemeClr val="tx1"/>
                          </a:solidFill>
                          <a:latin typeface="+mn-lt"/>
                          <a:ea typeface="+mn-ea"/>
                          <a:cs typeface="Arial" panose="020B0604020202020204" pitchFamily="34" charset="0"/>
                        </a:rPr>
                        <a:t> йил, </a:t>
                      </a:r>
                      <a:r>
                        <a:rPr lang="en-US" altLang="en-US" sz="900" noProof="0" dirty="0" smtClean="0">
                          <a:cs typeface="Arial" panose="020B0604020202020204" pitchFamily="34" charset="0"/>
                          <a:sym typeface="+mn-ea"/>
                        </a:rPr>
                        <a:t>Тошкент вилояти</a:t>
                      </a:r>
                      <a:endParaRPr lang="en-US"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Arial" panose="020B0604020202020204" pitchFamily="34" charset="0"/>
                        </a:rPr>
                        <a:t>Пенсионер</a:t>
                      </a:r>
                    </a:p>
                    <a:p>
                      <a:pPr algn="l">
                        <a:lnSpc>
                          <a:spcPct val="85000"/>
                        </a:lnSpc>
                      </a:pPr>
                      <a:r>
                        <a:rPr lang="en-US" altLang="en-US" sz="900" b="0" kern="1200" noProof="0" dirty="0">
                          <a:solidFill>
                            <a:schemeClr val="tx1"/>
                          </a:solidFill>
                          <a:latin typeface="+mn-lt"/>
                          <a:ea typeface="+mn-ea"/>
                          <a:cs typeface="Arial" panose="020B0604020202020204" pitchFamily="34" charset="0"/>
                        </a:rPr>
                        <a:t>(Қишлоқ жамоа хўжалиги ишчиси)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r h="665922">
                <a:tc>
                  <a:txBody>
                    <a:bodyPr/>
                    <a:lstStyle/>
                    <a:p>
                      <a:pPr algn="ctr">
                        <a:lnSpc>
                          <a:spcPct val="85000"/>
                        </a:lnSpc>
                      </a:pPr>
                      <a:r>
                        <a:rPr lang="en-US"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noProof="0" dirty="0" smtClean="0">
                          <a:cs typeface="Arial" panose="020B0604020202020204" pitchFamily="34" charset="0"/>
                          <a:sym typeface="+mn-ea"/>
                        </a:rPr>
                        <a:t>ДЖУРАБОЕВ</a:t>
                      </a:r>
                      <a:r>
                        <a:rPr lang="" altLang="en-US" sz="900" b="1" noProof="0" dirty="0" smtClean="0">
                          <a:cs typeface="Arial" panose="020B0604020202020204" pitchFamily="34" charset="0"/>
                          <a:sym typeface="+mn-ea"/>
                        </a:rPr>
                        <a:t>А</a:t>
                      </a:r>
                      <a:r>
                        <a:rPr lang="en-US" altLang="en-US" sz="900" b="1" kern="1200" noProof="0" dirty="0" smtClean="0">
                          <a:solidFill>
                            <a:schemeClr val="tx1"/>
                          </a:solidFill>
                          <a:latin typeface="+mn-lt"/>
                          <a:ea typeface="+mn-ea"/>
                          <a:cs typeface="Arial" panose="020B0604020202020204" pitchFamily="34" charset="0"/>
                        </a:rPr>
                        <a:t> Муборак Ахматджановна</a:t>
                      </a:r>
                    </a:p>
                    <a:p>
                      <a:pPr algn="l">
                        <a:lnSpc>
                          <a:spcPct val="85000"/>
                        </a:lnSpc>
                      </a:pPr>
                      <a:r>
                        <a:rPr lang="en-US" sz="900" b="0" kern="1200" noProof="0" dirty="0" smtClean="0">
                          <a:solidFill>
                            <a:schemeClr val="tx1"/>
                          </a:solidFill>
                          <a:latin typeface="+mn-lt"/>
                          <a:ea typeface="+mn-ea"/>
                          <a:cs typeface="Arial" panose="020B0604020202020204" pitchFamily="34" charset="0"/>
                        </a:rPr>
                        <a:t>19</a:t>
                      </a:r>
                      <a:r>
                        <a:rPr lang="en-US" altLang="en-US" sz="900" b="0" kern="1200" noProof="0" dirty="0" smtClean="0">
                          <a:solidFill>
                            <a:schemeClr val="tx1"/>
                          </a:solidFill>
                          <a:latin typeface="+mn-lt"/>
                          <a:ea typeface="+mn-ea"/>
                          <a:cs typeface="Arial" panose="020B0604020202020204" pitchFamily="34" charset="0"/>
                        </a:rPr>
                        <a:t>5</a:t>
                      </a:r>
                      <a:r>
                        <a:rPr lang="" altLang="en-US" sz="900" b="0" kern="1200" noProof="0" dirty="0" smtClean="0">
                          <a:solidFill>
                            <a:schemeClr val="tx1"/>
                          </a:solidFill>
                          <a:latin typeface="+mn-lt"/>
                          <a:ea typeface="+mn-ea"/>
                          <a:cs typeface="Arial" panose="020B0604020202020204" pitchFamily="34" charset="0"/>
                        </a:rPr>
                        <a:t>4</a:t>
                      </a:r>
                      <a:r>
                        <a:rPr lang="en-US" sz="900" b="0" kern="1200" noProof="0" dirty="0" smtClean="0">
                          <a:solidFill>
                            <a:schemeClr val="tx1"/>
                          </a:solidFill>
                          <a:latin typeface="+mn-lt"/>
                          <a:ea typeface="+mn-ea"/>
                          <a:cs typeface="Arial" panose="020B0604020202020204" pitchFamily="34" charset="0"/>
                        </a:rPr>
                        <a:t> йил, </a:t>
                      </a:r>
                      <a:r>
                        <a:rPr lang="en-US" altLang="en-US" sz="900" noProof="0" dirty="0" smtClean="0">
                          <a:cs typeface="Arial" panose="020B0604020202020204" pitchFamily="34" charset="0"/>
                          <a:sym typeface="+mn-ea"/>
                        </a:rPr>
                        <a:t>Тошкент вилояти</a:t>
                      </a:r>
                      <a:endParaRPr lang="en-US" altLang="en-US" sz="900" b="0" kern="1200" noProof="0" dirty="0" smtClean="0">
                        <a:solidFill>
                          <a:schemeClr val="tx1"/>
                        </a:solidFill>
                        <a:latin typeface="+mn-lt"/>
                        <a:ea typeface="+mn-ea"/>
                        <a:cs typeface="Arial" panose="020B0604020202020204" pitchFamily="34" charset="0"/>
                        <a:sym typeface="+mn-ea"/>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mn-cs"/>
                        </a:rPr>
                        <a:t>Пенсияда</a:t>
                      </a:r>
                    </a:p>
                    <a:p>
                      <a:pPr algn="l">
                        <a:lnSpc>
                          <a:spcPct val="85000"/>
                        </a:lnSpc>
                      </a:pPr>
                      <a:r>
                        <a:rPr lang="en-US" altLang="en-US" sz="900" b="0" kern="1200" noProof="0" dirty="0">
                          <a:solidFill>
                            <a:schemeClr val="tx1"/>
                          </a:solidFill>
                          <a:latin typeface="+mn-lt"/>
                          <a:ea typeface="+mn-ea"/>
                          <a:cs typeface="+mn-cs"/>
                        </a:rPr>
                        <a:t>Ўзбекистон давлат ёш томошабинлар театри либослар бўлими бошлиғи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2"/>
                  </a:ext>
                </a:extLst>
              </a:tr>
              <a:tr h="206398">
                <a:tc gridSpan="5">
                  <a:txBody>
                    <a:bodyPr/>
                    <a:lstStyle/>
                    <a:p>
                      <a:pPr algn="ctr">
                        <a:lnSpc>
                          <a:spcPct val="85000"/>
                        </a:lnSpc>
                      </a:pPr>
                      <a:r>
                        <a:rPr lang="en-US"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10013"/>
                  </a:ext>
                </a:extLst>
              </a:tr>
              <a:tr h="460044">
                <a:tc gridSpan="3">
                  <a:txBody>
                    <a:bodyPr/>
                    <a:lstStyle/>
                    <a:p>
                      <a:pPr algn="l">
                        <a:lnSpc>
                          <a:spcPct val="85000"/>
                        </a:lnSpc>
                      </a:pPr>
                      <a:r>
                        <a:rPr lang="en-US" sz="900" b="1" noProof="0" dirty="0">
                          <a:latin typeface="+mn-lt"/>
                        </a:rPr>
                        <a:t>Тамомлаган ОТМ:</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a:t>
                      </a:r>
                      <a:r>
                        <a:rPr lang="" altLang="en-US" sz="900" b="0" kern="1200" noProof="0" dirty="0" smtClean="0">
                          <a:solidFill>
                            <a:schemeClr val="tx1"/>
                          </a:solidFill>
                          <a:latin typeface="+mn-lt"/>
                          <a:ea typeface="+mn-ea"/>
                          <a:cs typeface="+mn-cs"/>
                        </a:rPr>
                        <a:t>4</a:t>
                      </a:r>
                      <a:r>
                        <a:rPr lang="ru-RU" sz="900" b="0" kern="1200" noProof="0" dirty="0" smtClean="0">
                          <a:solidFill>
                            <a:schemeClr val="tx1"/>
                          </a:solidFill>
                          <a:latin typeface="+mn-lt"/>
                          <a:ea typeface="+mn-ea"/>
                          <a:cs typeface="+mn-cs"/>
                        </a:rPr>
                        <a:t> й.</a:t>
                      </a:r>
                      <a:r>
                        <a:rPr lang="en-US" altLang="en-US" sz="900" b="0" kern="1200" noProof="0" dirty="0" smtClean="0">
                          <a:solidFill>
                            <a:schemeClr val="tx1"/>
                          </a:solidFill>
                          <a:latin typeface="+mn-lt"/>
                          <a:ea typeface="+mn-ea"/>
                          <a:cs typeface="+mn-cs"/>
                        </a:rPr>
                        <a:t>Тошкент театр ва рассомлик 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4"/>
                  </a:ext>
                </a:extLst>
              </a:tr>
              <a:tr h="271674">
                <a:tc gridSpan="3">
                  <a:txBody>
                    <a:bodyPr/>
                    <a:lstStyle/>
                    <a:p>
                      <a:pPr marL="0" marR="0" lvl="0" indent="0" algn="l" defTabSz="914400" rtl="0" eaLnBrk="1" fontAlgn="auto" latinLnBrk="0" hangingPunct="1">
                        <a:lnSpc>
                          <a:spcPct val="85000"/>
                        </a:lnSpc>
                        <a:spcBef>
                          <a:spcPts val="0"/>
                        </a:spcBef>
                        <a:spcAft>
                          <a:spcPts val="0"/>
                        </a:spcAft>
                        <a:buClrTx/>
                        <a:buSzTx/>
                        <a:buFontTx/>
                        <a:buNone/>
                        <a:defRPr/>
                      </a:pPr>
                      <a:r>
                        <a:rPr lang="en-US" sz="900" b="1" noProof="0" dirty="0">
                          <a:latin typeface="+mn-lt"/>
                        </a:rPr>
                        <a:t>Мутахассислиги:</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altLang="en-US" sz="900" b="0" kern="1200" noProof="0" dirty="0">
                          <a:solidFill>
                            <a:schemeClr val="tx1"/>
                          </a:solidFill>
                          <a:latin typeface="+mn-lt"/>
                          <a:ea typeface="+mn-ea"/>
                          <a:cs typeface="+mn-cs"/>
                        </a:rPr>
                        <a:t>драма театр ва кино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5"/>
                  </a:ext>
                </a:extLst>
              </a:tr>
              <a:tr h="312083">
                <a:tc gridSpan="3">
                  <a:txBody>
                    <a:bodyPr/>
                    <a:lstStyle/>
                    <a:p>
                      <a:pPr algn="l">
                        <a:lnSpc>
                          <a:spcPct val="85000"/>
                        </a:lnSpc>
                      </a:pPr>
                      <a:r>
                        <a:rPr lang="en-US" sz="900" b="1" kern="1200" noProof="0" dirty="0">
                          <a:solidFill>
                            <a:schemeClr val="tx1"/>
                          </a:solidFill>
                          <a:latin typeface="+mn-lt"/>
                          <a:ea typeface="+mn-ea"/>
                          <a:cs typeface="+mn-cs"/>
                        </a:rPr>
                        <a:t>Илмий даража (унвон):</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6"/>
                  </a:ext>
                </a:extLst>
              </a:tr>
              <a:tr h="312083">
                <a:tc gridSpan="3">
                  <a:txBody>
                    <a:bodyPr/>
                    <a:lstStyle/>
                    <a:p>
                      <a:pPr algn="l">
                        <a:lnSpc>
                          <a:spcPct val="85000"/>
                        </a:lnSpc>
                      </a:pPr>
                      <a:r>
                        <a:rPr lang="en-US"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7"/>
                  </a:ext>
                </a:extLst>
              </a:tr>
              <a:tr h="312083">
                <a:tc gridSpan="3">
                  <a:txBody>
                    <a:bodyPr/>
                    <a:lstStyle/>
                    <a:p>
                      <a:pPr algn="l">
                        <a:lnSpc>
                          <a:spcPct val="85000"/>
                        </a:lnSpc>
                      </a:pPr>
                      <a:r>
                        <a:rPr lang="en-US"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8"/>
                  </a:ext>
                </a:extLst>
              </a:tr>
            </a:tbl>
          </a:graphicData>
        </a:graphic>
      </p:graphicFrame>
      <p:graphicFrame>
        <p:nvGraphicFramePr>
          <p:cNvPr id="5" name="Таблица 4"/>
          <p:cNvGraphicFramePr>
            <a:graphicFrameLocks noGrp="1"/>
          </p:cNvGraphicFramePr>
          <p:nvPr>
            <p:extLst>
              <p:ext uri="{D42A27DB-BD31-4B8C-83A1-F6EECF244321}">
                <p14:modId xmlns:p14="http://schemas.microsoft.com/office/powerpoint/2010/main" val="323797106"/>
              </p:ext>
            </p:extLst>
          </p:nvPr>
        </p:nvGraphicFramePr>
        <p:xfrm>
          <a:off x="3674745" y="865505"/>
          <a:ext cx="3173095" cy="5919090"/>
        </p:xfrm>
        <a:graphic>
          <a:graphicData uri="http://schemas.openxmlformats.org/drawingml/2006/table">
            <a:tbl>
              <a:tblPr firstRow="1" bandRow="1">
                <a:tableStyleId>{C083E6E3-FA7D-4D7B-A595-EF9225AFEA82}</a:tableStyleId>
              </a:tblPr>
              <a:tblGrid>
                <a:gridCol w="1488440">
                  <a:extLst>
                    <a:ext uri="{9D8B030D-6E8A-4147-A177-3AD203B41FA5}">
                      <a16:colId xmlns:a16="http://schemas.microsoft.com/office/drawing/2014/main" val="20000"/>
                    </a:ext>
                  </a:extLst>
                </a:gridCol>
                <a:gridCol w="1684655">
                  <a:extLst>
                    <a:ext uri="{9D8B030D-6E8A-4147-A177-3AD203B41FA5}">
                      <a16:colId xmlns:a16="http://schemas.microsoft.com/office/drawing/2014/main" val="20001"/>
                    </a:ext>
                  </a:extLst>
                </a:gridCol>
              </a:tblGrid>
              <a:tr h="328295">
                <a:tc gridSpan="2">
                  <a:txBody>
                    <a:bodyPr/>
                    <a:lstStyle/>
                    <a:p>
                      <a:pPr algn="ctr"/>
                      <a:r>
                        <a:rPr lang="en-US"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539750">
                <a:tc>
                  <a:txBody>
                    <a:bodyPr/>
                    <a:lstStyle/>
                    <a:p>
                      <a:pPr algn="l">
                        <a:lnSpc>
                          <a:spcPct val="85000"/>
                        </a:lnSpc>
                      </a:pPr>
                      <a:r>
                        <a:rPr lang="en-US" sz="900" b="1" i="0" noProof="0" dirty="0">
                          <a:solidFill>
                            <a:schemeClr val="tx1"/>
                          </a:solidFill>
                          <a:latin typeface="+mn-lt"/>
                        </a:rPr>
                        <a:t>Эгаллаб турган </a:t>
                      </a:r>
                      <a:r>
                        <a:rPr lang="en-US" sz="900" b="1" i="0" noProof="0" dirty="0" smtClean="0">
                          <a:solidFill>
                            <a:schemeClr val="tx1"/>
                          </a:solidFill>
                          <a:latin typeface="+mn-lt"/>
                        </a:rPr>
                        <a:t>лавозими</a:t>
                      </a:r>
                      <a:r>
                        <a:rPr lang="en-US"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en-US" altLang="en-US" sz="900" b="0" kern="1200" noProof="0" dirty="0" err="1" smtClean="0">
                          <a:solidFill>
                            <a:schemeClr val="tx1"/>
                          </a:solidFill>
                          <a:latin typeface="+mn-lt"/>
                          <a:ea typeface="+mn-ea"/>
                          <a:cs typeface="+mn-cs"/>
                        </a:rPr>
                        <a:t>Ўзбекистон</a:t>
                      </a:r>
                      <a:r>
                        <a:rPr lang="en-US" altLang="en-US" sz="900" b="0" kern="1200" noProof="0" dirty="0" smtClean="0">
                          <a:solidFill>
                            <a:schemeClr val="tx1"/>
                          </a:solidFill>
                          <a:latin typeface="+mn-lt"/>
                          <a:ea typeface="+mn-ea"/>
                          <a:cs typeface="+mn-cs"/>
                        </a:rPr>
                        <a:t> </a:t>
                      </a:r>
                      <a:r>
                        <a:rPr lang="en-US" altLang="en-US" sz="900" b="0" kern="1200" noProof="0" dirty="0" err="1" smtClean="0">
                          <a:solidFill>
                            <a:schemeClr val="tx1"/>
                          </a:solidFill>
                          <a:latin typeface="+mn-lt"/>
                          <a:ea typeface="+mn-ea"/>
                          <a:cs typeface="+mn-cs"/>
                        </a:rPr>
                        <a:t>давлат</a:t>
                      </a:r>
                      <a:r>
                        <a:rPr lang="en-US" altLang="en-US" sz="900" b="0" kern="1200" noProof="0" dirty="0" smtClean="0">
                          <a:solidFill>
                            <a:schemeClr val="tx1"/>
                          </a:solidFill>
                          <a:latin typeface="+mn-lt"/>
                          <a:ea typeface="+mn-ea"/>
                          <a:cs typeface="+mn-cs"/>
                        </a:rPr>
                        <a:t> </a:t>
                      </a:r>
                      <a:r>
                        <a:rPr lang="en-US" altLang="en-US" sz="900" b="0" kern="1200" noProof="0" dirty="0" err="1" smtClean="0">
                          <a:solidFill>
                            <a:schemeClr val="tx1"/>
                          </a:solidFill>
                          <a:latin typeface="+mn-lt"/>
                          <a:ea typeface="+mn-ea"/>
                          <a:cs typeface="+mn-cs"/>
                        </a:rPr>
                        <a:t>ёш</a:t>
                      </a:r>
                      <a:r>
                        <a:rPr lang="en-US" altLang="en-US" sz="900" b="0" kern="1200" noProof="0" dirty="0" smtClean="0">
                          <a:solidFill>
                            <a:schemeClr val="tx1"/>
                          </a:solidFill>
                          <a:latin typeface="+mn-lt"/>
                          <a:ea typeface="+mn-ea"/>
                          <a:cs typeface="+mn-cs"/>
                        </a:rPr>
                        <a:t> </a:t>
                      </a:r>
                      <a:r>
                        <a:rPr lang="en-US" altLang="en-US" sz="900" b="0" kern="1200" noProof="0" dirty="0" err="1" smtClean="0">
                          <a:solidFill>
                            <a:schemeClr val="tx1"/>
                          </a:solidFill>
                          <a:latin typeface="+mn-lt"/>
                          <a:ea typeface="+mn-ea"/>
                          <a:cs typeface="+mn-cs"/>
                        </a:rPr>
                        <a:t>томошабинлар</a:t>
                      </a:r>
                      <a:r>
                        <a:rPr lang="en-US" altLang="en-US" sz="900" b="0" kern="1200" noProof="0" dirty="0" smtClean="0">
                          <a:solidFill>
                            <a:schemeClr val="tx1"/>
                          </a:solidFill>
                          <a:latin typeface="+mn-lt"/>
                          <a:ea typeface="+mn-ea"/>
                          <a:cs typeface="+mn-cs"/>
                        </a:rPr>
                        <a:t> </a:t>
                      </a:r>
                      <a:r>
                        <a:rPr lang="en-US" altLang="en-US" sz="900" b="0" kern="1200" noProof="0" dirty="0" err="1" smtClean="0">
                          <a:solidFill>
                            <a:schemeClr val="tx1"/>
                          </a:solidFill>
                          <a:latin typeface="+mn-lt"/>
                          <a:ea typeface="+mn-ea"/>
                          <a:cs typeface="+mn-cs"/>
                        </a:rPr>
                        <a:t>театри</a:t>
                      </a:r>
                      <a:r>
                        <a:rPr lang="uz-Cyrl-UZ" altLang="en-US" sz="900" b="0" kern="1200" noProof="0" dirty="0" smtClean="0">
                          <a:solidFill>
                            <a:schemeClr val="tx1"/>
                          </a:solidFill>
                          <a:latin typeface="+mn-lt"/>
                          <a:ea typeface="+mn-ea"/>
                          <a:cs typeface="+mn-cs"/>
                        </a:rPr>
                        <a:t>да</a:t>
                      </a:r>
                      <a:r>
                        <a:rPr lang="uz-Cyrl-UZ" altLang="en-US" sz="900" b="0" kern="1200" baseline="0" noProof="0" dirty="0" smtClean="0">
                          <a:solidFill>
                            <a:schemeClr val="tx1"/>
                          </a:solidFill>
                          <a:latin typeface="+mn-lt"/>
                          <a:ea typeface="+mn-ea"/>
                          <a:cs typeface="+mn-cs"/>
                        </a:rPr>
                        <a:t> ишлаган. </a:t>
                      </a:r>
                      <a:r>
                        <a:rPr lang="en-US" sz="900" b="1" kern="1200" noProof="0" dirty="0" smtClean="0">
                          <a:solidFill>
                            <a:schemeClr val="tx1"/>
                          </a:solidFill>
                          <a:latin typeface="+mn-lt"/>
                          <a:ea typeface="+mn-ea"/>
                          <a:cs typeface="+mn-cs"/>
                        </a:rPr>
                        <a:t>20</a:t>
                      </a:r>
                      <a:r>
                        <a:rPr lang="" altLang="en-US" sz="900" b="1" kern="1200" noProof="0" dirty="0" smtClean="0">
                          <a:solidFill>
                            <a:schemeClr val="tx1"/>
                          </a:solidFill>
                          <a:latin typeface="+mn-lt"/>
                          <a:ea typeface="+mn-ea"/>
                          <a:cs typeface="+mn-cs"/>
                        </a:rPr>
                        <a:t>06</a:t>
                      </a:r>
                      <a:r>
                        <a:rPr lang="en-US" sz="900" b="1" kern="1200" noProof="0" dirty="0" smtClean="0">
                          <a:solidFill>
                            <a:schemeClr val="tx1"/>
                          </a:solidFill>
                          <a:latin typeface="+mn-lt"/>
                          <a:ea typeface="+mn-ea"/>
                          <a:cs typeface="+mn-cs"/>
                        </a:rPr>
                        <a:t> йилдан буён </a:t>
                      </a:r>
                      <a:r>
                        <a:rPr lang="" altLang="en-US" sz="900" b="1" kern="1200" noProof="0" dirty="0" smtClean="0">
                          <a:solidFill>
                            <a:schemeClr val="tx1"/>
                          </a:solidFill>
                          <a:latin typeface="+mn-lt"/>
                          <a:ea typeface="+mn-ea"/>
                          <a:cs typeface="+mn-cs"/>
                        </a:rPr>
                        <a:t>нафақада </a:t>
                      </a:r>
                      <a:endParaRPr lang="en-US" altLang="en-US" sz="900" b="1" kern="1200" noProof="0" dirty="0" smtClean="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43840">
                <a:tc>
                  <a:txBody>
                    <a:bodyPr/>
                    <a:lstStyle/>
                    <a:p>
                      <a:pPr algn="l">
                        <a:lnSpc>
                          <a:spcPct val="85000"/>
                        </a:lnSpc>
                      </a:pPr>
                      <a:r>
                        <a:rPr lang="en-US"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en-US"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en-US"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11455">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 altLang="en-US" sz="900" b="0" noProof="0" dirty="0" smtClean="0">
                          <a:effectLst/>
                          <a:latin typeface="+mn-lt"/>
                          <a:ea typeface="Calibri" panose="020F0502020204030204" pitchFamily="34" charset="0"/>
                          <a:cs typeface="Times New Roman" panose="02020603050405020304" pitchFamily="18" charset="0"/>
                        </a:rPr>
                        <a:t>30</a:t>
                      </a:r>
                      <a:r>
                        <a:rPr lang="en-US" sz="900" b="0" noProof="0" dirty="0" smtClean="0">
                          <a:effectLst/>
                          <a:latin typeface="+mn-lt"/>
                          <a:ea typeface="Calibri" panose="020F0502020204030204" pitchFamily="34" charset="0"/>
                          <a:cs typeface="Times New Roman" panose="02020603050405020304" pitchFamily="18" charset="0"/>
                        </a:rPr>
                        <a:t> </a:t>
                      </a:r>
                      <a:r>
                        <a:rPr lang="en-US"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96850">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b="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407035">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en-US"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293370">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865505">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noProof="0" dirty="0" smtClean="0">
                          <a:effectLst/>
                          <a:ea typeface="Calibri" panose="020F0502020204030204" pitchFamily="34" charset="0"/>
                          <a:cs typeface="Times New Roman" panose="02020603050405020304" pitchFamily="18" charset="0"/>
                          <a:sym typeface="+mn-ea"/>
                        </a:rPr>
                        <a:t>20</a:t>
                      </a:r>
                      <a:r>
                        <a:rPr lang="en-US" altLang="en-US" sz="900" noProof="0" dirty="0" smtClean="0">
                          <a:effectLst/>
                          <a:ea typeface="Calibri" panose="020F0502020204030204" pitchFamily="34" charset="0"/>
                          <a:cs typeface="Times New Roman" panose="02020603050405020304" pitchFamily="18" charset="0"/>
                          <a:sym typeface="+mn-ea"/>
                        </a:rPr>
                        <a:t>2</a:t>
                      </a:r>
                      <a:r>
                        <a:rPr lang="" altLang="en-US" sz="900" noProof="0" dirty="0" smtClean="0">
                          <a:effectLst/>
                          <a:ea typeface="Calibri" panose="020F0502020204030204" pitchFamily="34" charset="0"/>
                          <a:cs typeface="Times New Roman" panose="02020603050405020304" pitchFamily="18" charset="0"/>
                          <a:sym typeface="+mn-ea"/>
                        </a:rPr>
                        <a:t>4</a:t>
                      </a:r>
                      <a:r>
                        <a:rPr lang="en-US" sz="900" noProof="0" dirty="0" smtClean="0">
                          <a:effectLst/>
                          <a:ea typeface="Calibri" panose="020F0502020204030204" pitchFamily="34" charset="0"/>
                          <a:cs typeface="Times New Roman" panose="02020603050405020304" pitchFamily="18" charset="0"/>
                          <a:sym typeface="+mn-ea"/>
                        </a:rPr>
                        <a:t> й. </a:t>
                      </a:r>
                      <a:r>
                        <a:rPr lang="en-US" altLang="en-US" sz="900" noProof="0" dirty="0">
                          <a:effectLst/>
                          <a:ea typeface="Calibri" panose="020F0502020204030204" pitchFamily="34" charset="0"/>
                          <a:cs typeface="Times New Roman" panose="02020603050405020304" pitchFamily="18" charset="0"/>
                          <a:sym typeface="+mn-ea"/>
                        </a:rPr>
                        <a:t>Ўзбекистон Республикаси Президенти Администратсияси ҳузуридаги тиббиёт бош бошқармасининг 2-сонли марказий клиник шифохонаси</a:t>
                      </a:r>
                      <a:endParaRPr lang="en-US" altLang="ru-RU"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293370">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kern="1200" noProof="0" dirty="0" smtClean="0">
                          <a:solidFill>
                            <a:schemeClr val="tx1"/>
                          </a:solidFill>
                          <a:effectLst/>
                          <a:latin typeface="+mn-lt"/>
                          <a:ea typeface="Calibri" panose="020F0502020204030204" pitchFamily="34" charset="0"/>
                          <a:cs typeface="Times New Roman" panose="02020603050405020304" pitchFamily="18" charset="0"/>
                        </a:rPr>
                        <a:t>202</a:t>
                      </a:r>
                      <a:r>
                        <a:rPr lang="" altLang="en-US" sz="900" kern="1200" noProof="0" dirty="0" smtClean="0">
                          <a:solidFill>
                            <a:schemeClr val="tx1"/>
                          </a:solidFill>
                          <a:effectLst/>
                          <a:latin typeface="+mn-lt"/>
                          <a:ea typeface="Calibri" panose="020F0502020204030204" pitchFamily="34" charset="0"/>
                          <a:cs typeface="Times New Roman" panose="02020603050405020304" pitchFamily="18" charset="0"/>
                        </a:rPr>
                        <a:t>4</a:t>
                      </a:r>
                      <a:r>
                        <a:rPr lang="en-US" altLang="en-US" sz="900" kern="1200" noProof="0" dirty="0" smtClean="0">
                          <a:solidFill>
                            <a:schemeClr val="tx1"/>
                          </a:solidFill>
                          <a:effectLst/>
                          <a:latin typeface="+mn-lt"/>
                          <a:ea typeface="Calibri" panose="020F0502020204030204" pitchFamily="34" charset="0"/>
                          <a:cs typeface="Times New Roman" panose="02020603050405020304" pitchFamily="18" charset="0"/>
                        </a:rPr>
                        <a:t>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8"/>
                  </a:ext>
                </a:extLst>
              </a:tr>
              <a:tr h="258445">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227330">
                <a:tc gridSpan="2">
                  <a:txBody>
                    <a:bodyPr/>
                    <a:lstStyle/>
                    <a:p>
                      <a:pPr algn="ctr"/>
                      <a:r>
                        <a:rPr lang="en-US"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2037715">
                <a:tc gridSpan="2">
                  <a:txBody>
                    <a:bodyPr/>
                    <a:lstStyle/>
                    <a:p>
                      <a:pPr marL="0" marR="0" indent="0" algn="just" defTabSz="914400" rtl="0" eaLnBrk="1" fontAlgn="auto" latinLnBrk="0" hangingPunct="1">
                        <a:lnSpc>
                          <a:spcPct val="107000"/>
                        </a:lnSpc>
                        <a:spcBef>
                          <a:spcPts val="0"/>
                        </a:spcBef>
                        <a:spcAft>
                          <a:spcPts val="0"/>
                        </a:spcAft>
                        <a:buClrTx/>
                        <a:buSzTx/>
                        <a:buFontTx/>
                        <a:buNone/>
                        <a:defRPr/>
                      </a:pPr>
                      <a:r>
                        <a:rPr lang="en-US" altLang="en-US" sz="900" noProof="0" dirty="0" smtClean="0">
                          <a:effectLst/>
                          <a:latin typeface="+mn-lt"/>
                          <a:ea typeface="Calibri" panose="020F0502020204030204" pitchFamily="34" charset="0"/>
                          <a:cs typeface="Times New Roman" panose="02020603050405020304" pitchFamily="18" charset="0"/>
                        </a:rPr>
                        <a:t>20</a:t>
                      </a:r>
                      <a:r>
                        <a:rPr lang="" altLang="en-US" sz="900" noProof="0" dirty="0" smtClean="0">
                          <a:effectLst/>
                          <a:latin typeface="+mn-lt"/>
                          <a:ea typeface="Calibri" panose="020F0502020204030204" pitchFamily="34" charset="0"/>
                          <a:cs typeface="Times New Roman" panose="02020603050405020304" pitchFamily="18" charset="0"/>
                        </a:rPr>
                        <a:t>01</a:t>
                      </a:r>
                      <a:r>
                        <a:rPr lang="en-US" sz="900" noProof="0" dirty="0" smtClean="0">
                          <a:effectLst/>
                          <a:latin typeface="+mn-lt"/>
                          <a:ea typeface="Calibri" panose="020F0502020204030204" pitchFamily="34" charset="0"/>
                          <a:cs typeface="Times New Roman" panose="02020603050405020304" pitchFamily="18" charset="0"/>
                        </a:rPr>
                        <a:t> й. Ўзбекистонда </a:t>
                      </a:r>
                      <a:r>
                        <a:rPr lang="en-US" sz="900" noProof="0" dirty="0" err="1" smtClean="0">
                          <a:effectLst/>
                          <a:latin typeface="+mn-lt"/>
                          <a:ea typeface="Calibri" panose="020F0502020204030204" pitchFamily="34" charset="0"/>
                          <a:cs typeface="Times New Roman" panose="02020603050405020304" pitchFamily="18" charset="0"/>
                        </a:rPr>
                        <a:t>хизмат</a:t>
                      </a:r>
                      <a:r>
                        <a:rPr lang="en-US" sz="900" noProof="0" dirty="0" smtClean="0">
                          <a:effectLst/>
                          <a:latin typeface="+mn-lt"/>
                          <a:ea typeface="Calibri" panose="020F0502020204030204" pitchFamily="34" charset="0"/>
                          <a:cs typeface="Times New Roman" panose="02020603050405020304" pitchFamily="18" charset="0"/>
                        </a:rPr>
                        <a:t> </a:t>
                      </a:r>
                      <a:r>
                        <a:rPr lang="en-US" sz="900" noProof="0" dirty="0" err="1" smtClean="0">
                          <a:effectLst/>
                          <a:latin typeface="+mn-lt"/>
                          <a:ea typeface="Calibri" panose="020F0502020204030204" pitchFamily="34" charset="0"/>
                          <a:cs typeface="Times New Roman" panose="02020603050405020304" pitchFamily="18" charset="0"/>
                        </a:rPr>
                        <a:t>кўрса</a:t>
                      </a:r>
                      <a:r>
                        <a:rPr lang="uz-Cyrl-UZ" sz="900" noProof="0" dirty="0" smtClean="0">
                          <a:effectLst/>
                          <a:latin typeface="+mn-lt"/>
                          <a:ea typeface="Calibri" panose="020F0502020204030204" pitchFamily="34" charset="0"/>
                          <a:cs typeface="Times New Roman" panose="02020603050405020304" pitchFamily="18" charset="0"/>
                        </a:rPr>
                        <a:t>т</a:t>
                      </a:r>
                      <a:r>
                        <a:rPr lang="en-US" sz="900" noProof="0" dirty="0" err="1" smtClean="0">
                          <a:effectLst/>
                          <a:latin typeface="+mn-lt"/>
                          <a:ea typeface="Calibri" panose="020F0502020204030204" pitchFamily="34" charset="0"/>
                          <a:cs typeface="Times New Roman" panose="02020603050405020304" pitchFamily="18" charset="0"/>
                        </a:rPr>
                        <a:t>ган</a:t>
                      </a:r>
                      <a:r>
                        <a:rPr lang="en-US" sz="900" noProof="0" dirty="0" smtClean="0">
                          <a:effectLst/>
                          <a:latin typeface="+mn-lt"/>
                          <a:ea typeface="Calibri" panose="020F0502020204030204" pitchFamily="34" charset="0"/>
                          <a:cs typeface="Times New Roman" panose="02020603050405020304" pitchFamily="18" charset="0"/>
                        </a:rPr>
                        <a:t> артист</a:t>
                      </a:r>
                    </a:p>
                    <a:p>
                      <a:pPr marL="0" marR="0" indent="0" algn="just" defTabSz="914400" rtl="0" eaLnBrk="1" fontAlgn="auto" latinLnBrk="0" hangingPunct="1">
                        <a:lnSpc>
                          <a:spcPct val="107000"/>
                        </a:lnSpc>
                        <a:spcBef>
                          <a:spcPts val="0"/>
                        </a:spcBef>
                        <a:spcAft>
                          <a:spcPts val="0"/>
                        </a:spcAft>
                        <a:buClrTx/>
                        <a:buSzTx/>
                        <a:buFontTx/>
                        <a:buNone/>
                        <a:defRPr/>
                      </a:pPr>
                      <a:endParaRPr lang="en-US" altLang="en-US"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endParaRPr lang="ru-RU"/>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bl>
          </a:graphicData>
        </a:graphic>
      </p:graphicFrame>
      <p:graphicFrame>
        <p:nvGraphicFramePr>
          <p:cNvPr id="6" name="Таблица 5"/>
          <p:cNvGraphicFramePr>
            <a:graphicFrameLocks noGrp="1"/>
          </p:cNvGraphicFramePr>
          <p:nvPr>
            <p:extLst>
              <p:ext uri="{D42A27DB-BD31-4B8C-83A1-F6EECF244321}">
                <p14:modId xmlns:p14="http://schemas.microsoft.com/office/powerpoint/2010/main" val="2916052793"/>
              </p:ext>
            </p:extLst>
          </p:nvPr>
        </p:nvGraphicFramePr>
        <p:xfrm>
          <a:off x="6949857" y="869286"/>
          <a:ext cx="2817247" cy="5914419"/>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0000"/>
                    </a:ext>
                  </a:extLst>
                </a:gridCol>
              </a:tblGrid>
              <a:tr h="290319">
                <a:tc>
                  <a:txBody>
                    <a:bodyPr/>
                    <a:lstStyle/>
                    <a:p>
                      <a:pPr algn="ctr">
                        <a:lnSpc>
                          <a:spcPct val="85000"/>
                        </a:lnSpc>
                      </a:pPr>
                      <a:r>
                        <a:rPr lang="en-US" sz="1200" b="1" noProof="0" dirty="0" smtClean="0">
                          <a:solidFill>
                            <a:schemeClr val="bg1"/>
                          </a:solidFill>
                          <a:latin typeface="Bahnschrift SemiBold" panose="020B0502040204020203" pitchFamily="34" charset="0"/>
                        </a:rPr>
                        <a:t>ФАОЛИЯТИ</a:t>
                      </a:r>
                      <a:r>
                        <a:rPr lang="en-US" sz="1200" b="1" baseline="0" noProof="0" dirty="0" smtClean="0">
                          <a:solidFill>
                            <a:schemeClr val="bg1"/>
                          </a:solidFill>
                          <a:latin typeface="Bahnschrift SemiBold" panose="020B0502040204020203" pitchFamily="34" charset="0"/>
                        </a:rPr>
                        <a:t> </a:t>
                      </a:r>
                      <a:endParaRPr lang="en-US"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10000"/>
                  </a:ext>
                </a:extLst>
              </a:tr>
              <a:tr h="365450">
                <a:tc>
                  <a:txBody>
                    <a:bodyPr/>
                    <a:lstStyle/>
                    <a:p>
                      <a:pPr algn="ctr">
                        <a:lnSpc>
                          <a:spcPct val="85000"/>
                        </a:lnSpc>
                      </a:pPr>
                      <a:r>
                        <a:rPr lang="en-US" sz="1000" b="1" noProof="0" dirty="0" smtClean="0">
                          <a:solidFill>
                            <a:schemeClr val="bg1"/>
                          </a:solidFill>
                          <a:latin typeface="Bahnschrift SemiBold" panose="020B0502040204020203" pitchFamily="34" charset="0"/>
                        </a:rPr>
                        <a:t>Меҳнат фаолияти ҳақида</a:t>
                      </a:r>
                      <a:r>
                        <a:rPr lang="en-US" sz="1000" b="1" baseline="0" noProof="0" dirty="0" smtClean="0">
                          <a:solidFill>
                            <a:schemeClr val="bg1"/>
                          </a:solidFill>
                          <a:latin typeface="Bahnschrift SemiBold" panose="020B0502040204020203" pitchFamily="34" charset="0"/>
                        </a:rPr>
                        <a:t> қисқача тавсифнома</a:t>
                      </a:r>
                      <a:endParaRPr lang="en-US"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10001"/>
                  </a:ext>
                </a:extLst>
              </a:tr>
              <a:tr h="4465228">
                <a:tc>
                  <a:txBody>
                    <a:bodyPr/>
                    <a:lstStyle/>
                    <a:p>
                      <a:pPr algn="just">
                        <a:lnSpc>
                          <a:spcPct val="85000"/>
                        </a:lnSpc>
                      </a:pPr>
                      <a:r>
                        <a:rPr lang="en-US" sz="900" b="0" noProof="0" dirty="0" smtClean="0">
                          <a:solidFill>
                            <a:schemeClr val="tx1"/>
                          </a:solidFill>
                          <a:latin typeface="+mn-lt"/>
                        </a:rPr>
                        <a:t>   </a:t>
                      </a:r>
                      <a:r>
                        <a:rPr lang="en-US" altLang="en-US" sz="900" b="0" noProof="0" dirty="0">
                          <a:solidFill>
                            <a:schemeClr val="tx1"/>
                          </a:solidFill>
                          <a:latin typeface="+mn-lt"/>
                        </a:rPr>
                        <a:t> А.Джурабаев режиссёрлар томонидан изланувчан, ҳар бир репетицияга янгилик билан келадиган ижодкор сифатида қадрланган. У театр репертуаридаги деярли барча спектаклларда иштирок этиб, 100 га яқин хилма-хил ролларни ижро этган ҳамда аксарият спектаклларда етакчи ва бош қаҳрамонлар образларини </a:t>
                      </a:r>
                      <a:r>
                        <a:rPr lang="en-US" altLang="en-US" sz="900" b="0" noProof="0" dirty="0" err="1">
                          <a:solidFill>
                            <a:schemeClr val="tx1"/>
                          </a:solidFill>
                          <a:latin typeface="+mn-lt"/>
                        </a:rPr>
                        <a:t>яратган</a:t>
                      </a:r>
                      <a:r>
                        <a:rPr lang="en-US" altLang="en-US" sz="900" b="0" noProof="0" dirty="0" smtClean="0">
                          <a:solidFill>
                            <a:schemeClr val="tx1"/>
                          </a:solidFill>
                          <a:latin typeface="+mn-lt"/>
                        </a:rPr>
                        <a:t>.</a:t>
                      </a:r>
                      <a:endParaRPr lang="en-US" altLang="ru-RU" sz="900" b="0" noProof="0" dirty="0">
                        <a:solidFill>
                          <a:schemeClr val="tx1"/>
                        </a:solidFill>
                        <a:latin typeface="+mn-lt"/>
                      </a:endParaRPr>
                    </a:p>
                    <a:p>
                      <a:pPr algn="just">
                        <a:lnSpc>
                          <a:spcPct val="85000"/>
                        </a:lnSpc>
                      </a:pPr>
                      <a:r>
                        <a:rPr lang="ru-RU" altLang="en-US" sz="900" b="0" noProof="0" dirty="0" smtClean="0">
                          <a:solidFill>
                            <a:schemeClr val="tx1"/>
                          </a:solidFill>
                          <a:latin typeface="+mn-lt"/>
                        </a:rPr>
                        <a:t>    </a:t>
                      </a:r>
                      <a:r>
                        <a:rPr lang="en-US" altLang="en-US" sz="900" b="0" noProof="0" dirty="0" err="1" smtClean="0">
                          <a:solidFill>
                            <a:schemeClr val="tx1"/>
                          </a:solidFill>
                          <a:latin typeface="+mn-lt"/>
                        </a:rPr>
                        <a:t>Унинг</a:t>
                      </a:r>
                      <a:r>
                        <a:rPr lang="en-US" altLang="en-US" sz="900" b="0" noProof="0" dirty="0" smtClean="0">
                          <a:solidFill>
                            <a:schemeClr val="tx1"/>
                          </a:solidFill>
                          <a:latin typeface="+mn-lt"/>
                        </a:rPr>
                        <a:t> </a:t>
                      </a:r>
                      <a:r>
                        <a:rPr lang="en-US" altLang="en-US" sz="900" b="0" noProof="0" dirty="0">
                          <a:solidFill>
                            <a:schemeClr val="tx1"/>
                          </a:solidFill>
                          <a:latin typeface="+mn-lt"/>
                        </a:rPr>
                        <a:t>“Ваққос Паққоснинг саргузаштлари”даги Паққос, “Хасан кайфий”даги Мешкопчи, “Учар табиб”даги Малай, “Осмондан танга ёққан кун”даги Бой, “Мунажжим”даги Тикувчи, “Гўзалликка шайдоман”даги Куёв, “Алпомиш”даги Оқсоқол каби образлари томошабинлар меҳрини қозонган. Шунингдек, “Масхарабоз”, “Кел дўст бўлайлик”, “Қайнар хумча”, “Лайлак”, “Сиз кутган дақиқалар” каби спектакллардаги ижролари билан ҳам театр жамоасининг муносиб ва фаол ижодкорларидан бири сифатида эътироф </a:t>
                      </a:r>
                      <a:r>
                        <a:rPr lang="en-US" altLang="en-US" sz="900" b="0" noProof="0" dirty="0" err="1">
                          <a:solidFill>
                            <a:schemeClr val="tx1"/>
                          </a:solidFill>
                          <a:latin typeface="+mn-lt"/>
                        </a:rPr>
                        <a:t>этилган</a:t>
                      </a:r>
                      <a:r>
                        <a:rPr lang="en-US" altLang="en-US" sz="900" b="0" noProof="0" dirty="0" smtClean="0">
                          <a:solidFill>
                            <a:schemeClr val="tx1"/>
                          </a:solidFill>
                          <a:latin typeface="+mn-lt"/>
                        </a:rPr>
                        <a:t>.</a:t>
                      </a:r>
                      <a:endParaRPr lang="en-US" altLang="ru-RU" sz="900" b="0" noProof="0" dirty="0">
                        <a:solidFill>
                          <a:schemeClr val="tx1"/>
                        </a:solidFill>
                        <a:latin typeface="+mn-lt"/>
                      </a:endParaRPr>
                    </a:p>
                    <a:p>
                      <a:pPr algn="just">
                        <a:lnSpc>
                          <a:spcPct val="85000"/>
                        </a:lnSpc>
                      </a:pPr>
                      <a:r>
                        <a:rPr lang="ru-RU" altLang="en-US" sz="900" b="0" noProof="0" dirty="0" smtClean="0">
                          <a:solidFill>
                            <a:schemeClr val="tx1"/>
                          </a:solidFill>
                          <a:latin typeface="+mn-lt"/>
                        </a:rPr>
                        <a:t>   </a:t>
                      </a:r>
                      <a:r>
                        <a:rPr lang="en-US" altLang="en-US" sz="900" b="0" noProof="0" dirty="0" err="1" smtClean="0">
                          <a:solidFill>
                            <a:schemeClr val="tx1"/>
                          </a:solidFill>
                          <a:latin typeface="+mn-lt"/>
                        </a:rPr>
                        <a:t>Абдусамат</a:t>
                      </a:r>
                      <a:r>
                        <a:rPr lang="en-US" altLang="en-US" sz="900" b="0" noProof="0" dirty="0" smtClean="0">
                          <a:solidFill>
                            <a:schemeClr val="tx1"/>
                          </a:solidFill>
                          <a:latin typeface="+mn-lt"/>
                        </a:rPr>
                        <a:t> </a:t>
                      </a:r>
                      <a:r>
                        <a:rPr lang="en-US" altLang="en-US" sz="900" b="0" noProof="0" dirty="0">
                          <a:solidFill>
                            <a:schemeClr val="tx1"/>
                          </a:solidFill>
                          <a:latin typeface="+mn-lt"/>
                        </a:rPr>
                        <a:t>Джурабаев ўзининг бой ижодий тажрибаси, саҳнадаги табиий ва таъсирчан ижроси билан театр санъати ривожига муносиб ҳисса қўшган санъаткорлардан бири бўлиб қолган.</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0002"/>
                  </a:ext>
                </a:extLst>
              </a:tr>
              <a:tr h="180371">
                <a:tc>
                  <a:txBody>
                    <a:bodyPr/>
                    <a:lstStyle/>
                    <a:p>
                      <a:pPr marL="0" marR="0" lvl="0" indent="0" algn="ctr" defTabSz="914400" rtl="0" eaLnBrk="1" fontAlgn="auto" latinLnBrk="0" hangingPunct="1">
                        <a:lnSpc>
                          <a:spcPct val="107000"/>
                        </a:lnSpc>
                        <a:spcBef>
                          <a:spcPts val="0"/>
                        </a:spcBef>
                        <a:spcAft>
                          <a:spcPts val="0"/>
                        </a:spcAft>
                        <a:buClrTx/>
                        <a:buSzTx/>
                        <a:buFontTx/>
                        <a:buNone/>
                        <a:defRPr/>
                      </a:pPr>
                      <a:r>
                        <a:rPr lang="en-US"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10003"/>
                  </a:ext>
                </a:extLst>
              </a:tr>
              <a:tr h="613051">
                <a:tc>
                  <a:txBody>
                    <a:bodyPr/>
                    <a:lstStyle/>
                    <a:p>
                      <a:pPr marL="0" marR="0" lvl="0" indent="0" algn="just" defTabSz="914400" rtl="0" eaLnBrk="1" fontAlgn="auto" latinLnBrk="0" hangingPunct="1">
                        <a:lnSpc>
                          <a:spcPct val="107000"/>
                        </a:lnSpc>
                        <a:spcBef>
                          <a:spcPts val="0"/>
                        </a:spcBef>
                        <a:spcAft>
                          <a:spcPts val="0"/>
                        </a:spcAft>
                        <a:buClrTx/>
                        <a:buSzTx/>
                        <a:buFontTx/>
                        <a:buNone/>
                        <a:defRPr/>
                      </a:pPr>
                      <a:r>
                        <a:rPr lang="ru-RU" sz="900" b="0" dirty="0" smtClean="0">
                          <a:effectLst/>
                          <a:latin typeface="+mn-lt"/>
                          <a:ea typeface="Calibri" panose="020F0502020204030204" pitchFamily="34" charset="0"/>
                          <a:cs typeface="Times New Roman" panose="02020603050405020304" pitchFamily="18" charset="0"/>
                        </a:rPr>
                        <a:t>   </a:t>
                      </a:r>
                      <a:r>
                        <a:rPr lang="en-US" sz="900" b="0" dirty="0" err="1" smtClean="0">
                          <a:effectLst/>
                          <a:latin typeface="+mn-lt"/>
                          <a:ea typeface="Calibri" panose="020F0502020204030204" pitchFamily="34" charset="0"/>
                          <a:cs typeface="Times New Roman" panose="02020603050405020304" pitchFamily="18" charset="0"/>
                        </a:rPr>
                        <a:t>Республикамизда</a:t>
                      </a:r>
                      <a:r>
                        <a:rPr lang="en-US" sz="900" b="0" baseline="0" dirty="0" smtClean="0">
                          <a:effectLst/>
                          <a:latin typeface="+mn-lt"/>
                          <a:ea typeface="Calibri" panose="020F0502020204030204" pitchFamily="34" charset="0"/>
                          <a:cs typeface="Times New Roman" panose="02020603050405020304" pitchFamily="18" charset="0"/>
                        </a:rPr>
                        <a:t> </a:t>
                      </a:r>
                      <a:r>
                        <a:rPr lang="en-US" sz="900" b="0" baseline="0" dirty="0" err="1" smtClean="0">
                          <a:effectLst/>
                          <a:latin typeface="+mn-lt"/>
                          <a:ea typeface="Calibri" panose="020F0502020204030204" pitchFamily="34" charset="0"/>
                          <a:cs typeface="Times New Roman" panose="02020603050405020304" pitchFamily="18" charset="0"/>
                        </a:rPr>
                        <a:t>ўтка</a:t>
                      </a:r>
                      <a:r>
                        <a:rPr lang="uz-Cyrl-UZ" sz="900" b="0" baseline="0" dirty="0" smtClean="0">
                          <a:effectLst/>
                          <a:latin typeface="+mn-lt"/>
                          <a:ea typeface="Calibri" panose="020F0502020204030204" pitchFamily="34" charset="0"/>
                          <a:cs typeface="Times New Roman" panose="02020603050405020304" pitchFamily="18" charset="0"/>
                        </a:rPr>
                        <a:t>з</a:t>
                      </a:r>
                      <a:r>
                        <a:rPr lang="en-US" sz="900" b="0" baseline="0" dirty="0" err="1" smtClean="0">
                          <a:effectLst/>
                          <a:latin typeface="+mn-lt"/>
                          <a:ea typeface="Calibri" panose="020F0502020204030204" pitchFamily="34" charset="0"/>
                          <a:cs typeface="Times New Roman" panose="02020603050405020304" pitchFamily="18" charset="0"/>
                        </a:rPr>
                        <a:t>иб</a:t>
                      </a:r>
                      <a:r>
                        <a:rPr lang="en-US" sz="900" b="0" baseline="0" dirty="0" smtClean="0">
                          <a:effectLst/>
                          <a:latin typeface="+mn-lt"/>
                          <a:ea typeface="Calibri" panose="020F0502020204030204" pitchFamily="34" charset="0"/>
                          <a:cs typeface="Times New Roman" panose="02020603050405020304" pitchFamily="18" charset="0"/>
                        </a:rPr>
                        <a:t>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bl>
          </a:graphicData>
        </a:graphic>
      </p:graphicFrame>
      <p:pic>
        <p:nvPicPr>
          <p:cNvPr id="9" name="Изображение 1073742849"/>
          <p:cNvPicPr>
            <a:picLocks noChangeAspect="1"/>
          </p:cNvPicPr>
          <p:nvPr/>
        </p:nvPicPr>
        <p:blipFill>
          <a:blip r:embed="rId2"/>
          <a:srcRect l="43268" t="3850" r="42966" b="82889"/>
          <a:stretch>
            <a:fillRect/>
          </a:stretch>
        </p:blipFill>
        <p:spPr>
          <a:xfrm>
            <a:off x="304083" y="1127417"/>
            <a:ext cx="835696" cy="1117303"/>
          </a:xfrm>
          <a:prstGeom prst="rect">
            <a:avLst/>
          </a:prstGeom>
          <a:noFill/>
          <a:ln w="9525">
            <a:noFill/>
          </a:ln>
        </p:spPr>
      </p:pic>
    </p:spTree>
    <p:extLst>
      <p:ext uri="{BB962C8B-B14F-4D97-AF65-F5344CB8AC3E}">
        <p14:creationId xmlns:p14="http://schemas.microsoft.com/office/powerpoint/2010/main" val="1439148195"/>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002060"/>
                </a:solidFill>
                <a:latin typeface="Bahnschrift SemiBold" panose="020B0502040204020203" pitchFamily="34" charset="0"/>
              </a:rPr>
              <a:t>ПОРТФОЛИО</a:t>
            </a:r>
            <a:endParaRPr lang="en-US" b="1" dirty="0">
              <a:solidFill>
                <a:srgbClr val="002060"/>
              </a:solidFill>
              <a:latin typeface="Bahnschrift SemiBold" panose="020B0502040204020203" pitchFamily="34" charset="0"/>
            </a:endParaRPr>
          </a:p>
        </p:txBody>
      </p:sp>
      <p:sp>
        <p:nvSpPr>
          <p:cNvPr id="3" name="Прямоугольник 2"/>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altLang="en-US" sz="1600" b="1" dirty="0" smtClean="0">
                <a:solidFill>
                  <a:srgbClr val="002060"/>
                </a:solidFill>
                <a:latin typeface="Bahnschrift SemiBold" panose="020B0502040204020203" pitchFamily="34" charset="0"/>
              </a:rPr>
              <a:t>ТЕАТР ВА ЦИРК ЙЎНАЛИШИ СОҲА ВАКИЛЛАРИ</a:t>
            </a:r>
            <a:endParaRPr lang="en-US" sz="1200" b="1" dirty="0">
              <a:solidFill>
                <a:srgbClr val="002060"/>
              </a:solidFill>
              <a:latin typeface="Bahnschrift SemiBold" panose="020B0502040204020203" pitchFamily="34" charset="0"/>
            </a:endParaRPr>
          </a:p>
        </p:txBody>
      </p:sp>
      <p:graphicFrame>
        <p:nvGraphicFramePr>
          <p:cNvPr id="4" name="Таблица 3"/>
          <p:cNvGraphicFramePr>
            <a:graphicFrameLocks noGrp="1"/>
          </p:cNvGraphicFramePr>
          <p:nvPr>
            <p:extLst>
              <p:ext uri="{D42A27DB-BD31-4B8C-83A1-F6EECF244321}">
                <p14:modId xmlns:p14="http://schemas.microsoft.com/office/powerpoint/2010/main" val="2178405914"/>
              </p:ext>
            </p:extLst>
          </p:nvPr>
        </p:nvGraphicFramePr>
        <p:xfrm>
          <a:off x="144780" y="865505"/>
          <a:ext cx="3427730" cy="5909366"/>
        </p:xfrm>
        <a:graphic>
          <a:graphicData uri="http://schemas.openxmlformats.org/drawingml/2006/table">
            <a:tbl>
              <a:tblPr firstRow="1" bandRow="1">
                <a:tableStyleId>{C083E6E3-FA7D-4D7B-A595-EF9225AFEA82}</a:tableStyleId>
              </a:tblPr>
              <a:tblGrid>
                <a:gridCol w="586105">
                  <a:extLst>
                    <a:ext uri="{9D8B030D-6E8A-4147-A177-3AD203B41FA5}">
                      <a16:colId xmlns:a16="http://schemas.microsoft.com/office/drawing/2014/main" val="20000"/>
                    </a:ext>
                  </a:extLst>
                </a:gridCol>
                <a:gridCol w="512445">
                  <a:extLst>
                    <a:ext uri="{9D8B030D-6E8A-4147-A177-3AD203B41FA5}">
                      <a16:colId xmlns:a16="http://schemas.microsoft.com/office/drawing/2014/main" val="20001"/>
                    </a:ext>
                  </a:extLst>
                </a:gridCol>
                <a:gridCol w="153670">
                  <a:extLst>
                    <a:ext uri="{9D8B030D-6E8A-4147-A177-3AD203B41FA5}">
                      <a16:colId xmlns:a16="http://schemas.microsoft.com/office/drawing/2014/main" val="20002"/>
                    </a:ext>
                  </a:extLst>
                </a:gridCol>
                <a:gridCol w="909955">
                  <a:extLst>
                    <a:ext uri="{9D8B030D-6E8A-4147-A177-3AD203B41FA5}">
                      <a16:colId xmlns:a16="http://schemas.microsoft.com/office/drawing/2014/main" val="20003"/>
                    </a:ext>
                  </a:extLst>
                </a:gridCol>
                <a:gridCol w="1265555">
                  <a:extLst>
                    <a:ext uri="{9D8B030D-6E8A-4147-A177-3AD203B41FA5}">
                      <a16:colId xmlns:a16="http://schemas.microsoft.com/office/drawing/2014/main" val="20004"/>
                    </a:ext>
                  </a:extLst>
                </a:gridCol>
              </a:tblGrid>
              <a:tr h="242131">
                <a:tc gridSpan="5">
                  <a:txBody>
                    <a:bodyPr/>
                    <a:lstStyle/>
                    <a:p>
                      <a:pPr marL="0" marR="0" lvl="0" indent="0" algn="ctr" defTabSz="914400" rtl="0" eaLnBrk="1" fontAlgn="auto" latinLnBrk="0" hangingPunct="1">
                        <a:lnSpc>
                          <a:spcPct val="90000"/>
                        </a:lnSpc>
                        <a:spcBef>
                          <a:spcPts val="0"/>
                        </a:spcBef>
                        <a:spcAft>
                          <a:spcPts val="0"/>
                        </a:spcAft>
                        <a:buClrTx/>
                        <a:buSzTx/>
                        <a:buFontTx/>
                        <a:buNone/>
                        <a:defRPr/>
                      </a:pPr>
                      <a:r>
                        <a:rPr lang="en-US"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18929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en-US"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en-US" altLang="en-US" sz="900" b="0" kern="1200" dirty="0" smtClean="0">
                          <a:solidFill>
                            <a:schemeClr val="tx1"/>
                          </a:solidFill>
                          <a:latin typeface="+mn-lt"/>
                          <a:ea typeface="+mn-ea"/>
                          <a:cs typeface="+mn-cs"/>
                        </a:rPr>
                        <a:t>ЗИЯМУХАМЕДОВА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189290">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en-US"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Ёдгор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189290">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Саиджоновна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8929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en-US"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en-US"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189290">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ru-RU" sz="800" b="0" kern="1200" dirty="0" smtClean="0">
                          <a:solidFill>
                            <a:schemeClr val="tx1"/>
                          </a:solidFill>
                          <a:latin typeface="+mn-lt"/>
                          <a:ea typeface="+mn-ea"/>
                          <a:cs typeface="+mn-cs"/>
                        </a:rPr>
                        <a:t>2</a:t>
                      </a:r>
                      <a:r>
                        <a:rPr lang="en-US" altLang="en-US" sz="800" b="0" kern="1200" dirty="0" smtClean="0">
                          <a:solidFill>
                            <a:schemeClr val="tx1"/>
                          </a:solidFill>
                          <a:latin typeface="+mn-lt"/>
                          <a:ea typeface="+mn-ea"/>
                          <a:cs typeface="+mn-cs"/>
                        </a:rPr>
                        <a:t>3</a:t>
                      </a:r>
                      <a:r>
                        <a:rPr lang="ru-RU" sz="800" b="0" kern="1200" dirty="0" smtClean="0">
                          <a:solidFill>
                            <a:schemeClr val="tx1"/>
                          </a:solidFill>
                          <a:latin typeface="+mn-lt"/>
                          <a:ea typeface="+mn-ea"/>
                          <a:cs typeface="+mn-cs"/>
                        </a:rPr>
                        <a:t>.0</a:t>
                      </a:r>
                      <a:r>
                        <a:rPr lang="en-US" altLang="ru-RU" sz="800" b="0" kern="1200" dirty="0" smtClean="0">
                          <a:solidFill>
                            <a:schemeClr val="tx1"/>
                          </a:solidFill>
                          <a:latin typeface="+mn-lt"/>
                          <a:ea typeface="+mn-ea"/>
                          <a:cs typeface="+mn-cs"/>
                        </a:rPr>
                        <a:t>4</a:t>
                      </a:r>
                      <a:r>
                        <a:rPr lang="ru-RU" sz="800" b="0" kern="1200" dirty="0" smtClean="0">
                          <a:solidFill>
                            <a:schemeClr val="tx1"/>
                          </a:solidFill>
                          <a:latin typeface="+mn-lt"/>
                          <a:ea typeface="+mn-ea"/>
                          <a:cs typeface="+mn-cs"/>
                        </a:rPr>
                        <a:t>.19</a:t>
                      </a:r>
                      <a:r>
                        <a:rPr lang="en-US" altLang="ru-RU" sz="800" b="0" kern="1200" dirty="0" smtClean="0">
                          <a:solidFill>
                            <a:schemeClr val="tx1"/>
                          </a:solidFill>
                          <a:latin typeface="+mn-lt"/>
                          <a:ea typeface="+mn-ea"/>
                          <a:cs typeface="+mn-cs"/>
                        </a:rPr>
                        <a:t>52</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189290">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229773">
                <a:tc gridSpan="5">
                  <a:txBody>
                    <a:bodyPr/>
                    <a:lstStyle/>
                    <a:p>
                      <a:pPr algn="ctr"/>
                      <a:r>
                        <a:rPr lang="en-US"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492370">
                <a:tc gridSpan="2">
                  <a:txBody>
                    <a:bodyPr/>
                    <a:lstStyle/>
                    <a:p>
                      <a:pPr marL="0" marR="0" lvl="0" indent="0" algn="ctr" defTabSz="914400" rtl="0" eaLnBrk="1" fontAlgn="auto" latinLnBrk="0" hangingPunct="1">
                        <a:lnSpc>
                          <a:spcPct val="85000"/>
                        </a:lnSpc>
                        <a:spcBef>
                          <a:spcPts val="0"/>
                        </a:spcBef>
                        <a:spcAft>
                          <a:spcPts val="0"/>
                        </a:spcAft>
                        <a:buClrTx/>
                        <a:buSzTx/>
                        <a:buFontTx/>
                        <a:buNone/>
                        <a:defRPr/>
                      </a:pPr>
                      <a:r>
                        <a:rPr lang="en-US" sz="900" b="1" noProof="0" dirty="0" smtClean="0">
                          <a:latin typeface="+mn-lt"/>
                        </a:rPr>
                        <a:t>Оилавий ва ижтимоий ахволи</a:t>
                      </a:r>
                      <a:r>
                        <a:rPr lang="en-US" sz="900" b="1" noProof="0" dirty="0">
                          <a:latin typeface="+mn-lt"/>
                        </a:rPr>
                        <a:t>:</a:t>
                      </a:r>
                      <a:endParaRPr lang="en-US"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900" b="0" kern="1200" noProof="0" dirty="0">
                          <a:solidFill>
                            <a:schemeClr val="tx1"/>
                          </a:solidFill>
                          <a:latin typeface="+mn-lt"/>
                          <a:ea typeface="+mn-ea"/>
                          <a:cs typeface="+mn-cs"/>
                        </a:rPr>
                        <a:t>Оилали, </a:t>
                      </a:r>
                      <a:r>
                        <a:rPr lang="en-US" altLang="en-US" sz="900" b="0" kern="1200" noProof="0" dirty="0">
                          <a:solidFill>
                            <a:schemeClr val="tx1"/>
                          </a:solidFill>
                          <a:latin typeface="+mn-lt"/>
                          <a:ea typeface="+mn-ea"/>
                          <a:cs typeface="+mn-cs"/>
                        </a:rPr>
                        <a:t>1</a:t>
                      </a:r>
                      <a:r>
                        <a:rPr lang="en-US" sz="900" b="0" kern="1200" noProof="0" dirty="0" smtClean="0">
                          <a:solidFill>
                            <a:schemeClr val="tx1"/>
                          </a:solidFill>
                          <a:latin typeface="+mn-lt"/>
                          <a:ea typeface="+mn-ea"/>
                          <a:cs typeface="+mn-cs"/>
                        </a:rPr>
                        <a:t> </a:t>
                      </a:r>
                      <a:r>
                        <a:rPr lang="en-US" sz="900" b="0" kern="1200" noProof="0" dirty="0">
                          <a:solidFill>
                            <a:schemeClr val="tx1"/>
                          </a:solidFill>
                          <a:latin typeface="+mn-lt"/>
                          <a:ea typeface="+mn-ea"/>
                          <a:cs typeface="+mn-cs"/>
                        </a:rPr>
                        <a:t>нафар </a:t>
                      </a:r>
                      <a:r>
                        <a:rPr lang="en-US" sz="900" b="0" kern="1200" noProof="0" dirty="0" smtClean="0">
                          <a:solidFill>
                            <a:schemeClr val="tx1"/>
                          </a:solidFill>
                          <a:latin typeface="+mn-lt"/>
                          <a:ea typeface="+mn-ea"/>
                          <a:cs typeface="+mn-cs"/>
                        </a:rPr>
                        <a:t>ўғил</a:t>
                      </a:r>
                      <a:r>
                        <a:rPr lang="en-US" altLang="en-US" sz="900" b="0" kern="1200" noProof="0" dirty="0" smtClean="0">
                          <a:solidFill>
                            <a:schemeClr val="tx1"/>
                          </a:solidFill>
                          <a:latin typeface="+mn-lt"/>
                          <a:ea typeface="+mn-ea"/>
                          <a:cs typeface="+mn-cs"/>
                        </a:rPr>
                        <a:t>, 2 нафар қиз</a:t>
                      </a:r>
                      <a:r>
                        <a:rPr lang="en-US" sz="900" b="0" kern="1200" noProof="0" dirty="0" smtClean="0">
                          <a:solidFill>
                            <a:schemeClr val="tx1"/>
                          </a:solidFill>
                          <a:latin typeface="+mn-lt"/>
                          <a:ea typeface="+mn-ea"/>
                          <a:cs typeface="+mn-cs"/>
                        </a:rPr>
                        <a:t> </a:t>
                      </a:r>
                      <a:r>
                        <a:rPr lang="en-US" sz="900" b="0" kern="1200" noProof="0" dirty="0">
                          <a:solidFill>
                            <a:schemeClr val="tx1"/>
                          </a:solidFill>
                          <a:latin typeface="+mn-lt"/>
                          <a:ea typeface="+mn-ea"/>
                          <a:cs typeface="+mn-cs"/>
                        </a:rPr>
                        <a:t>фарзанди </a:t>
                      </a:r>
                      <a:r>
                        <a:rPr lang="en-US" sz="900" b="0" kern="1200" noProof="0" dirty="0" smtClean="0">
                          <a:solidFill>
                            <a:schemeClr val="tx1"/>
                          </a:solidFill>
                          <a:latin typeface="+mn-lt"/>
                          <a:ea typeface="+mn-ea"/>
                          <a:cs typeface="+mn-cs"/>
                        </a:rPr>
                        <a:t>бор, </a:t>
                      </a:r>
                      <a:br>
                        <a:rPr lang="en-US" sz="900" b="0" kern="1200" noProof="0" dirty="0" smtClean="0">
                          <a:solidFill>
                            <a:schemeClr val="tx1"/>
                          </a:solidFill>
                          <a:latin typeface="+mn-lt"/>
                          <a:ea typeface="+mn-ea"/>
                          <a:cs typeface="+mn-cs"/>
                        </a:rPr>
                      </a:br>
                      <a:r>
                        <a:rPr lang="en-US" sz="900" b="0" kern="1200" noProof="0" dirty="0" smtClean="0">
                          <a:solidFill>
                            <a:schemeClr val="tx1"/>
                          </a:solidFill>
                          <a:latin typeface="+mn-lt"/>
                          <a:ea typeface="+mn-ea"/>
                          <a:cs typeface="+mn-cs"/>
                        </a:rPr>
                        <a:t>ҳозирда нафақада</a:t>
                      </a:r>
                      <a:endParaRPr lang="en-US"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8"/>
                  </a:ext>
                </a:extLst>
              </a:tr>
              <a:tr h="229773">
                <a:tc gridSpan="5">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09"/>
                  </a:ext>
                </a:extLst>
              </a:tr>
              <a:tr h="611471">
                <a:tc>
                  <a:txBody>
                    <a:bodyPr/>
                    <a:lstStyle/>
                    <a:p>
                      <a:pPr algn="ctr">
                        <a:lnSpc>
                          <a:spcPct val="85000"/>
                        </a:lnSpc>
                      </a:pPr>
                      <a:r>
                        <a:rPr lang="en-US"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kern="1200" noProof="0" dirty="0" smtClean="0">
                          <a:solidFill>
                            <a:schemeClr val="tx1"/>
                          </a:solidFill>
                          <a:latin typeface="+mn-lt"/>
                          <a:ea typeface="+mn-ea"/>
                          <a:cs typeface="Arial" panose="020B0604020202020204" pitchFamily="34" charset="0"/>
                        </a:rPr>
                        <a:t>СОДИКОВ Соибжон</a:t>
                      </a:r>
                    </a:p>
                    <a:p>
                      <a:pPr algn="l">
                        <a:lnSpc>
                          <a:spcPct val="85000"/>
                        </a:lnSpc>
                      </a:pPr>
                      <a:r>
                        <a:rPr lang="en-US" sz="900" b="0" kern="1200" noProof="0" dirty="0" smtClean="0">
                          <a:solidFill>
                            <a:schemeClr val="tx1"/>
                          </a:solidFill>
                          <a:latin typeface="+mn-lt"/>
                          <a:ea typeface="+mn-ea"/>
                          <a:cs typeface="Arial" panose="020B0604020202020204" pitchFamily="34" charset="0"/>
                        </a:rPr>
                        <a:t>19</a:t>
                      </a:r>
                      <a:r>
                        <a:rPr lang="en-US" altLang="en-US" sz="900" b="0" kern="1200" noProof="0" dirty="0" smtClean="0">
                          <a:solidFill>
                            <a:schemeClr val="tx1"/>
                          </a:solidFill>
                          <a:latin typeface="+mn-lt"/>
                          <a:ea typeface="+mn-ea"/>
                          <a:cs typeface="Arial" panose="020B0604020202020204" pitchFamily="34" charset="0"/>
                        </a:rPr>
                        <a:t>10</a:t>
                      </a:r>
                      <a:r>
                        <a:rPr lang="en-US" sz="900" b="0" kern="1200" noProof="0" dirty="0" smtClean="0">
                          <a:solidFill>
                            <a:schemeClr val="tx1"/>
                          </a:solidFill>
                          <a:latin typeface="+mn-lt"/>
                          <a:ea typeface="+mn-ea"/>
                          <a:cs typeface="Arial" panose="020B0604020202020204" pitchFamily="34" charset="0"/>
                        </a:rPr>
                        <a:t> йил, </a:t>
                      </a:r>
                      <a:r>
                        <a:rPr lang="en-US" altLang="en-US" sz="900" b="0" kern="1200" noProof="0" dirty="0" smtClean="0">
                          <a:solidFill>
                            <a:schemeClr val="tx1"/>
                          </a:solidFill>
                          <a:latin typeface="+mn-lt"/>
                          <a:ea typeface="+mn-ea"/>
                          <a:cs typeface="Arial" panose="020B0604020202020204" pitchFamily="34" charset="0"/>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Arial" panose="020B0604020202020204" pitchFamily="34" charset="0"/>
                        </a:rPr>
                        <a:t>1951 йил вафот  этган</a:t>
                      </a:r>
                    </a:p>
                    <a:p>
                      <a:pPr algn="l">
                        <a:lnSpc>
                          <a:spcPct val="85000"/>
                        </a:lnSpc>
                      </a:pPr>
                      <a:r>
                        <a:rPr lang="en-US" altLang="en-US" sz="900" b="0" kern="1200" noProof="0" dirty="0">
                          <a:solidFill>
                            <a:schemeClr val="tx1"/>
                          </a:solidFill>
                          <a:latin typeface="+mn-lt"/>
                          <a:ea typeface="+mn-ea"/>
                          <a:cs typeface="Arial" panose="020B0604020202020204" pitchFamily="34" charset="0"/>
                        </a:rPr>
                        <a:t>(Тошкент шаҳар октябр ресторан бош ошпаз)</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503117">
                <a:tc>
                  <a:txBody>
                    <a:bodyPr/>
                    <a:lstStyle/>
                    <a:p>
                      <a:pPr algn="ctr">
                        <a:lnSpc>
                          <a:spcPct val="85000"/>
                        </a:lnSpc>
                      </a:pPr>
                      <a:r>
                        <a:rPr lang="en-US"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kern="1200" noProof="0" dirty="0" smtClean="0">
                          <a:solidFill>
                            <a:schemeClr val="tx1"/>
                          </a:solidFill>
                          <a:latin typeface="+mn-lt"/>
                          <a:ea typeface="+mn-ea"/>
                          <a:cs typeface="Arial" panose="020B0604020202020204" pitchFamily="34" charset="0"/>
                        </a:rPr>
                        <a:t>СОДИКОВА Ханифахон Эгамберди қизи</a:t>
                      </a:r>
                    </a:p>
                    <a:p>
                      <a:pPr algn="l">
                        <a:lnSpc>
                          <a:spcPct val="85000"/>
                        </a:lnSpc>
                      </a:pPr>
                      <a:r>
                        <a:rPr lang="en-US" sz="900" b="0" kern="1200" noProof="0" dirty="0" smtClean="0">
                          <a:solidFill>
                            <a:schemeClr val="tx1"/>
                          </a:solidFill>
                          <a:latin typeface="+mn-lt"/>
                          <a:ea typeface="+mn-ea"/>
                          <a:cs typeface="Arial" panose="020B0604020202020204" pitchFamily="34" charset="0"/>
                        </a:rPr>
                        <a:t>19</a:t>
                      </a:r>
                      <a:r>
                        <a:rPr lang="en-US" altLang="en-US" sz="900" b="0" kern="1200" noProof="0" dirty="0" smtClean="0">
                          <a:solidFill>
                            <a:schemeClr val="tx1"/>
                          </a:solidFill>
                          <a:latin typeface="+mn-lt"/>
                          <a:ea typeface="+mn-ea"/>
                          <a:cs typeface="Arial" panose="020B0604020202020204" pitchFamily="34" charset="0"/>
                        </a:rPr>
                        <a:t>22</a:t>
                      </a:r>
                      <a:r>
                        <a:rPr lang="en-US" sz="900" b="0" kern="1200" noProof="0" dirty="0" smtClean="0">
                          <a:solidFill>
                            <a:schemeClr val="tx1"/>
                          </a:solidFill>
                          <a:latin typeface="+mn-lt"/>
                          <a:ea typeface="+mn-ea"/>
                          <a:cs typeface="Arial" panose="020B0604020202020204" pitchFamily="34" charset="0"/>
                        </a:rPr>
                        <a:t> йил, </a:t>
                      </a:r>
                      <a:r>
                        <a:rPr lang="en-US" altLang="en-US" sz="900" b="0" kern="1200" noProof="0" dirty="0" smtClean="0">
                          <a:solidFill>
                            <a:schemeClr val="tx1"/>
                          </a:solidFill>
                          <a:latin typeface="+mn-lt"/>
                          <a:ea typeface="+mn-ea"/>
                          <a:cs typeface="Arial" panose="020B0604020202020204" pitchFamily="34" charset="0"/>
                        </a:rPr>
                        <a:t>Фарғона</a:t>
                      </a:r>
                      <a:r>
                        <a:rPr lang="en-US" altLang="en-US" sz="900" noProof="0" dirty="0" smtClean="0">
                          <a:cs typeface="Arial" panose="020B0604020202020204" pitchFamily="34" charset="0"/>
                          <a:sym typeface="+mn-ea"/>
                        </a:rPr>
                        <a:t> вилояти</a:t>
                      </a:r>
                      <a:endParaRPr lang="en-US"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Arial" panose="020B0604020202020204" pitchFamily="34" charset="0"/>
                        </a:rPr>
                        <a:t>1985 йил вафот этган</a:t>
                      </a:r>
                    </a:p>
                    <a:p>
                      <a:pPr algn="l">
                        <a:lnSpc>
                          <a:spcPct val="85000"/>
                        </a:lnSpc>
                      </a:pPr>
                      <a:r>
                        <a:rPr lang="en-US" altLang="en-US" sz="900" b="0" kern="1200" noProof="0" dirty="0">
                          <a:solidFill>
                            <a:schemeClr val="tx1"/>
                          </a:solidFill>
                          <a:latin typeface="+mn-lt"/>
                          <a:ea typeface="+mn-ea"/>
                          <a:cs typeface="Arial" panose="020B0604020202020204" pitchFamily="34" charset="0"/>
                        </a:rPr>
                        <a:t>(уй бекаси)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r h="549008">
                <a:tc>
                  <a:txBody>
                    <a:bodyPr/>
                    <a:lstStyle/>
                    <a:p>
                      <a:pPr algn="ctr">
                        <a:lnSpc>
                          <a:spcPct val="85000"/>
                        </a:lnSpc>
                      </a:pPr>
                      <a:r>
                        <a:rPr lang="en-US"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kern="1200" noProof="0" dirty="0" smtClean="0">
                          <a:solidFill>
                            <a:schemeClr val="tx1"/>
                          </a:solidFill>
                          <a:latin typeface="+mn-lt"/>
                          <a:ea typeface="+mn-ea"/>
                          <a:cs typeface="Arial" panose="020B0604020202020204" pitchFamily="34" charset="0"/>
                        </a:rPr>
                        <a:t>ЗИЁМУХАММЕДОВ Шухрат Ибрагимович</a:t>
                      </a:r>
                    </a:p>
                    <a:p>
                      <a:pPr algn="l">
                        <a:lnSpc>
                          <a:spcPct val="85000"/>
                        </a:lnSpc>
                      </a:pPr>
                      <a:r>
                        <a:rPr lang="en-US" sz="900" b="0" kern="1200" noProof="0" dirty="0" smtClean="0">
                          <a:solidFill>
                            <a:schemeClr val="tx1"/>
                          </a:solidFill>
                          <a:latin typeface="+mn-lt"/>
                          <a:ea typeface="+mn-ea"/>
                          <a:cs typeface="Arial" panose="020B0604020202020204" pitchFamily="34" charset="0"/>
                        </a:rPr>
                        <a:t>19</a:t>
                      </a:r>
                      <a:r>
                        <a:rPr lang="en-US" altLang="en-US" sz="900" b="0" kern="1200" noProof="0" dirty="0" smtClean="0">
                          <a:solidFill>
                            <a:schemeClr val="tx1"/>
                          </a:solidFill>
                          <a:latin typeface="+mn-lt"/>
                          <a:ea typeface="+mn-ea"/>
                          <a:cs typeface="Arial" panose="020B0604020202020204" pitchFamily="34" charset="0"/>
                        </a:rPr>
                        <a:t>52</a:t>
                      </a:r>
                      <a:r>
                        <a:rPr lang="en-US" sz="900" b="0" kern="1200" noProof="0" dirty="0" smtClean="0">
                          <a:solidFill>
                            <a:schemeClr val="tx1"/>
                          </a:solidFill>
                          <a:latin typeface="+mn-lt"/>
                          <a:ea typeface="+mn-ea"/>
                          <a:cs typeface="Arial" panose="020B0604020202020204" pitchFamily="34" charset="0"/>
                        </a:rPr>
                        <a:t> йил, </a:t>
                      </a:r>
                      <a:r>
                        <a:rPr lang="en-US" altLang="en-US" sz="900" b="0" kern="1200" noProof="0" dirty="0" smtClean="0">
                          <a:solidFill>
                            <a:schemeClr val="tx1"/>
                          </a:solidFill>
                          <a:latin typeface="+mn-lt"/>
                          <a:ea typeface="+mn-ea"/>
                          <a:cs typeface="Arial" panose="020B0604020202020204" pitchFamily="34" charset="0"/>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mn-cs"/>
                        </a:rPr>
                        <a:t>1990 йил вафот этган </a:t>
                      </a:r>
                    </a:p>
                    <a:p>
                      <a:pPr algn="l">
                        <a:lnSpc>
                          <a:spcPct val="85000"/>
                        </a:lnSpc>
                      </a:pPr>
                      <a:r>
                        <a:rPr lang="en-US" altLang="en-US" sz="900" b="0" kern="1200" noProof="0" dirty="0">
                          <a:solidFill>
                            <a:schemeClr val="tx1"/>
                          </a:solidFill>
                          <a:latin typeface="+mn-lt"/>
                          <a:ea typeface="+mn-ea"/>
                          <a:cs typeface="+mn-cs"/>
                        </a:rPr>
                        <a:t>(Ўзбекистон давлат ёш томошабин театр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2"/>
                  </a:ext>
                </a:extLst>
              </a:tr>
              <a:tr h="206603">
                <a:tc gridSpan="5">
                  <a:txBody>
                    <a:bodyPr/>
                    <a:lstStyle/>
                    <a:p>
                      <a:pPr algn="ctr">
                        <a:lnSpc>
                          <a:spcPct val="85000"/>
                        </a:lnSpc>
                      </a:pPr>
                      <a:r>
                        <a:rPr lang="en-US"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10013"/>
                  </a:ext>
                </a:extLst>
              </a:tr>
              <a:tr h="515416">
                <a:tc gridSpan="3">
                  <a:txBody>
                    <a:bodyPr/>
                    <a:lstStyle/>
                    <a:p>
                      <a:pPr algn="l">
                        <a:lnSpc>
                          <a:spcPct val="85000"/>
                        </a:lnSpc>
                      </a:pPr>
                      <a:r>
                        <a:rPr lang="en-US" sz="900" b="1" noProof="0" dirty="0">
                          <a:latin typeface="+mn-lt"/>
                        </a:rPr>
                        <a:t>Тамомлаган ОТМ:</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a:t>
                      </a:r>
                      <a:r>
                        <a:rPr lang="en-US" altLang="ru-RU" sz="900" b="0" kern="1200" noProof="0" dirty="0" smtClean="0">
                          <a:solidFill>
                            <a:schemeClr val="tx1"/>
                          </a:solidFill>
                          <a:latin typeface="+mn-lt"/>
                          <a:ea typeface="+mn-ea"/>
                          <a:cs typeface="+mn-cs"/>
                        </a:rPr>
                        <a:t>0</a:t>
                      </a:r>
                      <a:r>
                        <a:rPr lang="ru-RU" sz="900" b="0" kern="1200" noProof="0" dirty="0" smtClean="0">
                          <a:solidFill>
                            <a:schemeClr val="tx1"/>
                          </a:solidFill>
                          <a:latin typeface="+mn-lt"/>
                          <a:ea typeface="+mn-ea"/>
                          <a:cs typeface="+mn-cs"/>
                        </a:rPr>
                        <a:t> й.</a:t>
                      </a:r>
                      <a:r>
                        <a:rPr lang="en-US" altLang="en-US" sz="900" b="0" kern="1200" noProof="0" dirty="0" smtClean="0">
                          <a:solidFill>
                            <a:schemeClr val="tx1"/>
                          </a:solidFill>
                          <a:latin typeface="+mn-lt"/>
                          <a:ea typeface="+mn-ea"/>
                          <a:cs typeface="+mn-cs"/>
                        </a:rPr>
                        <a:t>Тошкент театр ва рассомлик 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4"/>
                  </a:ext>
                </a:extLst>
              </a:tr>
              <a:tr h="255951">
                <a:tc gridSpan="3">
                  <a:txBody>
                    <a:bodyPr/>
                    <a:lstStyle/>
                    <a:p>
                      <a:pPr marL="0" marR="0" lvl="0" indent="0" algn="l" defTabSz="914400" rtl="0" eaLnBrk="1" fontAlgn="auto" latinLnBrk="0" hangingPunct="1">
                        <a:lnSpc>
                          <a:spcPct val="85000"/>
                        </a:lnSpc>
                        <a:spcBef>
                          <a:spcPts val="0"/>
                        </a:spcBef>
                        <a:spcAft>
                          <a:spcPts val="0"/>
                        </a:spcAft>
                        <a:buClrTx/>
                        <a:buSzTx/>
                        <a:buFontTx/>
                        <a:buNone/>
                        <a:defRPr/>
                      </a:pPr>
                      <a:r>
                        <a:rPr lang="en-US" sz="900" b="1" noProof="0" dirty="0">
                          <a:latin typeface="+mn-lt"/>
                        </a:rPr>
                        <a:t>Мутахассислиги:</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altLang="en-US" sz="900" b="0" kern="1200" noProof="0" dirty="0">
                          <a:solidFill>
                            <a:schemeClr val="tx1"/>
                          </a:solidFill>
                          <a:latin typeface="+mn-lt"/>
                          <a:ea typeface="+mn-ea"/>
                          <a:cs typeface="+mn-cs"/>
                        </a:rPr>
                        <a:t>драма театр ва кино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5"/>
                  </a:ext>
                </a:extLst>
              </a:tr>
              <a:tr h="312671">
                <a:tc gridSpan="3">
                  <a:txBody>
                    <a:bodyPr/>
                    <a:lstStyle/>
                    <a:p>
                      <a:pPr algn="l">
                        <a:lnSpc>
                          <a:spcPct val="85000"/>
                        </a:lnSpc>
                      </a:pPr>
                      <a:r>
                        <a:rPr lang="en-US" sz="900" b="1" kern="1200" noProof="0" dirty="0">
                          <a:solidFill>
                            <a:schemeClr val="tx1"/>
                          </a:solidFill>
                          <a:latin typeface="+mn-lt"/>
                          <a:ea typeface="+mn-ea"/>
                          <a:cs typeface="+mn-cs"/>
                        </a:rPr>
                        <a:t>Илмий даража (унвон):</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6"/>
                  </a:ext>
                </a:extLst>
              </a:tr>
              <a:tr h="312671">
                <a:tc gridSpan="3">
                  <a:txBody>
                    <a:bodyPr/>
                    <a:lstStyle/>
                    <a:p>
                      <a:pPr algn="l">
                        <a:lnSpc>
                          <a:spcPct val="85000"/>
                        </a:lnSpc>
                      </a:pPr>
                      <a:r>
                        <a:rPr lang="en-US"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7"/>
                  </a:ext>
                </a:extLst>
              </a:tr>
              <a:tr h="312671">
                <a:tc gridSpan="3">
                  <a:txBody>
                    <a:bodyPr/>
                    <a:lstStyle/>
                    <a:p>
                      <a:pPr algn="l">
                        <a:lnSpc>
                          <a:spcPct val="85000"/>
                        </a:lnSpc>
                      </a:pPr>
                      <a:r>
                        <a:rPr lang="en-US"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8"/>
                  </a:ext>
                </a:extLst>
              </a:tr>
            </a:tbl>
          </a:graphicData>
        </a:graphic>
      </p:graphicFrame>
      <p:graphicFrame>
        <p:nvGraphicFramePr>
          <p:cNvPr id="5" name="Таблица 4"/>
          <p:cNvGraphicFramePr>
            <a:graphicFrameLocks noGrp="1"/>
          </p:cNvGraphicFramePr>
          <p:nvPr>
            <p:extLst>
              <p:ext uri="{D42A27DB-BD31-4B8C-83A1-F6EECF244321}">
                <p14:modId xmlns:p14="http://schemas.microsoft.com/office/powerpoint/2010/main" val="113825080"/>
              </p:ext>
            </p:extLst>
          </p:nvPr>
        </p:nvGraphicFramePr>
        <p:xfrm>
          <a:off x="3674745" y="865505"/>
          <a:ext cx="3173095" cy="5909366"/>
        </p:xfrm>
        <a:graphic>
          <a:graphicData uri="http://schemas.openxmlformats.org/drawingml/2006/table">
            <a:tbl>
              <a:tblPr firstRow="1" bandRow="1">
                <a:tableStyleId>{C083E6E3-FA7D-4D7B-A595-EF9225AFEA82}</a:tableStyleId>
              </a:tblPr>
              <a:tblGrid>
                <a:gridCol w="1443990">
                  <a:extLst>
                    <a:ext uri="{9D8B030D-6E8A-4147-A177-3AD203B41FA5}">
                      <a16:colId xmlns:a16="http://schemas.microsoft.com/office/drawing/2014/main" val="20000"/>
                    </a:ext>
                  </a:extLst>
                </a:gridCol>
                <a:gridCol w="1729105">
                  <a:extLst>
                    <a:ext uri="{9D8B030D-6E8A-4147-A177-3AD203B41FA5}">
                      <a16:colId xmlns:a16="http://schemas.microsoft.com/office/drawing/2014/main" val="20001"/>
                    </a:ext>
                  </a:extLst>
                </a:gridCol>
              </a:tblGrid>
              <a:tr h="327532">
                <a:tc gridSpan="2">
                  <a:txBody>
                    <a:bodyPr/>
                    <a:lstStyle/>
                    <a:p>
                      <a:pPr algn="ctr"/>
                      <a:r>
                        <a:rPr lang="en-US"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529282">
                <a:tc>
                  <a:txBody>
                    <a:bodyPr/>
                    <a:lstStyle/>
                    <a:p>
                      <a:pPr algn="l">
                        <a:lnSpc>
                          <a:spcPct val="85000"/>
                        </a:lnSpc>
                      </a:pPr>
                      <a:r>
                        <a:rPr lang="en-US" sz="900" b="1" i="0" noProof="0" dirty="0">
                          <a:solidFill>
                            <a:schemeClr val="tx1"/>
                          </a:solidFill>
                          <a:latin typeface="+mn-lt"/>
                        </a:rPr>
                        <a:t>Эгаллаб турган </a:t>
                      </a:r>
                      <a:r>
                        <a:rPr lang="en-US" sz="900" b="1" i="0" noProof="0" dirty="0" smtClean="0">
                          <a:solidFill>
                            <a:schemeClr val="tx1"/>
                          </a:solidFill>
                          <a:latin typeface="+mn-lt"/>
                        </a:rPr>
                        <a:t>лавозими</a:t>
                      </a:r>
                      <a:r>
                        <a:rPr lang="en-US"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en-US" sz="900" b="1" kern="1200" noProof="0" dirty="0" smtClean="0">
                          <a:solidFill>
                            <a:schemeClr val="tx1"/>
                          </a:solidFill>
                          <a:latin typeface="+mn-lt"/>
                          <a:ea typeface="+mn-ea"/>
                          <a:cs typeface="+mn-cs"/>
                        </a:rPr>
                        <a:t>20</a:t>
                      </a:r>
                      <a:r>
                        <a:rPr lang="en-US" altLang="en-US" sz="900" b="1" kern="1200" noProof="0" dirty="0" smtClean="0">
                          <a:solidFill>
                            <a:schemeClr val="tx1"/>
                          </a:solidFill>
                          <a:latin typeface="+mn-lt"/>
                          <a:ea typeface="+mn-ea"/>
                          <a:cs typeface="+mn-cs"/>
                        </a:rPr>
                        <a:t>19</a:t>
                      </a:r>
                      <a:r>
                        <a:rPr lang="en-US" sz="900" b="1" kern="1200" noProof="0" dirty="0" smtClean="0">
                          <a:solidFill>
                            <a:schemeClr val="tx1"/>
                          </a:solidFill>
                          <a:latin typeface="+mn-lt"/>
                          <a:ea typeface="+mn-ea"/>
                          <a:cs typeface="+mn-cs"/>
                        </a:rPr>
                        <a:t> йилдан буён </a:t>
                      </a:r>
                      <a:r>
                        <a:rPr lang="en-US" altLang="en-US" sz="900" b="1" kern="1200" noProof="0" dirty="0" smtClean="0">
                          <a:solidFill>
                            <a:schemeClr val="tx1"/>
                          </a:solidFill>
                          <a:latin typeface="+mn-lt"/>
                          <a:ea typeface="+mn-ea"/>
                          <a:cs typeface="+mn-cs"/>
                        </a:rPr>
                        <a:t>Ўзбекистон давлат ёш томошабинлар театри олий тоифали артисти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43470">
                <a:tc>
                  <a:txBody>
                    <a:bodyPr/>
                    <a:lstStyle/>
                    <a:p>
                      <a:pPr algn="l">
                        <a:lnSpc>
                          <a:spcPct val="85000"/>
                        </a:lnSpc>
                      </a:pPr>
                      <a:r>
                        <a:rPr lang="en-US"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en-US"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en-US"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10467">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b="0" noProof="0" dirty="0" smtClean="0">
                          <a:effectLst/>
                          <a:latin typeface="+mn-lt"/>
                          <a:ea typeface="Calibri" panose="020F0502020204030204" pitchFamily="34" charset="0"/>
                          <a:cs typeface="Times New Roman" panose="02020603050405020304" pitchFamily="18" charset="0"/>
                        </a:rPr>
                        <a:t>39</a:t>
                      </a:r>
                      <a:r>
                        <a:rPr lang="en-US" sz="900" b="0" noProof="0" dirty="0" smtClean="0">
                          <a:effectLst/>
                          <a:latin typeface="+mn-lt"/>
                          <a:ea typeface="Calibri" panose="020F0502020204030204" pitchFamily="34" charset="0"/>
                          <a:cs typeface="Times New Roman" panose="02020603050405020304" pitchFamily="18" charset="0"/>
                        </a:rPr>
                        <a:t> </a:t>
                      </a:r>
                      <a:r>
                        <a:rPr lang="en-US"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96146">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b="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405991">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en-US"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308894">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863042">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en-US" altLang="ru-RU"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308894">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kern="1200" noProof="0" dirty="0" smtClean="0">
                          <a:solidFill>
                            <a:schemeClr val="tx1"/>
                          </a:solidFill>
                          <a:effectLst/>
                          <a:latin typeface="+mn-lt"/>
                          <a:ea typeface="Calibri" panose="020F0502020204030204" pitchFamily="34" charset="0"/>
                          <a:cs typeface="Times New Roman" panose="02020603050405020304" pitchFamily="18" charset="0"/>
                        </a:rPr>
                        <a:t>2025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8"/>
                  </a:ext>
                </a:extLst>
              </a:tr>
              <a:tr h="257791">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226658">
                <a:tc gridSpan="2">
                  <a:txBody>
                    <a:bodyPr/>
                    <a:lstStyle/>
                    <a:p>
                      <a:pPr algn="ctr"/>
                      <a:r>
                        <a:rPr lang="en-US"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2031199">
                <a:tc gridSpan="2">
                  <a:txBody>
                    <a:bodyPr/>
                    <a:lstStyle/>
                    <a:p>
                      <a:pPr marL="0" marR="0" indent="0" algn="just" defTabSz="914400" rtl="0" eaLnBrk="1" fontAlgn="auto" latinLnBrk="0" hangingPunct="1">
                        <a:lnSpc>
                          <a:spcPct val="107000"/>
                        </a:lnSpc>
                        <a:spcBef>
                          <a:spcPts val="0"/>
                        </a:spcBef>
                        <a:spcAft>
                          <a:spcPts val="0"/>
                        </a:spcAft>
                        <a:buClrTx/>
                        <a:buSzTx/>
                        <a:buFontTx/>
                        <a:buNone/>
                        <a:defRPr/>
                      </a:pPr>
                      <a:r>
                        <a:rPr lang="en-US" sz="900" noProof="0" dirty="0" smtClean="0">
                          <a:effectLst/>
                          <a:latin typeface="+mn-lt"/>
                          <a:ea typeface="Calibri" panose="020F0502020204030204" pitchFamily="34" charset="0"/>
                          <a:cs typeface="Times New Roman" panose="02020603050405020304" pitchFamily="18" charset="0"/>
                        </a:rPr>
                        <a:t>19</a:t>
                      </a:r>
                      <a:r>
                        <a:rPr lang="en-US" altLang="en-US" sz="900" noProof="0" dirty="0" smtClean="0">
                          <a:effectLst/>
                          <a:latin typeface="+mn-lt"/>
                          <a:ea typeface="Calibri" panose="020F0502020204030204" pitchFamily="34" charset="0"/>
                          <a:cs typeface="Times New Roman" panose="02020603050405020304" pitchFamily="18" charset="0"/>
                        </a:rPr>
                        <a:t>92</a:t>
                      </a:r>
                      <a:r>
                        <a:rPr lang="en-US" sz="900" noProof="0" dirty="0" smtClean="0">
                          <a:effectLst/>
                          <a:latin typeface="+mn-lt"/>
                          <a:ea typeface="Calibri" panose="020F0502020204030204" pitchFamily="34" charset="0"/>
                          <a:cs typeface="Times New Roman" panose="02020603050405020304" pitchFamily="18" charset="0"/>
                        </a:rPr>
                        <a:t>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defRPr/>
                      </a:pPr>
                      <a:r>
                        <a:rPr lang="en-US" altLang="en-US" sz="900" noProof="0" dirty="0" smtClean="0">
                          <a:effectLst/>
                          <a:latin typeface="+mn-lt"/>
                          <a:ea typeface="Calibri" panose="020F0502020204030204" pitchFamily="34" charset="0"/>
                          <a:cs typeface="Times New Roman" panose="02020603050405020304" pitchFamily="18" charset="0"/>
                        </a:rPr>
                        <a:t>2021</a:t>
                      </a:r>
                      <a:r>
                        <a:rPr lang="en-US" sz="900" noProof="0" dirty="0" smtClean="0">
                          <a:effectLst/>
                          <a:latin typeface="+mn-lt"/>
                          <a:ea typeface="Calibri" panose="020F0502020204030204" pitchFamily="34" charset="0"/>
                          <a:cs typeface="Times New Roman" panose="02020603050405020304" pitchFamily="18" charset="0"/>
                        </a:rPr>
                        <a:t> й. </a:t>
                      </a:r>
                      <a:r>
                        <a:rPr lang="en-US" altLang="en-US" sz="900" noProof="0" dirty="0" smtClean="0">
                          <a:effectLst/>
                          <a:latin typeface="+mn-lt"/>
                          <a:ea typeface="Calibri" panose="020F0502020204030204" pitchFamily="34" charset="0"/>
                          <a:cs typeface="Times New Roman" panose="02020603050405020304" pitchFamily="18" charset="0"/>
                        </a:rPr>
                        <a:t>“Меҳнат шуҳрат ордени” сохибаси</a:t>
                      </a:r>
                      <a:endParaRPr lang="en-US" sz="900" noProof="0" dirty="0" smtClean="0">
                        <a:effectLst/>
                        <a:latin typeface="+mn-lt"/>
                        <a:ea typeface="Calibri" panose="020F0502020204030204" pitchFamily="34" charset="0"/>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defRPr/>
                      </a:pPr>
                      <a:endParaRPr lang="en-US"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endParaRPr lang="ru-RU"/>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bl>
          </a:graphicData>
        </a:graphic>
      </p:graphicFrame>
      <p:graphicFrame>
        <p:nvGraphicFramePr>
          <p:cNvPr id="6" name="Таблица 5"/>
          <p:cNvGraphicFramePr>
            <a:graphicFrameLocks noGrp="1"/>
          </p:cNvGraphicFramePr>
          <p:nvPr>
            <p:extLst>
              <p:ext uri="{D42A27DB-BD31-4B8C-83A1-F6EECF244321}">
                <p14:modId xmlns:p14="http://schemas.microsoft.com/office/powerpoint/2010/main" val="408835834"/>
              </p:ext>
            </p:extLst>
          </p:nvPr>
        </p:nvGraphicFramePr>
        <p:xfrm>
          <a:off x="6949857" y="869285"/>
          <a:ext cx="2817247" cy="5905587"/>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0000"/>
                    </a:ext>
                  </a:extLst>
                </a:gridCol>
              </a:tblGrid>
              <a:tr h="278589">
                <a:tc>
                  <a:txBody>
                    <a:bodyPr/>
                    <a:lstStyle/>
                    <a:p>
                      <a:pPr algn="ctr">
                        <a:lnSpc>
                          <a:spcPct val="85000"/>
                        </a:lnSpc>
                      </a:pPr>
                      <a:r>
                        <a:rPr lang="en-US" sz="1200" b="1" noProof="0" dirty="0" smtClean="0">
                          <a:solidFill>
                            <a:schemeClr val="bg1"/>
                          </a:solidFill>
                          <a:latin typeface="Bahnschrift SemiBold" panose="020B0502040204020203" pitchFamily="34" charset="0"/>
                        </a:rPr>
                        <a:t>ФАОЛИЯТИ</a:t>
                      </a:r>
                      <a:r>
                        <a:rPr lang="en-US" sz="1200" b="1" baseline="0" noProof="0" dirty="0" smtClean="0">
                          <a:solidFill>
                            <a:schemeClr val="bg1"/>
                          </a:solidFill>
                          <a:latin typeface="Bahnschrift SemiBold" panose="020B0502040204020203" pitchFamily="34" charset="0"/>
                        </a:rPr>
                        <a:t> </a:t>
                      </a:r>
                      <a:endParaRPr lang="en-US"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10000"/>
                  </a:ext>
                </a:extLst>
              </a:tr>
              <a:tr h="350684">
                <a:tc>
                  <a:txBody>
                    <a:bodyPr/>
                    <a:lstStyle/>
                    <a:p>
                      <a:pPr algn="ctr">
                        <a:lnSpc>
                          <a:spcPct val="85000"/>
                        </a:lnSpc>
                      </a:pPr>
                      <a:r>
                        <a:rPr lang="en-US" sz="1000" b="1" noProof="0" dirty="0" smtClean="0">
                          <a:solidFill>
                            <a:schemeClr val="bg1"/>
                          </a:solidFill>
                          <a:latin typeface="Bahnschrift SemiBold" panose="020B0502040204020203" pitchFamily="34" charset="0"/>
                        </a:rPr>
                        <a:t>Меҳнат фаолияти ҳақида</a:t>
                      </a:r>
                      <a:r>
                        <a:rPr lang="en-US" sz="1000" b="1" baseline="0" noProof="0" dirty="0" smtClean="0">
                          <a:solidFill>
                            <a:schemeClr val="bg1"/>
                          </a:solidFill>
                          <a:latin typeface="Bahnschrift SemiBold" panose="020B0502040204020203" pitchFamily="34" charset="0"/>
                        </a:rPr>
                        <a:t> қисқача тавсифнома</a:t>
                      </a:r>
                      <a:endParaRPr lang="en-US"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10001"/>
                  </a:ext>
                </a:extLst>
              </a:tr>
              <a:tr h="4284817">
                <a:tc>
                  <a:txBody>
                    <a:bodyPr/>
                    <a:lstStyle/>
                    <a:p>
                      <a:pPr algn="just">
                        <a:lnSpc>
                          <a:spcPct val="85000"/>
                        </a:lnSpc>
                      </a:pPr>
                      <a:r>
                        <a:rPr lang="en-US" sz="900" b="0" noProof="0" dirty="0" smtClean="0">
                          <a:solidFill>
                            <a:schemeClr val="tx1"/>
                          </a:solidFill>
                          <a:latin typeface="+mn-lt"/>
                        </a:rPr>
                        <a:t>    </a:t>
                      </a:r>
                      <a:r>
                        <a:rPr lang="en-US" altLang="en-US" sz="900" b="0" noProof="0" dirty="0">
                          <a:solidFill>
                            <a:schemeClr val="tx1"/>
                          </a:solidFill>
                          <a:latin typeface="+mn-lt"/>
                        </a:rPr>
                        <a:t>Ё. Зиямухамедова театр саҳнасида серқирра ижоди билан 100 га яқин турли жанр ва амплуадаги образларни яратиб, ўзининг юқори актёрлик маҳоратини намоён этган. Жумладан, у “Одобнома”да келин, “Қизил шапкача”да Қизил шапка ва Буви, “Вафодор”да Леша, “Қасоскор Руф”да Давид, “Олов қалблар”да Мидхат, “Ўз уйингдасан”да Витя, “Балли улоқча”да Улоқча, “Фарзандим жигарбандим”да Санобар, “Коинот қароқчилари”да Сайёра, “Сенинг тақдиринг”да Назира, “Яраш-яраш”да Покиза, “Бургут”да Гулнур, “Витька Магилан”да Нинка каби образларни маҳорат билан </a:t>
                      </a:r>
                      <a:r>
                        <a:rPr lang="en-US" altLang="en-US" sz="900" b="0" noProof="0" dirty="0" err="1">
                          <a:solidFill>
                            <a:schemeClr val="tx1"/>
                          </a:solidFill>
                          <a:latin typeface="+mn-lt"/>
                        </a:rPr>
                        <a:t>ижро</a:t>
                      </a:r>
                      <a:r>
                        <a:rPr lang="en-US" altLang="en-US" sz="900" b="0" noProof="0" dirty="0">
                          <a:solidFill>
                            <a:schemeClr val="tx1"/>
                          </a:solidFill>
                          <a:latin typeface="+mn-lt"/>
                        </a:rPr>
                        <a:t> </a:t>
                      </a:r>
                      <a:r>
                        <a:rPr lang="en-US" altLang="en-US" sz="900" b="0" noProof="0" dirty="0" err="1" smtClean="0">
                          <a:solidFill>
                            <a:schemeClr val="tx1"/>
                          </a:solidFill>
                          <a:latin typeface="+mn-lt"/>
                        </a:rPr>
                        <a:t>этган</a:t>
                      </a:r>
                      <a:r>
                        <a:rPr lang="en-US" altLang="en-US" sz="900" b="0" noProof="0" dirty="0" smtClean="0">
                          <a:solidFill>
                            <a:schemeClr val="tx1"/>
                          </a:solidFill>
                          <a:latin typeface="+mn-lt"/>
                        </a:rPr>
                        <a:t>.</a:t>
                      </a:r>
                      <a:endParaRPr lang="ru-RU" altLang="en-US" sz="900" b="0" noProof="0" dirty="0" smtClean="0">
                        <a:solidFill>
                          <a:schemeClr val="tx1"/>
                        </a:solidFill>
                        <a:latin typeface="+mn-lt"/>
                      </a:endParaRPr>
                    </a:p>
                    <a:p>
                      <a:pPr algn="just">
                        <a:lnSpc>
                          <a:spcPct val="85000"/>
                        </a:lnSpc>
                      </a:pPr>
                      <a:r>
                        <a:rPr lang="ru-RU" altLang="en-US" sz="900" b="0" baseline="0" noProof="0" dirty="0" smtClean="0">
                          <a:solidFill>
                            <a:schemeClr val="tx1"/>
                          </a:solidFill>
                          <a:latin typeface="+mn-lt"/>
                        </a:rPr>
                        <a:t>    </a:t>
                      </a:r>
                      <a:r>
                        <a:rPr lang="en-US" altLang="en-US" sz="900" b="0" noProof="0" dirty="0" err="1" smtClean="0">
                          <a:solidFill>
                            <a:schemeClr val="tx1"/>
                          </a:solidFill>
                          <a:latin typeface="+mn-lt"/>
                        </a:rPr>
                        <a:t>Шунингдек</a:t>
                      </a:r>
                      <a:r>
                        <a:rPr lang="en-US" altLang="en-US" sz="900" b="0" noProof="0" dirty="0">
                          <a:solidFill>
                            <a:schemeClr val="tx1"/>
                          </a:solidFill>
                          <a:latin typeface="+mn-lt"/>
                        </a:rPr>
                        <a:t>, актриса “Наврўз ва бойчечак”да мушук, “Виждон қўшиғи”да қуён, “Кел дўст бўлайлик”да Маша, “Ёввойи мушук”да муаллиф, “Оқ бўри”да кенжа қиз, “Қорақум фожеаси”да қиз, “Москвалик хола”да Бобрик, “Карлсон”да Бола, “Оқ кема”да Нурғози, “Шолғом”да Маша, “Гавана ўғлонлари”да газетачи, “Ажойиб уруғ”да Орзигул, “Олтин жўжа”да Жўжа, “Зумрад ва Қиммат”да Қиммат, “Заҳарли томчилар”да ўқитувчи, “Шум бола”да сингил каби ролларни ҳам юксак </a:t>
                      </a:r>
                      <a:r>
                        <a:rPr lang="en-US" altLang="en-US" sz="900" b="0" noProof="0" dirty="0" err="1">
                          <a:solidFill>
                            <a:schemeClr val="tx1"/>
                          </a:solidFill>
                          <a:latin typeface="+mn-lt"/>
                        </a:rPr>
                        <a:t>даражада</a:t>
                      </a:r>
                      <a:r>
                        <a:rPr lang="en-US" altLang="en-US" sz="900" b="0" noProof="0" dirty="0">
                          <a:solidFill>
                            <a:schemeClr val="tx1"/>
                          </a:solidFill>
                          <a:latin typeface="+mn-lt"/>
                        </a:rPr>
                        <a:t> </a:t>
                      </a:r>
                      <a:r>
                        <a:rPr lang="en-US" altLang="en-US" sz="900" b="0" noProof="0" dirty="0" err="1" smtClean="0">
                          <a:solidFill>
                            <a:schemeClr val="tx1"/>
                          </a:solidFill>
                          <a:latin typeface="+mn-lt"/>
                        </a:rPr>
                        <a:t>гавдалантирган</a:t>
                      </a:r>
                      <a:r>
                        <a:rPr lang="en-US" altLang="en-US" sz="900" b="0" noProof="0" dirty="0" smtClean="0">
                          <a:solidFill>
                            <a:schemeClr val="tx1"/>
                          </a:solidFill>
                          <a:latin typeface="+mn-lt"/>
                        </a:rPr>
                        <a:t>.</a:t>
                      </a:r>
                      <a:endParaRPr lang="ru-RU" altLang="en-US" sz="900" b="0" noProof="0" dirty="0" smtClean="0">
                        <a:solidFill>
                          <a:schemeClr val="tx1"/>
                        </a:solidFill>
                        <a:latin typeface="+mn-lt"/>
                      </a:endParaRPr>
                    </a:p>
                    <a:p>
                      <a:pPr algn="just">
                        <a:lnSpc>
                          <a:spcPct val="85000"/>
                        </a:lnSpc>
                      </a:pPr>
                      <a:r>
                        <a:rPr lang="ru-RU" altLang="en-US" sz="900" b="0" baseline="0" noProof="0" dirty="0" smtClean="0">
                          <a:solidFill>
                            <a:schemeClr val="tx1"/>
                          </a:solidFill>
                          <a:latin typeface="+mn-lt"/>
                        </a:rPr>
                        <a:t>    </a:t>
                      </a:r>
                      <a:r>
                        <a:rPr lang="en-US" altLang="en-US" sz="900" b="0" noProof="0" dirty="0" err="1" smtClean="0">
                          <a:solidFill>
                            <a:schemeClr val="tx1"/>
                          </a:solidFill>
                          <a:latin typeface="+mn-lt"/>
                        </a:rPr>
                        <a:t>Бундан</a:t>
                      </a:r>
                      <a:r>
                        <a:rPr lang="en-US" altLang="en-US" sz="900" b="0" noProof="0" dirty="0" smtClean="0">
                          <a:solidFill>
                            <a:schemeClr val="tx1"/>
                          </a:solidFill>
                          <a:latin typeface="+mn-lt"/>
                        </a:rPr>
                        <a:t> </a:t>
                      </a:r>
                      <a:r>
                        <a:rPr lang="en-US" altLang="en-US" sz="900" b="0" noProof="0" dirty="0">
                          <a:solidFill>
                            <a:schemeClr val="tx1"/>
                          </a:solidFill>
                          <a:latin typeface="+mn-lt"/>
                        </a:rPr>
                        <a:t>ташқари, у “Дарбадар ғариб”да она, “Зумраша”да кампир, “Ўрмон машмашаси”да Товуқ, “Шелкунчик”да кўрсичқон, “Титроқ дум”да Қуён, “Топсанг ҳай-ҳай”да Қуён, “Ўрмон фестивали”да Сичқоной, “Чиранчоқ қуёнча”да онаси, “Виждон тарозиси”да Қуён, “Абдулла Набиев”да Маъсума, “Юмпавари”да Марейка, “Ўз ёрингдан айрилма”да Нина, “Сен нима учун яшайсан”да Малика, “Рахмат Капитан”да ўқувчи қиз, “Эски шаҳар гаврошлари”да Она, “Али Вали”да Ойпопук ва Юлдуз, “Биринчи муаллим”да Олтиной каби образларни ижро этган.</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0002"/>
                  </a:ext>
                </a:extLst>
              </a:tr>
              <a:tr h="173083">
                <a:tc>
                  <a:txBody>
                    <a:bodyPr/>
                    <a:lstStyle/>
                    <a:p>
                      <a:pPr marL="0" marR="0" lvl="0" indent="0" algn="ctr" defTabSz="914400" rtl="0" eaLnBrk="1" fontAlgn="auto" latinLnBrk="0" hangingPunct="1">
                        <a:lnSpc>
                          <a:spcPct val="107000"/>
                        </a:lnSpc>
                        <a:spcBef>
                          <a:spcPts val="0"/>
                        </a:spcBef>
                        <a:spcAft>
                          <a:spcPts val="0"/>
                        </a:spcAft>
                        <a:buClrTx/>
                        <a:buSzTx/>
                        <a:buFontTx/>
                        <a:buNone/>
                        <a:defRPr/>
                      </a:pPr>
                      <a:r>
                        <a:rPr lang="en-US"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10003"/>
                  </a:ext>
                </a:extLst>
              </a:tr>
              <a:tr h="818414">
                <a:tc>
                  <a:txBody>
                    <a:bodyPr/>
                    <a:lstStyle/>
                    <a:p>
                      <a:pPr marL="0" marR="0" lvl="0" indent="0" algn="just" defTabSz="914400" rtl="0" eaLnBrk="1" fontAlgn="auto" latinLnBrk="0" hangingPunct="1">
                        <a:lnSpc>
                          <a:spcPct val="107000"/>
                        </a:lnSpc>
                        <a:spcBef>
                          <a:spcPts val="0"/>
                        </a:spcBef>
                        <a:spcAft>
                          <a:spcPts val="0"/>
                        </a:spcAft>
                        <a:buClrTx/>
                        <a:buSzTx/>
                        <a:buFontTx/>
                        <a:buNone/>
                        <a:defRPr/>
                      </a:pPr>
                      <a:r>
                        <a:rPr lang="ru-RU" sz="900" b="0" dirty="0" smtClean="0">
                          <a:effectLst/>
                          <a:latin typeface="+mn-lt"/>
                          <a:ea typeface="Calibri" panose="020F0502020204030204" pitchFamily="34" charset="0"/>
                          <a:cs typeface="Times New Roman" panose="02020603050405020304" pitchFamily="18" charset="0"/>
                        </a:rPr>
                        <a:t>    </a:t>
                      </a:r>
                      <a:r>
                        <a:rPr lang="en-US" sz="900" b="0" dirty="0" err="1" smtClean="0">
                          <a:effectLst/>
                          <a:latin typeface="+mn-lt"/>
                          <a:ea typeface="Calibri" panose="020F0502020204030204" pitchFamily="34" charset="0"/>
                          <a:cs typeface="Times New Roman" panose="02020603050405020304" pitchFamily="18" charset="0"/>
                        </a:rPr>
                        <a:t>Республикамизда</a:t>
                      </a:r>
                      <a:r>
                        <a:rPr lang="en-US"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bl>
          </a:graphicData>
        </a:graphic>
      </p:graphicFrame>
      <p:pic>
        <p:nvPicPr>
          <p:cNvPr id="9" name="Изображение 1073742854" descr="ёдгораопа"/>
          <p:cNvPicPr>
            <a:picLocks noChangeAspect="1"/>
          </p:cNvPicPr>
          <p:nvPr/>
        </p:nvPicPr>
        <p:blipFill>
          <a:blip r:embed="rId2"/>
          <a:stretch>
            <a:fillRect/>
          </a:stretch>
        </p:blipFill>
        <p:spPr>
          <a:xfrm>
            <a:off x="267566" y="1127126"/>
            <a:ext cx="872265" cy="1100686"/>
          </a:xfrm>
          <a:prstGeom prst="rect">
            <a:avLst/>
          </a:prstGeom>
          <a:noFill/>
          <a:ln w="9525">
            <a:noFill/>
          </a:ln>
        </p:spPr>
      </p:pic>
    </p:spTree>
    <p:extLst>
      <p:ext uri="{BB962C8B-B14F-4D97-AF65-F5344CB8AC3E}">
        <p14:creationId xmlns:p14="http://schemas.microsoft.com/office/powerpoint/2010/main" val="668158078"/>
      </p:ext>
    </p:ext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002060"/>
                </a:solidFill>
                <a:latin typeface="Bahnschrift SemiBold" panose="020B0502040204020203" pitchFamily="34" charset="0"/>
              </a:rPr>
              <a:t>ПОРТФОЛИО</a:t>
            </a:r>
            <a:endParaRPr lang="en-US" b="1" dirty="0">
              <a:solidFill>
                <a:srgbClr val="002060"/>
              </a:solidFill>
              <a:latin typeface="Bahnschrift SemiBold" panose="020B0502040204020203" pitchFamily="34" charset="0"/>
            </a:endParaRPr>
          </a:p>
        </p:txBody>
      </p:sp>
      <p:sp>
        <p:nvSpPr>
          <p:cNvPr id="3" name="Прямоугольник 2"/>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altLang="en-US" sz="1600" b="1" dirty="0" smtClean="0">
                <a:solidFill>
                  <a:srgbClr val="002060"/>
                </a:solidFill>
                <a:latin typeface="Bahnschrift SemiBold" panose="020B0502040204020203" pitchFamily="34" charset="0"/>
              </a:rPr>
              <a:t>ТЕАТР ВА ЦИРК ЙЎНАЛИШИ СОҲА ВАКИЛЛАРИ</a:t>
            </a:r>
            <a:endParaRPr lang="en-US" sz="1200" b="1" dirty="0">
              <a:solidFill>
                <a:srgbClr val="002060"/>
              </a:solidFill>
              <a:latin typeface="Bahnschrift SemiBold" panose="020B0502040204020203" pitchFamily="34" charset="0"/>
            </a:endParaRPr>
          </a:p>
        </p:txBody>
      </p:sp>
      <p:graphicFrame>
        <p:nvGraphicFramePr>
          <p:cNvPr id="4" name="Таблица 3"/>
          <p:cNvGraphicFramePr>
            <a:graphicFrameLocks noGrp="1"/>
          </p:cNvGraphicFramePr>
          <p:nvPr>
            <p:extLst>
              <p:ext uri="{D42A27DB-BD31-4B8C-83A1-F6EECF244321}">
                <p14:modId xmlns:p14="http://schemas.microsoft.com/office/powerpoint/2010/main" val="3569411291"/>
              </p:ext>
            </p:extLst>
          </p:nvPr>
        </p:nvGraphicFramePr>
        <p:xfrm>
          <a:off x="144780" y="865505"/>
          <a:ext cx="3427730" cy="5909369"/>
        </p:xfrm>
        <a:graphic>
          <a:graphicData uri="http://schemas.openxmlformats.org/drawingml/2006/table">
            <a:tbl>
              <a:tblPr firstRow="1" bandRow="1">
                <a:tableStyleId>{C083E6E3-FA7D-4D7B-A595-EF9225AFEA82}</a:tableStyleId>
              </a:tblPr>
              <a:tblGrid>
                <a:gridCol w="586105">
                  <a:extLst>
                    <a:ext uri="{9D8B030D-6E8A-4147-A177-3AD203B41FA5}">
                      <a16:colId xmlns:a16="http://schemas.microsoft.com/office/drawing/2014/main" val="20000"/>
                    </a:ext>
                  </a:extLst>
                </a:gridCol>
                <a:gridCol w="512445">
                  <a:extLst>
                    <a:ext uri="{9D8B030D-6E8A-4147-A177-3AD203B41FA5}">
                      <a16:colId xmlns:a16="http://schemas.microsoft.com/office/drawing/2014/main" val="20001"/>
                    </a:ext>
                  </a:extLst>
                </a:gridCol>
                <a:gridCol w="153670">
                  <a:extLst>
                    <a:ext uri="{9D8B030D-6E8A-4147-A177-3AD203B41FA5}">
                      <a16:colId xmlns:a16="http://schemas.microsoft.com/office/drawing/2014/main" val="20002"/>
                    </a:ext>
                  </a:extLst>
                </a:gridCol>
                <a:gridCol w="857250">
                  <a:extLst>
                    <a:ext uri="{9D8B030D-6E8A-4147-A177-3AD203B41FA5}">
                      <a16:colId xmlns:a16="http://schemas.microsoft.com/office/drawing/2014/main" val="20003"/>
                    </a:ext>
                  </a:extLst>
                </a:gridCol>
                <a:gridCol w="1318260">
                  <a:extLst>
                    <a:ext uri="{9D8B030D-6E8A-4147-A177-3AD203B41FA5}">
                      <a16:colId xmlns:a16="http://schemas.microsoft.com/office/drawing/2014/main" val="20004"/>
                    </a:ext>
                  </a:extLst>
                </a:gridCol>
              </a:tblGrid>
              <a:tr h="242925">
                <a:tc gridSpan="5">
                  <a:txBody>
                    <a:bodyPr/>
                    <a:lstStyle/>
                    <a:p>
                      <a:pPr marL="0" marR="0" lvl="0" indent="0" algn="ctr" defTabSz="914400" rtl="0" eaLnBrk="1" fontAlgn="auto" latinLnBrk="0" hangingPunct="1">
                        <a:lnSpc>
                          <a:spcPct val="90000"/>
                        </a:lnSpc>
                        <a:spcBef>
                          <a:spcPts val="0"/>
                        </a:spcBef>
                        <a:spcAft>
                          <a:spcPts val="0"/>
                        </a:spcAft>
                        <a:buClrTx/>
                        <a:buSzTx/>
                        <a:buFontTx/>
                        <a:buNone/>
                        <a:defRPr/>
                      </a:pPr>
                      <a:r>
                        <a:rPr lang="en-US"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189911">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en-US"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altLang="en-US" sz="900" b="0" kern="1200" dirty="0" smtClean="0">
                          <a:solidFill>
                            <a:schemeClr val="tx1"/>
                          </a:solidFill>
                          <a:latin typeface="+mn-lt"/>
                          <a:ea typeface="+mn-ea"/>
                          <a:cs typeface="+mn-cs"/>
                        </a:rPr>
                        <a:t>КАДИРОВ</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189911">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en-US"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altLang="en-US" sz="800" b="0" kern="1200" dirty="0" smtClean="0">
                          <a:solidFill>
                            <a:schemeClr val="tx1"/>
                          </a:solidFill>
                          <a:latin typeface="+mn-lt"/>
                          <a:ea typeface="+mn-ea"/>
                          <a:cs typeface="+mn-cs"/>
                        </a:rPr>
                        <a:t>Абдумагруф</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189911">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altLang="en-US" sz="800" b="0" kern="1200" dirty="0" smtClean="0">
                          <a:solidFill>
                            <a:schemeClr val="tx1"/>
                          </a:solidFill>
                          <a:latin typeface="+mn-lt"/>
                          <a:ea typeface="+mn-ea"/>
                          <a:cs typeface="+mn-cs"/>
                        </a:rPr>
                        <a:t>Вахидович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89911">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en-US"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en-US"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189911">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03.03.1961</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189911">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Андижон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230527">
                <a:tc gridSpan="5">
                  <a:txBody>
                    <a:bodyPr/>
                    <a:lstStyle/>
                    <a:p>
                      <a:pPr algn="ctr"/>
                      <a:r>
                        <a:rPr lang="en-US"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493985">
                <a:tc gridSpan="2">
                  <a:txBody>
                    <a:bodyPr/>
                    <a:lstStyle/>
                    <a:p>
                      <a:pPr marL="0" marR="0" lvl="0" indent="0" algn="ctr" defTabSz="914400" rtl="0" eaLnBrk="1" fontAlgn="auto" latinLnBrk="0" hangingPunct="1">
                        <a:lnSpc>
                          <a:spcPct val="85000"/>
                        </a:lnSpc>
                        <a:spcBef>
                          <a:spcPts val="0"/>
                        </a:spcBef>
                        <a:spcAft>
                          <a:spcPts val="0"/>
                        </a:spcAft>
                        <a:buClrTx/>
                        <a:buSzTx/>
                        <a:buFontTx/>
                        <a:buNone/>
                        <a:defRPr/>
                      </a:pPr>
                      <a:r>
                        <a:rPr lang="en-US" sz="900" b="1" noProof="0" dirty="0" smtClean="0">
                          <a:latin typeface="+mn-lt"/>
                        </a:rPr>
                        <a:t>Оилавий ва ижтимоий ахволи</a:t>
                      </a:r>
                      <a:r>
                        <a:rPr lang="en-US" sz="900" b="1" noProof="0" dirty="0">
                          <a:latin typeface="+mn-lt"/>
                        </a:rPr>
                        <a:t>:</a:t>
                      </a:r>
                      <a:endParaRPr lang="en-US"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900" b="0" kern="1200" noProof="0" dirty="0">
                          <a:solidFill>
                            <a:schemeClr val="tx1"/>
                          </a:solidFill>
                          <a:latin typeface="+mn-lt"/>
                          <a:ea typeface="+mn-ea"/>
                          <a:cs typeface="+mn-cs"/>
                        </a:rPr>
                        <a:t>Оилали, </a:t>
                      </a:r>
                      <a:r>
                        <a:rPr lang="en-US" altLang="en-US" sz="900" b="0" kern="1200" noProof="0" dirty="0">
                          <a:solidFill>
                            <a:schemeClr val="tx1"/>
                          </a:solidFill>
                          <a:latin typeface="+mn-lt"/>
                          <a:ea typeface="+mn-ea"/>
                          <a:cs typeface="+mn-cs"/>
                        </a:rPr>
                        <a:t>1</a:t>
                      </a:r>
                      <a:r>
                        <a:rPr lang="en-US" sz="900" b="0" kern="1200" noProof="0" dirty="0" smtClean="0">
                          <a:solidFill>
                            <a:schemeClr val="tx1"/>
                          </a:solidFill>
                          <a:latin typeface="+mn-lt"/>
                          <a:ea typeface="+mn-ea"/>
                          <a:cs typeface="+mn-cs"/>
                        </a:rPr>
                        <a:t> </a:t>
                      </a:r>
                      <a:r>
                        <a:rPr lang="en-US" sz="900" b="0" kern="1200" noProof="0" dirty="0">
                          <a:solidFill>
                            <a:schemeClr val="tx1"/>
                          </a:solidFill>
                          <a:latin typeface="+mn-lt"/>
                          <a:ea typeface="+mn-ea"/>
                          <a:cs typeface="+mn-cs"/>
                        </a:rPr>
                        <a:t>нафар </a:t>
                      </a:r>
                      <a:r>
                        <a:rPr lang="en-US" sz="900" b="0" kern="1200" noProof="0" dirty="0" smtClean="0">
                          <a:solidFill>
                            <a:schemeClr val="tx1"/>
                          </a:solidFill>
                          <a:latin typeface="+mn-lt"/>
                          <a:ea typeface="+mn-ea"/>
                          <a:cs typeface="+mn-cs"/>
                        </a:rPr>
                        <a:t>ўғил</a:t>
                      </a:r>
                      <a:r>
                        <a:rPr lang="en-US" altLang="en-US" sz="900" b="0" kern="1200" noProof="0" dirty="0" smtClean="0">
                          <a:solidFill>
                            <a:schemeClr val="tx1"/>
                          </a:solidFill>
                          <a:latin typeface="+mn-lt"/>
                          <a:ea typeface="+mn-ea"/>
                          <a:cs typeface="+mn-cs"/>
                        </a:rPr>
                        <a:t>, 2 нафар қиз</a:t>
                      </a:r>
                      <a:r>
                        <a:rPr lang="en-US" sz="900" b="0" kern="1200" noProof="0" dirty="0" smtClean="0">
                          <a:solidFill>
                            <a:schemeClr val="tx1"/>
                          </a:solidFill>
                          <a:latin typeface="+mn-lt"/>
                          <a:ea typeface="+mn-ea"/>
                          <a:cs typeface="+mn-cs"/>
                        </a:rPr>
                        <a:t> </a:t>
                      </a:r>
                      <a:r>
                        <a:rPr lang="en-US" sz="900" b="0" kern="1200" noProof="0" dirty="0">
                          <a:solidFill>
                            <a:schemeClr val="tx1"/>
                          </a:solidFill>
                          <a:latin typeface="+mn-lt"/>
                          <a:ea typeface="+mn-ea"/>
                          <a:cs typeface="+mn-cs"/>
                        </a:rPr>
                        <a:t>фарзанди </a:t>
                      </a:r>
                      <a:r>
                        <a:rPr lang="en-US" sz="900" b="0" kern="1200" noProof="0" dirty="0" smtClean="0">
                          <a:solidFill>
                            <a:schemeClr val="tx1"/>
                          </a:solidFill>
                          <a:latin typeface="+mn-lt"/>
                          <a:ea typeface="+mn-ea"/>
                          <a:cs typeface="+mn-cs"/>
                        </a:rPr>
                        <a:t>бор, </a:t>
                      </a:r>
                      <a:br>
                        <a:rPr lang="en-US" sz="900" b="0" kern="1200" noProof="0" dirty="0" smtClean="0">
                          <a:solidFill>
                            <a:schemeClr val="tx1"/>
                          </a:solidFill>
                          <a:latin typeface="+mn-lt"/>
                          <a:ea typeface="+mn-ea"/>
                          <a:cs typeface="+mn-cs"/>
                        </a:rPr>
                      </a:br>
                      <a:r>
                        <a:rPr lang="en-US" sz="900" b="0" kern="1200" noProof="0" dirty="0" smtClean="0">
                          <a:solidFill>
                            <a:schemeClr val="tx1"/>
                          </a:solidFill>
                          <a:latin typeface="+mn-lt"/>
                          <a:ea typeface="+mn-ea"/>
                          <a:cs typeface="+mn-cs"/>
                        </a:rPr>
                        <a:t>ҳозирда нафақада</a:t>
                      </a:r>
                      <a:endParaRPr lang="en-US"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8"/>
                  </a:ext>
                </a:extLst>
              </a:tr>
              <a:tr h="230527">
                <a:tc gridSpan="5">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09"/>
                  </a:ext>
                </a:extLst>
              </a:tr>
              <a:tr h="645632">
                <a:tc>
                  <a:txBody>
                    <a:bodyPr/>
                    <a:lstStyle/>
                    <a:p>
                      <a:pPr algn="ctr">
                        <a:lnSpc>
                          <a:spcPct val="85000"/>
                        </a:lnSpc>
                      </a:pPr>
                      <a:r>
                        <a:rPr lang="en-US"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altLang="en-US" sz="900" b="1" kern="1200" noProof="0" dirty="0" smtClean="0">
                          <a:solidFill>
                            <a:schemeClr val="tx1"/>
                          </a:solidFill>
                          <a:latin typeface="+mn-lt"/>
                          <a:ea typeface="+mn-ea"/>
                          <a:cs typeface="Arial" panose="020B0604020202020204" pitchFamily="34" charset="0"/>
                        </a:rPr>
                        <a:t>КАДИРОВ  Вохид </a:t>
                      </a:r>
                    </a:p>
                    <a:p>
                      <a:pPr algn="l">
                        <a:lnSpc>
                          <a:spcPct val="85000"/>
                        </a:lnSpc>
                      </a:pPr>
                      <a:r>
                        <a:rPr lang="en-US" sz="900" b="0" kern="1200" noProof="0" dirty="0" smtClean="0">
                          <a:solidFill>
                            <a:schemeClr val="tx1"/>
                          </a:solidFill>
                          <a:latin typeface="+mn-lt"/>
                          <a:ea typeface="+mn-ea"/>
                          <a:cs typeface="Arial" panose="020B0604020202020204" pitchFamily="34" charset="0"/>
                        </a:rPr>
                        <a:t>19</a:t>
                      </a:r>
                      <a:r>
                        <a:rPr lang="en-US" altLang="en-US" sz="900" b="0" kern="1200" noProof="0" dirty="0" smtClean="0">
                          <a:solidFill>
                            <a:schemeClr val="tx1"/>
                          </a:solidFill>
                          <a:latin typeface="+mn-lt"/>
                          <a:ea typeface="+mn-ea"/>
                          <a:cs typeface="Arial" panose="020B0604020202020204" pitchFamily="34" charset="0"/>
                        </a:rPr>
                        <a:t>2</a:t>
                      </a:r>
                      <a:r>
                        <a:rPr lang="ru-RU" altLang="en-US" sz="900" b="0" kern="1200" noProof="0" dirty="0" smtClean="0">
                          <a:solidFill>
                            <a:schemeClr val="tx1"/>
                          </a:solidFill>
                          <a:latin typeface="+mn-lt"/>
                          <a:ea typeface="+mn-ea"/>
                          <a:cs typeface="Arial" panose="020B0604020202020204" pitchFamily="34" charset="0"/>
                        </a:rPr>
                        <a:t>5</a:t>
                      </a:r>
                      <a:r>
                        <a:rPr lang="en-US" sz="900" b="0" kern="1200" noProof="0" dirty="0" smtClean="0">
                          <a:solidFill>
                            <a:schemeClr val="tx1"/>
                          </a:solidFill>
                          <a:latin typeface="+mn-lt"/>
                          <a:ea typeface="+mn-ea"/>
                          <a:cs typeface="Arial" panose="020B0604020202020204" pitchFamily="34" charset="0"/>
                        </a:rPr>
                        <a:t> йил, </a:t>
                      </a:r>
                      <a:r>
                        <a:rPr lang="ru-RU" altLang="en-US" sz="900" b="0" kern="1200" noProof="0" dirty="0" smtClean="0">
                          <a:solidFill>
                            <a:schemeClr val="tx1"/>
                          </a:solidFill>
                          <a:latin typeface="+mn-lt"/>
                          <a:ea typeface="+mn-ea"/>
                          <a:cs typeface="Arial" panose="020B0604020202020204" pitchFamily="34" charset="0"/>
                        </a:rPr>
                        <a:t>Тошкент ша</a:t>
                      </a:r>
                      <a:r>
                        <a:rPr lang="en-US" altLang="en-US" sz="900" b="0" kern="1200" noProof="0" dirty="0" smtClean="0">
                          <a:solidFill>
                            <a:schemeClr val="tx1"/>
                          </a:solidFill>
                          <a:latin typeface="+mn-lt"/>
                          <a:ea typeface="+mn-ea"/>
                          <a:cs typeface="Arial" panose="020B0604020202020204" pitchFamily="34" charset="0"/>
                        </a:rPr>
                        <a:t>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Arial" panose="020B0604020202020204" pitchFamily="34" charset="0"/>
                        </a:rPr>
                        <a:t>1993 йил вафот этган</a:t>
                      </a:r>
                    </a:p>
                    <a:p>
                      <a:pPr algn="l">
                        <a:lnSpc>
                          <a:spcPct val="85000"/>
                        </a:lnSpc>
                      </a:pPr>
                      <a:r>
                        <a:rPr lang="en-US" altLang="en-US" sz="900" b="0" kern="1200" noProof="0" dirty="0">
                          <a:solidFill>
                            <a:schemeClr val="tx1"/>
                          </a:solidFill>
                          <a:latin typeface="+mn-lt"/>
                          <a:ea typeface="+mn-ea"/>
                          <a:cs typeface="Arial" panose="020B0604020202020204" pitchFamily="34" charset="0"/>
                        </a:rPr>
                        <a:t>(Республика Ёш томошабинлар театри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531223">
                <a:tc>
                  <a:txBody>
                    <a:bodyPr/>
                    <a:lstStyle/>
                    <a:p>
                      <a:pPr algn="ctr">
                        <a:lnSpc>
                          <a:spcPct val="85000"/>
                        </a:lnSpc>
                      </a:pPr>
                      <a:r>
                        <a:rPr lang="en-US"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kern="1200" noProof="0" dirty="0" smtClean="0">
                          <a:solidFill>
                            <a:schemeClr val="tx1"/>
                          </a:solidFill>
                          <a:latin typeface="+mn-lt"/>
                          <a:ea typeface="+mn-ea"/>
                          <a:cs typeface="Arial" panose="020B0604020202020204" pitchFamily="34" charset="0"/>
                        </a:rPr>
                        <a:t>КАДИРОВА Вазира</a:t>
                      </a:r>
                      <a:endParaRPr lang="en-US" altLang="en-US" sz="900" b="0" kern="1200" noProof="0" dirty="0" smtClean="0">
                        <a:solidFill>
                          <a:schemeClr val="tx1"/>
                        </a:solidFill>
                        <a:latin typeface="+mn-lt"/>
                        <a:ea typeface="+mn-ea"/>
                        <a:cs typeface="Arial" panose="020B0604020202020204" pitchFamily="34" charset="0"/>
                      </a:endParaRPr>
                    </a:p>
                    <a:p>
                      <a:pPr algn="l">
                        <a:lnSpc>
                          <a:spcPct val="85000"/>
                        </a:lnSpc>
                      </a:pPr>
                      <a:r>
                        <a:rPr lang="en-US" sz="900" b="0" kern="1200" noProof="0" dirty="0" smtClean="0">
                          <a:solidFill>
                            <a:schemeClr val="tx1"/>
                          </a:solidFill>
                          <a:latin typeface="+mn-lt"/>
                          <a:ea typeface="+mn-ea"/>
                          <a:cs typeface="Arial" panose="020B0604020202020204" pitchFamily="34" charset="0"/>
                        </a:rPr>
                        <a:t>19</a:t>
                      </a:r>
                      <a:r>
                        <a:rPr lang="en-US" altLang="en-US" sz="900" b="0" kern="1200" noProof="0" dirty="0" smtClean="0">
                          <a:solidFill>
                            <a:schemeClr val="tx1"/>
                          </a:solidFill>
                          <a:latin typeface="+mn-lt"/>
                          <a:ea typeface="+mn-ea"/>
                          <a:cs typeface="Arial" panose="020B0604020202020204" pitchFamily="34" charset="0"/>
                        </a:rPr>
                        <a:t>28</a:t>
                      </a:r>
                      <a:r>
                        <a:rPr lang="en-US" sz="900" b="0" kern="1200" noProof="0" dirty="0" smtClean="0">
                          <a:solidFill>
                            <a:schemeClr val="tx1"/>
                          </a:solidFill>
                          <a:latin typeface="+mn-lt"/>
                          <a:ea typeface="+mn-ea"/>
                          <a:cs typeface="Arial" panose="020B0604020202020204" pitchFamily="34" charset="0"/>
                        </a:rPr>
                        <a:t> йил, </a:t>
                      </a:r>
                      <a:r>
                        <a:rPr lang="en-US" altLang="en-US" sz="900" b="0" kern="1200" noProof="0" dirty="0" smtClean="0">
                          <a:solidFill>
                            <a:schemeClr val="tx1"/>
                          </a:solidFill>
                          <a:latin typeface="+mn-lt"/>
                          <a:ea typeface="+mn-ea"/>
                          <a:cs typeface="Arial" panose="020B0604020202020204" pitchFamily="34" charset="0"/>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Arial" panose="020B0604020202020204" pitchFamily="34" charset="0"/>
                        </a:rPr>
                        <a:t>2019 вафот этган</a:t>
                      </a:r>
                    </a:p>
                    <a:p>
                      <a:pPr algn="l">
                        <a:lnSpc>
                          <a:spcPct val="85000"/>
                        </a:lnSpc>
                      </a:pPr>
                      <a:r>
                        <a:rPr lang="en-US" altLang="en-US" sz="900" b="0" kern="1200" noProof="0" dirty="0">
                          <a:solidFill>
                            <a:schemeClr val="tx1"/>
                          </a:solidFill>
                          <a:latin typeface="+mn-lt"/>
                          <a:ea typeface="+mn-ea"/>
                          <a:cs typeface="Arial" panose="020B0604020202020204" pitchFamily="34" charset="0"/>
                        </a:rPr>
                        <a:t> (Уй бекаси)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r h="432253">
                <a:tc>
                  <a:txBody>
                    <a:bodyPr/>
                    <a:lstStyle/>
                    <a:p>
                      <a:pPr algn="ctr">
                        <a:lnSpc>
                          <a:spcPct val="85000"/>
                        </a:lnSpc>
                      </a:pPr>
                      <a:r>
                        <a:rPr lang="en-US"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noProof="0" dirty="0" smtClean="0">
                          <a:cs typeface="Arial" panose="020B0604020202020204" pitchFamily="34" charset="0"/>
                          <a:sym typeface="+mn-ea"/>
                        </a:rPr>
                        <a:t>КАДИРОВА</a:t>
                      </a:r>
                      <a:r>
                        <a:rPr lang="en-US" altLang="en-US" sz="900" b="1" kern="1200" noProof="0" dirty="0" smtClean="0">
                          <a:solidFill>
                            <a:schemeClr val="tx1"/>
                          </a:solidFill>
                          <a:latin typeface="+mn-lt"/>
                          <a:ea typeface="+mn-ea"/>
                          <a:cs typeface="Arial" panose="020B0604020202020204" pitchFamily="34" charset="0"/>
                        </a:rPr>
                        <a:t> Нигора</a:t>
                      </a:r>
                    </a:p>
                    <a:p>
                      <a:pPr algn="l">
                        <a:lnSpc>
                          <a:spcPct val="85000"/>
                        </a:lnSpc>
                      </a:pPr>
                      <a:r>
                        <a:rPr lang="en-US" sz="900" noProof="0" dirty="0" smtClean="0">
                          <a:cs typeface="Arial" panose="020B0604020202020204" pitchFamily="34" charset="0"/>
                          <a:sym typeface="+mn-ea"/>
                        </a:rPr>
                        <a:t>19</a:t>
                      </a:r>
                      <a:r>
                        <a:rPr lang="en-US" altLang="en-US" sz="900" noProof="0" dirty="0" smtClean="0">
                          <a:cs typeface="Arial" panose="020B0604020202020204" pitchFamily="34" charset="0"/>
                          <a:sym typeface="+mn-ea"/>
                        </a:rPr>
                        <a:t>28</a:t>
                      </a:r>
                      <a:r>
                        <a:rPr lang="en-US" sz="900" noProof="0" dirty="0" smtClean="0">
                          <a:cs typeface="Arial" panose="020B0604020202020204" pitchFamily="34" charset="0"/>
                          <a:sym typeface="+mn-ea"/>
                        </a:rPr>
                        <a:t> йил, </a:t>
                      </a:r>
                      <a:r>
                        <a:rPr lang="en-US" altLang="en-US" sz="900" noProof="0" dirty="0" smtClean="0">
                          <a:cs typeface="Arial" panose="020B0604020202020204" pitchFamily="34" charset="0"/>
                          <a:sym typeface="+mn-ea"/>
                        </a:rPr>
                        <a:t>Тошкент шаҳри</a:t>
                      </a:r>
                      <a:endParaRPr lang="en-US" altLang="en-US" sz="900" b="0" kern="1200" noProof="0" dirty="0" smtClean="0">
                        <a:solidFill>
                          <a:schemeClr val="tx1"/>
                        </a:solidFill>
                        <a:latin typeface="+mn-lt"/>
                        <a:ea typeface="+mn-ea"/>
                        <a:cs typeface="Arial" panose="020B0604020202020204" pitchFamily="34" charset="0"/>
                      </a:endParaRPr>
                    </a:p>
                    <a:p>
                      <a:pPr algn="l">
                        <a:lnSpc>
                          <a:spcPct val="85000"/>
                        </a:lnSpc>
                      </a:pPr>
                      <a:endParaRPr lang="en-US"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mn-cs"/>
                        </a:rPr>
                        <a:t>Пенсионер ("Она бола"  маркази хамшираси)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2"/>
                  </a:ext>
                </a:extLst>
              </a:tr>
              <a:tr h="207280">
                <a:tc gridSpan="5">
                  <a:txBody>
                    <a:bodyPr/>
                    <a:lstStyle/>
                    <a:p>
                      <a:pPr algn="ctr">
                        <a:lnSpc>
                          <a:spcPct val="85000"/>
                        </a:lnSpc>
                      </a:pPr>
                      <a:r>
                        <a:rPr lang="en-US"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10013"/>
                  </a:ext>
                </a:extLst>
              </a:tr>
              <a:tr h="544210">
                <a:tc gridSpan="3">
                  <a:txBody>
                    <a:bodyPr/>
                    <a:lstStyle/>
                    <a:p>
                      <a:pPr algn="l">
                        <a:lnSpc>
                          <a:spcPct val="85000"/>
                        </a:lnSpc>
                      </a:pPr>
                      <a:r>
                        <a:rPr lang="en-US" sz="900" b="1" noProof="0" dirty="0">
                          <a:latin typeface="+mn-lt"/>
                        </a:rPr>
                        <a:t>Тамомлаган ОТМ:</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a:t>
                      </a:r>
                      <a:r>
                        <a:rPr lang="en-US" altLang="ru-RU" sz="900" b="0" kern="1200" noProof="0" dirty="0" smtClean="0">
                          <a:solidFill>
                            <a:schemeClr val="tx1"/>
                          </a:solidFill>
                          <a:latin typeface="+mn-lt"/>
                          <a:ea typeface="+mn-ea"/>
                          <a:cs typeface="+mn-cs"/>
                        </a:rPr>
                        <a:t>87</a:t>
                      </a:r>
                      <a:r>
                        <a:rPr lang="ru-RU" sz="900" b="0" kern="1200" noProof="0" dirty="0" smtClean="0">
                          <a:solidFill>
                            <a:schemeClr val="tx1"/>
                          </a:solidFill>
                          <a:latin typeface="+mn-lt"/>
                          <a:ea typeface="+mn-ea"/>
                          <a:cs typeface="+mn-cs"/>
                        </a:rPr>
                        <a:t> й.</a:t>
                      </a:r>
                      <a:r>
                        <a:rPr lang="en-US" altLang="en-US" sz="900" b="0" kern="1200" noProof="0" dirty="0" smtClean="0">
                          <a:solidFill>
                            <a:schemeClr val="tx1"/>
                          </a:solidFill>
                          <a:latin typeface="+mn-lt"/>
                          <a:ea typeface="+mn-ea"/>
                          <a:cs typeface="+mn-cs"/>
                        </a:rPr>
                        <a:t>Тошкент театр ва рассомлик 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4"/>
                  </a:ext>
                </a:extLst>
              </a:tr>
              <a:tr h="270250">
                <a:tc gridSpan="3">
                  <a:txBody>
                    <a:bodyPr/>
                    <a:lstStyle/>
                    <a:p>
                      <a:pPr marL="0" marR="0" lvl="0" indent="0" algn="l" defTabSz="914400" rtl="0" eaLnBrk="1" fontAlgn="auto" latinLnBrk="0" hangingPunct="1">
                        <a:lnSpc>
                          <a:spcPct val="85000"/>
                        </a:lnSpc>
                        <a:spcBef>
                          <a:spcPts val="0"/>
                        </a:spcBef>
                        <a:spcAft>
                          <a:spcPts val="0"/>
                        </a:spcAft>
                        <a:buClrTx/>
                        <a:buSzTx/>
                        <a:buFontTx/>
                        <a:buNone/>
                        <a:defRPr/>
                      </a:pPr>
                      <a:r>
                        <a:rPr lang="en-US" sz="900" b="1" noProof="0" dirty="0">
                          <a:latin typeface="+mn-lt"/>
                        </a:rPr>
                        <a:t>Мутахассислиги:</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altLang="en-US" sz="900" b="0" kern="1200" noProof="0" dirty="0">
                          <a:solidFill>
                            <a:schemeClr val="tx1"/>
                          </a:solidFill>
                          <a:latin typeface="+mn-lt"/>
                          <a:ea typeface="+mn-ea"/>
                          <a:cs typeface="+mn-cs"/>
                        </a:rPr>
                        <a:t>драма театр ва кино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5"/>
                  </a:ext>
                </a:extLst>
              </a:tr>
              <a:tr h="313697">
                <a:tc gridSpan="3">
                  <a:txBody>
                    <a:bodyPr/>
                    <a:lstStyle/>
                    <a:p>
                      <a:pPr algn="l">
                        <a:lnSpc>
                          <a:spcPct val="85000"/>
                        </a:lnSpc>
                      </a:pPr>
                      <a:r>
                        <a:rPr lang="en-US" sz="900" b="1" kern="1200" noProof="0" dirty="0">
                          <a:solidFill>
                            <a:schemeClr val="tx1"/>
                          </a:solidFill>
                          <a:latin typeface="+mn-lt"/>
                          <a:ea typeface="+mn-ea"/>
                          <a:cs typeface="+mn-cs"/>
                        </a:rPr>
                        <a:t>Илмий даража (унвон):</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6"/>
                  </a:ext>
                </a:extLst>
              </a:tr>
              <a:tr h="313697">
                <a:tc gridSpan="3">
                  <a:txBody>
                    <a:bodyPr/>
                    <a:lstStyle/>
                    <a:p>
                      <a:pPr algn="l">
                        <a:lnSpc>
                          <a:spcPct val="85000"/>
                        </a:lnSpc>
                      </a:pPr>
                      <a:r>
                        <a:rPr lang="en-US"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7"/>
                  </a:ext>
                </a:extLst>
              </a:tr>
              <a:tr h="313697">
                <a:tc gridSpan="3">
                  <a:txBody>
                    <a:bodyPr/>
                    <a:lstStyle/>
                    <a:p>
                      <a:pPr algn="l">
                        <a:lnSpc>
                          <a:spcPct val="85000"/>
                        </a:lnSpc>
                      </a:pPr>
                      <a:r>
                        <a:rPr lang="en-US"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8"/>
                  </a:ext>
                </a:extLst>
              </a:tr>
            </a:tbl>
          </a:graphicData>
        </a:graphic>
      </p:graphicFrame>
      <p:graphicFrame>
        <p:nvGraphicFramePr>
          <p:cNvPr id="5" name="Таблица 4"/>
          <p:cNvGraphicFramePr>
            <a:graphicFrameLocks noGrp="1"/>
          </p:cNvGraphicFramePr>
          <p:nvPr>
            <p:extLst>
              <p:ext uri="{D42A27DB-BD31-4B8C-83A1-F6EECF244321}">
                <p14:modId xmlns:p14="http://schemas.microsoft.com/office/powerpoint/2010/main" val="1796581772"/>
              </p:ext>
            </p:extLst>
          </p:nvPr>
        </p:nvGraphicFramePr>
        <p:xfrm>
          <a:off x="3674745" y="865504"/>
          <a:ext cx="3173095" cy="5909367"/>
        </p:xfrm>
        <a:graphic>
          <a:graphicData uri="http://schemas.openxmlformats.org/drawingml/2006/table">
            <a:tbl>
              <a:tblPr firstRow="1" bandRow="1">
                <a:tableStyleId>{C083E6E3-FA7D-4D7B-A595-EF9225AFEA82}</a:tableStyleId>
              </a:tblPr>
              <a:tblGrid>
                <a:gridCol w="1443990">
                  <a:extLst>
                    <a:ext uri="{9D8B030D-6E8A-4147-A177-3AD203B41FA5}">
                      <a16:colId xmlns:a16="http://schemas.microsoft.com/office/drawing/2014/main" val="20000"/>
                    </a:ext>
                  </a:extLst>
                </a:gridCol>
                <a:gridCol w="1729105">
                  <a:extLst>
                    <a:ext uri="{9D8B030D-6E8A-4147-A177-3AD203B41FA5}">
                      <a16:colId xmlns:a16="http://schemas.microsoft.com/office/drawing/2014/main" val="20001"/>
                    </a:ext>
                  </a:extLst>
                </a:gridCol>
              </a:tblGrid>
              <a:tr h="325462">
                <a:tc gridSpan="2">
                  <a:txBody>
                    <a:bodyPr/>
                    <a:lstStyle/>
                    <a:p>
                      <a:pPr algn="ctr"/>
                      <a:r>
                        <a:rPr lang="en-US"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571497">
                <a:tc>
                  <a:txBody>
                    <a:bodyPr/>
                    <a:lstStyle/>
                    <a:p>
                      <a:pPr algn="l">
                        <a:lnSpc>
                          <a:spcPct val="85000"/>
                        </a:lnSpc>
                      </a:pPr>
                      <a:r>
                        <a:rPr lang="en-US" sz="900" b="1" i="0" noProof="0" dirty="0">
                          <a:solidFill>
                            <a:schemeClr val="tx1"/>
                          </a:solidFill>
                          <a:latin typeface="+mn-lt"/>
                        </a:rPr>
                        <a:t>Эгаллаб турган </a:t>
                      </a:r>
                      <a:r>
                        <a:rPr lang="en-US" sz="900" b="1" i="0" noProof="0" dirty="0" smtClean="0">
                          <a:solidFill>
                            <a:schemeClr val="tx1"/>
                          </a:solidFill>
                          <a:latin typeface="+mn-lt"/>
                        </a:rPr>
                        <a:t>лавозими</a:t>
                      </a:r>
                      <a:r>
                        <a:rPr lang="en-US"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en-US" sz="900" b="1" kern="1200" noProof="0" dirty="0" smtClean="0">
                          <a:solidFill>
                            <a:schemeClr val="tx1"/>
                          </a:solidFill>
                          <a:latin typeface="+mn-lt"/>
                          <a:ea typeface="+mn-ea"/>
                          <a:cs typeface="+mn-cs"/>
                        </a:rPr>
                        <a:t>20</a:t>
                      </a:r>
                      <a:r>
                        <a:rPr lang="en-US" altLang="en-US" sz="900" b="1" kern="1200" noProof="0" dirty="0" smtClean="0">
                          <a:solidFill>
                            <a:schemeClr val="tx1"/>
                          </a:solidFill>
                          <a:latin typeface="+mn-lt"/>
                          <a:ea typeface="+mn-ea"/>
                          <a:cs typeface="+mn-cs"/>
                        </a:rPr>
                        <a:t>07</a:t>
                      </a:r>
                      <a:r>
                        <a:rPr lang="en-US" sz="900" b="1" kern="1200" noProof="0" dirty="0" smtClean="0">
                          <a:solidFill>
                            <a:schemeClr val="tx1"/>
                          </a:solidFill>
                          <a:latin typeface="+mn-lt"/>
                          <a:ea typeface="+mn-ea"/>
                          <a:cs typeface="+mn-cs"/>
                        </a:rPr>
                        <a:t> йилдан буён </a:t>
                      </a:r>
                      <a:r>
                        <a:rPr lang="en-US" altLang="en-US" sz="900" b="1" kern="1200" noProof="0" dirty="0" smtClean="0">
                          <a:solidFill>
                            <a:schemeClr val="tx1"/>
                          </a:solidFill>
                          <a:latin typeface="+mn-lt"/>
                          <a:ea typeface="+mn-ea"/>
                          <a:cs typeface="+mn-cs"/>
                        </a:rPr>
                        <a:t>Ўзбекистон давлат ёш томошабинлар театри етакчи сахна устаси артисти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41932">
                <a:tc>
                  <a:txBody>
                    <a:bodyPr/>
                    <a:lstStyle/>
                    <a:p>
                      <a:pPr algn="l">
                        <a:lnSpc>
                          <a:spcPct val="85000"/>
                        </a:lnSpc>
                      </a:pPr>
                      <a:r>
                        <a:rPr lang="en-US"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en-US"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en-US"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09137">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ru-RU" altLang="en-US" sz="900" b="0" noProof="0" dirty="0" smtClean="0">
                          <a:effectLst/>
                          <a:latin typeface="+mn-lt"/>
                          <a:ea typeface="Calibri" panose="020F0502020204030204" pitchFamily="34" charset="0"/>
                          <a:cs typeface="Times New Roman" panose="02020603050405020304" pitchFamily="18" charset="0"/>
                        </a:rPr>
                        <a:t>4</a:t>
                      </a:r>
                      <a:r>
                        <a:rPr lang="en-US" altLang="ru-RU" sz="900" b="0" noProof="0" dirty="0" smtClean="0">
                          <a:effectLst/>
                          <a:latin typeface="+mn-lt"/>
                          <a:ea typeface="Calibri" panose="020F0502020204030204" pitchFamily="34" charset="0"/>
                          <a:cs typeface="Times New Roman" panose="02020603050405020304" pitchFamily="18" charset="0"/>
                        </a:rPr>
                        <a:t>3</a:t>
                      </a:r>
                      <a:r>
                        <a:rPr lang="en-US" sz="900" b="0" noProof="0" dirty="0" smtClean="0">
                          <a:effectLst/>
                          <a:latin typeface="+mn-lt"/>
                          <a:ea typeface="Calibri" panose="020F0502020204030204" pitchFamily="34" charset="0"/>
                          <a:cs typeface="Times New Roman" panose="02020603050405020304" pitchFamily="18" charset="0"/>
                        </a:rPr>
                        <a:t> </a:t>
                      </a:r>
                      <a:r>
                        <a:rPr lang="en-US"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94906">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b="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403425">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en-US"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302833">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857589">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en-US" altLang="ru-RU"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302833">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kern="1200" noProof="0" dirty="0" smtClean="0">
                          <a:solidFill>
                            <a:schemeClr val="tx1"/>
                          </a:solidFill>
                          <a:effectLst/>
                          <a:latin typeface="+mn-lt"/>
                          <a:ea typeface="Calibri" panose="020F0502020204030204" pitchFamily="34" charset="0"/>
                          <a:cs typeface="Times New Roman" panose="02020603050405020304" pitchFamily="18" charset="0"/>
                        </a:rPr>
                        <a:t>2025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8"/>
                  </a:ext>
                </a:extLst>
              </a:tr>
              <a:tr h="256163">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225225">
                <a:tc gridSpan="2">
                  <a:txBody>
                    <a:bodyPr/>
                    <a:lstStyle/>
                    <a:p>
                      <a:pPr algn="ctr"/>
                      <a:r>
                        <a:rPr lang="en-US"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2018365">
                <a:tc gridSpan="2">
                  <a:txBody>
                    <a:bodyPr/>
                    <a:lstStyle/>
                    <a:p>
                      <a:pPr marL="0" marR="0" indent="0" algn="just" defTabSz="914400" rtl="0" eaLnBrk="1" fontAlgn="auto" latinLnBrk="0" hangingPunct="1">
                        <a:lnSpc>
                          <a:spcPct val="107000"/>
                        </a:lnSpc>
                        <a:spcBef>
                          <a:spcPts val="0"/>
                        </a:spcBef>
                        <a:spcAft>
                          <a:spcPts val="0"/>
                        </a:spcAft>
                        <a:buClrTx/>
                        <a:buSzTx/>
                        <a:buFontTx/>
                        <a:buNone/>
                        <a:defRPr/>
                      </a:pPr>
                      <a:r>
                        <a:rPr lang="en-US" altLang="en-US" sz="900" noProof="0" dirty="0" smtClean="0">
                          <a:effectLst/>
                          <a:latin typeface="+mn-lt"/>
                          <a:ea typeface="Calibri" panose="020F0502020204030204" pitchFamily="34" charset="0"/>
                          <a:cs typeface="Times New Roman" panose="02020603050405020304" pitchFamily="18" charset="0"/>
                        </a:rPr>
                        <a:t>2007</a:t>
                      </a:r>
                      <a:r>
                        <a:rPr lang="en-US" sz="900" noProof="0" dirty="0" smtClean="0">
                          <a:effectLst/>
                          <a:latin typeface="+mn-lt"/>
                          <a:ea typeface="Calibri" panose="020F0502020204030204" pitchFamily="34" charset="0"/>
                          <a:cs typeface="Times New Roman" panose="02020603050405020304" pitchFamily="18" charset="0"/>
                        </a:rPr>
                        <a:t>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defRPr/>
                      </a:pPr>
                      <a:endParaRPr lang="en-US"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endParaRPr lang="ru-RU"/>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bl>
          </a:graphicData>
        </a:graphic>
      </p:graphicFrame>
      <p:graphicFrame>
        <p:nvGraphicFramePr>
          <p:cNvPr id="6" name="Таблица 5"/>
          <p:cNvGraphicFramePr>
            <a:graphicFrameLocks noGrp="1"/>
          </p:cNvGraphicFramePr>
          <p:nvPr>
            <p:extLst>
              <p:ext uri="{D42A27DB-BD31-4B8C-83A1-F6EECF244321}">
                <p14:modId xmlns:p14="http://schemas.microsoft.com/office/powerpoint/2010/main" val="2883665055"/>
              </p:ext>
            </p:extLst>
          </p:nvPr>
        </p:nvGraphicFramePr>
        <p:xfrm>
          <a:off x="6949857" y="869285"/>
          <a:ext cx="2817247" cy="5905587"/>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0000"/>
                    </a:ext>
                  </a:extLst>
                </a:gridCol>
              </a:tblGrid>
              <a:tr h="278589">
                <a:tc>
                  <a:txBody>
                    <a:bodyPr/>
                    <a:lstStyle/>
                    <a:p>
                      <a:pPr algn="ctr">
                        <a:lnSpc>
                          <a:spcPct val="85000"/>
                        </a:lnSpc>
                      </a:pPr>
                      <a:r>
                        <a:rPr lang="en-US" sz="1200" b="1" noProof="0" dirty="0" smtClean="0">
                          <a:solidFill>
                            <a:schemeClr val="bg1"/>
                          </a:solidFill>
                          <a:latin typeface="Bahnschrift SemiBold" panose="020B0502040204020203" pitchFamily="34" charset="0"/>
                        </a:rPr>
                        <a:t>ФАОЛИЯТИ</a:t>
                      </a:r>
                      <a:r>
                        <a:rPr lang="en-US" sz="1200" b="1" baseline="0" noProof="0" dirty="0" smtClean="0">
                          <a:solidFill>
                            <a:schemeClr val="bg1"/>
                          </a:solidFill>
                          <a:latin typeface="Bahnschrift SemiBold" panose="020B0502040204020203" pitchFamily="34" charset="0"/>
                        </a:rPr>
                        <a:t> </a:t>
                      </a:r>
                      <a:endParaRPr lang="en-US"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10000"/>
                  </a:ext>
                </a:extLst>
              </a:tr>
              <a:tr h="350684">
                <a:tc>
                  <a:txBody>
                    <a:bodyPr/>
                    <a:lstStyle/>
                    <a:p>
                      <a:pPr algn="ctr">
                        <a:lnSpc>
                          <a:spcPct val="85000"/>
                        </a:lnSpc>
                      </a:pPr>
                      <a:r>
                        <a:rPr lang="en-US" sz="1000" b="1" noProof="0" dirty="0" smtClean="0">
                          <a:solidFill>
                            <a:schemeClr val="bg1"/>
                          </a:solidFill>
                          <a:latin typeface="Bahnschrift SemiBold" panose="020B0502040204020203" pitchFamily="34" charset="0"/>
                        </a:rPr>
                        <a:t>Меҳнат фаолияти ҳақида</a:t>
                      </a:r>
                      <a:r>
                        <a:rPr lang="en-US" sz="1000" b="1" baseline="0" noProof="0" dirty="0" smtClean="0">
                          <a:solidFill>
                            <a:schemeClr val="bg1"/>
                          </a:solidFill>
                          <a:latin typeface="Bahnschrift SemiBold" panose="020B0502040204020203" pitchFamily="34" charset="0"/>
                        </a:rPr>
                        <a:t> қисқача тавсифнома</a:t>
                      </a:r>
                      <a:endParaRPr lang="en-US"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10001"/>
                  </a:ext>
                </a:extLst>
              </a:tr>
              <a:tr h="4284817">
                <a:tc>
                  <a:txBody>
                    <a:bodyPr/>
                    <a:lstStyle/>
                    <a:p>
                      <a:pPr algn="just">
                        <a:lnSpc>
                          <a:spcPct val="85000"/>
                        </a:lnSpc>
                      </a:pPr>
                      <a:r>
                        <a:rPr lang="en-US" sz="900" b="0" noProof="0" dirty="0" smtClean="0">
                          <a:solidFill>
                            <a:schemeClr val="tx1"/>
                          </a:solidFill>
                          <a:latin typeface="+mn-lt"/>
                        </a:rPr>
                        <a:t>   </a:t>
                      </a:r>
                      <a:r>
                        <a:rPr lang="en-US" altLang="en-US" sz="900" b="0" noProof="0" dirty="0">
                          <a:solidFill>
                            <a:schemeClr val="tx1"/>
                          </a:solidFill>
                          <a:latin typeface="+mn-lt"/>
                        </a:rPr>
                        <a:t>А. Қодиров театр саҳнасида турли жанр ва амплуадаги кўплаб образларни яратиб, ўзининг юксак актёрлик маҳоратини намоён этган. Жумладан, у “Одобнома” спектаклида эркатой ўғил, “Қайнар хумча”да соқчи, “Учар табиб”да ошиқ йигит, “Ўрмон қўшиғи”да бўри, “Минг бир кеча”да масхарабоз, “Кел дўст бўйлайлик”да масхарабоз Петя, “Осмондан танга ёққан кун”да Мирғазаб Тешавой каби ранг-баранг образларни ижро </a:t>
                      </a:r>
                      <a:r>
                        <a:rPr lang="en-US" altLang="en-US" sz="900" b="0" noProof="0" dirty="0" err="1">
                          <a:solidFill>
                            <a:schemeClr val="tx1"/>
                          </a:solidFill>
                          <a:latin typeface="+mn-lt"/>
                        </a:rPr>
                        <a:t>этган</a:t>
                      </a:r>
                      <a:r>
                        <a:rPr lang="en-US" altLang="en-US" sz="900" b="0" noProof="0" dirty="0" smtClean="0">
                          <a:solidFill>
                            <a:schemeClr val="tx1"/>
                          </a:solidFill>
                          <a:latin typeface="+mn-lt"/>
                        </a:rPr>
                        <a:t>.</a:t>
                      </a:r>
                      <a:endParaRPr lang="en-US" altLang="ru-RU" sz="900" b="0" noProof="0" dirty="0">
                        <a:solidFill>
                          <a:schemeClr val="tx1"/>
                        </a:solidFill>
                        <a:latin typeface="+mn-lt"/>
                      </a:endParaRPr>
                    </a:p>
                    <a:p>
                      <a:pPr algn="just">
                        <a:lnSpc>
                          <a:spcPct val="85000"/>
                        </a:lnSpc>
                      </a:pPr>
                      <a:r>
                        <a:rPr lang="ru-RU" altLang="en-US" sz="900" b="0" noProof="0" dirty="0" smtClean="0">
                          <a:solidFill>
                            <a:schemeClr val="tx1"/>
                          </a:solidFill>
                          <a:latin typeface="+mn-lt"/>
                        </a:rPr>
                        <a:t>    </a:t>
                      </a:r>
                      <a:r>
                        <a:rPr lang="en-US" altLang="en-US" sz="900" b="0" noProof="0" dirty="0" err="1" smtClean="0">
                          <a:solidFill>
                            <a:schemeClr val="tx1"/>
                          </a:solidFill>
                          <a:latin typeface="+mn-lt"/>
                        </a:rPr>
                        <a:t>Шунингдек</a:t>
                      </a:r>
                      <a:r>
                        <a:rPr lang="en-US" altLang="en-US" sz="900" b="0" noProof="0" dirty="0">
                          <a:solidFill>
                            <a:schemeClr val="tx1"/>
                          </a:solidFill>
                          <a:latin typeface="+mn-lt"/>
                        </a:rPr>
                        <a:t>, актёр “Эркатой ва Карлсон”да шалпанқулоқ бола, “Чоқ–чоқ мақтанчоқ”да ота қуён, “Икки мўжиза”да Дурандарте, “Оловудиннинг сеҳрли чироғи”да Жаъфар, “Сичуанлик меҳрибон”да фаришта-судья, “Чўп қўғирчоқ”да ўргимчак, “Абдунинг найранглари”да Қора ака, “Жони дилим пишлоқ”да Альбин, “Орзулар кемаси”да тўнғиз, “Алихўжа хўжаали”да куёв образларини ҳам маҳорат билан </a:t>
                      </a:r>
                      <a:r>
                        <a:rPr lang="en-US" altLang="en-US" sz="900" b="0" noProof="0" dirty="0" err="1">
                          <a:solidFill>
                            <a:schemeClr val="tx1"/>
                          </a:solidFill>
                          <a:latin typeface="+mn-lt"/>
                        </a:rPr>
                        <a:t>гавдалантирган</a:t>
                      </a:r>
                      <a:r>
                        <a:rPr lang="en-US" altLang="en-US" sz="900" b="0" noProof="0" dirty="0" smtClean="0">
                          <a:solidFill>
                            <a:schemeClr val="tx1"/>
                          </a:solidFill>
                          <a:latin typeface="+mn-lt"/>
                        </a:rPr>
                        <a:t>.</a:t>
                      </a:r>
                      <a:endParaRPr lang="en-US" altLang="ru-RU" sz="900" b="0" noProof="0" dirty="0">
                        <a:solidFill>
                          <a:schemeClr val="tx1"/>
                        </a:solidFill>
                        <a:latin typeface="+mn-lt"/>
                      </a:endParaRPr>
                    </a:p>
                    <a:p>
                      <a:pPr algn="just">
                        <a:lnSpc>
                          <a:spcPct val="85000"/>
                        </a:lnSpc>
                      </a:pPr>
                      <a:r>
                        <a:rPr lang="ru-RU" altLang="en-US" sz="900" b="0" noProof="0" dirty="0" smtClean="0">
                          <a:solidFill>
                            <a:schemeClr val="tx1"/>
                          </a:solidFill>
                          <a:latin typeface="+mn-lt"/>
                        </a:rPr>
                        <a:t>    </a:t>
                      </a:r>
                      <a:r>
                        <a:rPr lang="en-US" altLang="en-US" sz="900" b="0" noProof="0" dirty="0" err="1" smtClean="0">
                          <a:solidFill>
                            <a:schemeClr val="tx1"/>
                          </a:solidFill>
                          <a:latin typeface="+mn-lt"/>
                        </a:rPr>
                        <a:t>Бундан</a:t>
                      </a:r>
                      <a:r>
                        <a:rPr lang="en-US" altLang="en-US" sz="900" b="0" noProof="0" dirty="0" smtClean="0">
                          <a:solidFill>
                            <a:schemeClr val="tx1"/>
                          </a:solidFill>
                          <a:latin typeface="+mn-lt"/>
                        </a:rPr>
                        <a:t> </a:t>
                      </a:r>
                      <a:r>
                        <a:rPr lang="en-US" altLang="en-US" sz="900" b="0" noProof="0" dirty="0">
                          <a:solidFill>
                            <a:schemeClr val="tx1"/>
                          </a:solidFill>
                          <a:latin typeface="+mn-lt"/>
                        </a:rPr>
                        <a:t>ташқари, у “Дискотека”да ота (Шавкат), “Умид дарахти”да ота, “Сеҳрли Лайлак”да қароқчи бой, “Менинг ўрдакчам”да хинду хороз, “Тўрт эгизак”да Пётрота, “Кичкина мук”да султон, “Биринчи муаллим”да Душен, “Тузоқ”да Қоплонбек каби ролларни ижро этиб, саҳнада серқирра ва пухта тайёргарликка эга актёр эканлигини яна бир бор исботлаган.</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0002"/>
                  </a:ext>
                </a:extLst>
              </a:tr>
              <a:tr h="173083">
                <a:tc>
                  <a:txBody>
                    <a:bodyPr/>
                    <a:lstStyle/>
                    <a:p>
                      <a:pPr marL="0" marR="0" lvl="0" indent="0" algn="ctr" defTabSz="914400" rtl="0" eaLnBrk="1" fontAlgn="auto" latinLnBrk="0" hangingPunct="1">
                        <a:lnSpc>
                          <a:spcPct val="107000"/>
                        </a:lnSpc>
                        <a:spcBef>
                          <a:spcPts val="0"/>
                        </a:spcBef>
                        <a:spcAft>
                          <a:spcPts val="0"/>
                        </a:spcAft>
                        <a:buClrTx/>
                        <a:buSzTx/>
                        <a:buFontTx/>
                        <a:buNone/>
                        <a:defRPr/>
                      </a:pPr>
                      <a:r>
                        <a:rPr lang="en-US"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10003"/>
                  </a:ext>
                </a:extLst>
              </a:tr>
              <a:tr h="818414">
                <a:tc>
                  <a:txBody>
                    <a:bodyPr/>
                    <a:lstStyle/>
                    <a:p>
                      <a:pPr marL="0" marR="0" lvl="0" indent="0" algn="just" defTabSz="914400" rtl="0" eaLnBrk="1" fontAlgn="auto" latinLnBrk="0" hangingPunct="1">
                        <a:lnSpc>
                          <a:spcPct val="107000"/>
                        </a:lnSpc>
                        <a:spcBef>
                          <a:spcPts val="0"/>
                        </a:spcBef>
                        <a:spcAft>
                          <a:spcPts val="0"/>
                        </a:spcAft>
                        <a:buClrTx/>
                        <a:buSzTx/>
                        <a:buFontTx/>
                        <a:buNone/>
                        <a:defRPr/>
                      </a:pPr>
                      <a:r>
                        <a:rPr lang="ru-RU" sz="900" b="0" dirty="0" smtClean="0">
                          <a:effectLst/>
                          <a:latin typeface="+mn-lt"/>
                          <a:ea typeface="Calibri" panose="020F0502020204030204" pitchFamily="34" charset="0"/>
                          <a:cs typeface="Times New Roman" panose="02020603050405020304" pitchFamily="18" charset="0"/>
                        </a:rPr>
                        <a:t>    </a:t>
                      </a:r>
                      <a:r>
                        <a:rPr lang="en-US" sz="900" b="0" dirty="0" err="1" smtClean="0">
                          <a:effectLst/>
                          <a:latin typeface="+mn-lt"/>
                          <a:ea typeface="Calibri" panose="020F0502020204030204" pitchFamily="34" charset="0"/>
                          <a:cs typeface="Times New Roman" panose="02020603050405020304" pitchFamily="18" charset="0"/>
                        </a:rPr>
                        <a:t>Республикамизда</a:t>
                      </a:r>
                      <a:r>
                        <a:rPr lang="en-US"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bl>
          </a:graphicData>
        </a:graphic>
      </p:graphicFrame>
      <p:pic>
        <p:nvPicPr>
          <p:cNvPr id="1073742852" name="Изображение 1073742851" descr="абдумаъруф"/>
          <p:cNvPicPr>
            <a:picLocks noChangeAspect="1"/>
          </p:cNvPicPr>
          <p:nvPr/>
        </p:nvPicPr>
        <p:blipFill>
          <a:blip r:embed="rId2"/>
          <a:stretch>
            <a:fillRect/>
          </a:stretch>
        </p:blipFill>
        <p:spPr>
          <a:xfrm>
            <a:off x="232756" y="1117600"/>
            <a:ext cx="895004" cy="1111885"/>
          </a:xfrm>
          <a:prstGeom prst="rect">
            <a:avLst/>
          </a:prstGeom>
          <a:noFill/>
          <a:ln w="9525">
            <a:noFill/>
          </a:ln>
        </p:spPr>
      </p:pic>
    </p:spTree>
    <p:extLst>
      <p:ext uri="{BB962C8B-B14F-4D97-AF65-F5344CB8AC3E}">
        <p14:creationId xmlns:p14="http://schemas.microsoft.com/office/powerpoint/2010/main" val="292350592"/>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002060"/>
                </a:solidFill>
                <a:latin typeface="Bahnschrift SemiBold" panose="020B0502040204020203" pitchFamily="34" charset="0"/>
              </a:rPr>
              <a:t>ПОРТФОЛИО</a:t>
            </a:r>
            <a:endParaRPr lang="en-US" b="1" dirty="0">
              <a:solidFill>
                <a:srgbClr val="002060"/>
              </a:solidFill>
              <a:latin typeface="Bahnschrift SemiBold" panose="020B0502040204020203" pitchFamily="34" charset="0"/>
            </a:endParaRPr>
          </a:p>
        </p:txBody>
      </p:sp>
      <p:sp>
        <p:nvSpPr>
          <p:cNvPr id="3" name="Прямоугольник 2"/>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altLang="en-US" sz="1600" b="1" dirty="0" smtClean="0">
                <a:solidFill>
                  <a:srgbClr val="002060"/>
                </a:solidFill>
                <a:latin typeface="Bahnschrift SemiBold" panose="020B0502040204020203" pitchFamily="34" charset="0"/>
              </a:rPr>
              <a:t>ТЕАТР ВА ЦИРК ЙЎНАЛИШИ СОҲА ВАКИЛЛАРИ</a:t>
            </a:r>
            <a:endParaRPr lang="en-US" sz="1200" b="1" dirty="0">
              <a:solidFill>
                <a:srgbClr val="002060"/>
              </a:solidFill>
              <a:latin typeface="Bahnschrift SemiBold" panose="020B0502040204020203" pitchFamily="34" charset="0"/>
            </a:endParaRPr>
          </a:p>
        </p:txBody>
      </p:sp>
      <p:graphicFrame>
        <p:nvGraphicFramePr>
          <p:cNvPr id="4" name="Таблица 3"/>
          <p:cNvGraphicFramePr>
            <a:graphicFrameLocks noGrp="1"/>
          </p:cNvGraphicFramePr>
          <p:nvPr>
            <p:extLst>
              <p:ext uri="{D42A27DB-BD31-4B8C-83A1-F6EECF244321}">
                <p14:modId xmlns:p14="http://schemas.microsoft.com/office/powerpoint/2010/main" val="1534152962"/>
              </p:ext>
            </p:extLst>
          </p:nvPr>
        </p:nvGraphicFramePr>
        <p:xfrm>
          <a:off x="144780" y="865505"/>
          <a:ext cx="3427730" cy="5933570"/>
        </p:xfrm>
        <a:graphic>
          <a:graphicData uri="http://schemas.openxmlformats.org/drawingml/2006/table">
            <a:tbl>
              <a:tblPr firstRow="1" bandRow="1">
                <a:tableStyleId>{C083E6E3-FA7D-4D7B-A595-EF9225AFEA82}</a:tableStyleId>
              </a:tblPr>
              <a:tblGrid>
                <a:gridCol w="586105">
                  <a:extLst>
                    <a:ext uri="{9D8B030D-6E8A-4147-A177-3AD203B41FA5}">
                      <a16:colId xmlns:a16="http://schemas.microsoft.com/office/drawing/2014/main" val="20000"/>
                    </a:ext>
                  </a:extLst>
                </a:gridCol>
                <a:gridCol w="512445">
                  <a:extLst>
                    <a:ext uri="{9D8B030D-6E8A-4147-A177-3AD203B41FA5}">
                      <a16:colId xmlns:a16="http://schemas.microsoft.com/office/drawing/2014/main" val="20001"/>
                    </a:ext>
                  </a:extLst>
                </a:gridCol>
                <a:gridCol w="153670">
                  <a:extLst>
                    <a:ext uri="{9D8B030D-6E8A-4147-A177-3AD203B41FA5}">
                      <a16:colId xmlns:a16="http://schemas.microsoft.com/office/drawing/2014/main" val="20002"/>
                    </a:ext>
                  </a:extLst>
                </a:gridCol>
                <a:gridCol w="909955">
                  <a:extLst>
                    <a:ext uri="{9D8B030D-6E8A-4147-A177-3AD203B41FA5}">
                      <a16:colId xmlns:a16="http://schemas.microsoft.com/office/drawing/2014/main" val="20003"/>
                    </a:ext>
                  </a:extLst>
                </a:gridCol>
                <a:gridCol w="1265555">
                  <a:extLst>
                    <a:ext uri="{9D8B030D-6E8A-4147-A177-3AD203B41FA5}">
                      <a16:colId xmlns:a16="http://schemas.microsoft.com/office/drawing/2014/main" val="20004"/>
                    </a:ext>
                  </a:extLst>
                </a:gridCol>
              </a:tblGrid>
              <a:tr h="245658">
                <a:tc gridSpan="5">
                  <a:txBody>
                    <a:bodyPr/>
                    <a:lstStyle/>
                    <a:p>
                      <a:pPr marL="0" marR="0" lvl="0" indent="0" algn="ctr" defTabSz="914400" rtl="0" eaLnBrk="1" fontAlgn="auto" latinLnBrk="0" hangingPunct="1">
                        <a:lnSpc>
                          <a:spcPct val="90000"/>
                        </a:lnSpc>
                        <a:spcBef>
                          <a:spcPts val="0"/>
                        </a:spcBef>
                        <a:spcAft>
                          <a:spcPts val="0"/>
                        </a:spcAft>
                        <a:buClrTx/>
                        <a:buSzTx/>
                        <a:buFontTx/>
                        <a:buNone/>
                        <a:defRPr/>
                      </a:pPr>
                      <a:r>
                        <a:rPr lang="en-US"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190575">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en-US"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en-US" altLang="en-US" sz="900" b="0" kern="1200" dirty="0" smtClean="0">
                          <a:solidFill>
                            <a:schemeClr val="tx1"/>
                          </a:solidFill>
                          <a:latin typeface="+mn-lt"/>
                          <a:ea typeface="+mn-ea"/>
                          <a:cs typeface="+mn-cs"/>
                        </a:rPr>
                        <a:t>МАНСУРОВА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189941">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en-US"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Шамшиқамар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190575">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Джариповна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9120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en-US"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en-US" altLang="en-US" sz="900" b="0" kern="1200" dirty="0">
                          <a:solidFill>
                            <a:schemeClr val="tx1"/>
                          </a:solidFill>
                          <a:latin typeface="+mn-lt"/>
                          <a:ea typeface="+mn-ea"/>
                          <a:cs typeface="+mn-cs"/>
                        </a:rPr>
                        <a:t>УЙҒУР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188830">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ru-RU" sz="800" b="0" kern="1200" dirty="0" smtClean="0">
                          <a:solidFill>
                            <a:schemeClr val="tx1"/>
                          </a:solidFill>
                          <a:latin typeface="+mn-lt"/>
                          <a:ea typeface="+mn-ea"/>
                          <a:cs typeface="+mn-cs"/>
                        </a:rPr>
                        <a:t>01</a:t>
                      </a:r>
                      <a:r>
                        <a:rPr lang="ru-RU" sz="800" b="0" kern="1200" dirty="0" smtClean="0">
                          <a:solidFill>
                            <a:schemeClr val="tx1"/>
                          </a:solidFill>
                          <a:latin typeface="+mn-lt"/>
                          <a:ea typeface="+mn-ea"/>
                          <a:cs typeface="+mn-cs"/>
                        </a:rPr>
                        <a:t>.0</a:t>
                      </a:r>
                      <a:r>
                        <a:rPr lang="en-US" altLang="ru-RU" sz="800" b="0" kern="1200" dirty="0" smtClean="0">
                          <a:solidFill>
                            <a:schemeClr val="tx1"/>
                          </a:solidFill>
                          <a:latin typeface="+mn-lt"/>
                          <a:ea typeface="+mn-ea"/>
                          <a:cs typeface="+mn-cs"/>
                        </a:rPr>
                        <a:t>7</a:t>
                      </a:r>
                      <a:r>
                        <a:rPr lang="ru-RU" sz="800" b="0" kern="1200" dirty="0" smtClean="0">
                          <a:solidFill>
                            <a:schemeClr val="tx1"/>
                          </a:solidFill>
                          <a:latin typeface="+mn-lt"/>
                          <a:ea typeface="+mn-ea"/>
                          <a:cs typeface="+mn-cs"/>
                        </a:rPr>
                        <a:t>.19</a:t>
                      </a:r>
                      <a:r>
                        <a:rPr lang="en-US" altLang="ru-RU" sz="800" b="0" kern="1200" dirty="0" smtClean="0">
                          <a:solidFill>
                            <a:schemeClr val="tx1"/>
                          </a:solidFill>
                          <a:latin typeface="+mn-lt"/>
                          <a:ea typeface="+mn-ea"/>
                          <a:cs typeface="+mn-cs"/>
                        </a:rPr>
                        <a:t>49</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190575">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Андижон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232995">
                <a:tc gridSpan="5">
                  <a:txBody>
                    <a:bodyPr/>
                    <a:lstStyle/>
                    <a:p>
                      <a:pPr algn="ctr"/>
                      <a:r>
                        <a:rPr lang="en-US"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491172">
                <a:tc gridSpan="2">
                  <a:txBody>
                    <a:bodyPr/>
                    <a:lstStyle/>
                    <a:p>
                      <a:pPr marL="0" marR="0" lvl="0" indent="0" algn="ctr" defTabSz="914400" rtl="0" eaLnBrk="1" fontAlgn="auto" latinLnBrk="0" hangingPunct="1">
                        <a:lnSpc>
                          <a:spcPct val="85000"/>
                        </a:lnSpc>
                        <a:spcBef>
                          <a:spcPts val="0"/>
                        </a:spcBef>
                        <a:spcAft>
                          <a:spcPts val="0"/>
                        </a:spcAft>
                        <a:buClrTx/>
                        <a:buSzTx/>
                        <a:buFontTx/>
                        <a:buNone/>
                        <a:defRPr/>
                      </a:pPr>
                      <a:r>
                        <a:rPr lang="en-US" sz="900" b="1" noProof="0" dirty="0" smtClean="0">
                          <a:latin typeface="+mn-lt"/>
                        </a:rPr>
                        <a:t>Оилавий ва ижтимоий ахволи</a:t>
                      </a:r>
                      <a:r>
                        <a:rPr lang="en-US" sz="900" b="1" noProof="0" dirty="0">
                          <a:latin typeface="+mn-lt"/>
                        </a:rPr>
                        <a:t>:</a:t>
                      </a:r>
                      <a:endParaRPr lang="en-US"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900" b="0" kern="1200" noProof="0" dirty="0">
                          <a:solidFill>
                            <a:schemeClr val="tx1"/>
                          </a:solidFill>
                          <a:latin typeface="+mn-lt"/>
                          <a:ea typeface="+mn-ea"/>
                          <a:cs typeface="+mn-cs"/>
                        </a:rPr>
                        <a:t>Оилали, </a:t>
                      </a:r>
                      <a:r>
                        <a:rPr lang="en-US" altLang="en-US" sz="900" b="0" kern="1200" noProof="0" dirty="0">
                          <a:solidFill>
                            <a:schemeClr val="tx1"/>
                          </a:solidFill>
                          <a:latin typeface="+mn-lt"/>
                          <a:ea typeface="+mn-ea"/>
                          <a:cs typeface="+mn-cs"/>
                        </a:rPr>
                        <a:t>1</a:t>
                      </a:r>
                      <a:r>
                        <a:rPr lang="en-US" sz="900" b="0" kern="1200" noProof="0" dirty="0" smtClean="0">
                          <a:solidFill>
                            <a:schemeClr val="tx1"/>
                          </a:solidFill>
                          <a:latin typeface="+mn-lt"/>
                          <a:ea typeface="+mn-ea"/>
                          <a:cs typeface="+mn-cs"/>
                        </a:rPr>
                        <a:t> </a:t>
                      </a:r>
                      <a:r>
                        <a:rPr lang="en-US" sz="900" b="0" kern="1200" noProof="0" dirty="0">
                          <a:solidFill>
                            <a:schemeClr val="tx1"/>
                          </a:solidFill>
                          <a:latin typeface="+mn-lt"/>
                          <a:ea typeface="+mn-ea"/>
                          <a:cs typeface="+mn-cs"/>
                        </a:rPr>
                        <a:t>нафар </a:t>
                      </a:r>
                      <a:r>
                        <a:rPr lang="en-US" sz="900" b="0" kern="1200" noProof="0" dirty="0" smtClean="0">
                          <a:solidFill>
                            <a:schemeClr val="tx1"/>
                          </a:solidFill>
                          <a:latin typeface="+mn-lt"/>
                          <a:ea typeface="+mn-ea"/>
                          <a:cs typeface="+mn-cs"/>
                        </a:rPr>
                        <a:t>ўғил</a:t>
                      </a:r>
                      <a:r>
                        <a:rPr lang="en-US" altLang="en-US" sz="900" b="0" kern="1200" noProof="0" dirty="0" smtClean="0">
                          <a:solidFill>
                            <a:schemeClr val="tx1"/>
                          </a:solidFill>
                          <a:latin typeface="+mn-lt"/>
                          <a:ea typeface="+mn-ea"/>
                          <a:cs typeface="+mn-cs"/>
                        </a:rPr>
                        <a:t>, 1 нафар қиз</a:t>
                      </a:r>
                      <a:r>
                        <a:rPr lang="en-US" sz="900" b="0" kern="1200" noProof="0" dirty="0" smtClean="0">
                          <a:solidFill>
                            <a:schemeClr val="tx1"/>
                          </a:solidFill>
                          <a:latin typeface="+mn-lt"/>
                          <a:ea typeface="+mn-ea"/>
                          <a:cs typeface="+mn-cs"/>
                        </a:rPr>
                        <a:t> </a:t>
                      </a:r>
                      <a:r>
                        <a:rPr lang="en-US" sz="900" b="0" kern="1200" noProof="0" dirty="0">
                          <a:solidFill>
                            <a:schemeClr val="tx1"/>
                          </a:solidFill>
                          <a:latin typeface="+mn-lt"/>
                          <a:ea typeface="+mn-ea"/>
                          <a:cs typeface="+mn-cs"/>
                        </a:rPr>
                        <a:t>фарзанди </a:t>
                      </a:r>
                      <a:r>
                        <a:rPr lang="en-US" sz="900" b="0" kern="1200" noProof="0" dirty="0" smtClean="0">
                          <a:solidFill>
                            <a:schemeClr val="tx1"/>
                          </a:solidFill>
                          <a:latin typeface="+mn-lt"/>
                          <a:ea typeface="+mn-ea"/>
                          <a:cs typeface="+mn-cs"/>
                        </a:rPr>
                        <a:t>бор, </a:t>
                      </a:r>
                      <a:br>
                        <a:rPr lang="en-US" sz="900" b="0" kern="1200" noProof="0" dirty="0" smtClean="0">
                          <a:solidFill>
                            <a:schemeClr val="tx1"/>
                          </a:solidFill>
                          <a:latin typeface="+mn-lt"/>
                          <a:ea typeface="+mn-ea"/>
                          <a:cs typeface="+mn-cs"/>
                        </a:rPr>
                      </a:br>
                      <a:r>
                        <a:rPr lang="en-US" sz="900" b="0" kern="1200" noProof="0" dirty="0" smtClean="0">
                          <a:solidFill>
                            <a:schemeClr val="tx1"/>
                          </a:solidFill>
                          <a:latin typeface="+mn-lt"/>
                          <a:ea typeface="+mn-ea"/>
                          <a:cs typeface="+mn-cs"/>
                        </a:rPr>
                        <a:t>ҳозирда нафақада</a:t>
                      </a:r>
                      <a:endParaRPr lang="en-US"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8"/>
                  </a:ext>
                </a:extLst>
              </a:tr>
              <a:tr h="232362">
                <a:tc gridSpan="5">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09"/>
                  </a:ext>
                </a:extLst>
              </a:tr>
              <a:tr h="590085">
                <a:tc>
                  <a:txBody>
                    <a:bodyPr/>
                    <a:lstStyle/>
                    <a:p>
                      <a:pPr algn="ctr">
                        <a:lnSpc>
                          <a:spcPct val="85000"/>
                        </a:lnSpc>
                      </a:pPr>
                      <a:r>
                        <a:rPr lang="en-US"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kern="1200" noProof="0" dirty="0" smtClean="0">
                          <a:solidFill>
                            <a:schemeClr val="tx1"/>
                          </a:solidFill>
                          <a:latin typeface="+mn-lt"/>
                          <a:ea typeface="+mn-ea"/>
                          <a:cs typeface="Arial" panose="020B0604020202020204" pitchFamily="34" charset="0"/>
                        </a:rPr>
                        <a:t>ДАУТОВ</a:t>
                      </a:r>
                      <a:r>
                        <a:rPr lang="en-US" altLang="en-US" sz="900" b="0" kern="1200" noProof="0" dirty="0" smtClean="0">
                          <a:solidFill>
                            <a:schemeClr val="tx1"/>
                          </a:solidFill>
                          <a:latin typeface="+mn-lt"/>
                          <a:ea typeface="+mn-ea"/>
                          <a:cs typeface="Arial" panose="020B0604020202020204" pitchFamily="34" charset="0"/>
                        </a:rPr>
                        <a:t> Жорубохун</a:t>
                      </a:r>
                    </a:p>
                    <a:p>
                      <a:pPr algn="l">
                        <a:lnSpc>
                          <a:spcPct val="85000"/>
                        </a:lnSpc>
                      </a:pPr>
                      <a:r>
                        <a:rPr lang="en-US" sz="900" b="0" kern="1200" noProof="0" dirty="0" smtClean="0">
                          <a:solidFill>
                            <a:schemeClr val="tx1"/>
                          </a:solidFill>
                          <a:latin typeface="+mn-lt"/>
                          <a:ea typeface="+mn-ea"/>
                          <a:cs typeface="Arial" panose="020B0604020202020204" pitchFamily="34" charset="0"/>
                        </a:rPr>
                        <a:t>19</a:t>
                      </a:r>
                      <a:r>
                        <a:rPr lang="en-US" altLang="en-US" sz="900" b="0" kern="1200" noProof="0" dirty="0" smtClean="0">
                          <a:solidFill>
                            <a:schemeClr val="tx1"/>
                          </a:solidFill>
                          <a:latin typeface="+mn-lt"/>
                          <a:ea typeface="+mn-ea"/>
                          <a:cs typeface="Arial" panose="020B0604020202020204" pitchFamily="34" charset="0"/>
                        </a:rPr>
                        <a:t>10</a:t>
                      </a:r>
                      <a:r>
                        <a:rPr lang="en-US" sz="900" b="0" kern="1200" noProof="0" dirty="0" smtClean="0">
                          <a:solidFill>
                            <a:schemeClr val="tx1"/>
                          </a:solidFill>
                          <a:latin typeface="+mn-lt"/>
                          <a:ea typeface="+mn-ea"/>
                          <a:cs typeface="Arial" panose="020B0604020202020204" pitchFamily="34" charset="0"/>
                        </a:rPr>
                        <a:t> йил, </a:t>
                      </a:r>
                      <a:r>
                        <a:rPr lang="en-US" altLang="en-US" sz="900" b="0" kern="1200" noProof="0" dirty="0">
                          <a:solidFill>
                            <a:schemeClr val="tx1"/>
                          </a:solidFill>
                          <a:latin typeface="+mn-lt"/>
                          <a:ea typeface="+mn-ea"/>
                          <a:cs typeface="Arial" panose="020B0604020202020204" pitchFamily="34" charset="0"/>
                        </a:rPr>
                        <a:t>Ғулжа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Arial" panose="020B0604020202020204" pitchFamily="34" charset="0"/>
                        </a:rPr>
                        <a:t>1951 йил вафот  этган</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464090">
                <a:tc>
                  <a:txBody>
                    <a:bodyPr/>
                    <a:lstStyle/>
                    <a:p>
                      <a:pPr algn="ctr">
                        <a:lnSpc>
                          <a:spcPct val="85000"/>
                        </a:lnSpc>
                      </a:pPr>
                      <a:r>
                        <a:rPr lang="en-US"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kern="1200" noProof="0" dirty="0" smtClean="0">
                          <a:solidFill>
                            <a:schemeClr val="tx1"/>
                          </a:solidFill>
                          <a:latin typeface="+mn-lt"/>
                          <a:ea typeface="+mn-ea"/>
                          <a:cs typeface="Arial" panose="020B0604020202020204" pitchFamily="34" charset="0"/>
                        </a:rPr>
                        <a:t>ДАУТОВА </a:t>
                      </a:r>
                      <a:r>
                        <a:rPr lang="en-US" altLang="en-US" sz="900" b="0" kern="1200" noProof="0" dirty="0" smtClean="0">
                          <a:solidFill>
                            <a:schemeClr val="tx1"/>
                          </a:solidFill>
                          <a:latin typeface="+mn-lt"/>
                          <a:ea typeface="+mn-ea"/>
                          <a:cs typeface="Arial" panose="020B0604020202020204" pitchFamily="34" charset="0"/>
                        </a:rPr>
                        <a:t>Рахимахон</a:t>
                      </a:r>
                    </a:p>
                    <a:p>
                      <a:pPr algn="l">
                        <a:lnSpc>
                          <a:spcPct val="85000"/>
                        </a:lnSpc>
                      </a:pPr>
                      <a:r>
                        <a:rPr lang="en-US" sz="900" b="0" kern="1200" noProof="0" dirty="0" smtClean="0">
                          <a:solidFill>
                            <a:schemeClr val="tx1"/>
                          </a:solidFill>
                          <a:latin typeface="+mn-lt"/>
                          <a:ea typeface="+mn-ea"/>
                          <a:cs typeface="Arial" panose="020B0604020202020204" pitchFamily="34" charset="0"/>
                        </a:rPr>
                        <a:t>19</a:t>
                      </a:r>
                      <a:r>
                        <a:rPr lang="en-US" altLang="en-US" sz="900" b="0" kern="1200" noProof="0" dirty="0" smtClean="0">
                          <a:solidFill>
                            <a:schemeClr val="tx1"/>
                          </a:solidFill>
                          <a:latin typeface="+mn-lt"/>
                          <a:ea typeface="+mn-ea"/>
                          <a:cs typeface="Arial" panose="020B0604020202020204" pitchFamily="34" charset="0"/>
                        </a:rPr>
                        <a:t>11</a:t>
                      </a:r>
                      <a:r>
                        <a:rPr lang="en-US" sz="900" b="0" kern="1200" noProof="0" dirty="0" smtClean="0">
                          <a:solidFill>
                            <a:schemeClr val="tx1"/>
                          </a:solidFill>
                          <a:latin typeface="+mn-lt"/>
                          <a:ea typeface="+mn-ea"/>
                          <a:cs typeface="Arial" panose="020B0604020202020204" pitchFamily="34" charset="0"/>
                        </a:rPr>
                        <a:t> йил, </a:t>
                      </a:r>
                      <a:r>
                        <a:rPr lang="en-US" altLang="en-US" sz="900" noProof="0" dirty="0">
                          <a:cs typeface="Arial" panose="020B0604020202020204" pitchFamily="34" charset="0"/>
                          <a:sym typeface="+mn-ea"/>
                        </a:rPr>
                        <a:t>Ғулжа шаҳри</a:t>
                      </a:r>
                      <a:endParaRPr lang="en-US" altLang="en-US" sz="900" b="0" kern="1200" noProof="0" dirty="0">
                        <a:solidFill>
                          <a:schemeClr val="tx1"/>
                        </a:solidFill>
                        <a:latin typeface="+mn-lt"/>
                        <a:ea typeface="+mn-ea"/>
                        <a:cs typeface="Arial" panose="020B0604020202020204" pitchFamily="34" charset="0"/>
                      </a:endParaRPr>
                    </a:p>
                    <a:p>
                      <a:pPr algn="l">
                        <a:lnSpc>
                          <a:spcPct val="85000"/>
                        </a:lnSpc>
                      </a:pPr>
                      <a:endParaRPr lang="en-US"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Arial" panose="020B0604020202020204" pitchFamily="34" charset="0"/>
                        </a:rPr>
                        <a:t>1978 йил вафот этган</a:t>
                      </a:r>
                    </a:p>
                    <a:p>
                      <a:pPr algn="l">
                        <a:lnSpc>
                          <a:spcPct val="85000"/>
                        </a:lnSpc>
                      </a:pPr>
                      <a:r>
                        <a:rPr lang="en-US" altLang="en-US" sz="900" b="0" kern="1200" noProof="0" dirty="0">
                          <a:solidFill>
                            <a:schemeClr val="tx1"/>
                          </a:solidFill>
                          <a:latin typeface="+mn-lt"/>
                          <a:ea typeface="+mn-ea"/>
                          <a:cs typeface="Arial" panose="020B0604020202020204" pitchFamily="34" charset="0"/>
                        </a:rPr>
                        <a:t>(уй бекаси)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r h="547673">
                <a:tc>
                  <a:txBody>
                    <a:bodyPr/>
                    <a:lstStyle/>
                    <a:p>
                      <a:pPr algn="ctr">
                        <a:lnSpc>
                          <a:spcPct val="85000"/>
                        </a:lnSpc>
                      </a:pPr>
                      <a:r>
                        <a:rPr lang="en-US"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kern="1200" noProof="0" dirty="0" smtClean="0">
                          <a:solidFill>
                            <a:schemeClr val="tx1"/>
                          </a:solidFill>
                          <a:latin typeface="+mn-lt"/>
                          <a:ea typeface="+mn-ea"/>
                          <a:cs typeface="Arial" panose="020B0604020202020204" pitchFamily="34" charset="0"/>
                        </a:rPr>
                        <a:t>МАНСУРОВ</a:t>
                      </a:r>
                      <a:r>
                        <a:rPr lang="en-US" altLang="en-US" sz="900" b="0" kern="1200" noProof="0" dirty="0" smtClean="0">
                          <a:solidFill>
                            <a:schemeClr val="tx1"/>
                          </a:solidFill>
                          <a:latin typeface="+mn-lt"/>
                          <a:ea typeface="+mn-ea"/>
                          <a:cs typeface="Arial" panose="020B0604020202020204" pitchFamily="34" charset="0"/>
                        </a:rPr>
                        <a:t> Имяр Идрисович</a:t>
                      </a:r>
                    </a:p>
                    <a:p>
                      <a:pPr algn="l">
                        <a:lnSpc>
                          <a:spcPct val="85000"/>
                        </a:lnSpc>
                      </a:pPr>
                      <a:r>
                        <a:rPr lang="en-US" sz="900" b="0" kern="1200" noProof="0" dirty="0" smtClean="0">
                          <a:solidFill>
                            <a:schemeClr val="tx1"/>
                          </a:solidFill>
                          <a:latin typeface="+mn-lt"/>
                          <a:ea typeface="+mn-ea"/>
                          <a:cs typeface="Arial" panose="020B0604020202020204" pitchFamily="34" charset="0"/>
                        </a:rPr>
                        <a:t>19</a:t>
                      </a:r>
                      <a:r>
                        <a:rPr lang="en-US" altLang="en-US" sz="900" b="0" kern="1200" noProof="0" dirty="0" smtClean="0">
                          <a:solidFill>
                            <a:schemeClr val="tx1"/>
                          </a:solidFill>
                          <a:latin typeface="+mn-lt"/>
                          <a:ea typeface="+mn-ea"/>
                          <a:cs typeface="Arial" panose="020B0604020202020204" pitchFamily="34" charset="0"/>
                        </a:rPr>
                        <a:t>47</a:t>
                      </a:r>
                      <a:r>
                        <a:rPr lang="en-US" sz="900" b="0" kern="1200" noProof="0" dirty="0" smtClean="0">
                          <a:solidFill>
                            <a:schemeClr val="tx1"/>
                          </a:solidFill>
                          <a:latin typeface="+mn-lt"/>
                          <a:ea typeface="+mn-ea"/>
                          <a:cs typeface="Arial" panose="020B0604020202020204" pitchFamily="34" charset="0"/>
                        </a:rPr>
                        <a:t> йил, </a:t>
                      </a:r>
                      <a:r>
                        <a:rPr lang="en-US" altLang="en-US" sz="900" b="0" kern="1200" noProof="0" dirty="0" smtClean="0">
                          <a:solidFill>
                            <a:schemeClr val="tx1"/>
                          </a:solidFill>
                          <a:latin typeface="+mn-lt"/>
                          <a:ea typeface="+mn-ea"/>
                          <a:cs typeface="Arial" panose="020B0604020202020204" pitchFamily="34" charset="0"/>
                        </a:rPr>
                        <a:t>Қозоқистон Республикаси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mn-cs"/>
                        </a:rPr>
                        <a:t>пенсионер (Камолиддин Бехзод номидаги санъат институти ўқитувчиси)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2"/>
                  </a:ext>
                </a:extLst>
              </a:tr>
              <a:tr h="210203">
                <a:tc gridSpan="5">
                  <a:txBody>
                    <a:bodyPr/>
                    <a:lstStyle/>
                    <a:p>
                      <a:pPr algn="ctr">
                        <a:lnSpc>
                          <a:spcPct val="85000"/>
                        </a:lnSpc>
                      </a:pPr>
                      <a:r>
                        <a:rPr lang="en-US"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10013"/>
                  </a:ext>
                </a:extLst>
              </a:tr>
              <a:tr h="557163">
                <a:tc gridSpan="3">
                  <a:txBody>
                    <a:bodyPr/>
                    <a:lstStyle/>
                    <a:p>
                      <a:pPr algn="l">
                        <a:lnSpc>
                          <a:spcPct val="85000"/>
                        </a:lnSpc>
                      </a:pPr>
                      <a:r>
                        <a:rPr lang="en-US" sz="900" b="1" noProof="0" dirty="0">
                          <a:latin typeface="+mn-lt"/>
                        </a:rPr>
                        <a:t>Тамомлаган ОТМ:</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a:t>
                      </a:r>
                      <a:r>
                        <a:rPr lang="en-US" altLang="ru-RU" sz="900" b="0" kern="1200" noProof="0" dirty="0" smtClean="0">
                          <a:solidFill>
                            <a:schemeClr val="tx1"/>
                          </a:solidFill>
                          <a:latin typeface="+mn-lt"/>
                          <a:ea typeface="+mn-ea"/>
                          <a:cs typeface="+mn-cs"/>
                        </a:rPr>
                        <a:t>4</a:t>
                      </a:r>
                      <a:r>
                        <a:rPr lang="ru-RU" sz="900" b="0" kern="1200" noProof="0" dirty="0" smtClean="0">
                          <a:solidFill>
                            <a:schemeClr val="tx1"/>
                          </a:solidFill>
                          <a:latin typeface="+mn-lt"/>
                          <a:ea typeface="+mn-ea"/>
                          <a:cs typeface="+mn-cs"/>
                        </a:rPr>
                        <a:t> й.</a:t>
                      </a:r>
                      <a:r>
                        <a:rPr lang="en-US" altLang="en-US" sz="900" b="0" kern="1200" noProof="0" dirty="0" smtClean="0">
                          <a:solidFill>
                            <a:schemeClr val="tx1"/>
                          </a:solidFill>
                          <a:latin typeface="+mn-lt"/>
                          <a:ea typeface="+mn-ea"/>
                          <a:cs typeface="+mn-cs"/>
                        </a:rPr>
                        <a:t>Тошкент театр ва рассомлик 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4"/>
                  </a:ext>
                </a:extLst>
              </a:tr>
              <a:tr h="276682">
                <a:tc gridSpan="3">
                  <a:txBody>
                    <a:bodyPr/>
                    <a:lstStyle/>
                    <a:p>
                      <a:pPr marL="0" marR="0" lvl="0" indent="0" algn="l" defTabSz="914400" rtl="0" eaLnBrk="1" fontAlgn="auto" latinLnBrk="0" hangingPunct="1">
                        <a:lnSpc>
                          <a:spcPct val="85000"/>
                        </a:lnSpc>
                        <a:spcBef>
                          <a:spcPts val="0"/>
                        </a:spcBef>
                        <a:spcAft>
                          <a:spcPts val="0"/>
                        </a:spcAft>
                        <a:buClrTx/>
                        <a:buSzTx/>
                        <a:buFontTx/>
                        <a:buNone/>
                        <a:defRPr/>
                      </a:pPr>
                      <a:r>
                        <a:rPr lang="en-US" sz="900" b="1" noProof="0" dirty="0">
                          <a:latin typeface="+mn-lt"/>
                        </a:rPr>
                        <a:t>Мутахассислиги:</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altLang="en-US" sz="900" b="0" kern="1200" noProof="0" dirty="0">
                          <a:solidFill>
                            <a:schemeClr val="tx1"/>
                          </a:solidFill>
                          <a:latin typeface="+mn-lt"/>
                          <a:ea typeface="+mn-ea"/>
                          <a:cs typeface="+mn-cs"/>
                        </a:rPr>
                        <a:t>драма театр ва кино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5"/>
                  </a:ext>
                </a:extLst>
              </a:tr>
              <a:tr h="315936">
                <a:tc gridSpan="3">
                  <a:txBody>
                    <a:bodyPr/>
                    <a:lstStyle/>
                    <a:p>
                      <a:pPr algn="l">
                        <a:lnSpc>
                          <a:spcPct val="85000"/>
                        </a:lnSpc>
                      </a:pPr>
                      <a:r>
                        <a:rPr lang="en-US" sz="900" b="1" kern="1200" noProof="0" dirty="0">
                          <a:solidFill>
                            <a:schemeClr val="tx1"/>
                          </a:solidFill>
                          <a:latin typeface="+mn-lt"/>
                          <a:ea typeface="+mn-ea"/>
                          <a:cs typeface="+mn-cs"/>
                        </a:rPr>
                        <a:t>Илмий даража (унвон):</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6"/>
                  </a:ext>
                </a:extLst>
              </a:tr>
              <a:tr h="315936">
                <a:tc gridSpan="3">
                  <a:txBody>
                    <a:bodyPr/>
                    <a:lstStyle/>
                    <a:p>
                      <a:pPr algn="l">
                        <a:lnSpc>
                          <a:spcPct val="85000"/>
                        </a:lnSpc>
                      </a:pPr>
                      <a:r>
                        <a:rPr lang="en-US"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7"/>
                  </a:ext>
                </a:extLst>
              </a:tr>
              <a:tr h="311911">
                <a:tc gridSpan="3">
                  <a:txBody>
                    <a:bodyPr/>
                    <a:lstStyle/>
                    <a:p>
                      <a:pPr algn="l">
                        <a:lnSpc>
                          <a:spcPct val="85000"/>
                        </a:lnSpc>
                      </a:pPr>
                      <a:r>
                        <a:rPr lang="en-US"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8"/>
                  </a:ext>
                </a:extLst>
              </a:tr>
            </a:tbl>
          </a:graphicData>
        </a:graphic>
      </p:graphicFrame>
      <p:graphicFrame>
        <p:nvGraphicFramePr>
          <p:cNvPr id="5" name="Таблица 4"/>
          <p:cNvGraphicFramePr>
            <a:graphicFrameLocks noGrp="1"/>
          </p:cNvGraphicFramePr>
          <p:nvPr>
            <p:extLst>
              <p:ext uri="{D42A27DB-BD31-4B8C-83A1-F6EECF244321}">
                <p14:modId xmlns:p14="http://schemas.microsoft.com/office/powerpoint/2010/main" val="2480217833"/>
              </p:ext>
            </p:extLst>
          </p:nvPr>
        </p:nvGraphicFramePr>
        <p:xfrm>
          <a:off x="3572510" y="865506"/>
          <a:ext cx="3288030" cy="5933569"/>
        </p:xfrm>
        <a:graphic>
          <a:graphicData uri="http://schemas.openxmlformats.org/drawingml/2006/table">
            <a:tbl>
              <a:tblPr firstRow="1" bandRow="1">
                <a:tableStyleId>{C083E6E3-FA7D-4D7B-A595-EF9225AFEA82}</a:tableStyleId>
              </a:tblPr>
              <a:tblGrid>
                <a:gridCol w="1558925">
                  <a:extLst>
                    <a:ext uri="{9D8B030D-6E8A-4147-A177-3AD203B41FA5}">
                      <a16:colId xmlns:a16="http://schemas.microsoft.com/office/drawing/2014/main" val="20000"/>
                    </a:ext>
                  </a:extLst>
                </a:gridCol>
                <a:gridCol w="1729105">
                  <a:extLst>
                    <a:ext uri="{9D8B030D-6E8A-4147-A177-3AD203B41FA5}">
                      <a16:colId xmlns:a16="http://schemas.microsoft.com/office/drawing/2014/main" val="20001"/>
                    </a:ext>
                  </a:extLst>
                </a:gridCol>
              </a:tblGrid>
              <a:tr h="325449">
                <a:tc gridSpan="2">
                  <a:txBody>
                    <a:bodyPr/>
                    <a:lstStyle/>
                    <a:p>
                      <a:pPr algn="ctr"/>
                      <a:r>
                        <a:rPr lang="en-US"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560550">
                <a:tc>
                  <a:txBody>
                    <a:bodyPr/>
                    <a:lstStyle/>
                    <a:p>
                      <a:pPr algn="l">
                        <a:lnSpc>
                          <a:spcPct val="85000"/>
                        </a:lnSpc>
                      </a:pPr>
                      <a:r>
                        <a:rPr lang="en-US" sz="900" b="1" i="0" noProof="0" dirty="0">
                          <a:solidFill>
                            <a:schemeClr val="tx1"/>
                          </a:solidFill>
                          <a:latin typeface="+mn-lt"/>
                        </a:rPr>
                        <a:t>Эгаллаб турган </a:t>
                      </a:r>
                      <a:r>
                        <a:rPr lang="en-US" sz="900" b="1" i="0" noProof="0" dirty="0" smtClean="0">
                          <a:solidFill>
                            <a:schemeClr val="tx1"/>
                          </a:solidFill>
                          <a:latin typeface="+mn-lt"/>
                        </a:rPr>
                        <a:t>лавозими</a:t>
                      </a:r>
                      <a:r>
                        <a:rPr lang="en-US"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en-US" sz="900" b="1" kern="1200" noProof="0" dirty="0" smtClean="0">
                          <a:solidFill>
                            <a:schemeClr val="tx1"/>
                          </a:solidFill>
                          <a:latin typeface="+mn-lt"/>
                          <a:ea typeface="+mn-ea"/>
                          <a:cs typeface="+mn-cs"/>
                        </a:rPr>
                        <a:t>20</a:t>
                      </a:r>
                      <a:r>
                        <a:rPr lang="en-US" altLang="en-US" sz="900" b="1" kern="1200" noProof="0" dirty="0" smtClean="0">
                          <a:solidFill>
                            <a:schemeClr val="tx1"/>
                          </a:solidFill>
                          <a:latin typeface="+mn-lt"/>
                          <a:ea typeface="+mn-ea"/>
                          <a:cs typeface="+mn-cs"/>
                        </a:rPr>
                        <a:t>11</a:t>
                      </a:r>
                      <a:r>
                        <a:rPr lang="en-US" sz="900" b="1" kern="1200" noProof="0" dirty="0" smtClean="0">
                          <a:solidFill>
                            <a:schemeClr val="tx1"/>
                          </a:solidFill>
                          <a:latin typeface="+mn-lt"/>
                          <a:ea typeface="+mn-ea"/>
                          <a:cs typeface="+mn-cs"/>
                        </a:rPr>
                        <a:t> йилдан буён </a:t>
                      </a:r>
                      <a:r>
                        <a:rPr lang="en-US" altLang="en-US" sz="900" b="1" kern="1200" noProof="0" dirty="0" smtClean="0">
                          <a:solidFill>
                            <a:schemeClr val="tx1"/>
                          </a:solidFill>
                          <a:latin typeface="+mn-lt"/>
                          <a:ea typeface="+mn-ea"/>
                          <a:cs typeface="+mn-cs"/>
                        </a:rPr>
                        <a:t>Ўзбекистон давлат ёш томошабинлар театри етакчи сахна устаси артисти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41921">
                <a:tc>
                  <a:txBody>
                    <a:bodyPr/>
                    <a:lstStyle/>
                    <a:p>
                      <a:pPr algn="l">
                        <a:lnSpc>
                          <a:spcPct val="85000"/>
                        </a:lnSpc>
                      </a:pPr>
                      <a:r>
                        <a:rPr lang="en-US"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en-US"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en-US"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09129">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b="0" noProof="0" dirty="0" smtClean="0">
                          <a:effectLst/>
                          <a:latin typeface="+mn-lt"/>
                          <a:ea typeface="Calibri" panose="020F0502020204030204" pitchFamily="34" charset="0"/>
                          <a:cs typeface="Times New Roman" panose="02020603050405020304" pitchFamily="18" charset="0"/>
                        </a:rPr>
                        <a:t>50</a:t>
                      </a:r>
                      <a:r>
                        <a:rPr lang="en-US" sz="900" b="0" noProof="0" dirty="0" smtClean="0">
                          <a:effectLst/>
                          <a:latin typeface="+mn-lt"/>
                          <a:ea typeface="Calibri" panose="020F0502020204030204" pitchFamily="34" charset="0"/>
                          <a:cs typeface="Times New Roman" panose="02020603050405020304" pitchFamily="18" charset="0"/>
                        </a:rPr>
                        <a:t> </a:t>
                      </a:r>
                      <a:r>
                        <a:rPr lang="en-US"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94898">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b="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403408">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en-US"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297032">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904501">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20</a:t>
                      </a:r>
                      <a:r>
                        <a:rPr lang="en-US" altLang="en-US" sz="900" kern="1200" noProof="0" dirty="0" smtClean="0">
                          <a:solidFill>
                            <a:schemeClr val="tx1"/>
                          </a:solidFill>
                          <a:effectLst/>
                          <a:latin typeface="+mn-lt"/>
                          <a:ea typeface="Calibri" panose="020F0502020204030204" pitchFamily="34" charset="0"/>
                          <a:cs typeface="Times New Roman" panose="02020603050405020304" pitchFamily="18" charset="0"/>
                        </a:rPr>
                        <a:t>26</a:t>
                      </a: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 й. </a:t>
                      </a:r>
                      <a:r>
                        <a:rPr lang="en-US" altLang="en-US" sz="900" kern="1200" noProof="0" dirty="0">
                          <a:solidFill>
                            <a:schemeClr val="tx1"/>
                          </a:solidFill>
                          <a:effectLst/>
                          <a:latin typeface="+mn-lt"/>
                          <a:ea typeface="Calibri" panose="020F0502020204030204" pitchFamily="34" charset="0"/>
                          <a:cs typeface="Times New Roman" panose="02020603050405020304" pitchFamily="18" charset="0"/>
                        </a:rPr>
                        <a:t>Ўзбекистон Республикаси Президенти Администратсияси ҳузуридаги тиббиёт бош бошқармасининг 2-сонли марказий клиник шифохонаси</a:t>
                      </a:r>
                      <a:endParaRPr lang="en-US" altLang="ru-RU"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297032">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kern="1200" noProof="0" dirty="0" smtClean="0">
                          <a:solidFill>
                            <a:schemeClr val="tx1"/>
                          </a:solidFill>
                          <a:effectLst/>
                          <a:latin typeface="+mn-lt"/>
                          <a:ea typeface="Calibri" panose="020F0502020204030204" pitchFamily="34" charset="0"/>
                          <a:cs typeface="Times New Roman" panose="02020603050405020304" pitchFamily="18" charset="0"/>
                        </a:rPr>
                        <a:t>2025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8"/>
                  </a:ext>
                </a:extLst>
              </a:tr>
              <a:tr h="256152">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225216">
                <a:tc gridSpan="2">
                  <a:txBody>
                    <a:bodyPr/>
                    <a:lstStyle/>
                    <a:p>
                      <a:pPr algn="ctr"/>
                      <a:r>
                        <a:rPr lang="en-US"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2018281">
                <a:tc gridSpan="2">
                  <a:txBody>
                    <a:bodyPr/>
                    <a:lstStyle/>
                    <a:p>
                      <a:pPr marL="0" marR="0" indent="0" algn="just" defTabSz="914400" rtl="0" eaLnBrk="1" fontAlgn="auto" latinLnBrk="0" hangingPunct="1">
                        <a:lnSpc>
                          <a:spcPct val="107000"/>
                        </a:lnSpc>
                        <a:spcBef>
                          <a:spcPts val="0"/>
                        </a:spcBef>
                        <a:spcAft>
                          <a:spcPts val="0"/>
                        </a:spcAft>
                        <a:buClrTx/>
                        <a:buSzTx/>
                        <a:buFontTx/>
                        <a:buNone/>
                        <a:defRPr/>
                      </a:pPr>
                      <a:r>
                        <a:rPr lang="en-US" altLang="en-US" sz="900" noProof="0" dirty="0" smtClean="0">
                          <a:effectLst/>
                          <a:latin typeface="+mn-lt"/>
                          <a:ea typeface="Calibri" panose="020F0502020204030204" pitchFamily="34" charset="0"/>
                          <a:cs typeface="Times New Roman" panose="02020603050405020304" pitchFamily="18" charset="0"/>
                        </a:rPr>
                        <a:t>2004</a:t>
                      </a:r>
                      <a:r>
                        <a:rPr lang="en-US" sz="900" noProof="0" dirty="0" smtClean="0">
                          <a:effectLst/>
                          <a:latin typeface="+mn-lt"/>
                          <a:ea typeface="Calibri" panose="020F0502020204030204" pitchFamily="34" charset="0"/>
                          <a:cs typeface="Times New Roman" panose="02020603050405020304" pitchFamily="18" charset="0"/>
                        </a:rPr>
                        <a:t>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defRPr/>
                      </a:pPr>
                      <a:endParaRPr lang="en-US"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endParaRPr lang="ru-RU"/>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bl>
          </a:graphicData>
        </a:graphic>
      </p:graphicFrame>
      <p:graphicFrame>
        <p:nvGraphicFramePr>
          <p:cNvPr id="6" name="Таблица 5"/>
          <p:cNvGraphicFramePr>
            <a:graphicFrameLocks noGrp="1"/>
          </p:cNvGraphicFramePr>
          <p:nvPr>
            <p:extLst>
              <p:ext uri="{D42A27DB-BD31-4B8C-83A1-F6EECF244321}">
                <p14:modId xmlns:p14="http://schemas.microsoft.com/office/powerpoint/2010/main" val="1677662568"/>
              </p:ext>
            </p:extLst>
          </p:nvPr>
        </p:nvGraphicFramePr>
        <p:xfrm>
          <a:off x="6949857" y="869286"/>
          <a:ext cx="2817247" cy="5929788"/>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0000"/>
                    </a:ext>
                  </a:extLst>
                </a:gridCol>
              </a:tblGrid>
              <a:tr h="277628">
                <a:tc>
                  <a:txBody>
                    <a:bodyPr/>
                    <a:lstStyle/>
                    <a:p>
                      <a:pPr algn="ctr">
                        <a:lnSpc>
                          <a:spcPct val="85000"/>
                        </a:lnSpc>
                      </a:pPr>
                      <a:r>
                        <a:rPr lang="en-US" sz="1200" b="1" noProof="0" dirty="0" smtClean="0">
                          <a:solidFill>
                            <a:schemeClr val="bg1"/>
                          </a:solidFill>
                          <a:latin typeface="Bahnschrift SemiBold" panose="020B0502040204020203" pitchFamily="34" charset="0"/>
                        </a:rPr>
                        <a:t>ФАОЛИЯТИ</a:t>
                      </a:r>
                      <a:r>
                        <a:rPr lang="en-US" sz="1200" b="1" baseline="0" noProof="0" dirty="0" smtClean="0">
                          <a:solidFill>
                            <a:schemeClr val="bg1"/>
                          </a:solidFill>
                          <a:latin typeface="Bahnschrift SemiBold" panose="020B0502040204020203" pitchFamily="34" charset="0"/>
                        </a:rPr>
                        <a:t> </a:t>
                      </a:r>
                      <a:endParaRPr lang="en-US"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10000"/>
                  </a:ext>
                </a:extLst>
              </a:tr>
              <a:tr h="349474">
                <a:tc>
                  <a:txBody>
                    <a:bodyPr/>
                    <a:lstStyle/>
                    <a:p>
                      <a:pPr algn="ctr">
                        <a:lnSpc>
                          <a:spcPct val="85000"/>
                        </a:lnSpc>
                      </a:pPr>
                      <a:r>
                        <a:rPr lang="en-US" sz="1000" b="1" noProof="0" dirty="0" smtClean="0">
                          <a:solidFill>
                            <a:schemeClr val="bg1"/>
                          </a:solidFill>
                          <a:latin typeface="Bahnschrift SemiBold" panose="020B0502040204020203" pitchFamily="34" charset="0"/>
                        </a:rPr>
                        <a:t>Меҳнат фаолияти ҳақида</a:t>
                      </a:r>
                      <a:r>
                        <a:rPr lang="en-US" sz="1000" b="1" baseline="0" noProof="0" dirty="0" smtClean="0">
                          <a:solidFill>
                            <a:schemeClr val="bg1"/>
                          </a:solidFill>
                          <a:latin typeface="Bahnschrift SemiBold" panose="020B0502040204020203" pitchFamily="34" charset="0"/>
                        </a:rPr>
                        <a:t> қисқача тавсифнома</a:t>
                      </a:r>
                      <a:endParaRPr lang="en-US"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10001"/>
                  </a:ext>
                </a:extLst>
              </a:tr>
              <a:tr h="4314610">
                <a:tc>
                  <a:txBody>
                    <a:bodyPr/>
                    <a:lstStyle/>
                    <a:p>
                      <a:pPr algn="just">
                        <a:lnSpc>
                          <a:spcPct val="85000"/>
                        </a:lnSpc>
                      </a:pPr>
                      <a:r>
                        <a:rPr lang="ru-RU" altLang="en-US" sz="900" b="0" baseline="0" noProof="0" dirty="0" smtClean="0">
                          <a:solidFill>
                            <a:schemeClr val="tx1"/>
                          </a:solidFill>
                          <a:latin typeface="+mn-lt"/>
                        </a:rPr>
                        <a:t>    </a:t>
                      </a:r>
                      <a:r>
                        <a:rPr lang="en-US" altLang="en-US" sz="900" b="0" noProof="0" dirty="0" smtClean="0">
                          <a:solidFill>
                            <a:schemeClr val="tx1"/>
                          </a:solidFill>
                          <a:latin typeface="+mn-lt"/>
                        </a:rPr>
                        <a:t>Ш</a:t>
                      </a:r>
                      <a:r>
                        <a:rPr lang="en-US" altLang="en-US" sz="900" b="0" noProof="0" dirty="0">
                          <a:solidFill>
                            <a:schemeClr val="tx1"/>
                          </a:solidFill>
                          <a:latin typeface="+mn-lt"/>
                        </a:rPr>
                        <a:t>. Мансурова театр саҳнасида серқирра ва юксак маҳорат соҳиби сифатида кўплаб спектаклларда турли образларни яратиб келмоқда. Жумладан, у “Уч мушкетер”да Миледи, “Титроқ дум”да Мушукой, “Чиранчоқ қуёнча”да Қуёнча, “Кеча ва кундуз”да Ҳадичабегим, “Борса келмас…”да Эльф, “Алпомиш”да Алпомишнинг онаси ва Бодомбекач, “Қорақум фожеаси”да Шамол, “Қизил шапкача”да Тулки ва Буви, “Минг бир кеча”да Она ва Шаҳризод, “Сенинг тақдиринг”да Ш.Муродова, “Чўпқўғирчоқ”да Каламушой, “Қорин Ботир”да Тулкинисо, “Учар табиб”да Холавачча, “Жўжаларим”да Тулкихон, “Асорат”да Хадича, “От кишнаган оқшом”да қўшни, “Олтин жўжа”да Тулкибону, “Меҳр кўп кўргиздим”да врач, “Гўзалликка шайдоман”да Лайло, “Заҳарли томчилар”да ўқитувчи, “Кичкина деманг бизни”да Бека, “Маликани ким қутқаради”да Хотирабону, “Сирли сандиқ”да Қиммат, “Ўз ёрингдан айрилма”да жанжалкаш аёл, “Сеҳрли дур”да Масҳарабоз, “Дискотека”да Дилбар, “Ҳалфана”да Масҳарабоз, “Қор маликаси”да Қор маликаси, гулчи аёл, буви ва фин аёли, “Оловиддиннинг сеҳрли чироғи”да она, “Зумрад ва Қиммат”да ўга она, “Олтин балиқ”да оқсоч, “Қовоқвой ва Чаноқвой”да Қовоқ хола, “Менинг ўрдакчам”да испан ўрдаги, “Зумраднинг янги саргузаштлари”да она, “Ўрмон машмашаси”да жодугар, “Ҳаллолик тилаб келдим”да она ва шайтон, “Ҳаёт япроғи”да гўзал аёл, “Борса келмас”да Элъор, “Оқ бўри”да она бўри, “Ваня Крутов”да Газанда, “Залолат”да Ойшабиби каби қатор образларни юксак маҳорат билан </a:t>
                      </a:r>
                      <a:r>
                        <a:rPr lang="en-US" altLang="en-US" sz="900" b="0" noProof="0" dirty="0" err="1">
                          <a:solidFill>
                            <a:schemeClr val="tx1"/>
                          </a:solidFill>
                          <a:latin typeface="+mn-lt"/>
                        </a:rPr>
                        <a:t>ижро</a:t>
                      </a:r>
                      <a:r>
                        <a:rPr lang="en-US" altLang="en-US" sz="900" b="0" noProof="0" dirty="0">
                          <a:solidFill>
                            <a:schemeClr val="tx1"/>
                          </a:solidFill>
                          <a:latin typeface="+mn-lt"/>
                        </a:rPr>
                        <a:t> </a:t>
                      </a:r>
                      <a:r>
                        <a:rPr lang="en-US" altLang="en-US" sz="900" b="0" noProof="0" dirty="0" err="1" smtClean="0">
                          <a:solidFill>
                            <a:schemeClr val="tx1"/>
                          </a:solidFill>
                          <a:latin typeface="+mn-lt"/>
                        </a:rPr>
                        <a:t>этган</a:t>
                      </a:r>
                      <a:r>
                        <a:rPr lang="en-US" altLang="en-US" sz="900" b="0" noProof="0" dirty="0" smtClean="0">
                          <a:solidFill>
                            <a:schemeClr val="tx1"/>
                          </a:solidFill>
                          <a:latin typeface="+mn-lt"/>
                        </a:rPr>
                        <a:t>.</a:t>
                      </a:r>
                      <a:endParaRPr lang="ru-RU" altLang="en-US" sz="900" b="0" noProof="0" dirty="0" smtClean="0">
                        <a:solidFill>
                          <a:schemeClr val="tx1"/>
                        </a:solidFill>
                        <a:latin typeface="+mn-lt"/>
                      </a:endParaRPr>
                    </a:p>
                    <a:p>
                      <a:pPr algn="just">
                        <a:lnSpc>
                          <a:spcPct val="85000"/>
                        </a:lnSpc>
                      </a:pPr>
                      <a:r>
                        <a:rPr lang="ru-RU" altLang="en-US" sz="900" b="0" baseline="0" noProof="0" dirty="0" smtClean="0">
                          <a:solidFill>
                            <a:schemeClr val="tx1"/>
                          </a:solidFill>
                          <a:latin typeface="+mn-lt"/>
                        </a:rPr>
                        <a:t>        </a:t>
                      </a:r>
                      <a:r>
                        <a:rPr lang="en-US" altLang="en-US" sz="900" b="0" noProof="0" dirty="0" err="1" smtClean="0">
                          <a:solidFill>
                            <a:schemeClr val="tx1"/>
                          </a:solidFill>
                          <a:latin typeface="+mn-lt"/>
                        </a:rPr>
                        <a:t>Мазкур</a:t>
                      </a:r>
                      <a:r>
                        <a:rPr lang="en-US" altLang="en-US" sz="900" b="0" noProof="0" dirty="0" smtClean="0">
                          <a:solidFill>
                            <a:schemeClr val="tx1"/>
                          </a:solidFill>
                          <a:latin typeface="+mn-lt"/>
                        </a:rPr>
                        <a:t> </a:t>
                      </a:r>
                      <a:r>
                        <a:rPr lang="en-US" altLang="en-US" sz="900" b="0" noProof="0" dirty="0">
                          <a:solidFill>
                            <a:schemeClr val="tx1"/>
                          </a:solidFill>
                          <a:latin typeface="+mn-lt"/>
                        </a:rPr>
                        <a:t>роллар актрисанинг турли жанрларда — драматик, комедиявий ва эртак-намо спектаклларда бирдек муваффақиятли ижод қила олишини, ҳар бир образга ўзига хос характер ва мазмун бағишлаш қобилиятини яққол намоён этади.</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0002"/>
                  </a:ext>
                </a:extLst>
              </a:tr>
              <a:tr h="172486">
                <a:tc>
                  <a:txBody>
                    <a:bodyPr/>
                    <a:lstStyle/>
                    <a:p>
                      <a:pPr marL="0" marR="0" lvl="0" indent="0" algn="ctr" defTabSz="914400" rtl="0" eaLnBrk="1" fontAlgn="auto" latinLnBrk="0" hangingPunct="1">
                        <a:lnSpc>
                          <a:spcPct val="107000"/>
                        </a:lnSpc>
                        <a:spcBef>
                          <a:spcPts val="0"/>
                        </a:spcBef>
                        <a:spcAft>
                          <a:spcPts val="0"/>
                        </a:spcAft>
                        <a:buClrTx/>
                        <a:buSzTx/>
                        <a:buFontTx/>
                        <a:buNone/>
                        <a:defRPr/>
                      </a:pPr>
                      <a:r>
                        <a:rPr lang="en-US"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10003"/>
                  </a:ext>
                </a:extLst>
              </a:tr>
              <a:tr h="815590">
                <a:tc>
                  <a:txBody>
                    <a:bodyPr/>
                    <a:lstStyle/>
                    <a:p>
                      <a:pPr marL="0" marR="0" lvl="0" indent="0" algn="just" defTabSz="914400" rtl="0" eaLnBrk="1" fontAlgn="auto" latinLnBrk="0" hangingPunct="1">
                        <a:lnSpc>
                          <a:spcPct val="107000"/>
                        </a:lnSpc>
                        <a:spcBef>
                          <a:spcPts val="0"/>
                        </a:spcBef>
                        <a:spcAft>
                          <a:spcPts val="0"/>
                        </a:spcAft>
                        <a:buClrTx/>
                        <a:buSzTx/>
                        <a:buFontTx/>
                        <a:buNone/>
                        <a:defRPr/>
                      </a:pPr>
                      <a:r>
                        <a:rPr lang="ru-RU" sz="900" b="0" dirty="0" smtClean="0">
                          <a:effectLst/>
                          <a:latin typeface="+mn-lt"/>
                          <a:ea typeface="Calibri" panose="020F0502020204030204" pitchFamily="34" charset="0"/>
                          <a:cs typeface="Times New Roman" panose="02020603050405020304" pitchFamily="18" charset="0"/>
                        </a:rPr>
                        <a:t>    </a:t>
                      </a:r>
                      <a:r>
                        <a:rPr lang="en-US" sz="900" b="0" dirty="0" err="1" smtClean="0">
                          <a:effectLst/>
                          <a:latin typeface="+mn-lt"/>
                          <a:ea typeface="Calibri" panose="020F0502020204030204" pitchFamily="34" charset="0"/>
                          <a:cs typeface="Times New Roman" panose="02020603050405020304" pitchFamily="18" charset="0"/>
                        </a:rPr>
                        <a:t>Республикамизда</a:t>
                      </a:r>
                      <a:r>
                        <a:rPr lang="en-US"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bl>
          </a:graphicData>
        </a:graphic>
      </p:graphicFrame>
      <p:pic>
        <p:nvPicPr>
          <p:cNvPr id="11" name="Изображение 1073742853" descr="Шамшикамар опа"/>
          <p:cNvPicPr>
            <a:picLocks noChangeAspect="1"/>
          </p:cNvPicPr>
          <p:nvPr/>
        </p:nvPicPr>
        <p:blipFill>
          <a:blip r:embed="rId2"/>
          <a:srcRect r="7080" b="-1987"/>
          <a:stretch>
            <a:fillRect/>
          </a:stretch>
        </p:blipFill>
        <p:spPr>
          <a:xfrm>
            <a:off x="274319" y="1146175"/>
            <a:ext cx="819035" cy="1069340"/>
          </a:xfrm>
          <a:prstGeom prst="rect">
            <a:avLst/>
          </a:prstGeom>
          <a:noFill/>
          <a:ln w="9525">
            <a:noFill/>
          </a:ln>
        </p:spPr>
      </p:pic>
    </p:spTree>
    <p:extLst>
      <p:ext uri="{BB962C8B-B14F-4D97-AF65-F5344CB8AC3E}">
        <p14:creationId xmlns:p14="http://schemas.microsoft.com/office/powerpoint/2010/main" val="1696822851"/>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002060"/>
                </a:solidFill>
                <a:latin typeface="Bahnschrift SemiBold" panose="020B0502040204020203" pitchFamily="34" charset="0"/>
              </a:rPr>
              <a:t>ПОРТФОЛИО</a:t>
            </a:r>
            <a:endParaRPr lang="en-US" b="1" dirty="0">
              <a:solidFill>
                <a:srgbClr val="002060"/>
              </a:solidFill>
              <a:latin typeface="Bahnschrift SemiBold" panose="020B0502040204020203" pitchFamily="34" charset="0"/>
            </a:endParaRPr>
          </a:p>
        </p:txBody>
      </p:sp>
      <p:sp>
        <p:nvSpPr>
          <p:cNvPr id="3" name="Прямоугольник 2"/>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altLang="en-US" sz="1600" b="1" dirty="0" smtClean="0">
                <a:solidFill>
                  <a:srgbClr val="002060"/>
                </a:solidFill>
                <a:latin typeface="Bahnschrift SemiBold" panose="020B0502040204020203" pitchFamily="34" charset="0"/>
              </a:rPr>
              <a:t>ТЕАТР ВА ЦИРК ЙЎНАЛИШИ СОҲА ВАКИЛЛАРИ</a:t>
            </a:r>
            <a:endParaRPr lang="en-US" sz="1200" b="1" dirty="0">
              <a:solidFill>
                <a:srgbClr val="002060"/>
              </a:solidFill>
              <a:latin typeface="Bahnschrift SemiBold" panose="020B0502040204020203" pitchFamily="34" charset="0"/>
            </a:endParaRPr>
          </a:p>
        </p:txBody>
      </p:sp>
      <p:graphicFrame>
        <p:nvGraphicFramePr>
          <p:cNvPr id="4" name="Таблица 3"/>
          <p:cNvGraphicFramePr>
            <a:graphicFrameLocks noGrp="1"/>
          </p:cNvGraphicFramePr>
          <p:nvPr>
            <p:extLst>
              <p:ext uri="{D42A27DB-BD31-4B8C-83A1-F6EECF244321}">
                <p14:modId xmlns:p14="http://schemas.microsoft.com/office/powerpoint/2010/main" val="4227145586"/>
              </p:ext>
            </p:extLst>
          </p:nvPr>
        </p:nvGraphicFramePr>
        <p:xfrm>
          <a:off x="144780" y="865505"/>
          <a:ext cx="3427730" cy="5867803"/>
        </p:xfrm>
        <a:graphic>
          <a:graphicData uri="http://schemas.openxmlformats.org/drawingml/2006/table">
            <a:tbl>
              <a:tblPr firstRow="1" bandRow="1">
                <a:tableStyleId>{C083E6E3-FA7D-4D7B-A595-EF9225AFEA82}</a:tableStyleId>
              </a:tblPr>
              <a:tblGrid>
                <a:gridCol w="603250">
                  <a:extLst>
                    <a:ext uri="{9D8B030D-6E8A-4147-A177-3AD203B41FA5}">
                      <a16:colId xmlns:a16="http://schemas.microsoft.com/office/drawing/2014/main" val="20000"/>
                    </a:ext>
                  </a:extLst>
                </a:gridCol>
                <a:gridCol w="495300">
                  <a:extLst>
                    <a:ext uri="{9D8B030D-6E8A-4147-A177-3AD203B41FA5}">
                      <a16:colId xmlns:a16="http://schemas.microsoft.com/office/drawing/2014/main" val="20001"/>
                    </a:ext>
                  </a:extLst>
                </a:gridCol>
                <a:gridCol w="153670">
                  <a:extLst>
                    <a:ext uri="{9D8B030D-6E8A-4147-A177-3AD203B41FA5}">
                      <a16:colId xmlns:a16="http://schemas.microsoft.com/office/drawing/2014/main" val="20002"/>
                    </a:ext>
                  </a:extLst>
                </a:gridCol>
                <a:gridCol w="909955">
                  <a:extLst>
                    <a:ext uri="{9D8B030D-6E8A-4147-A177-3AD203B41FA5}">
                      <a16:colId xmlns:a16="http://schemas.microsoft.com/office/drawing/2014/main" val="20003"/>
                    </a:ext>
                  </a:extLst>
                </a:gridCol>
                <a:gridCol w="1265555">
                  <a:extLst>
                    <a:ext uri="{9D8B030D-6E8A-4147-A177-3AD203B41FA5}">
                      <a16:colId xmlns:a16="http://schemas.microsoft.com/office/drawing/2014/main" val="20004"/>
                    </a:ext>
                  </a:extLst>
                </a:gridCol>
              </a:tblGrid>
              <a:tr h="241233">
                <a:tc gridSpan="5">
                  <a:txBody>
                    <a:bodyPr/>
                    <a:lstStyle/>
                    <a:p>
                      <a:pPr marL="0" marR="0" lvl="0" indent="0" algn="ctr" defTabSz="914400" rtl="0" eaLnBrk="1" fontAlgn="auto" latinLnBrk="0" hangingPunct="1">
                        <a:lnSpc>
                          <a:spcPct val="90000"/>
                        </a:lnSpc>
                        <a:spcBef>
                          <a:spcPts val="0"/>
                        </a:spcBef>
                        <a:spcAft>
                          <a:spcPts val="0"/>
                        </a:spcAft>
                        <a:buClrTx/>
                        <a:buSzTx/>
                        <a:buFontTx/>
                        <a:buNone/>
                        <a:defRPr/>
                      </a:pPr>
                      <a:r>
                        <a:rPr lang="en-US"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18858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en-US"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en-US" altLang="en-US" sz="900" b="0" kern="1200" dirty="0" smtClean="0">
                          <a:solidFill>
                            <a:schemeClr val="tx1"/>
                          </a:solidFill>
                          <a:latin typeface="+mn-lt"/>
                          <a:ea typeface="+mn-ea"/>
                          <a:cs typeface="+mn-cs"/>
                        </a:rPr>
                        <a:t>НИШОНОВ</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188588">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en-US"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Баходир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188588">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Исанович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8858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en-US"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en-US"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188588">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ru-RU" sz="800" b="0" kern="1200" dirty="0" smtClean="0">
                          <a:solidFill>
                            <a:schemeClr val="tx1"/>
                          </a:solidFill>
                          <a:latin typeface="+mn-lt"/>
                          <a:ea typeface="+mn-ea"/>
                          <a:cs typeface="+mn-cs"/>
                        </a:rPr>
                        <a:t>1</a:t>
                      </a:r>
                      <a:r>
                        <a:rPr lang="ru-RU" sz="800" b="0" kern="1200" dirty="0" smtClean="0">
                          <a:solidFill>
                            <a:schemeClr val="tx1"/>
                          </a:solidFill>
                          <a:latin typeface="+mn-lt"/>
                          <a:ea typeface="+mn-ea"/>
                          <a:cs typeface="+mn-cs"/>
                        </a:rPr>
                        <a:t>6.0</a:t>
                      </a:r>
                      <a:r>
                        <a:rPr lang="en-US" altLang="ru-RU" sz="800" b="0" kern="1200" dirty="0" smtClean="0">
                          <a:solidFill>
                            <a:schemeClr val="tx1"/>
                          </a:solidFill>
                          <a:latin typeface="+mn-lt"/>
                          <a:ea typeface="+mn-ea"/>
                          <a:cs typeface="+mn-cs"/>
                        </a:rPr>
                        <a:t>6</a:t>
                      </a:r>
                      <a:r>
                        <a:rPr lang="ru-RU" sz="800" b="0" kern="1200" dirty="0" smtClean="0">
                          <a:solidFill>
                            <a:schemeClr val="tx1"/>
                          </a:solidFill>
                          <a:latin typeface="+mn-lt"/>
                          <a:ea typeface="+mn-ea"/>
                          <a:cs typeface="+mn-cs"/>
                        </a:rPr>
                        <a:t>.19</a:t>
                      </a:r>
                      <a:r>
                        <a:rPr lang="en-US" altLang="ru-RU" sz="800" b="0" kern="1200" dirty="0" smtClean="0">
                          <a:solidFill>
                            <a:schemeClr val="tx1"/>
                          </a:solidFill>
                          <a:latin typeface="+mn-lt"/>
                          <a:ea typeface="+mn-ea"/>
                          <a:cs typeface="+mn-cs"/>
                        </a:rPr>
                        <a:t>49</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188588">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Наманган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228921">
                <a:tc gridSpan="5">
                  <a:txBody>
                    <a:bodyPr/>
                    <a:lstStyle/>
                    <a:p>
                      <a:pPr algn="ctr"/>
                      <a:r>
                        <a:rPr lang="en-US"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490544">
                <a:tc gridSpan="2">
                  <a:txBody>
                    <a:bodyPr/>
                    <a:lstStyle/>
                    <a:p>
                      <a:pPr marL="0" marR="0" lvl="0" indent="0" algn="ctr" defTabSz="914400" rtl="0" eaLnBrk="1" fontAlgn="auto" latinLnBrk="0" hangingPunct="1">
                        <a:lnSpc>
                          <a:spcPct val="85000"/>
                        </a:lnSpc>
                        <a:spcBef>
                          <a:spcPts val="0"/>
                        </a:spcBef>
                        <a:spcAft>
                          <a:spcPts val="0"/>
                        </a:spcAft>
                        <a:buClrTx/>
                        <a:buSzTx/>
                        <a:buFontTx/>
                        <a:buNone/>
                        <a:defRPr/>
                      </a:pPr>
                      <a:r>
                        <a:rPr lang="en-US" sz="900" b="1" noProof="0" dirty="0" smtClean="0">
                          <a:latin typeface="+mn-lt"/>
                        </a:rPr>
                        <a:t>Оилавий ва ижтимоий ахволи</a:t>
                      </a:r>
                      <a:r>
                        <a:rPr lang="en-US" sz="900" b="1" noProof="0" dirty="0">
                          <a:latin typeface="+mn-lt"/>
                        </a:rPr>
                        <a:t>:</a:t>
                      </a:r>
                      <a:endParaRPr lang="en-US"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900" b="0" kern="1200" noProof="0" dirty="0">
                          <a:solidFill>
                            <a:schemeClr val="tx1"/>
                          </a:solidFill>
                          <a:latin typeface="+mn-lt"/>
                          <a:ea typeface="+mn-ea"/>
                          <a:cs typeface="+mn-cs"/>
                        </a:rPr>
                        <a:t>Оилали, </a:t>
                      </a:r>
                      <a:r>
                        <a:rPr lang="en-US" altLang="en-US" sz="900" b="0" kern="1200" noProof="0" dirty="0">
                          <a:solidFill>
                            <a:schemeClr val="tx1"/>
                          </a:solidFill>
                          <a:latin typeface="+mn-lt"/>
                          <a:ea typeface="+mn-ea"/>
                          <a:cs typeface="+mn-cs"/>
                        </a:rPr>
                        <a:t>2</a:t>
                      </a:r>
                      <a:r>
                        <a:rPr lang="en-US" sz="900" b="0" kern="1200" noProof="0" dirty="0" smtClean="0">
                          <a:solidFill>
                            <a:schemeClr val="tx1"/>
                          </a:solidFill>
                          <a:latin typeface="+mn-lt"/>
                          <a:ea typeface="+mn-ea"/>
                          <a:cs typeface="+mn-cs"/>
                        </a:rPr>
                        <a:t> </a:t>
                      </a:r>
                      <a:r>
                        <a:rPr lang="en-US" sz="900" b="0" kern="1200" noProof="0" dirty="0">
                          <a:solidFill>
                            <a:schemeClr val="tx1"/>
                          </a:solidFill>
                          <a:latin typeface="+mn-lt"/>
                          <a:ea typeface="+mn-ea"/>
                          <a:cs typeface="+mn-cs"/>
                        </a:rPr>
                        <a:t>нафар </a:t>
                      </a:r>
                      <a:r>
                        <a:rPr lang="en-US" sz="900" b="0" kern="1200" noProof="0" dirty="0" smtClean="0">
                          <a:solidFill>
                            <a:schemeClr val="tx1"/>
                          </a:solidFill>
                          <a:latin typeface="+mn-lt"/>
                          <a:ea typeface="+mn-ea"/>
                          <a:cs typeface="+mn-cs"/>
                        </a:rPr>
                        <a:t>ўғил</a:t>
                      </a:r>
                      <a:r>
                        <a:rPr lang="en-US" altLang="en-US" sz="900" b="0" kern="1200" noProof="0" dirty="0" smtClean="0">
                          <a:solidFill>
                            <a:schemeClr val="tx1"/>
                          </a:solidFill>
                          <a:latin typeface="+mn-lt"/>
                          <a:ea typeface="+mn-ea"/>
                          <a:cs typeface="+mn-cs"/>
                        </a:rPr>
                        <a:t>, 1 нафар қиз</a:t>
                      </a:r>
                      <a:r>
                        <a:rPr lang="en-US" sz="900" b="0" kern="1200" noProof="0" dirty="0" smtClean="0">
                          <a:solidFill>
                            <a:schemeClr val="tx1"/>
                          </a:solidFill>
                          <a:latin typeface="+mn-lt"/>
                          <a:ea typeface="+mn-ea"/>
                          <a:cs typeface="+mn-cs"/>
                        </a:rPr>
                        <a:t> </a:t>
                      </a:r>
                      <a:r>
                        <a:rPr lang="en-US" sz="900" b="0" kern="1200" noProof="0" dirty="0">
                          <a:solidFill>
                            <a:schemeClr val="tx1"/>
                          </a:solidFill>
                          <a:latin typeface="+mn-lt"/>
                          <a:ea typeface="+mn-ea"/>
                          <a:cs typeface="+mn-cs"/>
                        </a:rPr>
                        <a:t>фарзанди </a:t>
                      </a:r>
                      <a:r>
                        <a:rPr lang="en-US" sz="900" b="0" kern="1200" noProof="0" dirty="0" smtClean="0">
                          <a:solidFill>
                            <a:schemeClr val="tx1"/>
                          </a:solidFill>
                          <a:latin typeface="+mn-lt"/>
                          <a:ea typeface="+mn-ea"/>
                          <a:cs typeface="+mn-cs"/>
                        </a:rPr>
                        <a:t>бор, </a:t>
                      </a:r>
                      <a:br>
                        <a:rPr lang="en-US" sz="900" b="0" kern="1200" noProof="0" dirty="0" smtClean="0">
                          <a:solidFill>
                            <a:schemeClr val="tx1"/>
                          </a:solidFill>
                          <a:latin typeface="+mn-lt"/>
                          <a:ea typeface="+mn-ea"/>
                          <a:cs typeface="+mn-cs"/>
                        </a:rPr>
                      </a:br>
                      <a:r>
                        <a:rPr lang="en-US" sz="900" b="0" kern="1200" noProof="0" dirty="0" smtClean="0">
                          <a:solidFill>
                            <a:schemeClr val="tx1"/>
                          </a:solidFill>
                          <a:latin typeface="+mn-lt"/>
                          <a:ea typeface="+mn-ea"/>
                          <a:cs typeface="+mn-cs"/>
                        </a:rPr>
                        <a:t>ҳозирда нафақада</a:t>
                      </a:r>
                      <a:endParaRPr lang="en-US"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8"/>
                  </a:ext>
                </a:extLst>
              </a:tr>
              <a:tr h="228921">
                <a:tc gridSpan="5">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09"/>
                  </a:ext>
                </a:extLst>
              </a:tr>
              <a:tr h="589539">
                <a:tc>
                  <a:txBody>
                    <a:bodyPr/>
                    <a:lstStyle/>
                    <a:p>
                      <a:pPr algn="ctr">
                        <a:lnSpc>
                          <a:spcPct val="85000"/>
                        </a:lnSpc>
                      </a:pPr>
                      <a:r>
                        <a:rPr lang="en-US"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kern="1200" noProof="0" dirty="0" smtClean="0">
                          <a:solidFill>
                            <a:schemeClr val="tx1"/>
                          </a:solidFill>
                          <a:latin typeface="+mn-lt"/>
                          <a:ea typeface="+mn-ea"/>
                          <a:cs typeface="Arial" panose="020B0604020202020204" pitchFamily="34" charset="0"/>
                        </a:rPr>
                        <a:t>НИШОНОВ Исан</a:t>
                      </a:r>
                    </a:p>
                    <a:p>
                      <a:pPr algn="l">
                        <a:lnSpc>
                          <a:spcPct val="85000"/>
                        </a:lnSpc>
                      </a:pPr>
                      <a:r>
                        <a:rPr lang="en-US" sz="900" b="0" kern="1200" noProof="0" dirty="0" smtClean="0">
                          <a:solidFill>
                            <a:schemeClr val="tx1"/>
                          </a:solidFill>
                          <a:latin typeface="+mn-lt"/>
                          <a:ea typeface="+mn-ea"/>
                          <a:cs typeface="Arial" panose="020B0604020202020204" pitchFamily="34" charset="0"/>
                        </a:rPr>
                        <a:t>19</a:t>
                      </a:r>
                      <a:r>
                        <a:rPr lang="en-US" altLang="en-US" sz="900" b="0" kern="1200" noProof="0" dirty="0" smtClean="0">
                          <a:solidFill>
                            <a:schemeClr val="tx1"/>
                          </a:solidFill>
                          <a:latin typeface="+mn-lt"/>
                          <a:ea typeface="+mn-ea"/>
                          <a:cs typeface="Arial" panose="020B0604020202020204" pitchFamily="34" charset="0"/>
                        </a:rPr>
                        <a:t>15</a:t>
                      </a:r>
                      <a:r>
                        <a:rPr lang="en-US" sz="900" b="0" kern="1200" noProof="0" dirty="0" smtClean="0">
                          <a:solidFill>
                            <a:schemeClr val="tx1"/>
                          </a:solidFill>
                          <a:latin typeface="+mn-lt"/>
                          <a:ea typeface="+mn-ea"/>
                          <a:cs typeface="Arial" panose="020B0604020202020204" pitchFamily="34" charset="0"/>
                        </a:rPr>
                        <a:t> йил, Қўқон шаҳри</a:t>
                      </a:r>
                      <a:endParaRPr lang="en-US"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Arial" panose="020B0604020202020204" pitchFamily="34" charset="0"/>
                        </a:rPr>
                        <a:t>1986 йил вафот этган</a:t>
                      </a:r>
                    </a:p>
                    <a:p>
                      <a:pPr algn="l">
                        <a:lnSpc>
                          <a:spcPct val="85000"/>
                        </a:lnSpc>
                      </a:pPr>
                      <a:r>
                        <a:rPr lang="en-US" altLang="en-US" sz="900" b="0" kern="1200" noProof="0" dirty="0">
                          <a:solidFill>
                            <a:schemeClr val="tx1"/>
                          </a:solidFill>
                          <a:latin typeface="+mn-lt"/>
                          <a:ea typeface="+mn-ea"/>
                          <a:cs typeface="Arial" panose="020B0604020202020204" pitchFamily="34" charset="0"/>
                        </a:rPr>
                        <a:t>(Савхозлар вазирлигида вазир)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546972">
                <a:tc>
                  <a:txBody>
                    <a:bodyPr/>
                    <a:lstStyle/>
                    <a:p>
                      <a:pPr algn="ctr">
                        <a:lnSpc>
                          <a:spcPct val="85000"/>
                        </a:lnSpc>
                      </a:pPr>
                      <a:r>
                        <a:rPr lang="en-US"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kern="1200" noProof="0" dirty="0" smtClean="0">
                          <a:solidFill>
                            <a:schemeClr val="tx1"/>
                          </a:solidFill>
                          <a:latin typeface="+mn-lt"/>
                          <a:ea typeface="+mn-ea"/>
                          <a:cs typeface="Arial" panose="020B0604020202020204" pitchFamily="34" charset="0"/>
                        </a:rPr>
                        <a:t>ЮЛДАШЕВА Тожихон</a:t>
                      </a:r>
                    </a:p>
                    <a:p>
                      <a:pPr algn="l">
                        <a:lnSpc>
                          <a:spcPct val="85000"/>
                        </a:lnSpc>
                      </a:pPr>
                      <a:r>
                        <a:rPr lang="en-US" altLang="en-US" sz="900" b="0" kern="1200" noProof="0" dirty="0" smtClean="0">
                          <a:solidFill>
                            <a:schemeClr val="tx1"/>
                          </a:solidFill>
                          <a:latin typeface="+mn-lt"/>
                          <a:ea typeface="+mn-ea"/>
                          <a:cs typeface="Arial" panose="020B0604020202020204" pitchFamily="34" charset="0"/>
                        </a:rPr>
                        <a:t>1</a:t>
                      </a:r>
                      <a:r>
                        <a:rPr lang="en-US" sz="900" b="0" kern="1200" noProof="0" dirty="0" smtClean="0">
                          <a:solidFill>
                            <a:schemeClr val="tx1"/>
                          </a:solidFill>
                          <a:latin typeface="+mn-lt"/>
                          <a:ea typeface="+mn-ea"/>
                          <a:cs typeface="Arial" panose="020B0604020202020204" pitchFamily="34" charset="0"/>
                        </a:rPr>
                        <a:t>9</a:t>
                      </a:r>
                      <a:r>
                        <a:rPr lang="en-US" altLang="en-US" sz="900" b="0" kern="1200" noProof="0" dirty="0" smtClean="0">
                          <a:solidFill>
                            <a:schemeClr val="tx1"/>
                          </a:solidFill>
                          <a:latin typeface="+mn-lt"/>
                          <a:ea typeface="+mn-ea"/>
                          <a:cs typeface="Arial" panose="020B0604020202020204" pitchFamily="34" charset="0"/>
                        </a:rPr>
                        <a:t>17</a:t>
                      </a:r>
                      <a:r>
                        <a:rPr lang="en-US" sz="900" b="0" kern="1200" noProof="0" dirty="0" smtClean="0">
                          <a:solidFill>
                            <a:schemeClr val="tx1"/>
                          </a:solidFill>
                          <a:latin typeface="+mn-lt"/>
                          <a:ea typeface="+mn-ea"/>
                          <a:cs typeface="Arial" panose="020B0604020202020204" pitchFamily="34" charset="0"/>
                        </a:rPr>
                        <a:t> йил, </a:t>
                      </a:r>
                      <a:r>
                        <a:rPr lang="en-US" altLang="en-US" sz="900" noProof="0" dirty="0" smtClean="0">
                          <a:cs typeface="Arial" panose="020B0604020202020204" pitchFamily="34" charset="0"/>
                          <a:sym typeface="+mn-ea"/>
                        </a:rPr>
                        <a:t>Наманган вилояти</a:t>
                      </a:r>
                      <a:endParaRPr lang="en-US"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Arial" panose="020B0604020202020204" pitchFamily="34" charset="0"/>
                        </a:rPr>
                        <a:t>2003 йил вафот этган</a:t>
                      </a:r>
                    </a:p>
                    <a:p>
                      <a:pPr algn="l">
                        <a:lnSpc>
                          <a:spcPct val="85000"/>
                        </a:lnSpc>
                      </a:pPr>
                      <a:r>
                        <a:rPr lang="en-US" altLang="en-US" sz="900" b="0" kern="1200" noProof="0" dirty="0">
                          <a:solidFill>
                            <a:schemeClr val="tx1"/>
                          </a:solidFill>
                          <a:latin typeface="+mn-lt"/>
                          <a:ea typeface="+mn-ea"/>
                          <a:cs typeface="Arial" panose="020B0604020202020204" pitchFamily="34" charset="0"/>
                        </a:rPr>
                        <a:t>(Қишлок хўжалиги вазирлиги бўлим бошлиғи)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r h="546972">
                <a:tc>
                  <a:txBody>
                    <a:bodyPr/>
                    <a:lstStyle/>
                    <a:p>
                      <a:pPr algn="ctr">
                        <a:lnSpc>
                          <a:spcPct val="85000"/>
                        </a:lnSpc>
                      </a:pPr>
                      <a:r>
                        <a:rPr lang="en-US"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kern="1200" noProof="0" dirty="0" smtClean="0">
                          <a:solidFill>
                            <a:schemeClr val="tx1"/>
                          </a:solidFill>
                          <a:latin typeface="+mn-lt"/>
                          <a:ea typeface="+mn-ea"/>
                          <a:cs typeface="Arial" panose="020B0604020202020204" pitchFamily="34" charset="0"/>
                        </a:rPr>
                        <a:t>НИШОНОВА Адиба Шайх Юсуфхон хожи қизи</a:t>
                      </a:r>
                    </a:p>
                    <a:p>
                      <a:pPr algn="l">
                        <a:lnSpc>
                          <a:spcPct val="85000"/>
                        </a:lnSpc>
                      </a:pPr>
                      <a:r>
                        <a:rPr lang="en-US" sz="900" b="0" kern="1200" noProof="0" dirty="0" smtClean="0">
                          <a:solidFill>
                            <a:schemeClr val="tx1"/>
                          </a:solidFill>
                          <a:latin typeface="+mn-lt"/>
                          <a:ea typeface="+mn-ea"/>
                          <a:cs typeface="Arial" panose="020B0604020202020204" pitchFamily="34" charset="0"/>
                        </a:rPr>
                        <a:t>19</a:t>
                      </a:r>
                      <a:r>
                        <a:rPr lang="en-US" altLang="en-US" sz="900" b="0" kern="1200" noProof="0" dirty="0" smtClean="0">
                          <a:solidFill>
                            <a:schemeClr val="tx1"/>
                          </a:solidFill>
                          <a:latin typeface="+mn-lt"/>
                          <a:ea typeface="+mn-ea"/>
                          <a:cs typeface="Arial" panose="020B0604020202020204" pitchFamily="34" charset="0"/>
                        </a:rPr>
                        <a:t>51</a:t>
                      </a:r>
                      <a:r>
                        <a:rPr lang="en-US" sz="900" b="0" kern="1200" noProof="0" dirty="0" smtClean="0">
                          <a:solidFill>
                            <a:schemeClr val="tx1"/>
                          </a:solidFill>
                          <a:latin typeface="+mn-lt"/>
                          <a:ea typeface="+mn-ea"/>
                          <a:cs typeface="Arial" panose="020B0604020202020204" pitchFamily="34" charset="0"/>
                        </a:rPr>
                        <a:t> йил, </a:t>
                      </a:r>
                      <a:r>
                        <a:rPr lang="en-US" altLang="en-US" sz="900" noProof="0" dirty="0" smtClean="0">
                          <a:cs typeface="Arial" panose="020B0604020202020204" pitchFamily="34" charset="0"/>
                          <a:sym typeface="+mn-ea"/>
                        </a:rPr>
                        <a:t>Қирғизистон Республикаси</a:t>
                      </a:r>
                      <a:endParaRPr lang="en-US" altLang="en-US" sz="900" b="0" kern="1200" noProof="0" dirty="0" smtClean="0">
                        <a:solidFill>
                          <a:schemeClr val="tx1"/>
                        </a:solidFill>
                        <a:latin typeface="+mn-lt"/>
                        <a:ea typeface="+mn-ea"/>
                        <a:cs typeface="Arial" panose="020B0604020202020204" pitchFamily="34" charset="0"/>
                        <a:sym typeface="+mn-ea"/>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mn-cs"/>
                        </a:rPr>
                        <a:t>Пенсияда</a:t>
                      </a:r>
                    </a:p>
                    <a:p>
                      <a:pPr algn="l">
                        <a:lnSpc>
                          <a:spcPct val="85000"/>
                        </a:lnSpc>
                      </a:pPr>
                      <a:r>
                        <a:rPr lang="en-US" altLang="ru-RU" sz="900" b="0" kern="1200" noProof="0" dirty="0">
                          <a:solidFill>
                            <a:schemeClr val="tx1"/>
                          </a:solidFill>
                          <a:latin typeface="+mn-lt"/>
                          <a:ea typeface="+mn-ea"/>
                          <a:cs typeface="+mn-cs"/>
                        </a:rPr>
                        <a:t>(“FOTON”</a:t>
                      </a:r>
                      <a:r>
                        <a:rPr lang="en-US" altLang="en-US" sz="900" b="0" kern="1200" noProof="0" dirty="0">
                          <a:solidFill>
                            <a:schemeClr val="tx1"/>
                          </a:solidFill>
                          <a:latin typeface="+mn-lt"/>
                          <a:ea typeface="+mn-ea"/>
                          <a:cs typeface="+mn-cs"/>
                        </a:rPr>
                        <a:t>заводи 1- 2 бўлим бошлиғи)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2"/>
                  </a:ext>
                </a:extLst>
              </a:tr>
              <a:tr h="205837">
                <a:tc gridSpan="5">
                  <a:txBody>
                    <a:bodyPr/>
                    <a:lstStyle/>
                    <a:p>
                      <a:pPr algn="ctr">
                        <a:lnSpc>
                          <a:spcPct val="85000"/>
                        </a:lnSpc>
                      </a:pPr>
                      <a:r>
                        <a:rPr lang="en-US"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10013"/>
                  </a:ext>
                </a:extLst>
              </a:tr>
              <a:tr h="454437">
                <a:tc gridSpan="3">
                  <a:txBody>
                    <a:bodyPr/>
                    <a:lstStyle/>
                    <a:p>
                      <a:pPr algn="l">
                        <a:lnSpc>
                          <a:spcPct val="85000"/>
                        </a:lnSpc>
                      </a:pPr>
                      <a:r>
                        <a:rPr lang="en-US" sz="900" b="1" noProof="0" dirty="0">
                          <a:latin typeface="+mn-lt"/>
                        </a:rPr>
                        <a:t>Тамомлаган ОТМ:</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a:t>
                      </a:r>
                      <a:r>
                        <a:rPr lang="en-US" altLang="ru-RU" sz="900" b="0" kern="1200" noProof="0" dirty="0" smtClean="0">
                          <a:solidFill>
                            <a:schemeClr val="tx1"/>
                          </a:solidFill>
                          <a:latin typeface="+mn-lt"/>
                          <a:ea typeface="+mn-ea"/>
                          <a:cs typeface="+mn-cs"/>
                        </a:rPr>
                        <a:t>5</a:t>
                      </a:r>
                      <a:r>
                        <a:rPr lang="ru-RU" sz="900" b="0" kern="1200" noProof="0" dirty="0" smtClean="0">
                          <a:solidFill>
                            <a:schemeClr val="tx1"/>
                          </a:solidFill>
                          <a:latin typeface="+mn-lt"/>
                          <a:ea typeface="+mn-ea"/>
                          <a:cs typeface="+mn-cs"/>
                        </a:rPr>
                        <a:t> й.</a:t>
                      </a:r>
                      <a:r>
                        <a:rPr lang="en-US" altLang="en-US" sz="900" b="0" kern="1200" noProof="0" dirty="0" smtClean="0">
                          <a:solidFill>
                            <a:schemeClr val="tx1"/>
                          </a:solidFill>
                          <a:latin typeface="+mn-lt"/>
                          <a:ea typeface="+mn-ea"/>
                          <a:cs typeface="+mn-cs"/>
                        </a:rPr>
                        <a:t>Тошкент театр ва рассомлик 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4"/>
                  </a:ext>
                </a:extLst>
              </a:tr>
              <a:tr h="268363">
                <a:tc gridSpan="3">
                  <a:txBody>
                    <a:bodyPr/>
                    <a:lstStyle/>
                    <a:p>
                      <a:pPr marL="0" marR="0" lvl="0" indent="0" algn="l" defTabSz="914400" rtl="0" eaLnBrk="1" fontAlgn="auto" latinLnBrk="0" hangingPunct="1">
                        <a:lnSpc>
                          <a:spcPct val="85000"/>
                        </a:lnSpc>
                        <a:spcBef>
                          <a:spcPts val="0"/>
                        </a:spcBef>
                        <a:spcAft>
                          <a:spcPts val="0"/>
                        </a:spcAft>
                        <a:buClrTx/>
                        <a:buSzTx/>
                        <a:buFontTx/>
                        <a:buNone/>
                        <a:defRPr/>
                      </a:pPr>
                      <a:r>
                        <a:rPr lang="en-US" sz="900" b="1" noProof="0" dirty="0">
                          <a:latin typeface="+mn-lt"/>
                        </a:rPr>
                        <a:t>Мутахассислиги:</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altLang="en-US" sz="900" b="0" kern="1200" noProof="0" dirty="0">
                          <a:solidFill>
                            <a:schemeClr val="tx1"/>
                          </a:solidFill>
                          <a:latin typeface="+mn-lt"/>
                          <a:ea typeface="+mn-ea"/>
                          <a:cs typeface="+mn-cs"/>
                        </a:rPr>
                        <a:t>драма театр ва кино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5"/>
                  </a:ext>
                </a:extLst>
              </a:tr>
              <a:tr h="311512">
                <a:tc gridSpan="3">
                  <a:txBody>
                    <a:bodyPr/>
                    <a:lstStyle/>
                    <a:p>
                      <a:pPr algn="l">
                        <a:lnSpc>
                          <a:spcPct val="85000"/>
                        </a:lnSpc>
                      </a:pPr>
                      <a:r>
                        <a:rPr lang="en-US" sz="900" b="1" kern="1200" noProof="0" dirty="0">
                          <a:solidFill>
                            <a:schemeClr val="tx1"/>
                          </a:solidFill>
                          <a:latin typeface="+mn-lt"/>
                          <a:ea typeface="+mn-ea"/>
                          <a:cs typeface="+mn-cs"/>
                        </a:rPr>
                        <a:t>Илмий даража (унвон):</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6"/>
                  </a:ext>
                </a:extLst>
              </a:tr>
              <a:tr h="311512">
                <a:tc gridSpan="3">
                  <a:txBody>
                    <a:bodyPr/>
                    <a:lstStyle/>
                    <a:p>
                      <a:pPr algn="l">
                        <a:lnSpc>
                          <a:spcPct val="85000"/>
                        </a:lnSpc>
                      </a:pPr>
                      <a:r>
                        <a:rPr lang="en-US"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7"/>
                  </a:ext>
                </a:extLst>
              </a:tr>
              <a:tr h="311512">
                <a:tc gridSpan="3">
                  <a:txBody>
                    <a:bodyPr/>
                    <a:lstStyle/>
                    <a:p>
                      <a:pPr algn="l">
                        <a:lnSpc>
                          <a:spcPct val="85000"/>
                        </a:lnSpc>
                      </a:pPr>
                      <a:r>
                        <a:rPr lang="en-US"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8"/>
                  </a:ext>
                </a:extLst>
              </a:tr>
            </a:tbl>
          </a:graphicData>
        </a:graphic>
      </p:graphicFrame>
      <p:graphicFrame>
        <p:nvGraphicFramePr>
          <p:cNvPr id="5" name="Таблица 4"/>
          <p:cNvGraphicFramePr>
            <a:graphicFrameLocks noGrp="1"/>
          </p:cNvGraphicFramePr>
          <p:nvPr>
            <p:extLst>
              <p:ext uri="{D42A27DB-BD31-4B8C-83A1-F6EECF244321}">
                <p14:modId xmlns:p14="http://schemas.microsoft.com/office/powerpoint/2010/main" val="2932224023"/>
              </p:ext>
            </p:extLst>
          </p:nvPr>
        </p:nvGraphicFramePr>
        <p:xfrm>
          <a:off x="3674745" y="865505"/>
          <a:ext cx="3173095" cy="5873013"/>
        </p:xfrm>
        <a:graphic>
          <a:graphicData uri="http://schemas.openxmlformats.org/drawingml/2006/table">
            <a:tbl>
              <a:tblPr firstRow="1" bandRow="1">
                <a:tableStyleId>{C083E6E3-FA7D-4D7B-A595-EF9225AFEA82}</a:tableStyleId>
              </a:tblPr>
              <a:tblGrid>
                <a:gridCol w="1443990">
                  <a:extLst>
                    <a:ext uri="{9D8B030D-6E8A-4147-A177-3AD203B41FA5}">
                      <a16:colId xmlns:a16="http://schemas.microsoft.com/office/drawing/2014/main" val="20000"/>
                    </a:ext>
                  </a:extLst>
                </a:gridCol>
                <a:gridCol w="1729105">
                  <a:extLst>
                    <a:ext uri="{9D8B030D-6E8A-4147-A177-3AD203B41FA5}">
                      <a16:colId xmlns:a16="http://schemas.microsoft.com/office/drawing/2014/main" val="20001"/>
                    </a:ext>
                  </a:extLst>
                </a:gridCol>
              </a:tblGrid>
              <a:tr h="325796">
                <a:tc gridSpan="2">
                  <a:txBody>
                    <a:bodyPr/>
                    <a:lstStyle/>
                    <a:p>
                      <a:pPr algn="ctr"/>
                      <a:r>
                        <a:rPr lang="en-US"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548965">
                <a:tc>
                  <a:txBody>
                    <a:bodyPr/>
                    <a:lstStyle/>
                    <a:p>
                      <a:pPr algn="l">
                        <a:lnSpc>
                          <a:spcPct val="85000"/>
                        </a:lnSpc>
                      </a:pPr>
                      <a:r>
                        <a:rPr lang="en-US" sz="900" b="1" i="0" noProof="0" dirty="0">
                          <a:solidFill>
                            <a:schemeClr val="tx1"/>
                          </a:solidFill>
                          <a:latin typeface="+mn-lt"/>
                        </a:rPr>
                        <a:t>Эгаллаб турган </a:t>
                      </a:r>
                      <a:r>
                        <a:rPr lang="en-US" sz="900" b="1" i="0" noProof="0" dirty="0" smtClean="0">
                          <a:solidFill>
                            <a:schemeClr val="tx1"/>
                          </a:solidFill>
                          <a:latin typeface="+mn-lt"/>
                        </a:rPr>
                        <a:t>лавозими</a:t>
                      </a:r>
                      <a:r>
                        <a:rPr lang="en-US"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en-US" sz="900" b="1" kern="1200" noProof="0" dirty="0" smtClean="0">
                          <a:solidFill>
                            <a:schemeClr val="tx1"/>
                          </a:solidFill>
                          <a:latin typeface="+mn-lt"/>
                          <a:ea typeface="+mn-ea"/>
                          <a:cs typeface="+mn-cs"/>
                        </a:rPr>
                        <a:t>20</a:t>
                      </a:r>
                      <a:r>
                        <a:rPr lang="en-US" altLang="en-US" sz="900" b="1" kern="1200" noProof="0" dirty="0" smtClean="0">
                          <a:solidFill>
                            <a:schemeClr val="tx1"/>
                          </a:solidFill>
                          <a:latin typeface="+mn-lt"/>
                          <a:ea typeface="+mn-ea"/>
                          <a:cs typeface="+mn-cs"/>
                        </a:rPr>
                        <a:t>15</a:t>
                      </a:r>
                      <a:r>
                        <a:rPr lang="en-US" sz="900" b="1" kern="1200" noProof="0" dirty="0" smtClean="0">
                          <a:solidFill>
                            <a:schemeClr val="tx1"/>
                          </a:solidFill>
                          <a:latin typeface="+mn-lt"/>
                          <a:ea typeface="+mn-ea"/>
                          <a:cs typeface="+mn-cs"/>
                        </a:rPr>
                        <a:t> йилдан буён </a:t>
                      </a:r>
                      <a:r>
                        <a:rPr lang="en-US" altLang="en-US" sz="900" b="1" kern="1200" noProof="0" dirty="0" smtClean="0">
                          <a:solidFill>
                            <a:schemeClr val="tx1"/>
                          </a:solidFill>
                          <a:latin typeface="+mn-lt"/>
                          <a:ea typeface="+mn-ea"/>
                          <a:cs typeface="+mn-cs"/>
                        </a:rPr>
                        <a:t>Ўзбекистон давлат ёш томошабинлар театри етакчи сахна устаси артисти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42179">
                <a:tc>
                  <a:txBody>
                    <a:bodyPr/>
                    <a:lstStyle/>
                    <a:p>
                      <a:pPr algn="l">
                        <a:lnSpc>
                          <a:spcPct val="85000"/>
                        </a:lnSpc>
                      </a:pPr>
                      <a:r>
                        <a:rPr lang="en-US"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en-US"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en-US"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09352">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b="0" noProof="0" dirty="0" smtClean="0">
                          <a:effectLst/>
                          <a:latin typeface="+mn-lt"/>
                          <a:ea typeface="Calibri" panose="020F0502020204030204" pitchFamily="34" charset="0"/>
                          <a:cs typeface="Times New Roman" panose="02020603050405020304" pitchFamily="18" charset="0"/>
                        </a:rPr>
                        <a:t>49</a:t>
                      </a:r>
                      <a:r>
                        <a:rPr lang="en-US" sz="900" b="0" noProof="0" dirty="0" smtClean="0">
                          <a:effectLst/>
                          <a:latin typeface="+mn-lt"/>
                          <a:ea typeface="Calibri" panose="020F0502020204030204" pitchFamily="34" charset="0"/>
                          <a:cs typeface="Times New Roman" panose="02020603050405020304" pitchFamily="18" charset="0"/>
                        </a:rPr>
                        <a:t> </a:t>
                      </a:r>
                      <a:r>
                        <a:rPr lang="en-US"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95107">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b="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403838">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en-US"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290893">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858467">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en-US" altLang="ru-RU"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290893">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kern="1200" noProof="0" dirty="0" smtClean="0">
                          <a:solidFill>
                            <a:schemeClr val="tx1"/>
                          </a:solidFill>
                          <a:effectLst/>
                          <a:latin typeface="+mn-lt"/>
                          <a:ea typeface="Calibri" panose="020F0502020204030204" pitchFamily="34" charset="0"/>
                          <a:cs typeface="Times New Roman" panose="02020603050405020304" pitchFamily="18" charset="0"/>
                        </a:rPr>
                        <a:t>2025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8"/>
                  </a:ext>
                </a:extLst>
              </a:tr>
              <a:tr h="256425">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225456">
                <a:tc gridSpan="2">
                  <a:txBody>
                    <a:bodyPr/>
                    <a:lstStyle/>
                    <a:p>
                      <a:pPr algn="ctr"/>
                      <a:r>
                        <a:rPr lang="en-US"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2020434">
                <a:tc gridSpan="2">
                  <a:txBody>
                    <a:bodyPr/>
                    <a:lstStyle/>
                    <a:p>
                      <a:pPr marL="0" marR="0" indent="0" algn="just" defTabSz="914400" rtl="0" eaLnBrk="1" fontAlgn="auto" latinLnBrk="0" hangingPunct="1">
                        <a:lnSpc>
                          <a:spcPct val="107000"/>
                        </a:lnSpc>
                        <a:spcBef>
                          <a:spcPts val="0"/>
                        </a:spcBef>
                        <a:spcAft>
                          <a:spcPts val="0"/>
                        </a:spcAft>
                        <a:buClrTx/>
                        <a:buSzTx/>
                        <a:buFontTx/>
                        <a:buNone/>
                        <a:defRPr/>
                      </a:pPr>
                      <a:r>
                        <a:rPr lang="en-US" altLang="en-US" sz="900" noProof="0" dirty="0" smtClean="0">
                          <a:effectLst/>
                          <a:latin typeface="+mn-lt"/>
                          <a:ea typeface="Calibri" panose="020F0502020204030204" pitchFamily="34" charset="0"/>
                          <a:cs typeface="Times New Roman" panose="02020603050405020304" pitchFamily="18" charset="0"/>
                        </a:rPr>
                        <a:t>2016</a:t>
                      </a:r>
                      <a:r>
                        <a:rPr lang="en-US" sz="900" noProof="0" dirty="0" smtClean="0">
                          <a:effectLst/>
                          <a:latin typeface="+mn-lt"/>
                          <a:ea typeface="Calibri" panose="020F0502020204030204" pitchFamily="34" charset="0"/>
                          <a:cs typeface="Times New Roman" panose="02020603050405020304" pitchFamily="18" charset="0"/>
                        </a:rPr>
                        <a:t>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defRPr/>
                      </a:pPr>
                      <a:r>
                        <a:rPr lang="en-US" altLang="en-US" sz="900" noProof="0" dirty="0">
                          <a:effectLst/>
                          <a:latin typeface="+mn-lt"/>
                          <a:ea typeface="Calibri" panose="020F0502020204030204" pitchFamily="34" charset="0"/>
                          <a:cs typeface="Times New Roman" panose="02020603050405020304" pitchFamily="18" charset="0"/>
                        </a:rPr>
                        <a:t>2023 й. “Меҳнат шуҳрат” ордени</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endParaRPr lang="ru-RU"/>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bl>
          </a:graphicData>
        </a:graphic>
      </p:graphicFrame>
      <p:graphicFrame>
        <p:nvGraphicFramePr>
          <p:cNvPr id="6" name="Таблица 5"/>
          <p:cNvGraphicFramePr>
            <a:graphicFrameLocks noGrp="1"/>
          </p:cNvGraphicFramePr>
          <p:nvPr>
            <p:extLst>
              <p:ext uri="{D42A27DB-BD31-4B8C-83A1-F6EECF244321}">
                <p14:modId xmlns:p14="http://schemas.microsoft.com/office/powerpoint/2010/main" val="2151361656"/>
              </p:ext>
            </p:extLst>
          </p:nvPr>
        </p:nvGraphicFramePr>
        <p:xfrm>
          <a:off x="6949857" y="869286"/>
          <a:ext cx="2817247" cy="5864023"/>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0000"/>
                    </a:ext>
                  </a:extLst>
                </a:gridCol>
              </a:tblGrid>
              <a:tr h="287845">
                <a:tc>
                  <a:txBody>
                    <a:bodyPr/>
                    <a:lstStyle/>
                    <a:p>
                      <a:pPr algn="ctr">
                        <a:lnSpc>
                          <a:spcPct val="85000"/>
                        </a:lnSpc>
                      </a:pPr>
                      <a:r>
                        <a:rPr lang="en-US" sz="1200" b="1" noProof="0" dirty="0" smtClean="0">
                          <a:solidFill>
                            <a:schemeClr val="bg1"/>
                          </a:solidFill>
                          <a:latin typeface="Bahnschrift SemiBold" panose="020B0502040204020203" pitchFamily="34" charset="0"/>
                        </a:rPr>
                        <a:t>ФАОЛИЯТИ</a:t>
                      </a:r>
                      <a:r>
                        <a:rPr lang="en-US" sz="1200" b="1" baseline="0" noProof="0" dirty="0" smtClean="0">
                          <a:solidFill>
                            <a:schemeClr val="bg1"/>
                          </a:solidFill>
                          <a:latin typeface="Bahnschrift SemiBold" panose="020B0502040204020203" pitchFamily="34" charset="0"/>
                        </a:rPr>
                        <a:t> </a:t>
                      </a:r>
                      <a:endParaRPr lang="en-US"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10000"/>
                  </a:ext>
                </a:extLst>
              </a:tr>
              <a:tr h="362336">
                <a:tc>
                  <a:txBody>
                    <a:bodyPr/>
                    <a:lstStyle/>
                    <a:p>
                      <a:pPr algn="ctr">
                        <a:lnSpc>
                          <a:spcPct val="85000"/>
                        </a:lnSpc>
                      </a:pPr>
                      <a:r>
                        <a:rPr lang="en-US" sz="1000" b="1" noProof="0" dirty="0" smtClean="0">
                          <a:solidFill>
                            <a:schemeClr val="bg1"/>
                          </a:solidFill>
                          <a:latin typeface="Bahnschrift SemiBold" panose="020B0502040204020203" pitchFamily="34" charset="0"/>
                        </a:rPr>
                        <a:t>Меҳнат фаолияти ҳақида</a:t>
                      </a:r>
                      <a:r>
                        <a:rPr lang="en-US" sz="1000" b="1" baseline="0" noProof="0" dirty="0" smtClean="0">
                          <a:solidFill>
                            <a:schemeClr val="bg1"/>
                          </a:solidFill>
                          <a:latin typeface="Bahnschrift SemiBold" panose="020B0502040204020203" pitchFamily="34" charset="0"/>
                        </a:rPr>
                        <a:t> қисқача тавсифнома</a:t>
                      </a:r>
                      <a:endParaRPr lang="en-US"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10001"/>
                  </a:ext>
                </a:extLst>
              </a:tr>
              <a:tr h="4427181">
                <a:tc>
                  <a:txBody>
                    <a:bodyPr/>
                    <a:lstStyle/>
                    <a:p>
                      <a:pPr algn="just">
                        <a:lnSpc>
                          <a:spcPct val="85000"/>
                        </a:lnSpc>
                      </a:pPr>
                      <a:r>
                        <a:rPr lang="en-US" sz="900" b="0" noProof="0" dirty="0" smtClean="0">
                          <a:solidFill>
                            <a:schemeClr val="tx1"/>
                          </a:solidFill>
                          <a:latin typeface="+mn-lt"/>
                        </a:rPr>
                        <a:t>   </a:t>
                      </a:r>
                      <a:r>
                        <a:rPr lang="en-US" altLang="en-US" sz="900" b="0" noProof="0" dirty="0">
                          <a:solidFill>
                            <a:schemeClr val="tx1"/>
                          </a:solidFill>
                          <a:latin typeface="+mn-lt"/>
                        </a:rPr>
                        <a:t> Нишонов Баходир Исанович ижодий фаолияти давомида “Чиранчоқ қуён”да Қуён, “Олов қалблар”да Абдулла, “Уч мушкетёр”да Д Артаньян, “Олтин тулпор”да  Липст, “Раҳмат капитан”да Зафар Рақам, “Шум бола”да Қозоқ йигит, “Қирол овга чиқди” да Қирол, “Пахловоннинг ўғирланиши”да Шох,  “Суқатой ва Конфетвой”да Конфетвой, “Қовоқвой ва Чаноқвой”да Чаноқвой, “Эки жува говрошлари”да Ҳасан, “Этик кийган  мушук”да Мушук хўжайини, “Говрош”да Жоли, “Асорат”да Мовун, “Сен нима учун яшайсан”да Собир, Олтин жўжа”да Бўри, “Тузоқ”да Табиб, “Захарли томчилар”да Муаллиф, “Мушук ила сичқон”да Мушук, “Менинг ўрдакчам”да Инду хўроз,“Янги йил хангомалари”да Қор бобо, “Оловуддиннинг сеҳрли чироғи”да Салтан.</a:t>
                      </a:r>
                    </a:p>
                    <a:p>
                      <a:pPr algn="just">
                        <a:lnSpc>
                          <a:spcPct val="85000"/>
                        </a:lnSpc>
                      </a:pPr>
                      <a:r>
                        <a:rPr lang="ru-RU" altLang="en-US" sz="900" b="0" noProof="0" dirty="0" smtClean="0">
                          <a:solidFill>
                            <a:schemeClr val="tx1"/>
                          </a:solidFill>
                          <a:latin typeface="+mn-lt"/>
                        </a:rPr>
                        <a:t>    </a:t>
                      </a:r>
                      <a:r>
                        <a:rPr lang="en-US" altLang="en-US" sz="900" b="0" noProof="0" dirty="0" smtClean="0">
                          <a:solidFill>
                            <a:schemeClr val="tx1"/>
                          </a:solidFill>
                          <a:latin typeface="+mn-lt"/>
                        </a:rPr>
                        <a:t>2025 </a:t>
                      </a:r>
                      <a:r>
                        <a:rPr lang="en-US" altLang="en-US" sz="900" b="0" noProof="0" dirty="0">
                          <a:solidFill>
                            <a:schemeClr val="tx1"/>
                          </a:solidFill>
                          <a:latin typeface="+mn-lt"/>
                        </a:rPr>
                        <a:t>йили муаллиф ва режиссёр Шуҳрат Ибрагимов саҳналаштирган Ўзбекистон халқ шоири Ойбек ҳақидаги “Барҳаёт чинор” спектаклида Ойбек образини гавдалантирган. </a:t>
                      </a:r>
                    </a:p>
                    <a:p>
                      <a:pPr algn="just">
                        <a:lnSpc>
                          <a:spcPct val="85000"/>
                        </a:lnSpc>
                      </a:pPr>
                      <a:r>
                        <a:rPr lang="en-US" altLang="en-US" sz="900" b="0" noProof="0" dirty="0">
                          <a:solidFill>
                            <a:schemeClr val="tx1"/>
                          </a:solidFill>
                          <a:latin typeface="+mn-lt"/>
                        </a:rPr>
                        <a:t> </a:t>
                      </a:r>
                      <a:r>
                        <a:rPr lang="ru-RU" altLang="en-US" sz="900" b="0" noProof="0" dirty="0" smtClean="0">
                          <a:solidFill>
                            <a:schemeClr val="tx1"/>
                          </a:solidFill>
                          <a:latin typeface="+mn-lt"/>
                        </a:rPr>
                        <a:t>    </a:t>
                      </a:r>
                      <a:r>
                        <a:rPr lang="en-US" altLang="en-US" sz="900" b="0" noProof="0" dirty="0" err="1" smtClean="0">
                          <a:solidFill>
                            <a:schemeClr val="tx1"/>
                          </a:solidFill>
                          <a:latin typeface="+mn-lt"/>
                        </a:rPr>
                        <a:t>Актёр</a:t>
                      </a:r>
                      <a:r>
                        <a:rPr lang="en-US" altLang="en-US" sz="900" b="0" noProof="0" dirty="0" smtClean="0">
                          <a:solidFill>
                            <a:schemeClr val="tx1"/>
                          </a:solidFill>
                          <a:latin typeface="+mn-lt"/>
                        </a:rPr>
                        <a:t> </a:t>
                      </a:r>
                      <a:r>
                        <a:rPr lang="en-US" altLang="en-US" sz="900" b="0" noProof="0" dirty="0">
                          <a:solidFill>
                            <a:schemeClr val="tx1"/>
                          </a:solidFill>
                          <a:latin typeface="+mn-lt"/>
                        </a:rPr>
                        <a:t>фақатгина театрда ижод қилибгина қолмай, балки ўндан зиёд бадий ва телефильмларда катта-кичик роллар ижро этган. Шулар жумласидан; “Алпомиш” да Шахзода Қайқубод, “Бахт излаб”да Арслон, “Сой қўшиғи”да Асқар ота, “Кореялик келин”да Ота, “Виждон”да Садир ота, “Одамлар орасида ” видео фильмида Худойназар, “Фидоийлар” видео фильмида Ботир, “Оққушлар”да мўйсафид. Бундан ташқари “Ўзбекфильм” киностудиясида, “Ўзбектелефильм” ишлаб чиқарилган қатор фильмларда овоз берган.</a:t>
                      </a:r>
                    </a:p>
                    <a:p>
                      <a:pPr algn="just">
                        <a:lnSpc>
                          <a:spcPct val="85000"/>
                        </a:lnSpc>
                      </a:pPr>
                      <a:r>
                        <a:rPr lang="ru-RU" altLang="en-US" sz="900" b="0" noProof="0" dirty="0" smtClean="0">
                          <a:solidFill>
                            <a:schemeClr val="tx1"/>
                          </a:solidFill>
                          <a:latin typeface="+mn-lt"/>
                        </a:rPr>
                        <a:t>    </a:t>
                      </a:r>
                      <a:r>
                        <a:rPr lang="en-US" altLang="en-US" sz="900" b="0" noProof="0" dirty="0" err="1" smtClean="0">
                          <a:solidFill>
                            <a:schemeClr val="tx1"/>
                          </a:solidFill>
                          <a:latin typeface="+mn-lt"/>
                        </a:rPr>
                        <a:t>Шунингдек</a:t>
                      </a:r>
                      <a:r>
                        <a:rPr lang="en-US" altLang="en-US" sz="900" b="0" noProof="0" dirty="0">
                          <a:solidFill>
                            <a:schemeClr val="tx1"/>
                          </a:solidFill>
                          <a:latin typeface="+mn-lt"/>
                        </a:rPr>
                        <a:t>, “Иқрор”, “Оталар сўзи”, “Чархи фалак”, “Кўнгил кўчалари” каби телевизион лойиҳаларда ўзига хос ролларни ижро этиб келади.</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0002"/>
                  </a:ext>
                </a:extLst>
              </a:tr>
              <a:tr h="178834">
                <a:tc>
                  <a:txBody>
                    <a:bodyPr/>
                    <a:lstStyle/>
                    <a:p>
                      <a:pPr marL="0" marR="0" lvl="0" indent="0" algn="ctr" defTabSz="914400" rtl="0" eaLnBrk="1" fontAlgn="auto" latinLnBrk="0" hangingPunct="1">
                        <a:lnSpc>
                          <a:spcPct val="107000"/>
                        </a:lnSpc>
                        <a:spcBef>
                          <a:spcPts val="0"/>
                        </a:spcBef>
                        <a:spcAft>
                          <a:spcPts val="0"/>
                        </a:spcAft>
                        <a:buClrTx/>
                        <a:buSzTx/>
                        <a:buFontTx/>
                        <a:buNone/>
                        <a:defRPr/>
                      </a:pPr>
                      <a:r>
                        <a:rPr lang="en-US"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10003"/>
                  </a:ext>
                </a:extLst>
              </a:tr>
              <a:tr h="607827">
                <a:tc>
                  <a:txBody>
                    <a:bodyPr/>
                    <a:lstStyle/>
                    <a:p>
                      <a:pPr marL="0" marR="0" lvl="0" indent="0" algn="just" defTabSz="914400" rtl="0" eaLnBrk="1" fontAlgn="auto" latinLnBrk="0" hangingPunct="1">
                        <a:lnSpc>
                          <a:spcPct val="107000"/>
                        </a:lnSpc>
                        <a:spcBef>
                          <a:spcPts val="0"/>
                        </a:spcBef>
                        <a:spcAft>
                          <a:spcPts val="0"/>
                        </a:spcAft>
                        <a:buClrTx/>
                        <a:buSzTx/>
                        <a:buFontTx/>
                        <a:buNone/>
                        <a:defRPr/>
                      </a:pPr>
                      <a:r>
                        <a:rPr lang="ru-RU" sz="900" b="0" dirty="0" smtClean="0">
                          <a:effectLst/>
                          <a:latin typeface="+mn-lt"/>
                          <a:ea typeface="Calibri" panose="020F0502020204030204" pitchFamily="34" charset="0"/>
                          <a:cs typeface="Times New Roman" panose="02020603050405020304" pitchFamily="18" charset="0"/>
                        </a:rPr>
                        <a:t>    </a:t>
                      </a:r>
                      <a:r>
                        <a:rPr lang="en-US" sz="900" b="0" dirty="0" err="1" smtClean="0">
                          <a:effectLst/>
                          <a:latin typeface="+mn-lt"/>
                          <a:ea typeface="Calibri" panose="020F0502020204030204" pitchFamily="34" charset="0"/>
                          <a:cs typeface="Times New Roman" panose="02020603050405020304" pitchFamily="18" charset="0"/>
                        </a:rPr>
                        <a:t>Республикамизда</a:t>
                      </a:r>
                      <a:r>
                        <a:rPr lang="en-US"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bl>
          </a:graphicData>
        </a:graphic>
      </p:graphicFrame>
      <p:pic>
        <p:nvPicPr>
          <p:cNvPr id="9" name="Изображение 1073742852" descr="баходирака"/>
          <p:cNvPicPr>
            <a:picLocks noChangeAspect="1"/>
          </p:cNvPicPr>
          <p:nvPr/>
        </p:nvPicPr>
        <p:blipFill>
          <a:blip r:embed="rId2"/>
          <a:stretch>
            <a:fillRect/>
          </a:stretch>
        </p:blipFill>
        <p:spPr>
          <a:xfrm>
            <a:off x="267566" y="1127125"/>
            <a:ext cx="884555" cy="1089025"/>
          </a:xfrm>
          <a:prstGeom prst="rect">
            <a:avLst/>
          </a:prstGeom>
          <a:noFill/>
          <a:ln w="9525">
            <a:noFill/>
          </a:ln>
        </p:spPr>
      </p:pic>
    </p:spTree>
    <p:extLst>
      <p:ext uri="{BB962C8B-B14F-4D97-AF65-F5344CB8AC3E}">
        <p14:creationId xmlns:p14="http://schemas.microsoft.com/office/powerpoint/2010/main" val="1798437354"/>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002060"/>
                </a:solidFill>
                <a:latin typeface="Bahnschrift SemiBold" panose="020B0502040204020203" pitchFamily="34" charset="0"/>
              </a:rPr>
              <a:t>ПОРТФОЛИО</a:t>
            </a:r>
            <a:endParaRPr lang="en-US" b="1" dirty="0">
              <a:solidFill>
                <a:srgbClr val="002060"/>
              </a:solidFill>
              <a:latin typeface="Bahnschrift SemiBold" panose="020B0502040204020203" pitchFamily="34" charset="0"/>
            </a:endParaRPr>
          </a:p>
        </p:txBody>
      </p:sp>
      <p:sp>
        <p:nvSpPr>
          <p:cNvPr id="3" name="Прямоугольник 2"/>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altLang="en-US" sz="1600" b="1" dirty="0" smtClean="0">
                <a:solidFill>
                  <a:srgbClr val="002060"/>
                </a:solidFill>
                <a:latin typeface="Bahnschrift SemiBold" panose="020B0502040204020203" pitchFamily="34" charset="0"/>
              </a:rPr>
              <a:t>ТЕАТР ВА ЦИРК ЙЎНАЛИШИ СОҲА ВАКИЛЛАРИ</a:t>
            </a:r>
            <a:endParaRPr lang="en-US" sz="1200" b="1" dirty="0">
              <a:solidFill>
                <a:srgbClr val="002060"/>
              </a:solidFill>
              <a:latin typeface="Bahnschrift SemiBold" panose="020B0502040204020203" pitchFamily="34" charset="0"/>
            </a:endParaRPr>
          </a:p>
        </p:txBody>
      </p:sp>
      <p:graphicFrame>
        <p:nvGraphicFramePr>
          <p:cNvPr id="4" name="Таблица 3"/>
          <p:cNvGraphicFramePr>
            <a:graphicFrameLocks noGrp="1"/>
          </p:cNvGraphicFramePr>
          <p:nvPr>
            <p:extLst>
              <p:ext uri="{D42A27DB-BD31-4B8C-83A1-F6EECF244321}">
                <p14:modId xmlns:p14="http://schemas.microsoft.com/office/powerpoint/2010/main" val="3867060340"/>
              </p:ext>
            </p:extLst>
          </p:nvPr>
        </p:nvGraphicFramePr>
        <p:xfrm>
          <a:off x="144780" y="865505"/>
          <a:ext cx="3427730" cy="5926262"/>
        </p:xfrm>
        <a:graphic>
          <a:graphicData uri="http://schemas.openxmlformats.org/drawingml/2006/table">
            <a:tbl>
              <a:tblPr firstRow="1" bandRow="1">
                <a:tableStyleId>{C083E6E3-FA7D-4D7B-A595-EF9225AFEA82}</a:tableStyleId>
              </a:tblPr>
              <a:tblGrid>
                <a:gridCol w="657225">
                  <a:extLst>
                    <a:ext uri="{9D8B030D-6E8A-4147-A177-3AD203B41FA5}">
                      <a16:colId xmlns:a16="http://schemas.microsoft.com/office/drawing/2014/main" val="20000"/>
                    </a:ext>
                  </a:extLst>
                </a:gridCol>
                <a:gridCol w="441325">
                  <a:extLst>
                    <a:ext uri="{9D8B030D-6E8A-4147-A177-3AD203B41FA5}">
                      <a16:colId xmlns:a16="http://schemas.microsoft.com/office/drawing/2014/main" val="20001"/>
                    </a:ext>
                  </a:extLst>
                </a:gridCol>
                <a:gridCol w="153670">
                  <a:extLst>
                    <a:ext uri="{9D8B030D-6E8A-4147-A177-3AD203B41FA5}">
                      <a16:colId xmlns:a16="http://schemas.microsoft.com/office/drawing/2014/main" val="20002"/>
                    </a:ext>
                  </a:extLst>
                </a:gridCol>
                <a:gridCol w="831215">
                  <a:extLst>
                    <a:ext uri="{9D8B030D-6E8A-4147-A177-3AD203B41FA5}">
                      <a16:colId xmlns:a16="http://schemas.microsoft.com/office/drawing/2014/main" val="20003"/>
                    </a:ext>
                  </a:extLst>
                </a:gridCol>
                <a:gridCol w="1344295">
                  <a:extLst>
                    <a:ext uri="{9D8B030D-6E8A-4147-A177-3AD203B41FA5}">
                      <a16:colId xmlns:a16="http://schemas.microsoft.com/office/drawing/2014/main" val="20004"/>
                    </a:ext>
                  </a:extLst>
                </a:gridCol>
              </a:tblGrid>
              <a:tr h="245324">
                <a:tc gridSpan="5">
                  <a:txBody>
                    <a:bodyPr/>
                    <a:lstStyle/>
                    <a:p>
                      <a:pPr marL="0" marR="0" lvl="0" indent="0" algn="ctr" defTabSz="914400" rtl="0" eaLnBrk="1" fontAlgn="auto" latinLnBrk="0" hangingPunct="1">
                        <a:lnSpc>
                          <a:spcPct val="90000"/>
                        </a:lnSpc>
                        <a:spcBef>
                          <a:spcPts val="0"/>
                        </a:spcBef>
                        <a:spcAft>
                          <a:spcPts val="0"/>
                        </a:spcAft>
                        <a:buClrTx/>
                        <a:buSzTx/>
                        <a:buFontTx/>
                        <a:buNone/>
                        <a:defRPr/>
                      </a:pPr>
                      <a:r>
                        <a:rPr lang="en-US"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190315">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en-US"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 altLang="en-US" sz="900" b="0" kern="1200" dirty="0" smtClean="0">
                          <a:solidFill>
                            <a:schemeClr val="tx1"/>
                          </a:solidFill>
                          <a:latin typeface="+mn-lt"/>
                          <a:ea typeface="+mn-ea"/>
                          <a:cs typeface="+mn-cs"/>
                        </a:rPr>
                        <a:t>САФЬЯНОВА</a:t>
                      </a:r>
                      <a:r>
                        <a:rPr lang="en-US" altLang="en-US" sz="900" b="0" kern="1200" dirty="0" smtClean="0">
                          <a:solidFill>
                            <a:schemeClr val="tx1"/>
                          </a:solidFill>
                          <a:latin typeface="+mn-lt"/>
                          <a:ea typeface="+mn-ea"/>
                          <a:cs typeface="+mn-cs"/>
                        </a:rPr>
                        <a:t>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189683">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en-US"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 altLang="en-US" sz="800" b="0" kern="1200" dirty="0" smtClean="0">
                          <a:solidFill>
                            <a:schemeClr val="tx1"/>
                          </a:solidFill>
                          <a:latin typeface="+mn-lt"/>
                          <a:ea typeface="+mn-ea"/>
                          <a:cs typeface="+mn-cs"/>
                        </a:rPr>
                        <a:t>Венера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190315">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 altLang="en-US" sz="800" b="0" kern="1200" dirty="0" smtClean="0">
                          <a:solidFill>
                            <a:schemeClr val="tx1"/>
                          </a:solidFill>
                          <a:latin typeface="+mn-lt"/>
                          <a:ea typeface="+mn-ea"/>
                          <a:cs typeface="+mn-cs"/>
                        </a:rPr>
                        <a:t>Музагидовна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9094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en-US"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 altLang="en-US" sz="900" b="0" kern="1200" dirty="0">
                          <a:solidFill>
                            <a:schemeClr val="tx1"/>
                          </a:solidFill>
                          <a:latin typeface="+mn-lt"/>
                          <a:ea typeface="+mn-ea"/>
                          <a:cs typeface="+mn-cs"/>
                        </a:rPr>
                        <a:t>ТАТАР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190315">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 altLang="ru-RU" sz="800" b="0" kern="1200" dirty="0" smtClean="0">
                          <a:solidFill>
                            <a:schemeClr val="tx1"/>
                          </a:solidFill>
                          <a:latin typeface="+mn-lt"/>
                          <a:ea typeface="+mn-ea"/>
                          <a:cs typeface="+mn-cs"/>
                        </a:rPr>
                        <a:t>27</a:t>
                      </a:r>
                      <a:r>
                        <a:rPr lang="ru-RU" sz="800" b="0" kern="1200" dirty="0" smtClean="0">
                          <a:solidFill>
                            <a:schemeClr val="tx1"/>
                          </a:solidFill>
                          <a:latin typeface="+mn-lt"/>
                          <a:ea typeface="+mn-ea"/>
                          <a:cs typeface="+mn-cs"/>
                        </a:rPr>
                        <a:t>.0</a:t>
                      </a:r>
                      <a:r>
                        <a:rPr lang="" altLang="ru-RU" sz="800" b="0" kern="1200" dirty="0" smtClean="0">
                          <a:solidFill>
                            <a:schemeClr val="tx1"/>
                          </a:solidFill>
                          <a:latin typeface="+mn-lt"/>
                          <a:ea typeface="+mn-ea"/>
                          <a:cs typeface="+mn-cs"/>
                        </a:rPr>
                        <a:t>6</a:t>
                      </a:r>
                      <a:r>
                        <a:rPr lang="ru-RU" sz="800" b="0" kern="1200" dirty="0" smtClean="0">
                          <a:solidFill>
                            <a:schemeClr val="tx1"/>
                          </a:solidFill>
                          <a:latin typeface="+mn-lt"/>
                          <a:ea typeface="+mn-ea"/>
                          <a:cs typeface="+mn-cs"/>
                        </a:rPr>
                        <a:t>.19</a:t>
                      </a:r>
                      <a:r>
                        <a:rPr lang="en-US" altLang="ru-RU" sz="800" b="0" kern="1200" dirty="0" smtClean="0">
                          <a:solidFill>
                            <a:schemeClr val="tx1"/>
                          </a:solidFill>
                          <a:latin typeface="+mn-lt"/>
                          <a:ea typeface="+mn-ea"/>
                          <a:cs typeface="+mn-cs"/>
                        </a:rPr>
                        <a:t>56</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292492">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Татаристон, Алметьев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232678">
                <a:tc gridSpan="5">
                  <a:txBody>
                    <a:bodyPr/>
                    <a:lstStyle/>
                    <a:p>
                      <a:pPr algn="ctr"/>
                      <a:r>
                        <a:rPr lang="en-US"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483693">
                <a:tc gridSpan="2">
                  <a:txBody>
                    <a:bodyPr/>
                    <a:lstStyle/>
                    <a:p>
                      <a:pPr marL="0" marR="0" lvl="0" indent="0" algn="ctr" defTabSz="914400" rtl="0" eaLnBrk="1" fontAlgn="auto" latinLnBrk="0" hangingPunct="1">
                        <a:lnSpc>
                          <a:spcPct val="85000"/>
                        </a:lnSpc>
                        <a:spcBef>
                          <a:spcPts val="0"/>
                        </a:spcBef>
                        <a:spcAft>
                          <a:spcPts val="0"/>
                        </a:spcAft>
                        <a:buClrTx/>
                        <a:buSzTx/>
                        <a:buFontTx/>
                        <a:buNone/>
                        <a:defRPr/>
                      </a:pPr>
                      <a:r>
                        <a:rPr lang="en-US" sz="900" b="1" noProof="0" dirty="0" smtClean="0">
                          <a:latin typeface="+mn-lt"/>
                        </a:rPr>
                        <a:t>Оилавий ва ижтимоий ахволи</a:t>
                      </a:r>
                      <a:r>
                        <a:rPr lang="en-US" sz="900" b="1" noProof="0" dirty="0">
                          <a:latin typeface="+mn-lt"/>
                        </a:rPr>
                        <a:t>:</a:t>
                      </a:r>
                      <a:endParaRPr lang="en-US"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900" b="0" kern="1200" noProof="0" dirty="0">
                          <a:solidFill>
                            <a:schemeClr val="tx1"/>
                          </a:solidFill>
                          <a:latin typeface="+mn-lt"/>
                          <a:ea typeface="+mn-ea"/>
                          <a:cs typeface="+mn-cs"/>
                        </a:rPr>
                        <a:t>Оилали, </a:t>
                      </a:r>
                      <a:r>
                        <a:rPr lang="en-US" altLang="en-US" sz="900" b="0" kern="1200" noProof="0" dirty="0">
                          <a:solidFill>
                            <a:schemeClr val="tx1"/>
                          </a:solidFill>
                          <a:latin typeface="+mn-lt"/>
                          <a:ea typeface="+mn-ea"/>
                          <a:cs typeface="+mn-cs"/>
                        </a:rPr>
                        <a:t>1</a:t>
                      </a:r>
                      <a:r>
                        <a:rPr lang="en-US" sz="900" b="0" kern="1200" noProof="0" dirty="0" smtClean="0">
                          <a:solidFill>
                            <a:schemeClr val="tx1"/>
                          </a:solidFill>
                          <a:latin typeface="+mn-lt"/>
                          <a:ea typeface="+mn-ea"/>
                          <a:cs typeface="+mn-cs"/>
                        </a:rPr>
                        <a:t> </a:t>
                      </a:r>
                      <a:r>
                        <a:rPr lang="en-US" sz="900" b="0" kern="1200" noProof="0" dirty="0">
                          <a:solidFill>
                            <a:schemeClr val="tx1"/>
                          </a:solidFill>
                          <a:latin typeface="+mn-lt"/>
                          <a:ea typeface="+mn-ea"/>
                          <a:cs typeface="+mn-cs"/>
                        </a:rPr>
                        <a:t>нафар </a:t>
                      </a:r>
                      <a:r>
                        <a:rPr lang="en-US" sz="900" b="0" kern="1200" noProof="0" dirty="0" smtClean="0">
                          <a:solidFill>
                            <a:schemeClr val="tx1"/>
                          </a:solidFill>
                          <a:latin typeface="+mn-lt"/>
                          <a:ea typeface="+mn-ea"/>
                          <a:cs typeface="+mn-cs"/>
                        </a:rPr>
                        <a:t>ўғил</a:t>
                      </a:r>
                      <a:r>
                        <a:rPr lang="en-US" altLang="en-US" sz="900" b="0" kern="1200" noProof="0" dirty="0" smtClean="0">
                          <a:solidFill>
                            <a:schemeClr val="tx1"/>
                          </a:solidFill>
                          <a:latin typeface="+mn-lt"/>
                          <a:ea typeface="+mn-ea"/>
                          <a:cs typeface="+mn-cs"/>
                        </a:rPr>
                        <a:t> , </a:t>
                      </a:r>
                      <a:r>
                        <a:rPr lang="en-US" altLang="en-US" sz="900" noProof="0" dirty="0" smtClean="0">
                          <a:sym typeface="+mn-ea"/>
                        </a:rPr>
                        <a:t>1 нафар қиз</a:t>
                      </a:r>
                      <a:r>
                        <a:rPr lang="en-US" sz="900" noProof="0" dirty="0" smtClean="0">
                          <a:sym typeface="+mn-ea"/>
                        </a:rPr>
                        <a:t> </a:t>
                      </a:r>
                      <a:r>
                        <a:rPr lang="en-US" sz="900" noProof="0" dirty="0">
                          <a:sym typeface="+mn-ea"/>
                        </a:rPr>
                        <a:t>фарзанди </a:t>
                      </a:r>
                      <a:r>
                        <a:rPr lang="en-US" sz="900" noProof="0" dirty="0" smtClean="0">
                          <a:sym typeface="+mn-ea"/>
                        </a:rPr>
                        <a:t>бор,</a:t>
                      </a:r>
                    </a:p>
                    <a:p>
                      <a:pPr marL="0" marR="0" lvl="0" indent="0" algn="ctr" defTabSz="914400" rtl="0" eaLnBrk="1" fontAlgn="auto" latinLnBrk="0" hangingPunct="1">
                        <a:lnSpc>
                          <a:spcPct val="100000"/>
                        </a:lnSpc>
                        <a:spcBef>
                          <a:spcPts val="0"/>
                        </a:spcBef>
                        <a:spcAft>
                          <a:spcPts val="0"/>
                        </a:spcAft>
                        <a:buClrTx/>
                        <a:buSzTx/>
                        <a:buFontTx/>
                        <a:buNone/>
                        <a:defRPr/>
                      </a:pPr>
                      <a:r>
                        <a:rPr lang="en-US" sz="900" noProof="0" dirty="0" smtClean="0">
                          <a:sym typeface="+mn-ea"/>
                        </a:rPr>
                        <a:t>ҳозирда нафақада</a:t>
                      </a:r>
                      <a:r>
                        <a:rPr lang="en-US" sz="900" b="0" kern="1200" noProof="0" dirty="0" smtClean="0">
                          <a:solidFill>
                            <a:schemeClr val="tx1"/>
                          </a:solidFill>
                          <a:latin typeface="+mn-lt"/>
                          <a:ea typeface="+mn-ea"/>
                          <a:cs typeface="+mn-cs"/>
                        </a:rPr>
                        <a:t> </a:t>
                      </a:r>
                      <a:endParaRPr lang="en-US"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8"/>
                  </a:ext>
                </a:extLst>
              </a:tr>
              <a:tr h="232046">
                <a:tc gridSpan="5">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09"/>
                  </a:ext>
                </a:extLst>
              </a:tr>
              <a:tr h="562727">
                <a:tc>
                  <a:txBody>
                    <a:bodyPr/>
                    <a:lstStyle/>
                    <a:p>
                      <a:pPr algn="ctr">
                        <a:lnSpc>
                          <a:spcPct val="85000"/>
                        </a:lnSpc>
                      </a:pPr>
                      <a:r>
                        <a:rPr lang="en-US"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 altLang="en-US" sz="900" b="1" kern="1200" noProof="0" dirty="0" smtClean="0">
                          <a:solidFill>
                            <a:schemeClr val="tx1"/>
                          </a:solidFill>
                          <a:latin typeface="+mn-lt"/>
                          <a:ea typeface="+mn-ea"/>
                          <a:cs typeface="Arial" panose="020B0604020202020204" pitchFamily="34" charset="0"/>
                        </a:rPr>
                        <a:t>САФЬЯНОВ</a:t>
                      </a:r>
                      <a:r>
                        <a:rPr lang="" altLang="en-US" sz="900" b="0" kern="1200" noProof="0" dirty="0" smtClean="0">
                          <a:solidFill>
                            <a:schemeClr val="tx1"/>
                          </a:solidFill>
                          <a:latin typeface="+mn-lt"/>
                          <a:ea typeface="+mn-ea"/>
                          <a:cs typeface="Arial" panose="020B0604020202020204" pitchFamily="34" charset="0"/>
                        </a:rPr>
                        <a:t> </a:t>
                      </a:r>
                      <a:r>
                        <a:rPr lang="en-US" altLang="en-US" sz="900" b="0" kern="1200" noProof="0" dirty="0" smtClean="0">
                          <a:solidFill>
                            <a:schemeClr val="tx1"/>
                          </a:solidFill>
                          <a:latin typeface="+mn-lt"/>
                          <a:ea typeface="+mn-ea"/>
                          <a:cs typeface="Arial" panose="020B0604020202020204" pitchFamily="34" charset="0"/>
                        </a:rPr>
                        <a:t>Музагид Суфьянович</a:t>
                      </a:r>
                    </a:p>
                    <a:p>
                      <a:pPr algn="l">
                        <a:lnSpc>
                          <a:spcPct val="85000"/>
                        </a:lnSpc>
                      </a:pPr>
                      <a:r>
                        <a:rPr lang="en-US" altLang="en-US" sz="900" b="0" kern="1200" noProof="0" dirty="0">
                          <a:solidFill>
                            <a:schemeClr val="tx1"/>
                          </a:solidFill>
                          <a:latin typeface="+mn-lt"/>
                          <a:ea typeface="+mn-ea"/>
                          <a:cs typeface="Arial" panose="020B0604020202020204" pitchFamily="34" charset="0"/>
                        </a:rPr>
                        <a:t>1916 йил, Тошкент шаҳр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Arial" panose="020B0604020202020204" pitchFamily="34" charset="0"/>
                        </a:rPr>
                        <a:t>1991 йил вафот этган</a:t>
                      </a:r>
                    </a:p>
                    <a:p>
                      <a:pPr algn="l">
                        <a:lnSpc>
                          <a:spcPct val="85000"/>
                        </a:lnSpc>
                      </a:pPr>
                      <a:r>
                        <a:rPr lang="en-US" altLang="en-US" sz="900" b="0" kern="1200" noProof="0" dirty="0">
                          <a:solidFill>
                            <a:schemeClr val="tx1"/>
                          </a:solidFill>
                          <a:latin typeface="+mn-lt"/>
                          <a:ea typeface="+mn-ea"/>
                          <a:cs typeface="Arial" panose="020B0604020202020204" pitchFamily="34" charset="0"/>
                        </a:rPr>
                        <a:t>(Тошкент трактор заводи ишчиси)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538322">
                <a:tc>
                  <a:txBody>
                    <a:bodyPr/>
                    <a:lstStyle/>
                    <a:p>
                      <a:pPr algn="ctr">
                        <a:lnSpc>
                          <a:spcPct val="85000"/>
                        </a:lnSpc>
                      </a:pPr>
                      <a:r>
                        <a:rPr lang="en-US"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 altLang="en-US" sz="900" b="1" kern="1200" noProof="0" dirty="0" smtClean="0">
                          <a:solidFill>
                            <a:schemeClr val="tx1"/>
                          </a:solidFill>
                          <a:latin typeface="+mn-lt"/>
                          <a:ea typeface="+mn-ea"/>
                          <a:cs typeface="Arial" panose="020B0604020202020204" pitchFamily="34" charset="0"/>
                        </a:rPr>
                        <a:t>АХТЯМОВА</a:t>
                      </a:r>
                      <a:r>
                        <a:rPr lang="" altLang="en-US" sz="900" b="0" kern="1200" noProof="0" dirty="0" smtClean="0">
                          <a:solidFill>
                            <a:schemeClr val="tx1"/>
                          </a:solidFill>
                          <a:latin typeface="+mn-lt"/>
                          <a:ea typeface="+mn-ea"/>
                          <a:cs typeface="Arial" panose="020B0604020202020204" pitchFamily="34" charset="0"/>
                        </a:rPr>
                        <a:t> </a:t>
                      </a:r>
                      <a:r>
                        <a:rPr lang="en-US" altLang="en-US" sz="900" b="0" kern="1200" noProof="0" dirty="0" smtClean="0">
                          <a:solidFill>
                            <a:schemeClr val="tx1"/>
                          </a:solidFill>
                          <a:latin typeface="+mn-lt"/>
                          <a:ea typeface="+mn-ea"/>
                          <a:cs typeface="Arial" panose="020B0604020202020204" pitchFamily="34" charset="0"/>
                        </a:rPr>
                        <a:t>Зайтуна Атауллаевна</a:t>
                      </a:r>
                    </a:p>
                    <a:p>
                      <a:pPr algn="l">
                        <a:lnSpc>
                          <a:spcPct val="85000"/>
                        </a:lnSpc>
                      </a:pPr>
                      <a:r>
                        <a:rPr lang="en-US" altLang="en-US" sz="900" b="0" kern="1200" noProof="0" dirty="0" smtClean="0">
                          <a:solidFill>
                            <a:schemeClr val="tx1"/>
                          </a:solidFill>
                          <a:latin typeface="+mn-lt"/>
                          <a:ea typeface="+mn-ea"/>
                          <a:cs typeface="Arial" panose="020B0604020202020204" pitchFamily="34" charset="0"/>
                        </a:rPr>
                        <a:t>1922 йил, Татаристон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Arial" panose="020B0604020202020204" pitchFamily="34" charset="0"/>
                        </a:rPr>
                        <a:t>1991 йил вафот этган</a:t>
                      </a:r>
                    </a:p>
                    <a:p>
                      <a:pPr algn="l">
                        <a:lnSpc>
                          <a:spcPct val="85000"/>
                        </a:lnSpc>
                      </a:pPr>
                      <a:r>
                        <a:rPr lang="en-US" altLang="en-US" sz="900" b="0" kern="1200" noProof="0" dirty="0">
                          <a:solidFill>
                            <a:schemeClr val="tx1"/>
                          </a:solidFill>
                          <a:latin typeface="+mn-lt"/>
                          <a:ea typeface="+mn-ea"/>
                          <a:cs typeface="Arial" panose="020B0604020202020204" pitchFamily="34" charset="0"/>
                        </a:rPr>
                        <a:t>(Тошкент шахри 142-почта ишчиси)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r h="538322">
                <a:tc>
                  <a:txBody>
                    <a:bodyPr/>
                    <a:lstStyle/>
                    <a:p>
                      <a:pPr algn="ctr">
                        <a:lnSpc>
                          <a:spcPct val="85000"/>
                        </a:lnSpc>
                      </a:pPr>
                      <a:r>
                        <a:rPr lang="en-US"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 altLang="en-US" sz="900" b="1" kern="1200" noProof="0" dirty="0" smtClean="0">
                          <a:solidFill>
                            <a:schemeClr val="tx1"/>
                          </a:solidFill>
                          <a:latin typeface="+mn-lt"/>
                          <a:ea typeface="+mn-ea"/>
                          <a:cs typeface="Arial" panose="020B0604020202020204" pitchFamily="34" charset="0"/>
                        </a:rPr>
                        <a:t>ПЕТУХОВ</a:t>
                      </a:r>
                      <a:r>
                        <a:rPr lang="" altLang="en-US" sz="900" b="0" kern="1200" noProof="0" dirty="0" smtClean="0">
                          <a:solidFill>
                            <a:schemeClr val="tx1"/>
                          </a:solidFill>
                          <a:latin typeface="+mn-lt"/>
                          <a:ea typeface="+mn-ea"/>
                          <a:cs typeface="Arial" panose="020B0604020202020204" pitchFamily="34" charset="0"/>
                        </a:rPr>
                        <a:t> </a:t>
                      </a:r>
                      <a:r>
                        <a:rPr lang="en-US" altLang="en-US" sz="900" b="0" kern="1200" noProof="0" dirty="0" smtClean="0">
                          <a:solidFill>
                            <a:schemeClr val="tx1"/>
                          </a:solidFill>
                          <a:latin typeface="+mn-lt"/>
                          <a:ea typeface="+mn-ea"/>
                          <a:cs typeface="Arial" panose="020B0604020202020204" pitchFamily="34" charset="0"/>
                        </a:rPr>
                        <a:t>Вячеслав Васильевич</a:t>
                      </a:r>
                      <a:r>
                        <a:rPr lang="" altLang="en-US" sz="900" b="0" kern="1200" noProof="0" dirty="0" smtClean="0">
                          <a:solidFill>
                            <a:schemeClr val="tx1"/>
                          </a:solidFill>
                          <a:latin typeface="+mn-lt"/>
                          <a:ea typeface="+mn-ea"/>
                          <a:cs typeface="Arial" panose="020B0604020202020204" pitchFamily="34" charset="0"/>
                        </a:rPr>
                        <a:t> </a:t>
                      </a:r>
                      <a:r>
                        <a:rPr lang="en-US" altLang="en-US" sz="900" b="0" kern="1200" noProof="0" dirty="0" smtClean="0">
                          <a:solidFill>
                            <a:schemeClr val="tx1"/>
                          </a:solidFill>
                          <a:latin typeface="+mn-lt"/>
                          <a:ea typeface="+mn-ea"/>
                          <a:cs typeface="Arial" panose="020B0604020202020204" pitchFamily="34" charset="0"/>
                        </a:rPr>
                        <a:t>1957 йил, Новосибирск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 altLang="en-US" sz="900" b="0" kern="1200" noProof="0" dirty="0">
                          <a:solidFill>
                            <a:schemeClr val="tx1"/>
                          </a:solidFill>
                          <a:latin typeface="+mn-lt"/>
                          <a:ea typeface="+mn-ea"/>
                          <a:cs typeface="+mn-cs"/>
                        </a:rPr>
                        <a:t>2025 йил вафот этган </a:t>
                      </a:r>
                      <a:r>
                        <a:rPr lang="en-US" altLang="en-US" sz="900" b="0" kern="1200" noProof="0" dirty="0">
                          <a:solidFill>
                            <a:schemeClr val="tx1"/>
                          </a:solidFill>
                          <a:latin typeface="+mn-lt"/>
                          <a:ea typeface="+mn-ea"/>
                          <a:cs typeface="+mn-cs"/>
                        </a:rPr>
                        <a:t>(Махсус жихозларни ўрнатиш  курилиш мантёри)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2"/>
                  </a:ext>
                </a:extLst>
              </a:tr>
              <a:tr h="209916">
                <a:tc gridSpan="5">
                  <a:txBody>
                    <a:bodyPr/>
                    <a:lstStyle/>
                    <a:p>
                      <a:pPr algn="ctr">
                        <a:lnSpc>
                          <a:spcPct val="85000"/>
                        </a:lnSpc>
                      </a:pPr>
                      <a:r>
                        <a:rPr lang="en-US"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10013"/>
                  </a:ext>
                </a:extLst>
              </a:tr>
              <a:tr h="432478">
                <a:tc gridSpan="3">
                  <a:txBody>
                    <a:bodyPr/>
                    <a:lstStyle/>
                    <a:p>
                      <a:pPr algn="l">
                        <a:lnSpc>
                          <a:spcPct val="85000"/>
                        </a:lnSpc>
                      </a:pPr>
                      <a:r>
                        <a:rPr lang="en-US" sz="900" b="1" noProof="0" dirty="0">
                          <a:latin typeface="+mn-lt"/>
                        </a:rPr>
                        <a:t>Тамомлаган ОТМ:</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noProof="0" dirty="0" smtClean="0">
                          <a:sym typeface="+mn-ea"/>
                        </a:rPr>
                        <a:t>197</a:t>
                      </a:r>
                      <a:r>
                        <a:rPr lang="" altLang="ru-RU" sz="900" noProof="0" dirty="0" smtClean="0">
                          <a:sym typeface="+mn-ea"/>
                        </a:rPr>
                        <a:t>7</a:t>
                      </a:r>
                      <a:r>
                        <a:rPr lang="ru-RU" sz="900" noProof="0" dirty="0" smtClean="0">
                          <a:sym typeface="+mn-ea"/>
                        </a:rPr>
                        <a:t> й.</a:t>
                      </a:r>
                      <a:r>
                        <a:rPr lang="en-US" altLang="en-US" sz="900" noProof="0" dirty="0" smtClean="0">
                          <a:sym typeface="+mn-ea"/>
                        </a:rPr>
                        <a:t>Тошкент театр ва рассомлик институти</a:t>
                      </a:r>
                      <a:r>
                        <a:rPr lang="ru-RU" sz="900" noProof="0" dirty="0" smtClean="0">
                          <a:sym typeface="+mn-ea"/>
                        </a:rPr>
                        <a:t> (</a:t>
                      </a:r>
                      <a:r>
                        <a:rPr lang="ru-RU" sz="900" noProof="0" dirty="0" err="1" smtClean="0">
                          <a:sym typeface="+mn-ea"/>
                        </a:rPr>
                        <a:t>кундузги</a:t>
                      </a:r>
                      <a:r>
                        <a:rPr lang="ru-RU" sz="900" noProof="0" dirty="0" smtClean="0">
                          <a:sym typeface="+mn-ea"/>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4"/>
                  </a:ext>
                </a:extLst>
              </a:tr>
              <a:tr h="276305">
                <a:tc gridSpan="3">
                  <a:txBody>
                    <a:bodyPr/>
                    <a:lstStyle/>
                    <a:p>
                      <a:pPr marL="0" marR="0" lvl="0" indent="0" algn="l" defTabSz="914400" rtl="0" eaLnBrk="1" fontAlgn="auto" latinLnBrk="0" hangingPunct="1">
                        <a:lnSpc>
                          <a:spcPct val="85000"/>
                        </a:lnSpc>
                        <a:spcBef>
                          <a:spcPts val="0"/>
                        </a:spcBef>
                        <a:spcAft>
                          <a:spcPts val="0"/>
                        </a:spcAft>
                        <a:buClrTx/>
                        <a:buSzTx/>
                        <a:buFontTx/>
                        <a:buNone/>
                        <a:defRPr/>
                      </a:pPr>
                      <a:r>
                        <a:rPr lang="en-US" sz="900" b="1" noProof="0" dirty="0">
                          <a:latin typeface="+mn-lt"/>
                        </a:rPr>
                        <a:t>Мутахассислиги:</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altLang="en-US" sz="900" b="0" kern="1200" noProof="0" dirty="0">
                          <a:solidFill>
                            <a:schemeClr val="tx1"/>
                          </a:solidFill>
                          <a:latin typeface="+mn-lt"/>
                          <a:ea typeface="+mn-ea"/>
                          <a:cs typeface="+mn-cs"/>
                        </a:rPr>
                        <a:t>драма театри ва кино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5"/>
                  </a:ext>
                </a:extLst>
              </a:tr>
              <a:tr h="306150">
                <a:tc gridSpan="3">
                  <a:txBody>
                    <a:bodyPr/>
                    <a:lstStyle/>
                    <a:p>
                      <a:pPr algn="l">
                        <a:lnSpc>
                          <a:spcPct val="85000"/>
                        </a:lnSpc>
                      </a:pPr>
                      <a:r>
                        <a:rPr lang="en-US" sz="900" b="1" kern="1200" noProof="0" dirty="0">
                          <a:solidFill>
                            <a:schemeClr val="tx1"/>
                          </a:solidFill>
                          <a:latin typeface="+mn-lt"/>
                          <a:ea typeface="+mn-ea"/>
                          <a:cs typeface="+mn-cs"/>
                        </a:rPr>
                        <a:t>Илмий даража (унвон):</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6"/>
                  </a:ext>
                </a:extLst>
              </a:tr>
              <a:tr h="306150">
                <a:tc gridSpan="3">
                  <a:txBody>
                    <a:bodyPr/>
                    <a:lstStyle/>
                    <a:p>
                      <a:pPr algn="l">
                        <a:lnSpc>
                          <a:spcPct val="85000"/>
                        </a:lnSpc>
                      </a:pPr>
                      <a:r>
                        <a:rPr lang="en-US"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7"/>
                  </a:ext>
                </a:extLst>
              </a:tr>
              <a:tr h="306150">
                <a:tc gridSpan="3">
                  <a:txBody>
                    <a:bodyPr/>
                    <a:lstStyle/>
                    <a:p>
                      <a:pPr algn="l">
                        <a:lnSpc>
                          <a:spcPct val="85000"/>
                        </a:lnSpc>
                      </a:pPr>
                      <a:r>
                        <a:rPr lang="en-US"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8"/>
                  </a:ext>
                </a:extLst>
              </a:tr>
            </a:tbl>
          </a:graphicData>
        </a:graphic>
      </p:graphicFrame>
      <p:graphicFrame>
        <p:nvGraphicFramePr>
          <p:cNvPr id="5" name="Таблица 4"/>
          <p:cNvGraphicFramePr>
            <a:graphicFrameLocks noGrp="1"/>
          </p:cNvGraphicFramePr>
          <p:nvPr/>
        </p:nvGraphicFramePr>
        <p:xfrm>
          <a:off x="3674745" y="865505"/>
          <a:ext cx="3173095" cy="5914328"/>
        </p:xfrm>
        <a:graphic>
          <a:graphicData uri="http://schemas.openxmlformats.org/drawingml/2006/table">
            <a:tbl>
              <a:tblPr firstRow="1" bandRow="1">
                <a:tableStyleId>{C083E6E3-FA7D-4D7B-A595-EF9225AFEA82}</a:tableStyleId>
              </a:tblPr>
              <a:tblGrid>
                <a:gridCol w="1417320">
                  <a:extLst>
                    <a:ext uri="{9D8B030D-6E8A-4147-A177-3AD203B41FA5}">
                      <a16:colId xmlns:a16="http://schemas.microsoft.com/office/drawing/2014/main" val="20000"/>
                    </a:ext>
                  </a:extLst>
                </a:gridCol>
                <a:gridCol w="1755775">
                  <a:extLst>
                    <a:ext uri="{9D8B030D-6E8A-4147-A177-3AD203B41FA5}">
                      <a16:colId xmlns:a16="http://schemas.microsoft.com/office/drawing/2014/main" val="20001"/>
                    </a:ext>
                  </a:extLst>
                </a:gridCol>
              </a:tblGrid>
              <a:tr h="318770">
                <a:tc gridSpan="2">
                  <a:txBody>
                    <a:bodyPr/>
                    <a:lstStyle/>
                    <a:p>
                      <a:pPr algn="ctr"/>
                      <a:r>
                        <a:rPr lang="en-US"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539750">
                <a:tc>
                  <a:txBody>
                    <a:bodyPr/>
                    <a:lstStyle/>
                    <a:p>
                      <a:pPr algn="l">
                        <a:lnSpc>
                          <a:spcPct val="85000"/>
                        </a:lnSpc>
                      </a:pPr>
                      <a:r>
                        <a:rPr lang="en-US" sz="900" b="1" i="0" noProof="0" dirty="0">
                          <a:solidFill>
                            <a:schemeClr val="tx1"/>
                          </a:solidFill>
                          <a:latin typeface="+mn-lt"/>
                        </a:rPr>
                        <a:t>Эгаллаб турган </a:t>
                      </a:r>
                      <a:r>
                        <a:rPr lang="en-US" sz="900" b="1" i="0" noProof="0" dirty="0" smtClean="0">
                          <a:solidFill>
                            <a:schemeClr val="tx1"/>
                          </a:solidFill>
                          <a:latin typeface="+mn-lt"/>
                        </a:rPr>
                        <a:t>лавозими</a:t>
                      </a:r>
                      <a:r>
                        <a:rPr lang="en-US"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en-US" sz="900" b="1" kern="1200" noProof="0" dirty="0" smtClean="0">
                          <a:solidFill>
                            <a:schemeClr val="tx1"/>
                          </a:solidFill>
                          <a:latin typeface="+mn-lt"/>
                          <a:ea typeface="+mn-ea"/>
                          <a:cs typeface="+mn-cs"/>
                        </a:rPr>
                        <a:t>20</a:t>
                      </a:r>
                      <a:r>
                        <a:rPr lang="en-US" altLang="en-US" sz="900" b="1" kern="1200" noProof="0" dirty="0" smtClean="0">
                          <a:solidFill>
                            <a:schemeClr val="tx1"/>
                          </a:solidFill>
                          <a:latin typeface="+mn-lt"/>
                          <a:ea typeface="+mn-ea"/>
                          <a:cs typeface="+mn-cs"/>
                        </a:rPr>
                        <a:t>15</a:t>
                      </a:r>
                      <a:r>
                        <a:rPr lang="en-US" sz="900" b="1" kern="1200" noProof="0" dirty="0" smtClean="0">
                          <a:solidFill>
                            <a:schemeClr val="tx1"/>
                          </a:solidFill>
                          <a:latin typeface="+mn-lt"/>
                          <a:ea typeface="+mn-ea"/>
                          <a:cs typeface="+mn-cs"/>
                        </a:rPr>
                        <a:t> йилдан буён </a:t>
                      </a:r>
                      <a:r>
                        <a:rPr lang="en-US" altLang="en-US" sz="900" b="1" noProof="0" dirty="0" smtClean="0">
                          <a:sym typeface="+mn-ea"/>
                        </a:rPr>
                        <a:t>Ўзбекистон давлат ёш томошабинлар театри етакчи сахна устаси артисти</a:t>
                      </a:r>
                      <a:endParaRPr lang="en-US" altLang="en-US" sz="900" b="1" kern="1200" noProof="0" dirty="0" smtClean="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37490">
                <a:tc>
                  <a:txBody>
                    <a:bodyPr/>
                    <a:lstStyle/>
                    <a:p>
                      <a:pPr algn="l">
                        <a:lnSpc>
                          <a:spcPct val="85000"/>
                        </a:lnSpc>
                      </a:pPr>
                      <a:r>
                        <a:rPr lang="en-US"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en-US"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en-US"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04470">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b="0" noProof="0" dirty="0" smtClean="0">
                          <a:effectLst/>
                          <a:latin typeface="+mn-lt"/>
                          <a:ea typeface="Calibri" panose="020F0502020204030204" pitchFamily="34" charset="0"/>
                          <a:cs typeface="Times New Roman" panose="02020603050405020304" pitchFamily="18" charset="0"/>
                        </a:rPr>
                        <a:t>4</a:t>
                      </a:r>
                      <a:r>
                        <a:rPr lang="" altLang="en-US" sz="900" b="0" noProof="0" dirty="0" smtClean="0">
                          <a:effectLst/>
                          <a:latin typeface="+mn-lt"/>
                          <a:ea typeface="Calibri" panose="020F0502020204030204" pitchFamily="34" charset="0"/>
                          <a:cs typeface="Times New Roman" panose="02020603050405020304" pitchFamily="18" charset="0"/>
                        </a:rPr>
                        <a:t>8</a:t>
                      </a:r>
                      <a:r>
                        <a:rPr lang="en-US" sz="900" b="0" noProof="0" dirty="0" smtClean="0">
                          <a:effectLst/>
                          <a:latin typeface="+mn-lt"/>
                          <a:ea typeface="Calibri" panose="020F0502020204030204" pitchFamily="34" charset="0"/>
                          <a:cs typeface="Times New Roman" panose="02020603050405020304" pitchFamily="18" charset="0"/>
                        </a:rPr>
                        <a:t> </a:t>
                      </a:r>
                      <a:r>
                        <a:rPr lang="en-US"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91135">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b="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395605">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en-US"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293370">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841375">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en-US" altLang="ru-RU"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440055">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kern="1200" noProof="0" dirty="0" smtClean="0">
                          <a:solidFill>
                            <a:schemeClr val="tx1"/>
                          </a:solidFill>
                          <a:effectLst/>
                          <a:latin typeface="+mn-lt"/>
                          <a:ea typeface="Calibri" panose="020F0502020204030204" pitchFamily="34" charset="0"/>
                          <a:cs typeface="Times New Roman" panose="02020603050405020304" pitchFamily="18" charset="0"/>
                        </a:rPr>
                        <a:t>2025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8"/>
                  </a:ext>
                </a:extLst>
              </a:tr>
              <a:tr h="252095">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220345">
                <a:tc gridSpan="2">
                  <a:txBody>
                    <a:bodyPr/>
                    <a:lstStyle/>
                    <a:p>
                      <a:pPr algn="ctr"/>
                      <a:r>
                        <a:rPr lang="en-US"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1978660">
                <a:tc gridSpan="2">
                  <a:txBody>
                    <a:bodyPr/>
                    <a:lstStyle/>
                    <a:p>
                      <a:pPr marL="0" marR="0" indent="0" algn="just" defTabSz="914400" rtl="0" eaLnBrk="1" fontAlgn="auto" latinLnBrk="0" hangingPunct="1">
                        <a:lnSpc>
                          <a:spcPct val="107000"/>
                        </a:lnSpc>
                        <a:spcBef>
                          <a:spcPts val="0"/>
                        </a:spcBef>
                        <a:spcAft>
                          <a:spcPts val="0"/>
                        </a:spcAft>
                        <a:buClrTx/>
                        <a:buSzTx/>
                        <a:buFontTx/>
                        <a:buNone/>
                        <a:defRPr/>
                      </a:pPr>
                      <a:r>
                        <a:rPr lang="en-US" altLang="en-US" sz="900" noProof="0" dirty="0">
                          <a:effectLst/>
                          <a:latin typeface="+mn-lt"/>
                          <a:ea typeface="Calibri" panose="020F0502020204030204" pitchFamily="34" charset="0"/>
                          <a:cs typeface="Times New Roman" panose="02020603050405020304" pitchFamily="18" charset="0"/>
                        </a:rPr>
                        <a:t>2023 йил “Дўстлик”орден сохибаси</a:t>
                      </a:r>
                    </a:p>
                    <a:p>
                      <a:pPr marL="0" marR="0" indent="0" algn="just" defTabSz="914400" rtl="0" eaLnBrk="1" fontAlgn="auto" latinLnBrk="0" hangingPunct="1">
                        <a:lnSpc>
                          <a:spcPct val="107000"/>
                        </a:lnSpc>
                        <a:spcBef>
                          <a:spcPts val="0"/>
                        </a:spcBef>
                        <a:spcAft>
                          <a:spcPts val="0"/>
                        </a:spcAft>
                        <a:buClrTx/>
                        <a:buSzTx/>
                        <a:buFontTx/>
                        <a:buNone/>
                        <a:defRPr/>
                      </a:pPr>
                      <a:r>
                        <a:rPr lang="en-US" altLang="en-US" sz="900" noProof="0" dirty="0">
                          <a:effectLst/>
                          <a:latin typeface="+mn-lt"/>
                          <a:ea typeface="Calibri" panose="020F0502020204030204" pitchFamily="34" charset="0"/>
                          <a:cs typeface="Times New Roman" panose="02020603050405020304" pitchFamily="18" charset="0"/>
                        </a:rPr>
                        <a:t>2022 йил “Маданият ва санъат фидокори”</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endParaRPr lang="ru-RU"/>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bl>
          </a:graphicData>
        </a:graphic>
      </p:graphicFrame>
      <p:graphicFrame>
        <p:nvGraphicFramePr>
          <p:cNvPr id="6" name="Таблица 5"/>
          <p:cNvGraphicFramePr>
            <a:graphicFrameLocks noGrp="1"/>
          </p:cNvGraphicFramePr>
          <p:nvPr>
            <p:extLst>
              <p:ext uri="{D42A27DB-BD31-4B8C-83A1-F6EECF244321}">
                <p14:modId xmlns:p14="http://schemas.microsoft.com/office/powerpoint/2010/main" val="721213405"/>
              </p:ext>
            </p:extLst>
          </p:nvPr>
        </p:nvGraphicFramePr>
        <p:xfrm>
          <a:off x="6949857" y="869284"/>
          <a:ext cx="2817247" cy="5910548"/>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0000"/>
                    </a:ext>
                  </a:extLst>
                </a:gridCol>
              </a:tblGrid>
              <a:tr h="278823">
                <a:tc>
                  <a:txBody>
                    <a:bodyPr/>
                    <a:lstStyle/>
                    <a:p>
                      <a:pPr algn="ctr">
                        <a:lnSpc>
                          <a:spcPct val="85000"/>
                        </a:lnSpc>
                      </a:pPr>
                      <a:r>
                        <a:rPr lang="en-US" sz="1200" b="1" noProof="0" dirty="0" smtClean="0">
                          <a:solidFill>
                            <a:schemeClr val="bg1"/>
                          </a:solidFill>
                          <a:latin typeface="Bahnschrift SemiBold" panose="020B0502040204020203" pitchFamily="34" charset="0"/>
                        </a:rPr>
                        <a:t>ФАОЛИЯТИ</a:t>
                      </a:r>
                      <a:r>
                        <a:rPr lang="en-US" sz="1200" b="1" baseline="0" noProof="0" dirty="0" smtClean="0">
                          <a:solidFill>
                            <a:schemeClr val="bg1"/>
                          </a:solidFill>
                          <a:latin typeface="Bahnschrift SemiBold" panose="020B0502040204020203" pitchFamily="34" charset="0"/>
                        </a:rPr>
                        <a:t> </a:t>
                      </a:r>
                      <a:endParaRPr lang="en-US"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10000"/>
                  </a:ext>
                </a:extLst>
              </a:tr>
              <a:tr h="350979">
                <a:tc>
                  <a:txBody>
                    <a:bodyPr/>
                    <a:lstStyle/>
                    <a:p>
                      <a:pPr algn="ctr">
                        <a:lnSpc>
                          <a:spcPct val="85000"/>
                        </a:lnSpc>
                      </a:pPr>
                      <a:r>
                        <a:rPr lang="en-US" sz="1000" b="1" noProof="0" dirty="0" smtClean="0">
                          <a:solidFill>
                            <a:schemeClr val="bg1"/>
                          </a:solidFill>
                          <a:latin typeface="Bahnschrift SemiBold" panose="020B0502040204020203" pitchFamily="34" charset="0"/>
                        </a:rPr>
                        <a:t>Меҳнат фаолияти ҳақида</a:t>
                      </a:r>
                      <a:r>
                        <a:rPr lang="en-US" sz="1000" b="1" baseline="0" noProof="0" dirty="0" smtClean="0">
                          <a:solidFill>
                            <a:schemeClr val="bg1"/>
                          </a:solidFill>
                          <a:latin typeface="Bahnschrift SemiBold" panose="020B0502040204020203" pitchFamily="34" charset="0"/>
                        </a:rPr>
                        <a:t> қисқача тавсифнома</a:t>
                      </a:r>
                      <a:endParaRPr lang="en-US"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10001"/>
                  </a:ext>
                </a:extLst>
              </a:tr>
              <a:tr h="4288416">
                <a:tc>
                  <a:txBody>
                    <a:bodyPr/>
                    <a:lstStyle/>
                    <a:p>
                      <a:pPr algn="just">
                        <a:lnSpc>
                          <a:spcPct val="85000"/>
                        </a:lnSpc>
                      </a:pPr>
                      <a:r>
                        <a:rPr lang="ru-RU" altLang="en-US" sz="900" b="0" baseline="0" noProof="0" dirty="0" smtClean="0">
                          <a:solidFill>
                            <a:schemeClr val="tx1"/>
                          </a:solidFill>
                          <a:latin typeface="+mn-lt"/>
                        </a:rPr>
                        <a:t>    </a:t>
                      </a:r>
                      <a:r>
                        <a:rPr lang="en-US" altLang="en-US" sz="900" b="0" noProof="0" dirty="0" err="1" smtClean="0">
                          <a:solidFill>
                            <a:schemeClr val="tx1"/>
                          </a:solidFill>
                          <a:latin typeface="+mn-lt"/>
                        </a:rPr>
                        <a:t>В.Сафьянова</a:t>
                      </a:r>
                      <a:r>
                        <a:rPr lang="en-US" altLang="en-US" sz="900" b="0" noProof="0" dirty="0" smtClean="0">
                          <a:solidFill>
                            <a:schemeClr val="tx1"/>
                          </a:solidFill>
                          <a:latin typeface="+mn-lt"/>
                        </a:rPr>
                        <a:t> </a:t>
                      </a:r>
                      <a:r>
                        <a:rPr lang="en-US" altLang="en-US" sz="900" b="0" noProof="0" dirty="0">
                          <a:solidFill>
                            <a:schemeClr val="tx1"/>
                          </a:solidFill>
                          <a:latin typeface="+mn-lt"/>
                        </a:rPr>
                        <a:t>театр репертуаридаги деярли барча спектаклларда иштирок этиб, 100 га яқин турли характердаги образларни юксак маҳорат билан ижро этган.</a:t>
                      </a:r>
                    </a:p>
                    <a:p>
                      <a:pPr algn="just">
                        <a:lnSpc>
                          <a:spcPct val="85000"/>
                        </a:lnSpc>
                      </a:pPr>
                      <a:r>
                        <a:rPr lang="en-US" altLang="en-US" sz="900" b="0" noProof="0" dirty="0">
                          <a:solidFill>
                            <a:schemeClr val="tx1"/>
                          </a:solidFill>
                          <a:latin typeface="+mn-lt"/>
                        </a:rPr>
                        <a:t>Унинг “Дискотека” спектаклидаги Дилбар, “Жони-дилим пишлоқ” мюзиклидаги Виолетта, “Аламазон ва унинг пиёдаси”даги Отин-биби, “Қор Маликаси”даги Қор маликаси, “Шум бола”даги Тожи, “Зумрад Қиммат”даги Ўгай она, “Қизил қалпоқча”даги Эртакчи каби образлари томошабинлар меҳрини қозонган. Шунингдек, “Менинг ўрдакчам”, “Меш полвон”, “Кичкина Мук”, “Тўрт эгизак”, “Оловуддининг сеҳрли шам чироғи” каби спектакллардаги ижролари билан ёш томошабинлар қалбидан чуқур </a:t>
                      </a:r>
                      <a:r>
                        <a:rPr lang="en-US" altLang="en-US" sz="900" b="0" noProof="0" dirty="0" err="1">
                          <a:solidFill>
                            <a:schemeClr val="tx1"/>
                          </a:solidFill>
                          <a:latin typeface="+mn-lt"/>
                        </a:rPr>
                        <a:t>жой</a:t>
                      </a:r>
                      <a:r>
                        <a:rPr lang="en-US" altLang="en-US" sz="900" b="0" noProof="0" dirty="0">
                          <a:solidFill>
                            <a:schemeClr val="tx1"/>
                          </a:solidFill>
                          <a:latin typeface="+mn-lt"/>
                        </a:rPr>
                        <a:t> </a:t>
                      </a:r>
                      <a:r>
                        <a:rPr lang="en-US" altLang="en-US" sz="900" b="0" noProof="0" dirty="0" err="1" smtClean="0">
                          <a:solidFill>
                            <a:schemeClr val="tx1"/>
                          </a:solidFill>
                          <a:latin typeface="+mn-lt"/>
                        </a:rPr>
                        <a:t>олган</a:t>
                      </a:r>
                      <a:r>
                        <a:rPr lang="en-US" altLang="en-US" sz="900" b="0" noProof="0" dirty="0" smtClean="0">
                          <a:solidFill>
                            <a:schemeClr val="tx1"/>
                          </a:solidFill>
                          <a:latin typeface="+mn-lt"/>
                        </a:rPr>
                        <a:t>.</a:t>
                      </a:r>
                      <a:endParaRPr lang="ru-RU" altLang="en-US" sz="900" b="0" noProof="0" dirty="0" smtClean="0">
                        <a:solidFill>
                          <a:schemeClr val="tx1"/>
                        </a:solidFill>
                        <a:latin typeface="+mn-lt"/>
                      </a:endParaRPr>
                    </a:p>
                    <a:p>
                      <a:pPr algn="just">
                        <a:lnSpc>
                          <a:spcPct val="85000"/>
                        </a:lnSpc>
                      </a:pPr>
                      <a:r>
                        <a:rPr lang="ru-RU" altLang="en-US" sz="900" b="0" baseline="0" noProof="0" dirty="0" smtClean="0">
                          <a:solidFill>
                            <a:schemeClr val="tx1"/>
                          </a:solidFill>
                          <a:latin typeface="+mn-lt"/>
                        </a:rPr>
                        <a:t>    </a:t>
                      </a:r>
                      <a:r>
                        <a:rPr lang="en-US" altLang="en-US" sz="900" b="0" noProof="0" dirty="0" err="1" smtClean="0">
                          <a:solidFill>
                            <a:schemeClr val="tx1"/>
                          </a:solidFill>
                          <a:latin typeface="+mn-lt"/>
                        </a:rPr>
                        <a:t>В.Сафьянова</a:t>
                      </a:r>
                      <a:r>
                        <a:rPr lang="en-US" altLang="en-US" sz="900" b="0" noProof="0" dirty="0" smtClean="0">
                          <a:solidFill>
                            <a:schemeClr val="tx1"/>
                          </a:solidFill>
                          <a:latin typeface="+mn-lt"/>
                        </a:rPr>
                        <a:t> </a:t>
                      </a:r>
                      <a:r>
                        <a:rPr lang="en-US" altLang="en-US" sz="900" b="0" noProof="0" dirty="0">
                          <a:solidFill>
                            <a:schemeClr val="tx1"/>
                          </a:solidFill>
                          <a:latin typeface="+mn-lt"/>
                        </a:rPr>
                        <a:t>нафақат театр саҳнасида, балки телевидение, радио ва кино соҳасида ҳам самарали ижод қилиб келмоқда. У “Оқшом эртаклари”, “Сумалак базми”, “Жонон.</a:t>
                      </a:r>
                      <a:r>
                        <a:rPr lang="en-US" altLang="ru-RU" sz="900" b="0" noProof="0" dirty="0">
                          <a:solidFill>
                            <a:schemeClr val="tx1"/>
                          </a:solidFill>
                          <a:latin typeface="+mn-lt"/>
                        </a:rPr>
                        <a:t>uz”, “</a:t>
                      </a:r>
                      <a:r>
                        <a:rPr lang="en-US" altLang="en-US" sz="900" b="0" noProof="0" dirty="0">
                          <a:solidFill>
                            <a:schemeClr val="tx1"/>
                          </a:solidFill>
                          <a:latin typeface="+mn-lt"/>
                        </a:rPr>
                        <a:t>Мен юлдузман”, “Минг бир кеча”, “Номус” каби фильм ва телелойиҳаларда ранг-баранг образлар яратиб, томошабинлар эътирофи ва меҳрига </a:t>
                      </a:r>
                      <a:r>
                        <a:rPr lang="en-US" altLang="en-US" sz="900" b="0" noProof="0" dirty="0" err="1">
                          <a:solidFill>
                            <a:schemeClr val="tx1"/>
                          </a:solidFill>
                          <a:latin typeface="+mn-lt"/>
                        </a:rPr>
                        <a:t>сазовор</a:t>
                      </a:r>
                      <a:r>
                        <a:rPr lang="en-US" altLang="en-US" sz="900" b="0" noProof="0" dirty="0">
                          <a:solidFill>
                            <a:schemeClr val="tx1"/>
                          </a:solidFill>
                          <a:latin typeface="+mn-lt"/>
                        </a:rPr>
                        <a:t> </a:t>
                      </a:r>
                      <a:r>
                        <a:rPr lang="en-US" altLang="en-US" sz="900" b="0" noProof="0" dirty="0" err="1" smtClean="0">
                          <a:solidFill>
                            <a:schemeClr val="tx1"/>
                          </a:solidFill>
                          <a:latin typeface="+mn-lt"/>
                        </a:rPr>
                        <a:t>бўлган</a:t>
                      </a:r>
                      <a:r>
                        <a:rPr lang="en-US" altLang="en-US" sz="900" b="0" noProof="0" dirty="0" smtClean="0">
                          <a:solidFill>
                            <a:schemeClr val="tx1"/>
                          </a:solidFill>
                          <a:latin typeface="+mn-lt"/>
                        </a:rPr>
                        <a:t>.</a:t>
                      </a:r>
                      <a:endParaRPr lang="ru-RU" altLang="en-US" sz="900" b="0" noProof="0" dirty="0" smtClean="0">
                        <a:solidFill>
                          <a:schemeClr val="tx1"/>
                        </a:solidFill>
                        <a:latin typeface="+mn-lt"/>
                      </a:endParaRPr>
                    </a:p>
                    <a:p>
                      <a:pPr algn="just">
                        <a:lnSpc>
                          <a:spcPct val="85000"/>
                        </a:lnSpc>
                      </a:pPr>
                      <a:r>
                        <a:rPr lang="ru-RU" altLang="en-US" sz="900" b="0" baseline="0" noProof="0" dirty="0" smtClean="0">
                          <a:solidFill>
                            <a:schemeClr val="tx1"/>
                          </a:solidFill>
                          <a:latin typeface="+mn-lt"/>
                        </a:rPr>
                        <a:t>    </a:t>
                      </a:r>
                      <a:r>
                        <a:rPr lang="en-US" altLang="en-US" sz="900" b="0" noProof="0" dirty="0" err="1" smtClean="0">
                          <a:solidFill>
                            <a:schemeClr val="tx1"/>
                          </a:solidFill>
                          <a:latin typeface="+mn-lt"/>
                        </a:rPr>
                        <a:t>Шу</a:t>
                      </a:r>
                      <a:r>
                        <a:rPr lang="en-US" altLang="en-US" sz="900" b="0" noProof="0" dirty="0" smtClean="0">
                          <a:solidFill>
                            <a:schemeClr val="tx1"/>
                          </a:solidFill>
                          <a:latin typeface="+mn-lt"/>
                        </a:rPr>
                        <a:t> </a:t>
                      </a:r>
                      <a:r>
                        <a:rPr lang="en-US" altLang="en-US" sz="900" b="0" noProof="0" dirty="0">
                          <a:solidFill>
                            <a:schemeClr val="tx1"/>
                          </a:solidFill>
                          <a:latin typeface="+mn-lt"/>
                        </a:rPr>
                        <a:t>билан бирга, турли телеканалларда намойиш этилган “Кунларни бири”, “Имтиҳон”, “Бизнес старт”, “Оталар сўзи — ақлнинг кўзи”, “Умр йўллари”, “Синовли йўллар” каби теленовелалардаги ижролари ҳам кенг жамоатчилик томонидан </a:t>
                      </a:r>
                      <a:r>
                        <a:rPr lang="en-US" altLang="en-US" sz="900" b="0" noProof="0" dirty="0" err="1">
                          <a:solidFill>
                            <a:schemeClr val="tx1"/>
                          </a:solidFill>
                          <a:latin typeface="+mn-lt"/>
                        </a:rPr>
                        <a:t>юқори</a:t>
                      </a:r>
                      <a:r>
                        <a:rPr lang="en-US" altLang="en-US" sz="900" b="0" noProof="0" dirty="0">
                          <a:solidFill>
                            <a:schemeClr val="tx1"/>
                          </a:solidFill>
                          <a:latin typeface="+mn-lt"/>
                        </a:rPr>
                        <a:t> </a:t>
                      </a:r>
                      <a:r>
                        <a:rPr lang="en-US" altLang="en-US" sz="900" b="0" noProof="0" dirty="0" err="1" smtClean="0">
                          <a:solidFill>
                            <a:schemeClr val="tx1"/>
                          </a:solidFill>
                          <a:latin typeface="+mn-lt"/>
                        </a:rPr>
                        <a:t>баҳоланган</a:t>
                      </a:r>
                      <a:r>
                        <a:rPr lang="en-US" altLang="en-US" sz="900" b="0" noProof="0" dirty="0" smtClean="0">
                          <a:solidFill>
                            <a:schemeClr val="tx1"/>
                          </a:solidFill>
                          <a:latin typeface="+mn-lt"/>
                        </a:rPr>
                        <a:t>.</a:t>
                      </a:r>
                      <a:endParaRPr lang="ru-RU" altLang="en-US" sz="900" b="0" noProof="0" dirty="0" smtClean="0">
                        <a:solidFill>
                          <a:schemeClr val="tx1"/>
                        </a:solidFill>
                        <a:latin typeface="+mn-lt"/>
                      </a:endParaRPr>
                    </a:p>
                    <a:p>
                      <a:pPr algn="just">
                        <a:lnSpc>
                          <a:spcPct val="85000"/>
                        </a:lnSpc>
                      </a:pPr>
                      <a:r>
                        <a:rPr lang="ru-RU" altLang="en-US" sz="900" b="0" baseline="0" noProof="0" dirty="0" smtClean="0">
                          <a:solidFill>
                            <a:schemeClr val="tx1"/>
                          </a:solidFill>
                          <a:latin typeface="+mn-lt"/>
                        </a:rPr>
                        <a:t>    </a:t>
                      </a:r>
                      <a:r>
                        <a:rPr lang="en-US" altLang="en-US" sz="900" b="0" noProof="0" dirty="0" err="1" smtClean="0">
                          <a:solidFill>
                            <a:schemeClr val="tx1"/>
                          </a:solidFill>
                          <a:latin typeface="+mn-lt"/>
                        </a:rPr>
                        <a:t>В.Сафьянова</a:t>
                      </a:r>
                      <a:r>
                        <a:rPr lang="en-US" altLang="en-US" sz="900" b="0" noProof="0" dirty="0" smtClean="0">
                          <a:solidFill>
                            <a:schemeClr val="tx1"/>
                          </a:solidFill>
                          <a:latin typeface="+mn-lt"/>
                        </a:rPr>
                        <a:t> </a:t>
                      </a:r>
                      <a:r>
                        <a:rPr lang="en-US" altLang="en-US" sz="900" b="0" noProof="0" dirty="0">
                          <a:solidFill>
                            <a:schemeClr val="tx1"/>
                          </a:solidFill>
                          <a:latin typeface="+mn-lt"/>
                        </a:rPr>
                        <a:t>ўзининг бой ижодий тажрибаси, табиий ижроси ва саҳна маданияти билан ёш актёр ва актрисалар учун ҳақиқий театр мактаби вазифасини ўтаб келмоқда.</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0002"/>
                  </a:ext>
                </a:extLst>
              </a:tr>
              <a:tr h="173229">
                <a:tc>
                  <a:txBody>
                    <a:bodyPr/>
                    <a:lstStyle/>
                    <a:p>
                      <a:pPr marL="0" marR="0" lvl="0" indent="0" algn="ctr" defTabSz="914400" rtl="0" eaLnBrk="1" fontAlgn="auto" latinLnBrk="0" hangingPunct="1">
                        <a:lnSpc>
                          <a:spcPct val="107000"/>
                        </a:lnSpc>
                        <a:spcBef>
                          <a:spcPts val="0"/>
                        </a:spcBef>
                        <a:spcAft>
                          <a:spcPts val="0"/>
                        </a:spcAft>
                        <a:buClrTx/>
                        <a:buSzTx/>
                        <a:buFontTx/>
                        <a:buNone/>
                        <a:defRPr/>
                      </a:pPr>
                      <a:r>
                        <a:rPr lang="en-US"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10003"/>
                  </a:ext>
                </a:extLst>
              </a:tr>
              <a:tr h="819101">
                <a:tc>
                  <a:txBody>
                    <a:bodyPr/>
                    <a:lstStyle/>
                    <a:p>
                      <a:pPr marL="0" marR="0" lvl="0" indent="0" algn="just" defTabSz="914400" rtl="0" eaLnBrk="1" fontAlgn="auto" latinLnBrk="0" hangingPunct="1">
                        <a:lnSpc>
                          <a:spcPct val="107000"/>
                        </a:lnSpc>
                        <a:spcBef>
                          <a:spcPts val="0"/>
                        </a:spcBef>
                        <a:spcAft>
                          <a:spcPts val="0"/>
                        </a:spcAft>
                        <a:buClrTx/>
                        <a:buSzTx/>
                        <a:buFontTx/>
                        <a:buNone/>
                        <a:defRPr/>
                      </a:pPr>
                      <a:r>
                        <a:rPr lang="ru-RU" sz="900" b="0" dirty="0" smtClean="0">
                          <a:effectLst/>
                          <a:latin typeface="+mn-lt"/>
                          <a:ea typeface="Calibri" panose="020F0502020204030204" pitchFamily="34" charset="0"/>
                          <a:cs typeface="Times New Roman" panose="02020603050405020304" pitchFamily="18" charset="0"/>
                        </a:rPr>
                        <a:t>    </a:t>
                      </a:r>
                      <a:r>
                        <a:rPr lang="en-US" sz="900" b="0" dirty="0" err="1" smtClean="0">
                          <a:effectLst/>
                          <a:latin typeface="+mn-lt"/>
                          <a:ea typeface="Calibri" panose="020F0502020204030204" pitchFamily="34" charset="0"/>
                          <a:cs typeface="Times New Roman" panose="02020603050405020304" pitchFamily="18" charset="0"/>
                        </a:rPr>
                        <a:t>Республикамизда</a:t>
                      </a:r>
                      <a:r>
                        <a:rPr lang="en-US"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bl>
          </a:graphicData>
        </a:graphic>
      </p:graphicFrame>
      <p:pic>
        <p:nvPicPr>
          <p:cNvPr id="10" name="Изображение 1073742849"/>
          <p:cNvPicPr>
            <a:picLocks noChangeAspect="1"/>
          </p:cNvPicPr>
          <p:nvPr/>
        </p:nvPicPr>
        <p:blipFill>
          <a:blip r:embed="rId2"/>
          <a:srcRect l="44760" t="7391" r="42081" b="79829"/>
          <a:stretch>
            <a:fillRect/>
          </a:stretch>
        </p:blipFill>
        <p:spPr>
          <a:xfrm>
            <a:off x="296553" y="1198880"/>
            <a:ext cx="843907" cy="1062182"/>
          </a:xfrm>
          <a:prstGeom prst="rect">
            <a:avLst/>
          </a:prstGeom>
          <a:noFill/>
          <a:ln w="9525">
            <a:noFill/>
          </a:ln>
        </p:spPr>
      </p:pic>
    </p:spTree>
    <p:extLst>
      <p:ext uri="{BB962C8B-B14F-4D97-AF65-F5344CB8AC3E}">
        <p14:creationId xmlns:p14="http://schemas.microsoft.com/office/powerpoint/2010/main" val="525013675"/>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002060"/>
                </a:solidFill>
                <a:latin typeface="Bahnschrift SemiBold" panose="020B0502040204020203" pitchFamily="34" charset="0"/>
              </a:rPr>
              <a:t>ПОРТФОЛИО</a:t>
            </a:r>
            <a:endParaRPr lang="en-US" b="1" dirty="0">
              <a:solidFill>
                <a:srgbClr val="002060"/>
              </a:solidFill>
              <a:latin typeface="Bahnschrift SemiBold" panose="020B0502040204020203" pitchFamily="34" charset="0"/>
            </a:endParaRPr>
          </a:p>
        </p:txBody>
      </p:sp>
      <p:sp>
        <p:nvSpPr>
          <p:cNvPr id="3" name="Прямоугольник 2"/>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altLang="en-US" sz="1600" b="1" dirty="0" smtClean="0">
                <a:solidFill>
                  <a:srgbClr val="002060"/>
                </a:solidFill>
                <a:latin typeface="Bahnschrift SemiBold" panose="020B0502040204020203" pitchFamily="34" charset="0"/>
              </a:rPr>
              <a:t>ТЕАТР ВА ЦИРК ЙЎНАЛИШИ СОҲА ВАКИЛЛАРИ</a:t>
            </a:r>
            <a:endParaRPr lang="en-US" sz="1200" b="1" dirty="0">
              <a:solidFill>
                <a:srgbClr val="002060"/>
              </a:solidFill>
              <a:latin typeface="Bahnschrift SemiBold" panose="020B0502040204020203" pitchFamily="34" charset="0"/>
            </a:endParaRPr>
          </a:p>
        </p:txBody>
      </p:sp>
      <p:graphicFrame>
        <p:nvGraphicFramePr>
          <p:cNvPr id="4" name="Таблица 3"/>
          <p:cNvGraphicFramePr>
            <a:graphicFrameLocks noGrp="1"/>
          </p:cNvGraphicFramePr>
          <p:nvPr>
            <p:extLst>
              <p:ext uri="{D42A27DB-BD31-4B8C-83A1-F6EECF244321}">
                <p14:modId xmlns:p14="http://schemas.microsoft.com/office/powerpoint/2010/main" val="1105597094"/>
              </p:ext>
            </p:extLst>
          </p:nvPr>
        </p:nvGraphicFramePr>
        <p:xfrm>
          <a:off x="144780" y="865505"/>
          <a:ext cx="3427730" cy="5914326"/>
        </p:xfrm>
        <a:graphic>
          <a:graphicData uri="http://schemas.openxmlformats.org/drawingml/2006/table">
            <a:tbl>
              <a:tblPr firstRow="1" bandRow="1">
                <a:tableStyleId>{C083E6E3-FA7D-4D7B-A595-EF9225AFEA82}</a:tableStyleId>
              </a:tblPr>
              <a:tblGrid>
                <a:gridCol w="594995">
                  <a:extLst>
                    <a:ext uri="{9D8B030D-6E8A-4147-A177-3AD203B41FA5}">
                      <a16:colId xmlns:a16="http://schemas.microsoft.com/office/drawing/2014/main" val="20000"/>
                    </a:ext>
                  </a:extLst>
                </a:gridCol>
                <a:gridCol w="503555">
                  <a:extLst>
                    <a:ext uri="{9D8B030D-6E8A-4147-A177-3AD203B41FA5}">
                      <a16:colId xmlns:a16="http://schemas.microsoft.com/office/drawing/2014/main" val="20001"/>
                    </a:ext>
                  </a:extLst>
                </a:gridCol>
                <a:gridCol w="153670">
                  <a:extLst>
                    <a:ext uri="{9D8B030D-6E8A-4147-A177-3AD203B41FA5}">
                      <a16:colId xmlns:a16="http://schemas.microsoft.com/office/drawing/2014/main" val="20002"/>
                    </a:ext>
                  </a:extLst>
                </a:gridCol>
                <a:gridCol w="847725">
                  <a:extLst>
                    <a:ext uri="{9D8B030D-6E8A-4147-A177-3AD203B41FA5}">
                      <a16:colId xmlns:a16="http://schemas.microsoft.com/office/drawing/2014/main" val="20003"/>
                    </a:ext>
                  </a:extLst>
                </a:gridCol>
                <a:gridCol w="1327785">
                  <a:extLst>
                    <a:ext uri="{9D8B030D-6E8A-4147-A177-3AD203B41FA5}">
                      <a16:colId xmlns:a16="http://schemas.microsoft.com/office/drawing/2014/main" val="20004"/>
                    </a:ext>
                  </a:extLst>
                </a:gridCol>
              </a:tblGrid>
              <a:tr h="249636">
                <a:tc gridSpan="5">
                  <a:txBody>
                    <a:bodyPr/>
                    <a:lstStyle/>
                    <a:p>
                      <a:pPr marL="0" marR="0" lvl="0" indent="0" algn="ctr" defTabSz="914400" rtl="0" eaLnBrk="1" fontAlgn="auto" latinLnBrk="0" hangingPunct="1">
                        <a:lnSpc>
                          <a:spcPct val="90000"/>
                        </a:lnSpc>
                        <a:spcBef>
                          <a:spcPts val="0"/>
                        </a:spcBef>
                        <a:spcAft>
                          <a:spcPts val="0"/>
                        </a:spcAft>
                        <a:buClrTx/>
                        <a:buSzTx/>
                        <a:buFontTx/>
                        <a:buNone/>
                        <a:defRPr/>
                      </a:pPr>
                      <a:r>
                        <a:rPr lang="en-US"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193661">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en-US"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en-US" altLang="en-US" sz="900" b="0" kern="1200" dirty="0" smtClean="0">
                          <a:solidFill>
                            <a:schemeClr val="tx1"/>
                          </a:solidFill>
                          <a:latin typeface="+mn-lt"/>
                          <a:ea typeface="+mn-ea"/>
                          <a:cs typeface="+mn-cs"/>
                        </a:rPr>
                        <a:t>УМАРОВА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193018">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en-US"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Фаридахон</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193661">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Жўраевна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94305">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en-US"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en-US" altLang="en-US" sz="900" b="0" kern="1200" dirty="0">
                          <a:solidFill>
                            <a:schemeClr val="tx1"/>
                          </a:solidFill>
                          <a:latin typeface="+mn-lt"/>
                          <a:ea typeface="+mn-ea"/>
                          <a:cs typeface="+mn-cs"/>
                        </a:rPr>
                        <a:t>ЎЗБЕК</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193661">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ru-RU" sz="800" b="0" kern="1200" dirty="0" smtClean="0">
                          <a:solidFill>
                            <a:schemeClr val="tx1"/>
                          </a:solidFill>
                          <a:latin typeface="+mn-lt"/>
                          <a:ea typeface="+mn-ea"/>
                          <a:cs typeface="+mn-cs"/>
                        </a:rPr>
                        <a:t>13</a:t>
                      </a:r>
                      <a:r>
                        <a:rPr lang="ru-RU" sz="800" b="0" kern="1200" dirty="0" smtClean="0">
                          <a:solidFill>
                            <a:schemeClr val="tx1"/>
                          </a:solidFill>
                          <a:latin typeface="+mn-lt"/>
                          <a:ea typeface="+mn-ea"/>
                          <a:cs typeface="+mn-cs"/>
                        </a:rPr>
                        <a:t>.0</a:t>
                      </a:r>
                      <a:r>
                        <a:rPr lang="en-US" altLang="ru-RU" sz="800" b="0" kern="1200" dirty="0" smtClean="0">
                          <a:solidFill>
                            <a:schemeClr val="tx1"/>
                          </a:solidFill>
                          <a:latin typeface="+mn-lt"/>
                          <a:ea typeface="+mn-ea"/>
                          <a:cs typeface="+mn-cs"/>
                        </a:rPr>
                        <a:t>9</a:t>
                      </a:r>
                      <a:r>
                        <a:rPr lang="ru-RU" sz="800" b="0" kern="1200" dirty="0" smtClean="0">
                          <a:solidFill>
                            <a:schemeClr val="tx1"/>
                          </a:solidFill>
                          <a:latin typeface="+mn-lt"/>
                          <a:ea typeface="+mn-ea"/>
                          <a:cs typeface="+mn-cs"/>
                        </a:rPr>
                        <a:t>.19</a:t>
                      </a:r>
                      <a:r>
                        <a:rPr lang="en-US" altLang="ru-RU" sz="800" b="0" kern="1200" dirty="0" smtClean="0">
                          <a:solidFill>
                            <a:schemeClr val="tx1"/>
                          </a:solidFill>
                          <a:latin typeface="+mn-lt"/>
                          <a:ea typeface="+mn-ea"/>
                          <a:cs typeface="+mn-cs"/>
                        </a:rPr>
                        <a:t>56</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193661">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Андижон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236768">
                <a:tc gridSpan="5">
                  <a:txBody>
                    <a:bodyPr/>
                    <a:lstStyle/>
                    <a:p>
                      <a:pPr algn="ctr"/>
                      <a:r>
                        <a:rPr lang="en-US"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492196">
                <a:tc gridSpan="2">
                  <a:txBody>
                    <a:bodyPr/>
                    <a:lstStyle/>
                    <a:p>
                      <a:pPr marL="0" marR="0" lvl="0" indent="0" algn="ctr" defTabSz="914400" rtl="0" eaLnBrk="1" fontAlgn="auto" latinLnBrk="0" hangingPunct="1">
                        <a:lnSpc>
                          <a:spcPct val="85000"/>
                        </a:lnSpc>
                        <a:spcBef>
                          <a:spcPts val="0"/>
                        </a:spcBef>
                        <a:spcAft>
                          <a:spcPts val="0"/>
                        </a:spcAft>
                        <a:buClrTx/>
                        <a:buSzTx/>
                        <a:buFontTx/>
                        <a:buNone/>
                        <a:defRPr/>
                      </a:pPr>
                      <a:r>
                        <a:rPr lang="en-US" sz="900" b="1" noProof="0" dirty="0" smtClean="0">
                          <a:latin typeface="+mn-lt"/>
                        </a:rPr>
                        <a:t>Оилавий ва ижтимоий ахволи</a:t>
                      </a:r>
                      <a:r>
                        <a:rPr lang="en-US" sz="900" b="1" noProof="0" dirty="0">
                          <a:latin typeface="+mn-lt"/>
                        </a:rPr>
                        <a:t>:</a:t>
                      </a:r>
                      <a:endParaRPr lang="en-US"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900" b="0" kern="1200" noProof="0" dirty="0">
                          <a:solidFill>
                            <a:schemeClr val="tx1"/>
                          </a:solidFill>
                          <a:latin typeface="+mn-lt"/>
                          <a:ea typeface="+mn-ea"/>
                          <a:cs typeface="+mn-cs"/>
                        </a:rPr>
                        <a:t>Оилали, </a:t>
                      </a:r>
                      <a:r>
                        <a:rPr lang="en-US" altLang="en-US" sz="900" b="0" kern="1200" noProof="0" dirty="0">
                          <a:solidFill>
                            <a:schemeClr val="tx1"/>
                          </a:solidFill>
                          <a:latin typeface="+mn-lt"/>
                          <a:ea typeface="+mn-ea"/>
                          <a:cs typeface="+mn-cs"/>
                        </a:rPr>
                        <a:t>1</a:t>
                      </a:r>
                      <a:r>
                        <a:rPr lang="en-US" sz="900" b="0" kern="1200" noProof="0" dirty="0" smtClean="0">
                          <a:solidFill>
                            <a:schemeClr val="tx1"/>
                          </a:solidFill>
                          <a:latin typeface="+mn-lt"/>
                          <a:ea typeface="+mn-ea"/>
                          <a:cs typeface="+mn-cs"/>
                        </a:rPr>
                        <a:t> </a:t>
                      </a:r>
                      <a:r>
                        <a:rPr lang="en-US" sz="900" b="0" kern="1200" noProof="0" dirty="0">
                          <a:solidFill>
                            <a:schemeClr val="tx1"/>
                          </a:solidFill>
                          <a:latin typeface="+mn-lt"/>
                          <a:ea typeface="+mn-ea"/>
                          <a:cs typeface="+mn-cs"/>
                        </a:rPr>
                        <a:t>нафар </a:t>
                      </a:r>
                      <a:r>
                        <a:rPr lang="en-US" sz="900" b="0" kern="1200" noProof="0" dirty="0" smtClean="0">
                          <a:solidFill>
                            <a:schemeClr val="tx1"/>
                          </a:solidFill>
                          <a:latin typeface="+mn-lt"/>
                          <a:ea typeface="+mn-ea"/>
                          <a:cs typeface="+mn-cs"/>
                        </a:rPr>
                        <a:t>ўғил</a:t>
                      </a:r>
                      <a:r>
                        <a:rPr lang="en-US" altLang="en-US" sz="900" b="0" kern="1200" noProof="0" dirty="0" smtClean="0">
                          <a:solidFill>
                            <a:schemeClr val="tx1"/>
                          </a:solidFill>
                          <a:latin typeface="+mn-lt"/>
                          <a:ea typeface="+mn-ea"/>
                          <a:cs typeface="+mn-cs"/>
                        </a:rPr>
                        <a:t> </a:t>
                      </a:r>
                      <a:r>
                        <a:rPr lang="en-US" sz="900" b="0" kern="1200" noProof="0" dirty="0">
                          <a:solidFill>
                            <a:schemeClr val="tx1"/>
                          </a:solidFill>
                          <a:latin typeface="+mn-lt"/>
                          <a:ea typeface="+mn-ea"/>
                          <a:cs typeface="+mn-cs"/>
                        </a:rPr>
                        <a:t>фарзанди </a:t>
                      </a:r>
                      <a:r>
                        <a:rPr lang="en-US" sz="900" b="0" kern="1200" noProof="0" dirty="0" smtClean="0">
                          <a:solidFill>
                            <a:schemeClr val="tx1"/>
                          </a:solidFill>
                          <a:latin typeface="+mn-lt"/>
                          <a:ea typeface="+mn-ea"/>
                          <a:cs typeface="+mn-cs"/>
                        </a:rPr>
                        <a:t>бор</a:t>
                      </a:r>
                      <a:r>
                        <a:rPr lang="en-US" altLang="en-US" sz="900" b="0" kern="1200" noProof="0" dirty="0" smtClean="0">
                          <a:solidFill>
                            <a:schemeClr val="tx1"/>
                          </a:solidFill>
                          <a:latin typeface="+mn-lt"/>
                          <a:ea typeface="+mn-ea"/>
                          <a:cs typeface="+mn-cs"/>
                        </a:rPr>
                        <a:t>, </a:t>
                      </a:r>
                      <a:r>
                        <a:rPr lang="en-US" sz="900" noProof="0" dirty="0" smtClean="0">
                          <a:sym typeface="+mn-ea"/>
                        </a:rPr>
                        <a:t>ҳозирда нафақада</a:t>
                      </a:r>
                      <a:r>
                        <a:rPr lang="en-US" sz="900" b="0" kern="1200" noProof="0" dirty="0" smtClean="0">
                          <a:solidFill>
                            <a:schemeClr val="tx1"/>
                          </a:solidFill>
                          <a:latin typeface="+mn-lt"/>
                          <a:ea typeface="+mn-ea"/>
                          <a:cs typeface="+mn-cs"/>
                        </a:rPr>
                        <a:t> </a:t>
                      </a:r>
                      <a:br>
                        <a:rPr lang="en-US" sz="900" b="0" kern="1200" noProof="0" dirty="0" smtClean="0">
                          <a:solidFill>
                            <a:schemeClr val="tx1"/>
                          </a:solidFill>
                          <a:latin typeface="+mn-lt"/>
                          <a:ea typeface="+mn-ea"/>
                          <a:cs typeface="+mn-cs"/>
                        </a:rPr>
                      </a:br>
                      <a:endParaRPr lang="en-US"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8"/>
                  </a:ext>
                </a:extLst>
              </a:tr>
              <a:tr h="236125">
                <a:tc gridSpan="5">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09"/>
                  </a:ext>
                </a:extLst>
              </a:tr>
              <a:tr h="572619">
                <a:tc>
                  <a:txBody>
                    <a:bodyPr/>
                    <a:lstStyle/>
                    <a:p>
                      <a:pPr algn="ctr">
                        <a:lnSpc>
                          <a:spcPct val="85000"/>
                        </a:lnSpc>
                      </a:pPr>
                      <a:r>
                        <a:rPr lang="en-US"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kern="1200" noProof="0" dirty="0" smtClean="0">
                          <a:solidFill>
                            <a:schemeClr val="tx1"/>
                          </a:solidFill>
                          <a:latin typeface="+mn-lt"/>
                          <a:ea typeface="+mn-ea"/>
                          <a:cs typeface="Arial" panose="020B0604020202020204" pitchFamily="34" charset="0"/>
                        </a:rPr>
                        <a:t>УМАРОВ Жўравой</a:t>
                      </a:r>
                    </a:p>
                    <a:p>
                      <a:pPr algn="l">
                        <a:lnSpc>
                          <a:spcPct val="85000"/>
                        </a:lnSpc>
                      </a:pPr>
                      <a:r>
                        <a:rPr lang="en-US" sz="900" b="0" kern="1200" noProof="0" dirty="0" smtClean="0">
                          <a:solidFill>
                            <a:schemeClr val="tx1"/>
                          </a:solidFill>
                          <a:latin typeface="+mn-lt"/>
                          <a:ea typeface="+mn-ea"/>
                          <a:cs typeface="Arial" panose="020B0604020202020204" pitchFamily="34" charset="0"/>
                        </a:rPr>
                        <a:t>19</a:t>
                      </a:r>
                      <a:r>
                        <a:rPr lang="en-US" altLang="en-US" sz="900" b="0" kern="1200" noProof="0" dirty="0" smtClean="0">
                          <a:solidFill>
                            <a:schemeClr val="tx1"/>
                          </a:solidFill>
                          <a:latin typeface="+mn-lt"/>
                          <a:ea typeface="+mn-ea"/>
                          <a:cs typeface="Arial" panose="020B0604020202020204" pitchFamily="34" charset="0"/>
                        </a:rPr>
                        <a:t>14</a:t>
                      </a:r>
                      <a:r>
                        <a:rPr lang="en-US" sz="900" b="0" kern="1200" noProof="0" dirty="0" smtClean="0">
                          <a:solidFill>
                            <a:schemeClr val="tx1"/>
                          </a:solidFill>
                          <a:latin typeface="+mn-lt"/>
                          <a:ea typeface="+mn-ea"/>
                          <a:cs typeface="Arial" panose="020B0604020202020204" pitchFamily="34" charset="0"/>
                        </a:rPr>
                        <a:t> йил, </a:t>
                      </a:r>
                      <a:r>
                        <a:rPr lang="en-US" altLang="en-US" sz="900" b="0" kern="1200" noProof="0" dirty="0" smtClean="0">
                          <a:solidFill>
                            <a:schemeClr val="tx1"/>
                          </a:solidFill>
                          <a:latin typeface="+mn-lt"/>
                          <a:ea typeface="+mn-ea"/>
                          <a:cs typeface="Arial" panose="020B0604020202020204" pitchFamily="34" charset="0"/>
                        </a:rPr>
                        <a:t>Андижон вилояти</a:t>
                      </a:r>
                      <a:endParaRPr lang="en-US" altLang="en-US"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Arial" panose="020B0604020202020204" pitchFamily="34" charset="0"/>
                        </a:rPr>
                        <a:t>1991 йил вафот этган</a:t>
                      </a:r>
                    </a:p>
                    <a:p>
                      <a:pPr algn="l">
                        <a:lnSpc>
                          <a:spcPct val="85000"/>
                        </a:lnSpc>
                      </a:pPr>
                      <a:r>
                        <a:rPr lang="en-US" altLang="en-US" sz="900" b="0" kern="1200" noProof="0" dirty="0">
                          <a:solidFill>
                            <a:schemeClr val="tx1"/>
                          </a:solidFill>
                          <a:latin typeface="+mn-lt"/>
                          <a:ea typeface="+mn-ea"/>
                          <a:cs typeface="Arial" panose="020B0604020202020204" pitchFamily="34" charset="0"/>
                        </a:rPr>
                        <a:t>(жамоа хўжалиги чорва мудири)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547785">
                <a:tc>
                  <a:txBody>
                    <a:bodyPr/>
                    <a:lstStyle/>
                    <a:p>
                      <a:pPr algn="ctr">
                        <a:lnSpc>
                          <a:spcPct val="85000"/>
                        </a:lnSpc>
                      </a:pPr>
                      <a:r>
                        <a:rPr lang="en-US"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kern="1200" noProof="0" dirty="0" smtClean="0">
                          <a:solidFill>
                            <a:schemeClr val="tx1"/>
                          </a:solidFill>
                          <a:latin typeface="+mn-lt"/>
                          <a:ea typeface="+mn-ea"/>
                          <a:cs typeface="Arial" panose="020B0604020202020204" pitchFamily="34" charset="0"/>
                        </a:rPr>
                        <a:t>УМАРОВА Тошхон</a:t>
                      </a:r>
                      <a:endParaRPr lang="en-US" altLang="en-US" sz="900" b="0" kern="1200" noProof="0" dirty="0" smtClean="0">
                        <a:solidFill>
                          <a:schemeClr val="tx1"/>
                        </a:solidFill>
                        <a:latin typeface="+mn-lt"/>
                        <a:ea typeface="+mn-ea"/>
                        <a:cs typeface="Arial" panose="020B0604020202020204" pitchFamily="34" charset="0"/>
                      </a:endParaRPr>
                    </a:p>
                    <a:p>
                      <a:pPr algn="l">
                        <a:lnSpc>
                          <a:spcPct val="85000"/>
                        </a:lnSpc>
                      </a:pPr>
                      <a:r>
                        <a:rPr lang="en-US" sz="900" b="0" kern="1200" noProof="0" dirty="0" smtClean="0">
                          <a:solidFill>
                            <a:schemeClr val="tx1"/>
                          </a:solidFill>
                          <a:latin typeface="+mn-lt"/>
                          <a:ea typeface="+mn-ea"/>
                          <a:cs typeface="Arial" panose="020B0604020202020204" pitchFamily="34" charset="0"/>
                        </a:rPr>
                        <a:t>19</a:t>
                      </a:r>
                      <a:r>
                        <a:rPr lang="en-US" altLang="en-US" sz="900" b="0" kern="1200" noProof="0" dirty="0" smtClean="0">
                          <a:solidFill>
                            <a:schemeClr val="tx1"/>
                          </a:solidFill>
                          <a:latin typeface="+mn-lt"/>
                          <a:ea typeface="+mn-ea"/>
                          <a:cs typeface="Arial" panose="020B0604020202020204" pitchFamily="34" charset="0"/>
                        </a:rPr>
                        <a:t>51</a:t>
                      </a:r>
                      <a:r>
                        <a:rPr lang="en-US" sz="900" b="0" kern="1200" noProof="0" dirty="0" smtClean="0">
                          <a:solidFill>
                            <a:schemeClr val="tx1"/>
                          </a:solidFill>
                          <a:latin typeface="+mn-lt"/>
                          <a:ea typeface="+mn-ea"/>
                          <a:cs typeface="Arial" panose="020B0604020202020204" pitchFamily="34" charset="0"/>
                        </a:rPr>
                        <a:t> йил, </a:t>
                      </a:r>
                      <a:r>
                        <a:rPr lang="en-US" altLang="en-US" sz="900" noProof="0" dirty="0" smtClean="0">
                          <a:cs typeface="Arial" panose="020B0604020202020204" pitchFamily="34" charset="0"/>
                          <a:sym typeface="+mn-ea"/>
                        </a:rPr>
                        <a:t>Наманган вилояти</a:t>
                      </a:r>
                      <a:endParaRPr lang="en-US"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Arial" panose="020B0604020202020204" pitchFamily="34" charset="0"/>
                        </a:rPr>
                        <a:t>1997 йил вафот этган</a:t>
                      </a:r>
                    </a:p>
                    <a:p>
                      <a:pPr algn="l">
                        <a:lnSpc>
                          <a:spcPct val="85000"/>
                        </a:lnSpc>
                      </a:pPr>
                      <a:r>
                        <a:rPr lang="en-US" altLang="en-US" sz="900" b="0" kern="1200" noProof="0" dirty="0">
                          <a:solidFill>
                            <a:schemeClr val="tx1"/>
                          </a:solidFill>
                          <a:latin typeface="+mn-lt"/>
                          <a:ea typeface="+mn-ea"/>
                          <a:cs typeface="Arial" panose="020B0604020202020204" pitchFamily="34" charset="0"/>
                        </a:rPr>
                        <a:t>(Андижон вилояти мактабгача таълим ташкилоти тарбиячиси)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r h="547785">
                <a:tc>
                  <a:txBody>
                    <a:bodyPr/>
                    <a:lstStyle/>
                    <a:p>
                      <a:pPr algn="ctr">
                        <a:lnSpc>
                          <a:spcPct val="85000"/>
                        </a:lnSpc>
                      </a:pPr>
                      <a:r>
                        <a:rPr lang="en-US"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kern="1200" noProof="0" dirty="0" smtClean="0">
                          <a:solidFill>
                            <a:schemeClr val="tx1"/>
                          </a:solidFill>
                          <a:latin typeface="+mn-lt"/>
                          <a:ea typeface="+mn-ea"/>
                          <a:cs typeface="Arial" panose="020B0604020202020204" pitchFamily="34" charset="0"/>
                        </a:rPr>
                        <a:t>УСМАНОВ</a:t>
                      </a:r>
                      <a:r>
                        <a:rPr lang="en-US" altLang="en-US" sz="900" b="0" kern="1200" noProof="0" dirty="0" smtClean="0">
                          <a:solidFill>
                            <a:schemeClr val="tx1"/>
                          </a:solidFill>
                          <a:latin typeface="+mn-lt"/>
                          <a:ea typeface="+mn-ea"/>
                          <a:cs typeface="Arial" panose="020B0604020202020204" pitchFamily="34" charset="0"/>
                        </a:rPr>
                        <a:t> Нигматжон Абдуллаевич</a:t>
                      </a:r>
                    </a:p>
                    <a:p>
                      <a:pPr algn="l">
                        <a:lnSpc>
                          <a:spcPct val="85000"/>
                        </a:lnSpc>
                      </a:pPr>
                      <a:r>
                        <a:rPr lang="en-US" sz="900" b="0" kern="1200" noProof="0" dirty="0" smtClean="0">
                          <a:solidFill>
                            <a:schemeClr val="tx1"/>
                          </a:solidFill>
                          <a:latin typeface="+mn-lt"/>
                          <a:ea typeface="+mn-ea"/>
                          <a:cs typeface="Arial" panose="020B0604020202020204" pitchFamily="34" charset="0"/>
                        </a:rPr>
                        <a:t>19</a:t>
                      </a:r>
                      <a:r>
                        <a:rPr lang="en-US" altLang="en-US" sz="900" b="0" kern="1200" noProof="0" dirty="0" smtClean="0">
                          <a:solidFill>
                            <a:schemeClr val="tx1"/>
                          </a:solidFill>
                          <a:latin typeface="+mn-lt"/>
                          <a:ea typeface="+mn-ea"/>
                          <a:cs typeface="Arial" panose="020B0604020202020204" pitchFamily="34" charset="0"/>
                        </a:rPr>
                        <a:t>55</a:t>
                      </a:r>
                      <a:r>
                        <a:rPr lang="en-US" sz="900" b="0" kern="1200" noProof="0" dirty="0" smtClean="0">
                          <a:solidFill>
                            <a:schemeClr val="tx1"/>
                          </a:solidFill>
                          <a:latin typeface="+mn-lt"/>
                          <a:ea typeface="+mn-ea"/>
                          <a:cs typeface="Arial" panose="020B0604020202020204" pitchFamily="34" charset="0"/>
                        </a:rPr>
                        <a:t> йил, </a:t>
                      </a:r>
                      <a:r>
                        <a:rPr lang="en-US" altLang="en-US" sz="900" noProof="0" dirty="0" smtClean="0">
                          <a:cs typeface="Arial" panose="020B0604020202020204" pitchFamily="34" charset="0"/>
                          <a:sym typeface="+mn-ea"/>
                        </a:rPr>
                        <a:t>Андижон вилояти</a:t>
                      </a:r>
                      <a:endParaRPr lang="en-US"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mn-cs"/>
                        </a:rPr>
                        <a:t>пенсионер (Ўзбиоконтроль бирлашмаси назоратчиси)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2"/>
                  </a:ext>
                </a:extLst>
              </a:tr>
              <a:tr h="213606">
                <a:tc gridSpan="5">
                  <a:txBody>
                    <a:bodyPr/>
                    <a:lstStyle/>
                    <a:p>
                      <a:pPr algn="ctr">
                        <a:lnSpc>
                          <a:spcPct val="85000"/>
                        </a:lnSpc>
                      </a:pPr>
                      <a:r>
                        <a:rPr lang="en-US"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10013"/>
                  </a:ext>
                </a:extLst>
              </a:tr>
              <a:tr h="440080">
                <a:tc gridSpan="3">
                  <a:txBody>
                    <a:bodyPr/>
                    <a:lstStyle/>
                    <a:p>
                      <a:pPr algn="l">
                        <a:lnSpc>
                          <a:spcPct val="85000"/>
                        </a:lnSpc>
                      </a:pPr>
                      <a:r>
                        <a:rPr lang="en-US" sz="900" b="1" noProof="0" dirty="0">
                          <a:latin typeface="+mn-lt"/>
                        </a:rPr>
                        <a:t>Тамомлаган ОТМ:</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noProof="0" dirty="0" smtClean="0">
                          <a:sym typeface="+mn-ea"/>
                        </a:rPr>
                        <a:t>197</a:t>
                      </a:r>
                      <a:r>
                        <a:rPr lang="en-US" altLang="en-US" sz="900" noProof="0" dirty="0" smtClean="0">
                          <a:sym typeface="+mn-ea"/>
                        </a:rPr>
                        <a:t>8</a:t>
                      </a:r>
                      <a:r>
                        <a:rPr lang="ru-RU" sz="900" noProof="0" dirty="0" smtClean="0">
                          <a:sym typeface="+mn-ea"/>
                        </a:rPr>
                        <a:t> й.</a:t>
                      </a:r>
                      <a:r>
                        <a:rPr lang="en-US" altLang="en-US" sz="900" noProof="0" dirty="0" smtClean="0">
                          <a:sym typeface="+mn-ea"/>
                        </a:rPr>
                        <a:t>Тошкент театр ва рассомлик институти</a:t>
                      </a:r>
                      <a:r>
                        <a:rPr lang="ru-RU" sz="900" noProof="0" dirty="0" smtClean="0">
                          <a:sym typeface="+mn-ea"/>
                        </a:rPr>
                        <a:t> (</a:t>
                      </a:r>
                      <a:r>
                        <a:rPr lang="ru-RU" sz="900" noProof="0" dirty="0" err="1" smtClean="0">
                          <a:sym typeface="+mn-ea"/>
                        </a:rPr>
                        <a:t>кундузги</a:t>
                      </a:r>
                      <a:r>
                        <a:rPr lang="ru-RU" sz="900" noProof="0" dirty="0" smtClean="0">
                          <a:sym typeface="+mn-ea"/>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4"/>
                  </a:ext>
                </a:extLst>
              </a:tr>
              <a:tr h="281163">
                <a:tc gridSpan="3">
                  <a:txBody>
                    <a:bodyPr/>
                    <a:lstStyle/>
                    <a:p>
                      <a:pPr marL="0" marR="0" lvl="0" indent="0" algn="l" defTabSz="914400" rtl="0" eaLnBrk="1" fontAlgn="auto" latinLnBrk="0" hangingPunct="1">
                        <a:lnSpc>
                          <a:spcPct val="85000"/>
                        </a:lnSpc>
                        <a:spcBef>
                          <a:spcPts val="0"/>
                        </a:spcBef>
                        <a:spcAft>
                          <a:spcPts val="0"/>
                        </a:spcAft>
                        <a:buClrTx/>
                        <a:buSzTx/>
                        <a:buFontTx/>
                        <a:buNone/>
                        <a:defRPr/>
                      </a:pPr>
                      <a:r>
                        <a:rPr lang="en-US" sz="900" b="1" noProof="0" dirty="0">
                          <a:latin typeface="+mn-lt"/>
                        </a:rPr>
                        <a:t>Мутахассислиги:</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altLang="en-US" sz="900" b="0" kern="1200" noProof="0" dirty="0">
                          <a:solidFill>
                            <a:schemeClr val="tx1"/>
                          </a:solidFill>
                          <a:latin typeface="+mn-lt"/>
                          <a:ea typeface="+mn-ea"/>
                          <a:cs typeface="+mn-cs"/>
                        </a:rPr>
                        <a:t>мусиқали драма ва комедиа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5"/>
                  </a:ext>
                </a:extLst>
              </a:tr>
              <a:tr h="311532">
                <a:tc gridSpan="3">
                  <a:txBody>
                    <a:bodyPr/>
                    <a:lstStyle/>
                    <a:p>
                      <a:pPr algn="l">
                        <a:lnSpc>
                          <a:spcPct val="85000"/>
                        </a:lnSpc>
                      </a:pPr>
                      <a:r>
                        <a:rPr lang="en-US" sz="900" b="1" kern="1200" noProof="0" dirty="0">
                          <a:solidFill>
                            <a:schemeClr val="tx1"/>
                          </a:solidFill>
                          <a:latin typeface="+mn-lt"/>
                          <a:ea typeface="+mn-ea"/>
                          <a:cs typeface="+mn-cs"/>
                        </a:rPr>
                        <a:t>Илмий даража (унвон):</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6"/>
                  </a:ext>
                </a:extLst>
              </a:tr>
              <a:tr h="311532">
                <a:tc gridSpan="3">
                  <a:txBody>
                    <a:bodyPr/>
                    <a:lstStyle/>
                    <a:p>
                      <a:pPr algn="l">
                        <a:lnSpc>
                          <a:spcPct val="85000"/>
                        </a:lnSpc>
                      </a:pPr>
                      <a:r>
                        <a:rPr lang="en-US"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7"/>
                  </a:ext>
                </a:extLst>
              </a:tr>
              <a:tr h="311532">
                <a:tc gridSpan="3">
                  <a:txBody>
                    <a:bodyPr/>
                    <a:lstStyle/>
                    <a:p>
                      <a:pPr algn="l">
                        <a:lnSpc>
                          <a:spcPct val="85000"/>
                        </a:lnSpc>
                      </a:pPr>
                      <a:r>
                        <a:rPr lang="en-US"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8"/>
                  </a:ext>
                </a:extLst>
              </a:tr>
            </a:tbl>
          </a:graphicData>
        </a:graphic>
      </p:graphicFrame>
      <p:graphicFrame>
        <p:nvGraphicFramePr>
          <p:cNvPr id="5" name="Таблица 4"/>
          <p:cNvGraphicFramePr>
            <a:graphicFrameLocks noGrp="1"/>
          </p:cNvGraphicFramePr>
          <p:nvPr/>
        </p:nvGraphicFramePr>
        <p:xfrm>
          <a:off x="3674745" y="865505"/>
          <a:ext cx="3173095" cy="5914328"/>
        </p:xfrm>
        <a:graphic>
          <a:graphicData uri="http://schemas.openxmlformats.org/drawingml/2006/table">
            <a:tbl>
              <a:tblPr firstRow="1" bandRow="1">
                <a:tableStyleId>{C083E6E3-FA7D-4D7B-A595-EF9225AFEA82}</a:tableStyleId>
              </a:tblPr>
              <a:tblGrid>
                <a:gridCol w="1417320">
                  <a:extLst>
                    <a:ext uri="{9D8B030D-6E8A-4147-A177-3AD203B41FA5}">
                      <a16:colId xmlns:a16="http://schemas.microsoft.com/office/drawing/2014/main" val="20000"/>
                    </a:ext>
                  </a:extLst>
                </a:gridCol>
                <a:gridCol w="1755775">
                  <a:extLst>
                    <a:ext uri="{9D8B030D-6E8A-4147-A177-3AD203B41FA5}">
                      <a16:colId xmlns:a16="http://schemas.microsoft.com/office/drawing/2014/main" val="20001"/>
                    </a:ext>
                  </a:extLst>
                </a:gridCol>
              </a:tblGrid>
              <a:tr h="318770">
                <a:tc gridSpan="2">
                  <a:txBody>
                    <a:bodyPr/>
                    <a:lstStyle/>
                    <a:p>
                      <a:pPr algn="ctr"/>
                      <a:r>
                        <a:rPr lang="en-US"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539750">
                <a:tc>
                  <a:txBody>
                    <a:bodyPr/>
                    <a:lstStyle/>
                    <a:p>
                      <a:pPr algn="l">
                        <a:lnSpc>
                          <a:spcPct val="85000"/>
                        </a:lnSpc>
                      </a:pPr>
                      <a:r>
                        <a:rPr lang="en-US" sz="900" b="1" i="0" noProof="0" dirty="0">
                          <a:solidFill>
                            <a:schemeClr val="tx1"/>
                          </a:solidFill>
                          <a:latin typeface="+mn-lt"/>
                        </a:rPr>
                        <a:t>Эгаллаб турган </a:t>
                      </a:r>
                      <a:r>
                        <a:rPr lang="en-US" sz="900" b="1" i="0" noProof="0" dirty="0" smtClean="0">
                          <a:solidFill>
                            <a:schemeClr val="tx1"/>
                          </a:solidFill>
                          <a:latin typeface="+mn-lt"/>
                        </a:rPr>
                        <a:t>лавозими</a:t>
                      </a:r>
                      <a:r>
                        <a:rPr lang="en-US"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en-US" sz="900" b="1" kern="1200" noProof="0" dirty="0" smtClean="0">
                          <a:solidFill>
                            <a:schemeClr val="tx1"/>
                          </a:solidFill>
                          <a:latin typeface="+mn-lt"/>
                          <a:ea typeface="+mn-ea"/>
                          <a:cs typeface="+mn-cs"/>
                        </a:rPr>
                        <a:t>20</a:t>
                      </a:r>
                      <a:r>
                        <a:rPr lang="en-US" altLang="en-US" sz="900" b="1" kern="1200" noProof="0" dirty="0" smtClean="0">
                          <a:solidFill>
                            <a:schemeClr val="tx1"/>
                          </a:solidFill>
                          <a:latin typeface="+mn-lt"/>
                          <a:ea typeface="+mn-ea"/>
                          <a:cs typeface="+mn-cs"/>
                        </a:rPr>
                        <a:t>15</a:t>
                      </a:r>
                      <a:r>
                        <a:rPr lang="en-US" sz="900" b="1" kern="1200" noProof="0" dirty="0" smtClean="0">
                          <a:solidFill>
                            <a:schemeClr val="tx1"/>
                          </a:solidFill>
                          <a:latin typeface="+mn-lt"/>
                          <a:ea typeface="+mn-ea"/>
                          <a:cs typeface="+mn-cs"/>
                        </a:rPr>
                        <a:t> йилдан буён </a:t>
                      </a:r>
                      <a:r>
                        <a:rPr lang="en-US" altLang="en-US" sz="900" b="1" noProof="0" dirty="0" smtClean="0">
                          <a:sym typeface="+mn-ea"/>
                        </a:rPr>
                        <a:t>Ўзбекистон давлат ёш томошабинлар театри етакчи сахна устаси артисти</a:t>
                      </a:r>
                      <a:endParaRPr lang="en-US" altLang="en-US" sz="900" b="1" kern="1200" noProof="0" dirty="0" smtClean="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37490">
                <a:tc>
                  <a:txBody>
                    <a:bodyPr/>
                    <a:lstStyle/>
                    <a:p>
                      <a:pPr algn="l">
                        <a:lnSpc>
                          <a:spcPct val="85000"/>
                        </a:lnSpc>
                      </a:pPr>
                      <a:r>
                        <a:rPr lang="en-US"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en-US"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en-US"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04470">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b="0" noProof="0" dirty="0" smtClean="0">
                          <a:effectLst/>
                          <a:latin typeface="+mn-lt"/>
                          <a:ea typeface="Calibri" panose="020F0502020204030204" pitchFamily="34" charset="0"/>
                          <a:cs typeface="Times New Roman" panose="02020603050405020304" pitchFamily="18" charset="0"/>
                        </a:rPr>
                        <a:t>44</a:t>
                      </a:r>
                      <a:r>
                        <a:rPr lang="en-US" sz="900" b="0" noProof="0" dirty="0" smtClean="0">
                          <a:effectLst/>
                          <a:latin typeface="+mn-lt"/>
                          <a:ea typeface="Calibri" panose="020F0502020204030204" pitchFamily="34" charset="0"/>
                          <a:cs typeface="Times New Roman" panose="02020603050405020304" pitchFamily="18" charset="0"/>
                        </a:rPr>
                        <a:t> </a:t>
                      </a:r>
                      <a:r>
                        <a:rPr lang="en-US"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91135">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b="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395605">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en-US"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293370">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841375">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20</a:t>
                      </a:r>
                      <a:r>
                        <a:rPr lang="en-US" altLang="en-US" sz="900" kern="1200" noProof="0" dirty="0" smtClean="0">
                          <a:solidFill>
                            <a:schemeClr val="tx1"/>
                          </a:solidFill>
                          <a:effectLst/>
                          <a:latin typeface="+mn-lt"/>
                          <a:ea typeface="Calibri" panose="020F0502020204030204" pitchFamily="34" charset="0"/>
                          <a:cs typeface="Times New Roman" panose="02020603050405020304" pitchFamily="18" charset="0"/>
                        </a:rPr>
                        <a:t>25</a:t>
                      </a: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 й. </a:t>
                      </a:r>
                      <a:r>
                        <a:rPr lang="en-US" altLang="en-US" sz="900" kern="1200" noProof="0" dirty="0">
                          <a:solidFill>
                            <a:schemeClr val="tx1"/>
                          </a:solidFill>
                          <a:effectLst/>
                          <a:latin typeface="+mn-lt"/>
                          <a:ea typeface="Calibri" panose="020F0502020204030204" pitchFamily="34" charset="0"/>
                          <a:cs typeface="Times New Roman" panose="02020603050405020304" pitchFamily="18" charset="0"/>
                        </a:rPr>
                        <a:t>Ўзбекистон Республикаси Президенти Администратсияси ҳузуридаги тиббиёт бош бошқармасининг 2-сонли марказий клиник шифохонаси</a:t>
                      </a:r>
                      <a:endParaRPr lang="en-US" altLang="ru-RU"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440055">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kern="1200" noProof="0" dirty="0" smtClean="0">
                          <a:solidFill>
                            <a:schemeClr val="tx1"/>
                          </a:solidFill>
                          <a:effectLst/>
                          <a:latin typeface="+mn-lt"/>
                          <a:ea typeface="Calibri" panose="020F0502020204030204" pitchFamily="34" charset="0"/>
                          <a:cs typeface="Times New Roman" panose="02020603050405020304" pitchFamily="18" charset="0"/>
                        </a:rPr>
                        <a:t>2025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8"/>
                  </a:ext>
                </a:extLst>
              </a:tr>
              <a:tr h="252095">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220345">
                <a:tc gridSpan="2">
                  <a:txBody>
                    <a:bodyPr/>
                    <a:lstStyle/>
                    <a:p>
                      <a:pPr algn="ctr"/>
                      <a:r>
                        <a:rPr lang="en-US"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1978660">
                <a:tc gridSpan="2">
                  <a:txBody>
                    <a:bodyPr/>
                    <a:lstStyle/>
                    <a:p>
                      <a:pPr marL="0" marR="0" indent="0" algn="just" defTabSz="914400" rtl="0" eaLnBrk="1" fontAlgn="auto" latinLnBrk="0" hangingPunct="1">
                        <a:lnSpc>
                          <a:spcPct val="107000"/>
                        </a:lnSpc>
                        <a:spcBef>
                          <a:spcPts val="0"/>
                        </a:spcBef>
                        <a:spcAft>
                          <a:spcPts val="0"/>
                        </a:spcAft>
                        <a:buClrTx/>
                        <a:buSzTx/>
                        <a:buFontTx/>
                        <a:buNone/>
                        <a:defRPr/>
                      </a:pPr>
                      <a:r>
                        <a:rPr lang="en-US" altLang="en-US" sz="900" noProof="0" dirty="0" smtClean="0">
                          <a:effectLst/>
                          <a:ea typeface="Calibri" panose="020F0502020204030204" pitchFamily="34" charset="0"/>
                          <a:cs typeface="Times New Roman" panose="02020603050405020304" pitchFamily="18" charset="0"/>
                          <a:sym typeface="+mn-ea"/>
                        </a:rPr>
                        <a:t>2010</a:t>
                      </a:r>
                      <a:r>
                        <a:rPr lang="en-US" sz="900" noProof="0" dirty="0" smtClean="0">
                          <a:effectLst/>
                          <a:ea typeface="Calibri" panose="020F0502020204030204" pitchFamily="34" charset="0"/>
                          <a:cs typeface="Times New Roman" panose="02020603050405020304" pitchFamily="18" charset="0"/>
                          <a:sym typeface="+mn-ea"/>
                        </a:rPr>
                        <a:t> й. Ўзбекистонда хизмат кўрстаган артист</a:t>
                      </a:r>
                      <a:endParaRPr lang="en-US" sz="900" noProof="0" dirty="0" smtClean="0">
                        <a:effectLst/>
                        <a:latin typeface="+mn-lt"/>
                        <a:ea typeface="Calibri" panose="020F0502020204030204" pitchFamily="34" charset="0"/>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defRPr/>
                      </a:pPr>
                      <a:r>
                        <a:rPr lang="en-US" altLang="en-US" sz="900" noProof="0" dirty="0" smtClean="0">
                          <a:effectLst/>
                          <a:ea typeface="Calibri" panose="020F0502020204030204" pitchFamily="34" charset="0"/>
                          <a:cs typeface="Times New Roman" panose="02020603050405020304" pitchFamily="18" charset="0"/>
                          <a:sym typeface="+mn-ea"/>
                        </a:rPr>
                        <a:t>2021</a:t>
                      </a:r>
                      <a:r>
                        <a:rPr lang="en-US" sz="900" noProof="0" dirty="0" smtClean="0">
                          <a:effectLst/>
                          <a:ea typeface="Calibri" panose="020F0502020204030204" pitchFamily="34" charset="0"/>
                          <a:cs typeface="Times New Roman" panose="02020603050405020304" pitchFamily="18" charset="0"/>
                          <a:sym typeface="+mn-ea"/>
                        </a:rPr>
                        <a:t> й. </a:t>
                      </a:r>
                      <a:r>
                        <a:rPr lang="en-US" altLang="en-US" sz="900" noProof="0" dirty="0" smtClean="0">
                          <a:effectLst/>
                          <a:ea typeface="Calibri" panose="020F0502020204030204" pitchFamily="34" charset="0"/>
                          <a:cs typeface="Times New Roman" panose="02020603050405020304" pitchFamily="18" charset="0"/>
                          <a:sym typeface="+mn-ea"/>
                        </a:rPr>
                        <a:t>“Меҳнат шуҳрат ордени” сохибаси</a:t>
                      </a:r>
                    </a:p>
                    <a:p>
                      <a:pPr marL="0" marR="0" indent="0" algn="just" defTabSz="914400" rtl="0" eaLnBrk="1" fontAlgn="auto" latinLnBrk="0" hangingPunct="1">
                        <a:lnSpc>
                          <a:spcPct val="107000"/>
                        </a:lnSpc>
                        <a:spcBef>
                          <a:spcPts val="0"/>
                        </a:spcBef>
                        <a:spcAft>
                          <a:spcPts val="0"/>
                        </a:spcAft>
                        <a:buClrTx/>
                        <a:buSzTx/>
                        <a:buFontTx/>
                        <a:buNone/>
                        <a:defRPr/>
                      </a:pPr>
                      <a:r>
                        <a:rPr lang="en-US" altLang="en-US" sz="900" noProof="0" dirty="0">
                          <a:effectLst/>
                          <a:latin typeface="+mn-lt"/>
                          <a:ea typeface="Calibri" panose="020F0502020204030204" pitchFamily="34" charset="0"/>
                          <a:cs typeface="Times New Roman" panose="02020603050405020304" pitchFamily="18" charset="0"/>
                        </a:rPr>
                        <a:t>2025 й. Маданият ва санъат фидоийси</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endParaRPr lang="ru-RU"/>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bl>
          </a:graphicData>
        </a:graphic>
      </p:graphicFrame>
      <p:graphicFrame>
        <p:nvGraphicFramePr>
          <p:cNvPr id="6" name="Таблица 5"/>
          <p:cNvGraphicFramePr>
            <a:graphicFrameLocks noGrp="1"/>
          </p:cNvGraphicFramePr>
          <p:nvPr>
            <p:extLst>
              <p:ext uri="{D42A27DB-BD31-4B8C-83A1-F6EECF244321}">
                <p14:modId xmlns:p14="http://schemas.microsoft.com/office/powerpoint/2010/main" val="612120172"/>
              </p:ext>
            </p:extLst>
          </p:nvPr>
        </p:nvGraphicFramePr>
        <p:xfrm>
          <a:off x="6949857" y="869284"/>
          <a:ext cx="2817247" cy="5910548"/>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0000"/>
                    </a:ext>
                  </a:extLst>
                </a:gridCol>
              </a:tblGrid>
              <a:tr h="278823">
                <a:tc>
                  <a:txBody>
                    <a:bodyPr/>
                    <a:lstStyle/>
                    <a:p>
                      <a:pPr algn="ctr">
                        <a:lnSpc>
                          <a:spcPct val="85000"/>
                        </a:lnSpc>
                      </a:pPr>
                      <a:r>
                        <a:rPr lang="en-US" sz="1200" b="1" noProof="0" dirty="0" smtClean="0">
                          <a:solidFill>
                            <a:schemeClr val="bg1"/>
                          </a:solidFill>
                          <a:latin typeface="Bahnschrift SemiBold" panose="020B0502040204020203" pitchFamily="34" charset="0"/>
                        </a:rPr>
                        <a:t>ФАОЛИЯТИ</a:t>
                      </a:r>
                      <a:r>
                        <a:rPr lang="en-US" sz="1200" b="1" baseline="0" noProof="0" dirty="0" smtClean="0">
                          <a:solidFill>
                            <a:schemeClr val="bg1"/>
                          </a:solidFill>
                          <a:latin typeface="Bahnschrift SemiBold" panose="020B0502040204020203" pitchFamily="34" charset="0"/>
                        </a:rPr>
                        <a:t> </a:t>
                      </a:r>
                      <a:endParaRPr lang="en-US"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10000"/>
                  </a:ext>
                </a:extLst>
              </a:tr>
              <a:tr h="350979">
                <a:tc>
                  <a:txBody>
                    <a:bodyPr/>
                    <a:lstStyle/>
                    <a:p>
                      <a:pPr algn="ctr">
                        <a:lnSpc>
                          <a:spcPct val="85000"/>
                        </a:lnSpc>
                      </a:pPr>
                      <a:r>
                        <a:rPr lang="en-US" sz="1000" b="1" noProof="0" dirty="0" smtClean="0">
                          <a:solidFill>
                            <a:schemeClr val="bg1"/>
                          </a:solidFill>
                          <a:latin typeface="Bahnschrift SemiBold" panose="020B0502040204020203" pitchFamily="34" charset="0"/>
                        </a:rPr>
                        <a:t>Меҳнат фаолияти ҳақида</a:t>
                      </a:r>
                      <a:r>
                        <a:rPr lang="en-US" sz="1000" b="1" baseline="0" noProof="0" dirty="0" smtClean="0">
                          <a:solidFill>
                            <a:schemeClr val="bg1"/>
                          </a:solidFill>
                          <a:latin typeface="Bahnschrift SemiBold" panose="020B0502040204020203" pitchFamily="34" charset="0"/>
                        </a:rPr>
                        <a:t> қисқача тавсифнома</a:t>
                      </a:r>
                      <a:endParaRPr lang="en-US"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10001"/>
                  </a:ext>
                </a:extLst>
              </a:tr>
              <a:tr h="4288416">
                <a:tc>
                  <a:txBody>
                    <a:bodyPr/>
                    <a:lstStyle/>
                    <a:p>
                      <a:pPr algn="just">
                        <a:lnSpc>
                          <a:spcPct val="85000"/>
                        </a:lnSpc>
                      </a:pPr>
                      <a:r>
                        <a:rPr lang="ru-RU" sz="900" b="0" noProof="0" dirty="0" smtClean="0">
                          <a:solidFill>
                            <a:schemeClr val="tx1"/>
                          </a:solidFill>
                          <a:latin typeface="+mn-lt"/>
                        </a:rPr>
                        <a:t>   </a:t>
                      </a:r>
                      <a:r>
                        <a:rPr lang="en-US" altLang="en-US" sz="900" b="0" noProof="0" dirty="0" err="1" smtClean="0">
                          <a:solidFill>
                            <a:schemeClr val="tx1"/>
                          </a:solidFill>
                          <a:latin typeface="+mn-lt"/>
                        </a:rPr>
                        <a:t>Ф.Умарова</a:t>
                      </a:r>
                      <a:r>
                        <a:rPr lang="en-US" altLang="en-US" sz="900" b="0" noProof="0" dirty="0" smtClean="0">
                          <a:solidFill>
                            <a:schemeClr val="tx1"/>
                          </a:solidFill>
                          <a:latin typeface="+mn-lt"/>
                        </a:rPr>
                        <a:t> </a:t>
                      </a:r>
                      <a:r>
                        <a:rPr lang="en-US" altLang="en-US" sz="900" b="0" noProof="0" dirty="0">
                          <a:solidFill>
                            <a:schemeClr val="tx1"/>
                          </a:solidFill>
                          <a:latin typeface="+mn-lt"/>
                        </a:rPr>
                        <a:t>театрда ўзининг тинимсиз меҳнати, саҳнада яратган серқирра образлари билан ажралиб туради. Моҳир актриса ўз ижодий фаолияти мобайнида турли жанлардар ранг-баранг образлар яратган. “Учар табиб”да Ўжар қиз, “Алпомиш”да Ойбарчинни Онаси, “От кишнаган оқшом” Момосулув, “Кеча ва кундуз”да Зебинисо, “Икки мўжиза”да Масхарабоз, “Оқ бўри”да Ойнур, “Чоқ-чоқ мактанчок”да Она қуён, “Турна патлари”да Турна ва бола, “Ўз ёрингдан айрилма”да Миронова, “Ассалом янги аср”да Қўғирчоқ, “Яхм-яхмалак”да Ўткирбек, “Хаёт япроғи”да Жиной, “Ўрмон машмашаси”да Товуқой Қақақовна, “Ўрмон қўшиғи”да қўзичоқ, “Сичуандан чиккан мехрибон”да Ногирон кампир, “Эски жува гаврошлари”да ўқувчи қиз, “Сирли сандиқ”да Зумрад, “Рахмат капитан”да Назира, “Хаёт япроғи”да Жин, “Адашганлар”да Холида, “Жўжаларим”да Сариқ пат, “Навруз ва бойчечак”да Ойтуғди, “Олтин жўжа”да Жўжа,  “Умид дараҳти”да Буви, “Адвокатлик осонми”да Аризачи аёл, “Заҳарли томчилар”да ўқитувчи Аъгзамханова, “Алихўжа Хўжаали”да Масхарабоз, “Чўп қўғирчоқ”да Бувиси, “Борса келмас” да Эльф, “Орзулар кемаси”да Қарға, “Сехирли дур”да Табиат маликаси, “Тўрт эгизак”да Эртакчи жахонгашта, “Қор маликаси”да Буви, Фин аёли ва гулчи, “Қувноқ Жин”да Буви, “Ваня Кротов”да Алёнушка, “Аламазон ва унинг пиёдаси” да Олтин-биби, “Дискотека”да Мастура Она, “Мешполвон”да Мешполвонни онаси, “Широқ”да Тумар хотин, “Сехирли Лайлак”да ўгай она каби ролларини маҳорат билан ижро этиб келмокда.</a:t>
                      </a:r>
                    </a:p>
                    <a:p>
                      <a:pPr algn="just">
                        <a:lnSpc>
                          <a:spcPct val="85000"/>
                        </a:lnSpc>
                      </a:pPr>
                      <a:r>
                        <a:rPr lang="en-US" altLang="en-US" sz="900" b="0" noProof="0" dirty="0">
                          <a:solidFill>
                            <a:schemeClr val="tx1"/>
                          </a:solidFill>
                          <a:latin typeface="+mn-lt"/>
                        </a:rPr>
                        <a:t>    </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0002"/>
                  </a:ext>
                </a:extLst>
              </a:tr>
              <a:tr h="173229">
                <a:tc>
                  <a:txBody>
                    <a:bodyPr/>
                    <a:lstStyle/>
                    <a:p>
                      <a:pPr marL="0" marR="0" lvl="0" indent="0" algn="ctr" defTabSz="914400" rtl="0" eaLnBrk="1" fontAlgn="auto" latinLnBrk="0" hangingPunct="1">
                        <a:lnSpc>
                          <a:spcPct val="107000"/>
                        </a:lnSpc>
                        <a:spcBef>
                          <a:spcPts val="0"/>
                        </a:spcBef>
                        <a:spcAft>
                          <a:spcPts val="0"/>
                        </a:spcAft>
                        <a:buClrTx/>
                        <a:buSzTx/>
                        <a:buFontTx/>
                        <a:buNone/>
                        <a:defRPr/>
                      </a:pPr>
                      <a:r>
                        <a:rPr lang="en-US"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10003"/>
                  </a:ext>
                </a:extLst>
              </a:tr>
              <a:tr h="819101">
                <a:tc>
                  <a:txBody>
                    <a:bodyPr/>
                    <a:lstStyle/>
                    <a:p>
                      <a:pPr marL="0" marR="0" lvl="0" indent="0" algn="just" defTabSz="914400" rtl="0" eaLnBrk="1" fontAlgn="auto" latinLnBrk="0" hangingPunct="1">
                        <a:lnSpc>
                          <a:spcPct val="107000"/>
                        </a:lnSpc>
                        <a:spcBef>
                          <a:spcPts val="0"/>
                        </a:spcBef>
                        <a:spcAft>
                          <a:spcPts val="0"/>
                        </a:spcAft>
                        <a:buClrTx/>
                        <a:buSzTx/>
                        <a:buFontTx/>
                        <a:buNone/>
                        <a:defRPr/>
                      </a:pPr>
                      <a:r>
                        <a:rPr lang="ru-RU" sz="900" b="0" dirty="0" smtClean="0">
                          <a:effectLst/>
                          <a:latin typeface="+mn-lt"/>
                          <a:ea typeface="Calibri" panose="020F0502020204030204" pitchFamily="34" charset="0"/>
                          <a:cs typeface="Times New Roman" panose="02020603050405020304" pitchFamily="18" charset="0"/>
                        </a:rPr>
                        <a:t>    </a:t>
                      </a:r>
                      <a:r>
                        <a:rPr lang="en-US" sz="900" b="0" dirty="0" err="1" smtClean="0">
                          <a:effectLst/>
                          <a:latin typeface="+mn-lt"/>
                          <a:ea typeface="Calibri" panose="020F0502020204030204" pitchFamily="34" charset="0"/>
                          <a:cs typeface="Times New Roman" panose="02020603050405020304" pitchFamily="18" charset="0"/>
                        </a:rPr>
                        <a:t>Республикамизда</a:t>
                      </a:r>
                      <a:r>
                        <a:rPr lang="en-US"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bl>
          </a:graphicData>
        </a:graphic>
      </p:graphicFrame>
      <p:pic>
        <p:nvPicPr>
          <p:cNvPr id="9" name="Изображение 1073742852" descr="фаридаопа"/>
          <p:cNvPicPr>
            <a:picLocks noChangeAspect="1"/>
          </p:cNvPicPr>
          <p:nvPr/>
        </p:nvPicPr>
        <p:blipFill>
          <a:blip r:embed="rId2"/>
          <a:srcRect l="4156" t="2954" r="1675" b="-1234"/>
          <a:stretch>
            <a:fillRect/>
          </a:stretch>
        </p:blipFill>
        <p:spPr>
          <a:xfrm>
            <a:off x="263525" y="1127125"/>
            <a:ext cx="877017" cy="1109980"/>
          </a:xfrm>
          <a:prstGeom prst="rect">
            <a:avLst/>
          </a:prstGeom>
          <a:noFill/>
          <a:ln w="9525">
            <a:noFill/>
          </a:ln>
        </p:spPr>
      </p:pic>
    </p:spTree>
    <p:extLst>
      <p:ext uri="{BB962C8B-B14F-4D97-AF65-F5344CB8AC3E}">
        <p14:creationId xmlns:p14="http://schemas.microsoft.com/office/powerpoint/2010/main" val="1623816624"/>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002060"/>
                </a:solidFill>
                <a:latin typeface="Bahnschrift SemiBold" panose="020B0502040204020203" pitchFamily="34" charset="0"/>
              </a:rPr>
              <a:t>ПОРТФОЛИО</a:t>
            </a:r>
            <a:endParaRPr lang="en-US" b="1" dirty="0">
              <a:solidFill>
                <a:srgbClr val="002060"/>
              </a:solidFill>
              <a:latin typeface="Bahnschrift SemiBold" panose="020B0502040204020203" pitchFamily="34" charset="0"/>
            </a:endParaRPr>
          </a:p>
        </p:txBody>
      </p:sp>
      <p:sp>
        <p:nvSpPr>
          <p:cNvPr id="3" name="Прямоугольник 2"/>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altLang="en-US" sz="1600" b="1" dirty="0" smtClean="0">
                <a:solidFill>
                  <a:srgbClr val="002060"/>
                </a:solidFill>
                <a:latin typeface="Bahnschrift SemiBold" panose="020B0502040204020203" pitchFamily="34" charset="0"/>
              </a:rPr>
              <a:t>ТЕАТР ВА ЦИРК ЙЎНАЛИШИ СОҲА ВАКИЛЛАРИ</a:t>
            </a:r>
            <a:endParaRPr lang="en-US" sz="1200" b="1" dirty="0">
              <a:solidFill>
                <a:srgbClr val="002060"/>
              </a:solidFill>
              <a:latin typeface="Bahnschrift SemiBold" panose="020B0502040204020203" pitchFamily="34" charset="0"/>
            </a:endParaRPr>
          </a:p>
        </p:txBody>
      </p:sp>
      <p:graphicFrame>
        <p:nvGraphicFramePr>
          <p:cNvPr id="4" name="Таблица 3"/>
          <p:cNvGraphicFramePr>
            <a:graphicFrameLocks noGrp="1"/>
          </p:cNvGraphicFramePr>
          <p:nvPr>
            <p:extLst>
              <p:ext uri="{D42A27DB-BD31-4B8C-83A1-F6EECF244321}">
                <p14:modId xmlns:p14="http://schemas.microsoft.com/office/powerpoint/2010/main" val="1971389345"/>
              </p:ext>
            </p:extLst>
          </p:nvPr>
        </p:nvGraphicFramePr>
        <p:xfrm>
          <a:off x="144780" y="865505"/>
          <a:ext cx="3427730" cy="5909367"/>
        </p:xfrm>
        <a:graphic>
          <a:graphicData uri="http://schemas.openxmlformats.org/drawingml/2006/table">
            <a:tbl>
              <a:tblPr firstRow="1" bandRow="1">
                <a:tableStyleId>{C083E6E3-FA7D-4D7B-A595-EF9225AFEA82}</a:tableStyleId>
              </a:tblPr>
              <a:tblGrid>
                <a:gridCol w="567690">
                  <a:extLst>
                    <a:ext uri="{9D8B030D-6E8A-4147-A177-3AD203B41FA5}">
                      <a16:colId xmlns:a16="http://schemas.microsoft.com/office/drawing/2014/main" val="20000"/>
                    </a:ext>
                  </a:extLst>
                </a:gridCol>
                <a:gridCol w="530860">
                  <a:extLst>
                    <a:ext uri="{9D8B030D-6E8A-4147-A177-3AD203B41FA5}">
                      <a16:colId xmlns:a16="http://schemas.microsoft.com/office/drawing/2014/main" val="20001"/>
                    </a:ext>
                  </a:extLst>
                </a:gridCol>
                <a:gridCol w="153670">
                  <a:extLst>
                    <a:ext uri="{9D8B030D-6E8A-4147-A177-3AD203B41FA5}">
                      <a16:colId xmlns:a16="http://schemas.microsoft.com/office/drawing/2014/main" val="20002"/>
                    </a:ext>
                  </a:extLst>
                </a:gridCol>
                <a:gridCol w="909955">
                  <a:extLst>
                    <a:ext uri="{9D8B030D-6E8A-4147-A177-3AD203B41FA5}">
                      <a16:colId xmlns:a16="http://schemas.microsoft.com/office/drawing/2014/main" val="20003"/>
                    </a:ext>
                  </a:extLst>
                </a:gridCol>
                <a:gridCol w="1265555">
                  <a:extLst>
                    <a:ext uri="{9D8B030D-6E8A-4147-A177-3AD203B41FA5}">
                      <a16:colId xmlns:a16="http://schemas.microsoft.com/office/drawing/2014/main" val="20004"/>
                    </a:ext>
                  </a:extLst>
                </a:gridCol>
              </a:tblGrid>
              <a:tr h="253078">
                <a:tc gridSpan="5">
                  <a:txBody>
                    <a:bodyPr/>
                    <a:lstStyle/>
                    <a:p>
                      <a:pPr marL="0" marR="0" lvl="0" indent="0" algn="ctr" defTabSz="914400" rtl="0" eaLnBrk="1" fontAlgn="auto" latinLnBrk="0" hangingPunct="1">
                        <a:lnSpc>
                          <a:spcPct val="90000"/>
                        </a:lnSpc>
                        <a:spcBef>
                          <a:spcPts val="0"/>
                        </a:spcBef>
                        <a:spcAft>
                          <a:spcPts val="0"/>
                        </a:spcAft>
                        <a:buClrTx/>
                        <a:buSzTx/>
                        <a:buFontTx/>
                        <a:buNone/>
                        <a:defRPr/>
                      </a:pPr>
                      <a:r>
                        <a:rPr lang="en-US"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196331">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en-US"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en-US" altLang="en-US" sz="900" b="0" kern="1200" dirty="0" smtClean="0">
                          <a:solidFill>
                            <a:schemeClr val="tx1"/>
                          </a:solidFill>
                          <a:latin typeface="+mn-lt"/>
                          <a:ea typeface="+mn-ea"/>
                          <a:cs typeface="+mn-cs"/>
                        </a:rPr>
                        <a:t>ХИКМАТОВ</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195679">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en-US"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Асқар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196331">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Аброрович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96983">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en-US"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en-US"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196331">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ru-RU" sz="800" b="0" kern="1200" dirty="0" smtClean="0">
                          <a:solidFill>
                            <a:schemeClr val="tx1"/>
                          </a:solidFill>
                          <a:latin typeface="+mn-lt"/>
                          <a:ea typeface="+mn-ea"/>
                          <a:cs typeface="+mn-cs"/>
                        </a:rPr>
                        <a:t>1</a:t>
                      </a:r>
                      <a:r>
                        <a:rPr lang="en-US" altLang="en-US" sz="800" b="0" kern="1200" dirty="0" smtClean="0">
                          <a:solidFill>
                            <a:schemeClr val="tx1"/>
                          </a:solidFill>
                          <a:latin typeface="+mn-lt"/>
                          <a:ea typeface="+mn-ea"/>
                          <a:cs typeface="+mn-cs"/>
                        </a:rPr>
                        <a:t>9</a:t>
                      </a:r>
                      <a:r>
                        <a:rPr lang="ru-RU" sz="800" b="0" kern="1200" dirty="0" smtClean="0">
                          <a:solidFill>
                            <a:schemeClr val="tx1"/>
                          </a:solidFill>
                          <a:latin typeface="+mn-lt"/>
                          <a:ea typeface="+mn-ea"/>
                          <a:cs typeface="+mn-cs"/>
                        </a:rPr>
                        <a:t>.</a:t>
                      </a:r>
                      <a:r>
                        <a:rPr lang="en-US" altLang="ru-RU" sz="800" b="0" kern="1200" dirty="0" smtClean="0">
                          <a:solidFill>
                            <a:schemeClr val="tx1"/>
                          </a:solidFill>
                          <a:latin typeface="+mn-lt"/>
                          <a:ea typeface="+mn-ea"/>
                          <a:cs typeface="+mn-cs"/>
                        </a:rPr>
                        <a:t>12</a:t>
                      </a:r>
                      <a:r>
                        <a:rPr lang="ru-RU" sz="800" b="0" kern="1200" dirty="0" smtClean="0">
                          <a:solidFill>
                            <a:schemeClr val="tx1"/>
                          </a:solidFill>
                          <a:latin typeface="+mn-lt"/>
                          <a:ea typeface="+mn-ea"/>
                          <a:cs typeface="+mn-cs"/>
                        </a:rPr>
                        <a:t>.19</a:t>
                      </a:r>
                      <a:r>
                        <a:rPr lang="en-US" altLang="ru-RU" sz="800" b="0" kern="1200" dirty="0" smtClean="0">
                          <a:solidFill>
                            <a:schemeClr val="tx1"/>
                          </a:solidFill>
                          <a:latin typeface="+mn-lt"/>
                          <a:ea typeface="+mn-ea"/>
                          <a:cs typeface="+mn-cs"/>
                        </a:rPr>
                        <a:t>87</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196331">
                <a:tc gridSpan="2" v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en-US"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altLang="en-US" sz="800" b="0" kern="1200" dirty="0" smtClean="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240032">
                <a:tc gridSpan="5">
                  <a:txBody>
                    <a:bodyPr/>
                    <a:lstStyle/>
                    <a:p>
                      <a:pPr algn="ctr"/>
                      <a:r>
                        <a:rPr lang="en-US"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504851">
                <a:tc gridSpan="2">
                  <a:txBody>
                    <a:bodyPr/>
                    <a:lstStyle/>
                    <a:p>
                      <a:pPr marL="0" marR="0" lvl="0" indent="0" algn="ctr" defTabSz="914400" rtl="0" eaLnBrk="1" fontAlgn="auto" latinLnBrk="0" hangingPunct="1">
                        <a:lnSpc>
                          <a:spcPct val="85000"/>
                        </a:lnSpc>
                        <a:spcBef>
                          <a:spcPts val="0"/>
                        </a:spcBef>
                        <a:spcAft>
                          <a:spcPts val="0"/>
                        </a:spcAft>
                        <a:buClrTx/>
                        <a:buSzTx/>
                        <a:buFontTx/>
                        <a:buNone/>
                        <a:defRPr/>
                      </a:pPr>
                      <a:r>
                        <a:rPr lang="en-US" sz="900" b="1" noProof="0" dirty="0" smtClean="0">
                          <a:latin typeface="+mn-lt"/>
                        </a:rPr>
                        <a:t>Оилавий ва ижтимоий ахволи</a:t>
                      </a:r>
                      <a:r>
                        <a:rPr lang="en-US" sz="900" b="1" noProof="0" dirty="0">
                          <a:latin typeface="+mn-lt"/>
                        </a:rPr>
                        <a:t>:</a:t>
                      </a:r>
                      <a:endParaRPr lang="en-US"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900" b="0" kern="1200" noProof="0" dirty="0">
                          <a:solidFill>
                            <a:schemeClr val="tx1"/>
                          </a:solidFill>
                          <a:latin typeface="+mn-lt"/>
                          <a:ea typeface="+mn-ea"/>
                          <a:cs typeface="+mn-cs"/>
                        </a:rPr>
                        <a:t>Оилали, </a:t>
                      </a:r>
                      <a:r>
                        <a:rPr lang="en-US" altLang="en-US" sz="900" b="0" kern="1200" noProof="0" dirty="0">
                          <a:solidFill>
                            <a:schemeClr val="tx1"/>
                          </a:solidFill>
                          <a:latin typeface="+mn-lt"/>
                          <a:ea typeface="+mn-ea"/>
                          <a:cs typeface="+mn-cs"/>
                        </a:rPr>
                        <a:t>1</a:t>
                      </a:r>
                      <a:r>
                        <a:rPr lang="en-US" sz="900" b="0" kern="1200" noProof="0" dirty="0" smtClean="0">
                          <a:solidFill>
                            <a:schemeClr val="tx1"/>
                          </a:solidFill>
                          <a:latin typeface="+mn-lt"/>
                          <a:ea typeface="+mn-ea"/>
                          <a:cs typeface="+mn-cs"/>
                        </a:rPr>
                        <a:t> </a:t>
                      </a:r>
                      <a:r>
                        <a:rPr lang="en-US" sz="900" b="0" kern="1200" noProof="0" dirty="0">
                          <a:solidFill>
                            <a:schemeClr val="tx1"/>
                          </a:solidFill>
                          <a:latin typeface="+mn-lt"/>
                          <a:ea typeface="+mn-ea"/>
                          <a:cs typeface="+mn-cs"/>
                        </a:rPr>
                        <a:t>нафар </a:t>
                      </a:r>
                      <a:r>
                        <a:rPr lang="en-US" sz="900" b="0" kern="1200" noProof="0" dirty="0" smtClean="0">
                          <a:solidFill>
                            <a:schemeClr val="tx1"/>
                          </a:solidFill>
                          <a:latin typeface="+mn-lt"/>
                          <a:ea typeface="+mn-ea"/>
                          <a:cs typeface="+mn-cs"/>
                        </a:rPr>
                        <a:t>ўғил</a:t>
                      </a:r>
                      <a:r>
                        <a:rPr lang="en-US" altLang="en-US" sz="900" b="0" kern="1200" noProof="0" dirty="0" smtClean="0">
                          <a:solidFill>
                            <a:schemeClr val="tx1"/>
                          </a:solidFill>
                          <a:latin typeface="+mn-lt"/>
                          <a:ea typeface="+mn-ea"/>
                          <a:cs typeface="+mn-cs"/>
                        </a:rPr>
                        <a:t>,2 нафар қиз</a:t>
                      </a:r>
                      <a:r>
                        <a:rPr lang="en-US" sz="900" b="0" kern="1200" noProof="0" dirty="0" smtClean="0">
                          <a:solidFill>
                            <a:schemeClr val="tx1"/>
                          </a:solidFill>
                          <a:latin typeface="+mn-lt"/>
                          <a:ea typeface="+mn-ea"/>
                          <a:cs typeface="+mn-cs"/>
                        </a:rPr>
                        <a:t> </a:t>
                      </a:r>
                      <a:r>
                        <a:rPr lang="en-US" sz="900" b="0" kern="1200" noProof="0" dirty="0">
                          <a:solidFill>
                            <a:schemeClr val="tx1"/>
                          </a:solidFill>
                          <a:latin typeface="+mn-lt"/>
                          <a:ea typeface="+mn-ea"/>
                          <a:cs typeface="+mn-cs"/>
                        </a:rPr>
                        <a:t>фарзанди </a:t>
                      </a:r>
                      <a:r>
                        <a:rPr lang="en-US" sz="900" b="0" kern="1200" noProof="0" dirty="0" smtClean="0">
                          <a:solidFill>
                            <a:schemeClr val="tx1"/>
                          </a:solidFill>
                          <a:latin typeface="+mn-lt"/>
                          <a:ea typeface="+mn-ea"/>
                          <a:cs typeface="+mn-cs"/>
                        </a:rPr>
                        <a:t>бор, </a:t>
                      </a:r>
                      <a:br>
                        <a:rPr lang="en-US" sz="900" b="0" kern="1200" noProof="0" dirty="0" smtClean="0">
                          <a:solidFill>
                            <a:schemeClr val="tx1"/>
                          </a:solidFill>
                          <a:latin typeface="+mn-lt"/>
                          <a:ea typeface="+mn-ea"/>
                          <a:cs typeface="+mn-cs"/>
                        </a:rPr>
                      </a:br>
                      <a:endParaRPr lang="en-US"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8"/>
                  </a:ext>
                </a:extLst>
              </a:tr>
              <a:tr h="239380">
                <a:tc gridSpan="5">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09"/>
                  </a:ext>
                </a:extLst>
              </a:tr>
              <a:tr h="626172">
                <a:tc>
                  <a:txBody>
                    <a:bodyPr/>
                    <a:lstStyle/>
                    <a:p>
                      <a:pPr algn="ctr">
                        <a:lnSpc>
                          <a:spcPct val="85000"/>
                        </a:lnSpc>
                      </a:pPr>
                      <a:r>
                        <a:rPr lang="en-US"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kern="1200" noProof="0" dirty="0" smtClean="0">
                          <a:solidFill>
                            <a:schemeClr val="tx1"/>
                          </a:solidFill>
                          <a:latin typeface="+mn-lt"/>
                          <a:ea typeface="+mn-ea"/>
                          <a:cs typeface="Arial" panose="020B0604020202020204" pitchFamily="34" charset="0"/>
                        </a:rPr>
                        <a:t>ХИКМАТОВ Аброр Суннатович </a:t>
                      </a:r>
                      <a:r>
                        <a:rPr lang="en-US" sz="900" b="0" kern="1200" noProof="0" dirty="0" smtClean="0">
                          <a:solidFill>
                            <a:schemeClr val="tx1"/>
                          </a:solidFill>
                          <a:latin typeface="+mn-lt"/>
                          <a:ea typeface="+mn-ea"/>
                          <a:cs typeface="Arial" panose="020B0604020202020204" pitchFamily="34" charset="0"/>
                        </a:rPr>
                        <a:t>19</a:t>
                      </a:r>
                      <a:r>
                        <a:rPr lang="en-US" altLang="en-US" sz="900" b="0" kern="1200" noProof="0" dirty="0" smtClean="0">
                          <a:solidFill>
                            <a:schemeClr val="tx1"/>
                          </a:solidFill>
                          <a:latin typeface="+mn-lt"/>
                          <a:ea typeface="+mn-ea"/>
                          <a:cs typeface="Arial" panose="020B0604020202020204" pitchFamily="34" charset="0"/>
                        </a:rPr>
                        <a:t>63</a:t>
                      </a:r>
                      <a:r>
                        <a:rPr lang="en-US" sz="900" b="0" kern="1200" noProof="0" dirty="0" smtClean="0">
                          <a:solidFill>
                            <a:schemeClr val="tx1"/>
                          </a:solidFill>
                          <a:latin typeface="+mn-lt"/>
                          <a:ea typeface="+mn-ea"/>
                          <a:cs typeface="Arial" panose="020B0604020202020204" pitchFamily="34" charset="0"/>
                        </a:rPr>
                        <a:t> йил, </a:t>
                      </a:r>
                      <a:r>
                        <a:rPr lang="en-US" altLang="en-US" sz="900" b="0" kern="1200" noProof="0" dirty="0" smtClean="0">
                          <a:solidFill>
                            <a:schemeClr val="tx1"/>
                          </a:solidFill>
                          <a:latin typeface="+mn-lt"/>
                          <a:ea typeface="+mn-ea"/>
                          <a:cs typeface="Arial" panose="020B0604020202020204" pitchFamily="34" charset="0"/>
                        </a:rPr>
                        <a:t>Тошкент</a:t>
                      </a:r>
                      <a:r>
                        <a:rPr lang="en-US" sz="900" b="0" kern="1200" noProof="0" dirty="0" smtClean="0">
                          <a:solidFill>
                            <a:schemeClr val="tx1"/>
                          </a:solidFill>
                          <a:latin typeface="+mn-lt"/>
                          <a:ea typeface="+mn-ea"/>
                          <a:cs typeface="Arial" panose="020B0604020202020204" pitchFamily="34" charset="0"/>
                        </a:rPr>
                        <a:t> шаҳри</a:t>
                      </a:r>
                      <a:endParaRPr lang="en-US"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Arial" panose="020B0604020202020204" pitchFamily="34" charset="0"/>
                        </a:rPr>
                        <a:t>2025 йил вафот этган (Хусусий тадбиркор)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478108">
                <a:tc>
                  <a:txBody>
                    <a:bodyPr/>
                    <a:lstStyle/>
                    <a:p>
                      <a:pPr algn="ctr">
                        <a:lnSpc>
                          <a:spcPct val="85000"/>
                        </a:lnSpc>
                      </a:pPr>
                      <a:r>
                        <a:rPr lang="en-US"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kern="1200" noProof="0" dirty="0" smtClean="0">
                          <a:solidFill>
                            <a:schemeClr val="tx1"/>
                          </a:solidFill>
                          <a:latin typeface="+mn-lt"/>
                          <a:ea typeface="+mn-ea"/>
                          <a:cs typeface="Arial" panose="020B0604020202020204" pitchFamily="34" charset="0"/>
                        </a:rPr>
                        <a:t>ХИКМАТОВА Лола Султонмуродовна </a:t>
                      </a:r>
                    </a:p>
                    <a:p>
                      <a:pPr algn="l">
                        <a:lnSpc>
                          <a:spcPct val="85000"/>
                        </a:lnSpc>
                      </a:pPr>
                      <a:r>
                        <a:rPr lang="en-US" altLang="en-US" sz="900" b="0" kern="1200" noProof="0" dirty="0" smtClean="0">
                          <a:solidFill>
                            <a:schemeClr val="tx1"/>
                          </a:solidFill>
                          <a:latin typeface="+mn-lt"/>
                          <a:ea typeface="+mn-ea"/>
                          <a:cs typeface="Arial" panose="020B0604020202020204" pitchFamily="34" charset="0"/>
                        </a:rPr>
                        <a:t>1</a:t>
                      </a:r>
                      <a:r>
                        <a:rPr lang="en-US" sz="900" b="0" kern="1200" noProof="0" dirty="0" smtClean="0">
                          <a:solidFill>
                            <a:schemeClr val="tx1"/>
                          </a:solidFill>
                          <a:latin typeface="+mn-lt"/>
                          <a:ea typeface="+mn-ea"/>
                          <a:cs typeface="Arial" panose="020B0604020202020204" pitchFamily="34" charset="0"/>
                        </a:rPr>
                        <a:t>9</a:t>
                      </a:r>
                      <a:r>
                        <a:rPr lang="en-US" altLang="en-US" sz="900" b="0" kern="1200" noProof="0" dirty="0" smtClean="0">
                          <a:solidFill>
                            <a:schemeClr val="tx1"/>
                          </a:solidFill>
                          <a:latin typeface="+mn-lt"/>
                          <a:ea typeface="+mn-ea"/>
                          <a:cs typeface="Arial" panose="020B0604020202020204" pitchFamily="34" charset="0"/>
                        </a:rPr>
                        <a:t>65</a:t>
                      </a:r>
                      <a:r>
                        <a:rPr lang="en-US" sz="900" b="0" kern="1200" noProof="0" dirty="0" smtClean="0">
                          <a:solidFill>
                            <a:schemeClr val="tx1"/>
                          </a:solidFill>
                          <a:latin typeface="+mn-lt"/>
                          <a:ea typeface="+mn-ea"/>
                          <a:cs typeface="Arial" panose="020B0604020202020204" pitchFamily="34" charset="0"/>
                        </a:rPr>
                        <a:t> йил, </a:t>
                      </a:r>
                      <a:r>
                        <a:rPr lang="en-US" altLang="en-US" sz="900" noProof="0" dirty="0" smtClean="0">
                          <a:cs typeface="Arial" panose="020B0604020202020204" pitchFamily="34" charset="0"/>
                          <a:sym typeface="+mn-ea"/>
                        </a:rPr>
                        <a:t>Тошкент</a:t>
                      </a:r>
                      <a:r>
                        <a:rPr lang="en-US" sz="900" noProof="0" dirty="0" smtClean="0">
                          <a:cs typeface="Arial" panose="020B0604020202020204" pitchFamily="34" charset="0"/>
                          <a:sym typeface="+mn-ea"/>
                        </a:rPr>
                        <a:t> шаҳри</a:t>
                      </a:r>
                      <a:endParaRPr lang="en-US"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Arial" panose="020B0604020202020204" pitchFamily="34" charset="0"/>
                        </a:rPr>
                        <a:t>Пенсионер (366-мактабгача таълим муассасаси ошпази)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r h="435582">
                <a:tc>
                  <a:txBody>
                    <a:bodyPr/>
                    <a:lstStyle/>
                    <a:p>
                      <a:pPr algn="ctr">
                        <a:lnSpc>
                          <a:spcPct val="85000"/>
                        </a:lnSpc>
                      </a:pPr>
                      <a:r>
                        <a:rPr lang="en-US"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altLang="en-US" sz="900" b="1" noProof="0" dirty="0" smtClean="0">
                          <a:cs typeface="Arial" panose="020B0604020202020204" pitchFamily="34" charset="0"/>
                          <a:sym typeface="+mn-ea"/>
                        </a:rPr>
                        <a:t>ХИКМАТОВА</a:t>
                      </a:r>
                      <a:r>
                        <a:rPr lang="en-US" altLang="en-US" sz="900" b="1" kern="1200" noProof="0" dirty="0" smtClean="0">
                          <a:solidFill>
                            <a:schemeClr val="tx1"/>
                          </a:solidFill>
                          <a:latin typeface="+mn-lt"/>
                          <a:ea typeface="+mn-ea"/>
                          <a:cs typeface="Arial" panose="020B0604020202020204" pitchFamily="34" charset="0"/>
                        </a:rPr>
                        <a:t> </a:t>
                      </a:r>
                      <a:r>
                        <a:rPr lang="en-US" altLang="en-US" sz="900" b="0" kern="1200" noProof="0" dirty="0" smtClean="0">
                          <a:solidFill>
                            <a:schemeClr val="tx1"/>
                          </a:solidFill>
                          <a:latin typeface="+mn-lt"/>
                          <a:ea typeface="+mn-ea"/>
                          <a:cs typeface="Arial" panose="020B0604020202020204" pitchFamily="34" charset="0"/>
                        </a:rPr>
                        <a:t>Маҳбуба Хамидулла қизи</a:t>
                      </a:r>
                    </a:p>
                    <a:p>
                      <a:pPr algn="l">
                        <a:lnSpc>
                          <a:spcPct val="85000"/>
                        </a:lnSpc>
                      </a:pPr>
                      <a:r>
                        <a:rPr lang="en-US" altLang="en-US" sz="900" noProof="0" dirty="0" smtClean="0">
                          <a:cs typeface="Arial" panose="020B0604020202020204" pitchFamily="34" charset="0"/>
                          <a:sym typeface="+mn-ea"/>
                        </a:rPr>
                        <a:t>1</a:t>
                      </a:r>
                      <a:r>
                        <a:rPr lang="en-US" sz="900" noProof="0" dirty="0" smtClean="0">
                          <a:cs typeface="Arial" panose="020B0604020202020204" pitchFamily="34" charset="0"/>
                          <a:sym typeface="+mn-ea"/>
                        </a:rPr>
                        <a:t>9</a:t>
                      </a:r>
                      <a:r>
                        <a:rPr lang="en-US" altLang="en-US" sz="900" noProof="0" dirty="0" smtClean="0">
                          <a:cs typeface="Arial" panose="020B0604020202020204" pitchFamily="34" charset="0"/>
                          <a:sym typeface="+mn-ea"/>
                        </a:rPr>
                        <a:t>95</a:t>
                      </a:r>
                      <a:r>
                        <a:rPr lang="en-US" sz="900" noProof="0" dirty="0" smtClean="0">
                          <a:cs typeface="Arial" panose="020B0604020202020204" pitchFamily="34" charset="0"/>
                          <a:sym typeface="+mn-ea"/>
                        </a:rPr>
                        <a:t> йил, </a:t>
                      </a:r>
                      <a:r>
                        <a:rPr lang="en-US" altLang="en-US" sz="900" noProof="0" dirty="0" smtClean="0">
                          <a:cs typeface="Arial" panose="020B0604020202020204" pitchFamily="34" charset="0"/>
                          <a:sym typeface="+mn-ea"/>
                        </a:rPr>
                        <a:t>Тошкент</a:t>
                      </a:r>
                      <a:r>
                        <a:rPr lang="en-US" sz="900" noProof="0" dirty="0" smtClean="0">
                          <a:cs typeface="Arial" panose="020B0604020202020204" pitchFamily="34" charset="0"/>
                          <a:sym typeface="+mn-ea"/>
                        </a:rPr>
                        <a:t> шаҳри</a:t>
                      </a:r>
                      <a:endParaRPr lang="en-US" altLang="en-US" sz="900" b="0" kern="1200" noProof="0" dirty="0" smtClean="0">
                        <a:solidFill>
                          <a:schemeClr val="tx1"/>
                        </a:solidFill>
                        <a:latin typeface="+mn-lt"/>
                        <a:ea typeface="+mn-ea"/>
                        <a:cs typeface="Arial" panose="020B0604020202020204" pitchFamily="34" charset="0"/>
                        <a:sym typeface="+mn-ea"/>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en-US" altLang="en-US" sz="900" b="0" kern="1200" noProof="0" dirty="0">
                          <a:solidFill>
                            <a:schemeClr val="tx1"/>
                          </a:solidFill>
                          <a:latin typeface="+mn-lt"/>
                          <a:ea typeface="+mn-ea"/>
                          <a:cs typeface="+mn-cs"/>
                        </a:rPr>
                        <a:t>уй бекаси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2"/>
                  </a:ext>
                </a:extLst>
              </a:tr>
              <a:tr h="216551">
                <a:tc gridSpan="5">
                  <a:txBody>
                    <a:bodyPr/>
                    <a:lstStyle/>
                    <a:p>
                      <a:pPr algn="ctr">
                        <a:lnSpc>
                          <a:spcPct val="85000"/>
                        </a:lnSpc>
                      </a:pPr>
                      <a:r>
                        <a:rPr lang="en-US"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10013"/>
                  </a:ext>
                </a:extLst>
              </a:tr>
              <a:tr h="482674">
                <a:tc gridSpan="3">
                  <a:txBody>
                    <a:bodyPr/>
                    <a:lstStyle/>
                    <a:p>
                      <a:pPr algn="l">
                        <a:lnSpc>
                          <a:spcPct val="85000"/>
                        </a:lnSpc>
                      </a:pPr>
                      <a:r>
                        <a:rPr lang="en-US" sz="900" b="1" noProof="0" dirty="0">
                          <a:latin typeface="+mn-lt"/>
                        </a:rPr>
                        <a:t>Тамомлаган ОТМ:</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altLang="en-US" sz="900" b="0" kern="1200" noProof="0" dirty="0" smtClean="0">
                          <a:solidFill>
                            <a:schemeClr val="tx1"/>
                          </a:solidFill>
                          <a:latin typeface="+mn-lt"/>
                          <a:ea typeface="+mn-ea"/>
                          <a:cs typeface="+mn-cs"/>
                        </a:rPr>
                        <a:t>2011й. Тошкент давлат санъат ва маданият 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4"/>
                  </a:ext>
                </a:extLst>
              </a:tr>
              <a:tr h="285039">
                <a:tc gridSpan="3">
                  <a:txBody>
                    <a:bodyPr/>
                    <a:lstStyle/>
                    <a:p>
                      <a:pPr marL="0" marR="0" lvl="0" indent="0" algn="l" defTabSz="914400" rtl="0" eaLnBrk="1" fontAlgn="auto" latinLnBrk="0" hangingPunct="1">
                        <a:lnSpc>
                          <a:spcPct val="85000"/>
                        </a:lnSpc>
                        <a:spcBef>
                          <a:spcPts val="0"/>
                        </a:spcBef>
                        <a:spcAft>
                          <a:spcPts val="0"/>
                        </a:spcAft>
                        <a:buClrTx/>
                        <a:buSzTx/>
                        <a:buFontTx/>
                        <a:buNone/>
                        <a:defRPr/>
                      </a:pPr>
                      <a:r>
                        <a:rPr lang="en-US" sz="900" b="1" noProof="0" dirty="0">
                          <a:latin typeface="+mn-lt"/>
                        </a:rPr>
                        <a:t>Мутахассислиги:</a:t>
                      </a:r>
                      <a:endParaRPr lang="en-US"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altLang="en-US" sz="900" b="0" kern="1200" noProof="0" dirty="0">
                          <a:solidFill>
                            <a:schemeClr val="tx1"/>
                          </a:solidFill>
                          <a:latin typeface="+mn-lt"/>
                          <a:ea typeface="+mn-ea"/>
                          <a:cs typeface="+mn-cs"/>
                        </a:rPr>
                        <a:t>эстрада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5"/>
                  </a:ext>
                </a:extLst>
              </a:tr>
              <a:tr h="325479">
                <a:tc gridSpan="3">
                  <a:txBody>
                    <a:bodyPr/>
                    <a:lstStyle/>
                    <a:p>
                      <a:pPr algn="l">
                        <a:lnSpc>
                          <a:spcPct val="85000"/>
                        </a:lnSpc>
                      </a:pPr>
                      <a:r>
                        <a:rPr lang="en-US" sz="900" b="1" kern="1200" noProof="0" dirty="0">
                          <a:solidFill>
                            <a:schemeClr val="tx1"/>
                          </a:solidFill>
                          <a:latin typeface="+mn-lt"/>
                          <a:ea typeface="+mn-ea"/>
                          <a:cs typeface="+mn-cs"/>
                        </a:rPr>
                        <a:t>Илмий даража (унвон):</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6"/>
                  </a:ext>
                </a:extLst>
              </a:tr>
              <a:tr h="325479">
                <a:tc gridSpan="3">
                  <a:txBody>
                    <a:bodyPr/>
                    <a:lstStyle/>
                    <a:p>
                      <a:pPr algn="l">
                        <a:lnSpc>
                          <a:spcPct val="85000"/>
                        </a:lnSpc>
                      </a:pPr>
                      <a:r>
                        <a:rPr lang="en-US"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US"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7"/>
                  </a:ext>
                </a:extLst>
              </a:tr>
              <a:tr h="318956">
                <a:tc gridSpan="3">
                  <a:txBody>
                    <a:bodyPr/>
                    <a:lstStyle/>
                    <a:p>
                      <a:pPr algn="l">
                        <a:lnSpc>
                          <a:spcPct val="85000"/>
                        </a:lnSpc>
                      </a:pPr>
                      <a:r>
                        <a:rPr lang="en-US"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18"/>
                  </a:ext>
                </a:extLst>
              </a:tr>
            </a:tbl>
          </a:graphicData>
        </a:graphic>
      </p:graphicFrame>
      <p:graphicFrame>
        <p:nvGraphicFramePr>
          <p:cNvPr id="5" name="Таблица 4"/>
          <p:cNvGraphicFramePr>
            <a:graphicFrameLocks noGrp="1"/>
          </p:cNvGraphicFramePr>
          <p:nvPr>
            <p:extLst>
              <p:ext uri="{D42A27DB-BD31-4B8C-83A1-F6EECF244321}">
                <p14:modId xmlns:p14="http://schemas.microsoft.com/office/powerpoint/2010/main" val="3451844385"/>
              </p:ext>
            </p:extLst>
          </p:nvPr>
        </p:nvGraphicFramePr>
        <p:xfrm>
          <a:off x="3674745" y="865504"/>
          <a:ext cx="3173095" cy="5909367"/>
        </p:xfrm>
        <a:graphic>
          <a:graphicData uri="http://schemas.openxmlformats.org/drawingml/2006/table">
            <a:tbl>
              <a:tblPr firstRow="1" bandRow="1">
                <a:tableStyleId>{C083E6E3-FA7D-4D7B-A595-EF9225AFEA82}</a:tableStyleId>
              </a:tblPr>
              <a:tblGrid>
                <a:gridCol w="1443990">
                  <a:extLst>
                    <a:ext uri="{9D8B030D-6E8A-4147-A177-3AD203B41FA5}">
                      <a16:colId xmlns:a16="http://schemas.microsoft.com/office/drawing/2014/main" val="20000"/>
                    </a:ext>
                  </a:extLst>
                </a:gridCol>
                <a:gridCol w="1729105">
                  <a:extLst>
                    <a:ext uri="{9D8B030D-6E8A-4147-A177-3AD203B41FA5}">
                      <a16:colId xmlns:a16="http://schemas.microsoft.com/office/drawing/2014/main" val="20001"/>
                    </a:ext>
                  </a:extLst>
                </a:gridCol>
              </a:tblGrid>
              <a:tr h="329332">
                <a:tc gridSpan="2">
                  <a:txBody>
                    <a:bodyPr/>
                    <a:lstStyle/>
                    <a:p>
                      <a:pPr algn="ctr"/>
                      <a:r>
                        <a:rPr lang="en-US"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532192">
                <a:tc>
                  <a:txBody>
                    <a:bodyPr/>
                    <a:lstStyle/>
                    <a:p>
                      <a:pPr algn="l">
                        <a:lnSpc>
                          <a:spcPct val="85000"/>
                        </a:lnSpc>
                      </a:pPr>
                      <a:r>
                        <a:rPr lang="en-US" sz="900" b="1" i="0" noProof="0" dirty="0">
                          <a:solidFill>
                            <a:schemeClr val="tx1"/>
                          </a:solidFill>
                          <a:latin typeface="+mn-lt"/>
                        </a:rPr>
                        <a:t>Эгаллаб турган </a:t>
                      </a:r>
                      <a:r>
                        <a:rPr lang="en-US" sz="900" b="1" i="0" noProof="0" dirty="0" smtClean="0">
                          <a:solidFill>
                            <a:schemeClr val="tx1"/>
                          </a:solidFill>
                          <a:latin typeface="+mn-lt"/>
                        </a:rPr>
                        <a:t>лавозими</a:t>
                      </a:r>
                      <a:r>
                        <a:rPr lang="en-US"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en-US" sz="900" b="1" kern="1200" noProof="0" dirty="0" smtClean="0">
                          <a:solidFill>
                            <a:schemeClr val="tx1"/>
                          </a:solidFill>
                          <a:latin typeface="+mn-lt"/>
                          <a:ea typeface="+mn-ea"/>
                          <a:cs typeface="+mn-cs"/>
                        </a:rPr>
                        <a:t>20</a:t>
                      </a:r>
                      <a:r>
                        <a:rPr lang="en-US" altLang="en-US" sz="900" b="1" kern="1200" noProof="0" dirty="0" smtClean="0">
                          <a:solidFill>
                            <a:schemeClr val="tx1"/>
                          </a:solidFill>
                          <a:latin typeface="+mn-lt"/>
                          <a:ea typeface="+mn-ea"/>
                          <a:cs typeface="+mn-cs"/>
                        </a:rPr>
                        <a:t>19</a:t>
                      </a:r>
                      <a:r>
                        <a:rPr lang="en-US" sz="900" b="1" kern="1200" noProof="0" dirty="0" smtClean="0">
                          <a:solidFill>
                            <a:schemeClr val="tx1"/>
                          </a:solidFill>
                          <a:latin typeface="+mn-lt"/>
                          <a:ea typeface="+mn-ea"/>
                          <a:cs typeface="+mn-cs"/>
                        </a:rPr>
                        <a:t> йилдан буён </a:t>
                      </a:r>
                      <a:r>
                        <a:rPr lang="en-US" altLang="en-US" sz="900" b="1" kern="1200" noProof="0" dirty="0" smtClean="0">
                          <a:solidFill>
                            <a:schemeClr val="tx1"/>
                          </a:solidFill>
                          <a:latin typeface="+mn-lt"/>
                          <a:ea typeface="+mn-ea"/>
                          <a:cs typeface="+mn-cs"/>
                        </a:rPr>
                        <a:t>Ўзбекистон давлат ёш томошабинлар театри 1-тоифали артисти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44808">
                <a:tc>
                  <a:txBody>
                    <a:bodyPr/>
                    <a:lstStyle/>
                    <a:p>
                      <a:pPr algn="l">
                        <a:lnSpc>
                          <a:spcPct val="85000"/>
                        </a:lnSpc>
                      </a:pPr>
                      <a:r>
                        <a:rPr lang="en-US"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en-US"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en-US"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11624">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b="0" noProof="0" dirty="0" smtClean="0">
                          <a:effectLst/>
                          <a:latin typeface="+mn-lt"/>
                          <a:ea typeface="Calibri" panose="020F0502020204030204" pitchFamily="34" charset="0"/>
                          <a:cs typeface="Times New Roman" panose="02020603050405020304" pitchFamily="18" charset="0"/>
                        </a:rPr>
                        <a:t>11</a:t>
                      </a:r>
                      <a:r>
                        <a:rPr lang="en-US" sz="900" b="0" noProof="0" dirty="0" smtClean="0">
                          <a:effectLst/>
                          <a:latin typeface="+mn-lt"/>
                          <a:ea typeface="Calibri" panose="020F0502020204030204" pitchFamily="34" charset="0"/>
                          <a:cs typeface="Times New Roman" panose="02020603050405020304" pitchFamily="18" charset="0"/>
                        </a:rPr>
                        <a:t> </a:t>
                      </a:r>
                      <a:r>
                        <a:rPr lang="en-US"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97224">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b="0" noProof="0" dirty="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408223">
                <a:tc>
                  <a:txBody>
                    <a:bodyPr/>
                    <a:lstStyle/>
                    <a:p>
                      <a:pPr algn="l">
                        <a:lnSpc>
                          <a:spcPct val="107000"/>
                        </a:lnSpc>
                        <a:spcAft>
                          <a:spcPts val="0"/>
                        </a:spcAft>
                      </a:pPr>
                      <a:r>
                        <a:rPr lang="en-US"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en-US"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294352">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defRPr/>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867785">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en-US" altLang="ru-RU"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294352">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altLang="en-US" sz="900" kern="1200" noProof="0" dirty="0" smtClean="0">
                          <a:solidFill>
                            <a:schemeClr val="tx1"/>
                          </a:solidFill>
                          <a:effectLst/>
                          <a:latin typeface="+mn-lt"/>
                          <a:ea typeface="Calibri" panose="020F0502020204030204" pitchFamily="34" charset="0"/>
                          <a:cs typeface="Times New Roman" panose="02020603050405020304" pitchFamily="18" charset="0"/>
                        </a:rPr>
                        <a:t>2025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8"/>
                  </a:ext>
                </a:extLst>
              </a:tr>
              <a:tr h="259209">
                <a:tc>
                  <a:txBody>
                    <a:bodyPr/>
                    <a:lstStyle/>
                    <a:p>
                      <a:pPr algn="l">
                        <a:lnSpc>
                          <a:spcPct val="107000"/>
                        </a:lnSpc>
                        <a:spcAft>
                          <a:spcPts val="0"/>
                        </a:spcAft>
                      </a:pPr>
                      <a:r>
                        <a:rPr lang="en-US"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en-US"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227903">
                <a:tc gridSpan="2">
                  <a:txBody>
                    <a:bodyPr/>
                    <a:lstStyle/>
                    <a:p>
                      <a:pPr algn="ctr"/>
                      <a:r>
                        <a:rPr lang="en-US"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lang="ru-RU"/>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2042363">
                <a:tc gridSpan="2">
                  <a:txBody>
                    <a:bodyPr/>
                    <a:lstStyle/>
                    <a:p>
                      <a:pPr marL="0" marR="0" indent="0" algn="just" defTabSz="914400" rtl="0" eaLnBrk="1" fontAlgn="auto" latinLnBrk="0" hangingPunct="1">
                        <a:lnSpc>
                          <a:spcPct val="107000"/>
                        </a:lnSpc>
                        <a:spcBef>
                          <a:spcPts val="0"/>
                        </a:spcBef>
                        <a:spcAft>
                          <a:spcPts val="0"/>
                        </a:spcAft>
                        <a:buClrTx/>
                        <a:buSzTx/>
                        <a:buFontTx/>
                        <a:buNone/>
                        <a:defRPr/>
                      </a:pPr>
                      <a:r>
                        <a:rPr lang="en-US" altLang="en-US" sz="900" noProof="0" dirty="0">
                          <a:effectLst/>
                          <a:latin typeface="+mn-lt"/>
                          <a:ea typeface="Calibri" panose="020F0502020204030204" pitchFamily="34" charset="0"/>
                          <a:cs typeface="Times New Roman" panose="02020603050405020304" pitchFamily="18" charset="0"/>
                        </a:rPr>
                        <a:t>2023 йил “Маданият ва Санъат” фидокори</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endParaRPr lang="ru-RU"/>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bl>
          </a:graphicData>
        </a:graphic>
      </p:graphicFrame>
      <p:graphicFrame>
        <p:nvGraphicFramePr>
          <p:cNvPr id="6" name="Таблица 5"/>
          <p:cNvGraphicFramePr>
            <a:graphicFrameLocks noGrp="1"/>
          </p:cNvGraphicFramePr>
          <p:nvPr>
            <p:extLst>
              <p:ext uri="{D42A27DB-BD31-4B8C-83A1-F6EECF244321}">
                <p14:modId xmlns:p14="http://schemas.microsoft.com/office/powerpoint/2010/main" val="3398680664"/>
              </p:ext>
            </p:extLst>
          </p:nvPr>
        </p:nvGraphicFramePr>
        <p:xfrm>
          <a:off x="6949857" y="869285"/>
          <a:ext cx="2817247" cy="5905587"/>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0000"/>
                    </a:ext>
                  </a:extLst>
                </a:gridCol>
              </a:tblGrid>
              <a:tr h="278589">
                <a:tc>
                  <a:txBody>
                    <a:bodyPr/>
                    <a:lstStyle/>
                    <a:p>
                      <a:pPr algn="ctr">
                        <a:lnSpc>
                          <a:spcPct val="85000"/>
                        </a:lnSpc>
                      </a:pPr>
                      <a:r>
                        <a:rPr lang="en-US" sz="1200" b="1" noProof="0" dirty="0" smtClean="0">
                          <a:solidFill>
                            <a:schemeClr val="bg1"/>
                          </a:solidFill>
                          <a:latin typeface="Bahnschrift SemiBold" panose="020B0502040204020203" pitchFamily="34" charset="0"/>
                        </a:rPr>
                        <a:t>ФАОЛИЯТИ</a:t>
                      </a:r>
                      <a:r>
                        <a:rPr lang="en-US" sz="1200" b="1" baseline="0" noProof="0" dirty="0" smtClean="0">
                          <a:solidFill>
                            <a:schemeClr val="bg1"/>
                          </a:solidFill>
                          <a:latin typeface="Bahnschrift SemiBold" panose="020B0502040204020203" pitchFamily="34" charset="0"/>
                        </a:rPr>
                        <a:t> </a:t>
                      </a:r>
                      <a:endParaRPr lang="en-US"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10000"/>
                  </a:ext>
                </a:extLst>
              </a:tr>
              <a:tr h="350684">
                <a:tc>
                  <a:txBody>
                    <a:bodyPr/>
                    <a:lstStyle/>
                    <a:p>
                      <a:pPr algn="ctr">
                        <a:lnSpc>
                          <a:spcPct val="85000"/>
                        </a:lnSpc>
                      </a:pPr>
                      <a:r>
                        <a:rPr lang="en-US" sz="1000" b="1" noProof="0" dirty="0" smtClean="0">
                          <a:solidFill>
                            <a:schemeClr val="bg1"/>
                          </a:solidFill>
                          <a:latin typeface="Bahnschrift SemiBold" panose="020B0502040204020203" pitchFamily="34" charset="0"/>
                        </a:rPr>
                        <a:t>Меҳнат фаолияти ҳақида</a:t>
                      </a:r>
                      <a:r>
                        <a:rPr lang="en-US" sz="1000" b="1" baseline="0" noProof="0" dirty="0" smtClean="0">
                          <a:solidFill>
                            <a:schemeClr val="bg1"/>
                          </a:solidFill>
                          <a:latin typeface="Bahnschrift SemiBold" panose="020B0502040204020203" pitchFamily="34" charset="0"/>
                        </a:rPr>
                        <a:t> қисқача тавсифнома</a:t>
                      </a:r>
                      <a:endParaRPr lang="en-US"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10001"/>
                  </a:ext>
                </a:extLst>
              </a:tr>
              <a:tr h="4284817">
                <a:tc>
                  <a:txBody>
                    <a:bodyPr/>
                    <a:lstStyle/>
                    <a:p>
                      <a:pPr algn="just">
                        <a:lnSpc>
                          <a:spcPct val="85000"/>
                        </a:lnSpc>
                      </a:pPr>
                      <a:r>
                        <a:rPr lang="ru-RU" altLang="en-US" sz="900" b="0" baseline="0" noProof="0" dirty="0" smtClean="0">
                          <a:solidFill>
                            <a:schemeClr val="tx1"/>
                          </a:solidFill>
                          <a:latin typeface="+mn-lt"/>
                        </a:rPr>
                        <a:t>    </a:t>
                      </a:r>
                      <a:r>
                        <a:rPr lang="en-US" altLang="en-US" sz="900" b="0" noProof="0" dirty="0" err="1" smtClean="0">
                          <a:solidFill>
                            <a:schemeClr val="tx1"/>
                          </a:solidFill>
                          <a:latin typeface="+mn-lt"/>
                        </a:rPr>
                        <a:t>Театрда</a:t>
                      </a:r>
                      <a:r>
                        <a:rPr lang="en-US" altLang="en-US" sz="900" b="0" noProof="0" dirty="0" smtClean="0">
                          <a:solidFill>
                            <a:schemeClr val="tx1"/>
                          </a:solidFill>
                          <a:latin typeface="+mn-lt"/>
                        </a:rPr>
                        <a:t> </a:t>
                      </a:r>
                      <a:r>
                        <a:rPr lang="en-US" altLang="en-US" sz="900" b="0" noProof="0" dirty="0">
                          <a:solidFill>
                            <a:schemeClr val="tx1"/>
                          </a:solidFill>
                          <a:latin typeface="+mn-lt"/>
                        </a:rPr>
                        <a:t>фаолият юритган қисқа давр мобайнида у репертуардаги қатор спектаклларда иштирок этиб, ўзининг ўзига хос ижроси ва актёрлик маҳорати билан эътибор қозонган. Хусусан, 2016 йилда саҳналаштирилган Ғ. Ғуломнинг “Шум бола” спектаклида бош ролни юқори савияда ижро этиб, мутахассислар ва томошабинлар томонидан </a:t>
                      </a:r>
                      <a:r>
                        <a:rPr lang="en-US" altLang="en-US" sz="900" b="0" noProof="0" dirty="0" err="1">
                          <a:solidFill>
                            <a:schemeClr val="tx1"/>
                          </a:solidFill>
                          <a:latin typeface="+mn-lt"/>
                        </a:rPr>
                        <a:t>юқори</a:t>
                      </a:r>
                      <a:r>
                        <a:rPr lang="en-US" altLang="en-US" sz="900" b="0" noProof="0" dirty="0">
                          <a:solidFill>
                            <a:schemeClr val="tx1"/>
                          </a:solidFill>
                          <a:latin typeface="+mn-lt"/>
                        </a:rPr>
                        <a:t> </a:t>
                      </a:r>
                      <a:r>
                        <a:rPr lang="en-US" altLang="en-US" sz="900" b="0" noProof="0" dirty="0" err="1" smtClean="0">
                          <a:solidFill>
                            <a:schemeClr val="tx1"/>
                          </a:solidFill>
                          <a:latin typeface="+mn-lt"/>
                        </a:rPr>
                        <a:t>баҳоланган</a:t>
                      </a:r>
                      <a:r>
                        <a:rPr lang="en-US" altLang="en-US" sz="900" b="0" noProof="0" dirty="0" smtClean="0">
                          <a:solidFill>
                            <a:schemeClr val="tx1"/>
                          </a:solidFill>
                          <a:latin typeface="+mn-lt"/>
                        </a:rPr>
                        <a:t>.</a:t>
                      </a:r>
                      <a:endParaRPr lang="ru-RU" altLang="en-US" sz="900" b="0" noProof="0" dirty="0" smtClean="0">
                        <a:solidFill>
                          <a:schemeClr val="tx1"/>
                        </a:solidFill>
                        <a:latin typeface="+mn-lt"/>
                      </a:endParaRPr>
                    </a:p>
                    <a:p>
                      <a:pPr algn="just">
                        <a:lnSpc>
                          <a:spcPct val="85000"/>
                        </a:lnSpc>
                      </a:pPr>
                      <a:r>
                        <a:rPr lang="ru-RU" altLang="en-US" sz="900" b="0" baseline="0" noProof="0" dirty="0" smtClean="0">
                          <a:solidFill>
                            <a:schemeClr val="tx1"/>
                          </a:solidFill>
                          <a:latin typeface="+mn-lt"/>
                        </a:rPr>
                        <a:t>    </a:t>
                      </a:r>
                      <a:r>
                        <a:rPr lang="en-US" altLang="en-US" sz="900" b="0" noProof="0" dirty="0" err="1" smtClean="0">
                          <a:solidFill>
                            <a:schemeClr val="tx1"/>
                          </a:solidFill>
                          <a:latin typeface="+mn-lt"/>
                        </a:rPr>
                        <a:t>Шунингдек</a:t>
                      </a:r>
                      <a:r>
                        <a:rPr lang="en-US" altLang="en-US" sz="900" b="0" noProof="0" dirty="0">
                          <a:solidFill>
                            <a:schemeClr val="tx1"/>
                          </a:solidFill>
                          <a:latin typeface="+mn-lt"/>
                        </a:rPr>
                        <a:t>, “Масқарабоз шоу”да масқарабоз, “Қовоқвойнинг саргузаштлари”да Саримсоқ, “Соҳибжамол ва Маҳлуқ”да Соат К</a:t>
                      </a:r>
                      <a:r>
                        <a:rPr lang="" altLang="en-US" sz="900" b="0" noProof="0" dirty="0">
                          <a:solidFill>
                            <a:schemeClr val="tx1"/>
                          </a:solidFill>
                          <a:latin typeface="+mn-lt"/>
                        </a:rPr>
                        <a:t>о</a:t>
                      </a:r>
                      <a:r>
                        <a:rPr lang="en-US" altLang="en-US" sz="900" b="0" noProof="0" dirty="0">
                          <a:solidFill>
                            <a:schemeClr val="tx1"/>
                          </a:solidFill>
                          <a:latin typeface="+mn-lt"/>
                        </a:rPr>
                        <a:t>ксфорт, “Этик кийган мушук”да Мушук, “Золушка”да ўқувчи сеҳргар, “Оппоғой ва унинг дўстлари”да Соддадил, “Болакай ва Мадагаскар” ҳамда “Ҳаёт китоби” спектаклларида Болакай образларини ижро этган.</a:t>
                      </a:r>
                    </a:p>
                    <a:p>
                      <a:pPr algn="just">
                        <a:lnSpc>
                          <a:spcPct val="85000"/>
                        </a:lnSpc>
                      </a:pPr>
                      <a:r>
                        <a:rPr lang="ru-RU" altLang="en-US" sz="900" noProof="0" dirty="0" smtClean="0">
                          <a:sym typeface="+mn-ea"/>
                        </a:rPr>
                        <a:t>    </a:t>
                      </a:r>
                      <a:r>
                        <a:rPr lang="en-US" altLang="en-US" sz="900" noProof="0" dirty="0" smtClean="0">
                          <a:sym typeface="+mn-ea"/>
                        </a:rPr>
                        <a:t>2010 </a:t>
                      </a:r>
                      <a:r>
                        <a:rPr lang="en-US" altLang="en-US" sz="900" noProof="0" dirty="0">
                          <a:sym typeface="+mn-ea"/>
                        </a:rPr>
                        <a:t>йилдан бошлаб ўзбек киносида ҳам фаол иштирок этиб келмоқда. Жумладан, “Тундан тонгача” (1–2 фасл) фильмларида Фарҳоджон, “Олинг қуда – беринг қуда”да Асқар, “Тилим қурсин” (1–2 фасл)да Зокир, “Йигитали”да Йигитали, “Менинг дўстим жин”да Мирфаёз, “Сўнгги қўнғироқ”да Суннат каби образларни маҳорат билан ижро </a:t>
                      </a:r>
                      <a:r>
                        <a:rPr lang="en-US" altLang="en-US" sz="900" noProof="0" dirty="0" err="1">
                          <a:sym typeface="+mn-ea"/>
                        </a:rPr>
                        <a:t>этган</a:t>
                      </a:r>
                      <a:r>
                        <a:rPr lang="en-US" altLang="en-US" sz="900" noProof="0" dirty="0" smtClean="0">
                          <a:sym typeface="+mn-ea"/>
                        </a:rPr>
                        <a:t>.</a:t>
                      </a:r>
                      <a:endParaRPr lang="en-US" altLang="en-US"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0002"/>
                  </a:ext>
                </a:extLst>
              </a:tr>
              <a:tr h="173083">
                <a:tc>
                  <a:txBody>
                    <a:bodyPr/>
                    <a:lstStyle/>
                    <a:p>
                      <a:pPr marL="0" marR="0" lvl="0" indent="0" algn="ctr" defTabSz="914400" rtl="0" eaLnBrk="1" fontAlgn="auto" latinLnBrk="0" hangingPunct="1">
                        <a:lnSpc>
                          <a:spcPct val="107000"/>
                        </a:lnSpc>
                        <a:spcBef>
                          <a:spcPts val="0"/>
                        </a:spcBef>
                        <a:spcAft>
                          <a:spcPts val="0"/>
                        </a:spcAft>
                        <a:buClrTx/>
                        <a:buSzTx/>
                        <a:buFontTx/>
                        <a:buNone/>
                        <a:defRPr/>
                      </a:pPr>
                      <a:r>
                        <a:rPr lang="en-US"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10003"/>
                  </a:ext>
                </a:extLst>
              </a:tr>
              <a:tr h="818414">
                <a:tc>
                  <a:txBody>
                    <a:bodyPr/>
                    <a:lstStyle/>
                    <a:p>
                      <a:pPr marL="0" marR="0" lvl="0" indent="0" algn="just" defTabSz="914400" rtl="0" eaLnBrk="1" fontAlgn="auto" latinLnBrk="0" hangingPunct="1">
                        <a:lnSpc>
                          <a:spcPct val="107000"/>
                        </a:lnSpc>
                        <a:spcBef>
                          <a:spcPts val="0"/>
                        </a:spcBef>
                        <a:spcAft>
                          <a:spcPts val="0"/>
                        </a:spcAft>
                        <a:buClrTx/>
                        <a:buSzTx/>
                        <a:buFontTx/>
                        <a:buNone/>
                        <a:defRPr/>
                      </a:pPr>
                      <a:r>
                        <a:rPr lang="ru-RU" sz="900" b="0" dirty="0" smtClean="0">
                          <a:effectLst/>
                          <a:latin typeface="+mn-lt"/>
                          <a:ea typeface="Calibri" panose="020F0502020204030204" pitchFamily="34" charset="0"/>
                          <a:cs typeface="Times New Roman" panose="02020603050405020304" pitchFamily="18" charset="0"/>
                        </a:rPr>
                        <a:t>    </a:t>
                      </a:r>
                      <a:r>
                        <a:rPr lang="en-US" sz="900" b="0" dirty="0" err="1" smtClean="0">
                          <a:effectLst/>
                          <a:latin typeface="+mn-lt"/>
                          <a:ea typeface="Calibri" panose="020F0502020204030204" pitchFamily="34" charset="0"/>
                          <a:cs typeface="Times New Roman" panose="02020603050405020304" pitchFamily="18" charset="0"/>
                        </a:rPr>
                        <a:t>Республикамизда</a:t>
                      </a:r>
                      <a:r>
                        <a:rPr lang="en-US"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bl>
          </a:graphicData>
        </a:graphic>
      </p:graphicFrame>
      <p:pic>
        <p:nvPicPr>
          <p:cNvPr id="9" name="Рисунок 3" descr="C:\Users\User\Desktop\аскар.jpg"/>
          <p:cNvPicPr>
            <a:picLocks noChangeAspect="1"/>
          </p:cNvPicPr>
          <p:nvPr/>
        </p:nvPicPr>
        <p:blipFill>
          <a:blip r:embed="rId2"/>
          <a:stretch>
            <a:fillRect/>
          </a:stretch>
        </p:blipFill>
        <p:spPr>
          <a:xfrm>
            <a:off x="260952" y="1177001"/>
            <a:ext cx="862965" cy="1088390"/>
          </a:xfrm>
          <a:prstGeom prst="rect">
            <a:avLst/>
          </a:prstGeom>
          <a:noFill/>
          <a:ln w="9525">
            <a:noFill/>
          </a:ln>
        </p:spPr>
      </p:pic>
    </p:spTree>
    <p:extLst>
      <p:ext uri="{BB962C8B-B14F-4D97-AF65-F5344CB8AC3E}">
        <p14:creationId xmlns:p14="http://schemas.microsoft.com/office/powerpoint/2010/main" val="1250593573"/>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561357302"/>
              </p:ext>
            </p:extLst>
          </p:nvPr>
        </p:nvGraphicFramePr>
        <p:xfrm>
          <a:off x="144489" y="865702"/>
          <a:ext cx="3427547" cy="5929219"/>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142">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0081">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БЕКМУРАТОВ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008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Азат</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008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Жаксымбаевич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0081">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ҚОРАҚАЛПОҚ</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008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en-US" sz="800" b="0" kern="1200" dirty="0" smtClean="0">
                          <a:solidFill>
                            <a:schemeClr val="tx1"/>
                          </a:solidFill>
                          <a:latin typeface="+mn-lt"/>
                          <a:ea typeface="+mn-ea"/>
                          <a:cs typeface="+mn-cs"/>
                        </a:rPr>
                        <a:t>06.09</a:t>
                      </a:r>
                      <a:r>
                        <a:rPr lang="ru-RU" sz="800" b="0" kern="1200" dirty="0" smtClean="0">
                          <a:solidFill>
                            <a:schemeClr val="tx1"/>
                          </a:solidFill>
                          <a:latin typeface="+mn-lt"/>
                          <a:ea typeface="+mn-ea"/>
                          <a:cs typeface="+mn-cs"/>
                        </a:rPr>
                        <a:t>.1966</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35482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ru-RU" sz="900" dirty="0" err="1" smtClean="0"/>
                        <a:t>Қорақалпоғистон</a:t>
                      </a:r>
                      <a:r>
                        <a:rPr lang="ru-RU" sz="900" dirty="0" smtClean="0"/>
                        <a:t> </a:t>
                      </a:r>
                      <a:r>
                        <a:rPr lang="ru-RU" sz="900" dirty="0" err="1" smtClean="0"/>
                        <a:t>Республикаси</a:t>
                      </a:r>
                      <a:endParaRPr lang="ru-RU"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0733">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9841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3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фарзанди бор</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0733">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773632">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ru-RU" sz="900" b="1" dirty="0" err="1" smtClean="0"/>
                        <a:t>Бекмуратов</a:t>
                      </a:r>
                      <a:r>
                        <a:rPr lang="ru-RU" sz="900" b="1" dirty="0" smtClean="0"/>
                        <a:t> </a:t>
                      </a:r>
                      <a:r>
                        <a:rPr lang="ru-RU" sz="900" b="1" dirty="0" err="1" smtClean="0"/>
                        <a:t>Жаксимбай</a:t>
                      </a:r>
                      <a:endParaRPr lang="ru-RU" sz="900" b="1" dirty="0" smtClean="0"/>
                    </a:p>
                    <a:p>
                      <a:pPr algn="l">
                        <a:lnSpc>
                          <a:spcPct val="85000"/>
                        </a:lnSpc>
                      </a:pPr>
                      <a:r>
                        <a:rPr lang="uz-Cyrl-UZ" sz="900" b="0" kern="1200" noProof="0" dirty="0" smtClean="0">
                          <a:solidFill>
                            <a:schemeClr val="tx1"/>
                          </a:solidFill>
                          <a:latin typeface="+mn-lt"/>
                          <a:ea typeface="+mn-ea"/>
                          <a:cs typeface="Arial" panose="020B0604020202020204" pitchFamily="34" charset="0"/>
                        </a:rPr>
                        <a:t>1935 йил, Нукус шаҳри</a:t>
                      </a: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ru-RU" sz="900" dirty="0" smtClean="0"/>
                        <a:t>1975-йил </a:t>
                      </a:r>
                      <a:r>
                        <a:rPr lang="ru-RU" sz="900" dirty="0" err="1" smtClean="0"/>
                        <a:t>вафот</a:t>
                      </a:r>
                      <a:r>
                        <a:rPr lang="ru-RU" sz="900" dirty="0" smtClean="0"/>
                        <a:t> </a:t>
                      </a:r>
                      <a:r>
                        <a:rPr lang="ru-RU" sz="900" dirty="0" err="1" smtClean="0"/>
                        <a:t>этган</a:t>
                      </a:r>
                      <a:r>
                        <a:rPr lang="ru-RU" sz="900" dirty="0" smtClean="0"/>
                        <a:t>.</a:t>
                      </a:r>
                    </a:p>
                    <a:p>
                      <a:r>
                        <a:rPr lang="ru-RU" sz="900" dirty="0" smtClean="0"/>
                        <a:t>(Нукус </a:t>
                      </a:r>
                      <a:r>
                        <a:rPr lang="ru-RU" sz="900" dirty="0" err="1" smtClean="0"/>
                        <a:t>шаҳри</a:t>
                      </a:r>
                      <a:r>
                        <a:rPr lang="ru-RU" sz="900" dirty="0" smtClean="0"/>
                        <a:t>, </a:t>
                      </a:r>
                      <a:r>
                        <a:rPr lang="ru-RU" sz="900" dirty="0" err="1" smtClean="0"/>
                        <a:t>Қорақалпоғистон</a:t>
                      </a:r>
                      <a:r>
                        <a:rPr lang="ru-RU" sz="900" dirty="0" smtClean="0"/>
                        <a:t> </a:t>
                      </a:r>
                      <a:r>
                        <a:rPr lang="ru-RU" sz="900" dirty="0" err="1" smtClean="0"/>
                        <a:t>Республикаси</a:t>
                      </a:r>
                      <a:r>
                        <a:rPr lang="ru-RU" sz="900" dirty="0" smtClean="0"/>
                        <a:t> </a:t>
                      </a:r>
                      <a:r>
                        <a:rPr lang="ru-RU" sz="900" dirty="0" err="1" smtClean="0"/>
                        <a:t>халқ</a:t>
                      </a:r>
                      <a:r>
                        <a:rPr lang="ru-RU" sz="900" dirty="0" smtClean="0"/>
                        <a:t> </a:t>
                      </a:r>
                      <a:r>
                        <a:rPr lang="ru-RU" sz="900" dirty="0" err="1" smtClean="0"/>
                        <a:t>артисти</a:t>
                      </a:r>
                      <a:r>
                        <a:rPr lang="ru-RU" sz="900" dirty="0" smtClean="0"/>
                        <a:t>)</a:t>
                      </a:r>
                      <a:endParaRPr lang="ru-RU"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2626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ru-RU" sz="900" b="1" dirty="0" err="1" smtClean="0"/>
                        <a:t>Ғайбуллаэва</a:t>
                      </a:r>
                      <a:r>
                        <a:rPr lang="ru-RU" sz="900" b="1" dirty="0" smtClean="0"/>
                        <a:t> </a:t>
                      </a:r>
                      <a:r>
                        <a:rPr lang="ru-RU" sz="900" b="1" dirty="0" err="1" smtClean="0"/>
                        <a:t>Перуза</a:t>
                      </a:r>
                      <a:endParaRPr lang="ru-RU" sz="900" b="1" dirty="0" smtClean="0"/>
                    </a:p>
                    <a:p>
                      <a:pPr algn="l">
                        <a:lnSpc>
                          <a:spcPct val="85000"/>
                        </a:lnSpc>
                      </a:pPr>
                      <a:r>
                        <a:rPr lang="uz-Cyrl-UZ" sz="900" b="0" kern="1200" noProof="0" dirty="0" smtClean="0">
                          <a:solidFill>
                            <a:schemeClr val="tx1"/>
                          </a:solidFill>
                          <a:latin typeface="+mn-lt"/>
                          <a:ea typeface="+mn-ea"/>
                          <a:cs typeface="Arial" panose="020B0604020202020204" pitchFamily="34" charset="0"/>
                        </a:rPr>
                        <a:t>1939 йил, Нукус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ru-RU" sz="900" dirty="0" smtClean="0"/>
                        <a:t>2009-йил </a:t>
                      </a:r>
                      <a:r>
                        <a:rPr lang="ru-RU" sz="900" dirty="0" err="1" smtClean="0"/>
                        <a:t>вафот</a:t>
                      </a:r>
                      <a:r>
                        <a:rPr lang="ru-RU" sz="900" dirty="0" smtClean="0"/>
                        <a:t> </a:t>
                      </a:r>
                      <a:r>
                        <a:rPr lang="ru-RU" sz="900" dirty="0" err="1" smtClean="0"/>
                        <a:t>этган</a:t>
                      </a:r>
                      <a:r>
                        <a:rPr lang="ru-RU" sz="900" dirty="0" smtClean="0"/>
                        <a:t>.</a:t>
                      </a:r>
                      <a:endParaRPr lang="ru-RU"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634030">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ru-RU" sz="900" b="1" dirty="0" err="1" smtClean="0"/>
                        <a:t>Оразбаэва</a:t>
                      </a:r>
                      <a:r>
                        <a:rPr lang="ru-RU" sz="900" b="1" dirty="0" smtClean="0"/>
                        <a:t> </a:t>
                      </a:r>
                      <a:r>
                        <a:rPr lang="ru-RU" sz="900" b="1" dirty="0" err="1" smtClean="0"/>
                        <a:t>Гулистон</a:t>
                      </a:r>
                      <a:endParaRPr lang="ru-RU" sz="900" b="1" dirty="0" smtClean="0"/>
                    </a:p>
                    <a:p>
                      <a:r>
                        <a:rPr lang="en-US" sz="900" b="0" kern="1200" dirty="0" smtClean="0">
                          <a:solidFill>
                            <a:schemeClr val="tx1"/>
                          </a:solidFill>
                          <a:latin typeface="+mn-lt"/>
                          <a:ea typeface="+mn-ea"/>
                          <a:cs typeface="Arial" panose="020B0604020202020204" pitchFamily="34" charset="0"/>
                        </a:rPr>
                        <a:t>1968-</a:t>
                      </a:r>
                      <a:r>
                        <a:rPr lang="uz-Cyrl-UZ" sz="900" b="0" kern="1200" dirty="0" smtClean="0">
                          <a:solidFill>
                            <a:schemeClr val="tx1"/>
                          </a:solidFill>
                          <a:latin typeface="+mn-lt"/>
                          <a:ea typeface="+mn-ea"/>
                          <a:cs typeface="Arial" panose="020B0604020202020204" pitchFamily="34" charset="0"/>
                        </a:rPr>
                        <a:t>йил</a:t>
                      </a:r>
                      <a:r>
                        <a:rPr lang="en-US" sz="900" b="0" kern="1200" dirty="0" smtClean="0">
                          <a:solidFill>
                            <a:schemeClr val="tx1"/>
                          </a:solidFill>
                          <a:latin typeface="+mn-lt"/>
                          <a:ea typeface="+mn-ea"/>
                          <a:cs typeface="Arial" panose="020B0604020202020204" pitchFamily="34" charset="0"/>
                        </a:rPr>
                        <a:t>,</a:t>
                      </a:r>
                      <a:r>
                        <a:rPr lang="uz-Cyrl-UZ" sz="900" b="0" kern="120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Нукус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ru-RU" sz="900" dirty="0" smtClean="0"/>
                        <a:t>Алишер </a:t>
                      </a:r>
                      <a:r>
                        <a:rPr lang="ru-RU" sz="900" dirty="0" err="1" smtClean="0"/>
                        <a:t>Навоий</a:t>
                      </a:r>
                      <a:r>
                        <a:rPr lang="ru-RU" sz="900" dirty="0" smtClean="0"/>
                        <a:t> </a:t>
                      </a:r>
                      <a:r>
                        <a:rPr lang="ru-RU" sz="900" dirty="0" err="1" smtClean="0"/>
                        <a:t>номидаги</a:t>
                      </a:r>
                      <a:r>
                        <a:rPr lang="ru-RU" sz="900" dirty="0" smtClean="0"/>
                        <a:t> </a:t>
                      </a:r>
                      <a:r>
                        <a:rPr lang="ru-RU" sz="900" dirty="0" err="1" smtClean="0"/>
                        <a:t>давлат</a:t>
                      </a:r>
                      <a:r>
                        <a:rPr lang="ru-RU" sz="900" dirty="0" smtClean="0"/>
                        <a:t> академик </a:t>
                      </a:r>
                      <a:r>
                        <a:rPr lang="ru-RU" sz="900" dirty="0" err="1" smtClean="0"/>
                        <a:t>катта</a:t>
                      </a:r>
                      <a:r>
                        <a:rPr lang="ru-RU" sz="900" dirty="0" smtClean="0"/>
                        <a:t> театр </a:t>
                      </a:r>
                      <a:r>
                        <a:rPr lang="ru-RU" sz="900" dirty="0" err="1" smtClean="0"/>
                        <a:t>артисти</a:t>
                      </a:r>
                      <a:endParaRPr lang="ru-RU"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466">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69321">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1991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давлат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маданият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63515">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dirty="0" smtClean="0"/>
                        <a:t>драма </a:t>
                      </a:r>
                      <a:r>
                        <a:rPr lang="ru-RU" sz="900" dirty="0" err="1" smtClean="0"/>
                        <a:t>театри</a:t>
                      </a:r>
                      <a:r>
                        <a:rPr lang="ru-RU" sz="900" dirty="0" smtClean="0"/>
                        <a:t> </a:t>
                      </a:r>
                      <a:r>
                        <a:rPr lang="ru-RU" sz="900" dirty="0" err="1" smtClean="0"/>
                        <a:t>ва</a:t>
                      </a:r>
                      <a:r>
                        <a:rPr lang="ru-RU" sz="900" dirty="0" smtClean="0"/>
                        <a:t> кино </a:t>
                      </a:r>
                      <a:r>
                        <a:rPr lang="ru-RU" sz="900" dirty="0" err="1" smtClean="0"/>
                        <a:t>актёри</a:t>
                      </a:r>
                      <a:endParaRPr lang="ru-RU"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978">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solidFill>
                          <a:schemeClr val="tx1"/>
                        </a:solidFill>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978">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18782">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699191191"/>
              </p:ext>
            </p:extLst>
          </p:nvPr>
        </p:nvGraphicFramePr>
        <p:xfrm>
          <a:off x="3674526" y="865689"/>
          <a:ext cx="3172841" cy="592923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61203">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58143">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b="1" kern="1200" noProof="0" dirty="0" smtClean="0">
                          <a:solidFill>
                            <a:schemeClr val="tx1"/>
                          </a:solidFill>
                          <a:latin typeface="+mn-lt"/>
                          <a:ea typeface="+mn-ea"/>
                          <a:cs typeface="+mn-cs"/>
                        </a:rPr>
                        <a:t>1991 йилдан</a:t>
                      </a:r>
                      <a:r>
                        <a:rPr lang="uz-Cyrl-UZ" sz="900" b="1" kern="1200" baseline="0" noProof="0" dirty="0" smtClean="0">
                          <a:solidFill>
                            <a:schemeClr val="tx1"/>
                          </a:solidFill>
                          <a:latin typeface="+mn-lt"/>
                          <a:ea typeface="+mn-ea"/>
                          <a:cs typeface="+mn-cs"/>
                        </a:rPr>
                        <a:t> </a:t>
                      </a:r>
                      <a:r>
                        <a:rPr lang="ru-RU" sz="900" dirty="0" err="1" smtClean="0"/>
                        <a:t>Ўзбекистон</a:t>
                      </a:r>
                      <a:r>
                        <a:rPr lang="ru-RU" sz="900" dirty="0" smtClean="0"/>
                        <a:t> </a:t>
                      </a:r>
                      <a:r>
                        <a:rPr lang="ru-RU" sz="900" dirty="0" err="1" smtClean="0"/>
                        <a:t>давлат</a:t>
                      </a:r>
                      <a:r>
                        <a:rPr lang="ru-RU" sz="900" dirty="0" smtClean="0"/>
                        <a:t> </a:t>
                      </a:r>
                      <a:r>
                        <a:rPr lang="ru-RU" sz="900" dirty="0" err="1" smtClean="0"/>
                        <a:t>ёшлар</a:t>
                      </a:r>
                      <a:r>
                        <a:rPr lang="ru-RU" sz="900" dirty="0" smtClean="0"/>
                        <a:t> </a:t>
                      </a:r>
                      <a:r>
                        <a:rPr lang="ru-RU" sz="900" dirty="0" err="1" smtClean="0"/>
                        <a:t>театри</a:t>
                      </a:r>
                      <a:r>
                        <a:rPr lang="ru-RU" sz="900" baseline="0" dirty="0" smtClean="0"/>
                        <a:t> </a:t>
                      </a:r>
                      <a:r>
                        <a:rPr lang="ru-RU" sz="900" baseline="0" dirty="0" err="1" smtClean="0"/>
                        <a:t>етакчи</a:t>
                      </a:r>
                      <a:r>
                        <a:rPr lang="ru-RU" sz="900" baseline="0" dirty="0" smtClean="0"/>
                        <a:t> </a:t>
                      </a:r>
                      <a:r>
                        <a:rPr lang="ru-RU" sz="900" dirty="0" err="1" smtClean="0"/>
                        <a:t>саҳна</a:t>
                      </a:r>
                      <a:r>
                        <a:rPr lang="ru-RU" sz="900" dirty="0" smtClean="0"/>
                        <a:t> </a:t>
                      </a:r>
                      <a:r>
                        <a:rPr lang="ru-RU" sz="900" dirty="0" err="1" smtClean="0"/>
                        <a:t>устаси</a:t>
                      </a:r>
                      <a:endParaRPr lang="ru-RU" sz="900" dirty="0" smtClean="0"/>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558143">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ru-RU" sz="900" dirty="0" err="1" smtClean="0"/>
                        <a:t>Ўзбекистон</a:t>
                      </a:r>
                      <a:r>
                        <a:rPr lang="ru-RU" sz="900" dirty="0" smtClean="0"/>
                        <a:t> </a:t>
                      </a:r>
                      <a:r>
                        <a:rPr lang="ru-RU" sz="900" dirty="0" err="1" smtClean="0"/>
                        <a:t>давлат</a:t>
                      </a:r>
                      <a:r>
                        <a:rPr lang="ru-RU" sz="900" dirty="0" smtClean="0"/>
                        <a:t> </a:t>
                      </a:r>
                      <a:r>
                        <a:rPr lang="ru-RU" sz="900" dirty="0" err="1" smtClean="0"/>
                        <a:t>ёшлар</a:t>
                      </a:r>
                      <a:r>
                        <a:rPr lang="ru-RU" sz="900" dirty="0" smtClean="0"/>
                        <a:t> </a:t>
                      </a:r>
                      <a:r>
                        <a:rPr lang="ru-RU" sz="900" dirty="0" err="1" smtClean="0"/>
                        <a:t>театрининг</a:t>
                      </a:r>
                      <a:r>
                        <a:rPr lang="ru-RU" sz="900" dirty="0" smtClean="0"/>
                        <a:t> </a:t>
                      </a:r>
                      <a:r>
                        <a:rPr lang="ru-RU" sz="900" dirty="0" err="1" smtClean="0"/>
                        <a:t>саҳна</a:t>
                      </a:r>
                      <a:r>
                        <a:rPr lang="ru-RU" sz="900" dirty="0" smtClean="0"/>
                        <a:t> </a:t>
                      </a:r>
                      <a:r>
                        <a:rPr lang="ru-RU" sz="900" dirty="0" err="1" smtClean="0"/>
                        <a:t>устаси</a:t>
                      </a:r>
                      <a:r>
                        <a:rPr lang="ru-RU" sz="900" dirty="0" smtClean="0"/>
                        <a:t> </a:t>
                      </a:r>
                      <a:r>
                        <a:rPr lang="ru-RU" sz="900" dirty="0" err="1" smtClean="0"/>
                        <a:t>актёри</a:t>
                      </a:r>
                      <a:endParaRPr lang="ru-RU" sz="900" dirty="0"/>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3200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35 йил</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1608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0" noProof="0" dirty="0" smtClean="0">
                          <a:effectLst/>
                          <a:latin typeface="+mn-lt"/>
                          <a:ea typeface="Calibri" panose="020F0502020204030204" pitchFamily="34" charset="0"/>
                          <a:cs typeface="Times New Roman" panose="02020603050405020304" pitchFamily="18" charset="0"/>
                        </a:rPr>
                        <a:t>21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3159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ru-RU" sz="900" dirty="0" smtClean="0"/>
                        <a:t>1991-1993 </a:t>
                      </a:r>
                      <a:r>
                        <a:rPr lang="ru-RU" sz="900" dirty="0" err="1" smtClean="0"/>
                        <a:t>йй</a:t>
                      </a:r>
                      <a:r>
                        <a:rPr lang="ru-RU" sz="900" dirty="0" smtClean="0"/>
                        <a:t>. - </a:t>
                      </a:r>
                      <a:r>
                        <a:rPr lang="ru-RU" sz="900" dirty="0" err="1" smtClean="0"/>
                        <a:t>Ўзбекистон</a:t>
                      </a:r>
                      <a:r>
                        <a:rPr lang="ru-RU" sz="900" dirty="0" smtClean="0"/>
                        <a:t> </a:t>
                      </a:r>
                      <a:r>
                        <a:rPr lang="ru-RU" sz="900" dirty="0" err="1" smtClean="0"/>
                        <a:t>давлат</a:t>
                      </a:r>
                      <a:r>
                        <a:rPr lang="ru-RU" sz="900" dirty="0" smtClean="0"/>
                        <a:t> </a:t>
                      </a:r>
                      <a:r>
                        <a:rPr lang="ru-RU" sz="900" dirty="0" err="1" smtClean="0"/>
                        <a:t>ёшлар</a:t>
                      </a:r>
                      <a:r>
                        <a:rPr lang="ru-RU" sz="900" dirty="0" smtClean="0"/>
                        <a:t> </a:t>
                      </a:r>
                      <a:r>
                        <a:rPr lang="ru-RU" sz="900" dirty="0" err="1" smtClean="0"/>
                        <a:t>театрининг</a:t>
                      </a:r>
                      <a:r>
                        <a:rPr lang="ru-RU" sz="900" dirty="0" smtClean="0"/>
                        <a:t> 2-тоифали </a:t>
                      </a:r>
                      <a:r>
                        <a:rPr lang="ru-RU" sz="900" dirty="0" err="1" smtClean="0"/>
                        <a:t>актёри</a:t>
                      </a:r>
                      <a:endParaRPr lang="ru-RU" sz="900" dirty="0" smtClean="0"/>
                    </a:p>
                    <a:p>
                      <a:r>
                        <a:rPr lang="ru-RU" sz="900" dirty="0" smtClean="0"/>
                        <a:t>1993-2008 </a:t>
                      </a:r>
                      <a:r>
                        <a:rPr lang="ru-RU" sz="900" dirty="0" err="1" smtClean="0"/>
                        <a:t>йй</a:t>
                      </a:r>
                      <a:r>
                        <a:rPr lang="ru-RU" sz="900" dirty="0" smtClean="0"/>
                        <a:t>. - </a:t>
                      </a:r>
                      <a:r>
                        <a:rPr lang="ru-RU" sz="900" dirty="0" err="1" smtClean="0"/>
                        <a:t>Ўзбекистон</a:t>
                      </a:r>
                      <a:r>
                        <a:rPr lang="ru-RU" sz="900" dirty="0" smtClean="0"/>
                        <a:t> </a:t>
                      </a:r>
                      <a:r>
                        <a:rPr lang="ru-RU" sz="900" dirty="0" err="1" smtClean="0"/>
                        <a:t>давлат</a:t>
                      </a:r>
                      <a:r>
                        <a:rPr lang="ru-RU" sz="900" dirty="0" smtClean="0"/>
                        <a:t> </a:t>
                      </a:r>
                      <a:r>
                        <a:rPr lang="ru-RU" sz="900" dirty="0" err="1" smtClean="0"/>
                        <a:t>ёшлари</a:t>
                      </a:r>
                      <a:r>
                        <a:rPr lang="ru-RU" sz="900" dirty="0" smtClean="0"/>
                        <a:t> </a:t>
                      </a:r>
                      <a:r>
                        <a:rPr lang="ru-RU" sz="900" dirty="0" err="1" smtClean="0"/>
                        <a:t>театрининг</a:t>
                      </a:r>
                      <a:r>
                        <a:rPr lang="ru-RU" sz="900" dirty="0" smtClean="0"/>
                        <a:t> 1-тоифали </a:t>
                      </a:r>
                      <a:r>
                        <a:rPr lang="ru-RU" sz="900" dirty="0" err="1" smtClean="0"/>
                        <a:t>актёри</a:t>
                      </a:r>
                      <a:r>
                        <a:rPr lang="ru-RU" sz="900" dirty="0" smtClean="0"/>
                        <a:t> 2009-2017 </a:t>
                      </a:r>
                      <a:r>
                        <a:rPr lang="ru-RU" sz="900" dirty="0" err="1" smtClean="0"/>
                        <a:t>йй</a:t>
                      </a:r>
                      <a:r>
                        <a:rPr lang="ru-RU" sz="900" dirty="0" smtClean="0"/>
                        <a:t>. - </a:t>
                      </a:r>
                      <a:r>
                        <a:rPr lang="ru-RU" sz="900" dirty="0" err="1" smtClean="0"/>
                        <a:t>Ўзбекистон</a:t>
                      </a:r>
                      <a:r>
                        <a:rPr lang="ru-RU" sz="900" dirty="0" smtClean="0"/>
                        <a:t> </a:t>
                      </a:r>
                      <a:r>
                        <a:rPr lang="ru-RU" sz="900" dirty="0" err="1" smtClean="0"/>
                        <a:t>давлат</a:t>
                      </a:r>
                      <a:r>
                        <a:rPr lang="ru-RU" sz="900" dirty="0" smtClean="0"/>
                        <a:t> </a:t>
                      </a:r>
                      <a:r>
                        <a:rPr lang="ru-RU" sz="900" dirty="0" err="1" smtClean="0"/>
                        <a:t>ёшлари</a:t>
                      </a:r>
                      <a:r>
                        <a:rPr lang="ru-RU" sz="900" dirty="0" smtClean="0"/>
                        <a:t> </a:t>
                      </a:r>
                      <a:r>
                        <a:rPr lang="ru-RU" sz="900" dirty="0" err="1" smtClean="0"/>
                        <a:t>театрининг</a:t>
                      </a:r>
                      <a:r>
                        <a:rPr lang="ru-RU" sz="900" dirty="0" smtClean="0"/>
                        <a:t> </a:t>
                      </a:r>
                      <a:r>
                        <a:rPr lang="ru-RU" sz="900" dirty="0" err="1" smtClean="0"/>
                        <a:t>олий</a:t>
                      </a:r>
                      <a:r>
                        <a:rPr lang="ru-RU" sz="900" dirty="0" smtClean="0"/>
                        <a:t> </a:t>
                      </a:r>
                      <a:r>
                        <a:rPr lang="ru-RU" sz="900" dirty="0" err="1" smtClean="0"/>
                        <a:t>тоифали</a:t>
                      </a:r>
                      <a:r>
                        <a:rPr lang="ru-RU" sz="900" dirty="0" smtClean="0"/>
                        <a:t> </a:t>
                      </a:r>
                      <a:r>
                        <a:rPr lang="ru-RU" sz="900" dirty="0" err="1" smtClean="0"/>
                        <a:t>актёри</a:t>
                      </a:r>
                      <a:endParaRPr lang="ru-RU" sz="900" dirty="0" smtClean="0"/>
                    </a:p>
                    <a:p>
                      <a:r>
                        <a:rPr lang="ru-RU" sz="900" dirty="0" smtClean="0"/>
                        <a:t>2017 й.  - </a:t>
                      </a:r>
                      <a:r>
                        <a:rPr lang="ru-RU" sz="900" dirty="0" err="1" smtClean="0"/>
                        <a:t>ҳ.в</a:t>
                      </a:r>
                      <a:r>
                        <a:rPr lang="ru-RU" sz="900" dirty="0" smtClean="0"/>
                        <a:t>.  - </a:t>
                      </a:r>
                      <a:r>
                        <a:rPr lang="ru-RU" sz="900" dirty="0" err="1" smtClean="0"/>
                        <a:t>Ўзбекистон</a:t>
                      </a:r>
                      <a:r>
                        <a:rPr lang="ru-RU" sz="900" dirty="0" smtClean="0"/>
                        <a:t> </a:t>
                      </a:r>
                      <a:r>
                        <a:rPr lang="ru-RU" sz="900" dirty="0" err="1" smtClean="0"/>
                        <a:t>давлат</a:t>
                      </a:r>
                      <a:r>
                        <a:rPr lang="ru-RU" sz="900" dirty="0" smtClean="0"/>
                        <a:t> </a:t>
                      </a:r>
                      <a:r>
                        <a:rPr lang="ru-RU" sz="900" dirty="0" err="1" smtClean="0"/>
                        <a:t>ёшлар</a:t>
                      </a:r>
                      <a:r>
                        <a:rPr lang="ru-RU" sz="900" dirty="0" smtClean="0"/>
                        <a:t> </a:t>
                      </a:r>
                      <a:r>
                        <a:rPr lang="ru-RU" sz="900" dirty="0" err="1" smtClean="0"/>
                        <a:t>театрининг</a:t>
                      </a:r>
                      <a:r>
                        <a:rPr lang="ru-RU" sz="900" dirty="0" smtClean="0"/>
                        <a:t> </a:t>
                      </a:r>
                      <a:r>
                        <a:rPr lang="ru-RU" sz="900" dirty="0" err="1" smtClean="0"/>
                        <a:t>саҳна</a:t>
                      </a:r>
                      <a:r>
                        <a:rPr lang="ru-RU" sz="900" dirty="0" smtClean="0"/>
                        <a:t> </a:t>
                      </a:r>
                      <a:r>
                        <a:rPr lang="ru-RU" sz="900" dirty="0" err="1" smtClean="0"/>
                        <a:t>устаси</a:t>
                      </a:r>
                      <a:r>
                        <a:rPr lang="ru-RU" sz="900" dirty="0" smtClean="0"/>
                        <a:t> </a:t>
                      </a:r>
                      <a:r>
                        <a:rPr lang="ru-RU" sz="900" dirty="0" err="1" smtClean="0"/>
                        <a:t>актёри</a:t>
                      </a:r>
                      <a:endParaRPr lang="ru-RU" sz="900" dirty="0" smtClean="0"/>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37220">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3722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2025й. </a:t>
                      </a:r>
                      <a:r>
                        <a:rPr lang="uz-Latn-UZ" sz="900" dirty="0" smtClean="0">
                          <a:solidFill>
                            <a:schemeClr val="tx1"/>
                          </a:solidFill>
                        </a:rPr>
                        <a:t>№</a:t>
                      </a:r>
                      <a:r>
                        <a:rPr lang="ru-RU" sz="900" dirty="0" smtClean="0">
                          <a:solidFill>
                            <a:schemeClr val="tx1"/>
                          </a:solidFill>
                        </a:rPr>
                        <a:t>2</a:t>
                      </a:r>
                      <a:r>
                        <a:rPr lang="uz-Latn-UZ" sz="900" dirty="0" smtClean="0">
                          <a:solidFill>
                            <a:schemeClr val="tx1"/>
                          </a:solidFill>
                        </a:rPr>
                        <a:t> </a:t>
                      </a:r>
                      <a:r>
                        <a:rPr lang="uz-Cyrl-UZ" sz="900" dirty="0" smtClean="0">
                          <a:solidFill>
                            <a:schemeClr val="tx1"/>
                          </a:solidFill>
                        </a:rPr>
                        <a:t>давлат шифохонаси</a:t>
                      </a:r>
                      <a:r>
                        <a:rPr lang="ru-RU" sz="900" dirty="0" smtClean="0">
                          <a:solidFill>
                            <a:schemeClr val="tx1"/>
                          </a:solidFill>
                        </a:rPr>
                        <a:t>.</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3722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Ха</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8433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998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526087">
                <a:tc gridSpan="2">
                  <a:txBody>
                    <a:bodyPr/>
                    <a:lstStyle/>
                    <a:p>
                      <a:r>
                        <a:rPr lang="ru-RU" sz="900" dirty="0" smtClean="0"/>
                        <a:t>2016 й. </a:t>
                      </a:r>
                      <a:r>
                        <a:rPr lang="ru-RU" sz="900" dirty="0" err="1" smtClean="0"/>
                        <a:t>Ўзбекистон</a:t>
                      </a:r>
                      <a:r>
                        <a:rPr lang="ru-RU" sz="900" dirty="0" smtClean="0"/>
                        <a:t> </a:t>
                      </a:r>
                      <a:r>
                        <a:rPr lang="ru-RU" sz="900" dirty="0" err="1" smtClean="0"/>
                        <a:t>Республикасида</a:t>
                      </a:r>
                      <a:r>
                        <a:rPr lang="ru-RU" sz="900" dirty="0" smtClean="0"/>
                        <a:t> </a:t>
                      </a:r>
                      <a:r>
                        <a:rPr lang="ru-RU" sz="900" dirty="0" err="1" smtClean="0"/>
                        <a:t>хизмат</a:t>
                      </a:r>
                      <a:r>
                        <a:rPr lang="ru-RU" sz="900" dirty="0" smtClean="0"/>
                        <a:t> </a:t>
                      </a:r>
                      <a:r>
                        <a:rPr lang="ru-RU" sz="900" dirty="0" err="1" smtClean="0"/>
                        <a:t>кўрсатган</a:t>
                      </a:r>
                      <a:r>
                        <a:rPr lang="ru-RU" sz="900" dirty="0" smtClean="0"/>
                        <a:t> артист” </a:t>
                      </a:r>
                      <a:r>
                        <a:rPr lang="ru-RU" sz="900" dirty="0" err="1" smtClean="0"/>
                        <a:t>унвони</a:t>
                      </a:r>
                      <a:endParaRPr lang="ru-RU" sz="900" dirty="0"/>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6794793"/>
              </p:ext>
            </p:extLst>
          </p:nvPr>
        </p:nvGraphicFramePr>
        <p:xfrm>
          <a:off x="6847367" y="869286"/>
          <a:ext cx="3058633" cy="5925635"/>
        </p:xfrm>
        <a:graphic>
          <a:graphicData uri="http://schemas.openxmlformats.org/drawingml/2006/table">
            <a:tbl>
              <a:tblPr firstRow="1" bandRow="1">
                <a:tableStyleId>{C083E6E3-FA7D-4D7B-A595-EF9225AFEA82}</a:tableStyleId>
              </a:tblPr>
              <a:tblGrid>
                <a:gridCol w="3058633">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3875496">
                <a:tc>
                  <a:txBody>
                    <a:bodyPr/>
                    <a:lstStyle/>
                    <a:p>
                      <a:pPr algn="just"/>
                      <a:r>
                        <a:rPr lang="uz-Cyrl-UZ" sz="900" b="0" kern="1200" baseline="0" dirty="0" smtClean="0">
                          <a:solidFill>
                            <a:schemeClr val="tx1"/>
                          </a:solidFill>
                          <a:effectLst/>
                          <a:latin typeface="+mn-lt"/>
                          <a:ea typeface="Calibri" panose="020F0502020204030204" pitchFamily="34" charset="0"/>
                          <a:cs typeface="Times New Roman" panose="02020603050405020304" pitchFamily="18" charset="0"/>
                        </a:rPr>
                        <a:t>    Азат Бекмуратов, 1966 йилда Қорақалпоғистон Республикасида туғилган. 1991 йили Ўзбекистон Давлат Санъат Институти "Театр ва кино актёри" факультетини тугаттган. 2009 йилдан бери театр труппасида фаолият юритиб келади. </a:t>
                      </a:r>
                      <a:endParaRPr lang="ru-RU" sz="900" b="0" kern="1200" baseline="0" dirty="0" smtClean="0">
                        <a:solidFill>
                          <a:schemeClr val="tx1"/>
                        </a:solidFill>
                        <a:effectLst/>
                        <a:latin typeface="+mn-lt"/>
                        <a:ea typeface="Calibri" panose="020F0502020204030204" pitchFamily="34" charset="0"/>
                        <a:cs typeface="Times New Roman" panose="02020603050405020304" pitchFamily="18" charset="0"/>
                      </a:endParaRPr>
                    </a:p>
                    <a:p>
                      <a:pPr algn="just"/>
                      <a:r>
                        <a:rPr lang="uz-Cyrl-UZ" sz="900" b="0" kern="1200" baseline="0" dirty="0" smtClean="0">
                          <a:solidFill>
                            <a:schemeClr val="tx1"/>
                          </a:solidFill>
                          <a:effectLst/>
                          <a:latin typeface="+mn-lt"/>
                          <a:ea typeface="Calibri" panose="020F0502020204030204" pitchFamily="34" charset="0"/>
                          <a:cs typeface="Times New Roman" panose="02020603050405020304" pitchFamily="18" charset="0"/>
                        </a:rPr>
                        <a:t>    Ўзбекистон Ёшлари Театри ўз фаолияти давомида томошабинларга бир қатор ажойиб ва ёрқин актерларни тақдим эта олган. Улар орасида Азат Бекмуратовни қайд этиш жоиз. Ўзининг илк роллариданоқ у ёрқин индивидуал ижодкор, камдан кам учрайдиган ташқи кўриниш ва ажойиб юмор ҳисси билан ажралиб турди. </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У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ҳам</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театр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фаолиятидан</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ташқари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бир</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қанча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киноларда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рол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ижро</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этган</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Бир</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қанча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реклама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роликлари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бадиий</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ва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мультипликацион</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фильмларга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овоз</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бериб</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келади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Жами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40га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яқин</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роллар</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ижро</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этган</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a:t>
                      </a:r>
                    </a:p>
                    <a:p>
                      <a:pPr algn="just"/>
                      <a:r>
                        <a:rPr lang="uz-Cyrl-UZ" sz="900" b="0" kern="1200" baseline="0" dirty="0" smtClean="0">
                          <a:solidFill>
                            <a:schemeClr val="tx1"/>
                          </a:solidFill>
                          <a:effectLst/>
                          <a:latin typeface="+mn-lt"/>
                          <a:ea typeface="Calibri" panose="020F0502020204030204" pitchFamily="34" charset="0"/>
                          <a:cs typeface="Times New Roman" panose="02020603050405020304" pitchFamily="18" charset="0"/>
                        </a:rPr>
                        <a:t>    Азат Бекмуратов</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ижро</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этган</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ва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томошабинлар</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ёдида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қолган</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бир</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қатор</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образлар</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сифатида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қуйидагиларни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эътироф</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этиш</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мумкин</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Сганарель</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Зураки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Табиб</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("Лекарь поневоле") , Некто -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Умар</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Ҳайём</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юлдузлари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("Созвездие Омара Хайяма") , Барах -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Маликаи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Турандот</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("Принцесса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Турандот</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 Раввин -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Томдаги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скрипкачи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("Скрипач на крыше") ,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Лояль</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 "Тартюф" ("Тартюф")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ва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бошқа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спектаклларидаги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роллари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орқали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ажабтовур</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асар</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ҳисси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ажойиб</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импровицияга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эга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актер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сифатида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ўзини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намоён</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қила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олди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ва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бу</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хислатлар</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унинг</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такрорланмас</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ўз</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дастхатига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эга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артист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сифатида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танилишига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замин</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яратди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a:t>
                      </a:r>
                    </a:p>
                    <a:p>
                      <a:pPr algn="just"/>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Актер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ролларни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юзаки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равишда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ижро</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этишдан</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қўрқади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ва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қочади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аксинча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у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қаҳрамони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орқали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томошабинга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сўз</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ва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имо-ишоралар</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билан</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ҳаётда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учраши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мумкин</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бўлган</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хатоларнинг</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ечимини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излаш</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усуллари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қийинчилик</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ва</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машаққатларни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четлаб</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ўтиш</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йўлларини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кўрсатиб</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r>
                        <a:rPr lang="ru-RU" sz="900" b="0" kern="1200" baseline="0" dirty="0" err="1" smtClean="0">
                          <a:solidFill>
                            <a:schemeClr val="tx1"/>
                          </a:solidFill>
                          <a:effectLst/>
                          <a:latin typeface="+mn-lt"/>
                          <a:ea typeface="Calibri" panose="020F0502020204030204" pitchFamily="34" charset="0"/>
                          <a:cs typeface="Times New Roman" panose="02020603050405020304" pitchFamily="18" charset="0"/>
                        </a:rPr>
                        <a:t>беради</a:t>
                      </a:r>
                      <a:r>
                        <a:rPr lang="ru-RU" sz="900" b="0" kern="1200" baseline="0" dirty="0" smtClean="0">
                          <a:solidFill>
                            <a:schemeClr val="tx1"/>
                          </a:solidFill>
                          <a:effectLst/>
                          <a:latin typeface="+mn-lt"/>
                          <a:ea typeface="Calibri" panose="020F0502020204030204" pitchFamily="34" charset="0"/>
                          <a:cs typeface="Times New Roman" panose="02020603050405020304" pitchFamily="18" charset="0"/>
                        </a:rPr>
                        <a:t>.  </a:t>
                      </a:r>
                      <a:endParaRPr lang="ru-RU" sz="900" b="0" kern="1200" baseline="0" dirty="0">
                        <a:solidFill>
                          <a:schemeClr val="tx1"/>
                        </a:solidFill>
                        <a:effectLst/>
                        <a:latin typeface="+mn-lt"/>
                        <a:ea typeface="Calibri" panose="020F0502020204030204" pitchFamily="34" charset="0"/>
                        <a:cs typeface="Times New Roman" panose="02020603050405020304" pitchFamily="18" charset="0"/>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descr="Бекмуратов А"/>
          <p:cNvPicPr/>
          <p:nvPr/>
        </p:nvPicPr>
        <p:blipFill rotWithShape="1">
          <a:blip r:embed="rId2" cstate="print">
            <a:extLst>
              <a:ext uri="{28A0092B-C50C-407E-A947-70E740481C1C}">
                <a14:useLocalDpi xmlns:a14="http://schemas.microsoft.com/office/drawing/2010/main" val="0"/>
              </a:ext>
            </a:extLst>
          </a:blip>
          <a:srcRect r="1677" b="4036"/>
          <a:stretch/>
        </p:blipFill>
        <p:spPr bwMode="auto">
          <a:xfrm>
            <a:off x="241069" y="1185547"/>
            <a:ext cx="908463" cy="1117077"/>
          </a:xfrm>
          <a:prstGeom prst="rect">
            <a:avLst/>
          </a:prstGeom>
          <a:noFill/>
          <a:ln>
            <a:noFill/>
          </a:ln>
          <a:extLst>
            <a:ext uri="{53640926-AAD7-44D8-BBD7-CCE9431645EC}">
              <a14:shadowObscured xmlns:a14="http://schemas.microsoft.com/office/drawing/2010/main"/>
            </a:ext>
          </a:extLst>
        </p:spPr>
      </p:pic>
    </p:spTree>
    <p:extLst>
      <p:ext uri="{BB962C8B-B14F-4D97-AF65-F5344CB8AC3E}">
        <p14:creationId xmlns:p14="http://schemas.microsoft.com/office/powerpoint/2010/main" val="1382154732"/>
      </p:ext>
    </p:extLst>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4129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4184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268818951"/>
              </p:ext>
            </p:extLst>
          </p:nvPr>
        </p:nvGraphicFramePr>
        <p:xfrm>
          <a:off x="144489" y="843896"/>
          <a:ext cx="3427547" cy="6014104"/>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731338">
                  <a:extLst>
                    <a:ext uri="{9D8B030D-6E8A-4147-A177-3AD203B41FA5}">
                      <a16:colId xmlns:a16="http://schemas.microsoft.com/office/drawing/2014/main" val="546773760"/>
                    </a:ext>
                  </a:extLst>
                </a:gridCol>
                <a:gridCol w="178876">
                  <a:extLst>
                    <a:ext uri="{9D8B030D-6E8A-4147-A177-3AD203B41FA5}">
                      <a16:colId xmlns:a16="http://schemas.microsoft.com/office/drawing/2014/main" val="20004"/>
                    </a:ext>
                  </a:extLst>
                </a:gridCol>
                <a:gridCol w="1265102">
                  <a:extLst>
                    <a:ext uri="{9D8B030D-6E8A-4147-A177-3AD203B41FA5}">
                      <a16:colId xmlns:a16="http://schemas.microsoft.com/office/drawing/2014/main" val="546443978"/>
                    </a:ext>
                  </a:extLst>
                </a:gridCol>
              </a:tblGrid>
              <a:tr h="240824">
                <a:tc gridSpan="6">
                  <a:txBody>
                    <a:bodyPr/>
                    <a:lstStyle/>
                    <a:p>
                      <a:pPr algn="ctr"/>
                      <a:r>
                        <a:rPr sz="1200" dirty="0">
                          <a:solidFill>
                            <a:schemeClr val="bg1"/>
                          </a:solidFill>
                          <a:latin typeface="Bahnschrift SemiBold" panose="020B0502040204020203" pitchFamily="34" charset="0"/>
                        </a:rPr>
                        <a:t>ШАХСИЙ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a:p>
                  </a:txBody>
                  <a:tcPr/>
                </a:tc>
                <a:tc hMerge="1">
                  <a:txBody>
                    <a:bodyPr/>
                    <a:lstStyle/>
                    <a:p>
                      <a:endParaRPr/>
                    </a:p>
                  </a:txBody>
                  <a:tcPr>
                    <a:lnL w="12700" cap="flat" cmpd="sng" algn="ctr">
                      <a:solidFill>
                        <a:schemeClr val="tx1"/>
                      </a:solidFill>
                      <a:prstDash val="solid"/>
                      <a:round/>
                      <a:headEnd type="none" w="med" len="med"/>
                      <a:tailEnd type="none" w="med" len="med"/>
                    </a:lnL>
                  </a:tcPr>
                </a:tc>
                <a:tc hMerge="1">
                  <a:txBody>
                    <a:bodyPr/>
                    <a:lstStyle/>
                    <a:p>
                      <a:endParaRPr/>
                    </a:p>
                  </a:txBody>
                  <a:tcPr/>
                </a:tc>
                <a:tc hMerge="1">
                  <a:txBody>
                    <a:bodyPr/>
                    <a:lstStyle/>
                    <a:p>
                      <a:endParaRPr lang="ru-RU"/>
                    </a:p>
                  </a:txBody>
                  <a:tcPr/>
                </a:tc>
                <a:tc hMerge="1">
                  <a:txBody>
                    <a:bodyPr/>
                    <a:lstStyle/>
                    <a:p>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8011">
                <a:tc rowSpan="6" gridSpan="2">
                  <a:txBody>
                    <a:bodyPr/>
                    <a:lstStyle/>
                    <a:p>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r>
                        <a:rPr sz="900" b="1" dirty="0" err="1"/>
                        <a:t>Фамилияси</a:t>
                      </a:r>
                      <a:r>
                        <a:rPr sz="900" b="1" dirty="0"/>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a:p>
                  </a:txBody>
                  <a:tcPr/>
                </a:tc>
                <a:tc hMerge="1">
                  <a:txBody>
                    <a:bodyPr/>
                    <a:lstStyle/>
                    <a:p>
                      <a:endParaRPr lang="ru-RU"/>
                    </a:p>
                  </a:txBody>
                  <a:tcPr/>
                </a:tc>
                <a:tc>
                  <a:txBody>
                    <a:bodyPr/>
                    <a:lstStyle/>
                    <a:p>
                      <a:r>
                        <a:rPr lang="ru-RU" sz="900" dirty="0" smtClean="0"/>
                        <a:t>РЕЖАМЕТОВА</a:t>
                      </a:r>
                      <a:endParaRPr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8011">
                <a:tc gridSpan="2" vMerge="1">
                  <a:txBody>
                    <a:bodyPr/>
                    <a:lstStyle/>
                    <a:p>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a:p>
                  </a:txBody>
                  <a:tcPr>
                    <a:lnT w="12700" cap="flat" cmpd="sng" algn="ctr">
                      <a:solidFill>
                        <a:schemeClr val="tx1"/>
                      </a:solidFill>
                      <a:prstDash val="solid"/>
                      <a:round/>
                      <a:headEnd type="none" w="med" len="med"/>
                      <a:tailEnd type="none" w="med" len="med"/>
                    </a:lnT>
                  </a:tcPr>
                </a:tc>
                <a:tc gridSpan="3">
                  <a:txBody>
                    <a:bodyPr/>
                    <a:lstStyle/>
                    <a:p>
                      <a:r>
                        <a:rPr sz="900" b="1" dirty="0" err="1"/>
                        <a:t>Исми</a:t>
                      </a:r>
                      <a:r>
                        <a:rPr sz="900" b="1" dirty="0"/>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a:p>
                  </a:txBody>
                  <a:tcPr/>
                </a:tc>
                <a:tc hMerge="1">
                  <a:txBody>
                    <a:bodyPr/>
                    <a:lstStyle/>
                    <a:p>
                      <a:endParaRPr lang="ru-RU"/>
                    </a:p>
                  </a:txBody>
                  <a:tcPr/>
                </a:tc>
                <a:tc>
                  <a:txBody>
                    <a:bodyPr/>
                    <a:lstStyle/>
                    <a:p>
                      <a:r>
                        <a:rPr sz="900"/>
                        <a:t>Фотима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8011">
                <a:tc gridSpan="2" vMerge="1">
                  <a:txBody>
                    <a:bodyPr/>
                    <a:lstStyle/>
                    <a:p>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a:p>
                  </a:txBody>
                  <a:tcPr/>
                </a:tc>
                <a:tc gridSpan="3">
                  <a:txBody>
                    <a:bodyPr/>
                    <a:lstStyle/>
                    <a:p>
                      <a:r>
                        <a:rPr sz="900" b="1" dirty="0" err="1"/>
                        <a:t>Отасининг</a:t>
                      </a:r>
                      <a:r>
                        <a:rPr sz="900" b="1" dirty="0"/>
                        <a:t> </a:t>
                      </a:r>
                      <a:r>
                        <a:rPr sz="900" b="1" dirty="0" err="1"/>
                        <a:t>исми</a:t>
                      </a:r>
                      <a:r>
                        <a:rPr sz="900" b="1" dirty="0"/>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a:p>
                  </a:txBody>
                  <a:tcPr/>
                </a:tc>
                <a:tc hMerge="1">
                  <a:txBody>
                    <a:bodyPr/>
                    <a:lstStyle/>
                    <a:p>
                      <a:endParaRPr lang="ru-RU"/>
                    </a:p>
                  </a:txBody>
                  <a:tcPr/>
                </a:tc>
                <a:tc>
                  <a:txBody>
                    <a:bodyPr/>
                    <a:lstStyle/>
                    <a:p>
                      <a:r>
                        <a:rPr sz="900" dirty="0" err="1"/>
                        <a:t>Туганбаевна</a:t>
                      </a:r>
                      <a:endParaRPr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8011">
                <a:tc gridSpan="2" vMerge="1">
                  <a:txBody>
                    <a:bodyPr/>
                    <a:lstStyle/>
                    <a:p>
                      <a:endParaRPr/>
                    </a:p>
                  </a:txBody>
                  <a:tcPr>
                    <a:lnT>
                      <a:noFill/>
                    </a:lnT>
                  </a:tcPr>
                </a:tc>
                <a:tc hMerge="1" vMerge="1">
                  <a:txBody>
                    <a:bodyPr/>
                    <a:lstStyle/>
                    <a:p>
                      <a:endParaRPr/>
                    </a:p>
                  </a:txBody>
                  <a:tcPr/>
                </a:tc>
                <a:tc gridSpan="3">
                  <a:txBody>
                    <a:bodyPr/>
                    <a:lstStyle/>
                    <a:p>
                      <a:r>
                        <a:rPr sz="900" b="1" dirty="0" err="1"/>
                        <a:t>Миллати</a:t>
                      </a:r>
                      <a:r>
                        <a:rPr sz="900" b="1" dirty="0"/>
                        <a:t>:</a:t>
                      </a:r>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a:p>
                  </a:txBody>
                  <a:tcPr/>
                </a:tc>
                <a:tc hMerge="1">
                  <a:txBody>
                    <a:bodyPr/>
                    <a:lstStyle/>
                    <a:p>
                      <a:endParaRPr lang="ru-RU"/>
                    </a:p>
                  </a:txBody>
                  <a:tcPr/>
                </a:tc>
                <a:tc>
                  <a:txBody>
                    <a:bodyPr/>
                    <a:lstStyle/>
                    <a:p>
                      <a:r>
                        <a:rPr lang="ru-RU" sz="900" dirty="0" smtClean="0"/>
                        <a:t>ЎЗБЕК</a:t>
                      </a:r>
                      <a:r>
                        <a:rPr sz="900" dirty="0"/>
                        <a:t>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8011">
                <a:tc gridSpan="2" vMerge="1">
                  <a:txBody>
                    <a:bodyPr/>
                    <a:lstStyle/>
                    <a:p>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a:p>
                  </a:txBody>
                  <a:tcPr/>
                </a:tc>
                <a:tc gridSpan="3">
                  <a:txBody>
                    <a:bodyPr/>
                    <a:lstStyle/>
                    <a:p>
                      <a:r>
                        <a:rPr sz="900" b="1" dirty="0" err="1"/>
                        <a:t>Туғилган</a:t>
                      </a:r>
                      <a:r>
                        <a:rPr sz="900" b="1" dirty="0"/>
                        <a:t> </a:t>
                      </a:r>
                      <a:r>
                        <a:rPr sz="900" b="1" dirty="0" err="1"/>
                        <a:t>санаси</a:t>
                      </a:r>
                      <a:r>
                        <a:rPr sz="900" b="1" dirty="0"/>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a:p>
                  </a:txBody>
                  <a:tcPr/>
                </a:tc>
                <a:tc hMerge="1">
                  <a:txBody>
                    <a:bodyPr/>
                    <a:lstStyle/>
                    <a:p>
                      <a:endParaRPr lang="ru-RU"/>
                    </a:p>
                  </a:txBody>
                  <a:tcPr/>
                </a:tc>
                <a:tc>
                  <a:txBody>
                    <a:bodyPr/>
                    <a:lstStyle/>
                    <a:p>
                      <a:r>
                        <a:rPr sz="900" dirty="0"/>
                        <a:t>27.07.1970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8011">
                <a:tc gridSpan="2" vMerge="1">
                  <a:txBody>
                    <a:bodyPr/>
                    <a:lstStyle/>
                    <a:p>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a:p>
                  </a:txBody>
                  <a:tcPr/>
                </a:tc>
                <a:tc gridSpan="3">
                  <a:txBody>
                    <a:bodyPr/>
                    <a:lstStyle/>
                    <a:p>
                      <a:r>
                        <a:rPr sz="900" b="1" dirty="0" err="1"/>
                        <a:t>Туғилган</a:t>
                      </a:r>
                      <a:r>
                        <a:rPr sz="900" b="1" dirty="0"/>
                        <a:t> </a:t>
                      </a:r>
                      <a:r>
                        <a:rPr sz="900" b="1" dirty="0" err="1"/>
                        <a:t>жойи</a:t>
                      </a:r>
                      <a:r>
                        <a:rPr sz="900" b="1" dirty="0"/>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a:p>
                  </a:txBody>
                  <a:tcPr/>
                </a:tc>
                <a:tc hMerge="1">
                  <a:txBody>
                    <a:bodyPr/>
                    <a:lstStyle/>
                    <a:p>
                      <a:endParaRPr lang="ru-RU"/>
                    </a:p>
                  </a:txBody>
                  <a:tcPr/>
                </a:tc>
                <a:tc>
                  <a:txBody>
                    <a:bodyPr/>
                    <a:lstStyle/>
                    <a:p>
                      <a:r>
                        <a:rPr sz="900" dirty="0" err="1"/>
                        <a:t>Тошкент</a:t>
                      </a:r>
                      <a:r>
                        <a:rPr sz="900" dirty="0"/>
                        <a:t> </a:t>
                      </a:r>
                      <a:r>
                        <a:rPr sz="900" dirty="0" err="1"/>
                        <a:t>шаҳри</a:t>
                      </a:r>
                      <a:endParaRPr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198011">
                <a:tc gridSpan="6">
                  <a:txBody>
                    <a:bodyPr/>
                    <a:lstStyle/>
                    <a:p>
                      <a:pPr algn="ctr"/>
                      <a:r>
                        <a:rPr sz="900" dirty="0" err="1">
                          <a:solidFill>
                            <a:schemeClr val="bg1"/>
                          </a:solidFill>
                          <a:latin typeface="Bahnschrift SemiBold" panose="020B0502040204020203" pitchFamily="34" charset="0"/>
                        </a:rPr>
                        <a:t>Оиласи</a:t>
                      </a:r>
                      <a:r>
                        <a:rPr sz="900" dirty="0">
                          <a:solidFill>
                            <a:schemeClr val="bg1"/>
                          </a:solidFill>
                          <a:latin typeface="Bahnschrift SemiBold" panose="020B0502040204020203" pitchFamily="34" charset="0"/>
                        </a:rPr>
                        <a:t> </a:t>
                      </a:r>
                      <a:r>
                        <a:rPr sz="900" dirty="0" err="1">
                          <a:solidFill>
                            <a:schemeClr val="bg1"/>
                          </a:solidFill>
                          <a:latin typeface="Bahnschrift SemiBold" panose="020B0502040204020203" pitchFamily="34" charset="0"/>
                        </a:rPr>
                        <a:t>ҳақида</a:t>
                      </a:r>
                      <a:r>
                        <a:rPr sz="900" dirty="0">
                          <a:solidFill>
                            <a:schemeClr val="bg1"/>
                          </a:solidFill>
                          <a:latin typeface="Bahnschrift SemiBold" panose="020B0502040204020203" pitchFamily="34" charset="0"/>
                        </a:rPr>
                        <a:t> </a:t>
                      </a:r>
                      <a:r>
                        <a:rPr sz="900" dirty="0" err="1">
                          <a:solidFill>
                            <a:schemeClr val="bg1"/>
                          </a:solidFill>
                          <a:latin typeface="Bahnschrift SemiBold" panose="020B0502040204020203" pitchFamily="34" charset="0"/>
                        </a:rPr>
                        <a:t>маълумотлар</a:t>
                      </a:r>
                      <a:endParaRPr sz="90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a:p>
                  </a:txBody>
                  <a:tcPr/>
                </a:tc>
                <a:tc hMerge="1">
                  <a:txBody>
                    <a:bodyPr/>
                    <a:lstStyle/>
                    <a:p>
                      <a:endParaRPr/>
                    </a:p>
                  </a:txBody>
                  <a:tcPr>
                    <a:lnL w="12700" cap="flat" cmpd="sng" algn="ctr">
                      <a:solidFill>
                        <a:schemeClr val="tx1"/>
                      </a:solidFill>
                      <a:prstDash val="solid"/>
                      <a:round/>
                      <a:headEnd type="none" w="med" len="med"/>
                      <a:tailEnd type="none" w="med" len="med"/>
                    </a:lnL>
                    <a:lnT>
                      <a:noFill/>
                    </a:lnT>
                  </a:tcPr>
                </a:tc>
                <a:tc hMerge="1">
                  <a:txBody>
                    <a:bodyPr/>
                    <a:lstStyle/>
                    <a:p>
                      <a:endParaRPr/>
                    </a:p>
                  </a:txBody>
                  <a:tcPr/>
                </a:tc>
                <a:tc hMerge="1">
                  <a:txBody>
                    <a:bodyPr/>
                    <a:lstStyle/>
                    <a:p>
                      <a:endParaRPr lang="ru-RU"/>
                    </a:p>
                  </a:txBody>
                  <a:tcPr/>
                </a:tc>
                <a:tc hMerge="1">
                  <a:txBody>
                    <a:bodyPr/>
                    <a:lstStyle/>
                    <a:p>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26451">
                <a:tc gridSpan="2">
                  <a:txBody>
                    <a:bodyPr/>
                    <a:lstStyle/>
                    <a:p>
                      <a:pPr algn="ctr"/>
                      <a:r>
                        <a:rPr sz="900" b="1" dirty="0" err="1"/>
                        <a:t>Оилавий</a:t>
                      </a:r>
                      <a:r>
                        <a:rPr sz="900" b="1" dirty="0"/>
                        <a:t> </a:t>
                      </a:r>
                      <a:r>
                        <a:rPr sz="900" b="1" dirty="0" err="1"/>
                        <a:t>ва</a:t>
                      </a:r>
                      <a:r>
                        <a:rPr sz="900" b="1" dirty="0"/>
                        <a:t> </a:t>
                      </a:r>
                      <a:r>
                        <a:rPr sz="900" b="1" dirty="0" err="1"/>
                        <a:t>ижтимоий</a:t>
                      </a:r>
                      <a:r>
                        <a:rPr sz="900" b="1" dirty="0"/>
                        <a:t> </a:t>
                      </a:r>
                      <a:r>
                        <a:rPr sz="900" b="1" dirty="0" err="1"/>
                        <a:t>ахволи</a:t>
                      </a:r>
                      <a:r>
                        <a:rPr sz="900" b="1" dirty="0"/>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a:p>
                  </a:txBody>
                  <a:tcPr/>
                </a:tc>
                <a:tc gridSpan="4">
                  <a:txBody>
                    <a:bodyPr/>
                    <a:lstStyle/>
                    <a:p>
                      <a:pPr algn="ctr"/>
                      <a:r>
                        <a:rPr sz="900" dirty="0" err="1" smtClean="0"/>
                        <a:t>Оила</a:t>
                      </a:r>
                      <a:r>
                        <a:rPr lang="ru-RU" sz="900" dirty="0" smtClean="0"/>
                        <a:t>ли</a:t>
                      </a:r>
                      <a:r>
                        <a:rPr sz="900" dirty="0" smtClean="0"/>
                        <a:t>, </a:t>
                      </a:r>
                      <a:r>
                        <a:rPr sz="900" dirty="0"/>
                        <a:t>2 </a:t>
                      </a:r>
                      <a:r>
                        <a:rPr sz="900" dirty="0" err="1"/>
                        <a:t>нафар</a:t>
                      </a:r>
                      <a:r>
                        <a:rPr sz="900" dirty="0"/>
                        <a:t> </a:t>
                      </a:r>
                      <a:r>
                        <a:rPr sz="900" dirty="0" err="1"/>
                        <a:t>фарзанди</a:t>
                      </a:r>
                      <a:r>
                        <a:rPr sz="900" dirty="0"/>
                        <a:t> </a:t>
                      </a:r>
                      <a:r>
                        <a:rPr sz="900" dirty="0" err="1"/>
                        <a:t>бор</a:t>
                      </a:r>
                      <a:endParaRPr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a:p>
                  </a:txBody>
                  <a:tcPr/>
                </a:tc>
                <a:tc hMerge="1">
                  <a:txBody>
                    <a:bodyPr/>
                    <a:lstStyle/>
                    <a:p>
                      <a:endParaRPr lang="ru-RU"/>
                    </a:p>
                  </a:txBody>
                  <a:tcPr/>
                </a:tc>
                <a:tc hMerge="1">
                  <a:txBody>
                    <a:bodyPr/>
                    <a:lstStyle/>
                    <a:p>
                      <a:endParaRPr/>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12282">
                <a:tc gridSpan="6">
                  <a:txBody>
                    <a:bodyPr/>
                    <a:lstStyle/>
                    <a:p>
                      <a:pPr algn="ctr"/>
                      <a:r>
                        <a:rPr sz="1000" dirty="0" err="1">
                          <a:solidFill>
                            <a:schemeClr val="bg1"/>
                          </a:solidFill>
                          <a:latin typeface="Bahnschrift SemiBold" panose="020B0502040204020203" pitchFamily="34" charset="0"/>
                        </a:rPr>
                        <a:t>Оила</a:t>
                      </a:r>
                      <a:r>
                        <a:rPr sz="1000" dirty="0">
                          <a:solidFill>
                            <a:schemeClr val="bg1"/>
                          </a:solidFill>
                          <a:latin typeface="Bahnschrift SemiBold" panose="020B0502040204020203" pitchFamily="34" charset="0"/>
                        </a:rPr>
                        <a:t> </a:t>
                      </a:r>
                      <a:r>
                        <a:rPr sz="1000" dirty="0" err="1">
                          <a:solidFill>
                            <a:schemeClr val="bg1"/>
                          </a:solidFill>
                          <a:latin typeface="Bahnschrift SemiBold" panose="020B0502040204020203" pitchFamily="34" charset="0"/>
                        </a:rPr>
                        <a:t>аъзолари</a:t>
                      </a:r>
                      <a:endParaRPr sz="100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a:p>
                  </a:txBody>
                  <a:tcPr/>
                </a:tc>
                <a:tc hMerge="1">
                  <a:txBody>
                    <a:bodyPr/>
                    <a:lstStyle/>
                    <a:p>
                      <a:endParaRPr/>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a:p>
                  </a:txBody>
                  <a:tcPr/>
                </a:tc>
                <a:tc hMerge="1">
                  <a:txBody>
                    <a:bodyPr/>
                    <a:lstStyle/>
                    <a:p>
                      <a:endParaRPr lang="ru-RU"/>
                    </a:p>
                  </a:txBody>
                  <a:tcPr/>
                </a:tc>
                <a:tc hMerge="1">
                  <a:txBody>
                    <a:bodyPr/>
                    <a:lstStyle/>
                    <a:p>
                      <a:endParaRPr/>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83329">
                <a:tc>
                  <a:txBody>
                    <a:bodyPr/>
                    <a:lstStyle/>
                    <a:p>
                      <a:r>
                        <a:rPr sz="900" b="1" dirty="0" err="1"/>
                        <a:t>Отаси</a:t>
                      </a:r>
                      <a:r>
                        <a:rPr sz="900" b="1" dirty="0"/>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sz="900"/>
                        <a:t>Режаметов Туган</a:t>
                      </a:r>
                      <a:br>
                        <a:rPr sz="900"/>
                      </a:br>
                      <a:r>
                        <a:rPr sz="900"/>
                        <a:t>1940 йил,</a:t>
                      </a:r>
                    </a:p>
                    <a:p>
                      <a:r>
                        <a:rPr sz="900"/>
                        <a:t>Алмата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a:p>
                  </a:txBody>
                  <a:tcPr>
                    <a:lnL>
                      <a:noFill/>
                    </a:lnL>
                  </a:tcPr>
                </a:tc>
                <a:tc hMerge="1">
                  <a:txBody>
                    <a:bodyPr/>
                    <a:lstStyle/>
                    <a:p>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sz="900" dirty="0"/>
                        <a:t>1982 </a:t>
                      </a:r>
                      <a:r>
                        <a:rPr sz="900" dirty="0" err="1"/>
                        <a:t>йилда</a:t>
                      </a:r>
                      <a:r>
                        <a:rPr sz="900" dirty="0"/>
                        <a:t> </a:t>
                      </a:r>
                      <a:r>
                        <a:rPr sz="900" dirty="0" err="1"/>
                        <a:t>вафот</a:t>
                      </a:r>
                      <a:r>
                        <a:rPr sz="900" dirty="0"/>
                        <a:t> </a:t>
                      </a:r>
                      <a:r>
                        <a:rPr sz="900" dirty="0" err="1"/>
                        <a:t>этган</a:t>
                      </a:r>
                      <a:r>
                        <a:rPr sz="900" dirty="0"/>
                        <a:t>.</a:t>
                      </a:r>
                    </a:p>
                    <a:p>
                      <a:r>
                        <a:rPr sz="900" dirty="0"/>
                        <a:t>(“</a:t>
                      </a:r>
                      <a:r>
                        <a:rPr sz="900" dirty="0" err="1"/>
                        <a:t>Ёш</a:t>
                      </a:r>
                      <a:r>
                        <a:rPr sz="900" dirty="0"/>
                        <a:t> </a:t>
                      </a:r>
                      <a:r>
                        <a:rPr sz="900" dirty="0" err="1"/>
                        <a:t>гвардия</a:t>
                      </a:r>
                      <a:r>
                        <a:rPr sz="900" dirty="0"/>
                        <a:t>“ </a:t>
                      </a:r>
                      <a:r>
                        <a:rPr sz="900" dirty="0" err="1"/>
                        <a:t>театри</a:t>
                      </a:r>
                      <a:r>
                        <a:rPr sz="900" dirty="0"/>
                        <a:t> </a:t>
                      </a:r>
                      <a:br>
                        <a:rPr sz="900" dirty="0"/>
                      </a:br>
                      <a:r>
                        <a:rPr sz="900" dirty="0" err="1"/>
                        <a:t>Ўзбекистонда</a:t>
                      </a:r>
                      <a:r>
                        <a:rPr sz="900" dirty="0"/>
                        <a:t> </a:t>
                      </a:r>
                      <a:r>
                        <a:rPr sz="900" dirty="0" err="1"/>
                        <a:t>хизмат</a:t>
                      </a:r>
                      <a:r>
                        <a:rPr sz="900" dirty="0"/>
                        <a:t> </a:t>
                      </a:r>
                      <a:r>
                        <a:rPr sz="900" dirty="0" err="1"/>
                        <a:t>кўрсатган</a:t>
                      </a:r>
                      <a:r>
                        <a:rPr sz="900" dirty="0"/>
                        <a:t> </a:t>
                      </a:r>
                      <a:r>
                        <a:rPr sz="900" dirty="0" err="1"/>
                        <a:t>артист</a:t>
                      </a:r>
                      <a:r>
                        <a:rPr sz="900" dirty="0"/>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83329">
                <a:tc>
                  <a:txBody>
                    <a:bodyPr/>
                    <a:lstStyle/>
                    <a:p>
                      <a:r>
                        <a:rPr sz="900" b="1" dirty="0" err="1"/>
                        <a:t>Онаси</a:t>
                      </a:r>
                      <a:r>
                        <a:rPr sz="900" b="1" dirty="0"/>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sz="900"/>
                        <a:t>Азизова Ширин 1940 йил,</a:t>
                      </a:r>
                    </a:p>
                    <a:p>
                      <a:r>
                        <a:rPr sz="900"/>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a:p>
                  </a:txBody>
                  <a:tcPr>
                    <a:lnL>
                      <a:noFill/>
                    </a:lnL>
                  </a:tcPr>
                </a:tc>
                <a:tc hMerge="1">
                  <a:txBody>
                    <a:bodyPr/>
                    <a:lstStyle/>
                    <a:p>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sz="900" dirty="0"/>
                        <a:t>2006 </a:t>
                      </a:r>
                      <a:r>
                        <a:rPr sz="900" dirty="0" err="1"/>
                        <a:t>йилда</a:t>
                      </a:r>
                      <a:r>
                        <a:rPr sz="900" dirty="0"/>
                        <a:t> </a:t>
                      </a:r>
                      <a:r>
                        <a:rPr sz="900" dirty="0" err="1"/>
                        <a:t>вафот</a:t>
                      </a:r>
                      <a:r>
                        <a:rPr sz="900" dirty="0"/>
                        <a:t> </a:t>
                      </a:r>
                      <a:r>
                        <a:rPr sz="900" dirty="0" err="1"/>
                        <a:t>этган</a:t>
                      </a:r>
                      <a:r>
                        <a:rPr sz="900" dirty="0"/>
                        <a:t>.</a:t>
                      </a:r>
                    </a:p>
                    <a:p>
                      <a:r>
                        <a:rPr sz="900" dirty="0"/>
                        <a:t>(</a:t>
                      </a:r>
                      <a:r>
                        <a:rPr sz="900" dirty="0" err="1"/>
                        <a:t>Хамза</a:t>
                      </a:r>
                      <a:r>
                        <a:rPr sz="900" dirty="0"/>
                        <a:t> </a:t>
                      </a:r>
                      <a:r>
                        <a:rPr sz="900" dirty="0" err="1"/>
                        <a:t>номидаги</a:t>
                      </a:r>
                      <a:r>
                        <a:rPr sz="900" dirty="0"/>
                        <a:t> </a:t>
                      </a:r>
                      <a:r>
                        <a:rPr sz="900" dirty="0" err="1"/>
                        <a:t>театри</a:t>
                      </a:r>
                      <a:r>
                        <a:rPr sz="900" dirty="0"/>
                        <a:t> </a:t>
                      </a:r>
                      <a:r>
                        <a:rPr sz="900" dirty="0" err="1"/>
                        <a:t>актрисаси</a:t>
                      </a:r>
                      <a:r>
                        <a:rPr sz="900" dirty="0"/>
                        <a:t>, </a:t>
                      </a:r>
                      <a:br>
                        <a:rPr sz="900" dirty="0"/>
                      </a:br>
                      <a:r>
                        <a:rPr sz="900" dirty="0" err="1"/>
                        <a:t>Ўзбекистон</a:t>
                      </a:r>
                      <a:r>
                        <a:rPr sz="900" dirty="0"/>
                        <a:t> </a:t>
                      </a:r>
                      <a:r>
                        <a:rPr sz="900" dirty="0" err="1"/>
                        <a:t>халқ</a:t>
                      </a:r>
                      <a:r>
                        <a:rPr sz="900" dirty="0"/>
                        <a:t> </a:t>
                      </a:r>
                      <a:r>
                        <a:rPr sz="900" dirty="0" err="1"/>
                        <a:t>артисти</a:t>
                      </a:r>
                      <a:r>
                        <a:rPr sz="900" dirty="0"/>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54890">
                <a:tc>
                  <a:txBody>
                    <a:bodyPr/>
                    <a:lstStyle/>
                    <a:p>
                      <a:r>
                        <a:rPr sz="900" b="1" dirty="0" err="1"/>
                        <a:t>Турмуш</a:t>
                      </a:r>
                      <a:r>
                        <a:rPr sz="900" b="1" dirty="0"/>
                        <a:t> </a:t>
                      </a:r>
                      <a:r>
                        <a:rPr sz="900" b="1" dirty="0" err="1"/>
                        <a:t>ўртоғи</a:t>
                      </a:r>
                      <a:r>
                        <a:rPr sz="900" b="1" dirty="0"/>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sz="900" dirty="0" err="1"/>
                        <a:t>Зайнидинов</a:t>
                      </a:r>
                      <a:r>
                        <a:rPr sz="900" dirty="0"/>
                        <a:t> </a:t>
                      </a:r>
                      <a:r>
                        <a:rPr sz="900" dirty="0" err="1" smtClean="0"/>
                        <a:t>Фахриддин</a:t>
                      </a:r>
                      <a:r>
                        <a:rPr lang="uz-Cyrl-UZ" sz="900" dirty="0" smtClean="0"/>
                        <a:t/>
                      </a:r>
                      <a:br>
                        <a:rPr lang="uz-Cyrl-UZ" sz="900" dirty="0" smtClean="0"/>
                      </a:br>
                      <a:r>
                        <a:rPr sz="900" dirty="0" smtClean="0"/>
                        <a:t>1962 </a:t>
                      </a:r>
                      <a:r>
                        <a:rPr sz="900" dirty="0" err="1"/>
                        <a:t>йил</a:t>
                      </a:r>
                      <a:r>
                        <a:rPr sz="900" dirty="0"/>
                        <a:t>,</a:t>
                      </a:r>
                    </a:p>
                    <a:p>
                      <a:r>
                        <a:rPr sz="900" dirty="0" err="1"/>
                        <a:t>Тошкент</a:t>
                      </a:r>
                      <a:r>
                        <a:rPr sz="900" dirty="0"/>
                        <a:t> </a:t>
                      </a:r>
                      <a:r>
                        <a:rPr sz="900" dirty="0" err="1"/>
                        <a:t>шаҳри</a:t>
                      </a:r>
                      <a:endParaRPr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a:p>
                  </a:txBody>
                  <a:tcPr>
                    <a:lnL>
                      <a:noFill/>
                    </a:lnL>
                  </a:tcPr>
                </a:tc>
                <a:tc hMerge="1">
                  <a:txBody>
                    <a:bodyPr/>
                    <a:lstStyle/>
                    <a:p>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sz="900" dirty="0"/>
                        <a:t>“</a:t>
                      </a:r>
                      <a:r>
                        <a:rPr sz="900" dirty="0" err="1"/>
                        <a:t>Фемида</a:t>
                      </a:r>
                      <a:r>
                        <a:rPr sz="900" dirty="0"/>
                        <a:t> </a:t>
                      </a:r>
                      <a:r>
                        <a:rPr sz="900" dirty="0" err="1"/>
                        <a:t>Фаввора</a:t>
                      </a:r>
                      <a:r>
                        <a:rPr sz="900" dirty="0"/>
                        <a:t>“ </a:t>
                      </a:r>
                      <a:r>
                        <a:rPr sz="900" dirty="0" err="1"/>
                        <a:t>ҳуқуқ</a:t>
                      </a:r>
                      <a:r>
                        <a:rPr sz="900" dirty="0"/>
                        <a:t> </a:t>
                      </a:r>
                      <a:r>
                        <a:rPr sz="900" dirty="0" err="1"/>
                        <a:t>идораси</a:t>
                      </a:r>
                      <a:r>
                        <a:rPr sz="900" dirty="0"/>
                        <a:t> </a:t>
                      </a:r>
                      <a:r>
                        <a:rPr sz="900" dirty="0" err="1"/>
                        <a:t>ҳимоячиси</a:t>
                      </a:r>
                      <a:endParaRPr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2282">
                <a:tc gridSpan="6">
                  <a:txBody>
                    <a:bodyPr/>
                    <a:lstStyle/>
                    <a:p>
                      <a:pPr algn="ctr"/>
                      <a:r>
                        <a:rPr sz="1000" dirty="0" err="1">
                          <a:solidFill>
                            <a:schemeClr val="bg1"/>
                          </a:solidFill>
                          <a:latin typeface="Bahnschrift SemiBold" panose="020B0502040204020203" pitchFamily="34" charset="0"/>
                        </a:rPr>
                        <a:t>Маълумоти</a:t>
                      </a:r>
                      <a:endParaRPr sz="100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a:p>
                  </a:txBody>
                  <a:tcPr>
                    <a:lnL w="12700" cap="flat" cmpd="sng" algn="ctr">
                      <a:solidFill>
                        <a:schemeClr val="tx1"/>
                      </a:solidFill>
                      <a:prstDash val="solid"/>
                      <a:round/>
                      <a:headEnd type="none" w="med" len="med"/>
                      <a:tailEnd type="none" w="med" len="med"/>
                    </a:lnL>
                  </a:tcPr>
                </a:tc>
                <a:tc hMerge="1">
                  <a:txBody>
                    <a:bodyPr/>
                    <a:lstStyle/>
                    <a:p>
                      <a:endParaRPr/>
                    </a:p>
                  </a:txBody>
                  <a:tcPr/>
                </a:tc>
                <a:tc hMerge="1">
                  <a:txBody>
                    <a:bodyPr/>
                    <a:lstStyle/>
                    <a:p>
                      <a:endParaRPr lang="ru-RU"/>
                    </a:p>
                  </a:txBody>
                  <a:tcPr/>
                </a:tc>
                <a:tc hMerge="1">
                  <a:txBody>
                    <a:bodyPr/>
                    <a:lstStyle/>
                    <a:p>
                      <a:endParaRPr/>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454890">
                <a:tc gridSpan="3">
                  <a:txBody>
                    <a:bodyPr/>
                    <a:lstStyle/>
                    <a:p>
                      <a:r>
                        <a:rPr sz="900" b="1" dirty="0" err="1"/>
                        <a:t>Тамомлаган</a:t>
                      </a:r>
                      <a:r>
                        <a:rPr sz="900" b="1" dirty="0"/>
                        <a:t> ОТМ:</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r>
                        <a:t>1998 йил, Қорақолпоқ Давлат университети</a:t>
                      </a: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sz="900" dirty="0" smtClean="0"/>
                        <a:t>199</a:t>
                      </a:r>
                      <a:r>
                        <a:rPr lang="ru-RU" sz="900" dirty="0" smtClean="0"/>
                        <a:t>1 й.</a:t>
                      </a:r>
                      <a:r>
                        <a:rPr sz="900" dirty="0" smtClean="0"/>
                        <a:t> </a:t>
                      </a:r>
                      <a:r>
                        <a:rPr sz="900" dirty="0" err="1"/>
                        <a:t>Тошкент</a:t>
                      </a:r>
                      <a:r>
                        <a:rPr sz="900" dirty="0"/>
                        <a:t> </a:t>
                      </a:r>
                      <a:r>
                        <a:rPr sz="900" dirty="0" err="1"/>
                        <a:t>давлат</a:t>
                      </a:r>
                      <a:r>
                        <a:rPr sz="900" dirty="0"/>
                        <a:t> </a:t>
                      </a:r>
                      <a:r>
                        <a:rPr sz="900" dirty="0" err="1"/>
                        <a:t>Маннон</a:t>
                      </a:r>
                      <a:r>
                        <a:rPr sz="900" dirty="0"/>
                        <a:t> </a:t>
                      </a:r>
                      <a:r>
                        <a:rPr sz="900" dirty="0" err="1"/>
                        <a:t>Уйғур</a:t>
                      </a:r>
                      <a:r>
                        <a:rPr sz="900" dirty="0"/>
                        <a:t> </a:t>
                      </a:r>
                      <a:r>
                        <a:rPr sz="900" dirty="0" err="1"/>
                        <a:t>номидаги</a:t>
                      </a:r>
                      <a:r>
                        <a:rPr sz="900" dirty="0"/>
                        <a:t> </a:t>
                      </a:r>
                      <a:r>
                        <a:rPr sz="900" dirty="0" err="1"/>
                        <a:t>театр</a:t>
                      </a:r>
                      <a:r>
                        <a:rPr sz="900" dirty="0"/>
                        <a:t> </a:t>
                      </a:r>
                      <a:r>
                        <a:rPr sz="900" dirty="0" err="1"/>
                        <a:t>ва</a:t>
                      </a:r>
                      <a:r>
                        <a:rPr sz="900" dirty="0"/>
                        <a:t> </a:t>
                      </a:r>
                      <a:r>
                        <a:rPr sz="900" dirty="0" err="1"/>
                        <a:t>рассомлик</a:t>
                      </a:r>
                      <a:r>
                        <a:rPr sz="900" dirty="0"/>
                        <a:t> </a:t>
                      </a:r>
                      <a:r>
                        <a:rPr sz="900" dirty="0" err="1"/>
                        <a:t>институти</a:t>
                      </a:r>
                      <a:r>
                        <a:rPr sz="900" dirty="0"/>
                        <a:t> (</a:t>
                      </a:r>
                      <a:r>
                        <a:rPr sz="900" dirty="0" err="1"/>
                        <a:t>кундузги</a:t>
                      </a:r>
                      <a:r>
                        <a:rPr sz="900" dirty="0"/>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198011">
                <a:tc gridSpan="3">
                  <a:txBody>
                    <a:bodyPr/>
                    <a:lstStyle/>
                    <a:p>
                      <a:r>
                        <a:rPr sz="900" b="1" dirty="0" err="1"/>
                        <a:t>Мутахассислиги</a:t>
                      </a:r>
                      <a:r>
                        <a:rPr sz="900" b="1" dirty="0"/>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r>
                        <a:t>Юрист</a:t>
                      </a: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sz="900"/>
                        <a:t>драма театри ва кино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26451">
                <a:tc gridSpan="3">
                  <a:txBody>
                    <a:bodyPr/>
                    <a:lstStyle/>
                    <a:p>
                      <a:r>
                        <a:rPr sz="900" b="1" dirty="0" err="1"/>
                        <a:t>Илмий</a:t>
                      </a:r>
                      <a:r>
                        <a:rPr sz="900" b="1" dirty="0"/>
                        <a:t> </a:t>
                      </a:r>
                      <a:r>
                        <a:rPr sz="900" b="1" dirty="0" err="1"/>
                        <a:t>даража</a:t>
                      </a:r>
                      <a:r>
                        <a:rPr sz="900" b="1" dirty="0"/>
                        <a:t> (</a:t>
                      </a:r>
                      <a:r>
                        <a:rPr sz="900" b="1" dirty="0" err="1"/>
                        <a:t>унвон</a:t>
                      </a:r>
                      <a:r>
                        <a:rPr sz="900" b="1" dirty="0"/>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a:p>
                  </a:txBody>
                  <a:tcPr>
                    <a:lnT w="12700" cap="flat" cmpd="sng" algn="ctr">
                      <a:solidFill>
                        <a:schemeClr val="tx1"/>
                      </a:solidFill>
                      <a:prstDash val="solid"/>
                      <a:round/>
                      <a:headEnd type="none" w="med" len="med"/>
                      <a:tailEnd type="none" w="med" len="med"/>
                    </a:lnT>
                  </a:tcPr>
                </a:tc>
                <a:tc hMerge="1">
                  <a:txBody>
                    <a:bodyPr/>
                    <a:lstStyle/>
                    <a:p>
                      <a:r>
                        <a:t>ЙЎҚ</a:t>
                      </a: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sz="900" dirty="0" err="1"/>
                        <a:t>Йўқ</a:t>
                      </a:r>
                      <a:endParaRPr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26451">
                <a:tc gridSpan="3">
                  <a:txBody>
                    <a:bodyPr/>
                    <a:lstStyle/>
                    <a:p>
                      <a:r>
                        <a:rPr sz="900" b="1" dirty="0" err="1"/>
                        <a:t>Чет</a:t>
                      </a:r>
                      <a:r>
                        <a:rPr sz="900" b="1" dirty="0"/>
                        <a:t> </a:t>
                      </a:r>
                      <a:r>
                        <a:rPr sz="900" b="1" dirty="0" err="1"/>
                        <a:t>тилларни</a:t>
                      </a:r>
                      <a:r>
                        <a:rPr sz="900" b="1" dirty="0"/>
                        <a:t> </a:t>
                      </a:r>
                      <a:r>
                        <a:rPr sz="900" b="1" dirty="0" err="1"/>
                        <a:t>билиши</a:t>
                      </a:r>
                      <a:r>
                        <a:rPr sz="900" b="1" dirty="0"/>
                        <a:t>: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a:p>
                  </a:txBody>
                  <a:tcPr/>
                </a:tc>
                <a:tc hMerge="1">
                  <a:txBody>
                    <a:bodyPr/>
                    <a:lstStyle/>
                    <a:p>
                      <a:r>
                        <a:t>Рус тили</a:t>
                      </a: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sz="900" dirty="0" err="1"/>
                        <a:t>Рус</a:t>
                      </a:r>
                      <a:r>
                        <a:rPr sz="900" dirty="0"/>
                        <a:t> </a:t>
                      </a:r>
                      <a:r>
                        <a:rPr sz="900" dirty="0" err="1"/>
                        <a:t>тили</a:t>
                      </a:r>
                      <a:endParaRPr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26451">
                <a:tc gridSpan="3">
                  <a:txBody>
                    <a:bodyPr/>
                    <a:lstStyle/>
                    <a:p>
                      <a:r>
                        <a:rPr sz="900" b="1" dirty="0" err="1"/>
                        <a:t>Малака</a:t>
                      </a:r>
                      <a:r>
                        <a:rPr sz="900" b="1" dirty="0"/>
                        <a:t> </a:t>
                      </a:r>
                      <a:r>
                        <a:rPr sz="900" b="1" dirty="0" err="1"/>
                        <a:t>оширганлиги</a:t>
                      </a:r>
                      <a:r>
                        <a:rPr sz="900" b="1" dirty="0"/>
                        <a:t> (</a:t>
                      </a:r>
                      <a:r>
                        <a:rPr sz="900" b="1" dirty="0" err="1"/>
                        <a:t>сўнгги</a:t>
                      </a:r>
                      <a:r>
                        <a:rPr sz="900" b="1" dirty="0"/>
                        <a:t> 2 </a:t>
                      </a:r>
                      <a:r>
                        <a:rPr sz="900" b="1" dirty="0" err="1"/>
                        <a:t>йилда</a:t>
                      </a:r>
                      <a:r>
                        <a:rPr sz="900" b="1" dirty="0"/>
                        <a:t>):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a:p>
                  </a:txBody>
                  <a:tcPr/>
                </a:tc>
                <a:tc hMerge="1">
                  <a:txBody>
                    <a:bodyPr/>
                    <a:lstStyle/>
                    <a:p>
                      <a:r>
                        <a:t>ЙЎҚ</a:t>
                      </a: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sz="900" dirty="0" err="1"/>
                        <a:t>Йўқ</a:t>
                      </a:r>
                      <a:endParaRPr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517938337"/>
              </p:ext>
            </p:extLst>
          </p:nvPr>
        </p:nvGraphicFramePr>
        <p:xfrm>
          <a:off x="3623727" y="862297"/>
          <a:ext cx="3081873" cy="5949768"/>
        </p:xfrm>
        <a:graphic>
          <a:graphicData uri="http://schemas.openxmlformats.org/drawingml/2006/table">
            <a:tbl>
              <a:tblPr firstRow="1" bandRow="1">
                <a:tableStyleId>{C083E6E3-FA7D-4D7B-A595-EF9225AFEA82}</a:tableStyleId>
              </a:tblPr>
              <a:tblGrid>
                <a:gridCol w="1454314">
                  <a:extLst>
                    <a:ext uri="{9D8B030D-6E8A-4147-A177-3AD203B41FA5}">
                      <a16:colId xmlns:a16="http://schemas.microsoft.com/office/drawing/2014/main" val="2715609854"/>
                    </a:ext>
                  </a:extLst>
                </a:gridCol>
                <a:gridCol w="1627559">
                  <a:extLst>
                    <a:ext uri="{9D8B030D-6E8A-4147-A177-3AD203B41FA5}">
                      <a16:colId xmlns:a16="http://schemas.microsoft.com/office/drawing/2014/main" val="546443978"/>
                    </a:ext>
                  </a:extLst>
                </a:gridCol>
              </a:tblGrid>
              <a:tr h="326995">
                <a:tc gridSpan="2">
                  <a:txBody>
                    <a:bodyPr/>
                    <a:lstStyle/>
                    <a:p>
                      <a:pPr algn="ctr"/>
                      <a:r>
                        <a:rPr sz="1200" dirty="0">
                          <a:solidFill>
                            <a:schemeClr val="bg1"/>
                          </a:solidFill>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792052">
                <a:tc>
                  <a:txBody>
                    <a:bodyPr/>
                    <a:lstStyle/>
                    <a:p>
                      <a:r>
                        <a:rPr sz="900" b="1" dirty="0" err="1"/>
                        <a:t>Эгаллаб</a:t>
                      </a:r>
                      <a:r>
                        <a:rPr sz="900" b="1" dirty="0"/>
                        <a:t> </a:t>
                      </a:r>
                      <a:r>
                        <a:rPr sz="900" b="1" dirty="0" err="1"/>
                        <a:t>турган</a:t>
                      </a:r>
                      <a:r>
                        <a:rPr sz="900" b="1" dirty="0"/>
                        <a:t> </a:t>
                      </a:r>
                      <a:r>
                        <a:rPr sz="900" b="1" dirty="0" err="1"/>
                        <a:t>лавозими</a:t>
                      </a:r>
                      <a:r>
                        <a:rPr sz="900" b="1" dirty="0"/>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sz="900" dirty="0"/>
                        <a:t>1991 </a:t>
                      </a:r>
                      <a:r>
                        <a:rPr sz="900" dirty="0" err="1"/>
                        <a:t>йилдан</a:t>
                      </a:r>
                      <a:r>
                        <a:rPr sz="900" dirty="0"/>
                        <a:t> </a:t>
                      </a:r>
                      <a:r>
                        <a:rPr sz="900" dirty="0" err="1"/>
                        <a:t>Ўзбекистон</a:t>
                      </a:r>
                      <a:r>
                        <a:rPr sz="900" dirty="0"/>
                        <a:t> </a:t>
                      </a:r>
                      <a:r>
                        <a:rPr sz="900" dirty="0" err="1"/>
                        <a:t>давлат</a:t>
                      </a:r>
                      <a:r>
                        <a:rPr sz="900" dirty="0"/>
                        <a:t> </a:t>
                      </a:r>
                      <a:r>
                        <a:rPr sz="900" dirty="0" err="1"/>
                        <a:t>ёшлар</a:t>
                      </a:r>
                      <a:r>
                        <a:rPr sz="900" dirty="0"/>
                        <a:t> </a:t>
                      </a:r>
                      <a:r>
                        <a:rPr sz="900" dirty="0" err="1"/>
                        <a:t>театрининг</a:t>
                      </a:r>
                      <a:r>
                        <a:rPr sz="900" dirty="0"/>
                        <a:t> </a:t>
                      </a:r>
                      <a:r>
                        <a:rPr sz="900" dirty="0" err="1"/>
                        <a:t>актёри</a:t>
                      </a:r>
                      <a:endParaRPr sz="900" dirty="0"/>
                    </a:p>
                    <a:p>
                      <a:endParaRPr sz="900" dirty="0"/>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617656">
                <a:tc>
                  <a:txBody>
                    <a:bodyPr/>
                    <a:lstStyle/>
                    <a:p>
                      <a:r>
                        <a:rPr sz="900" b="1" dirty="0" err="1"/>
                        <a:t>Мартаба</a:t>
                      </a:r>
                      <a:r>
                        <a:rPr sz="900" b="1" dirty="0"/>
                        <a:t> </a:t>
                      </a:r>
                      <a:r>
                        <a:rPr sz="900" b="1" dirty="0" err="1"/>
                        <a:t>даражаси</a:t>
                      </a:r>
                      <a:r>
                        <a:rPr sz="900" b="1" dirty="0"/>
                        <a:t>: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sz="900" dirty="0" err="1"/>
                        <a:t>Ўзбекистон</a:t>
                      </a:r>
                      <a:r>
                        <a:rPr sz="900" dirty="0"/>
                        <a:t> </a:t>
                      </a:r>
                      <a:r>
                        <a:rPr sz="900" dirty="0" err="1"/>
                        <a:t>давлат</a:t>
                      </a:r>
                      <a:r>
                        <a:rPr sz="900" dirty="0"/>
                        <a:t> </a:t>
                      </a:r>
                      <a:r>
                        <a:rPr sz="900" dirty="0" err="1"/>
                        <a:t>ёшлар</a:t>
                      </a:r>
                      <a:r>
                        <a:rPr sz="900" dirty="0"/>
                        <a:t> </a:t>
                      </a:r>
                      <a:r>
                        <a:rPr sz="900" dirty="0" err="1"/>
                        <a:t>театрининг</a:t>
                      </a:r>
                      <a:r>
                        <a:rPr sz="900" dirty="0"/>
                        <a:t> </a:t>
                      </a:r>
                      <a:r>
                        <a:rPr sz="900" dirty="0" err="1"/>
                        <a:t>саҳна</a:t>
                      </a:r>
                      <a:r>
                        <a:rPr sz="900" dirty="0"/>
                        <a:t> </a:t>
                      </a:r>
                      <a:r>
                        <a:rPr sz="900" dirty="0" err="1"/>
                        <a:t>устаси</a:t>
                      </a:r>
                      <a:r>
                        <a:rPr sz="900" dirty="0"/>
                        <a:t> </a:t>
                      </a:r>
                      <a:r>
                        <a:rPr sz="900" dirty="0" err="1"/>
                        <a:t>актёри</a:t>
                      </a:r>
                      <a:endParaRPr sz="900" dirty="0"/>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74397">
                <a:tc>
                  <a:txBody>
                    <a:bodyPr/>
                    <a:lstStyle/>
                    <a:p>
                      <a:r>
                        <a:rPr sz="900" b="1"/>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sz="900"/>
                        <a:t>35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74397">
                <a:tc>
                  <a:txBody>
                    <a:bodyPr/>
                    <a:lstStyle/>
                    <a:p>
                      <a:r>
                        <a:rPr sz="900" b="1" dirty="0" err="1"/>
                        <a:t>Раҳбарлик</a:t>
                      </a:r>
                      <a:r>
                        <a:rPr sz="900" b="1" dirty="0"/>
                        <a:t> </a:t>
                      </a:r>
                      <a:r>
                        <a:rPr sz="900" b="1" dirty="0" err="1"/>
                        <a:t>стажи</a:t>
                      </a:r>
                      <a:r>
                        <a:rPr sz="900" b="1" dirty="0"/>
                        <a:t>:</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sz="900"/>
                        <a:t>30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697586">
                <a:tc>
                  <a:txBody>
                    <a:bodyPr/>
                    <a:lstStyle/>
                    <a:p>
                      <a:r>
                        <a:rPr sz="900" b="1" dirty="0" err="1"/>
                        <a:t>Фаолият</a:t>
                      </a:r>
                      <a:r>
                        <a:rPr sz="900" b="1" dirty="0"/>
                        <a:t> </a:t>
                      </a:r>
                      <a:r>
                        <a:rPr sz="900" b="1" dirty="0" err="1"/>
                        <a:t>юритган</a:t>
                      </a:r>
                      <a:r>
                        <a:rPr sz="900" b="1" dirty="0"/>
                        <a:t> </a:t>
                      </a:r>
                      <a:r>
                        <a:rPr sz="900" b="1" dirty="0" err="1"/>
                        <a:t>раҳбарлик</a:t>
                      </a:r>
                      <a:r>
                        <a:rPr sz="900" b="1" dirty="0"/>
                        <a:t> </a:t>
                      </a:r>
                      <a:r>
                        <a:rPr sz="900" b="1" dirty="0" err="1"/>
                        <a:t>лавозимлари</a:t>
                      </a:r>
                      <a:r>
                        <a:rPr sz="900" b="1" dirty="0"/>
                        <a:t>: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sz="900" dirty="0" smtClean="0"/>
                        <a:t>2009 </a:t>
                      </a:r>
                      <a:r>
                        <a:rPr sz="900" dirty="0"/>
                        <a:t>й. -  </a:t>
                      </a:r>
                      <a:r>
                        <a:rPr sz="900" dirty="0" err="1"/>
                        <a:t>ҳ.в</a:t>
                      </a:r>
                      <a:r>
                        <a:rPr sz="900" dirty="0"/>
                        <a:t>.  - </a:t>
                      </a:r>
                      <a:r>
                        <a:rPr sz="900" dirty="0" err="1"/>
                        <a:t>Ўзбекистон</a:t>
                      </a:r>
                      <a:r>
                        <a:rPr sz="900" dirty="0"/>
                        <a:t> </a:t>
                      </a:r>
                      <a:r>
                        <a:rPr sz="900" dirty="0" err="1"/>
                        <a:t>давлат</a:t>
                      </a:r>
                      <a:r>
                        <a:rPr sz="900" dirty="0"/>
                        <a:t> </a:t>
                      </a:r>
                      <a:r>
                        <a:rPr sz="900" dirty="0" err="1"/>
                        <a:t>Ёшлар</a:t>
                      </a:r>
                      <a:r>
                        <a:rPr sz="900" dirty="0"/>
                        <a:t> </a:t>
                      </a:r>
                      <a:r>
                        <a:rPr sz="900" dirty="0" err="1"/>
                        <a:t>театри</a:t>
                      </a:r>
                      <a:r>
                        <a:rPr sz="900" dirty="0"/>
                        <a:t> </a:t>
                      </a:r>
                      <a:r>
                        <a:rPr sz="900" dirty="0" err="1"/>
                        <a:t>етакчи</a:t>
                      </a:r>
                      <a:r>
                        <a:rPr sz="900" dirty="0"/>
                        <a:t> </a:t>
                      </a:r>
                      <a:r>
                        <a:rPr sz="900" dirty="0" err="1"/>
                        <a:t>саҳна</a:t>
                      </a:r>
                      <a:r>
                        <a:rPr sz="900" dirty="0"/>
                        <a:t> </a:t>
                      </a:r>
                      <a:r>
                        <a:rPr sz="900" dirty="0" err="1"/>
                        <a:t>устаси</a:t>
                      </a:r>
                      <a:endParaRPr sz="900" dirty="0"/>
                    </a:p>
                    <a:p>
                      <a:endParaRPr sz="900" dirty="0"/>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48793">
                <a:tc>
                  <a:txBody>
                    <a:bodyPr/>
                    <a:lstStyle/>
                    <a:p>
                      <a:r>
                        <a:rPr sz="900" b="1" dirty="0" err="1"/>
                        <a:t>Соғлиги</a:t>
                      </a:r>
                      <a:r>
                        <a:rPr sz="900" b="1" dirty="0"/>
                        <a:t>:</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sz="900"/>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48793">
                <a:tc>
                  <a:txBody>
                    <a:bodyPr/>
                    <a:lstStyle/>
                    <a:p>
                      <a:r>
                        <a:rPr sz="900" b="1" dirty="0" err="1"/>
                        <a:t>Қачон</a:t>
                      </a:r>
                      <a:r>
                        <a:rPr sz="900" b="1" dirty="0"/>
                        <a:t> </a:t>
                      </a:r>
                      <a:r>
                        <a:rPr sz="900" b="1" dirty="0" err="1"/>
                        <a:t>тиббий</a:t>
                      </a:r>
                      <a:r>
                        <a:rPr sz="900" b="1" dirty="0"/>
                        <a:t> </a:t>
                      </a:r>
                      <a:r>
                        <a:rPr sz="900" b="1" dirty="0" err="1"/>
                        <a:t>муолажа</a:t>
                      </a:r>
                      <a:r>
                        <a:rPr sz="900" b="1" dirty="0"/>
                        <a:t> </a:t>
                      </a:r>
                      <a:r>
                        <a:rPr sz="900" b="1" dirty="0" err="1"/>
                        <a:t>олган</a:t>
                      </a:r>
                      <a:r>
                        <a:rPr sz="900" b="1" dirty="0"/>
                        <a:t>:</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sz="900"/>
                        <a:t>2025й. №2 давлат шифохонаси.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48793">
                <a:tc>
                  <a:txBody>
                    <a:bodyPr/>
                    <a:lstStyle/>
                    <a:p>
                      <a:r>
                        <a:rPr sz="900" b="1" dirty="0" err="1"/>
                        <a:t>Тиббий</a:t>
                      </a:r>
                      <a:r>
                        <a:rPr sz="900" b="1" dirty="0"/>
                        <a:t> </a:t>
                      </a:r>
                      <a:r>
                        <a:rPr sz="900" b="1" dirty="0" err="1"/>
                        <a:t>кўрикдан</a:t>
                      </a:r>
                      <a:r>
                        <a:rPr sz="900" b="1" dirty="0"/>
                        <a:t> </a:t>
                      </a:r>
                      <a:r>
                        <a:rPr sz="900" b="1" dirty="0" err="1"/>
                        <a:t>ўтганлиги</a:t>
                      </a:r>
                      <a:r>
                        <a:rPr sz="900" b="1" dirty="0"/>
                        <a:t> (</a:t>
                      </a:r>
                      <a:r>
                        <a:rPr sz="900" b="1" dirty="0" err="1"/>
                        <a:t>сўнги</a:t>
                      </a:r>
                      <a:r>
                        <a:rPr sz="900" b="1" dirty="0"/>
                        <a:t> 2 </a:t>
                      </a:r>
                      <a:r>
                        <a:rPr sz="900" b="1" dirty="0" err="1"/>
                        <a:t>йилда</a:t>
                      </a:r>
                      <a:r>
                        <a:rPr sz="900" b="1" dirty="0"/>
                        <a:t>)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sz="900" dirty="0" err="1"/>
                        <a:t>Ха</a:t>
                      </a:r>
                      <a:endParaRPr sz="900" dirty="0"/>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00877">
                <a:tc>
                  <a:txBody>
                    <a:bodyPr/>
                    <a:lstStyle/>
                    <a:p>
                      <a:r>
                        <a:rPr sz="900" b="1" dirty="0" err="1"/>
                        <a:t>Соғлигидаги</a:t>
                      </a:r>
                      <a:r>
                        <a:rPr sz="900" b="1" dirty="0"/>
                        <a:t> </a:t>
                      </a:r>
                      <a:r>
                        <a:rPr sz="900" b="1" dirty="0" err="1"/>
                        <a:t>муаммолар</a:t>
                      </a:r>
                      <a:r>
                        <a:rPr sz="900" b="1" dirty="0"/>
                        <a:t>:</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sz="900" dirty="0" err="1"/>
                        <a:t>Йўқ</a:t>
                      </a:r>
                      <a:r>
                        <a:rPr sz="900" dirty="0"/>
                        <a:t>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334994">
                <a:tc gridSpan="2">
                  <a:txBody>
                    <a:bodyPr/>
                    <a:lstStyle/>
                    <a:p>
                      <a:pPr algn="ctr"/>
                      <a:r>
                        <a:rPr sz="1000" dirty="0" err="1">
                          <a:solidFill>
                            <a:schemeClr val="bg1"/>
                          </a:solidFill>
                          <a:latin typeface="Bahnschrift SemiBold" panose="020B0502040204020203" pitchFamily="34" charset="0"/>
                        </a:rPr>
                        <a:t>Меҳнат</a:t>
                      </a:r>
                      <a:r>
                        <a:rPr sz="1000" dirty="0">
                          <a:solidFill>
                            <a:schemeClr val="bg1"/>
                          </a:solidFill>
                          <a:latin typeface="Bahnschrift SemiBold" panose="020B0502040204020203" pitchFamily="34" charset="0"/>
                        </a:rPr>
                        <a:t> </a:t>
                      </a:r>
                      <a:r>
                        <a:rPr sz="1000" dirty="0" err="1">
                          <a:solidFill>
                            <a:schemeClr val="bg1"/>
                          </a:solidFill>
                          <a:latin typeface="Bahnschrift SemiBold" panose="020B0502040204020203" pitchFamily="34" charset="0"/>
                        </a:rPr>
                        <a:t>фаолиятидаги</a:t>
                      </a:r>
                      <a:r>
                        <a:rPr sz="1000" dirty="0">
                          <a:solidFill>
                            <a:schemeClr val="bg1"/>
                          </a:solidFill>
                          <a:latin typeface="Bahnschrift SemiBold" panose="020B0502040204020203" pitchFamily="34" charset="0"/>
                        </a:rPr>
                        <a:t> </a:t>
                      </a:r>
                      <a:r>
                        <a:rPr sz="1000" dirty="0" err="1">
                          <a:solidFill>
                            <a:schemeClr val="bg1"/>
                          </a:solidFill>
                          <a:latin typeface="Bahnschrift SemiBold" panose="020B0502040204020203" pitchFamily="34" charset="0"/>
                        </a:rPr>
                        <a:t>ютуқлар</a:t>
                      </a:r>
                      <a:endParaRPr sz="1000" dirty="0">
                        <a:solidFill>
                          <a:schemeClr val="bg1"/>
                        </a:solidFill>
                        <a:latin typeface="Bahnschrift SemiBold" panose="020B0502040204020203" pitchFamily="34"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584435">
                <a:tc gridSpan="2">
                  <a:txBody>
                    <a:bodyPr/>
                    <a:lstStyle/>
                    <a:p>
                      <a:r>
                        <a:rPr sz="900" dirty="0" smtClean="0"/>
                        <a:t>2001 </a:t>
                      </a:r>
                      <a:r>
                        <a:rPr sz="900" dirty="0"/>
                        <a:t>й. “</a:t>
                      </a:r>
                      <a:r>
                        <a:rPr sz="900" dirty="0" err="1"/>
                        <a:t>Ўзбекистон</a:t>
                      </a:r>
                      <a:r>
                        <a:rPr sz="900" dirty="0"/>
                        <a:t> </a:t>
                      </a:r>
                      <a:r>
                        <a:rPr sz="900" dirty="0" err="1"/>
                        <a:t>Республикасида</a:t>
                      </a:r>
                      <a:r>
                        <a:rPr sz="900" dirty="0"/>
                        <a:t> </a:t>
                      </a:r>
                      <a:r>
                        <a:rPr sz="900" dirty="0" err="1"/>
                        <a:t>хизмат</a:t>
                      </a:r>
                      <a:r>
                        <a:rPr sz="900" dirty="0"/>
                        <a:t> </a:t>
                      </a:r>
                      <a:r>
                        <a:rPr sz="900" dirty="0" err="1"/>
                        <a:t>кўрсатган</a:t>
                      </a:r>
                      <a:r>
                        <a:rPr sz="900" dirty="0"/>
                        <a:t> </a:t>
                      </a:r>
                      <a:r>
                        <a:rPr sz="900" dirty="0" err="1"/>
                        <a:t>артист</a:t>
                      </a:r>
                      <a:r>
                        <a:rPr sz="900" dirty="0"/>
                        <a:t>” </a:t>
                      </a:r>
                      <a:r>
                        <a:rPr sz="900" dirty="0" err="1"/>
                        <a:t>унвони</a:t>
                      </a:r>
                      <a:r>
                        <a:rPr sz="900" dirty="0"/>
                        <a:t> </a:t>
                      </a:r>
                    </a:p>
                    <a:p>
                      <a:r>
                        <a:rPr sz="900" dirty="0" smtClean="0"/>
                        <a:t>2019 </a:t>
                      </a:r>
                      <a:r>
                        <a:rPr sz="900" dirty="0"/>
                        <a:t>й. - “</a:t>
                      </a:r>
                      <a:r>
                        <a:rPr sz="900" dirty="0" err="1"/>
                        <a:t>Дўстлик</a:t>
                      </a:r>
                      <a:r>
                        <a:rPr sz="900" dirty="0"/>
                        <a:t>” </a:t>
                      </a:r>
                      <a:r>
                        <a:rPr sz="900" dirty="0" err="1" smtClean="0"/>
                        <a:t>ордени</a:t>
                      </a:r>
                      <a:endParaRPr sz="900" dirty="0"/>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140685190"/>
              </p:ext>
            </p:extLst>
          </p:nvPr>
        </p:nvGraphicFramePr>
        <p:xfrm>
          <a:off x="6750051" y="857852"/>
          <a:ext cx="3079749" cy="5954214"/>
        </p:xfrm>
        <a:graphic>
          <a:graphicData uri="http://schemas.openxmlformats.org/drawingml/2006/table">
            <a:tbl>
              <a:tblPr firstRow="1" bandRow="1">
                <a:tableStyleId>{C083E6E3-FA7D-4D7B-A595-EF9225AFEA82}</a:tableStyleId>
              </a:tblPr>
              <a:tblGrid>
                <a:gridCol w="3079749">
                  <a:extLst>
                    <a:ext uri="{9D8B030D-6E8A-4147-A177-3AD203B41FA5}">
                      <a16:colId xmlns:a16="http://schemas.microsoft.com/office/drawing/2014/main" val="2715609854"/>
                    </a:ext>
                  </a:extLst>
                </a:gridCol>
              </a:tblGrid>
              <a:tr h="248253">
                <a:tc>
                  <a:txBody>
                    <a:bodyPr/>
                    <a:lstStyle/>
                    <a:p>
                      <a:pPr algn="ctr"/>
                      <a:r>
                        <a:rPr sz="1200" dirty="0">
                          <a:solidFill>
                            <a:schemeClr val="bg1"/>
                          </a:solidFill>
                          <a:latin typeface="Bahnschrift SemiBold" panose="020B0502040204020203" pitchFamily="34" charset="0"/>
                        </a:rPr>
                        <a:t>ФАОЛИЯТИ </a:t>
                      </a:r>
                      <a:endParaRPr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199637">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532452">
                <a:tc>
                  <a:txBody>
                    <a:bodyPr/>
                    <a:lstStyle/>
                    <a:p>
                      <a:pPr algn="just"/>
                      <a:r>
                        <a:rPr lang="ru-RU" sz="900" dirty="0" smtClean="0"/>
                        <a:t>    </a:t>
                      </a:r>
                      <a:r>
                        <a:rPr sz="900" dirty="0" smtClean="0"/>
                        <a:t>1995</a:t>
                      </a:r>
                      <a:r>
                        <a:rPr sz="900" dirty="0"/>
                        <a:t> </a:t>
                      </a:r>
                      <a:r>
                        <a:rPr sz="900" dirty="0" err="1"/>
                        <a:t>йилда</a:t>
                      </a:r>
                      <a:r>
                        <a:rPr sz="900" dirty="0"/>
                        <a:t> </a:t>
                      </a:r>
                      <a:r>
                        <a:rPr sz="900" dirty="0" err="1"/>
                        <a:t>ўтказилган</a:t>
                      </a:r>
                      <a:r>
                        <a:rPr sz="900" dirty="0"/>
                        <a:t> </a:t>
                      </a:r>
                      <a:r>
                        <a:rPr sz="900" dirty="0" err="1"/>
                        <a:t>театр</a:t>
                      </a:r>
                      <a:r>
                        <a:rPr sz="900" dirty="0"/>
                        <a:t> </a:t>
                      </a:r>
                      <a:r>
                        <a:rPr sz="900" dirty="0" err="1"/>
                        <a:t>ичидаги</a:t>
                      </a:r>
                      <a:r>
                        <a:rPr sz="900" dirty="0"/>
                        <a:t> </a:t>
                      </a:r>
                      <a:r>
                        <a:rPr sz="900" dirty="0" err="1"/>
                        <a:t>танлов</a:t>
                      </a:r>
                      <a:r>
                        <a:rPr sz="900" dirty="0"/>
                        <a:t> </a:t>
                      </a:r>
                      <a:r>
                        <a:rPr sz="900" dirty="0" err="1"/>
                        <a:t>натижаларига</a:t>
                      </a:r>
                      <a:r>
                        <a:rPr sz="900" dirty="0"/>
                        <a:t> </a:t>
                      </a:r>
                      <a:r>
                        <a:rPr sz="900" dirty="0" err="1"/>
                        <a:t>кўра</a:t>
                      </a:r>
                      <a:r>
                        <a:rPr sz="900" dirty="0"/>
                        <a:t>, </a:t>
                      </a:r>
                      <a:r>
                        <a:rPr sz="900" dirty="0" err="1"/>
                        <a:t>Голда</a:t>
                      </a:r>
                      <a:r>
                        <a:rPr sz="900" dirty="0"/>
                        <a:t> </a:t>
                      </a:r>
                      <a:r>
                        <a:rPr sz="900" dirty="0" err="1"/>
                        <a:t>роли</a:t>
                      </a:r>
                      <a:r>
                        <a:rPr sz="900" dirty="0"/>
                        <a:t> </a:t>
                      </a:r>
                      <a:r>
                        <a:rPr sz="900" dirty="0" err="1"/>
                        <a:t>учун</a:t>
                      </a:r>
                      <a:r>
                        <a:rPr sz="900" dirty="0"/>
                        <a:t> у “</a:t>
                      </a:r>
                      <a:r>
                        <a:rPr sz="900" dirty="0" err="1"/>
                        <a:t>Энг</a:t>
                      </a:r>
                      <a:r>
                        <a:rPr sz="900" dirty="0"/>
                        <a:t> </a:t>
                      </a:r>
                      <a:r>
                        <a:rPr sz="900" dirty="0" err="1"/>
                        <a:t>яхши</a:t>
                      </a:r>
                      <a:r>
                        <a:rPr sz="900" dirty="0"/>
                        <a:t> </a:t>
                      </a:r>
                      <a:r>
                        <a:rPr sz="900" dirty="0" err="1"/>
                        <a:t>аёл</a:t>
                      </a:r>
                      <a:r>
                        <a:rPr sz="900" dirty="0"/>
                        <a:t> </a:t>
                      </a:r>
                      <a:r>
                        <a:rPr sz="900" dirty="0" err="1"/>
                        <a:t>роли</a:t>
                      </a:r>
                      <a:r>
                        <a:rPr sz="900" dirty="0"/>
                        <a:t>” </a:t>
                      </a:r>
                      <a:r>
                        <a:rPr sz="900" dirty="0" err="1"/>
                        <a:t>номинацияси</a:t>
                      </a:r>
                      <a:r>
                        <a:rPr sz="900" dirty="0"/>
                        <a:t> </a:t>
                      </a:r>
                      <a:r>
                        <a:rPr sz="900" dirty="0" err="1"/>
                        <a:t>мукофотига</a:t>
                      </a:r>
                      <a:r>
                        <a:rPr sz="900" dirty="0"/>
                        <a:t> </a:t>
                      </a:r>
                      <a:r>
                        <a:rPr sz="900" dirty="0" err="1"/>
                        <a:t>сазовор</a:t>
                      </a:r>
                      <a:r>
                        <a:rPr sz="900" dirty="0"/>
                        <a:t> </a:t>
                      </a:r>
                      <a:r>
                        <a:rPr sz="900" dirty="0" err="1"/>
                        <a:t>бўлди</a:t>
                      </a:r>
                      <a:r>
                        <a:rPr sz="900" dirty="0"/>
                        <a:t>. У </a:t>
                      </a:r>
                      <a:r>
                        <a:rPr sz="900" dirty="0" err="1"/>
                        <a:t>театрдаги</a:t>
                      </a:r>
                      <a:r>
                        <a:rPr sz="900" dirty="0"/>
                        <a:t> </a:t>
                      </a:r>
                      <a:r>
                        <a:rPr sz="900" dirty="0" err="1"/>
                        <a:t>асосий</a:t>
                      </a:r>
                      <a:r>
                        <a:rPr sz="900" dirty="0"/>
                        <a:t> </a:t>
                      </a:r>
                      <a:r>
                        <a:rPr sz="900" dirty="0" err="1"/>
                        <a:t>ишини</a:t>
                      </a:r>
                      <a:r>
                        <a:rPr sz="900" dirty="0"/>
                        <a:t> </a:t>
                      </a:r>
                      <a:r>
                        <a:rPr sz="900" dirty="0" err="1"/>
                        <a:t>фильмларда</a:t>
                      </a:r>
                      <a:r>
                        <a:rPr sz="900" dirty="0"/>
                        <a:t> </a:t>
                      </a:r>
                      <a:r>
                        <a:rPr sz="900" dirty="0" err="1"/>
                        <a:t>ва</a:t>
                      </a:r>
                      <a:r>
                        <a:rPr sz="900" dirty="0"/>
                        <a:t> </a:t>
                      </a:r>
                      <a:r>
                        <a:rPr sz="900" dirty="0" err="1"/>
                        <a:t>телевиденияда</a:t>
                      </a:r>
                      <a:r>
                        <a:rPr sz="900" dirty="0"/>
                        <a:t> </a:t>
                      </a:r>
                      <a:r>
                        <a:rPr sz="900" dirty="0" err="1"/>
                        <a:t>суратга</a:t>
                      </a:r>
                      <a:r>
                        <a:rPr sz="900" dirty="0"/>
                        <a:t> </a:t>
                      </a:r>
                      <a:r>
                        <a:rPr sz="900" dirty="0" err="1"/>
                        <a:t>тушиш</a:t>
                      </a:r>
                      <a:r>
                        <a:rPr sz="900" dirty="0"/>
                        <a:t> </a:t>
                      </a:r>
                      <a:r>
                        <a:rPr sz="900" dirty="0" err="1"/>
                        <a:t>билан</a:t>
                      </a:r>
                      <a:r>
                        <a:rPr sz="900" dirty="0"/>
                        <a:t> </a:t>
                      </a:r>
                      <a:r>
                        <a:rPr sz="900" dirty="0" err="1"/>
                        <a:t>бирга</a:t>
                      </a:r>
                      <a:r>
                        <a:rPr sz="900" dirty="0"/>
                        <a:t> </a:t>
                      </a:r>
                      <a:r>
                        <a:rPr sz="900" dirty="0" err="1"/>
                        <a:t>олиб</a:t>
                      </a:r>
                      <a:r>
                        <a:rPr sz="900" dirty="0"/>
                        <a:t> </a:t>
                      </a:r>
                      <a:r>
                        <a:rPr sz="900" dirty="0" err="1" smtClean="0"/>
                        <a:t>боради</a:t>
                      </a:r>
                      <a:r>
                        <a:rPr sz="900" dirty="0" smtClean="0"/>
                        <a:t>.</a:t>
                      </a:r>
                      <a:r>
                        <a:rPr lang="uz-Cyrl-UZ" sz="900" dirty="0" smtClean="0"/>
                        <a:t> </a:t>
                      </a:r>
                      <a:r>
                        <a:rPr sz="900" dirty="0" smtClean="0"/>
                        <a:t>1993</a:t>
                      </a:r>
                      <a:r>
                        <a:rPr sz="900" dirty="0"/>
                        <a:t> </a:t>
                      </a:r>
                      <a:r>
                        <a:rPr sz="900" dirty="0" err="1"/>
                        <a:t>йилда</a:t>
                      </a:r>
                      <a:r>
                        <a:rPr sz="900" dirty="0"/>
                        <a:t> </a:t>
                      </a:r>
                      <a:r>
                        <a:rPr sz="900" dirty="0" err="1"/>
                        <a:t>Қоҳирадаги</a:t>
                      </a:r>
                      <a:r>
                        <a:rPr sz="900" dirty="0"/>
                        <a:t> </a:t>
                      </a:r>
                      <a:r>
                        <a:rPr sz="900" dirty="0" err="1"/>
                        <a:t>экспериментал</a:t>
                      </a:r>
                      <a:r>
                        <a:rPr sz="900" dirty="0"/>
                        <a:t> </a:t>
                      </a:r>
                      <a:r>
                        <a:rPr sz="900" dirty="0" err="1"/>
                        <a:t>театрлар</a:t>
                      </a:r>
                      <a:r>
                        <a:rPr sz="900" dirty="0"/>
                        <a:t> </a:t>
                      </a:r>
                      <a:r>
                        <a:rPr sz="900" dirty="0" err="1" smtClean="0"/>
                        <a:t>фестивалида</a:t>
                      </a:r>
                      <a:r>
                        <a:rPr sz="900" dirty="0"/>
                        <a:t>, 1994 </a:t>
                      </a:r>
                      <a:r>
                        <a:rPr sz="900" dirty="0" err="1"/>
                        <a:t>йилда</a:t>
                      </a:r>
                      <a:r>
                        <a:rPr sz="900" dirty="0"/>
                        <a:t> </a:t>
                      </a:r>
                      <a:r>
                        <a:rPr sz="900" dirty="0" err="1"/>
                        <a:t>Москвада</a:t>
                      </a:r>
                      <a:r>
                        <a:rPr sz="900" dirty="0"/>
                        <a:t> </a:t>
                      </a:r>
                      <a:r>
                        <a:rPr sz="900" dirty="0" err="1"/>
                        <a:t>ўтказилган</a:t>
                      </a:r>
                      <a:r>
                        <a:rPr sz="900" dirty="0"/>
                        <a:t> “</a:t>
                      </a:r>
                      <a:r>
                        <a:rPr sz="900" dirty="0" err="1"/>
                        <a:t>Чеховни</a:t>
                      </a:r>
                      <a:r>
                        <a:rPr sz="900" dirty="0"/>
                        <a:t> </a:t>
                      </a:r>
                      <a:r>
                        <a:rPr sz="900" dirty="0" err="1"/>
                        <a:t>ўйнаймиз</a:t>
                      </a:r>
                      <a:r>
                        <a:rPr sz="900" dirty="0"/>
                        <a:t>” </a:t>
                      </a:r>
                      <a:r>
                        <a:rPr sz="900" dirty="0" err="1"/>
                        <a:t>фестивалида</a:t>
                      </a:r>
                      <a:r>
                        <a:rPr sz="900" dirty="0"/>
                        <a:t>, 1993 </a:t>
                      </a:r>
                      <a:r>
                        <a:rPr sz="900" dirty="0" err="1"/>
                        <a:t>йилда</a:t>
                      </a:r>
                      <a:r>
                        <a:rPr sz="900" dirty="0"/>
                        <a:t> </a:t>
                      </a:r>
                      <a:r>
                        <a:rPr sz="900" dirty="0" err="1"/>
                        <a:t>Тошкентда</a:t>
                      </a:r>
                      <a:r>
                        <a:rPr sz="900" dirty="0"/>
                        <a:t> “</a:t>
                      </a:r>
                      <a:r>
                        <a:rPr sz="900" dirty="0" err="1"/>
                        <a:t>Театр</a:t>
                      </a:r>
                      <a:r>
                        <a:rPr sz="900" dirty="0"/>
                        <a:t>: </a:t>
                      </a:r>
                      <a:r>
                        <a:rPr sz="900" dirty="0" err="1"/>
                        <a:t>Шарқ</a:t>
                      </a:r>
                      <a:r>
                        <a:rPr sz="900" dirty="0"/>
                        <a:t> – </a:t>
                      </a:r>
                      <a:r>
                        <a:rPr sz="900" dirty="0" err="1"/>
                        <a:t>Ғарб</a:t>
                      </a:r>
                      <a:r>
                        <a:rPr sz="900" dirty="0"/>
                        <a:t>”, 1998 </a:t>
                      </a:r>
                      <a:r>
                        <a:rPr sz="900" dirty="0" err="1"/>
                        <a:t>йилда</a:t>
                      </a:r>
                      <a:r>
                        <a:rPr sz="900" dirty="0"/>
                        <a:t> </a:t>
                      </a:r>
                      <a:r>
                        <a:rPr sz="900" dirty="0" err="1"/>
                        <a:t>Москвада</a:t>
                      </a:r>
                      <a:r>
                        <a:rPr sz="900" dirty="0"/>
                        <a:t> </a:t>
                      </a:r>
                      <a:r>
                        <a:rPr sz="900" dirty="0" err="1"/>
                        <a:t>бўлиб</a:t>
                      </a:r>
                      <a:r>
                        <a:rPr sz="900" dirty="0"/>
                        <a:t> </a:t>
                      </a:r>
                      <a:r>
                        <a:rPr sz="900" dirty="0" err="1"/>
                        <a:t>ўтган</a:t>
                      </a:r>
                      <a:r>
                        <a:rPr sz="900" dirty="0"/>
                        <a:t> </a:t>
                      </a:r>
                      <a:r>
                        <a:rPr sz="900" dirty="0" err="1"/>
                        <a:t>учинчи</a:t>
                      </a:r>
                      <a:r>
                        <a:rPr sz="900" dirty="0"/>
                        <a:t> А.П. </a:t>
                      </a:r>
                      <a:r>
                        <a:rPr sz="900" dirty="0" err="1"/>
                        <a:t>Чехов</a:t>
                      </a:r>
                      <a:r>
                        <a:rPr sz="900" dirty="0"/>
                        <a:t> </a:t>
                      </a:r>
                      <a:r>
                        <a:rPr sz="900" dirty="0" err="1"/>
                        <a:t>фестивалида</a:t>
                      </a:r>
                      <a:r>
                        <a:rPr sz="900" dirty="0"/>
                        <a:t>, </a:t>
                      </a:r>
                      <a:r>
                        <a:rPr sz="900" dirty="0" smtClean="0"/>
                        <a:t>2000</a:t>
                      </a:r>
                      <a:r>
                        <a:rPr sz="900" dirty="0"/>
                        <a:t> </a:t>
                      </a:r>
                      <a:r>
                        <a:rPr sz="900" dirty="0" err="1"/>
                        <a:t>йилда</a:t>
                      </a:r>
                      <a:r>
                        <a:rPr sz="900" dirty="0"/>
                        <a:t> </a:t>
                      </a:r>
                      <a:r>
                        <a:rPr sz="900" dirty="0" err="1"/>
                        <a:t>Россия</a:t>
                      </a:r>
                      <a:r>
                        <a:rPr sz="900" dirty="0"/>
                        <a:t> </a:t>
                      </a:r>
                      <a:r>
                        <a:rPr sz="900" dirty="0" err="1"/>
                        <a:t>Федерацияси</a:t>
                      </a:r>
                      <a:r>
                        <a:rPr sz="900" dirty="0"/>
                        <a:t> </a:t>
                      </a:r>
                      <a:r>
                        <a:rPr sz="900" dirty="0" err="1"/>
                        <a:t>кўча</a:t>
                      </a:r>
                      <a:r>
                        <a:rPr sz="900" dirty="0"/>
                        <a:t> </a:t>
                      </a:r>
                      <a:r>
                        <a:rPr sz="900" dirty="0" err="1"/>
                        <a:t>театрлари</a:t>
                      </a:r>
                      <a:r>
                        <a:rPr sz="900" dirty="0"/>
                        <a:t> </a:t>
                      </a:r>
                      <a:r>
                        <a:rPr sz="900" dirty="0" err="1"/>
                        <a:t>фестивалида</a:t>
                      </a:r>
                      <a:r>
                        <a:rPr sz="900" dirty="0"/>
                        <a:t>, </a:t>
                      </a:r>
                      <a:r>
                        <a:rPr sz="900" dirty="0" err="1"/>
                        <a:t>шунингдек</a:t>
                      </a:r>
                      <a:r>
                        <a:rPr sz="900" dirty="0"/>
                        <a:t>, </a:t>
                      </a:r>
                      <a:r>
                        <a:rPr sz="900" dirty="0" err="1"/>
                        <a:t>Республика</a:t>
                      </a:r>
                      <a:r>
                        <a:rPr sz="900" dirty="0"/>
                        <a:t> </a:t>
                      </a:r>
                      <a:r>
                        <a:rPr sz="900" dirty="0" err="1"/>
                        <a:t>ва</a:t>
                      </a:r>
                      <a:r>
                        <a:rPr sz="900" dirty="0"/>
                        <a:t> </a:t>
                      </a:r>
                      <a:r>
                        <a:rPr sz="900" dirty="0" err="1"/>
                        <a:t>вилоят</a:t>
                      </a:r>
                      <a:r>
                        <a:rPr sz="900" dirty="0"/>
                        <a:t> </a:t>
                      </a:r>
                      <a:r>
                        <a:rPr sz="900" dirty="0" err="1"/>
                        <a:t>даражасидаги</a:t>
                      </a:r>
                      <a:r>
                        <a:rPr sz="900" dirty="0"/>
                        <a:t> </a:t>
                      </a:r>
                      <a:r>
                        <a:rPr sz="900" dirty="0" err="1"/>
                        <a:t>фестиваллар</a:t>
                      </a:r>
                      <a:r>
                        <a:rPr sz="900" dirty="0"/>
                        <a:t> </a:t>
                      </a:r>
                      <a:r>
                        <a:rPr sz="900" dirty="0" err="1"/>
                        <a:t>ва</a:t>
                      </a:r>
                      <a:r>
                        <a:rPr sz="900" dirty="0"/>
                        <a:t> </a:t>
                      </a:r>
                      <a:r>
                        <a:rPr sz="900" dirty="0" err="1"/>
                        <a:t>ижодий</a:t>
                      </a:r>
                      <a:r>
                        <a:rPr sz="900" dirty="0"/>
                        <a:t> </a:t>
                      </a:r>
                      <a:r>
                        <a:rPr sz="900" dirty="0" err="1"/>
                        <a:t>кўрикларда</a:t>
                      </a:r>
                      <a:r>
                        <a:rPr sz="900" dirty="0"/>
                        <a:t> </a:t>
                      </a:r>
                      <a:r>
                        <a:rPr sz="900" dirty="0" err="1"/>
                        <a:t>қатнашган</a:t>
                      </a:r>
                      <a:r>
                        <a:rPr sz="900" dirty="0"/>
                        <a:t>.</a:t>
                      </a:r>
                    </a:p>
                    <a:p>
                      <a:pPr algn="just"/>
                      <a:r>
                        <a:rPr lang="ru-RU" sz="900" dirty="0" smtClean="0"/>
                        <a:t>    </a:t>
                      </a:r>
                      <a:r>
                        <a:rPr sz="900" dirty="0" smtClean="0"/>
                        <a:t>1993</a:t>
                      </a:r>
                      <a:r>
                        <a:rPr sz="900" dirty="0"/>
                        <a:t> </a:t>
                      </a:r>
                      <a:r>
                        <a:rPr sz="900" dirty="0" err="1"/>
                        <a:t>йилда</a:t>
                      </a:r>
                      <a:r>
                        <a:rPr sz="900" dirty="0"/>
                        <a:t> </a:t>
                      </a:r>
                      <a:r>
                        <a:rPr sz="900" dirty="0" err="1"/>
                        <a:t>ўзбек</a:t>
                      </a:r>
                      <a:r>
                        <a:rPr sz="900" dirty="0"/>
                        <a:t> </a:t>
                      </a:r>
                      <a:r>
                        <a:rPr sz="900" dirty="0" err="1"/>
                        <a:t>ва</a:t>
                      </a:r>
                      <a:r>
                        <a:rPr sz="900" dirty="0"/>
                        <a:t> </a:t>
                      </a:r>
                      <a:r>
                        <a:rPr sz="900" dirty="0" err="1"/>
                        <a:t>жазоирлик</a:t>
                      </a:r>
                      <a:r>
                        <a:rPr sz="900" dirty="0"/>
                        <a:t> </a:t>
                      </a:r>
                      <a:r>
                        <a:rPr sz="900" dirty="0" err="1"/>
                        <a:t>киноижодкорлар</a:t>
                      </a:r>
                      <a:r>
                        <a:rPr sz="900" dirty="0"/>
                        <a:t> </a:t>
                      </a:r>
                      <a:r>
                        <a:rPr sz="900" dirty="0" err="1"/>
                        <a:t>ҳамкорлигида</a:t>
                      </a:r>
                      <a:r>
                        <a:rPr sz="900" dirty="0"/>
                        <a:t> </a:t>
                      </a:r>
                      <a:r>
                        <a:rPr sz="900" dirty="0" err="1"/>
                        <a:t>суратга</a:t>
                      </a:r>
                      <a:r>
                        <a:rPr sz="900" dirty="0"/>
                        <a:t> </a:t>
                      </a:r>
                      <a:r>
                        <a:rPr sz="900" dirty="0" err="1"/>
                        <a:t>олинган</a:t>
                      </a:r>
                      <a:r>
                        <a:rPr sz="900" dirty="0"/>
                        <a:t> “</a:t>
                      </a:r>
                      <a:r>
                        <a:rPr sz="900" dirty="0" err="1"/>
                        <a:t>Сўғдиёна</a:t>
                      </a:r>
                      <a:r>
                        <a:rPr sz="900" dirty="0"/>
                        <a:t> – </a:t>
                      </a:r>
                      <a:r>
                        <a:rPr sz="900" dirty="0" err="1"/>
                        <a:t>худолар</a:t>
                      </a:r>
                      <a:r>
                        <a:rPr sz="900" dirty="0"/>
                        <a:t> </a:t>
                      </a:r>
                      <a:r>
                        <a:rPr sz="900" dirty="0" err="1"/>
                        <a:t>маскани</a:t>
                      </a:r>
                      <a:r>
                        <a:rPr sz="900" dirty="0"/>
                        <a:t>” </a:t>
                      </a:r>
                      <a:r>
                        <a:rPr sz="900" dirty="0" err="1"/>
                        <a:t>филмида</a:t>
                      </a:r>
                      <a:r>
                        <a:rPr sz="900" dirty="0"/>
                        <a:t> </a:t>
                      </a:r>
                      <a:r>
                        <a:rPr sz="900" dirty="0" err="1"/>
                        <a:t>Енисой</a:t>
                      </a:r>
                      <a:r>
                        <a:rPr sz="900" dirty="0"/>
                        <a:t> </a:t>
                      </a:r>
                      <a:r>
                        <a:rPr sz="900" dirty="0" err="1"/>
                        <a:t>ролини</a:t>
                      </a:r>
                      <a:r>
                        <a:rPr sz="900" dirty="0"/>
                        <a:t> </a:t>
                      </a:r>
                      <a:r>
                        <a:rPr sz="900" dirty="0" err="1"/>
                        <a:t>ижро</a:t>
                      </a:r>
                      <a:r>
                        <a:rPr sz="900" dirty="0"/>
                        <a:t> </a:t>
                      </a:r>
                      <a:r>
                        <a:rPr sz="900" dirty="0" err="1"/>
                        <a:t>етган</a:t>
                      </a:r>
                      <a:r>
                        <a:rPr sz="900" dirty="0"/>
                        <a:t>. </a:t>
                      </a:r>
                      <a:r>
                        <a:rPr sz="900" dirty="0" err="1"/>
                        <a:t>Бундан</a:t>
                      </a:r>
                      <a:r>
                        <a:rPr sz="900" dirty="0"/>
                        <a:t> </a:t>
                      </a:r>
                      <a:r>
                        <a:rPr sz="900" dirty="0" err="1"/>
                        <a:t>ташқари</a:t>
                      </a:r>
                      <a:r>
                        <a:rPr sz="900" dirty="0"/>
                        <a:t>, </a:t>
                      </a:r>
                      <a:r>
                        <a:rPr sz="900" dirty="0" err="1"/>
                        <a:t>Фотима</a:t>
                      </a:r>
                      <a:r>
                        <a:rPr sz="900" dirty="0"/>
                        <a:t> </a:t>
                      </a:r>
                      <a:r>
                        <a:rPr sz="900" dirty="0" err="1"/>
                        <a:t>Режаметова</a:t>
                      </a:r>
                      <a:r>
                        <a:rPr sz="900" dirty="0"/>
                        <a:t> </a:t>
                      </a:r>
                      <a:r>
                        <a:rPr sz="900" dirty="0" err="1"/>
                        <a:t>Зулфия</a:t>
                      </a:r>
                      <a:r>
                        <a:rPr sz="900" dirty="0"/>
                        <a:t> </a:t>
                      </a:r>
                      <a:r>
                        <a:rPr sz="900" dirty="0" err="1"/>
                        <a:t>номидаги</a:t>
                      </a:r>
                      <a:r>
                        <a:rPr sz="900" dirty="0"/>
                        <a:t> </a:t>
                      </a:r>
                      <a:r>
                        <a:rPr sz="900" dirty="0" err="1"/>
                        <a:t>ёш</a:t>
                      </a:r>
                      <a:r>
                        <a:rPr sz="900" dirty="0"/>
                        <a:t> </a:t>
                      </a:r>
                      <a:r>
                        <a:rPr sz="900" dirty="0" err="1"/>
                        <a:t>истеъдодлар</a:t>
                      </a:r>
                      <a:r>
                        <a:rPr sz="900" dirty="0"/>
                        <a:t> </a:t>
                      </a:r>
                      <a:r>
                        <a:rPr sz="900" dirty="0" err="1"/>
                        <a:t>Давлат</a:t>
                      </a:r>
                      <a:r>
                        <a:rPr sz="900" dirty="0"/>
                        <a:t> </a:t>
                      </a:r>
                      <a:r>
                        <a:rPr sz="900" dirty="0" err="1"/>
                        <a:t>мукофоти</a:t>
                      </a:r>
                      <a:r>
                        <a:rPr sz="900" dirty="0"/>
                        <a:t> </a:t>
                      </a:r>
                      <a:r>
                        <a:rPr sz="900" dirty="0" err="1"/>
                        <a:t>комиссияси</a:t>
                      </a:r>
                      <a:r>
                        <a:rPr sz="900" dirty="0"/>
                        <a:t> </a:t>
                      </a:r>
                      <a:r>
                        <a:rPr sz="900" dirty="0" err="1"/>
                        <a:t>аъзоси</a:t>
                      </a:r>
                      <a:r>
                        <a:rPr sz="900" dirty="0"/>
                        <a:t>. </a:t>
                      </a:r>
                      <a:r>
                        <a:rPr sz="900" dirty="0" err="1"/>
                        <a:t>Шунингдек</a:t>
                      </a:r>
                      <a:r>
                        <a:rPr sz="900" dirty="0"/>
                        <a:t>, </a:t>
                      </a:r>
                      <a:r>
                        <a:rPr sz="900" dirty="0" err="1"/>
                        <a:t>Фотима</a:t>
                      </a:r>
                      <a:r>
                        <a:rPr sz="900" dirty="0"/>
                        <a:t> </a:t>
                      </a:r>
                      <a:r>
                        <a:rPr sz="900" dirty="0" err="1"/>
                        <a:t>Туганбаевна</a:t>
                      </a:r>
                      <a:r>
                        <a:rPr sz="900" dirty="0"/>
                        <a:t> “</a:t>
                      </a:r>
                      <a:r>
                        <a:rPr sz="900" dirty="0" err="1"/>
                        <a:t>Шарқ</a:t>
                      </a:r>
                      <a:r>
                        <a:rPr sz="900" dirty="0"/>
                        <a:t> </a:t>
                      </a:r>
                      <a:r>
                        <a:rPr sz="900" dirty="0" err="1"/>
                        <a:t>тароналари</a:t>
                      </a:r>
                      <a:r>
                        <a:rPr sz="900" dirty="0"/>
                        <a:t>” (</a:t>
                      </a:r>
                      <a:r>
                        <a:rPr sz="900" dirty="0" err="1"/>
                        <a:t>Самарқанд</a:t>
                      </a:r>
                      <a:r>
                        <a:rPr sz="900" dirty="0"/>
                        <a:t>), “</a:t>
                      </a:r>
                      <a:r>
                        <a:rPr sz="900" dirty="0" err="1"/>
                        <a:t>Наврўз</a:t>
                      </a:r>
                      <a:r>
                        <a:rPr sz="900" dirty="0"/>
                        <a:t> – 2014” (</a:t>
                      </a:r>
                      <a:r>
                        <a:rPr sz="900" dirty="0" err="1"/>
                        <a:t>Нукус</a:t>
                      </a:r>
                      <a:r>
                        <a:rPr sz="900" dirty="0"/>
                        <a:t>) </a:t>
                      </a:r>
                      <a:r>
                        <a:rPr sz="900" dirty="0" err="1"/>
                        <a:t>каби</a:t>
                      </a:r>
                      <a:r>
                        <a:rPr sz="900" dirty="0"/>
                        <a:t> </a:t>
                      </a:r>
                      <a:r>
                        <a:rPr sz="900" dirty="0" err="1"/>
                        <a:t>Республика</a:t>
                      </a:r>
                      <a:r>
                        <a:rPr sz="900" dirty="0"/>
                        <a:t> </a:t>
                      </a:r>
                      <a:r>
                        <a:rPr sz="900" dirty="0" err="1"/>
                        <a:t>байрам</a:t>
                      </a:r>
                      <a:r>
                        <a:rPr sz="900" dirty="0"/>
                        <a:t> </a:t>
                      </a:r>
                      <a:r>
                        <a:rPr sz="900" dirty="0" err="1"/>
                        <a:t>ва</a:t>
                      </a:r>
                      <a:r>
                        <a:rPr sz="900" dirty="0"/>
                        <a:t> </a:t>
                      </a:r>
                      <a:r>
                        <a:rPr sz="900" dirty="0" err="1"/>
                        <a:t>фестивалларини</a:t>
                      </a:r>
                      <a:r>
                        <a:rPr sz="900" dirty="0"/>
                        <a:t> </a:t>
                      </a:r>
                      <a:r>
                        <a:rPr sz="900" dirty="0" err="1"/>
                        <a:t>ўтказишда</a:t>
                      </a:r>
                      <a:r>
                        <a:rPr sz="900" dirty="0"/>
                        <a:t> </a:t>
                      </a:r>
                      <a:r>
                        <a:rPr sz="900" dirty="0" err="1"/>
                        <a:t>фаол</a:t>
                      </a:r>
                      <a:r>
                        <a:rPr sz="900" dirty="0"/>
                        <a:t> </a:t>
                      </a:r>
                      <a:r>
                        <a:rPr sz="900" dirty="0" err="1"/>
                        <a:t>иштирок</a:t>
                      </a:r>
                      <a:r>
                        <a:rPr sz="900" dirty="0"/>
                        <a:t> </a:t>
                      </a:r>
                      <a:r>
                        <a:rPr sz="900" dirty="0" err="1"/>
                        <a:t>этиб</a:t>
                      </a:r>
                      <a:r>
                        <a:rPr sz="900" dirty="0"/>
                        <a:t> </a:t>
                      </a:r>
                      <a:r>
                        <a:rPr sz="900" dirty="0" err="1" smtClean="0"/>
                        <a:t>келмоқда.У</a:t>
                      </a:r>
                      <a:r>
                        <a:rPr sz="900" dirty="0" smtClean="0"/>
                        <a:t> </a:t>
                      </a:r>
                      <a:r>
                        <a:rPr sz="900" dirty="0"/>
                        <a:t>2001 </a:t>
                      </a:r>
                      <a:r>
                        <a:rPr sz="900" dirty="0" err="1"/>
                        <a:t>йилда</a:t>
                      </a:r>
                      <a:r>
                        <a:rPr sz="900" dirty="0"/>
                        <a:t> “</a:t>
                      </a:r>
                      <a:r>
                        <a:rPr sz="900" dirty="0" err="1"/>
                        <a:t>Ўзбекистон</a:t>
                      </a:r>
                      <a:r>
                        <a:rPr sz="900" dirty="0"/>
                        <a:t> </a:t>
                      </a:r>
                      <a:r>
                        <a:rPr sz="900" dirty="0" err="1"/>
                        <a:t>Республикасида</a:t>
                      </a:r>
                      <a:r>
                        <a:rPr sz="900" dirty="0"/>
                        <a:t> </a:t>
                      </a:r>
                      <a:r>
                        <a:rPr sz="900" dirty="0" err="1"/>
                        <a:t>хизмат</a:t>
                      </a:r>
                      <a:r>
                        <a:rPr sz="900" dirty="0"/>
                        <a:t> </a:t>
                      </a:r>
                      <a:r>
                        <a:rPr sz="900" dirty="0" err="1"/>
                        <a:t>кўрсатган</a:t>
                      </a:r>
                      <a:r>
                        <a:rPr sz="900" dirty="0"/>
                        <a:t> </a:t>
                      </a:r>
                      <a:r>
                        <a:rPr sz="900" dirty="0" err="1"/>
                        <a:t>артист</a:t>
                      </a:r>
                      <a:r>
                        <a:rPr sz="900" dirty="0"/>
                        <a:t>” </a:t>
                      </a:r>
                      <a:r>
                        <a:rPr sz="900" dirty="0" err="1"/>
                        <a:t>унвони</a:t>
                      </a:r>
                      <a:r>
                        <a:rPr sz="900" dirty="0"/>
                        <a:t>, 2019 </a:t>
                      </a:r>
                      <a:r>
                        <a:rPr sz="900" dirty="0" err="1"/>
                        <a:t>йилда</a:t>
                      </a:r>
                      <a:r>
                        <a:rPr sz="900" dirty="0"/>
                        <a:t> “</a:t>
                      </a:r>
                      <a:r>
                        <a:rPr sz="900" dirty="0" err="1"/>
                        <a:t>Дўстлик</a:t>
                      </a:r>
                      <a:r>
                        <a:rPr sz="900" dirty="0"/>
                        <a:t>” </a:t>
                      </a:r>
                      <a:r>
                        <a:rPr sz="900" dirty="0" err="1"/>
                        <a:t>ордени</a:t>
                      </a:r>
                      <a:r>
                        <a:rPr sz="900" dirty="0"/>
                        <a:t> </a:t>
                      </a:r>
                      <a:r>
                        <a:rPr sz="900" dirty="0" err="1"/>
                        <a:t>билан</a:t>
                      </a:r>
                      <a:r>
                        <a:rPr sz="900" dirty="0"/>
                        <a:t> </a:t>
                      </a:r>
                      <a:r>
                        <a:rPr sz="900" dirty="0" err="1"/>
                        <a:t>тақдирланган</a:t>
                      </a:r>
                      <a:r>
                        <a:rPr sz="900" dirty="0"/>
                        <a:t>. </a:t>
                      </a:r>
                      <a:r>
                        <a:rPr sz="900" dirty="0" err="1"/>
                        <a:t>Фотима</a:t>
                      </a:r>
                      <a:r>
                        <a:rPr sz="900" dirty="0"/>
                        <a:t> </a:t>
                      </a:r>
                      <a:r>
                        <a:rPr sz="900" dirty="0" err="1"/>
                        <a:t>Режаметова</a:t>
                      </a:r>
                      <a:r>
                        <a:rPr sz="900" dirty="0"/>
                        <a:t> “</a:t>
                      </a:r>
                      <a:r>
                        <a:rPr sz="900" dirty="0" err="1"/>
                        <a:t>Кўчанинг</a:t>
                      </a:r>
                      <a:r>
                        <a:rPr sz="900" dirty="0"/>
                        <a:t> </a:t>
                      </a:r>
                      <a:r>
                        <a:rPr sz="900" dirty="0" err="1"/>
                        <a:t>қуёшли</a:t>
                      </a:r>
                      <a:r>
                        <a:rPr sz="900" dirty="0"/>
                        <a:t> </a:t>
                      </a:r>
                      <a:r>
                        <a:rPr sz="900" dirty="0" err="1"/>
                        <a:t>томонида</a:t>
                      </a:r>
                      <a:r>
                        <a:rPr sz="900" dirty="0"/>
                        <a:t>” </a:t>
                      </a:r>
                      <a:r>
                        <a:rPr sz="900" dirty="0" err="1"/>
                        <a:t>рус</a:t>
                      </a:r>
                      <a:r>
                        <a:rPr sz="900" dirty="0"/>
                        <a:t> </a:t>
                      </a:r>
                      <a:r>
                        <a:rPr sz="900" dirty="0" err="1"/>
                        <a:t>сериалида</a:t>
                      </a:r>
                      <a:r>
                        <a:rPr sz="900" dirty="0"/>
                        <a:t> </a:t>
                      </a:r>
                      <a:r>
                        <a:rPr sz="900" dirty="0" err="1"/>
                        <a:t>иштирок</a:t>
                      </a:r>
                      <a:r>
                        <a:rPr sz="900" dirty="0"/>
                        <a:t> </a:t>
                      </a:r>
                      <a:r>
                        <a:rPr sz="900" dirty="0" err="1"/>
                        <a:t>этган</a:t>
                      </a:r>
                      <a:r>
                        <a:rPr sz="900" dirty="0"/>
                        <a:t>.</a:t>
                      </a:r>
                    </a:p>
                    <a:p>
                      <a:pPr algn="just"/>
                      <a:r>
                        <a:rPr lang="ru-RU" sz="900" dirty="0" smtClean="0"/>
                        <a:t>    </a:t>
                      </a:r>
                      <a:r>
                        <a:rPr sz="900" dirty="0" smtClean="0"/>
                        <a:t>2022–2023</a:t>
                      </a:r>
                      <a:r>
                        <a:rPr sz="900" dirty="0"/>
                        <a:t> </a:t>
                      </a:r>
                      <a:r>
                        <a:rPr sz="900" dirty="0" err="1"/>
                        <a:t>йилларда</a:t>
                      </a:r>
                      <a:r>
                        <a:rPr sz="900" dirty="0"/>
                        <a:t> </a:t>
                      </a:r>
                      <a:r>
                        <a:rPr sz="900" dirty="0" err="1"/>
                        <a:t>Республика</a:t>
                      </a:r>
                      <a:r>
                        <a:rPr sz="900" dirty="0"/>
                        <a:t> </a:t>
                      </a:r>
                      <a:r>
                        <a:rPr sz="900" dirty="0" err="1"/>
                        <a:t>бўйлаб</a:t>
                      </a:r>
                      <a:r>
                        <a:rPr sz="900" dirty="0"/>
                        <a:t> “</a:t>
                      </a:r>
                      <a:r>
                        <a:rPr sz="900" dirty="0" err="1"/>
                        <a:t>Янги</a:t>
                      </a:r>
                      <a:r>
                        <a:rPr sz="900" dirty="0"/>
                        <a:t> </a:t>
                      </a:r>
                      <a:r>
                        <a:rPr sz="900" dirty="0" err="1"/>
                        <a:t>Ўзбекистон-инсон</a:t>
                      </a:r>
                      <a:r>
                        <a:rPr sz="900" dirty="0"/>
                        <a:t> </a:t>
                      </a:r>
                      <a:r>
                        <a:rPr sz="900" dirty="0" err="1"/>
                        <a:t>қадри</a:t>
                      </a:r>
                      <a:r>
                        <a:rPr sz="900" dirty="0"/>
                        <a:t> </a:t>
                      </a:r>
                      <a:r>
                        <a:rPr sz="900" dirty="0" err="1"/>
                        <a:t>улуғланган</a:t>
                      </a:r>
                      <a:r>
                        <a:rPr sz="900" dirty="0"/>
                        <a:t> </a:t>
                      </a:r>
                      <a:r>
                        <a:rPr sz="900" dirty="0" err="1"/>
                        <a:t>юрт</a:t>
                      </a:r>
                      <a:r>
                        <a:rPr sz="900" dirty="0"/>
                        <a:t>” </a:t>
                      </a:r>
                      <a:r>
                        <a:rPr sz="900" dirty="0" err="1"/>
                        <a:t>шиори</a:t>
                      </a:r>
                      <a:r>
                        <a:rPr sz="900" dirty="0"/>
                        <a:t> </a:t>
                      </a:r>
                      <a:r>
                        <a:rPr sz="900" dirty="0" err="1"/>
                        <a:t>остида</a:t>
                      </a:r>
                      <a:r>
                        <a:rPr sz="900" dirty="0"/>
                        <a:t> </a:t>
                      </a:r>
                      <a:r>
                        <a:rPr sz="900" dirty="0" err="1"/>
                        <a:t>ўтказилган</a:t>
                      </a:r>
                      <a:r>
                        <a:rPr sz="900" dirty="0"/>
                        <a:t> “</a:t>
                      </a:r>
                      <a:r>
                        <a:rPr sz="900" dirty="0" err="1"/>
                        <a:t>Маданият</a:t>
                      </a:r>
                      <a:r>
                        <a:rPr sz="900" dirty="0"/>
                        <a:t> </a:t>
                      </a:r>
                      <a:r>
                        <a:rPr sz="900" dirty="0" err="1"/>
                        <a:t>карвони</a:t>
                      </a:r>
                      <a:r>
                        <a:rPr sz="900" dirty="0"/>
                        <a:t>” </a:t>
                      </a:r>
                      <a:r>
                        <a:rPr sz="900" dirty="0" err="1"/>
                        <a:t>маданий-маърифий</a:t>
                      </a:r>
                      <a:r>
                        <a:rPr sz="900" dirty="0"/>
                        <a:t> </a:t>
                      </a:r>
                      <a:r>
                        <a:rPr sz="900" dirty="0" err="1"/>
                        <a:t>тадбирлар</a:t>
                      </a:r>
                      <a:r>
                        <a:rPr sz="900" dirty="0"/>
                        <a:t>. </a:t>
                      </a:r>
                    </a:p>
                    <a:p>
                      <a:pPr algn="just"/>
                      <a:r>
                        <a:rPr lang="ru-RU" sz="900" dirty="0" smtClean="0"/>
                        <a:t>    </a:t>
                      </a:r>
                      <a:r>
                        <a:rPr sz="900" dirty="0" smtClean="0"/>
                        <a:t>2023</a:t>
                      </a:r>
                      <a:r>
                        <a:rPr sz="900" dirty="0"/>
                        <a:t> </a:t>
                      </a:r>
                      <a:r>
                        <a:rPr sz="900" dirty="0" err="1"/>
                        <a:t>йилда</a:t>
                      </a:r>
                      <a:r>
                        <a:rPr sz="900" dirty="0"/>
                        <a:t> “</a:t>
                      </a:r>
                      <a:r>
                        <a:rPr sz="900" dirty="0" err="1"/>
                        <a:t>Янги</a:t>
                      </a:r>
                      <a:r>
                        <a:rPr sz="900" dirty="0"/>
                        <a:t> </a:t>
                      </a:r>
                      <a:r>
                        <a:rPr sz="900" dirty="0" err="1"/>
                        <a:t>Ўзбекистонда</a:t>
                      </a:r>
                      <a:r>
                        <a:rPr sz="900" dirty="0"/>
                        <a:t> </a:t>
                      </a:r>
                      <a:r>
                        <a:rPr sz="900" dirty="0" err="1"/>
                        <a:t>эркин</a:t>
                      </a:r>
                      <a:r>
                        <a:rPr sz="900" dirty="0"/>
                        <a:t> </a:t>
                      </a:r>
                      <a:r>
                        <a:rPr sz="900" dirty="0" err="1"/>
                        <a:t>ва</a:t>
                      </a:r>
                      <a:r>
                        <a:rPr sz="900" dirty="0"/>
                        <a:t> </a:t>
                      </a:r>
                      <a:r>
                        <a:rPr sz="900" dirty="0" err="1"/>
                        <a:t>фаравон</a:t>
                      </a:r>
                      <a:r>
                        <a:rPr sz="900" dirty="0"/>
                        <a:t> </a:t>
                      </a:r>
                      <a:r>
                        <a:rPr sz="900" dirty="0" err="1"/>
                        <a:t>яшайлик</a:t>
                      </a:r>
                      <a:r>
                        <a:rPr sz="900" dirty="0"/>
                        <a:t>” </a:t>
                      </a:r>
                      <a:r>
                        <a:rPr sz="900" dirty="0" err="1"/>
                        <a:t>шиори</a:t>
                      </a:r>
                      <a:r>
                        <a:rPr sz="900" dirty="0"/>
                        <a:t> </a:t>
                      </a:r>
                      <a:r>
                        <a:rPr sz="900" dirty="0" err="1"/>
                        <a:t>остида</a:t>
                      </a:r>
                      <a:r>
                        <a:rPr sz="900" dirty="0"/>
                        <a:t> </a:t>
                      </a:r>
                      <a:r>
                        <a:rPr sz="900" dirty="0" err="1"/>
                        <a:t>Маънавият</a:t>
                      </a:r>
                      <a:r>
                        <a:rPr sz="900" dirty="0"/>
                        <a:t> </a:t>
                      </a:r>
                      <a:r>
                        <a:rPr sz="900" dirty="0" err="1"/>
                        <a:t>фестивали</a:t>
                      </a:r>
                      <a:r>
                        <a:rPr sz="900" dirty="0"/>
                        <a:t> </a:t>
                      </a:r>
                      <a:r>
                        <a:rPr sz="900" dirty="0" err="1"/>
                        <a:t>ва</a:t>
                      </a:r>
                      <a:r>
                        <a:rPr sz="900" dirty="0"/>
                        <a:t> </a:t>
                      </a:r>
                      <a:r>
                        <a:rPr sz="900" dirty="0" err="1"/>
                        <a:t>маҳаллаларда</a:t>
                      </a:r>
                      <a:r>
                        <a:rPr sz="900" dirty="0"/>
                        <a:t> </a:t>
                      </a:r>
                      <a:r>
                        <a:rPr sz="900" dirty="0" err="1"/>
                        <a:t>ижодий</a:t>
                      </a:r>
                      <a:r>
                        <a:rPr sz="900" dirty="0"/>
                        <a:t> </a:t>
                      </a:r>
                      <a:r>
                        <a:rPr sz="900" dirty="0" err="1"/>
                        <a:t>учрашувлар</a:t>
                      </a:r>
                      <a:r>
                        <a:rPr sz="900" dirty="0"/>
                        <a:t>.</a:t>
                      </a:r>
                    </a:p>
                    <a:p>
                      <a:pPr algn="just"/>
                      <a:r>
                        <a:rPr lang="ru-RU" sz="900" dirty="0" smtClean="0"/>
                        <a:t>    </a:t>
                      </a:r>
                      <a:r>
                        <a:rPr sz="900" dirty="0" smtClean="0"/>
                        <a:t>2024</a:t>
                      </a:r>
                      <a:r>
                        <a:rPr sz="900" dirty="0"/>
                        <a:t> </a:t>
                      </a:r>
                      <a:r>
                        <a:rPr sz="900" dirty="0" err="1"/>
                        <a:t>йилда</a:t>
                      </a:r>
                      <a:r>
                        <a:rPr sz="900" dirty="0"/>
                        <a:t> “</a:t>
                      </a:r>
                      <a:r>
                        <a:rPr sz="900" dirty="0" err="1"/>
                        <a:t>Янги</a:t>
                      </a:r>
                      <a:r>
                        <a:rPr sz="900" dirty="0"/>
                        <a:t> </a:t>
                      </a:r>
                      <a:r>
                        <a:rPr sz="900" dirty="0" err="1"/>
                        <a:t>ҳаёт</a:t>
                      </a:r>
                      <a:r>
                        <a:rPr sz="900" dirty="0"/>
                        <a:t> </a:t>
                      </a:r>
                      <a:r>
                        <a:rPr sz="900" dirty="0" err="1"/>
                        <a:t>учун-Янги</a:t>
                      </a:r>
                      <a:r>
                        <a:rPr sz="900" dirty="0"/>
                        <a:t> </a:t>
                      </a:r>
                      <a:r>
                        <a:rPr sz="900" dirty="0" err="1"/>
                        <a:t>Ўзбекистон</a:t>
                      </a:r>
                      <a:r>
                        <a:rPr sz="900" dirty="0"/>
                        <a:t> </a:t>
                      </a:r>
                      <a:r>
                        <a:rPr sz="900" dirty="0" err="1"/>
                        <a:t>учун</a:t>
                      </a:r>
                      <a:r>
                        <a:rPr sz="900" dirty="0"/>
                        <a:t>” </a:t>
                      </a:r>
                      <a:r>
                        <a:rPr sz="900" dirty="0" err="1"/>
                        <a:t>шиори</a:t>
                      </a:r>
                      <a:r>
                        <a:rPr sz="900" dirty="0"/>
                        <a:t> </a:t>
                      </a:r>
                      <a:r>
                        <a:rPr sz="900" dirty="0" err="1"/>
                        <a:t>остида</a:t>
                      </a:r>
                      <a:r>
                        <a:rPr sz="900" dirty="0"/>
                        <a:t> “</a:t>
                      </a:r>
                      <a:r>
                        <a:rPr sz="900" dirty="0" err="1"/>
                        <a:t>Маҳаллада</a:t>
                      </a:r>
                      <a:r>
                        <a:rPr sz="900" dirty="0"/>
                        <a:t> </a:t>
                      </a:r>
                      <a:r>
                        <a:rPr sz="900" dirty="0" err="1"/>
                        <a:t>дув-дув</a:t>
                      </a:r>
                      <a:r>
                        <a:rPr sz="900" dirty="0"/>
                        <a:t> </a:t>
                      </a:r>
                      <a:r>
                        <a:rPr sz="900" dirty="0" err="1"/>
                        <a:t>гап</a:t>
                      </a:r>
                      <a:r>
                        <a:rPr sz="900" dirty="0"/>
                        <a:t>” </a:t>
                      </a:r>
                      <a:r>
                        <a:rPr sz="900" dirty="0" err="1"/>
                        <a:t>тарғибот</a:t>
                      </a:r>
                      <a:r>
                        <a:rPr sz="900" dirty="0"/>
                        <a:t> </a:t>
                      </a:r>
                      <a:r>
                        <a:rPr sz="900" dirty="0" err="1"/>
                        <a:t>тадбирларида</a:t>
                      </a:r>
                      <a:r>
                        <a:rPr sz="900" dirty="0"/>
                        <a:t> </a:t>
                      </a:r>
                      <a:r>
                        <a:rPr sz="900" dirty="0" err="1"/>
                        <a:t>фаол</a:t>
                      </a:r>
                      <a:r>
                        <a:rPr sz="900" dirty="0"/>
                        <a:t> </a:t>
                      </a:r>
                      <a:r>
                        <a:rPr sz="900" dirty="0" err="1"/>
                        <a:t>иштирок</a:t>
                      </a:r>
                      <a:r>
                        <a:rPr sz="900" dirty="0"/>
                        <a:t> </a:t>
                      </a:r>
                      <a:r>
                        <a:rPr sz="900" dirty="0" err="1"/>
                        <a:t>этиб</a:t>
                      </a:r>
                      <a:r>
                        <a:rPr sz="900" dirty="0"/>
                        <a:t> </a:t>
                      </a:r>
                      <a:r>
                        <a:rPr sz="900" dirty="0" err="1"/>
                        <a:t>келмоқда</a:t>
                      </a:r>
                      <a:r>
                        <a:rPr sz="900" dirty="0"/>
                        <a:t>.</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7112">
                <a:tc>
                  <a:txBody>
                    <a:bodyPr/>
                    <a:lstStyle/>
                    <a:p>
                      <a:pPr algn="ctr"/>
                      <a:r>
                        <a:rPr sz="1000" b="1" dirty="0" err="1">
                          <a:solidFill>
                            <a:srgbClr val="C00000"/>
                          </a:solidFill>
                        </a:rPr>
                        <a:t>Давлат</a:t>
                      </a:r>
                      <a:r>
                        <a:rPr sz="1000" b="1" dirty="0">
                          <a:solidFill>
                            <a:srgbClr val="C00000"/>
                          </a:solidFill>
                        </a:rPr>
                        <a:t> </a:t>
                      </a:r>
                      <a:r>
                        <a:rPr sz="1000" b="1" dirty="0" err="1">
                          <a:solidFill>
                            <a:srgbClr val="C00000"/>
                          </a:solidFill>
                        </a:rPr>
                        <a:t>тадбирларидаги</a:t>
                      </a:r>
                      <a:r>
                        <a:rPr sz="1000" b="1" dirty="0">
                          <a:solidFill>
                            <a:srgbClr val="C00000"/>
                          </a:solidFill>
                        </a:rPr>
                        <a:t> </a:t>
                      </a:r>
                      <a:r>
                        <a:rPr sz="1000" b="1" dirty="0" err="1">
                          <a:solidFill>
                            <a:srgbClr val="C00000"/>
                          </a:solidFill>
                        </a:rPr>
                        <a:t>иштироки</a:t>
                      </a:r>
                      <a:r>
                        <a:rPr sz="1000" b="1" dirty="0">
                          <a:solidFill>
                            <a:srgbClr val="C00000"/>
                          </a:solidFill>
                        </a:rPr>
                        <a:t>:</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65906">
                <a:tc>
                  <a:txBody>
                    <a:bodyPr/>
                    <a:lstStyle/>
                    <a:p>
                      <a:pPr algn="just"/>
                      <a:r>
                        <a:rPr lang="ru-RU" sz="900" dirty="0" smtClean="0"/>
                        <a:t>    </a:t>
                      </a:r>
                      <a:r>
                        <a:rPr sz="900" dirty="0" err="1" smtClean="0"/>
                        <a:t>Республикамизда</a:t>
                      </a:r>
                      <a:r>
                        <a:rPr sz="900" dirty="0" smtClean="0"/>
                        <a:t> </a:t>
                      </a:r>
                      <a:r>
                        <a:rPr sz="900" dirty="0" err="1"/>
                        <a:t>ўткалиб</a:t>
                      </a:r>
                      <a:r>
                        <a:rPr sz="900" dirty="0"/>
                        <a:t> </a:t>
                      </a:r>
                      <a:r>
                        <a:rPr sz="900" dirty="0" err="1"/>
                        <a:t>келинадиган</a:t>
                      </a:r>
                      <a:r>
                        <a:rPr sz="900" dirty="0"/>
                        <a:t> </a:t>
                      </a:r>
                      <a:r>
                        <a:rPr sz="900" dirty="0" err="1"/>
                        <a:t>барча</a:t>
                      </a:r>
                      <a:r>
                        <a:rPr sz="900" dirty="0"/>
                        <a:t> </a:t>
                      </a:r>
                      <a:r>
                        <a:rPr sz="900" dirty="0" err="1"/>
                        <a:t>оммавий</a:t>
                      </a:r>
                      <a:r>
                        <a:rPr sz="900" dirty="0"/>
                        <a:t> </a:t>
                      </a:r>
                      <a:r>
                        <a:rPr sz="900" dirty="0" err="1"/>
                        <a:t>мадаий</a:t>
                      </a:r>
                      <a:r>
                        <a:rPr sz="900" dirty="0"/>
                        <a:t> </a:t>
                      </a:r>
                      <a:r>
                        <a:rPr sz="900" dirty="0" err="1"/>
                        <a:t>тадбирлар</a:t>
                      </a:r>
                      <a:r>
                        <a:rPr sz="900" dirty="0"/>
                        <a:t> </a:t>
                      </a:r>
                      <a:r>
                        <a:rPr sz="900" dirty="0" err="1"/>
                        <a:t>ва</a:t>
                      </a:r>
                      <a:r>
                        <a:rPr sz="900" dirty="0"/>
                        <a:t> </a:t>
                      </a:r>
                      <a:r>
                        <a:rPr sz="900" dirty="0" err="1"/>
                        <a:t>давлат</a:t>
                      </a:r>
                      <a:r>
                        <a:rPr sz="900" dirty="0"/>
                        <a:t> </a:t>
                      </a:r>
                      <a:r>
                        <a:rPr sz="900" dirty="0" err="1"/>
                        <a:t>тадбирлари</a:t>
                      </a:r>
                      <a:r>
                        <a:rPr sz="900" dirty="0"/>
                        <a:t>, </a:t>
                      </a:r>
                      <a:r>
                        <a:rPr sz="900" dirty="0" err="1"/>
                        <a:t>шунингдек</a:t>
                      </a:r>
                      <a:r>
                        <a:rPr sz="900" dirty="0"/>
                        <a:t>, </a:t>
                      </a:r>
                      <a:r>
                        <a:rPr sz="900" dirty="0" err="1"/>
                        <a:t>давлат</a:t>
                      </a:r>
                      <a:r>
                        <a:rPr sz="900" dirty="0"/>
                        <a:t> </a:t>
                      </a:r>
                      <a:r>
                        <a:rPr sz="900" dirty="0" err="1"/>
                        <a:t>қабулларида</a:t>
                      </a:r>
                      <a:r>
                        <a:rPr sz="900" dirty="0"/>
                        <a:t> </a:t>
                      </a:r>
                      <a:r>
                        <a:rPr sz="900" dirty="0" err="1"/>
                        <a:t>доимий</a:t>
                      </a:r>
                      <a:r>
                        <a:rPr sz="900" dirty="0"/>
                        <a:t> </a:t>
                      </a:r>
                      <a:r>
                        <a:rPr sz="900" dirty="0" err="1"/>
                        <a:t>иштирок</a:t>
                      </a:r>
                      <a:r>
                        <a:rPr sz="900" dirty="0"/>
                        <a:t> </a:t>
                      </a:r>
                      <a:r>
                        <a:rPr sz="900" dirty="0" err="1"/>
                        <a:t>этиб</a:t>
                      </a:r>
                      <a:r>
                        <a:rPr sz="900" dirty="0"/>
                        <a:t> </a:t>
                      </a:r>
                      <a:r>
                        <a:rPr sz="900" dirty="0" err="1"/>
                        <a:t>келади</a:t>
                      </a:r>
                      <a:r>
                        <a:rPr sz="900" dirty="0"/>
                        <a:t>.</a:t>
                      </a:r>
                      <a:endParaRPr sz="2000" dirty="0"/>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9" name="Рисунок 8" descr="Режаметова"/>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3400" y="1125593"/>
            <a:ext cx="923549" cy="1131253"/>
          </a:xfrm>
          <a:prstGeom prst="rect">
            <a:avLst/>
          </a:prstGeom>
          <a:noFill/>
          <a:ln>
            <a:noFill/>
          </a:ln>
        </p:spPr>
      </p:pic>
    </p:spTree>
    <p:extLst>
      <p:ext uri="{BB962C8B-B14F-4D97-AF65-F5344CB8AC3E}">
        <p14:creationId xmlns:p14="http://schemas.microsoft.com/office/powerpoint/2010/main" val="3506586630"/>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933180348"/>
              </p:ext>
            </p:extLst>
          </p:nvPr>
        </p:nvGraphicFramePr>
        <p:xfrm>
          <a:off x="144489" y="865702"/>
          <a:ext cx="3427547" cy="5892546"/>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409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0827">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marL="0" algn="l" defTabSz="914400" rtl="0" eaLnBrk="1" latinLnBrk="0" hangingPunct="1">
                        <a:lnSpc>
                          <a:spcPct val="80000"/>
                        </a:lnSpc>
                      </a:pPr>
                      <a:r>
                        <a:rPr lang="uz-Cyrl-UZ" sz="900" b="0" kern="1200" dirty="0" smtClean="0">
                          <a:solidFill>
                            <a:schemeClr val="tx1"/>
                          </a:solidFill>
                          <a:latin typeface="+mn-lt"/>
                          <a:ea typeface="+mn-ea"/>
                          <a:cs typeface="+mn-cs"/>
                        </a:rPr>
                        <a:t>ҲОЖИЕВ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082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marL="0" algn="l" defTabSz="914400" rtl="0" eaLnBrk="1" latinLnBrk="0" hangingPunct="1">
                        <a:lnSpc>
                          <a:spcPct val="80000"/>
                        </a:lnSpc>
                      </a:pPr>
                      <a:r>
                        <a:rPr lang="uz-Cyrl-UZ" sz="900" b="0" kern="1200" dirty="0" smtClean="0">
                          <a:solidFill>
                            <a:schemeClr val="tx1"/>
                          </a:solidFill>
                          <a:latin typeface="+mn-lt"/>
                          <a:ea typeface="+mn-ea"/>
                          <a:cs typeface="+mn-cs"/>
                        </a:rPr>
                        <a:t>Толиб</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082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marL="0" algn="l" defTabSz="914400" rtl="0" eaLnBrk="1" latinLnBrk="0" hangingPunct="1">
                        <a:lnSpc>
                          <a:spcPct val="80000"/>
                        </a:lnSpc>
                      </a:pPr>
                      <a:r>
                        <a:rPr lang="uz-Cyrl-UZ" sz="900" b="0" kern="1200" dirty="0" smtClean="0">
                          <a:solidFill>
                            <a:schemeClr val="tx1"/>
                          </a:solidFill>
                          <a:latin typeface="+mn-lt"/>
                          <a:ea typeface="+mn-ea"/>
                          <a:cs typeface="+mn-cs"/>
                        </a:rPr>
                        <a:t>Тожиевич</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0827">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ЎЗБЕК</a:t>
                      </a:r>
                      <a:r>
                        <a:rPr lang="ru-RU" sz="900" b="0" kern="1200" dirty="0" smtClean="0">
                          <a:solidFill>
                            <a:schemeClr val="tx1"/>
                          </a:solidFill>
                          <a:latin typeface="+mn-lt"/>
                          <a:ea typeface="+mn-ea"/>
                          <a:cs typeface="+mn-cs"/>
                        </a:rPr>
                        <a:t>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20205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900" b="0" kern="1200" dirty="0" smtClean="0">
                          <a:solidFill>
                            <a:schemeClr val="tx1"/>
                          </a:solidFill>
                          <a:latin typeface="+mn-lt"/>
                          <a:ea typeface="+mn-ea"/>
                          <a:cs typeface="+mn-cs"/>
                        </a:rPr>
                        <a:t>2</a:t>
                      </a:r>
                      <a:r>
                        <a:rPr lang="uz-Cyrl-UZ" sz="900" b="0" kern="1200" dirty="0" smtClean="0">
                          <a:solidFill>
                            <a:schemeClr val="tx1"/>
                          </a:solidFill>
                          <a:latin typeface="+mn-lt"/>
                          <a:ea typeface="+mn-ea"/>
                          <a:cs typeface="+mn-cs"/>
                        </a:rPr>
                        <a:t>5</a:t>
                      </a:r>
                      <a:r>
                        <a:rPr lang="ru-RU" sz="900" b="0" kern="1200" dirty="0" smtClean="0">
                          <a:solidFill>
                            <a:schemeClr val="tx1"/>
                          </a:solidFill>
                          <a:latin typeface="+mn-lt"/>
                          <a:ea typeface="+mn-ea"/>
                          <a:cs typeface="+mn-cs"/>
                        </a:rPr>
                        <a:t>.1</a:t>
                      </a:r>
                      <a:r>
                        <a:rPr lang="uz-Cyrl-UZ" sz="900" b="0" kern="1200" dirty="0" smtClean="0">
                          <a:solidFill>
                            <a:schemeClr val="tx1"/>
                          </a:solidFill>
                          <a:latin typeface="+mn-lt"/>
                          <a:ea typeface="+mn-ea"/>
                          <a:cs typeface="+mn-cs"/>
                        </a:rPr>
                        <a:t>2</a:t>
                      </a:r>
                      <a:r>
                        <a:rPr lang="ru-RU" sz="900" b="0" kern="1200" dirty="0" smtClean="0">
                          <a:solidFill>
                            <a:schemeClr val="tx1"/>
                          </a:solidFill>
                          <a:latin typeface="+mn-lt"/>
                          <a:ea typeface="+mn-ea"/>
                          <a:cs typeface="+mn-cs"/>
                        </a:rPr>
                        <a:t>.19</a:t>
                      </a:r>
                      <a:r>
                        <a:rPr lang="uz-Cyrl-UZ" sz="900" b="0" kern="1200" dirty="0" smtClean="0">
                          <a:solidFill>
                            <a:schemeClr val="tx1"/>
                          </a:solidFill>
                          <a:latin typeface="+mn-lt"/>
                          <a:ea typeface="+mn-ea"/>
                          <a:cs typeface="+mn-cs"/>
                        </a:rPr>
                        <a:t>59</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0205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smtClean="0">
                          <a:solidFill>
                            <a:schemeClr val="tx1"/>
                          </a:solidFill>
                          <a:latin typeface="+mn-lt"/>
                          <a:ea typeface="+mn-ea"/>
                          <a:cs typeface="+mn-cs"/>
                        </a:rPr>
                        <a:t>Бухоро вилояти</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638">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01462">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Оилали</a:t>
                      </a:r>
                      <a:r>
                        <a:rPr lang="uz-Cyrl-UZ" sz="900" b="0" kern="1200" noProof="0" dirty="0">
                          <a:solidFill>
                            <a:schemeClr val="tx1"/>
                          </a:solidFill>
                          <a:latin typeface="+mn-lt"/>
                          <a:ea typeface="+mn-ea"/>
                          <a:cs typeface="+mn-cs"/>
                        </a:rPr>
                        <a:t>, </a:t>
                      </a:r>
                      <a:r>
                        <a:rPr lang="uz-Cyrl-UZ" sz="900" b="0" kern="1200" noProof="0" dirty="0" smtClean="0">
                          <a:solidFill>
                            <a:schemeClr val="tx1"/>
                          </a:solidFill>
                          <a:latin typeface="+mn-lt"/>
                          <a:ea typeface="+mn-ea"/>
                          <a:cs typeface="+mn-cs"/>
                        </a:rPr>
                        <a:t>4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фарзанди бор</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638">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0839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en-US" sz="900" b="1" kern="1200" dirty="0" err="1" smtClean="0">
                          <a:solidFill>
                            <a:schemeClr val="tx1"/>
                          </a:solidFill>
                          <a:latin typeface="+mn-lt"/>
                          <a:ea typeface="+mn-ea"/>
                          <a:cs typeface="Arial" panose="020B0604020202020204" pitchFamily="34" charset="0"/>
                        </a:rPr>
                        <a:t>Ҳожиев</a:t>
                      </a:r>
                      <a:r>
                        <a:rPr lang="en-US" sz="900" b="1" kern="1200" dirty="0" smtClean="0">
                          <a:solidFill>
                            <a:schemeClr val="tx1"/>
                          </a:solidFill>
                          <a:latin typeface="+mn-lt"/>
                          <a:ea typeface="+mn-ea"/>
                          <a:cs typeface="Arial" panose="020B0604020202020204" pitchFamily="34" charset="0"/>
                        </a:rPr>
                        <a:t> </a:t>
                      </a:r>
                      <a:r>
                        <a:rPr lang="en-US" sz="900" b="1" kern="1200" dirty="0" err="1" smtClean="0">
                          <a:solidFill>
                            <a:schemeClr val="tx1"/>
                          </a:solidFill>
                          <a:latin typeface="+mn-lt"/>
                          <a:ea typeface="+mn-ea"/>
                          <a:cs typeface="Arial" panose="020B0604020202020204" pitchFamily="34" charset="0"/>
                        </a:rPr>
                        <a:t>Тожи</a:t>
                      </a:r>
                      <a:r>
                        <a:rPr lang="ru-RU" sz="900" b="1" kern="1200" dirty="0" smtClean="0">
                          <a:solidFill>
                            <a:schemeClr val="tx1"/>
                          </a:solidFill>
                          <a:latin typeface="+mn-lt"/>
                          <a:ea typeface="+mn-ea"/>
                          <a:cs typeface="Arial" panose="020B0604020202020204" pitchFamily="34" charset="0"/>
                        </a:rPr>
                        <a:t/>
                      </a:r>
                      <a:br>
                        <a:rPr lang="ru-RU" sz="900" b="1" kern="1200" dirty="0" smtClean="0">
                          <a:solidFill>
                            <a:schemeClr val="tx1"/>
                          </a:solidFill>
                          <a:latin typeface="+mn-lt"/>
                          <a:ea typeface="+mn-ea"/>
                          <a:cs typeface="Arial" panose="020B0604020202020204" pitchFamily="34" charset="0"/>
                        </a:rPr>
                      </a:br>
                      <a:r>
                        <a:rPr lang="ru-RU" sz="900" b="0" kern="1200" dirty="0" smtClean="0">
                          <a:solidFill>
                            <a:schemeClr val="tx1"/>
                          </a:solidFill>
                          <a:latin typeface="+mn-lt"/>
                          <a:ea typeface="+mn-ea"/>
                          <a:cs typeface="Arial" panose="020B0604020202020204" pitchFamily="34" charset="0"/>
                        </a:rPr>
                        <a:t>1932 </a:t>
                      </a:r>
                      <a:r>
                        <a:rPr lang="ru-RU" sz="900" b="0" kern="1200" dirty="0" err="1" smtClean="0">
                          <a:solidFill>
                            <a:schemeClr val="tx1"/>
                          </a:solidFill>
                          <a:latin typeface="+mn-lt"/>
                          <a:ea typeface="+mn-ea"/>
                          <a:cs typeface="Arial" panose="020B0604020202020204" pitchFamily="34" charset="0"/>
                        </a:rPr>
                        <a:t>йил</a:t>
                      </a:r>
                      <a:r>
                        <a:rPr lang="ru-RU" sz="900" b="0" kern="1200" smtClean="0">
                          <a:solidFill>
                            <a:schemeClr val="tx1"/>
                          </a:solidFill>
                          <a:latin typeface="+mn-lt"/>
                          <a:ea typeface="+mn-ea"/>
                          <a:cs typeface="Arial" panose="020B0604020202020204" pitchFamily="34" charset="0"/>
                        </a:rPr>
                        <a:t>, Бухоро</a:t>
                      </a:r>
                      <a:r>
                        <a:rPr lang="ru-RU" sz="900" b="0" kern="1200" dirty="0" smtClean="0">
                          <a:solidFill>
                            <a:schemeClr val="tx1"/>
                          </a:solidFill>
                          <a:latin typeface="+mn-lt"/>
                          <a:ea typeface="+mn-ea"/>
                          <a:cs typeface="Arial" panose="020B0604020202020204" pitchFamily="34" charset="0"/>
                        </a:rPr>
                        <a:t> </a:t>
                      </a:r>
                      <a:r>
                        <a:rPr lang="ru-RU" sz="900" b="0" kern="1200" dirty="0" err="1" smtClean="0">
                          <a:solidFill>
                            <a:schemeClr val="tx1"/>
                          </a:solidFill>
                          <a:latin typeface="+mn-lt"/>
                          <a:ea typeface="+mn-ea"/>
                          <a:cs typeface="Arial" panose="020B0604020202020204" pitchFamily="34" charset="0"/>
                        </a:rPr>
                        <a:t>вилояти</a:t>
                      </a:r>
                      <a:r>
                        <a:rPr lang="ru-RU" sz="900" b="0" kern="1200" dirty="0" smtClean="0">
                          <a:solidFill>
                            <a:schemeClr val="tx1"/>
                          </a:solidFill>
                          <a:latin typeface="+mn-lt"/>
                          <a:ea typeface="+mn-ea"/>
                          <a:cs typeface="Arial" panose="020B0604020202020204" pitchFamily="34" charset="0"/>
                        </a:rPr>
                        <a:t> </a:t>
                      </a:r>
                      <a:r>
                        <a:rPr lang="ru-RU" sz="900" b="0" kern="1200" dirty="0" err="1" smtClean="0">
                          <a:solidFill>
                            <a:schemeClr val="tx1"/>
                          </a:solidFill>
                          <a:latin typeface="+mn-lt"/>
                          <a:ea typeface="+mn-ea"/>
                          <a:cs typeface="Arial" panose="020B0604020202020204" pitchFamily="34" charset="0"/>
                        </a:rPr>
                        <a:t>Шофиркон</a:t>
                      </a:r>
                      <a:r>
                        <a:rPr lang="ru-RU" sz="900" b="0" kern="1200" dirty="0" smtClean="0">
                          <a:solidFill>
                            <a:schemeClr val="tx1"/>
                          </a:solidFill>
                          <a:latin typeface="+mn-lt"/>
                          <a:ea typeface="+mn-ea"/>
                          <a:cs typeface="Arial" panose="020B0604020202020204" pitchFamily="34" charset="0"/>
                        </a:rPr>
                        <a:t> </a:t>
                      </a:r>
                      <a:r>
                        <a:rPr lang="ru-RU" sz="900" b="0" kern="1200" dirty="0" err="1" smtClean="0">
                          <a:solidFill>
                            <a:schemeClr val="tx1"/>
                          </a:solidFill>
                          <a:latin typeface="+mn-lt"/>
                          <a:ea typeface="+mn-ea"/>
                          <a:cs typeface="Arial" panose="020B0604020202020204" pitchFamily="34" charset="0"/>
                        </a:rPr>
                        <a:t>тумани</a:t>
                      </a: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ru-RU" sz="900" b="0" kern="1200" dirty="0" smtClean="0">
                          <a:solidFill>
                            <a:schemeClr val="tx1"/>
                          </a:solidFill>
                          <a:latin typeface="+mn-lt"/>
                          <a:ea typeface="+mn-ea"/>
                          <a:cs typeface="Arial" panose="020B0604020202020204" pitchFamily="34" charset="0"/>
                        </a:rPr>
                        <a:t>2009 </a:t>
                      </a:r>
                      <a:r>
                        <a:rPr lang="ru-RU" sz="900" b="0" kern="1200" dirty="0" err="1" smtClean="0">
                          <a:solidFill>
                            <a:schemeClr val="tx1"/>
                          </a:solidFill>
                          <a:latin typeface="+mn-lt"/>
                          <a:ea typeface="+mn-ea"/>
                          <a:cs typeface="Arial" panose="020B0604020202020204" pitchFamily="34" charset="0"/>
                        </a:rPr>
                        <a:t>йил</a:t>
                      </a:r>
                      <a:r>
                        <a:rPr lang="ru-RU" sz="900" b="0" kern="1200" dirty="0" smtClean="0">
                          <a:solidFill>
                            <a:schemeClr val="tx1"/>
                          </a:solidFill>
                          <a:latin typeface="+mn-lt"/>
                          <a:ea typeface="+mn-ea"/>
                          <a:cs typeface="Arial" panose="020B0604020202020204" pitchFamily="34" charset="0"/>
                        </a:rPr>
                        <a:t> </a:t>
                      </a:r>
                      <a:r>
                        <a:rPr lang="ru-RU" sz="900" b="0" kern="1200" dirty="0" err="1" smtClean="0">
                          <a:solidFill>
                            <a:schemeClr val="tx1"/>
                          </a:solidFill>
                          <a:latin typeface="+mn-lt"/>
                          <a:ea typeface="+mn-ea"/>
                          <a:cs typeface="Arial" panose="020B0604020202020204" pitchFamily="34" charset="0"/>
                        </a:rPr>
                        <a:t>вафот</a:t>
                      </a:r>
                      <a:r>
                        <a:rPr lang="ru-RU" sz="900" b="0" kern="1200" dirty="0" smtClean="0">
                          <a:solidFill>
                            <a:schemeClr val="tx1"/>
                          </a:solidFill>
                          <a:latin typeface="+mn-lt"/>
                          <a:ea typeface="+mn-ea"/>
                          <a:cs typeface="Arial" panose="020B0604020202020204" pitchFamily="34" charset="0"/>
                        </a:rPr>
                        <a:t> </a:t>
                      </a:r>
                      <a:r>
                        <a:rPr lang="ru-RU" sz="900" b="0" kern="1200" dirty="0" err="1" smtClean="0">
                          <a:solidFill>
                            <a:schemeClr val="tx1"/>
                          </a:solidFill>
                          <a:latin typeface="+mn-lt"/>
                          <a:ea typeface="+mn-ea"/>
                          <a:cs typeface="Arial" panose="020B0604020202020204" pitchFamily="34" charset="0"/>
                        </a:rPr>
                        <a:t>этган</a:t>
                      </a:r>
                      <a:endParaRPr lang="ru-RU" sz="900" b="0" kern="1200" dirty="0" smtClean="0">
                        <a:solidFill>
                          <a:schemeClr val="tx1"/>
                        </a:solidFill>
                        <a:latin typeface="+mn-lt"/>
                        <a:ea typeface="+mn-ea"/>
                        <a:cs typeface="Arial" panose="020B0604020202020204" pitchFamily="34" charset="0"/>
                      </a:endParaRPr>
                    </a:p>
                    <a:p>
                      <a:r>
                        <a:rPr lang="ru-RU" sz="900" b="0" kern="1200" dirty="0" smtClean="0">
                          <a:solidFill>
                            <a:schemeClr val="tx1"/>
                          </a:solidFill>
                          <a:latin typeface="+mn-lt"/>
                          <a:ea typeface="+mn-ea"/>
                          <a:cs typeface="Arial" panose="020B0604020202020204" pitchFamily="34" charset="0"/>
                        </a:rPr>
                        <a:t>(</a:t>
                      </a:r>
                      <a:r>
                        <a:rPr lang="ru-RU" sz="900" b="0" kern="1200" dirty="0" err="1" smtClean="0">
                          <a:solidFill>
                            <a:schemeClr val="tx1"/>
                          </a:solidFill>
                          <a:latin typeface="+mn-lt"/>
                          <a:ea typeface="+mn-ea"/>
                          <a:cs typeface="Arial" panose="020B0604020202020204" pitchFamily="34" charset="0"/>
                        </a:rPr>
                        <a:t>Ҳунарманд</a:t>
                      </a:r>
                      <a:r>
                        <a:rPr lang="ru-RU" sz="900" b="0" kern="1200" dirty="0" smtClean="0">
                          <a:solidFill>
                            <a:schemeClr val="tx1"/>
                          </a:solidFill>
                          <a:latin typeface="+mn-lt"/>
                          <a:ea typeface="+mn-ea"/>
                          <a:cs typeface="Arial" panose="020B0604020202020204" pitchFamily="34" charset="0"/>
                        </a:rPr>
                        <a:t>, </a:t>
                      </a:r>
                      <a:r>
                        <a:rPr lang="ru-RU" sz="900" b="0" kern="1200" dirty="0" err="1" smtClean="0">
                          <a:solidFill>
                            <a:schemeClr val="tx1"/>
                          </a:solidFill>
                          <a:latin typeface="+mn-lt"/>
                          <a:ea typeface="+mn-ea"/>
                          <a:cs typeface="Arial" panose="020B0604020202020204" pitchFamily="34" charset="0"/>
                        </a:rPr>
                        <a:t>дурадгор</a:t>
                      </a:r>
                      <a:r>
                        <a:rPr lang="ru-RU" sz="900" b="0" kern="120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636517">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en-US" sz="900" b="1" kern="1200" dirty="0" err="1" smtClean="0">
                          <a:solidFill>
                            <a:schemeClr val="tx1"/>
                          </a:solidFill>
                          <a:latin typeface="+mn-lt"/>
                          <a:ea typeface="+mn-ea"/>
                          <a:cs typeface="Arial" panose="020B0604020202020204" pitchFamily="34" charset="0"/>
                        </a:rPr>
                        <a:t>Ҳожиева</a:t>
                      </a:r>
                      <a:r>
                        <a:rPr lang="en-US" sz="900" b="1" kern="1200" dirty="0" smtClean="0">
                          <a:solidFill>
                            <a:schemeClr val="tx1"/>
                          </a:solidFill>
                          <a:latin typeface="+mn-lt"/>
                          <a:ea typeface="+mn-ea"/>
                          <a:cs typeface="Arial" panose="020B0604020202020204" pitchFamily="34" charset="0"/>
                        </a:rPr>
                        <a:t> (</a:t>
                      </a:r>
                      <a:r>
                        <a:rPr lang="en-US" sz="900" b="1" kern="1200" dirty="0" err="1" smtClean="0">
                          <a:solidFill>
                            <a:schemeClr val="tx1"/>
                          </a:solidFill>
                          <a:latin typeface="+mn-lt"/>
                          <a:ea typeface="+mn-ea"/>
                          <a:cs typeface="Arial" panose="020B0604020202020204" pitchFamily="34" charset="0"/>
                        </a:rPr>
                        <a:t>Ражабова</a:t>
                      </a:r>
                      <a:r>
                        <a:rPr lang="en-US" sz="900" b="1" kern="1200" dirty="0" smtClean="0">
                          <a:solidFill>
                            <a:schemeClr val="tx1"/>
                          </a:solidFill>
                          <a:latin typeface="+mn-lt"/>
                          <a:ea typeface="+mn-ea"/>
                          <a:cs typeface="Arial" panose="020B0604020202020204" pitchFamily="34" charset="0"/>
                        </a:rPr>
                        <a:t>)</a:t>
                      </a:r>
                      <a:endParaRPr lang="ru-RU" sz="900" b="1" kern="1200" dirty="0" smtClean="0">
                        <a:solidFill>
                          <a:schemeClr val="tx1"/>
                        </a:solidFill>
                        <a:latin typeface="+mn-lt"/>
                        <a:ea typeface="+mn-ea"/>
                        <a:cs typeface="Arial" panose="020B0604020202020204" pitchFamily="34" charset="0"/>
                      </a:endParaRPr>
                    </a:p>
                    <a:p>
                      <a:r>
                        <a:rPr lang="en-US" sz="900" b="1" kern="1200" dirty="0" err="1" smtClean="0">
                          <a:solidFill>
                            <a:schemeClr val="tx1"/>
                          </a:solidFill>
                          <a:latin typeface="+mn-lt"/>
                          <a:ea typeface="+mn-ea"/>
                          <a:cs typeface="Arial" panose="020B0604020202020204" pitchFamily="34" charset="0"/>
                        </a:rPr>
                        <a:t>Муборак</a:t>
                      </a:r>
                      <a:r>
                        <a:rPr lang="ru-RU" sz="900" b="1" kern="1200" dirty="0" smtClean="0">
                          <a:solidFill>
                            <a:schemeClr val="tx1"/>
                          </a:solidFill>
                          <a:latin typeface="+mn-lt"/>
                          <a:ea typeface="+mn-ea"/>
                          <a:cs typeface="Arial" panose="020B0604020202020204" pitchFamily="34" charset="0"/>
                        </a:rPr>
                        <a:t/>
                      </a:r>
                      <a:br>
                        <a:rPr lang="ru-RU" sz="900" b="1" kern="1200" dirty="0" smtClean="0">
                          <a:solidFill>
                            <a:schemeClr val="tx1"/>
                          </a:solidFill>
                          <a:latin typeface="+mn-lt"/>
                          <a:ea typeface="+mn-ea"/>
                          <a:cs typeface="Arial" panose="020B0604020202020204" pitchFamily="34" charset="0"/>
                        </a:rPr>
                      </a:br>
                      <a:r>
                        <a:rPr lang="ru-RU" sz="900" b="0" kern="1200" dirty="0" smtClean="0">
                          <a:solidFill>
                            <a:schemeClr val="tx1"/>
                          </a:solidFill>
                          <a:latin typeface="+mn-lt"/>
                          <a:ea typeface="+mn-ea"/>
                          <a:cs typeface="Arial" panose="020B0604020202020204" pitchFamily="34" charset="0"/>
                        </a:rPr>
                        <a:t>1939 </a:t>
                      </a:r>
                      <a:r>
                        <a:rPr lang="ru-RU" sz="900" b="0" kern="1200" dirty="0" err="1" smtClean="0">
                          <a:solidFill>
                            <a:schemeClr val="tx1"/>
                          </a:solidFill>
                          <a:latin typeface="+mn-lt"/>
                          <a:ea typeface="+mn-ea"/>
                          <a:cs typeface="Arial" panose="020B0604020202020204" pitchFamily="34" charset="0"/>
                        </a:rPr>
                        <a:t>йил</a:t>
                      </a:r>
                      <a:r>
                        <a:rPr lang="ru-RU" sz="900" b="0" kern="1200" dirty="0" smtClean="0">
                          <a:solidFill>
                            <a:schemeClr val="tx1"/>
                          </a:solidFill>
                          <a:latin typeface="+mn-lt"/>
                          <a:ea typeface="+mn-ea"/>
                          <a:cs typeface="Arial" panose="020B0604020202020204" pitchFamily="34" charset="0"/>
                        </a:rPr>
                        <a:t>, </a:t>
                      </a:r>
                      <a:r>
                        <a:rPr lang="ru-RU" sz="900" b="0" kern="1200" dirty="0" err="1" smtClean="0">
                          <a:solidFill>
                            <a:schemeClr val="tx1"/>
                          </a:solidFill>
                          <a:latin typeface="+mn-lt"/>
                          <a:ea typeface="+mn-ea"/>
                          <a:cs typeface="Arial" panose="020B0604020202020204" pitchFamily="34" charset="0"/>
                        </a:rPr>
                        <a:t>Бухоро</a:t>
                      </a:r>
                      <a:r>
                        <a:rPr lang="ru-RU" sz="900" b="0" kern="1200" dirty="0" smtClean="0">
                          <a:solidFill>
                            <a:schemeClr val="tx1"/>
                          </a:solidFill>
                          <a:latin typeface="+mn-lt"/>
                          <a:ea typeface="+mn-ea"/>
                          <a:cs typeface="Arial" panose="020B0604020202020204" pitchFamily="34" charset="0"/>
                        </a:rPr>
                        <a:t> </a:t>
                      </a:r>
                      <a:r>
                        <a:rPr lang="ru-RU" sz="900" b="0" kern="1200" dirty="0" err="1" smtClean="0">
                          <a:solidFill>
                            <a:schemeClr val="tx1"/>
                          </a:solidFill>
                          <a:latin typeface="+mn-lt"/>
                          <a:ea typeface="+mn-ea"/>
                          <a:cs typeface="Arial" panose="020B0604020202020204" pitchFamily="34" charset="0"/>
                        </a:rPr>
                        <a:t>вилояти</a:t>
                      </a:r>
                      <a:r>
                        <a:rPr lang="ru-RU" sz="900" b="0" kern="1200" dirty="0" smtClean="0">
                          <a:solidFill>
                            <a:schemeClr val="tx1"/>
                          </a:solidFill>
                          <a:latin typeface="+mn-lt"/>
                          <a:ea typeface="+mn-ea"/>
                          <a:cs typeface="Arial" panose="020B0604020202020204" pitchFamily="34" charset="0"/>
                        </a:rPr>
                        <a:t> </a:t>
                      </a:r>
                      <a:r>
                        <a:rPr lang="ru-RU" sz="900" b="0" kern="1200" dirty="0" err="1" smtClean="0">
                          <a:solidFill>
                            <a:schemeClr val="tx1"/>
                          </a:solidFill>
                          <a:latin typeface="+mn-lt"/>
                          <a:ea typeface="+mn-ea"/>
                          <a:cs typeface="Arial" panose="020B0604020202020204" pitchFamily="34" charset="0"/>
                        </a:rPr>
                        <a:t>Шофиркон</a:t>
                      </a:r>
                      <a:r>
                        <a:rPr lang="ru-RU" sz="900" b="0" kern="1200" dirty="0" smtClean="0">
                          <a:solidFill>
                            <a:schemeClr val="tx1"/>
                          </a:solidFill>
                          <a:latin typeface="+mn-lt"/>
                          <a:ea typeface="+mn-ea"/>
                          <a:cs typeface="Arial" panose="020B0604020202020204" pitchFamily="34" charset="0"/>
                        </a:rPr>
                        <a:t> </a:t>
                      </a:r>
                      <a:r>
                        <a:rPr lang="ru-RU" sz="900" b="0" kern="1200" dirty="0" err="1" smtClean="0">
                          <a:solidFill>
                            <a:schemeClr val="tx1"/>
                          </a:solidFill>
                          <a:latin typeface="+mn-lt"/>
                          <a:ea typeface="+mn-ea"/>
                          <a:cs typeface="Arial" panose="020B0604020202020204" pitchFamily="34" charset="0"/>
                        </a:rPr>
                        <a:t>тумани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ru-RU" sz="900" b="0" kern="1200" dirty="0" smtClean="0">
                          <a:solidFill>
                            <a:schemeClr val="tx1"/>
                          </a:solidFill>
                          <a:latin typeface="+mn-lt"/>
                          <a:ea typeface="+mn-ea"/>
                          <a:cs typeface="Arial" panose="020B0604020202020204" pitchFamily="34" charset="0"/>
                        </a:rPr>
                        <a:t>2011 </a:t>
                      </a:r>
                      <a:r>
                        <a:rPr lang="ru-RU" sz="900" b="0" kern="1200" dirty="0" err="1" smtClean="0">
                          <a:solidFill>
                            <a:schemeClr val="tx1"/>
                          </a:solidFill>
                          <a:latin typeface="+mn-lt"/>
                          <a:ea typeface="+mn-ea"/>
                          <a:cs typeface="Arial" panose="020B0604020202020204" pitchFamily="34" charset="0"/>
                        </a:rPr>
                        <a:t>йил</a:t>
                      </a:r>
                      <a:r>
                        <a:rPr lang="ru-RU" sz="900" b="0" kern="1200" dirty="0" smtClean="0">
                          <a:solidFill>
                            <a:schemeClr val="tx1"/>
                          </a:solidFill>
                          <a:latin typeface="+mn-lt"/>
                          <a:ea typeface="+mn-ea"/>
                          <a:cs typeface="Arial" panose="020B0604020202020204" pitchFamily="34" charset="0"/>
                        </a:rPr>
                        <a:t> </a:t>
                      </a:r>
                      <a:r>
                        <a:rPr lang="ru-RU" sz="900" b="0" kern="1200" dirty="0" err="1" smtClean="0">
                          <a:solidFill>
                            <a:schemeClr val="tx1"/>
                          </a:solidFill>
                          <a:latin typeface="+mn-lt"/>
                          <a:ea typeface="+mn-ea"/>
                          <a:cs typeface="Arial" panose="020B0604020202020204" pitchFamily="34" charset="0"/>
                        </a:rPr>
                        <a:t>вафот</a:t>
                      </a:r>
                      <a:r>
                        <a:rPr lang="ru-RU" sz="900" b="0" kern="1200" dirty="0" smtClean="0">
                          <a:solidFill>
                            <a:schemeClr val="tx1"/>
                          </a:solidFill>
                          <a:latin typeface="+mn-lt"/>
                          <a:ea typeface="+mn-ea"/>
                          <a:cs typeface="Arial" panose="020B0604020202020204" pitchFamily="34" charset="0"/>
                        </a:rPr>
                        <a:t> </a:t>
                      </a:r>
                      <a:r>
                        <a:rPr lang="ru-RU" sz="900" b="0" kern="1200" dirty="0" err="1" smtClean="0">
                          <a:solidFill>
                            <a:schemeClr val="tx1"/>
                          </a:solidFill>
                          <a:latin typeface="+mn-lt"/>
                          <a:ea typeface="+mn-ea"/>
                          <a:cs typeface="Arial" panose="020B0604020202020204" pitchFamily="34" charset="0"/>
                        </a:rPr>
                        <a:t>этган</a:t>
                      </a:r>
                      <a:endParaRPr lang="ru-RU" sz="900" b="0" kern="1200" dirty="0" smtClean="0">
                        <a:solidFill>
                          <a:schemeClr val="tx1"/>
                        </a:solidFill>
                        <a:latin typeface="+mn-lt"/>
                        <a:ea typeface="+mn-ea"/>
                        <a:cs typeface="Arial" panose="020B0604020202020204" pitchFamily="34" charset="0"/>
                      </a:endParaRPr>
                    </a:p>
                    <a:p>
                      <a:r>
                        <a:rPr lang="ru-RU" sz="900" b="0" kern="1200" dirty="0" smtClean="0">
                          <a:solidFill>
                            <a:schemeClr val="tx1"/>
                          </a:solidFill>
                          <a:latin typeface="+mn-lt"/>
                          <a:ea typeface="+mn-ea"/>
                          <a:cs typeface="Arial" panose="020B0604020202020204" pitchFamily="34" charset="0"/>
                        </a:rPr>
                        <a:t>(</a:t>
                      </a:r>
                      <a:r>
                        <a:rPr lang="ru-RU" sz="900" b="0" kern="1200" dirty="0" err="1" smtClean="0">
                          <a:solidFill>
                            <a:schemeClr val="tx1"/>
                          </a:solidFill>
                          <a:latin typeface="+mn-lt"/>
                          <a:ea typeface="+mn-ea"/>
                          <a:cs typeface="Arial" panose="020B0604020202020204" pitchFamily="34" charset="0"/>
                        </a:rPr>
                        <a:t>Уй</a:t>
                      </a:r>
                      <a:r>
                        <a:rPr lang="ru-RU" sz="900" b="0" kern="1200" dirty="0" smtClean="0">
                          <a:solidFill>
                            <a:schemeClr val="tx1"/>
                          </a:solidFill>
                          <a:latin typeface="+mn-lt"/>
                          <a:ea typeface="+mn-ea"/>
                          <a:cs typeface="Arial" panose="020B0604020202020204" pitchFamily="34" charset="0"/>
                        </a:rPr>
                        <a:t> </a:t>
                      </a:r>
                      <a:r>
                        <a:rPr lang="ru-RU" sz="900" b="0" kern="1200" dirty="0" err="1" smtClean="0">
                          <a:solidFill>
                            <a:schemeClr val="tx1"/>
                          </a:solidFill>
                          <a:latin typeface="+mn-lt"/>
                          <a:ea typeface="+mn-ea"/>
                          <a:cs typeface="Arial" panose="020B0604020202020204" pitchFamily="34" charset="0"/>
                        </a:rPr>
                        <a:t>бекаси</a:t>
                      </a:r>
                      <a:r>
                        <a:rPr lang="ru-RU" sz="900" b="0" kern="120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96367">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en-US" sz="900" b="1" kern="1200" dirty="0" err="1" smtClean="0">
                          <a:solidFill>
                            <a:schemeClr val="tx1"/>
                          </a:solidFill>
                          <a:latin typeface="+mn-lt"/>
                          <a:ea typeface="+mn-ea"/>
                          <a:cs typeface="Arial" panose="020B0604020202020204" pitchFamily="34" charset="0"/>
                        </a:rPr>
                        <a:t>Те</a:t>
                      </a:r>
                      <a:r>
                        <a:rPr lang="ru-RU" sz="900" b="1" kern="1200" dirty="0" err="1" smtClean="0">
                          <a:solidFill>
                            <a:schemeClr val="tx1"/>
                          </a:solidFill>
                          <a:latin typeface="+mn-lt"/>
                          <a:ea typeface="+mn-ea"/>
                          <a:cs typeface="Arial" panose="020B0604020202020204" pitchFamily="34" charset="0"/>
                        </a:rPr>
                        <a:t>шабоева</a:t>
                      </a:r>
                      <a:endParaRPr lang="ru-RU" sz="900" b="1" kern="1200" dirty="0" smtClean="0">
                        <a:solidFill>
                          <a:schemeClr val="tx1"/>
                        </a:solidFill>
                        <a:latin typeface="+mn-lt"/>
                        <a:ea typeface="+mn-ea"/>
                        <a:cs typeface="Arial" panose="020B0604020202020204" pitchFamily="34" charset="0"/>
                      </a:endParaRPr>
                    </a:p>
                    <a:p>
                      <a:r>
                        <a:rPr lang="en-US" sz="900" b="1" kern="1200" dirty="0" smtClean="0">
                          <a:solidFill>
                            <a:schemeClr val="tx1"/>
                          </a:solidFill>
                          <a:latin typeface="+mn-lt"/>
                          <a:ea typeface="+mn-ea"/>
                          <a:cs typeface="Arial" panose="020B0604020202020204" pitchFamily="34" charset="0"/>
                        </a:rPr>
                        <a:t>Ш</a:t>
                      </a:r>
                      <a:r>
                        <a:rPr lang="ru-RU" sz="900" b="1" kern="1200" dirty="0" err="1" smtClean="0">
                          <a:solidFill>
                            <a:schemeClr val="tx1"/>
                          </a:solidFill>
                          <a:latin typeface="+mn-lt"/>
                          <a:ea typeface="+mn-ea"/>
                          <a:cs typeface="Arial" panose="020B0604020202020204" pitchFamily="34" charset="0"/>
                        </a:rPr>
                        <a:t>оҳида</a:t>
                      </a:r>
                      <a:r>
                        <a:rPr lang="ru-RU" sz="900" b="1" kern="1200" dirty="0" smtClean="0">
                          <a:solidFill>
                            <a:schemeClr val="tx1"/>
                          </a:solidFill>
                          <a:latin typeface="+mn-lt"/>
                          <a:ea typeface="+mn-ea"/>
                          <a:cs typeface="Arial" panose="020B0604020202020204" pitchFamily="34" charset="0"/>
                        </a:rPr>
                        <a:t> </a:t>
                      </a:r>
                      <a:r>
                        <a:rPr lang="en-US" sz="900" b="1" kern="1200" dirty="0" smtClean="0">
                          <a:solidFill>
                            <a:schemeClr val="tx1"/>
                          </a:solidFill>
                          <a:latin typeface="+mn-lt"/>
                          <a:ea typeface="+mn-ea"/>
                          <a:cs typeface="Arial" panose="020B0604020202020204" pitchFamily="34" charset="0"/>
                        </a:rPr>
                        <a:t>П</a:t>
                      </a:r>
                      <a:r>
                        <a:rPr lang="ru-RU" sz="900" b="1" kern="1200" dirty="0" err="1" smtClean="0">
                          <a:solidFill>
                            <a:schemeClr val="tx1"/>
                          </a:solidFill>
                          <a:latin typeface="+mn-lt"/>
                          <a:ea typeface="+mn-ea"/>
                          <a:cs typeface="Arial" panose="020B0604020202020204" pitchFamily="34" charset="0"/>
                        </a:rPr>
                        <a:t>ўлатовна</a:t>
                      </a:r>
                      <a:r>
                        <a:rPr lang="ru-RU" sz="900" b="1" kern="1200" dirty="0" smtClean="0">
                          <a:solidFill>
                            <a:schemeClr val="tx1"/>
                          </a:solidFill>
                          <a:latin typeface="+mn-lt"/>
                          <a:ea typeface="+mn-ea"/>
                          <a:cs typeface="Arial" panose="020B0604020202020204" pitchFamily="34" charset="0"/>
                        </a:rPr>
                        <a:t/>
                      </a:r>
                      <a:br>
                        <a:rPr lang="ru-RU" sz="900" b="1" kern="1200" dirty="0" smtClean="0">
                          <a:solidFill>
                            <a:schemeClr val="tx1"/>
                          </a:solidFill>
                          <a:latin typeface="+mn-lt"/>
                          <a:ea typeface="+mn-ea"/>
                          <a:cs typeface="Arial" panose="020B0604020202020204" pitchFamily="34" charset="0"/>
                        </a:rPr>
                      </a:br>
                      <a:r>
                        <a:rPr lang="ru-RU" sz="900" b="0" kern="1200" dirty="0" smtClean="0">
                          <a:solidFill>
                            <a:schemeClr val="tx1"/>
                          </a:solidFill>
                          <a:latin typeface="+mn-lt"/>
                          <a:ea typeface="+mn-ea"/>
                          <a:cs typeface="Arial" panose="020B0604020202020204" pitchFamily="34" charset="0"/>
                        </a:rPr>
                        <a:t>1977</a:t>
                      </a:r>
                      <a:r>
                        <a:rPr lang="en-US" sz="900" b="0" kern="1200" dirty="0" smtClean="0">
                          <a:solidFill>
                            <a:schemeClr val="tx1"/>
                          </a:solidFill>
                          <a:latin typeface="+mn-lt"/>
                          <a:ea typeface="+mn-ea"/>
                          <a:cs typeface="Arial" panose="020B0604020202020204" pitchFamily="34" charset="0"/>
                        </a:rPr>
                        <a:t> </a:t>
                      </a:r>
                      <a:r>
                        <a:rPr lang="en-US" sz="900" b="0" kern="1200" dirty="0" err="1" smtClean="0">
                          <a:solidFill>
                            <a:schemeClr val="tx1"/>
                          </a:solidFill>
                          <a:latin typeface="+mn-lt"/>
                          <a:ea typeface="+mn-ea"/>
                          <a:cs typeface="Arial" panose="020B0604020202020204" pitchFamily="34" charset="0"/>
                        </a:rPr>
                        <a:t>йил</a:t>
                      </a:r>
                      <a:r>
                        <a:rPr lang="en-US" sz="900" b="0" kern="1200" dirty="0" smtClean="0">
                          <a:solidFill>
                            <a:schemeClr val="tx1"/>
                          </a:solidFill>
                          <a:latin typeface="+mn-lt"/>
                          <a:ea typeface="+mn-ea"/>
                          <a:cs typeface="Arial" panose="020B0604020202020204" pitchFamily="34" charset="0"/>
                        </a:rPr>
                        <a:t>,</a:t>
                      </a:r>
                      <a:r>
                        <a:rPr lang="ru-RU" sz="900" b="0" kern="1200" dirty="0" smtClean="0">
                          <a:solidFill>
                            <a:schemeClr val="tx1"/>
                          </a:solidFill>
                          <a:latin typeface="+mn-lt"/>
                          <a:ea typeface="+mn-ea"/>
                          <a:cs typeface="Arial" panose="020B0604020202020204" pitchFamily="34" charset="0"/>
                        </a:rPr>
                        <a:t> </a:t>
                      </a:r>
                      <a:r>
                        <a:rPr lang="en-US" sz="900" b="0" kern="1200" dirty="0" smtClean="0">
                          <a:solidFill>
                            <a:schemeClr val="tx1"/>
                          </a:solidFill>
                          <a:latin typeface="+mn-lt"/>
                          <a:ea typeface="+mn-ea"/>
                          <a:cs typeface="Arial" panose="020B0604020202020204" pitchFamily="34" charset="0"/>
                        </a:rPr>
                        <a:t>Т</a:t>
                      </a:r>
                      <a:r>
                        <a:rPr lang="ru-RU" sz="900" b="0" kern="1200" dirty="0" err="1" smtClean="0">
                          <a:solidFill>
                            <a:schemeClr val="tx1"/>
                          </a:solidFill>
                          <a:latin typeface="+mn-lt"/>
                          <a:ea typeface="+mn-ea"/>
                          <a:cs typeface="Arial" panose="020B0604020202020204" pitchFamily="34" charset="0"/>
                        </a:rPr>
                        <a:t>ошкент</a:t>
                      </a:r>
                      <a:r>
                        <a:rPr lang="ru-RU" sz="900" b="0" kern="1200" dirty="0" smtClean="0">
                          <a:solidFill>
                            <a:schemeClr val="tx1"/>
                          </a:solidFill>
                          <a:latin typeface="+mn-lt"/>
                          <a:ea typeface="+mn-ea"/>
                          <a:cs typeface="Arial" panose="020B0604020202020204" pitchFamily="34" charset="0"/>
                        </a:rPr>
                        <a:t> </a:t>
                      </a:r>
                      <a:r>
                        <a:rPr lang="ru-RU" sz="900" b="0" kern="1200" dirty="0" err="1" smtClean="0">
                          <a:solidFill>
                            <a:schemeClr val="tx1"/>
                          </a:solidFill>
                          <a:latin typeface="+mn-lt"/>
                          <a:ea typeface="+mn-ea"/>
                          <a:cs typeface="Arial" panose="020B0604020202020204" pitchFamily="34" charset="0"/>
                        </a:rPr>
                        <a:t>вилояти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dirty="0" err="1" smtClean="0">
                          <a:solidFill>
                            <a:schemeClr val="tx1"/>
                          </a:solidFill>
                          <a:latin typeface="+mn-lt"/>
                          <a:ea typeface="+mn-ea"/>
                          <a:cs typeface="Arial" panose="020B0604020202020204" pitchFamily="34" charset="0"/>
                        </a:rPr>
                        <a:t>Уй</a:t>
                      </a:r>
                      <a:r>
                        <a:rPr lang="ru-RU" sz="900" b="0" kern="1200" dirty="0" smtClean="0">
                          <a:solidFill>
                            <a:schemeClr val="tx1"/>
                          </a:solidFill>
                          <a:latin typeface="+mn-lt"/>
                          <a:ea typeface="+mn-ea"/>
                          <a:cs typeface="Arial" panose="020B0604020202020204" pitchFamily="34" charset="0"/>
                        </a:rPr>
                        <a:t> </a:t>
                      </a:r>
                      <a:r>
                        <a:rPr lang="ru-RU" sz="900" b="0" kern="1200" dirty="0" err="1" smtClean="0">
                          <a:solidFill>
                            <a:schemeClr val="tx1"/>
                          </a:solidFill>
                          <a:latin typeface="+mn-lt"/>
                          <a:ea typeface="+mn-ea"/>
                          <a:cs typeface="Arial" panose="020B0604020202020204" pitchFamily="34" charset="0"/>
                        </a:rPr>
                        <a:t>бекаси</a:t>
                      </a: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8280">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55589">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kern="1200" dirty="0" smtClean="0">
                          <a:solidFill>
                            <a:schemeClr val="tx1"/>
                          </a:solidFill>
                          <a:latin typeface="+mn-lt"/>
                          <a:ea typeface="+mn-ea"/>
                          <a:cs typeface="+mn-cs"/>
                        </a:rPr>
                        <a:t>1982 </a:t>
                      </a:r>
                      <a:r>
                        <a:rPr lang="ru-RU" sz="900" kern="1200" dirty="0" err="1" smtClean="0">
                          <a:solidFill>
                            <a:schemeClr val="tx1"/>
                          </a:solidFill>
                          <a:latin typeface="+mn-lt"/>
                          <a:ea typeface="+mn-ea"/>
                          <a:cs typeface="+mn-cs"/>
                        </a:rPr>
                        <a:t>йил</a:t>
                      </a:r>
                      <a:r>
                        <a:rPr lang="ru-RU" sz="900" kern="1200" dirty="0" smtClean="0">
                          <a:solidFill>
                            <a:schemeClr val="tx1"/>
                          </a:solidFill>
                          <a:latin typeface="+mn-lt"/>
                          <a:ea typeface="+mn-ea"/>
                          <a:cs typeface="+mn-cs"/>
                        </a:rPr>
                        <a:t> А.Н.</a:t>
                      </a:r>
                      <a:r>
                        <a:rPr lang="uz-Cyrl-UZ" sz="900" kern="1200" dirty="0" smtClean="0">
                          <a:solidFill>
                            <a:schemeClr val="tx1"/>
                          </a:solidFill>
                          <a:latin typeface="+mn-lt"/>
                          <a:ea typeface="+mn-ea"/>
                          <a:cs typeface="+mn-cs"/>
                        </a:rPr>
                        <a:t> </a:t>
                      </a:r>
                      <a:r>
                        <a:rPr lang="ru-RU" sz="900" kern="1200" dirty="0" smtClean="0">
                          <a:solidFill>
                            <a:schemeClr val="tx1"/>
                          </a:solidFill>
                          <a:latin typeface="+mn-lt"/>
                          <a:ea typeface="+mn-ea"/>
                          <a:cs typeface="+mn-cs"/>
                        </a:rPr>
                        <a:t>Островский </a:t>
                      </a:r>
                      <a:r>
                        <a:rPr lang="ru-RU" sz="900" kern="1200" dirty="0" err="1" smtClean="0">
                          <a:solidFill>
                            <a:schemeClr val="tx1"/>
                          </a:solidFill>
                          <a:latin typeface="+mn-lt"/>
                          <a:ea typeface="+mn-ea"/>
                          <a:cs typeface="+mn-cs"/>
                        </a:rPr>
                        <a:t>номли</a:t>
                      </a:r>
                      <a:r>
                        <a:rPr lang="ru-RU" sz="900" kern="1200" dirty="0" smtClean="0">
                          <a:solidFill>
                            <a:schemeClr val="tx1"/>
                          </a:solidFill>
                          <a:latin typeface="+mn-lt"/>
                          <a:ea typeface="+mn-ea"/>
                          <a:cs typeface="+mn-cs"/>
                        </a:rPr>
                        <a:t> </a:t>
                      </a:r>
                      <a:r>
                        <a:rPr lang="ru-RU" sz="900" kern="1200" dirty="0" err="1" smtClean="0">
                          <a:solidFill>
                            <a:schemeClr val="tx1"/>
                          </a:solidFill>
                          <a:latin typeface="+mn-lt"/>
                          <a:ea typeface="+mn-ea"/>
                          <a:cs typeface="+mn-cs"/>
                        </a:rPr>
                        <a:t>Тошкент</a:t>
                      </a:r>
                      <a:r>
                        <a:rPr lang="ru-RU" sz="900" kern="1200" dirty="0" smtClean="0">
                          <a:solidFill>
                            <a:schemeClr val="tx1"/>
                          </a:solidFill>
                          <a:latin typeface="+mn-lt"/>
                          <a:ea typeface="+mn-ea"/>
                          <a:cs typeface="+mn-cs"/>
                        </a:rPr>
                        <a:t> театр </a:t>
                      </a:r>
                      <a:r>
                        <a:rPr lang="ru-RU" sz="900" kern="1200" dirty="0" err="1" smtClean="0">
                          <a:solidFill>
                            <a:schemeClr val="tx1"/>
                          </a:solidFill>
                          <a:latin typeface="+mn-lt"/>
                          <a:ea typeface="+mn-ea"/>
                          <a:cs typeface="+mn-cs"/>
                        </a:rPr>
                        <a:t>ва</a:t>
                      </a:r>
                      <a:r>
                        <a:rPr lang="ru-RU" sz="900" kern="1200" dirty="0" smtClean="0">
                          <a:solidFill>
                            <a:schemeClr val="tx1"/>
                          </a:solidFill>
                          <a:latin typeface="+mn-lt"/>
                          <a:ea typeface="+mn-ea"/>
                          <a:cs typeface="+mn-cs"/>
                        </a:rPr>
                        <a:t> </a:t>
                      </a:r>
                      <a:r>
                        <a:rPr lang="ru-RU" sz="900" kern="1200" dirty="0" err="1" smtClean="0">
                          <a:solidFill>
                            <a:schemeClr val="tx1"/>
                          </a:solidFill>
                          <a:latin typeface="+mn-lt"/>
                          <a:ea typeface="+mn-ea"/>
                          <a:cs typeface="+mn-cs"/>
                        </a:rPr>
                        <a:t>рассомлик</a:t>
                      </a:r>
                      <a:r>
                        <a:rPr lang="uz-Cyrl-UZ" sz="900" kern="1200" baseline="0" dirty="0" smtClean="0">
                          <a:solidFill>
                            <a:schemeClr val="tx1"/>
                          </a:solidFill>
                          <a:latin typeface="+mn-lt"/>
                          <a:ea typeface="+mn-ea"/>
                          <a:cs typeface="+mn-cs"/>
                        </a:rPr>
                        <a:t> </a:t>
                      </a:r>
                      <a:r>
                        <a:rPr lang="ru-RU" sz="900" kern="1200" dirty="0" err="1" smtClean="0">
                          <a:solidFill>
                            <a:schemeClr val="tx1"/>
                          </a:solidFill>
                          <a:latin typeface="+mn-lt"/>
                          <a:ea typeface="+mn-ea"/>
                          <a:cs typeface="+mn-cs"/>
                        </a:rPr>
                        <a:t>санъат</a:t>
                      </a:r>
                      <a:r>
                        <a:rPr lang="ru-RU" sz="900" kern="1200" dirty="0" smtClean="0">
                          <a:solidFill>
                            <a:schemeClr val="tx1"/>
                          </a:solidFill>
                          <a:latin typeface="+mn-lt"/>
                          <a:ea typeface="+mn-ea"/>
                          <a:cs typeface="+mn-cs"/>
                        </a:rPr>
                        <a:t> </a:t>
                      </a:r>
                      <a:r>
                        <a:rPr lang="ru-RU" sz="900" kern="1200" dirty="0" err="1" smtClean="0">
                          <a:solidFill>
                            <a:schemeClr val="tx1"/>
                          </a:solidFill>
                          <a:latin typeface="+mn-lt"/>
                          <a:ea typeface="+mn-ea"/>
                          <a:cs typeface="+mn-cs"/>
                        </a:rPr>
                        <a:t>институти</a:t>
                      </a:r>
                      <a:r>
                        <a:rPr lang="ru-RU" sz="900" kern="1200" dirty="0" smtClean="0">
                          <a:solidFill>
                            <a:schemeClr val="tx1"/>
                          </a:solidFill>
                          <a:latin typeface="+mn-lt"/>
                          <a:ea typeface="+mn-ea"/>
                          <a:cs typeface="+mn-cs"/>
                        </a:rPr>
                        <a:t> </a:t>
                      </a:r>
                      <a:endParaRPr lang="ru-RU" sz="90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65528">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dirty="0" smtClean="0"/>
                        <a:t>драма театри ва кино актёри</a:t>
                      </a:r>
                      <a:endParaRPr lang="uz-Cyrl-UZ" sz="900" b="0" kern="1200" noProof="0" dirty="0">
                        <a:solidFill>
                          <a:srgbClr val="FF0000"/>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5209">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solidFill>
                          <a:schemeClr val="tx1"/>
                        </a:solidFill>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5209">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15209">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519725238"/>
              </p:ext>
            </p:extLst>
          </p:nvPr>
        </p:nvGraphicFramePr>
        <p:xfrm>
          <a:off x="3674526" y="865690"/>
          <a:ext cx="3172841" cy="5907205"/>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08705">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27431">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uz-Cyrl-UZ" sz="900" b="1" kern="1200" noProof="0" dirty="0" smtClean="0">
                          <a:solidFill>
                            <a:schemeClr val="tx1"/>
                          </a:solidFill>
                          <a:latin typeface="+mn-lt"/>
                          <a:ea typeface="+mn-ea"/>
                          <a:cs typeface="+mn-cs"/>
                        </a:rPr>
                        <a:t>2024 йилдан</a:t>
                      </a:r>
                      <a:r>
                        <a:rPr lang="uz-Cyrl-UZ" sz="900" b="1" kern="1200" baseline="0" noProof="0" dirty="0" smtClean="0">
                          <a:solidFill>
                            <a:schemeClr val="tx1"/>
                          </a:solidFill>
                          <a:latin typeface="+mn-lt"/>
                          <a:ea typeface="+mn-ea"/>
                          <a:cs typeface="+mn-cs"/>
                        </a:rPr>
                        <a:t> </a:t>
                      </a:r>
                      <a:r>
                        <a:rPr lang="uz-Cyrl-UZ" sz="900" b="0" kern="1200" baseline="0" noProof="0" dirty="0" smtClean="0">
                          <a:solidFill>
                            <a:schemeClr val="tx1"/>
                          </a:solidFill>
                          <a:latin typeface="+mn-lt"/>
                          <a:ea typeface="+mn-ea"/>
                          <a:cs typeface="+mn-cs"/>
                        </a:rPr>
                        <a:t>Ўзбекистон давлат ёшлар театри етакчи саҳна устаси</a:t>
                      </a:r>
                      <a:endParaRPr lang="ru-RU" sz="900" b="0" kern="1200" dirty="0" smtClean="0">
                        <a:solidFill>
                          <a:schemeClr val="tx1"/>
                        </a:solidFill>
                        <a:effectLst/>
                        <a:latin typeface="+mn-lt"/>
                        <a:ea typeface="Calibri" panose="020F0502020204030204" pitchFamily="34" charset="0"/>
                        <a:cs typeface="Times New Roman" panose="02020603050405020304"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310198">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uz-Cyrl-UZ" sz="900" b="0" kern="1200" baseline="0" noProof="0" dirty="0" smtClean="0">
                          <a:solidFill>
                            <a:schemeClr val="tx1"/>
                          </a:solidFill>
                          <a:latin typeface="+mn-lt"/>
                          <a:ea typeface="+mn-ea"/>
                          <a:cs typeface="+mn-cs"/>
                        </a:rPr>
                        <a:t>Ўзбекистон давлат ёшлар театри етакчи саҳна устаси</a:t>
                      </a:r>
                      <a:endParaRPr lang="ru-RU" sz="900" b="0" kern="1200" dirty="0" smtClean="0">
                        <a:solidFill>
                          <a:schemeClr val="tx1"/>
                        </a:solidFill>
                        <a:effectLst/>
                        <a:latin typeface="+mn-lt"/>
                        <a:ea typeface="Calibri" panose="020F0502020204030204" pitchFamily="34" charset="0"/>
                        <a:cs typeface="Times New Roman" panose="02020603050405020304"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9828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44 йил</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467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0" noProof="0" smtClean="0">
                          <a:effectLst/>
                          <a:latin typeface="+mn-lt"/>
                          <a:ea typeface="Calibri" panose="020F0502020204030204" pitchFamily="34" charset="0"/>
                          <a:cs typeface="Times New Roman" panose="02020603050405020304" pitchFamily="18" charset="0"/>
                        </a:rPr>
                        <a:t>34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289636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r>
                        <a:rPr lang="uz-Cyrl-UZ" sz="900" kern="1200" dirty="0" smtClean="0">
                          <a:solidFill>
                            <a:schemeClr val="tx1"/>
                          </a:solidFill>
                          <a:latin typeface="+mn-lt"/>
                          <a:ea typeface="+mn-ea"/>
                          <a:cs typeface="+mn-cs"/>
                        </a:rPr>
                        <a:t>1992-1993 йй. - Ўзбекистон Республикаси Наврўз жамғармаси маданият бўлим бошлиғи</a:t>
                      </a:r>
                      <a:endParaRPr lang="ru-RU" sz="900" kern="1200" dirty="0" smtClean="0">
                        <a:solidFill>
                          <a:schemeClr val="tx1"/>
                        </a:solidFill>
                        <a:latin typeface="+mn-lt"/>
                        <a:ea typeface="+mn-ea"/>
                        <a:cs typeface="+mn-cs"/>
                      </a:endParaRPr>
                    </a:p>
                    <a:p>
                      <a:pPr algn="l"/>
                      <a:r>
                        <a:rPr lang="uz-Cyrl-UZ" sz="900" kern="1200" dirty="0" smtClean="0">
                          <a:solidFill>
                            <a:schemeClr val="tx1"/>
                          </a:solidFill>
                          <a:latin typeface="+mn-lt"/>
                          <a:ea typeface="+mn-ea"/>
                          <a:cs typeface="+mn-cs"/>
                        </a:rPr>
                        <a:t>1994-1994 йй. - “Анор” жамоа корхонаси - директор ўринбосари</a:t>
                      </a:r>
                      <a:endParaRPr lang="ru-RU" sz="900" kern="1200" dirty="0" smtClean="0">
                        <a:solidFill>
                          <a:schemeClr val="tx1"/>
                        </a:solidFill>
                        <a:latin typeface="+mn-lt"/>
                        <a:ea typeface="+mn-ea"/>
                        <a:cs typeface="+mn-cs"/>
                      </a:endParaRPr>
                    </a:p>
                    <a:p>
                      <a:pPr algn="l"/>
                      <a:r>
                        <a:rPr lang="uz-Cyrl-UZ" sz="900" kern="1200" dirty="0" smtClean="0">
                          <a:solidFill>
                            <a:schemeClr val="tx1"/>
                          </a:solidFill>
                          <a:latin typeface="+mn-lt"/>
                          <a:ea typeface="+mn-ea"/>
                          <a:cs typeface="+mn-cs"/>
                        </a:rPr>
                        <a:t>1994-1998 йй. - “Нигор” хусусий компания - директори</a:t>
                      </a:r>
                      <a:endParaRPr lang="ru-RU" sz="900" kern="1200" dirty="0" smtClean="0">
                        <a:solidFill>
                          <a:schemeClr val="tx1"/>
                        </a:solidFill>
                        <a:latin typeface="+mn-lt"/>
                        <a:ea typeface="+mn-ea"/>
                        <a:cs typeface="+mn-cs"/>
                      </a:endParaRPr>
                    </a:p>
                    <a:p>
                      <a:pPr algn="l"/>
                      <a:r>
                        <a:rPr lang="uz-Cyrl-UZ" sz="900" kern="1200" dirty="0" smtClean="0">
                          <a:solidFill>
                            <a:schemeClr val="tx1"/>
                          </a:solidFill>
                          <a:latin typeface="+mn-lt"/>
                          <a:ea typeface="+mn-ea"/>
                          <a:cs typeface="+mn-cs"/>
                        </a:rPr>
                        <a:t>1998-2000 йй. - “Елим хандаси” миниатюралар театри бош бадиий раҳбари</a:t>
                      </a:r>
                      <a:endParaRPr lang="ru-RU" sz="900" kern="1200" dirty="0" smtClean="0">
                        <a:solidFill>
                          <a:schemeClr val="tx1"/>
                        </a:solidFill>
                        <a:latin typeface="+mn-lt"/>
                        <a:ea typeface="+mn-ea"/>
                        <a:cs typeface="+mn-cs"/>
                      </a:endParaRPr>
                    </a:p>
                    <a:p>
                      <a:pPr algn="l"/>
                      <a:r>
                        <a:rPr lang="uz-Cyrl-UZ" sz="900" kern="1200" dirty="0" smtClean="0">
                          <a:solidFill>
                            <a:schemeClr val="tx1"/>
                          </a:solidFill>
                          <a:latin typeface="+mn-lt"/>
                          <a:ea typeface="+mn-ea"/>
                          <a:cs typeface="+mn-cs"/>
                        </a:rPr>
                        <a:t>2002-2003 йй. - “Ўзтелерадиокомпания” бош бадиий раҳбари</a:t>
                      </a:r>
                      <a:endParaRPr lang="ru-RU" sz="900" kern="1200" dirty="0" smtClean="0">
                        <a:solidFill>
                          <a:schemeClr val="tx1"/>
                        </a:solidFill>
                        <a:latin typeface="+mn-lt"/>
                        <a:ea typeface="+mn-ea"/>
                        <a:cs typeface="+mn-cs"/>
                      </a:endParaRPr>
                    </a:p>
                    <a:p>
                      <a:pPr algn="l"/>
                      <a:r>
                        <a:rPr lang="uz-Cyrl-UZ" sz="900" kern="1200" dirty="0" smtClean="0">
                          <a:solidFill>
                            <a:schemeClr val="tx1"/>
                          </a:solidFill>
                          <a:latin typeface="+mn-lt"/>
                          <a:ea typeface="+mn-ea"/>
                          <a:cs typeface="+mn-cs"/>
                        </a:rPr>
                        <a:t>2013-2024 йй. - Ўзбекистон давлат сатира театри давлат муассасаси актёри</a:t>
                      </a:r>
                      <a:endParaRPr lang="ru-RU" sz="900" kern="1200" dirty="0" smtClean="0">
                        <a:solidFill>
                          <a:schemeClr val="tx1"/>
                        </a:solidFill>
                        <a:latin typeface="+mn-lt"/>
                        <a:ea typeface="+mn-ea"/>
                        <a:cs typeface="+mn-cs"/>
                      </a:endParaRPr>
                    </a:p>
                    <a:p>
                      <a:pPr algn="l"/>
                      <a:r>
                        <a:rPr lang="uz-Cyrl-UZ" sz="900" kern="1200" dirty="0" smtClean="0">
                          <a:solidFill>
                            <a:schemeClr val="tx1"/>
                          </a:solidFill>
                          <a:latin typeface="+mn-lt"/>
                          <a:ea typeface="+mn-ea"/>
                          <a:cs typeface="+mn-cs"/>
                        </a:rPr>
                        <a:t>2024 й. -  ҳ.в.  - Ўзбекистон давлат Ёшлар театри етакчи саҳна устаси</a:t>
                      </a:r>
                      <a:endParaRPr lang="ru-RU" sz="900" kern="1200" dirty="0" smtClean="0">
                        <a:solidFill>
                          <a:schemeClr val="tx1"/>
                        </a:solidFill>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88615">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88615">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2025й. </a:t>
                      </a:r>
                      <a:r>
                        <a:rPr lang="uz-Latn-UZ" sz="900" dirty="0" smtClean="0">
                          <a:solidFill>
                            <a:schemeClr val="tx1"/>
                          </a:solidFill>
                        </a:rPr>
                        <a:t>№</a:t>
                      </a:r>
                      <a:r>
                        <a:rPr lang="ru-RU" sz="900" dirty="0" smtClean="0">
                          <a:solidFill>
                            <a:schemeClr val="tx1"/>
                          </a:solidFill>
                        </a:rPr>
                        <a:t>2</a:t>
                      </a:r>
                      <a:r>
                        <a:rPr lang="uz-Latn-UZ" sz="900" dirty="0" smtClean="0">
                          <a:solidFill>
                            <a:schemeClr val="tx1"/>
                          </a:solidFill>
                        </a:rPr>
                        <a:t> </a:t>
                      </a:r>
                      <a:r>
                        <a:rPr lang="uz-Cyrl-UZ" sz="900" dirty="0" smtClean="0">
                          <a:solidFill>
                            <a:schemeClr val="tx1"/>
                          </a:solidFill>
                        </a:rPr>
                        <a:t>давлат шифохонаси</a:t>
                      </a:r>
                      <a:r>
                        <a:rPr lang="ru-RU" sz="900" dirty="0" smtClean="0">
                          <a:solidFill>
                            <a:schemeClr val="tx1"/>
                          </a:solidFill>
                        </a:rPr>
                        <a:t>.</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88615">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Ха</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18694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3646">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300464">
                <a:tc gridSpan="2">
                  <a:txBody>
                    <a:bodyPr/>
                    <a:lstStyle/>
                    <a:p>
                      <a:r>
                        <a:rPr lang="uz-Cyrl-UZ" sz="900" kern="1200" dirty="0" smtClean="0">
                          <a:solidFill>
                            <a:schemeClr val="tx1"/>
                          </a:solidFill>
                          <a:latin typeface="+mn-lt"/>
                          <a:ea typeface="+mn-ea"/>
                          <a:cs typeface="+mn-cs"/>
                        </a:rPr>
                        <a:t>1999 й. - “</a:t>
                      </a:r>
                      <a:r>
                        <a:rPr lang="ru-RU" sz="900" kern="1200" dirty="0" err="1" smtClean="0">
                          <a:solidFill>
                            <a:schemeClr val="tx1"/>
                          </a:solidFill>
                          <a:latin typeface="+mn-lt"/>
                          <a:ea typeface="+mn-ea"/>
                          <a:cs typeface="+mn-cs"/>
                        </a:rPr>
                        <a:t>Ўзбекистон</a:t>
                      </a:r>
                      <a:r>
                        <a:rPr lang="ru-RU" sz="900" kern="1200" dirty="0" smtClean="0">
                          <a:solidFill>
                            <a:schemeClr val="tx1"/>
                          </a:solidFill>
                          <a:latin typeface="+mn-lt"/>
                          <a:ea typeface="+mn-ea"/>
                          <a:cs typeface="+mn-cs"/>
                        </a:rPr>
                        <a:t> </a:t>
                      </a:r>
                      <a:r>
                        <a:rPr lang="ru-RU" sz="900" kern="1200" dirty="0" err="1" smtClean="0">
                          <a:solidFill>
                            <a:schemeClr val="tx1"/>
                          </a:solidFill>
                          <a:latin typeface="+mn-lt"/>
                          <a:ea typeface="+mn-ea"/>
                          <a:cs typeface="+mn-cs"/>
                        </a:rPr>
                        <a:t>Республикасида</a:t>
                      </a:r>
                      <a:r>
                        <a:rPr lang="ru-RU" sz="900" kern="1200" dirty="0" smtClean="0">
                          <a:solidFill>
                            <a:schemeClr val="tx1"/>
                          </a:solidFill>
                          <a:latin typeface="+mn-lt"/>
                          <a:ea typeface="+mn-ea"/>
                          <a:cs typeface="+mn-cs"/>
                        </a:rPr>
                        <a:t> </a:t>
                      </a:r>
                      <a:r>
                        <a:rPr lang="ru-RU" sz="900" kern="1200" dirty="0" err="1" smtClean="0">
                          <a:solidFill>
                            <a:schemeClr val="tx1"/>
                          </a:solidFill>
                          <a:latin typeface="+mn-lt"/>
                          <a:ea typeface="+mn-ea"/>
                          <a:cs typeface="+mn-cs"/>
                        </a:rPr>
                        <a:t>хизмат</a:t>
                      </a:r>
                      <a:r>
                        <a:rPr lang="ru-RU" sz="900" kern="1200" dirty="0" smtClean="0">
                          <a:solidFill>
                            <a:schemeClr val="tx1"/>
                          </a:solidFill>
                          <a:latin typeface="+mn-lt"/>
                          <a:ea typeface="+mn-ea"/>
                          <a:cs typeface="+mn-cs"/>
                        </a:rPr>
                        <a:t> </a:t>
                      </a:r>
                      <a:r>
                        <a:rPr lang="ru-RU" sz="900" kern="1200" dirty="0" err="1" smtClean="0">
                          <a:solidFill>
                            <a:schemeClr val="tx1"/>
                          </a:solidFill>
                          <a:latin typeface="+mn-lt"/>
                          <a:ea typeface="+mn-ea"/>
                          <a:cs typeface="+mn-cs"/>
                        </a:rPr>
                        <a:t>кўрсатган</a:t>
                      </a:r>
                      <a:r>
                        <a:rPr lang="ru-RU" sz="900" kern="1200" dirty="0" smtClean="0">
                          <a:solidFill>
                            <a:schemeClr val="tx1"/>
                          </a:solidFill>
                          <a:latin typeface="+mn-lt"/>
                          <a:ea typeface="+mn-ea"/>
                          <a:cs typeface="+mn-cs"/>
                        </a:rPr>
                        <a:t> артист</a:t>
                      </a:r>
                      <a:r>
                        <a:rPr lang="uz-Cyrl-UZ" sz="900" kern="1200" dirty="0" smtClean="0">
                          <a:solidFill>
                            <a:schemeClr val="tx1"/>
                          </a:solidFill>
                          <a:latin typeface="+mn-lt"/>
                          <a:ea typeface="+mn-ea"/>
                          <a:cs typeface="+mn-cs"/>
                        </a:rPr>
                        <a:t>” унвони</a:t>
                      </a:r>
                      <a:endParaRPr lang="ru-RU" sz="900" kern="1200" dirty="0" smtClean="0">
                        <a:solidFill>
                          <a:schemeClr val="tx1"/>
                        </a:solidFill>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047622611"/>
              </p:ext>
            </p:extLst>
          </p:nvPr>
        </p:nvGraphicFramePr>
        <p:xfrm>
          <a:off x="6847367" y="869287"/>
          <a:ext cx="3058633" cy="5901940"/>
        </p:xfrm>
        <a:graphic>
          <a:graphicData uri="http://schemas.openxmlformats.org/drawingml/2006/table">
            <a:tbl>
              <a:tblPr firstRow="1" bandRow="1">
                <a:tableStyleId>{C083E6E3-FA7D-4D7B-A595-EF9225AFEA82}</a:tableStyleId>
              </a:tblPr>
              <a:tblGrid>
                <a:gridCol w="3058633">
                  <a:extLst>
                    <a:ext uri="{9D8B030D-6E8A-4147-A177-3AD203B41FA5}">
                      <a16:colId xmlns:a16="http://schemas.microsoft.com/office/drawing/2014/main" val="2715609854"/>
                    </a:ext>
                  </a:extLst>
                </a:gridCol>
              </a:tblGrid>
              <a:tr h="236036">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97119">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512312">
                <a:tc>
                  <a:txBody>
                    <a:bodyPr/>
                    <a:lstStyle/>
                    <a:p>
                      <a:pPr algn="just"/>
                      <a:r>
                        <a:rPr lang="uz-Cyrl-UZ" sz="900" b="0" kern="1200" baseline="0" dirty="0" smtClean="0">
                          <a:solidFill>
                            <a:schemeClr val="tx1"/>
                          </a:solidFill>
                          <a:effectLst/>
                          <a:latin typeface="+mn-lt"/>
                          <a:ea typeface="Calibri" panose="020F0502020204030204" pitchFamily="34" charset="0"/>
                          <a:cs typeface="Times New Roman" panose="02020603050405020304" pitchFamily="18" charset="0"/>
                        </a:rPr>
                        <a:t>    Толиб Ҳожиев ижодий фаолияти давомида “Беш кунлик куёв”, “Тобутдан товуш”, “Темир хотин”, “Сабил қолди”, “Қуёш ўлкаси”, “Гап эгасини топади”, “Қудуқ”, “Ажаб ҳангомалар”, “Юсуфжон қизиқни эслаб” ва яна кўплаб спектаклларда турли қаҳрамонларни талқин этиб келади.</a:t>
                      </a:r>
                      <a:endParaRPr lang="ru-RU" sz="900" b="0" kern="1200" baseline="0" dirty="0" smtClean="0">
                        <a:solidFill>
                          <a:schemeClr val="tx1"/>
                        </a:solidFill>
                        <a:effectLst/>
                        <a:latin typeface="+mn-lt"/>
                        <a:ea typeface="Calibri" panose="020F0502020204030204" pitchFamily="34" charset="0"/>
                        <a:cs typeface="Times New Roman" panose="02020603050405020304" pitchFamily="18" charset="0"/>
                      </a:endParaRPr>
                    </a:p>
                    <a:p>
                      <a:pPr algn="just"/>
                      <a:r>
                        <a:rPr lang="uz-Cyrl-UZ" sz="900" b="0" kern="1200" baseline="0" dirty="0" smtClean="0">
                          <a:solidFill>
                            <a:schemeClr val="tx1"/>
                          </a:solidFill>
                          <a:effectLst/>
                          <a:latin typeface="+mn-lt"/>
                          <a:ea typeface="Calibri" panose="020F0502020204030204" pitchFamily="34" charset="0"/>
                          <a:cs typeface="Times New Roman" panose="02020603050405020304" pitchFamily="18" charset="0"/>
                        </a:rPr>
                        <a:t>Актёр Т. Ҳожиев ўз ижодий фаолияти давомида бир қатор бадиий фильмларда ҳам суратга тушган. “Шариф ва Мариф”, “Ака Шариф”, “Ака Шариф Тошкентда”, “Юзсиз”, “Мерган милиция”, “Етти ҳайкал - битта кал”, “Катта ҳовли” ҳамда “Бир ўпичнинг баҳоси” каби бадиий фильмларда суратга тушиб, бош ва етакчи ролларни маҳорат билан ижро этган. </a:t>
                      </a:r>
                      <a:endParaRPr lang="ru-RU" sz="900" b="0" kern="1200" baseline="0" dirty="0" smtClean="0">
                        <a:solidFill>
                          <a:schemeClr val="tx1"/>
                        </a:solidFill>
                        <a:effectLst/>
                        <a:latin typeface="+mn-lt"/>
                        <a:ea typeface="Calibri" panose="020F0502020204030204" pitchFamily="34" charset="0"/>
                        <a:cs typeface="Times New Roman" panose="02020603050405020304" pitchFamily="18" charset="0"/>
                      </a:endParaRPr>
                    </a:p>
                    <a:p>
                      <a:pPr algn="just"/>
                      <a:r>
                        <a:rPr lang="uz-Cyrl-UZ" sz="900" b="0" kern="1200" baseline="0" dirty="0" smtClean="0">
                          <a:solidFill>
                            <a:schemeClr val="tx1"/>
                          </a:solidFill>
                          <a:effectLst/>
                          <a:latin typeface="+mn-lt"/>
                          <a:ea typeface="Calibri" panose="020F0502020204030204" pitchFamily="34" charset="0"/>
                          <a:cs typeface="Times New Roman" panose="02020603050405020304" pitchFamily="18" charset="0"/>
                        </a:rPr>
                        <a:t>    Шунингдек, Ўзбекистон телевиденияси орқали намойиш этилган “Телевизион миниатюралар театри”да бадиий раҳбар лавозимида ишлаб, устоз санъаткор Эргаш Каримовнинг издоши сифатида иш олиб борган. Т. Ҳожиев театр саҳнасида спектаклларда роллар ижро этиш билан бирга “Маънавият – қалбим қуёши”, “Устозларга таъзим” каби кичик интермедия ва кулгили номерлардан ташкил топган дастурларни саҳналаштириб, республикамиз вилоятлари, шаҳар, туманларида ташкил этиладиган ижодий учрашувларда санъат мухлислари эътиборига ҳавола этиб келмоқда.</a:t>
                      </a:r>
                    </a:p>
                    <a:p>
                      <a:pPr algn="just"/>
                      <a:r>
                        <a:rPr lang="uz-Cyrl-UZ" sz="900" b="0" kern="1200" baseline="0" dirty="0" smtClean="0">
                          <a:solidFill>
                            <a:schemeClr val="tx1"/>
                          </a:solidFill>
                          <a:effectLst/>
                          <a:latin typeface="+mn-lt"/>
                          <a:ea typeface="Calibri" panose="020F0502020204030204" pitchFamily="34" charset="0"/>
                          <a:cs typeface="Times New Roman" panose="02020603050405020304" pitchFamily="18" charset="0"/>
                        </a:rPr>
                        <a:t>    2024-йилда Тошкент ва Самарқанд вилоятлари туманларида, 2025-йилда Сурхондарё ва Қашқадарё вилоятлари туманларида, Ўзбекистон Республикаси Олий Мажлиси Қонунчилик палатасига ўтказиладиган сайловлар муносабати билан Қорақалпоғистон Республикаси, вилоятлар ва Тошкент шаҳрида бўлиб ўтадиган тарғибот тадбирларида ўтказилган маданий-маърифий тадбир ҳамда сайлов тарғибот-ташвиқот ишларида фаол иштирок этди.</a:t>
                      </a:r>
                      <a:endParaRPr lang="ru-RU" sz="900" b="0" kern="1200" baseline="0" dirty="0">
                        <a:solidFill>
                          <a:schemeClr val="tx1"/>
                        </a:solidFill>
                        <a:effectLst/>
                        <a:latin typeface="+mn-lt"/>
                        <a:ea typeface="Calibri" panose="020F0502020204030204" pitchFamily="34" charset="0"/>
                        <a:cs typeface="Times New Roman" panose="02020603050405020304" pitchFamily="18" charset="0"/>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008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93405">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9" name="Рисунок 8"/>
          <p:cNvPicPr/>
          <p:nvPr/>
        </p:nvPicPr>
        <p:blipFill>
          <a:blip r:embed="rId2" cstate="print">
            <a:extLst>
              <a:ext uri="{28A0092B-C50C-407E-A947-70E740481C1C}">
                <a14:useLocalDpi xmlns:a14="http://schemas.microsoft.com/office/drawing/2010/main" val="0"/>
              </a:ext>
            </a:extLst>
          </a:blip>
          <a:stretch>
            <a:fillRect/>
          </a:stretch>
        </p:blipFill>
        <p:spPr>
          <a:xfrm>
            <a:off x="224110" y="1115240"/>
            <a:ext cx="968964" cy="1122863"/>
          </a:xfrm>
          <a:prstGeom prst="rect">
            <a:avLst/>
          </a:prstGeom>
        </p:spPr>
      </p:pic>
    </p:spTree>
    <p:extLst>
      <p:ext uri="{BB962C8B-B14F-4D97-AF65-F5344CB8AC3E}">
        <p14:creationId xmlns:p14="http://schemas.microsoft.com/office/powerpoint/2010/main" val="1251357165"/>
      </p:ext>
    </p:extLst>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509029361"/>
              </p:ext>
            </p:extLst>
          </p:nvPr>
        </p:nvGraphicFramePr>
        <p:xfrm>
          <a:off x="144489" y="865702"/>
          <a:ext cx="3427547" cy="5947518"/>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ЮЛДАШЕВ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Алишер</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Хаитович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kern="1200" dirty="0" smtClean="0">
                          <a:solidFill>
                            <a:schemeClr val="tx1"/>
                          </a:solidFill>
                          <a:effectLst/>
                          <a:latin typeface="+mn-lt"/>
                          <a:ea typeface="+mn-ea"/>
                          <a:cs typeface="+mn-cs"/>
                        </a:rPr>
                        <a:t>11.12.1959</a:t>
                      </a:r>
                      <a:r>
                        <a:rPr lang="uz-Cyrl-UZ" sz="1800" kern="1200" dirty="0" smtClean="0">
                          <a:solidFill>
                            <a:schemeClr val="tx1"/>
                          </a:solidFill>
                          <a:effectLst/>
                          <a:latin typeface="+mn-lt"/>
                          <a:ea typeface="+mn-ea"/>
                          <a:cs typeface="+mn-cs"/>
                        </a:rPr>
                        <a:t>	</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Хонқа 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1 қиз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sz="900" kern="1200" dirty="0" err="1" smtClean="0">
                          <a:solidFill>
                            <a:schemeClr val="tx1"/>
                          </a:solidFill>
                          <a:effectLst/>
                          <a:latin typeface="+mn-lt"/>
                          <a:ea typeface="+mn-ea"/>
                          <a:cs typeface="+mn-cs"/>
                        </a:rPr>
                        <a:t>Вапаев</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Хайитбой</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Вапаевич</a:t>
                      </a:r>
                      <a:endParaRPr lang="uz-Cyrl-UZ" sz="900" kern="1200" dirty="0" smtClean="0">
                        <a:solidFill>
                          <a:schemeClr val="tx1"/>
                        </a:solidFill>
                        <a:effectLst/>
                        <a:latin typeface="+mn-lt"/>
                        <a:ea typeface="+mn-ea"/>
                        <a:cs typeface="+mn-cs"/>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1927 йил, Хонқа тумани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1984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800" kern="1200" dirty="0" err="1" smtClean="0">
                          <a:solidFill>
                            <a:schemeClr val="tx1"/>
                          </a:solidFill>
                          <a:effectLst/>
                          <a:latin typeface="+mn-lt"/>
                          <a:ea typeface="+mn-ea"/>
                          <a:cs typeface="+mn-cs"/>
                        </a:rPr>
                        <a:t>Хонқа</a:t>
                      </a:r>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тумани</a:t>
                      </a:r>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маданият</a:t>
                      </a:r>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уйи</a:t>
                      </a:r>
                      <a:r>
                        <a:rPr lang="ru-RU" sz="800" kern="1200" dirty="0" smtClean="0">
                          <a:solidFill>
                            <a:schemeClr val="tx1"/>
                          </a:solidFill>
                          <a:effectLst/>
                          <a:latin typeface="+mn-lt"/>
                          <a:ea typeface="+mn-ea"/>
                          <a:cs typeface="+mn-cs"/>
                        </a:rPr>
                        <a:t> </a:t>
                      </a:r>
                      <a:r>
                        <a:rPr lang="ru-RU" sz="800" kern="1200" dirty="0" err="1" smtClean="0">
                          <a:solidFill>
                            <a:schemeClr val="tx1"/>
                          </a:solidFill>
                          <a:effectLst/>
                          <a:latin typeface="+mn-lt"/>
                          <a:ea typeface="+mn-ea"/>
                          <a:cs typeface="+mn-cs"/>
                        </a:rPr>
                        <a:t>хонандаси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en-US" sz="900" kern="1200" dirty="0" err="1" smtClean="0">
                          <a:solidFill>
                            <a:schemeClr val="tx1"/>
                          </a:solidFill>
                          <a:effectLst/>
                          <a:latin typeface="+mn-lt"/>
                          <a:ea typeface="+mn-ea"/>
                          <a:cs typeface="+mn-cs"/>
                        </a:rPr>
                        <a:t>Юлдашева</a:t>
                      </a:r>
                      <a:r>
                        <a:rPr lang="en-US" sz="900" kern="1200" dirty="0" smtClean="0">
                          <a:solidFill>
                            <a:schemeClr val="tx1"/>
                          </a:solidFill>
                          <a:effectLst/>
                          <a:latin typeface="+mn-lt"/>
                          <a:ea typeface="+mn-ea"/>
                          <a:cs typeface="+mn-cs"/>
                        </a:rPr>
                        <a:t> </a:t>
                      </a:r>
                      <a:r>
                        <a:rPr lang="en-US" sz="900" kern="1200" dirty="0" err="1" smtClean="0">
                          <a:solidFill>
                            <a:schemeClr val="tx1"/>
                          </a:solidFill>
                          <a:effectLst/>
                          <a:latin typeface="+mn-lt"/>
                          <a:ea typeface="+mn-ea"/>
                          <a:cs typeface="+mn-cs"/>
                        </a:rPr>
                        <a:t>Онажон</a:t>
                      </a:r>
                      <a:r>
                        <a:rPr lang="en-US" sz="900" kern="1200" dirty="0" smtClean="0">
                          <a:solidFill>
                            <a:schemeClr val="tx1"/>
                          </a:solidFill>
                          <a:effectLst/>
                          <a:latin typeface="+mn-lt"/>
                          <a:ea typeface="+mn-ea"/>
                          <a:cs typeface="+mn-cs"/>
                        </a:rPr>
                        <a:t> </a:t>
                      </a:r>
                      <a:endParaRPr lang="uz-Cyrl-UZ" sz="900" kern="1200" dirty="0" smtClean="0">
                        <a:solidFill>
                          <a:schemeClr val="tx1"/>
                        </a:solidFill>
                        <a:effectLst/>
                        <a:latin typeface="+mn-lt"/>
                        <a:ea typeface="+mn-ea"/>
                        <a:cs typeface="+mn-cs"/>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1937 йил, Карақалпоғистон рес</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err="1" smtClean="0">
                          <a:solidFill>
                            <a:schemeClr val="tx1"/>
                          </a:solidFill>
                          <a:latin typeface="+mn-lt"/>
                          <a:ea typeface="+mn-ea"/>
                          <a:cs typeface="Arial" panose="020B0604020202020204" pitchFamily="34" charset="0"/>
                        </a:rPr>
                        <a:t>Нафақада</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Рўзметова Дилором</a:t>
                      </a:r>
                    </a:p>
                    <a:p>
                      <a:pPr algn="l">
                        <a:lnSpc>
                          <a:spcPct val="85000"/>
                        </a:lnSpc>
                      </a:pPr>
                      <a:r>
                        <a:rPr lang="uz-Cyrl-UZ" sz="900" b="0" kern="1200" noProof="0" dirty="0" smtClean="0">
                          <a:solidFill>
                            <a:schemeClr val="tx1"/>
                          </a:solidFill>
                          <a:latin typeface="+mn-lt"/>
                          <a:ea typeface="+mn-ea"/>
                          <a:cs typeface="Arial" panose="020B0604020202020204" pitchFamily="34" charset="0"/>
                        </a:rPr>
                        <a:t>1976 йил, Урганч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Уй бекаси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48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1986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рассомлик</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6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ва кино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1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056247645"/>
              </p:ext>
            </p:extLst>
          </p:nvPr>
        </p:nvGraphicFramePr>
        <p:xfrm>
          <a:off x="3674526" y="865689"/>
          <a:ext cx="3172841" cy="5988176"/>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248043">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297529">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1991-2025 йилдан буён Нафақада</a:t>
                      </a:r>
                      <a:r>
                        <a:rPr lang="uz-Cyrl-UZ" sz="900" b="1" kern="1200" dirty="0" smtClean="0">
                          <a:solidFill>
                            <a:schemeClr val="tx1"/>
                          </a:solidFill>
                          <a:effectLst/>
                          <a:latin typeface="+mn-lt"/>
                          <a:ea typeface="+mn-ea"/>
                          <a:cs typeface="+mn-cs"/>
                        </a:rPr>
                        <a:t>, </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185083">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5453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40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4392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0</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211681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1991-2000 йй. - Огаҳий номидаги Хоразм вилоят мусиқали драма театри драма артисти</a:t>
                      </a:r>
                    </a:p>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2017 -2018йй. - Хоразм вилояти мусиқали драма театри бош режиссёри</a:t>
                      </a:r>
                    </a:p>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2018 -2018йй. - Хоразм вилояти мусиқали драма театри драма артисти</a:t>
                      </a:r>
                    </a:p>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2018-2025й. - Хоразм вилояти мусиқали драма театри саҳналаштирувчи режиссёри</a:t>
                      </a:r>
                    </a:p>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 </a:t>
                      </a:r>
                    </a:p>
                    <a:p>
                      <a:pPr algn="l">
                        <a:lnSpc>
                          <a:spcPct val="107000"/>
                        </a:lnSpc>
                        <a:spcAft>
                          <a:spcPts val="0"/>
                        </a:spcAft>
                      </a:pP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76828">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76828">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76828">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18938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66503">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493767">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2019й. ”Дўстлик” ордени</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464336648"/>
              </p:ext>
            </p:extLst>
          </p:nvPr>
        </p:nvGraphicFramePr>
        <p:xfrm>
          <a:off x="6949857" y="869290"/>
          <a:ext cx="2817247" cy="5973579"/>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31438">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5834">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56245">
                <a:tc>
                  <a:txBody>
                    <a:bodyPr/>
                    <a:lstStyle/>
                    <a:p>
                      <a:pPr algn="just">
                        <a:lnSpc>
                          <a:spcPct val="85000"/>
                        </a:lnSpc>
                      </a:pPr>
                      <a:r>
                        <a:rPr lang="uz-Cyrl-UZ" sz="900" b="0" noProof="0" dirty="0" smtClean="0">
                          <a:solidFill>
                            <a:schemeClr val="tx1"/>
                          </a:solidFill>
                          <a:latin typeface="+mn-lt"/>
                        </a:rPr>
                        <a:t>    У юксак бадиий маҳорат билан ижро этган роллар ўзининг таъсирчанлиги билан ҳар қандай томошабинни ўзига ром этади.</a:t>
                      </a:r>
                    </a:p>
                    <a:p>
                      <a:pPr algn="just">
                        <a:lnSpc>
                          <a:spcPct val="85000"/>
                        </a:lnSpc>
                      </a:pPr>
                      <a:r>
                        <a:rPr lang="uz-Cyrl-UZ" sz="900" b="0" baseline="0" noProof="0" dirty="0" smtClean="0">
                          <a:solidFill>
                            <a:schemeClr val="tx1"/>
                          </a:solidFill>
                          <a:latin typeface="+mn-lt"/>
                        </a:rPr>
                        <a:t>    </a:t>
                      </a:r>
                      <a:r>
                        <a:rPr lang="uz-Cyrl-UZ" sz="900" b="0" noProof="0" dirty="0" smtClean="0">
                          <a:solidFill>
                            <a:schemeClr val="tx1"/>
                          </a:solidFill>
                          <a:latin typeface="+mn-lt"/>
                        </a:rPr>
                        <a:t>Чунки актёрнинг ҳар бир яратган образи аввало,</a:t>
                      </a:r>
                      <a:r>
                        <a:rPr lang="uz-Cyrl-UZ" sz="900" b="0" baseline="0" noProof="0" dirty="0" smtClean="0">
                          <a:solidFill>
                            <a:schemeClr val="tx1"/>
                          </a:solidFill>
                          <a:latin typeface="+mn-lt"/>
                        </a:rPr>
                        <a:t> </a:t>
                      </a:r>
                      <a:r>
                        <a:rPr lang="uz-Cyrl-UZ" sz="900" b="0" noProof="0" dirty="0" smtClean="0">
                          <a:solidFill>
                            <a:schemeClr val="tx1"/>
                          </a:solidFill>
                          <a:latin typeface="+mn-lt"/>
                        </a:rPr>
                        <a:t>А. Юлдошев 1986 йилда Тошкент театр ва рассомлик санъати институтини драма ва кино актёри мутахассислиги бўйича муваффақиятли  тугатиб, Тошкент шаҳридаги А.Қаҳҳор номли Республика сатира театрида актёрлик вазифасида ижодий фаолиятини бошлади. Ушбу театрда саҳналаштирилган А.Қаҳҳорнинг “Тобутдан товуш” спектаклида Ички ишлар ходими,</a:t>
                      </a:r>
                      <a:r>
                        <a:rPr lang="uz-Cyrl-UZ" sz="900" b="0" baseline="0" noProof="0" dirty="0" smtClean="0">
                          <a:solidFill>
                            <a:schemeClr val="tx1"/>
                          </a:solidFill>
                          <a:latin typeface="+mn-lt"/>
                        </a:rPr>
                        <a:t> </a:t>
                      </a:r>
                      <a:r>
                        <a:rPr lang="uz-Cyrl-UZ" sz="900" b="0" noProof="0" dirty="0" smtClean="0">
                          <a:solidFill>
                            <a:schemeClr val="tx1"/>
                          </a:solidFill>
                          <a:latin typeface="+mn-lt"/>
                        </a:rPr>
                        <a:t>Муҳаммаджоновнинг “Давлат болалари” спектаклида</a:t>
                      </a:r>
                      <a:r>
                        <a:rPr lang="uz-Cyrl-UZ" sz="900" b="0" baseline="0" noProof="0" dirty="0" smtClean="0">
                          <a:solidFill>
                            <a:schemeClr val="tx1"/>
                          </a:solidFill>
                          <a:latin typeface="+mn-lt"/>
                        </a:rPr>
                        <a:t> </a:t>
                      </a:r>
                      <a:r>
                        <a:rPr lang="uz-Cyrl-UZ" sz="900" b="0" noProof="0" dirty="0" smtClean="0">
                          <a:solidFill>
                            <a:schemeClr val="tx1"/>
                          </a:solidFill>
                          <a:latin typeface="+mn-lt"/>
                        </a:rPr>
                        <a:t>Бутур, Шароф Бошбековнинг “Темир хотин” комедиясида Олимтой, “Гап эгасини топади” хажвий томошасида турли хил образларни яратди.</a:t>
                      </a:r>
                    </a:p>
                    <a:p>
                      <a:pPr algn="just">
                        <a:lnSpc>
                          <a:spcPct val="85000"/>
                        </a:lnSpc>
                      </a:pPr>
                      <a:r>
                        <a:rPr lang="uz-Cyrl-UZ" sz="900" b="0" baseline="0" noProof="0" dirty="0" smtClean="0">
                          <a:solidFill>
                            <a:schemeClr val="tx1"/>
                          </a:solidFill>
                          <a:latin typeface="+mn-lt"/>
                        </a:rPr>
                        <a:t>    </a:t>
                      </a:r>
                      <a:r>
                        <a:rPr lang="uz-Cyrl-UZ" sz="900" b="0" noProof="0" dirty="0" smtClean="0">
                          <a:solidFill>
                            <a:schemeClr val="tx1"/>
                          </a:solidFill>
                          <a:latin typeface="+mn-lt"/>
                        </a:rPr>
                        <a:t>А.Юлдошев 1991 йилдан Хоразм вилоят мусиқали драма театрида драма артисти вазифасида ижодий фаолиятини давом қилдириб, театрда ҳозирги кунгача йиллар давомида саҳналаштирилган спектаклларда ҳам салмоқли  ижод қилди. Ўзбекистон Республикасининг театр фестивалда Эркин Воҳидов асари “Иккинчи тумор” спектаклида  ижро этган  бош рол Махмудий образи учун “Йилнинг энг яхши актёри”  дипломи ва мукофотига ва сазовор бўлган.  Шунингдек,  “Авесто меҳр фарзанди” спектаклида Зардушт, “Жалолиддин Мангуберди” спектаклида Ихтиёриддин, “Навоий” мусиқали драмасида Навоий,  “Хасан Кайфий” спектаклида Хасан, “Ғаройиб бола” спектаклида Сем, “Скапеннинг  найранглари”да  Жерон,  “Ревизор”да Хлистаков, “Олтин топган қуллар”да Шермат,   “Дилбанди Хива”да  Алимаҳрам,  “Сўнган умидлар”да  Мирзо,  “Жавлон Журра”да  Даврон,  “Осмондан тушган бахт” мусиқали комедиясида Сардор, “Заҳарли томчилар”да Мирқосим, “Осмондан танга ёққан кун”да  Қози,  “Тоҳир ва Зуҳра”да  Қоработир, “Золушка”да Вазир,  “Хайдар хўроз”да Тўхтаназар каби ролларни ижро этди. </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9558">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84797">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келган.</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a:picLocks noChangeAspect="1"/>
          </p:cNvPicPr>
          <p:nvPr/>
        </p:nvPicPr>
        <p:blipFill>
          <a:blip r:embed="rId2"/>
          <a:stretch>
            <a:fillRect/>
          </a:stretch>
        </p:blipFill>
        <p:spPr>
          <a:xfrm>
            <a:off x="227503" y="1109303"/>
            <a:ext cx="945710" cy="1188000"/>
          </a:xfrm>
          <a:prstGeom prst="rect">
            <a:avLst/>
          </a:prstGeom>
        </p:spPr>
      </p:pic>
    </p:spTree>
    <p:extLst>
      <p:ext uri="{BB962C8B-B14F-4D97-AF65-F5344CB8AC3E}">
        <p14:creationId xmlns:p14="http://schemas.microsoft.com/office/powerpoint/2010/main" val="547808076"/>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4282510170"/>
              </p:ext>
            </p:extLst>
          </p:nvPr>
        </p:nvGraphicFramePr>
        <p:xfrm>
          <a:off x="144489" y="865702"/>
          <a:ext cx="3427547" cy="5909170"/>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0319">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7874">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РАХИМОВА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787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Гулоро</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787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ХХХ</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7874">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787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25.03.1948</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787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Хозарасп 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8054">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8868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1 нафар қиз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8054">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77439">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Якубов Раимберган</a:t>
                      </a:r>
                    </a:p>
                    <a:p>
                      <a:pPr algn="l">
                        <a:lnSpc>
                          <a:spcPct val="85000"/>
                        </a:lnSpc>
                      </a:pPr>
                      <a:r>
                        <a:rPr lang="uz-Cyrl-UZ" sz="900" b="0" kern="1200" noProof="0" dirty="0" smtClean="0">
                          <a:solidFill>
                            <a:schemeClr val="tx1"/>
                          </a:solidFill>
                          <a:latin typeface="+mn-lt"/>
                          <a:ea typeface="+mn-ea"/>
                          <a:cs typeface="Arial" panose="020B0604020202020204" pitchFamily="34" charset="0"/>
                        </a:rPr>
                        <a:t>1887 йил, Боғот тумани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1967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92565">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Матякубова Холжон</a:t>
                      </a:r>
                    </a:p>
                    <a:p>
                      <a:pPr algn="l">
                        <a:lnSpc>
                          <a:spcPct val="85000"/>
                        </a:lnSpc>
                      </a:pPr>
                      <a:r>
                        <a:rPr lang="uz-Cyrl-UZ" sz="900" b="0" kern="1200" noProof="0" dirty="0" smtClean="0">
                          <a:solidFill>
                            <a:schemeClr val="tx1"/>
                          </a:solidFill>
                          <a:latin typeface="+mn-lt"/>
                          <a:ea typeface="+mn-ea"/>
                          <a:cs typeface="Arial" panose="020B0604020202020204" pitchFamily="34" charset="0"/>
                        </a:rPr>
                        <a:t>1903 йил, Боғот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1997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44902">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Филлипов Владимир Иванович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1949 йил, Россия федерацияси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2014 йил вафот этган</a:t>
                      </a:r>
                    </a:p>
                    <a:p>
                      <a:pPr algn="l">
                        <a:lnSpc>
                          <a:spcPct val="85000"/>
                        </a:lnSpc>
                      </a:pPr>
                      <a:r>
                        <a:rPr lang="uz-Cyrl-UZ"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Хоразм</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вилояти</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таъминоти</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бўлими</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ўринбосари</a:t>
                      </a:r>
                      <a:r>
                        <a:rPr lang="ru-RU" sz="900" b="0" kern="1200" noProof="0" dirty="0" smtClean="0">
                          <a:solidFill>
                            <a:schemeClr val="tx1"/>
                          </a:solidFill>
                          <a:latin typeface="+mn-lt"/>
                          <a:ea typeface="+mn-ea"/>
                          <a:cs typeface="Arial" panose="020B0604020202020204" pitchFamily="34" charset="0"/>
                        </a:rPr>
                        <a:t>)</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5057">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11337">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ru-RU" sz="900" b="0" kern="1200" noProof="0" dirty="0" smtClean="0">
                          <a:solidFill>
                            <a:schemeClr val="tx1"/>
                          </a:solidFill>
                          <a:latin typeface="+mn-lt"/>
                          <a:ea typeface="+mn-ea"/>
                          <a:cs typeface="+mn-cs"/>
                        </a:rPr>
                        <a:t>1970 й. </a:t>
                      </a:r>
                      <a:r>
                        <a:rPr lang="ru-RU" sz="900" b="0" kern="1200" noProof="0" dirty="0" err="1" smtClean="0">
                          <a:solidFill>
                            <a:schemeClr val="tx1"/>
                          </a:solidFill>
                          <a:latin typeface="+mn-lt"/>
                          <a:ea typeface="+mn-ea"/>
                          <a:cs typeface="+mn-cs"/>
                        </a:rPr>
                        <a:t>Хоразм</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давлат</a:t>
                      </a:r>
                      <a:r>
                        <a:rPr lang="ru-RU" sz="900" b="0" kern="1200" noProof="0" dirty="0" smtClean="0">
                          <a:solidFill>
                            <a:schemeClr val="tx1"/>
                          </a:solidFill>
                          <a:latin typeface="+mn-lt"/>
                          <a:ea typeface="+mn-ea"/>
                          <a:cs typeface="+mn-cs"/>
                        </a:rPr>
                        <a:t> педагогика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uz-Latn-UZ" sz="800" kern="1200" dirty="0" smtClean="0">
                          <a:solidFill>
                            <a:schemeClr val="tx1"/>
                          </a:solidFill>
                          <a:effectLst/>
                          <a:latin typeface="+mn-lt"/>
                          <a:ea typeface="+mn-ea"/>
                          <a:cs typeface="+mn-cs"/>
                        </a:rPr>
                        <a:t>1977 й.Харратов номли Урганч Давлат му</a:t>
                      </a:r>
                      <a:r>
                        <a:rPr lang="uz-Cyrl-UZ" sz="800" kern="1200" dirty="0" smtClean="0">
                          <a:solidFill>
                            <a:schemeClr val="tx1"/>
                          </a:solidFill>
                          <a:effectLst/>
                          <a:latin typeface="+mn-lt"/>
                          <a:ea typeface="+mn-ea"/>
                          <a:cs typeface="+mn-cs"/>
                        </a:rPr>
                        <a:t>с</a:t>
                      </a:r>
                      <a:r>
                        <a:rPr lang="uz-Latn-UZ" sz="800" kern="1200" dirty="0" smtClean="0">
                          <a:solidFill>
                            <a:schemeClr val="tx1"/>
                          </a:solidFill>
                          <a:effectLst/>
                          <a:latin typeface="+mn-lt"/>
                          <a:ea typeface="+mn-ea"/>
                          <a:cs typeface="+mn-cs"/>
                        </a:rPr>
                        <a:t>и</a:t>
                      </a:r>
                      <a:r>
                        <a:rPr lang="uz-Cyrl-UZ" sz="800" kern="1200" dirty="0" smtClean="0">
                          <a:solidFill>
                            <a:schemeClr val="tx1"/>
                          </a:solidFill>
                          <a:effectLst/>
                          <a:latin typeface="+mn-lt"/>
                          <a:ea typeface="+mn-ea"/>
                          <a:cs typeface="+mn-cs"/>
                        </a:rPr>
                        <a:t>қ</a:t>
                      </a:r>
                      <a:r>
                        <a:rPr lang="uz-Latn-UZ" sz="800" kern="1200" dirty="0" smtClean="0">
                          <a:solidFill>
                            <a:schemeClr val="tx1"/>
                          </a:solidFill>
                          <a:effectLst/>
                          <a:latin typeface="+mn-lt"/>
                          <a:ea typeface="+mn-ea"/>
                          <a:cs typeface="+mn-cs"/>
                        </a:rPr>
                        <a:t>а билим юрт</a:t>
                      </a:r>
                      <a:r>
                        <a:rPr lang="uz-Cyrl-UZ" sz="800" kern="1200" dirty="0" smtClean="0">
                          <a:solidFill>
                            <a:schemeClr val="tx1"/>
                          </a:solidFill>
                          <a:effectLst/>
                          <a:latin typeface="+mn-lt"/>
                          <a:ea typeface="+mn-ea"/>
                          <a:cs typeface="+mn-cs"/>
                        </a:rPr>
                        <a:t>и</a:t>
                      </a:r>
                      <a:endParaRPr lang="ru-RU" sz="800" kern="1200" dirty="0" smtClean="0">
                        <a:solidFill>
                          <a:schemeClr val="tx1"/>
                        </a:solidFill>
                        <a:effectLst/>
                        <a:latin typeface="+mn-lt"/>
                        <a:ea typeface="+mn-ea"/>
                        <a:cs typeface="+mn-cs"/>
                      </a:endParaRPr>
                    </a:p>
                    <a:p>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350705">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kern="1200" dirty="0" err="1" smtClean="0">
                          <a:solidFill>
                            <a:schemeClr val="tx1"/>
                          </a:solidFill>
                          <a:effectLst/>
                          <a:latin typeface="+mn-lt"/>
                          <a:ea typeface="+mn-ea"/>
                          <a:cs typeface="+mn-cs"/>
                        </a:rPr>
                        <a:t>ўрта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мактаб</a:t>
                      </a:r>
                      <a:r>
                        <a:rPr lang="ru-RU" sz="900" kern="1200" dirty="0" smtClean="0">
                          <a:solidFill>
                            <a:schemeClr val="tx1"/>
                          </a:solidFill>
                          <a:effectLst/>
                          <a:latin typeface="+mn-lt"/>
                          <a:ea typeface="+mn-ea"/>
                          <a:cs typeface="+mn-cs"/>
                        </a:rPr>
                        <a:t> рус тили </a:t>
                      </a:r>
                      <a:r>
                        <a:rPr lang="ru-RU" sz="900" kern="1200" dirty="0" err="1" smtClean="0">
                          <a:solidFill>
                            <a:schemeClr val="tx1"/>
                          </a:solidFill>
                          <a:effectLst/>
                          <a:latin typeface="+mn-lt"/>
                          <a:ea typeface="+mn-ea"/>
                          <a:cs typeface="+mn-cs"/>
                        </a:rPr>
                        <a:t>ва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адабиёти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фани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ўқитувчиси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яккахон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a:t>
                      </a:r>
                      <a:r>
                        <a:rPr lang="ru-RU" sz="900" kern="1200" dirty="0" smtClean="0">
                          <a:solidFill>
                            <a:schemeClr val="tx1"/>
                          </a:solidFill>
                          <a:effectLst/>
                          <a:latin typeface="+mn-lt"/>
                          <a:ea typeface="+mn-ea"/>
                          <a:cs typeface="+mn-cs"/>
                        </a:rPr>
                        <a:t> хор </a:t>
                      </a:r>
                      <a:r>
                        <a:rPr lang="ru-RU" sz="900" kern="1200" dirty="0" err="1" smtClean="0">
                          <a:solidFill>
                            <a:schemeClr val="tx1"/>
                          </a:solidFill>
                          <a:effectLst/>
                          <a:latin typeface="+mn-lt"/>
                          <a:ea typeface="+mn-ea"/>
                          <a:cs typeface="+mn-cs"/>
                        </a:rPr>
                        <a:t>артисти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0332">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0332">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94143">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409772625"/>
              </p:ext>
            </p:extLst>
          </p:nvPr>
        </p:nvGraphicFramePr>
        <p:xfrm>
          <a:off x="3674526" y="865690"/>
          <a:ext cx="3172841" cy="5925272"/>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278576">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09682">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Етакчи саҳна устаси драма артисти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07868">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7893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50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6665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76131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ru-RU" sz="900" noProof="0" dirty="0" smtClean="0">
                          <a:effectLst/>
                          <a:latin typeface="+mn-lt"/>
                          <a:ea typeface="Calibri" panose="020F0502020204030204" pitchFamily="34" charset="0"/>
                          <a:cs typeface="Times New Roman" panose="02020603050405020304" pitchFamily="18" charset="0"/>
                        </a:rPr>
                        <a:t>1971-2007 </a:t>
                      </a:r>
                      <a:r>
                        <a:rPr lang="ru-RU" sz="900" noProof="0" dirty="0" err="1" smtClean="0">
                          <a:effectLst/>
                          <a:latin typeface="+mn-lt"/>
                          <a:ea typeface="Calibri" panose="020F0502020204030204" pitchFamily="34" charset="0"/>
                          <a:cs typeface="Times New Roman" panose="02020603050405020304" pitchFamily="18" charset="0"/>
                        </a:rPr>
                        <a:t>йй</a:t>
                      </a:r>
                      <a:r>
                        <a:rPr lang="ru-RU" sz="900" noProof="0" dirty="0" smtClean="0">
                          <a:effectLst/>
                          <a:latin typeface="+mn-lt"/>
                          <a:ea typeface="Calibri" panose="020F0502020204030204" pitchFamily="34" charset="0"/>
                          <a:cs typeface="Times New Roman" panose="02020603050405020304" pitchFamily="18" charset="0"/>
                        </a:rPr>
                        <a:t>. - </a:t>
                      </a:r>
                      <a:r>
                        <a:rPr lang="ru-RU" sz="900" noProof="0" dirty="0" err="1" smtClean="0">
                          <a:effectLst/>
                          <a:latin typeface="+mn-lt"/>
                          <a:ea typeface="Calibri" panose="020F0502020204030204" pitchFamily="34" charset="0"/>
                          <a:cs typeface="Times New Roman" panose="02020603050405020304" pitchFamily="18" charset="0"/>
                        </a:rPr>
                        <a:t>Огаҳий</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номидаги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Хоразм</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вилояти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мусиқали</a:t>
                      </a:r>
                      <a:r>
                        <a:rPr lang="ru-RU" sz="900" noProof="0" dirty="0" smtClean="0">
                          <a:effectLst/>
                          <a:latin typeface="+mn-lt"/>
                          <a:ea typeface="Calibri" panose="020F0502020204030204" pitchFamily="34" charset="0"/>
                          <a:cs typeface="Times New Roman" panose="02020603050405020304" pitchFamily="18" charset="0"/>
                        </a:rPr>
                        <a:t> драма </a:t>
                      </a:r>
                      <a:r>
                        <a:rPr lang="ru-RU" sz="900" noProof="0" dirty="0" err="1" smtClean="0">
                          <a:effectLst/>
                          <a:latin typeface="+mn-lt"/>
                          <a:ea typeface="Calibri" panose="020F0502020204030204" pitchFamily="34" charset="0"/>
                          <a:cs typeface="Times New Roman" panose="02020603050405020304" pitchFamily="18" charset="0"/>
                        </a:rPr>
                        <a:t>театри</a:t>
                      </a:r>
                      <a:r>
                        <a:rPr lang="ru-RU" sz="900" noProof="0" dirty="0" smtClean="0">
                          <a:effectLst/>
                          <a:latin typeface="+mn-lt"/>
                          <a:ea typeface="Calibri" panose="020F0502020204030204" pitchFamily="34" charset="0"/>
                          <a:cs typeface="Times New Roman" panose="02020603050405020304" pitchFamily="18" charset="0"/>
                        </a:rPr>
                        <a:t> солист-</a:t>
                      </a:r>
                      <a:r>
                        <a:rPr lang="ru-RU" sz="900" noProof="0" dirty="0" err="1" smtClean="0">
                          <a:effectLst/>
                          <a:latin typeface="+mn-lt"/>
                          <a:ea typeface="Calibri" panose="020F0502020204030204" pitchFamily="34" charset="0"/>
                          <a:cs typeface="Times New Roman" panose="02020603050405020304" pitchFamily="18" charset="0"/>
                        </a:rPr>
                        <a:t>вокалисти</a:t>
                      </a:r>
                      <a:endParaRPr lang="ru-RU" sz="900" noProof="0" dirty="0" smtClean="0">
                        <a:effectLst/>
                        <a:latin typeface="+mn-lt"/>
                        <a:ea typeface="Calibri" panose="020F0502020204030204" pitchFamily="34" charset="0"/>
                        <a:cs typeface="Times New Roman" panose="02020603050405020304" pitchFamily="18" charset="0"/>
                      </a:endParaRPr>
                    </a:p>
                    <a:p>
                      <a:pPr algn="l">
                        <a:lnSpc>
                          <a:spcPct val="107000"/>
                        </a:lnSpc>
                        <a:spcAft>
                          <a:spcPts val="0"/>
                        </a:spcAft>
                      </a:pPr>
                      <a:r>
                        <a:rPr lang="ru-RU" sz="900" noProof="0" dirty="0" smtClean="0">
                          <a:effectLst/>
                          <a:latin typeface="+mn-lt"/>
                          <a:ea typeface="Calibri" panose="020F0502020204030204" pitchFamily="34" charset="0"/>
                          <a:cs typeface="Times New Roman" panose="02020603050405020304" pitchFamily="18" charset="0"/>
                        </a:rPr>
                        <a:t>2007-2011 </a:t>
                      </a:r>
                      <a:r>
                        <a:rPr lang="ru-RU" sz="900" noProof="0" dirty="0" err="1" smtClean="0">
                          <a:effectLst/>
                          <a:latin typeface="+mn-lt"/>
                          <a:ea typeface="Calibri" panose="020F0502020204030204" pitchFamily="34" charset="0"/>
                          <a:cs typeface="Times New Roman" panose="02020603050405020304" pitchFamily="18" charset="0"/>
                        </a:rPr>
                        <a:t>йй</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Огаҳий</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номидаги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Хоразм</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вилояти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мусиқали</a:t>
                      </a:r>
                      <a:r>
                        <a:rPr lang="ru-RU" sz="900" noProof="0" dirty="0" smtClean="0">
                          <a:effectLst/>
                          <a:latin typeface="+mn-lt"/>
                          <a:ea typeface="Calibri" panose="020F0502020204030204" pitchFamily="34" charset="0"/>
                          <a:cs typeface="Times New Roman" panose="02020603050405020304" pitchFamily="18" charset="0"/>
                        </a:rPr>
                        <a:t> драма </a:t>
                      </a:r>
                      <a:r>
                        <a:rPr lang="ru-RU" sz="900" noProof="0" dirty="0" err="1" smtClean="0">
                          <a:effectLst/>
                          <a:latin typeface="+mn-lt"/>
                          <a:ea typeface="Calibri" panose="020F0502020204030204" pitchFamily="34" charset="0"/>
                          <a:cs typeface="Times New Roman" panose="02020603050405020304" pitchFamily="18" charset="0"/>
                        </a:rPr>
                        <a:t>театри</a:t>
                      </a:r>
                      <a:r>
                        <a:rPr lang="ru-RU" sz="900" noProof="0" dirty="0" smtClean="0">
                          <a:effectLst/>
                          <a:latin typeface="+mn-lt"/>
                          <a:ea typeface="Calibri" panose="020F0502020204030204" pitchFamily="34" charset="0"/>
                          <a:cs typeface="Times New Roman" panose="02020603050405020304" pitchFamily="18" charset="0"/>
                        </a:rPr>
                        <a:t> драма </a:t>
                      </a:r>
                      <a:r>
                        <a:rPr lang="ru-RU" sz="900" noProof="0" dirty="0" err="1" smtClean="0">
                          <a:effectLst/>
                          <a:latin typeface="+mn-lt"/>
                          <a:ea typeface="Calibri" panose="020F0502020204030204" pitchFamily="34" charset="0"/>
                          <a:cs typeface="Times New Roman" panose="02020603050405020304" pitchFamily="18" charset="0"/>
                        </a:rPr>
                        <a:t>артисти</a:t>
                      </a:r>
                      <a:endParaRPr lang="ru-RU" sz="900" noProof="0" dirty="0" smtClean="0">
                        <a:effectLst/>
                        <a:latin typeface="+mn-lt"/>
                        <a:ea typeface="Calibri" panose="020F0502020204030204" pitchFamily="34" charset="0"/>
                        <a:cs typeface="Times New Roman" panose="02020603050405020304" pitchFamily="18" charset="0"/>
                      </a:endParaRPr>
                    </a:p>
                    <a:p>
                      <a:pPr algn="l">
                        <a:lnSpc>
                          <a:spcPct val="107000"/>
                        </a:lnSpc>
                        <a:spcAft>
                          <a:spcPts val="0"/>
                        </a:spcAft>
                      </a:pPr>
                      <a:r>
                        <a:rPr lang="ru-RU" sz="900" noProof="0" dirty="0" smtClean="0">
                          <a:effectLst/>
                          <a:latin typeface="+mn-lt"/>
                          <a:ea typeface="Calibri" panose="020F0502020204030204" pitchFamily="34" charset="0"/>
                          <a:cs typeface="Times New Roman" panose="02020603050405020304" pitchFamily="18" charset="0"/>
                        </a:rPr>
                        <a:t>2022 -й.-</a:t>
                      </a:r>
                      <a:r>
                        <a:rPr lang="ru-RU" sz="900" noProof="0" dirty="0" err="1" smtClean="0">
                          <a:effectLst/>
                          <a:latin typeface="+mn-lt"/>
                          <a:ea typeface="Calibri" panose="020F0502020204030204" pitchFamily="34" charset="0"/>
                          <a:cs typeface="Times New Roman" panose="02020603050405020304" pitchFamily="18" charset="0"/>
                        </a:rPr>
                        <a:t>ҳ.в</a:t>
                      </a:r>
                      <a:r>
                        <a:rPr lang="ru-RU" sz="900" noProof="0" dirty="0" smtClean="0">
                          <a:effectLst/>
                          <a:latin typeface="+mn-lt"/>
                          <a:ea typeface="Calibri" panose="020F0502020204030204" pitchFamily="34" charset="0"/>
                          <a:cs typeface="Times New Roman" panose="02020603050405020304" pitchFamily="18" charset="0"/>
                        </a:rPr>
                        <a:t>.   -  </a:t>
                      </a:r>
                      <a:r>
                        <a:rPr lang="ru-RU" sz="900" noProof="0" dirty="0" err="1" smtClean="0">
                          <a:effectLst/>
                          <a:latin typeface="+mn-lt"/>
                          <a:ea typeface="Calibri" panose="020F0502020204030204" pitchFamily="34" charset="0"/>
                          <a:cs typeface="Times New Roman" panose="02020603050405020304" pitchFamily="18" charset="0"/>
                        </a:rPr>
                        <a:t>Хоразм</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вилояти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мусиқали</a:t>
                      </a:r>
                      <a:r>
                        <a:rPr lang="ru-RU" sz="900" noProof="0" dirty="0" smtClean="0">
                          <a:effectLst/>
                          <a:latin typeface="+mn-lt"/>
                          <a:ea typeface="Calibri" panose="020F0502020204030204" pitchFamily="34" charset="0"/>
                          <a:cs typeface="Times New Roman" panose="02020603050405020304" pitchFamily="18" charset="0"/>
                        </a:rPr>
                        <a:t> драма </a:t>
                      </a:r>
                      <a:r>
                        <a:rPr lang="ru-RU" sz="900" noProof="0" dirty="0" err="1" smtClean="0">
                          <a:effectLst/>
                          <a:latin typeface="+mn-lt"/>
                          <a:ea typeface="Calibri" panose="020F0502020204030204" pitchFamily="34" charset="0"/>
                          <a:cs typeface="Times New Roman" panose="02020603050405020304" pitchFamily="18" charset="0"/>
                        </a:rPr>
                        <a:t>театри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етакчи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саҳна</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устаси</a:t>
                      </a:r>
                      <a:r>
                        <a:rPr lang="ru-RU" sz="900" noProof="0" dirty="0" smtClean="0">
                          <a:effectLst/>
                          <a:latin typeface="+mn-lt"/>
                          <a:ea typeface="Calibri" panose="020F0502020204030204" pitchFamily="34" charset="0"/>
                          <a:cs typeface="Times New Roman" panose="02020603050405020304" pitchFamily="18" charset="0"/>
                        </a:rPr>
                        <a:t> драма </a:t>
                      </a:r>
                      <a:r>
                        <a:rPr lang="ru-RU" sz="900" noProof="0" dirty="0" err="1" smtClean="0">
                          <a:effectLst/>
                          <a:latin typeface="+mn-lt"/>
                          <a:ea typeface="Calibri" panose="020F0502020204030204" pitchFamily="34" charset="0"/>
                          <a:cs typeface="Times New Roman" panose="02020603050405020304" pitchFamily="18" charset="0"/>
                        </a:rPr>
                        <a:t>артисти</a:t>
                      </a:r>
                      <a:endParaRPr lang="ru-RU" sz="900" noProof="0" dirty="0" smtClean="0">
                        <a:effectLst/>
                        <a:latin typeface="+mn-lt"/>
                        <a:ea typeface="Calibri" panose="020F0502020204030204" pitchFamily="34" charset="0"/>
                        <a:cs typeface="Times New Roman" panose="02020603050405020304" pitchFamily="18" charset="0"/>
                      </a:endParaRPr>
                    </a:p>
                    <a:p>
                      <a:pPr algn="l">
                        <a:lnSpc>
                          <a:spcPct val="107000"/>
                        </a:lnSpc>
                        <a:spcAft>
                          <a:spcPts val="0"/>
                        </a:spcAft>
                      </a:pP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88134">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8813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2019 й. “хонқа санатория” си даволанган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8813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1928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9279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729665">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ru-RU" sz="900" noProof="0" dirty="0" smtClean="0">
                          <a:effectLst/>
                          <a:latin typeface="+mn-lt"/>
                          <a:ea typeface="Calibri" panose="020F0502020204030204" pitchFamily="34" charset="0"/>
                          <a:cs typeface="Times New Roman" panose="02020603050405020304" pitchFamily="18" charset="0"/>
                        </a:rPr>
                        <a:t>1992 й. "</a:t>
                      </a:r>
                      <a:r>
                        <a:rPr lang="ru-RU" sz="900" noProof="0" dirty="0" err="1" smtClean="0">
                          <a:effectLst/>
                          <a:latin typeface="+mn-lt"/>
                          <a:ea typeface="Calibri" panose="020F0502020204030204" pitchFamily="34" charset="0"/>
                          <a:cs typeface="Times New Roman" panose="02020603050405020304" pitchFamily="18" charset="0"/>
                        </a:rPr>
                        <a:t>Ўзбекистон</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Республикаси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халқ</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артисти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фахрий</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унвони</a:t>
                      </a:r>
                      <a:endParaRPr lang="ru-RU" sz="900" noProof="0" dirty="0" smtClean="0">
                        <a:effectLst/>
                        <a:latin typeface="+mn-lt"/>
                        <a:ea typeface="Calibri" panose="020F0502020204030204" pitchFamily="34" charset="0"/>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r>
                        <a:rPr lang="ru-RU" sz="900" noProof="0" dirty="0" smtClean="0">
                          <a:effectLst/>
                          <a:latin typeface="+mn-lt"/>
                          <a:ea typeface="Calibri" panose="020F0502020204030204" pitchFamily="34" charset="0"/>
                          <a:cs typeface="Times New Roman" panose="02020603050405020304" pitchFamily="18" charset="0"/>
                        </a:rPr>
                        <a:t>2023йил “</a:t>
                      </a:r>
                      <a:r>
                        <a:rPr lang="ru-RU" sz="900" noProof="0" dirty="0" err="1" smtClean="0">
                          <a:effectLst/>
                          <a:latin typeface="+mn-lt"/>
                          <a:ea typeface="Calibri" panose="020F0502020204030204" pitchFamily="34" charset="0"/>
                          <a:cs typeface="Times New Roman" panose="02020603050405020304" pitchFamily="18" charset="0"/>
                        </a:rPr>
                        <a:t>Маданият</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ва</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санъат</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фидокори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кўкрак</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нишони</a:t>
                      </a:r>
                      <a:endParaRPr lang="ru-RU" sz="900" noProof="0" dirty="0" smtClean="0">
                        <a:effectLst/>
                        <a:latin typeface="+mn-lt"/>
                        <a:ea typeface="Calibri" panose="020F0502020204030204" pitchFamily="34" charset="0"/>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2024йил “Меҳнат Шухрати ” ордени</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1335621"/>
              </p:ext>
            </p:extLst>
          </p:nvPr>
        </p:nvGraphicFramePr>
        <p:xfrm>
          <a:off x="6949857" y="869288"/>
          <a:ext cx="2817247" cy="5933383"/>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3678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5045">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392992">
                <a:tc>
                  <a:txBody>
                    <a:bodyPr/>
                    <a:lstStyle/>
                    <a:p>
                      <a:pPr algn="just">
                        <a:lnSpc>
                          <a:spcPct val="85000"/>
                        </a:lnSpc>
                      </a:pPr>
                      <a:r>
                        <a:rPr lang="uz-Cyrl-UZ" sz="900" b="0" noProof="0" dirty="0" smtClean="0">
                          <a:solidFill>
                            <a:schemeClr val="tx1"/>
                          </a:solidFill>
                          <a:latin typeface="+mn-lt"/>
                        </a:rPr>
                        <a:t>    Ушбу театрда 1971-йилдан буён ишлаб келмоқда. Театрдаги ижодий меҳнат фаолияти 48 йил.   Гулоро Раҳимова бетакрор, беқиёс ўзига хос жарангдор овози билан аввал яккахон хонанда, кейинчалик спектаклларда бир қанча образлар яратиб таниқли санъаткор сифатида элга танилди. У кўп йиллик ижодий фаолияти давомида театрда 180 га яқин ролларни маромига етказиб  маҳорат билан  ижро этди. Жумладан, “Олма пишганда галинг”да Зуҳра, “Жаҳаннам”да Раъно, “Муҳаббат қўшиғи”да Боғдагул, “Ўлимдан кучли” драмасида Она, “Феруз”да Ферузнинг онаси, “Юракдаги жароҳат”да Жумагул,  “Ташкилдаги хангома”да Сабохон, “Дилбанди Хива”да Она, “Авесто”да Дурдава, “Тўмарис”да Тўмарис, “Ошиқ Ғариб ва Шоҳсанам” да Шоҳсанам,  Ойлар бегим,   “Жавлон Журра”да Зиёда, “Осмондан тушган бахт”да Салтанат, “Келин ўғирлаш” комедиясида Макка,  “Бола кўтарган аёл” мусиқали драмасида Она, “Олисдаги одамлар” драмасида Гулсум момо,  “Ялмоғизбика” Янги йил томошасида Ялмоғизбика, “Ошиқлар” мусиқали комедияда Латифа, “Уч бўстон булбули” драмасида  Анбар она, “Танхо юлдуз” комедиясида Кундош, “Афандининг беш хотини” комедиясида Фотима,  “Сўйла Жайхун” тарихий драмасида Ровий, “Аршин мол-алон” мусиқали драмасида Жаҳон хола, “Қайс” лирик драмада Она, Абу Райҳон Беруний” тарихий драмасида Бибисора каби ролларни маромига етказиб ижро килди.</a:t>
                      </a:r>
                    </a:p>
                    <a:p>
                      <a:pPr algn="just">
                        <a:lnSpc>
                          <a:spcPct val="85000"/>
                        </a:lnSpc>
                      </a:pPr>
                      <a:r>
                        <a:rPr lang="uz-Cyrl-UZ" sz="900" b="0" baseline="0" noProof="0" dirty="0" smtClean="0">
                          <a:solidFill>
                            <a:schemeClr val="tx1"/>
                          </a:solidFill>
                          <a:latin typeface="+mn-lt"/>
                        </a:rPr>
                        <a:t>    </a:t>
                      </a:r>
                      <a:r>
                        <a:rPr lang="uz-Cyrl-UZ" sz="900" b="0" noProof="0" dirty="0" smtClean="0">
                          <a:solidFill>
                            <a:schemeClr val="tx1"/>
                          </a:solidFill>
                          <a:latin typeface="+mn-lt"/>
                        </a:rPr>
                        <a:t>Шунингдек, ”Ошиқ Ғариб ва Шоҳсанам” дастони асосида бир актёр ижросидаги моноспектаклни ҳамда “Шайх Санъон” мусиқали драмасида мақом ижро  этиб  томошабинлар  олқишларига сазовар бўлди.</a:t>
                      </a:r>
                    </a:p>
                    <a:p>
                      <a:pPr algn="just">
                        <a:lnSpc>
                          <a:spcPct val="85000"/>
                        </a:lnSpc>
                      </a:pPr>
                      <a:r>
                        <a:rPr lang="uz-Cyrl-UZ" sz="900" b="0" noProof="0" dirty="0" smtClean="0">
                          <a:solidFill>
                            <a:schemeClr val="tx1"/>
                          </a:solidFill>
                          <a:latin typeface="+mn-lt"/>
                        </a:rPr>
                        <a:t>    Г.Раҳимова ўзбек кино санъатида ҳам ўз иқтидорини намоён этган таниқли санъаткордир. Унинг “Феруз” видеофильмидаги Она, “Хазон” бадиий фильмида  ўйнаган Она образлари ҳам моҳирона ижро этган. </a:t>
                      </a:r>
                    </a:p>
                    <a:p>
                      <a:pPr algn="just">
                        <a:lnSpc>
                          <a:spcPct val="85000"/>
                        </a:lnSpc>
                      </a:pP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710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95593">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a:picLocks noChangeAspect="1"/>
          </p:cNvPicPr>
          <p:nvPr/>
        </p:nvPicPr>
        <p:blipFill>
          <a:blip r:embed="rId3"/>
          <a:stretch>
            <a:fillRect/>
          </a:stretch>
        </p:blipFill>
        <p:spPr>
          <a:xfrm>
            <a:off x="259029" y="1169822"/>
            <a:ext cx="891058" cy="1044000"/>
          </a:xfrm>
          <a:prstGeom prst="rect">
            <a:avLst/>
          </a:prstGeom>
        </p:spPr>
      </p:pic>
    </p:spTree>
    <p:extLst>
      <p:ext uri="{BB962C8B-B14F-4D97-AF65-F5344CB8AC3E}">
        <p14:creationId xmlns:p14="http://schemas.microsoft.com/office/powerpoint/2010/main" val="936307168"/>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705201230"/>
              </p:ext>
            </p:extLst>
          </p:nvPr>
        </p:nvGraphicFramePr>
        <p:xfrm>
          <a:off x="144489" y="865702"/>
          <a:ext cx="3427547" cy="5917486"/>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787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247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АБДУЛЛАЕВ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247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Одамбой</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247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Салаевич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247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247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01.03.1956</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247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Шавот 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5224">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22581">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1 қиз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5224">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35138">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smtClean="0">
                          <a:solidFill>
                            <a:schemeClr val="tx1"/>
                          </a:solidFill>
                          <a:effectLst/>
                          <a:latin typeface="+mn-lt"/>
                          <a:ea typeface="+mn-ea"/>
                          <a:cs typeface="+mn-cs"/>
                        </a:rPr>
                        <a:t>Абдуллаев  Салай</a:t>
                      </a:r>
                      <a:br>
                        <a:rPr lang="uz-Cyrl-UZ" sz="900" kern="1200" dirty="0" smtClean="0">
                          <a:solidFill>
                            <a:schemeClr val="tx1"/>
                          </a:solidFill>
                          <a:effectLst/>
                          <a:latin typeface="+mn-lt"/>
                          <a:ea typeface="+mn-ea"/>
                          <a:cs typeface="+mn-cs"/>
                        </a:rPr>
                      </a:br>
                      <a:r>
                        <a:rPr lang="uz-Cyrl-UZ" sz="900" b="0" kern="1200" noProof="0" dirty="0" smtClean="0">
                          <a:solidFill>
                            <a:schemeClr val="tx1"/>
                          </a:solidFill>
                          <a:latin typeface="+mn-lt"/>
                          <a:ea typeface="+mn-ea"/>
                          <a:cs typeface="Arial" panose="020B0604020202020204" pitchFamily="34" charset="0"/>
                        </a:rPr>
                        <a:t>1932 йил, Шавот тумани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1995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kern="1200" dirty="0" err="1" smtClean="0">
                          <a:solidFill>
                            <a:schemeClr val="tx1"/>
                          </a:solidFill>
                          <a:effectLst/>
                          <a:latin typeface="+mn-lt"/>
                          <a:ea typeface="+mn-ea"/>
                          <a:cs typeface="+mn-cs"/>
                        </a:rPr>
                        <a:t>Шовот</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тумани</a:t>
                      </a:r>
                      <a:r>
                        <a:rPr lang="ru-RU" sz="900" kern="1200" dirty="0" smtClean="0">
                          <a:solidFill>
                            <a:schemeClr val="tx1"/>
                          </a:solidFill>
                          <a:effectLst/>
                          <a:latin typeface="+mn-lt"/>
                          <a:ea typeface="+mn-ea"/>
                          <a:cs typeface="+mn-cs"/>
                        </a:rPr>
                        <a:t> , 5- </a:t>
                      </a:r>
                      <a:r>
                        <a:rPr lang="ru-RU" sz="900" kern="1200" dirty="0" err="1" smtClean="0">
                          <a:solidFill>
                            <a:schemeClr val="tx1"/>
                          </a:solidFill>
                          <a:effectLst/>
                          <a:latin typeface="+mn-lt"/>
                          <a:ea typeface="+mn-ea"/>
                          <a:cs typeface="+mn-cs"/>
                        </a:rPr>
                        <a:t>мактаб</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директори</a:t>
                      </a:r>
                      <a:r>
                        <a:rPr lang="ru-RU" sz="900" kern="1200" dirty="0" smtClean="0">
                          <a:solidFill>
                            <a:schemeClr val="tx1"/>
                          </a:solidFill>
                          <a:effectLst/>
                          <a:latin typeface="+mn-lt"/>
                          <a:ea typeface="+mn-ea"/>
                          <a:cs typeface="+mn-cs"/>
                        </a:rPr>
                        <a:t> </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40007">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ru-RU" sz="900" kern="1200" dirty="0" err="1" smtClean="0">
                          <a:solidFill>
                            <a:schemeClr val="tx1"/>
                          </a:solidFill>
                          <a:effectLst/>
                          <a:latin typeface="+mn-lt"/>
                          <a:ea typeface="+mn-ea"/>
                          <a:cs typeface="+mn-cs"/>
                        </a:rPr>
                        <a:t>Жумабоева</a:t>
                      </a:r>
                      <a:r>
                        <a:rPr lang="ru-RU" sz="900" kern="1200" dirty="0" smtClean="0">
                          <a:solidFill>
                            <a:schemeClr val="tx1"/>
                          </a:solidFill>
                          <a:effectLst/>
                          <a:latin typeface="+mn-lt"/>
                          <a:ea typeface="+mn-ea"/>
                          <a:cs typeface="+mn-cs"/>
                        </a:rPr>
                        <a:t> П</a:t>
                      </a:r>
                      <a:r>
                        <a:rPr lang="uz-Cyrl-UZ" sz="900" kern="1200" dirty="0" smtClean="0">
                          <a:solidFill>
                            <a:schemeClr val="tx1"/>
                          </a:solidFill>
                          <a:effectLst/>
                          <a:latin typeface="+mn-lt"/>
                          <a:ea typeface="+mn-ea"/>
                          <a:cs typeface="+mn-cs"/>
                        </a:rPr>
                        <a:t>о</a:t>
                      </a:r>
                      <a:r>
                        <a:rPr lang="ru-RU" sz="900" kern="1200" dirty="0" err="1" smtClean="0">
                          <a:solidFill>
                            <a:schemeClr val="tx1"/>
                          </a:solidFill>
                          <a:effectLst/>
                          <a:latin typeface="+mn-lt"/>
                          <a:ea typeface="+mn-ea"/>
                          <a:cs typeface="+mn-cs"/>
                        </a:rPr>
                        <a:t>шшажон</a:t>
                      </a:r>
                      <a:endParaRPr lang="ru-RU" sz="900" kern="1200" dirty="0" smtClean="0">
                        <a:solidFill>
                          <a:schemeClr val="tx1"/>
                        </a:solidFill>
                        <a:effectLst/>
                        <a:latin typeface="+mn-lt"/>
                        <a:ea typeface="+mn-ea"/>
                        <a:cs typeface="+mn-cs"/>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1934 йил, Шавот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2019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Уй</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40007">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ru-RU" sz="900" kern="1200" dirty="0" err="1" smtClean="0">
                          <a:solidFill>
                            <a:schemeClr val="tx1"/>
                          </a:solidFill>
                          <a:effectLst/>
                          <a:latin typeface="+mn-lt"/>
                          <a:ea typeface="+mn-ea"/>
                          <a:cs typeface="+mn-cs"/>
                        </a:rPr>
                        <a:t>Матсапаева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Жамила</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Салаевна </a:t>
                      </a:r>
                      <a:r>
                        <a:rPr lang="uz-Cyrl-UZ" sz="900" b="0" kern="1200" noProof="0" dirty="0" smtClean="0">
                          <a:solidFill>
                            <a:schemeClr val="tx1"/>
                          </a:solidFill>
                          <a:latin typeface="+mn-lt"/>
                          <a:ea typeface="+mn-ea"/>
                          <a:cs typeface="Arial" panose="020B0604020202020204" pitchFamily="34" charset="0"/>
                        </a:rPr>
                        <a:t>1955 йил, шавот т</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Уй бекаси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1505">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35762">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1978 </a:t>
                      </a:r>
                      <a:r>
                        <a:rPr lang="ru-RU" sz="900" b="0" kern="1200" noProof="0" dirty="0" err="1" smtClean="0">
                          <a:solidFill>
                            <a:schemeClr val="tx1"/>
                          </a:solidFill>
                          <a:latin typeface="+mn-lt"/>
                          <a:ea typeface="+mn-ea"/>
                          <a:cs typeface="+mn-cs"/>
                        </a:rPr>
                        <a:t>й.Тошкент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рассомлик</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9497">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қўғирчоқ театри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9035">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9035">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41775">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004793581"/>
              </p:ext>
            </p:extLst>
          </p:nvPr>
        </p:nvGraphicFramePr>
        <p:xfrm>
          <a:off x="3674526" y="865689"/>
          <a:ext cx="3172841" cy="5959416"/>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272853">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06544">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2019 йилдан буён Нафақада</a:t>
                      </a:r>
                      <a:r>
                        <a:rPr lang="uz-Cyrl-UZ" sz="900" b="1"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хор артисти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03597">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7526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52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6322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4064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ru-RU" sz="900" noProof="0" dirty="0" smtClean="0">
                          <a:effectLst/>
                          <a:latin typeface="+mn-lt"/>
                          <a:ea typeface="Calibri" panose="020F0502020204030204" pitchFamily="34" charset="0"/>
                          <a:cs typeface="Times New Roman" panose="02020603050405020304" pitchFamily="18" charset="0"/>
                        </a:rPr>
                        <a:t>1985-1993 </a:t>
                      </a:r>
                      <a:r>
                        <a:rPr lang="ru-RU" sz="900" noProof="0" dirty="0" err="1" smtClean="0">
                          <a:effectLst/>
                          <a:latin typeface="+mn-lt"/>
                          <a:ea typeface="Calibri" panose="020F0502020204030204" pitchFamily="34" charset="0"/>
                          <a:cs typeface="Times New Roman" panose="02020603050405020304" pitchFamily="18" charset="0"/>
                        </a:rPr>
                        <a:t>йй</a:t>
                      </a:r>
                      <a:r>
                        <a:rPr lang="ru-RU" sz="900" noProof="0" dirty="0" smtClean="0">
                          <a:effectLst/>
                          <a:latin typeface="+mn-lt"/>
                          <a:ea typeface="Calibri" panose="020F0502020204030204" pitchFamily="34" charset="0"/>
                          <a:cs typeface="Times New Roman" panose="02020603050405020304" pitchFamily="18" charset="0"/>
                        </a:rPr>
                        <a:t>. - </a:t>
                      </a:r>
                      <a:r>
                        <a:rPr lang="ru-RU" sz="900" noProof="0" dirty="0" err="1" smtClean="0">
                          <a:effectLst/>
                          <a:latin typeface="+mn-lt"/>
                          <a:ea typeface="Calibri" panose="020F0502020204030204" pitchFamily="34" charset="0"/>
                          <a:cs typeface="Times New Roman" panose="02020603050405020304" pitchFamily="18" charset="0"/>
                        </a:rPr>
                        <a:t>Огаҳий</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номидаги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Хоразм</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вилоят</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мусиқали</a:t>
                      </a:r>
                      <a:r>
                        <a:rPr lang="ru-RU" sz="900" noProof="0" dirty="0" smtClean="0">
                          <a:effectLst/>
                          <a:latin typeface="+mn-lt"/>
                          <a:ea typeface="Calibri" panose="020F0502020204030204" pitchFamily="34" charset="0"/>
                          <a:cs typeface="Times New Roman" panose="02020603050405020304" pitchFamily="18" charset="0"/>
                        </a:rPr>
                        <a:t> драма  </a:t>
                      </a:r>
                      <a:r>
                        <a:rPr lang="ru-RU" sz="900" noProof="0" dirty="0" err="1" smtClean="0">
                          <a:effectLst/>
                          <a:latin typeface="+mn-lt"/>
                          <a:ea typeface="Calibri" panose="020F0502020204030204" pitchFamily="34" charset="0"/>
                          <a:cs typeface="Times New Roman" panose="02020603050405020304" pitchFamily="18" charset="0"/>
                        </a:rPr>
                        <a:t>ва</a:t>
                      </a:r>
                      <a:r>
                        <a:rPr lang="ru-RU" sz="900" noProof="0" dirty="0" smtClean="0">
                          <a:effectLst/>
                          <a:latin typeface="+mn-lt"/>
                          <a:ea typeface="Calibri" panose="020F0502020204030204" pitchFamily="34" charset="0"/>
                          <a:cs typeface="Times New Roman" panose="02020603050405020304" pitchFamily="18" charset="0"/>
                        </a:rPr>
                        <a:t> комедия </a:t>
                      </a:r>
                      <a:r>
                        <a:rPr lang="ru-RU" sz="900" noProof="0" dirty="0" err="1" smtClean="0">
                          <a:effectLst/>
                          <a:latin typeface="+mn-lt"/>
                          <a:ea typeface="Calibri" panose="020F0502020204030204" pitchFamily="34" charset="0"/>
                          <a:cs typeface="Times New Roman" panose="02020603050405020304" pitchFamily="18" charset="0"/>
                        </a:rPr>
                        <a:t>театри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актёри</a:t>
                      </a:r>
                      <a:endParaRPr lang="ru-RU" sz="900" noProof="0" dirty="0" smtClean="0">
                        <a:effectLst/>
                        <a:latin typeface="+mn-lt"/>
                        <a:ea typeface="Calibri" panose="020F0502020204030204" pitchFamily="34" charset="0"/>
                        <a:cs typeface="Times New Roman" panose="02020603050405020304" pitchFamily="18" charset="0"/>
                      </a:endParaRPr>
                    </a:p>
                    <a:p>
                      <a:pPr marL="0" marR="0" indent="0" algn="l" defTabSz="914400" rtl="0" eaLnBrk="1" fontAlgn="auto" latinLnBrk="0" hangingPunct="1">
                        <a:lnSpc>
                          <a:spcPct val="107000"/>
                        </a:lnSpc>
                        <a:spcBef>
                          <a:spcPts val="0"/>
                        </a:spcBef>
                        <a:spcAft>
                          <a:spcPts val="0"/>
                        </a:spcAft>
                        <a:buClrTx/>
                        <a:buSzTx/>
                        <a:buFontTx/>
                        <a:buNone/>
                        <a:tabLst/>
                        <a:defRPr/>
                      </a:pPr>
                      <a:r>
                        <a:rPr lang="ru-RU" sz="900" noProof="0" dirty="0" smtClean="0">
                          <a:effectLst/>
                          <a:latin typeface="+mn-lt"/>
                          <a:ea typeface="Calibri" panose="020F0502020204030204" pitchFamily="34" charset="0"/>
                          <a:cs typeface="Times New Roman" panose="02020603050405020304" pitchFamily="18" charset="0"/>
                        </a:rPr>
                        <a:t>2000-2002 </a:t>
                      </a:r>
                      <a:r>
                        <a:rPr lang="ru-RU" sz="900" noProof="0" dirty="0" err="1" smtClean="0">
                          <a:effectLst/>
                          <a:latin typeface="+mn-lt"/>
                          <a:ea typeface="Calibri" panose="020F0502020204030204" pitchFamily="34" charset="0"/>
                          <a:cs typeface="Times New Roman" panose="02020603050405020304" pitchFamily="18" charset="0"/>
                        </a:rPr>
                        <a:t>йй</a:t>
                      </a:r>
                      <a:r>
                        <a:rPr lang="ru-RU" sz="900" noProof="0" dirty="0" smtClean="0">
                          <a:effectLst/>
                          <a:latin typeface="+mn-lt"/>
                          <a:ea typeface="Calibri" panose="020F0502020204030204" pitchFamily="34" charset="0"/>
                          <a:cs typeface="Times New Roman" panose="02020603050405020304" pitchFamily="18" charset="0"/>
                        </a:rPr>
                        <a:t>. - </a:t>
                      </a:r>
                      <a:r>
                        <a:rPr lang="ru-RU" sz="900" noProof="0" dirty="0" err="1" smtClean="0">
                          <a:effectLst/>
                          <a:latin typeface="+mn-lt"/>
                          <a:ea typeface="Calibri" panose="020F0502020204030204" pitchFamily="34" charset="0"/>
                          <a:cs typeface="Times New Roman" panose="02020603050405020304" pitchFamily="18" charset="0"/>
                        </a:rPr>
                        <a:t>Огаҳий</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номидаги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Хоразм</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вилоят</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мусиқали</a:t>
                      </a:r>
                      <a:r>
                        <a:rPr lang="ru-RU" sz="900" noProof="0" dirty="0" smtClean="0">
                          <a:effectLst/>
                          <a:latin typeface="+mn-lt"/>
                          <a:ea typeface="Calibri" panose="020F0502020204030204" pitchFamily="34" charset="0"/>
                          <a:cs typeface="Times New Roman" panose="02020603050405020304" pitchFamily="18" charset="0"/>
                        </a:rPr>
                        <a:t> драма  </a:t>
                      </a:r>
                      <a:r>
                        <a:rPr lang="ru-RU" sz="900" noProof="0" dirty="0" err="1" smtClean="0">
                          <a:effectLst/>
                          <a:latin typeface="+mn-lt"/>
                          <a:ea typeface="Calibri" panose="020F0502020204030204" pitchFamily="34" charset="0"/>
                          <a:cs typeface="Times New Roman" panose="02020603050405020304" pitchFamily="18" charset="0"/>
                        </a:rPr>
                        <a:t>ва</a:t>
                      </a:r>
                      <a:r>
                        <a:rPr lang="ru-RU" sz="900" noProof="0" dirty="0" smtClean="0">
                          <a:effectLst/>
                          <a:latin typeface="+mn-lt"/>
                          <a:ea typeface="Calibri" panose="020F0502020204030204" pitchFamily="34" charset="0"/>
                          <a:cs typeface="Times New Roman" panose="02020603050405020304" pitchFamily="18" charset="0"/>
                        </a:rPr>
                        <a:t> комедия </a:t>
                      </a:r>
                      <a:r>
                        <a:rPr lang="ru-RU" sz="900" noProof="0" dirty="0" err="1" smtClean="0">
                          <a:effectLst/>
                          <a:latin typeface="+mn-lt"/>
                          <a:ea typeface="Calibri" panose="020F0502020204030204" pitchFamily="34" charset="0"/>
                          <a:cs typeface="Times New Roman" panose="02020603050405020304" pitchFamily="18" charset="0"/>
                        </a:rPr>
                        <a:t>театри</a:t>
                      </a:r>
                      <a:r>
                        <a:rPr lang="ru-RU" sz="900" noProof="0" dirty="0" smtClean="0">
                          <a:effectLst/>
                          <a:latin typeface="+mn-lt"/>
                          <a:ea typeface="Calibri" panose="020F0502020204030204" pitchFamily="34" charset="0"/>
                          <a:cs typeface="Times New Roman" panose="02020603050405020304" pitchFamily="18" charset="0"/>
                        </a:rPr>
                        <a:t> бош </a:t>
                      </a:r>
                      <a:r>
                        <a:rPr lang="ru-RU" sz="900" noProof="0" dirty="0" err="1" smtClean="0">
                          <a:effectLst/>
                          <a:latin typeface="+mn-lt"/>
                          <a:ea typeface="Calibri" panose="020F0502020204030204" pitchFamily="34" charset="0"/>
                          <a:cs typeface="Times New Roman" panose="02020603050405020304" pitchFamily="18" charset="0"/>
                        </a:rPr>
                        <a:t>режиссёри</a:t>
                      </a:r>
                      <a:r>
                        <a:rPr lang="ru-RU" sz="900" noProof="0" dirty="0" smtClean="0">
                          <a:effectLst/>
                          <a:latin typeface="+mn-lt"/>
                          <a:ea typeface="Calibri" panose="020F0502020204030204" pitchFamily="34" charset="0"/>
                          <a:cs typeface="Times New Roman" panose="02020603050405020304" pitchFamily="18" charset="0"/>
                        </a:rPr>
                        <a:t> </a:t>
                      </a:r>
                      <a:r>
                        <a:rPr lang="uz-Cyrl-UZ" sz="800" kern="1200" dirty="0" smtClean="0">
                          <a:solidFill>
                            <a:schemeClr val="tx1"/>
                          </a:solidFill>
                          <a:effectLst/>
                          <a:latin typeface="+mn-lt"/>
                          <a:ea typeface="+mn-ea"/>
                          <a:cs typeface="+mn-cs"/>
                        </a:rPr>
                        <a:t>2008-2013 йй.  - Огаҳий номидаги Хоразм вилоят мусиқали драма  театри саҳналаштирувчи режиссёри</a:t>
                      </a:r>
                      <a:endParaRPr lang="ru-RU" sz="900" noProof="0" dirty="0" smtClean="0">
                        <a:effectLst/>
                        <a:latin typeface="+mn-lt"/>
                        <a:ea typeface="Calibri" panose="020F0502020204030204" pitchFamily="34" charset="0"/>
                        <a:cs typeface="Times New Roman" panose="02020603050405020304" pitchFamily="18" charset="0"/>
                      </a:endParaRPr>
                    </a:p>
                    <a:p>
                      <a:pPr algn="l">
                        <a:lnSpc>
                          <a:spcPct val="107000"/>
                        </a:lnSpc>
                        <a:spcAft>
                          <a:spcPts val="0"/>
                        </a:spcAft>
                      </a:pPr>
                      <a:r>
                        <a:rPr lang="ru-RU" sz="900" noProof="0" dirty="0" smtClean="0">
                          <a:effectLst/>
                          <a:latin typeface="+mn-lt"/>
                          <a:ea typeface="Calibri" panose="020F0502020204030204" pitchFamily="34" charset="0"/>
                          <a:cs typeface="Times New Roman" panose="02020603050405020304" pitchFamily="18" charset="0"/>
                        </a:rPr>
                        <a:t>2019- </a:t>
                      </a:r>
                      <a:r>
                        <a:rPr lang="ru-RU" sz="900" noProof="0" dirty="0" err="1" smtClean="0">
                          <a:effectLst/>
                          <a:latin typeface="+mn-lt"/>
                          <a:ea typeface="Calibri" panose="020F0502020204030204" pitchFamily="34" charset="0"/>
                          <a:cs typeface="Times New Roman" panose="02020603050405020304" pitchFamily="18" charset="0"/>
                        </a:rPr>
                        <a:t>Хоразм</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вилоят</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мусиқали</a:t>
                      </a:r>
                      <a:r>
                        <a:rPr lang="ru-RU" sz="900" noProof="0" dirty="0" smtClean="0">
                          <a:effectLst/>
                          <a:latin typeface="+mn-lt"/>
                          <a:ea typeface="Calibri" panose="020F0502020204030204" pitchFamily="34" charset="0"/>
                          <a:cs typeface="Times New Roman" panose="02020603050405020304" pitchFamily="18" charset="0"/>
                        </a:rPr>
                        <a:t> драма  </a:t>
                      </a:r>
                      <a:r>
                        <a:rPr lang="ru-RU" sz="900" noProof="0" dirty="0" err="1" smtClean="0">
                          <a:effectLst/>
                          <a:latin typeface="+mn-lt"/>
                          <a:ea typeface="Calibri" panose="020F0502020204030204" pitchFamily="34" charset="0"/>
                          <a:cs typeface="Times New Roman" panose="02020603050405020304" pitchFamily="18" charset="0"/>
                        </a:rPr>
                        <a:t>театри</a:t>
                      </a:r>
                      <a:r>
                        <a:rPr lang="ru-RU" sz="900" noProof="0" dirty="0" smtClean="0">
                          <a:effectLst/>
                          <a:latin typeface="+mn-lt"/>
                          <a:ea typeface="Calibri" panose="020F0502020204030204" pitchFamily="34" charset="0"/>
                          <a:cs typeface="Times New Roman" panose="02020603050405020304" pitchFamily="18" charset="0"/>
                        </a:rPr>
                        <a:t>  хор </a:t>
                      </a:r>
                      <a:r>
                        <a:rPr lang="ru-RU" sz="900" noProof="0" dirty="0" err="1" smtClean="0">
                          <a:effectLst/>
                          <a:latin typeface="+mn-lt"/>
                          <a:ea typeface="Calibri" panose="020F0502020204030204" pitchFamily="34" charset="0"/>
                          <a:cs typeface="Times New Roman" panose="02020603050405020304" pitchFamily="18" charset="0"/>
                        </a:rPr>
                        <a:t>артисти</a:t>
                      </a: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85874">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8587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8587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1478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88836">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694128">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2013 й. “ Меҳнат шуҳрати”ордени</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130298748"/>
              </p:ext>
            </p:extLst>
          </p:nvPr>
        </p:nvGraphicFramePr>
        <p:xfrm>
          <a:off x="6949857" y="869287"/>
          <a:ext cx="2817247" cy="5913899"/>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823">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5945">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315036">
                <a:tc>
                  <a:txBody>
                    <a:bodyPr/>
                    <a:lstStyle/>
                    <a:p>
                      <a:pPr algn="just">
                        <a:lnSpc>
                          <a:spcPct val="85000"/>
                        </a:lnSpc>
                      </a:pPr>
                      <a:r>
                        <a:rPr lang="uz-Cyrl-UZ" sz="900" b="0" noProof="0" dirty="0" smtClean="0">
                          <a:solidFill>
                            <a:schemeClr val="tx1"/>
                          </a:solidFill>
                          <a:latin typeface="+mn-lt"/>
                        </a:rPr>
                        <a:t>    Абдуллаев Одамбой  ўзининг меҳнат фаолиятини 1978-йил Самарқанд давлат қўғиржоқ театридан бошлаган. “Качал Полвон” спектаклида Шомамат ота “Али сеҳргарда” Ҳайдархон,”Дадабой дангасада ”Нусрат бобо,”Товуқлар ва тулкиларда”Олапар каби ранг баранг роллар ижро этган. 1985-йилдан Хоразм вилояти мусиқали драма театрида актёр сифатида ишлай бошлади. Ҳурматли Елина Сергиевна спектаклида Витя ,”Темир хотинда” Олимтой,”Нажмиддин Кубро”да Қипчоқ хони ,”Султон Жалолиддин” да Нажминдин купро “Махтумкули “спектаклида Эшик огаси каби ролларни ижро этган.1993 йилдан Хива кўғиржок театрида Режиссёр,кейинчалик бош режиссёр лавозимида ишлаган. Эгри ва тўғри олтин балиқ янги йил саргузаштлари Афанди ҳангомалари каби спектаклларини саҳналаштирган.Андижонда бўлиб ўтган Республика қўгиржок театрлар фестивалида энг яхши эркак роли учун дипломи билан такдирланган. </a:t>
                      </a:r>
                    </a:p>
                    <a:p>
                      <a:pPr algn="just">
                        <a:lnSpc>
                          <a:spcPct val="85000"/>
                        </a:lnSpc>
                      </a:pPr>
                      <a:r>
                        <a:rPr lang="uz-Cyrl-UZ" sz="900" b="0" noProof="0" dirty="0" smtClean="0">
                          <a:solidFill>
                            <a:schemeClr val="tx1"/>
                          </a:solidFill>
                          <a:latin typeface="+mn-lt"/>
                        </a:rPr>
                        <a:t>    Театрда режиссёр бўлиб ишлаган даврларда “жавлон журра” бола кўтарган аёл ўзи муаллифлик қилган “Ялмоғиз бика” “разолат қурбонлари” “узилган япроқ” “яраланган юраклар” “сўнган умидлар” каби спектакллар саҳналаштирган .Вилоятда бўлиб ўтадиган 250-дан зиёд давлат тадбирларида режиссёрлик қилиб Наврўз умумҳалқ байрами Мустақллик байрами Президент арчаси ватан химоячилари куни каби тадбарларни ўтказиб келган.</a:t>
                      </a:r>
                    </a:p>
                    <a:p>
                      <a:pPr algn="just">
                        <a:lnSpc>
                          <a:spcPct val="85000"/>
                        </a:lnSpc>
                      </a:pPr>
                      <a:r>
                        <a:rPr lang="uz-Cyrl-UZ" sz="900" b="0" noProof="0" dirty="0" smtClean="0">
                          <a:solidFill>
                            <a:schemeClr val="tx1"/>
                          </a:solidFill>
                          <a:latin typeface="+mn-lt"/>
                        </a:rPr>
                        <a:t>    Республикада бўлиб ўтган кўхна замин оханглари теливизион фестивалида энг яхши режиссура дипломига сазовор бўлган. Термиз шаҳри ва Нукус шаҳрида бўлиб ўтган бахшилар фестивалида, бойсунда бўлиб ўтган бойсун фестивалида, у тайёрлаган дастурда фахрли 1-ва 2-ўринларга сазовор бўлган.</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44">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351">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a:picLocks noChangeAspect="1"/>
          </p:cNvPicPr>
          <p:nvPr/>
        </p:nvPicPr>
        <p:blipFill>
          <a:blip r:embed="rId2"/>
          <a:stretch>
            <a:fillRect/>
          </a:stretch>
        </p:blipFill>
        <p:spPr>
          <a:xfrm>
            <a:off x="264705" y="1144919"/>
            <a:ext cx="899077" cy="1072069"/>
          </a:xfrm>
          <a:prstGeom prst="rect">
            <a:avLst/>
          </a:prstGeom>
        </p:spPr>
      </p:pic>
    </p:spTree>
    <p:extLst>
      <p:ext uri="{BB962C8B-B14F-4D97-AF65-F5344CB8AC3E}">
        <p14:creationId xmlns:p14="http://schemas.microsoft.com/office/powerpoint/2010/main" val="4197104102"/>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407660295"/>
              </p:ext>
            </p:extLst>
          </p:nvPr>
        </p:nvGraphicFramePr>
        <p:xfrm>
          <a:off x="144489" y="865702"/>
          <a:ext cx="3427547" cy="5955236"/>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6470">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137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ТОЖИБАЕВ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137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Камилбай</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137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ХХХ</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137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137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20.06.1957</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137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Гурлан 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3891">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1493">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3 нафар қиз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3891">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32103">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Тожибаев</a:t>
                      </a:r>
                      <a:r>
                        <a:rPr lang="uz-Cyrl-UZ" sz="900" b="1" kern="1200" baseline="0" noProof="0" dirty="0" smtClean="0">
                          <a:solidFill>
                            <a:schemeClr val="tx1"/>
                          </a:solidFill>
                          <a:latin typeface="+mn-lt"/>
                          <a:ea typeface="+mn-ea"/>
                          <a:cs typeface="Arial" panose="020B0604020202020204" pitchFamily="34" charset="0"/>
                        </a:rPr>
                        <a:t> Қуранбой</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1906 йил, Гурлан тумани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1988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7512">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Тожибаева Пардагул</a:t>
                      </a:r>
                    </a:p>
                    <a:p>
                      <a:pPr algn="l">
                        <a:lnSpc>
                          <a:spcPct val="85000"/>
                        </a:lnSpc>
                      </a:pPr>
                      <a:r>
                        <a:rPr lang="uz-Cyrl-UZ" sz="900" b="0" kern="1200" noProof="0" dirty="0" smtClean="0">
                          <a:solidFill>
                            <a:schemeClr val="tx1"/>
                          </a:solidFill>
                          <a:latin typeface="+mn-lt"/>
                          <a:ea typeface="+mn-ea"/>
                          <a:cs typeface="Arial" panose="020B0604020202020204" pitchFamily="34" charset="0"/>
                        </a:rPr>
                        <a:t>1933 йил, Гурлан</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2017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7512">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Бабажанова Гулнора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1956 йил, Янгибозор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Уй бекаси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0305">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32157">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ru-RU" sz="900" b="0" kern="1200" noProof="0" dirty="0" smtClean="0">
                          <a:solidFill>
                            <a:schemeClr val="tx1"/>
                          </a:solidFill>
                          <a:latin typeface="+mn-lt"/>
                          <a:ea typeface="+mn-ea"/>
                          <a:cs typeface="+mn-cs"/>
                        </a:rPr>
                        <a:t>1979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рассомлик</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791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hangingPunct="0"/>
                      <a:r>
                        <a:rPr lang="ru-RU" sz="900" kern="1200" dirty="0" smtClean="0">
                          <a:solidFill>
                            <a:schemeClr val="tx1"/>
                          </a:solidFill>
                          <a:effectLst/>
                          <a:latin typeface="+mn-lt"/>
                          <a:ea typeface="+mn-ea"/>
                          <a:cs typeface="+mn-cs"/>
                        </a:rPr>
                        <a:t>драма </a:t>
                      </a:r>
                      <a:r>
                        <a:rPr lang="ru-RU" sz="900" kern="1200" dirty="0" err="1" smtClean="0">
                          <a:solidFill>
                            <a:schemeClr val="tx1"/>
                          </a:solidFill>
                          <a:effectLst/>
                          <a:latin typeface="+mn-lt"/>
                          <a:ea typeface="+mn-ea"/>
                          <a:cs typeface="+mn-cs"/>
                        </a:rPr>
                        <a:t>ва</a:t>
                      </a:r>
                      <a:r>
                        <a:rPr lang="ru-RU" sz="900" kern="1200" dirty="0" smtClean="0">
                          <a:solidFill>
                            <a:schemeClr val="tx1"/>
                          </a:solidFill>
                          <a:effectLst/>
                          <a:latin typeface="+mn-lt"/>
                          <a:ea typeface="+mn-ea"/>
                          <a:cs typeface="+mn-cs"/>
                        </a:rPr>
                        <a:t> кино </a:t>
                      </a:r>
                      <a:r>
                        <a:rPr lang="ru-RU" sz="900" kern="1200" dirty="0" err="1" smtClean="0">
                          <a:solidFill>
                            <a:schemeClr val="tx1"/>
                          </a:solidFill>
                          <a:effectLst/>
                          <a:latin typeface="+mn-lt"/>
                          <a:ea typeface="+mn-ea"/>
                          <a:cs typeface="+mn-cs"/>
                        </a:rPr>
                        <a:t>актёри</a:t>
                      </a:r>
                      <a:endParaRPr lang="ru-RU" sz="90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722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722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927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730770070"/>
              </p:ext>
            </p:extLst>
          </p:nvPr>
        </p:nvGraphicFramePr>
        <p:xfrm>
          <a:off x="3674526" y="865689"/>
          <a:ext cx="3230476" cy="5970795"/>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733234">
                  <a:extLst>
                    <a:ext uri="{9D8B030D-6E8A-4147-A177-3AD203B41FA5}">
                      <a16:colId xmlns:a16="http://schemas.microsoft.com/office/drawing/2014/main" val="546443978"/>
                    </a:ext>
                  </a:extLst>
                </a:gridCol>
              </a:tblGrid>
              <a:tr h="259131">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10829">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Етакчи саҳна устаси драма артисти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193356">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4768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47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4409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226487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ru-RU" sz="900" noProof="0" dirty="0" smtClean="0">
                          <a:effectLst/>
                          <a:latin typeface="+mn-lt"/>
                          <a:ea typeface="Calibri" panose="020F0502020204030204" pitchFamily="34" charset="0"/>
                          <a:cs typeface="Times New Roman" panose="02020603050405020304" pitchFamily="18" charset="0"/>
                        </a:rPr>
                        <a:t>1979-1979 </a:t>
                      </a:r>
                      <a:r>
                        <a:rPr lang="ru-RU" sz="900" noProof="0" dirty="0" err="1" smtClean="0">
                          <a:effectLst/>
                          <a:latin typeface="+mn-lt"/>
                          <a:ea typeface="Calibri" panose="020F0502020204030204" pitchFamily="34" charset="0"/>
                          <a:cs typeface="Times New Roman" panose="02020603050405020304" pitchFamily="18" charset="0"/>
                        </a:rPr>
                        <a:t>йй</a:t>
                      </a:r>
                      <a:r>
                        <a:rPr lang="ru-RU" sz="900" noProof="0" dirty="0" smtClean="0">
                          <a:effectLst/>
                          <a:latin typeface="+mn-lt"/>
                          <a:ea typeface="Calibri" panose="020F0502020204030204" pitchFamily="34" charset="0"/>
                          <a:cs typeface="Times New Roman" panose="02020603050405020304" pitchFamily="18" charset="0"/>
                        </a:rPr>
                        <a:t>. - </a:t>
                      </a:r>
                      <a:r>
                        <a:rPr lang="ru-RU" sz="900" noProof="0" dirty="0" err="1" smtClean="0">
                          <a:effectLst/>
                          <a:latin typeface="+mn-lt"/>
                          <a:ea typeface="Calibri" panose="020F0502020204030204" pitchFamily="34" charset="0"/>
                          <a:cs typeface="Times New Roman" panose="02020603050405020304" pitchFamily="18" charset="0"/>
                        </a:rPr>
                        <a:t>Огаҳий</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номидаги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Хоразм</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вилояти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мусиқали</a:t>
                      </a:r>
                      <a:r>
                        <a:rPr lang="ru-RU" sz="900" noProof="0" dirty="0" smtClean="0">
                          <a:effectLst/>
                          <a:latin typeface="+mn-lt"/>
                          <a:ea typeface="Calibri" panose="020F0502020204030204" pitchFamily="34" charset="0"/>
                          <a:cs typeface="Times New Roman" panose="02020603050405020304" pitchFamily="18" charset="0"/>
                        </a:rPr>
                        <a:t> драма </a:t>
                      </a:r>
                      <a:r>
                        <a:rPr lang="ru-RU" sz="900" noProof="0" dirty="0" err="1" smtClean="0">
                          <a:effectLst/>
                          <a:latin typeface="+mn-lt"/>
                          <a:ea typeface="Calibri" panose="020F0502020204030204" pitchFamily="34" charset="0"/>
                          <a:cs typeface="Times New Roman" panose="02020603050405020304" pitchFamily="18" charset="0"/>
                        </a:rPr>
                        <a:t>театри</a:t>
                      </a:r>
                      <a:r>
                        <a:rPr lang="ru-RU" sz="900" noProof="0" dirty="0" smtClean="0">
                          <a:effectLst/>
                          <a:latin typeface="+mn-lt"/>
                          <a:ea typeface="Calibri" panose="020F0502020204030204" pitchFamily="34" charset="0"/>
                          <a:cs typeface="Times New Roman" panose="02020603050405020304" pitchFamily="18" charset="0"/>
                        </a:rPr>
                        <a:t> хор </a:t>
                      </a:r>
                      <a:r>
                        <a:rPr lang="ru-RU" sz="900" noProof="0" dirty="0" err="1" smtClean="0">
                          <a:effectLst/>
                          <a:latin typeface="+mn-lt"/>
                          <a:ea typeface="Calibri" panose="020F0502020204030204" pitchFamily="34" charset="0"/>
                          <a:cs typeface="Times New Roman" panose="02020603050405020304" pitchFamily="18" charset="0"/>
                        </a:rPr>
                        <a:t>артисти</a:t>
                      </a:r>
                      <a:endParaRPr lang="ru-RU" sz="900" noProof="0" dirty="0" smtClean="0">
                        <a:effectLst/>
                        <a:latin typeface="+mn-lt"/>
                        <a:ea typeface="Calibri" panose="020F0502020204030204" pitchFamily="34" charset="0"/>
                        <a:cs typeface="Times New Roman" panose="02020603050405020304" pitchFamily="18" charset="0"/>
                      </a:endParaRPr>
                    </a:p>
                    <a:p>
                      <a:pPr algn="l">
                        <a:lnSpc>
                          <a:spcPct val="107000"/>
                        </a:lnSpc>
                        <a:spcAft>
                          <a:spcPts val="0"/>
                        </a:spcAft>
                      </a:pPr>
                      <a:r>
                        <a:rPr lang="ru-RU" sz="900" noProof="0" dirty="0" smtClean="0">
                          <a:effectLst/>
                          <a:latin typeface="+mn-lt"/>
                          <a:ea typeface="Calibri" panose="020F0502020204030204" pitchFamily="34" charset="0"/>
                          <a:cs typeface="Times New Roman" panose="02020603050405020304" pitchFamily="18" charset="0"/>
                        </a:rPr>
                        <a:t>2008-2011 </a:t>
                      </a:r>
                      <a:r>
                        <a:rPr lang="ru-RU" sz="900" noProof="0" dirty="0" err="1" smtClean="0">
                          <a:effectLst/>
                          <a:latin typeface="+mn-lt"/>
                          <a:ea typeface="Calibri" panose="020F0502020204030204" pitchFamily="34" charset="0"/>
                          <a:cs typeface="Times New Roman" panose="02020603050405020304" pitchFamily="18" charset="0"/>
                        </a:rPr>
                        <a:t>йй</a:t>
                      </a:r>
                      <a:r>
                        <a:rPr lang="ru-RU" sz="900" noProof="0" dirty="0" smtClean="0">
                          <a:effectLst/>
                          <a:latin typeface="+mn-lt"/>
                          <a:ea typeface="Calibri" panose="020F0502020204030204" pitchFamily="34" charset="0"/>
                          <a:cs typeface="Times New Roman" panose="02020603050405020304" pitchFamily="18" charset="0"/>
                        </a:rPr>
                        <a:t>. - </a:t>
                      </a:r>
                      <a:r>
                        <a:rPr lang="ru-RU" sz="900" noProof="0" dirty="0" err="1" smtClean="0">
                          <a:effectLst/>
                          <a:latin typeface="+mn-lt"/>
                          <a:ea typeface="Calibri" panose="020F0502020204030204" pitchFamily="34" charset="0"/>
                          <a:cs typeface="Times New Roman" panose="02020603050405020304" pitchFamily="18" charset="0"/>
                        </a:rPr>
                        <a:t>Огаҳий</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номидаги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Хоразм</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вилоят</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мусиқали</a:t>
                      </a:r>
                      <a:r>
                        <a:rPr lang="ru-RU" sz="900" noProof="0" dirty="0" smtClean="0">
                          <a:effectLst/>
                          <a:latin typeface="+mn-lt"/>
                          <a:ea typeface="Calibri" panose="020F0502020204030204" pitchFamily="34" charset="0"/>
                          <a:cs typeface="Times New Roman" panose="02020603050405020304" pitchFamily="18" charset="0"/>
                        </a:rPr>
                        <a:t> драма </a:t>
                      </a:r>
                      <a:r>
                        <a:rPr lang="ru-RU" sz="900" noProof="0" dirty="0" err="1" smtClean="0">
                          <a:effectLst/>
                          <a:latin typeface="+mn-lt"/>
                          <a:ea typeface="Calibri" panose="020F0502020204030204" pitchFamily="34" charset="0"/>
                          <a:cs typeface="Times New Roman" panose="02020603050405020304" pitchFamily="18" charset="0"/>
                        </a:rPr>
                        <a:t>театри</a:t>
                      </a:r>
                      <a:r>
                        <a:rPr lang="ru-RU" sz="900" noProof="0" dirty="0" smtClean="0">
                          <a:effectLst/>
                          <a:latin typeface="+mn-lt"/>
                          <a:ea typeface="Calibri" panose="020F0502020204030204" pitchFamily="34" charset="0"/>
                          <a:cs typeface="Times New Roman" panose="02020603050405020304" pitchFamily="18" charset="0"/>
                        </a:rPr>
                        <a:t> солист-</a:t>
                      </a:r>
                      <a:r>
                        <a:rPr lang="ru-RU" sz="900" noProof="0" dirty="0" err="1" smtClean="0">
                          <a:effectLst/>
                          <a:latin typeface="+mn-lt"/>
                          <a:ea typeface="Calibri" panose="020F0502020204030204" pitchFamily="34" charset="0"/>
                          <a:cs typeface="Times New Roman" panose="02020603050405020304" pitchFamily="18" charset="0"/>
                        </a:rPr>
                        <a:t>вокалисти</a:t>
                      </a:r>
                      <a:endParaRPr lang="ru-RU" sz="900" noProof="0" dirty="0" smtClean="0">
                        <a:effectLst/>
                        <a:latin typeface="+mn-lt"/>
                        <a:ea typeface="Calibri" panose="020F0502020204030204" pitchFamily="34" charset="0"/>
                        <a:cs typeface="Times New Roman" panose="02020603050405020304" pitchFamily="18" charset="0"/>
                      </a:endParaRPr>
                    </a:p>
                    <a:p>
                      <a:pPr algn="l">
                        <a:lnSpc>
                          <a:spcPct val="107000"/>
                        </a:lnSpc>
                        <a:spcAft>
                          <a:spcPts val="0"/>
                        </a:spcAft>
                      </a:pPr>
                      <a:r>
                        <a:rPr lang="ru-RU" sz="900" noProof="0" dirty="0" smtClean="0">
                          <a:effectLst/>
                          <a:latin typeface="+mn-lt"/>
                          <a:ea typeface="Calibri" panose="020F0502020204030204" pitchFamily="34" charset="0"/>
                          <a:cs typeface="Times New Roman" panose="02020603050405020304" pitchFamily="18" charset="0"/>
                        </a:rPr>
                        <a:t>2011-2016 </a:t>
                      </a:r>
                      <a:r>
                        <a:rPr lang="ru-RU" sz="900" noProof="0" dirty="0" err="1" smtClean="0">
                          <a:effectLst/>
                          <a:latin typeface="+mn-lt"/>
                          <a:ea typeface="Calibri" panose="020F0502020204030204" pitchFamily="34" charset="0"/>
                          <a:cs typeface="Times New Roman" panose="02020603050405020304" pitchFamily="18" charset="0"/>
                        </a:rPr>
                        <a:t>йй</a:t>
                      </a:r>
                      <a:r>
                        <a:rPr lang="ru-RU" sz="900" noProof="0" dirty="0" smtClean="0">
                          <a:effectLst/>
                          <a:latin typeface="+mn-lt"/>
                          <a:ea typeface="Calibri" panose="020F0502020204030204" pitchFamily="34" charset="0"/>
                          <a:cs typeface="Times New Roman" panose="02020603050405020304" pitchFamily="18" charset="0"/>
                        </a:rPr>
                        <a:t>. - </a:t>
                      </a:r>
                      <a:r>
                        <a:rPr lang="ru-RU" sz="900" noProof="0" dirty="0" err="1" smtClean="0">
                          <a:effectLst/>
                          <a:latin typeface="+mn-lt"/>
                          <a:ea typeface="Calibri" panose="020F0502020204030204" pitchFamily="34" charset="0"/>
                          <a:cs typeface="Times New Roman" panose="02020603050405020304" pitchFamily="18" charset="0"/>
                        </a:rPr>
                        <a:t>Огаҳий</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номидаги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Хоразм</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вилоят</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мусиқали</a:t>
                      </a:r>
                      <a:r>
                        <a:rPr lang="ru-RU" sz="900" noProof="0" dirty="0" smtClean="0">
                          <a:effectLst/>
                          <a:latin typeface="+mn-lt"/>
                          <a:ea typeface="Calibri" panose="020F0502020204030204" pitchFamily="34" charset="0"/>
                          <a:cs typeface="Times New Roman" panose="02020603050405020304" pitchFamily="18" charset="0"/>
                        </a:rPr>
                        <a:t> драма </a:t>
                      </a:r>
                      <a:r>
                        <a:rPr lang="ru-RU" sz="900" noProof="0" dirty="0" err="1" smtClean="0">
                          <a:effectLst/>
                          <a:latin typeface="+mn-lt"/>
                          <a:ea typeface="Calibri" panose="020F0502020204030204" pitchFamily="34" charset="0"/>
                          <a:cs typeface="Times New Roman" panose="02020603050405020304" pitchFamily="18" charset="0"/>
                        </a:rPr>
                        <a:t>театри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олий</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тоифали</a:t>
                      </a:r>
                      <a:r>
                        <a:rPr lang="ru-RU" sz="900" noProof="0" dirty="0" smtClean="0">
                          <a:effectLst/>
                          <a:latin typeface="+mn-lt"/>
                          <a:ea typeface="Calibri" panose="020F0502020204030204" pitchFamily="34" charset="0"/>
                          <a:cs typeface="Times New Roman" panose="02020603050405020304" pitchFamily="18" charset="0"/>
                        </a:rPr>
                        <a:t> драма </a:t>
                      </a:r>
                      <a:r>
                        <a:rPr lang="ru-RU" sz="900" noProof="0" dirty="0" err="1" smtClean="0">
                          <a:effectLst/>
                          <a:latin typeface="+mn-lt"/>
                          <a:ea typeface="Calibri" panose="020F0502020204030204" pitchFamily="34" charset="0"/>
                          <a:cs typeface="Times New Roman" panose="02020603050405020304" pitchFamily="18" charset="0"/>
                        </a:rPr>
                        <a:t>артисти</a:t>
                      </a:r>
                      <a:endParaRPr lang="ru-RU" sz="900" noProof="0" dirty="0" smtClean="0">
                        <a:effectLst/>
                        <a:latin typeface="+mn-lt"/>
                        <a:ea typeface="Calibri" panose="020F0502020204030204" pitchFamily="34" charset="0"/>
                        <a:cs typeface="Times New Roman" panose="02020603050405020304" pitchFamily="18" charset="0"/>
                      </a:endParaRPr>
                    </a:p>
                    <a:p>
                      <a:pPr algn="l">
                        <a:lnSpc>
                          <a:spcPct val="107000"/>
                        </a:lnSpc>
                        <a:spcAft>
                          <a:spcPts val="0"/>
                        </a:spcAft>
                      </a:pPr>
                      <a:r>
                        <a:rPr lang="ru-RU" sz="900" noProof="0" dirty="0" smtClean="0">
                          <a:effectLst/>
                          <a:latin typeface="+mn-lt"/>
                          <a:ea typeface="Calibri" panose="020F0502020204030204" pitchFamily="34" charset="0"/>
                          <a:cs typeface="Times New Roman" panose="02020603050405020304" pitchFamily="18" charset="0"/>
                        </a:rPr>
                        <a:t>2022 –й-.</a:t>
                      </a:r>
                      <a:r>
                        <a:rPr lang="ru-RU" sz="900" noProof="0" dirty="0" err="1" smtClean="0">
                          <a:effectLst/>
                          <a:latin typeface="+mn-lt"/>
                          <a:ea typeface="Calibri" panose="020F0502020204030204" pitchFamily="34" charset="0"/>
                          <a:cs typeface="Times New Roman" panose="02020603050405020304" pitchFamily="18" charset="0"/>
                        </a:rPr>
                        <a:t>ҳ.в</a:t>
                      </a:r>
                      <a:r>
                        <a:rPr lang="ru-RU" sz="900" noProof="0" dirty="0" smtClean="0">
                          <a:effectLst/>
                          <a:latin typeface="+mn-lt"/>
                          <a:ea typeface="Calibri" panose="020F0502020204030204" pitchFamily="34" charset="0"/>
                          <a:cs typeface="Times New Roman" panose="02020603050405020304" pitchFamily="18" charset="0"/>
                        </a:rPr>
                        <a:t>.   - </a:t>
                      </a:r>
                      <a:r>
                        <a:rPr lang="ru-RU" sz="900" noProof="0" dirty="0" err="1" smtClean="0">
                          <a:effectLst/>
                          <a:latin typeface="+mn-lt"/>
                          <a:ea typeface="Calibri" panose="020F0502020204030204" pitchFamily="34" charset="0"/>
                          <a:cs typeface="Times New Roman" panose="02020603050405020304" pitchFamily="18" charset="0"/>
                        </a:rPr>
                        <a:t>Хоразм</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вилояти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мусиқали</a:t>
                      </a:r>
                      <a:r>
                        <a:rPr lang="ru-RU" sz="900" noProof="0" dirty="0" smtClean="0">
                          <a:effectLst/>
                          <a:latin typeface="+mn-lt"/>
                          <a:ea typeface="Calibri" panose="020F0502020204030204" pitchFamily="34" charset="0"/>
                          <a:cs typeface="Times New Roman" panose="02020603050405020304" pitchFamily="18" charset="0"/>
                        </a:rPr>
                        <a:t> драма </a:t>
                      </a:r>
                      <a:r>
                        <a:rPr lang="ru-RU" sz="900" noProof="0" dirty="0" err="1" smtClean="0">
                          <a:effectLst/>
                          <a:latin typeface="+mn-lt"/>
                          <a:ea typeface="Calibri" panose="020F0502020204030204" pitchFamily="34" charset="0"/>
                          <a:cs typeface="Times New Roman" panose="02020603050405020304" pitchFamily="18" charset="0"/>
                        </a:rPr>
                        <a:t>театри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етакчи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саҳна</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устаси</a:t>
                      </a:r>
                      <a:r>
                        <a:rPr lang="ru-RU" sz="900" noProof="0" dirty="0" smtClean="0">
                          <a:effectLst/>
                          <a:latin typeface="+mn-lt"/>
                          <a:ea typeface="Calibri" panose="020F0502020204030204" pitchFamily="34" charset="0"/>
                          <a:cs typeface="Times New Roman" panose="02020603050405020304" pitchFamily="18" charset="0"/>
                        </a:rPr>
                        <a:t> драма </a:t>
                      </a:r>
                      <a:r>
                        <a:rPr lang="ru-RU" sz="900" noProof="0" dirty="0" err="1" smtClean="0">
                          <a:effectLst/>
                          <a:latin typeface="+mn-lt"/>
                          <a:ea typeface="Calibri" panose="020F0502020204030204" pitchFamily="34" charset="0"/>
                          <a:cs typeface="Times New Roman" panose="02020603050405020304" pitchFamily="18" charset="0"/>
                        </a:rPr>
                        <a:t>артисти</a:t>
                      </a:r>
                      <a:endParaRPr lang="ru-RU" sz="900" noProof="0" dirty="0" smtClean="0">
                        <a:effectLst/>
                        <a:latin typeface="+mn-lt"/>
                        <a:ea typeface="Calibri" panose="020F0502020204030204" pitchFamily="34" charset="0"/>
                        <a:cs typeface="Times New Roman" panose="02020603050405020304" pitchFamily="18" charset="0"/>
                      </a:endParaRPr>
                    </a:p>
                    <a:p>
                      <a:pPr algn="l">
                        <a:lnSpc>
                          <a:spcPct val="107000"/>
                        </a:lnSpc>
                        <a:spcAft>
                          <a:spcPts val="0"/>
                        </a:spcAft>
                      </a:pP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89201">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8920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2021 й. “хонқа санатория” сида даволанган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8920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180988">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59123">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427573">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ru-RU" sz="900" noProof="0" dirty="0" smtClean="0">
                          <a:effectLst/>
                          <a:latin typeface="+mn-lt"/>
                          <a:ea typeface="Calibri" panose="020F0502020204030204" pitchFamily="34" charset="0"/>
                          <a:cs typeface="Times New Roman" panose="02020603050405020304" pitchFamily="18" charset="0"/>
                        </a:rPr>
                        <a:t>2007 й. "</a:t>
                      </a:r>
                      <a:r>
                        <a:rPr lang="ru-RU" sz="900" noProof="0" dirty="0" err="1" smtClean="0">
                          <a:effectLst/>
                          <a:latin typeface="+mn-lt"/>
                          <a:ea typeface="Calibri" panose="020F0502020204030204" pitchFamily="34" charset="0"/>
                          <a:cs typeface="Times New Roman" panose="02020603050405020304" pitchFamily="18" charset="0"/>
                        </a:rPr>
                        <a:t>Ўзбекистон</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Республикасида</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хизмат</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кўрсатган</a:t>
                      </a:r>
                      <a:r>
                        <a:rPr lang="ru-RU" sz="900" noProof="0" dirty="0" smtClean="0">
                          <a:effectLst/>
                          <a:latin typeface="+mn-lt"/>
                          <a:ea typeface="Calibri" panose="020F0502020204030204" pitchFamily="34" charset="0"/>
                          <a:cs typeface="Times New Roman" panose="02020603050405020304" pitchFamily="18" charset="0"/>
                        </a:rPr>
                        <a:t> артист" </a:t>
                      </a:r>
                      <a:r>
                        <a:rPr lang="ru-RU" sz="900" noProof="0" dirty="0" err="1" smtClean="0">
                          <a:effectLst/>
                          <a:latin typeface="+mn-lt"/>
                          <a:ea typeface="Calibri" panose="020F0502020204030204" pitchFamily="34" charset="0"/>
                          <a:cs typeface="Times New Roman" panose="02020603050405020304" pitchFamily="18" charset="0"/>
                        </a:rPr>
                        <a:t>фахрий</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унвони</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772399321"/>
              </p:ext>
            </p:extLst>
          </p:nvPr>
        </p:nvGraphicFramePr>
        <p:xfrm>
          <a:off x="6949857" y="869290"/>
          <a:ext cx="2894898" cy="5939330"/>
        </p:xfrm>
        <a:graphic>
          <a:graphicData uri="http://schemas.openxmlformats.org/drawingml/2006/table">
            <a:tbl>
              <a:tblPr firstRow="1" bandRow="1">
                <a:tableStyleId>{C083E6E3-FA7D-4D7B-A595-EF9225AFEA82}</a:tableStyleId>
              </a:tblPr>
              <a:tblGrid>
                <a:gridCol w="2894898">
                  <a:extLst>
                    <a:ext uri="{9D8B030D-6E8A-4147-A177-3AD203B41FA5}">
                      <a16:colId xmlns:a16="http://schemas.microsoft.com/office/drawing/2014/main" val="2715609854"/>
                    </a:ext>
                  </a:extLst>
                </a:gridCol>
              </a:tblGrid>
              <a:tr h="226775">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9067">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587999">
                <a:tc>
                  <a:txBody>
                    <a:bodyPr/>
                    <a:lstStyle/>
                    <a:p>
                      <a:pPr algn="just">
                        <a:lnSpc>
                          <a:spcPct val="85000"/>
                        </a:lnSpc>
                      </a:pPr>
                      <a:r>
                        <a:rPr lang="uz-Cyrl-UZ" sz="900" b="0" noProof="0" dirty="0" smtClean="0">
                          <a:solidFill>
                            <a:schemeClr val="tx1"/>
                          </a:solidFill>
                          <a:latin typeface="+mn-lt"/>
                        </a:rPr>
                        <a:t>    Комилбай Тажибаев «Нулуфар» мусиқали драмасида Содиқ,  «Аҳмад ила Оқбилак» мусиқали драмасида Аҳмад, «Бола кўтарган аёл» мусиқали драмасида Раис,  «Чимилдиқ» комедиясида Куёв,  «Мулло Иброҳим Халил кимёгар ҳикояти» комедиясида Иброҳим Халил,  «Скапеннинг найранглари» комедиясида Леандр,   “Хасан Кайфий” комедиясида Хасан, “Ошиқ Ғариб ва Шоҳсанам” мусиқали драмасида Ғариб, «Хизматингизга тайёрмиз» спектаклида Халил, «Жобби жўжакнинг ҳийласи» комедиясида Зариб Зуваланг, «Гулиравза» мусиқали драмасида Тўхтасин, «Огаҳий» мусиқали драмасида Жуманиёз, «Жавлон Журра» мусиқали комедиясида Жавлон, «Феруз» мусиқали драмасида Бекмурза,  «Жалолиддин Мангуберди» драмасида Жалолиддин,  “Доно бобом Қорбобом” Янги йил томошасида Қорбобо,  “Осмондан тушган бахт” мусиқали комедиясида Солижон,   “Падаркуш ёҳуд ўқимаган боланинг  холи” трагик комедиясида Зиёли,   “Тоҳир ва Зуҳра” мусиқали драмасида вазир Хусайн,   “Хайдар хўроз” комедиясида Хайдар фермер,  “Куёв бобо” комедиясида Тўхта ота,   “Махтумқули” мусиқали драмасида Маҳтумқули, “Дилда борим” мусиқали комедиясида Кайфдор ота,   “Ялмоғизбика” томошасида Бўри, “Бола кўтарган аёл” мусиқали драмасида Раис, “Антигона”  фожеасида  Креонт,  “Разолат қурбонлари”  фожели драмасида Амир Қосимхон, “Султон Жалолиддин” тарихий драмасида Чингизхон, “Боғбон” мусиқали драмасида Жуманиёз боғбон, “Огаҳий” мусиқали драмасида Муҳаммадниёзбий, “Афандининг беш хотини” комедиясида Афанди, Анвойи ташвиш” камер камедияда Тошпўлат тажанг,  “Падаркуш ёҳуд ўқимаган боланинг холи” комедиясида Зиёли, “Абу Райҳон Беруний” тарихий драмасида  Султон Маҳмуд Ғазнавий,  “Тобутдан товуш”  комедиясида Нусрат, Кўнгил девори” комедиясида Чол, “Манқурт” психологик драмада  Эдигей Бўрон,  “Шайх Санъон” мусиқали драмасида Шайх Санъон каби образларни маромига етказиб ижро этди.</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6544">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9199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en-US" sz="900" b="0" dirty="0" smtClean="0">
                          <a:effectLst/>
                          <a:latin typeface="+mn-lt"/>
                          <a:ea typeface="Calibri" panose="020F0502020204030204" pitchFamily="34" charset="0"/>
                          <a:cs typeface="Times New Roman" panose="02020603050405020304" pitchFamily="18" charset="0"/>
                        </a:rPr>
                        <a:t>    </a:t>
                      </a: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p:cNvPicPr>
            <a:picLocks noChangeAspect="1"/>
          </p:cNvPicPr>
          <p:nvPr/>
        </p:nvPicPr>
        <p:blipFill>
          <a:blip r:embed="rId2"/>
          <a:stretch>
            <a:fillRect/>
          </a:stretch>
        </p:blipFill>
        <p:spPr>
          <a:xfrm>
            <a:off x="273676" y="1147651"/>
            <a:ext cx="856855" cy="1071069"/>
          </a:xfrm>
          <a:prstGeom prst="rect">
            <a:avLst/>
          </a:prstGeom>
        </p:spPr>
      </p:pic>
    </p:spTree>
    <p:extLst>
      <p:ext uri="{BB962C8B-B14F-4D97-AF65-F5344CB8AC3E}">
        <p14:creationId xmlns:p14="http://schemas.microsoft.com/office/powerpoint/2010/main" val="414386317"/>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226458961"/>
              </p:ext>
            </p:extLst>
          </p:nvPr>
        </p:nvGraphicFramePr>
        <p:xfrm>
          <a:off x="144489" y="865702"/>
          <a:ext cx="3427547" cy="5885965"/>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РАМАЗАНОВА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Ширин</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ХХХ</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04.02.1941</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Урганч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3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2-та қиз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uz-Cyrl-UZ" sz="800" kern="1200" dirty="0" smtClean="0">
                          <a:solidFill>
                            <a:schemeClr val="tx1"/>
                          </a:solidFill>
                          <a:effectLst/>
                          <a:latin typeface="+mn-lt"/>
                          <a:ea typeface="+mn-ea"/>
                          <a:cs typeface="+mn-cs"/>
                        </a:rPr>
                        <a:t>Рамазанов Бозар</a:t>
                      </a:r>
                      <a:endParaRPr lang="ru-RU" sz="800" kern="1200" dirty="0" smtClean="0">
                        <a:solidFill>
                          <a:schemeClr val="tx1"/>
                        </a:solidFill>
                        <a:effectLst/>
                        <a:latin typeface="+mn-lt"/>
                        <a:ea typeface="+mn-ea"/>
                        <a:cs typeface="+mn-cs"/>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1908 йил, Урганч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1973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smtClean="0">
                          <a:solidFill>
                            <a:schemeClr val="tx1"/>
                          </a:solidFill>
                          <a:effectLst/>
                          <a:latin typeface="+mn-lt"/>
                          <a:ea typeface="+mn-ea"/>
                          <a:cs typeface="+mn-cs"/>
                        </a:rPr>
                        <a:t>Рамазанова Шарифа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1914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2002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Уй</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ЗАКИРОВА Анна Валерьевна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1966 йил, Урганч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Уй бекаси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48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1980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рассомлик</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6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kern="1200" dirty="0" err="1" smtClean="0">
                          <a:solidFill>
                            <a:schemeClr val="tx1"/>
                          </a:solidFill>
                          <a:effectLst/>
                          <a:latin typeface="+mn-lt"/>
                          <a:ea typeface="+mn-ea"/>
                          <a:cs typeface="+mn-cs"/>
                        </a:rPr>
                        <a:t>драматик</a:t>
                      </a:r>
                      <a:r>
                        <a:rPr lang="ru-RU" sz="900" kern="1200" dirty="0" smtClean="0">
                          <a:solidFill>
                            <a:schemeClr val="tx1"/>
                          </a:solidFill>
                          <a:effectLst/>
                          <a:latin typeface="+mn-lt"/>
                          <a:ea typeface="+mn-ea"/>
                          <a:cs typeface="+mn-cs"/>
                        </a:rPr>
                        <a:t> театр </a:t>
                      </a:r>
                      <a:r>
                        <a:rPr lang="ru-RU" sz="900" kern="1200" dirty="0" err="1" smtClean="0">
                          <a:solidFill>
                            <a:schemeClr val="tx1"/>
                          </a:solidFill>
                          <a:effectLst/>
                          <a:latin typeface="+mn-lt"/>
                          <a:ea typeface="+mn-ea"/>
                          <a:cs typeface="+mn-cs"/>
                        </a:rPr>
                        <a:t>ва</a:t>
                      </a:r>
                      <a:r>
                        <a:rPr lang="ru-RU" sz="900" kern="1200" dirty="0" smtClean="0">
                          <a:solidFill>
                            <a:schemeClr val="tx1"/>
                          </a:solidFill>
                          <a:effectLst/>
                          <a:latin typeface="+mn-lt"/>
                          <a:ea typeface="+mn-ea"/>
                          <a:cs typeface="+mn-cs"/>
                        </a:rPr>
                        <a:t> кино </a:t>
                      </a:r>
                      <a:r>
                        <a:rPr lang="ru-RU" sz="900" kern="1200" dirty="0" err="1" smtClean="0">
                          <a:solidFill>
                            <a:schemeClr val="tx1"/>
                          </a:solidFill>
                          <a:effectLst/>
                          <a:latin typeface="+mn-lt"/>
                          <a:ea typeface="+mn-ea"/>
                          <a:cs typeface="+mn-cs"/>
                        </a:rPr>
                        <a:t>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1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198565428"/>
              </p:ext>
            </p:extLst>
          </p:nvPr>
        </p:nvGraphicFramePr>
        <p:xfrm>
          <a:off x="3684523" y="815789"/>
          <a:ext cx="3172841" cy="593588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8734">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62738">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2007 йилдан буён Нафақада</a:t>
                      </a:r>
                      <a:r>
                        <a:rPr lang="uz-Cyrl-UZ" sz="900" b="1" kern="1200" dirty="0" smtClean="0">
                          <a:solidFill>
                            <a:schemeClr val="tx1"/>
                          </a:solidFill>
                          <a:effectLst/>
                          <a:latin typeface="+mn-lt"/>
                          <a:ea typeface="+mn-ea"/>
                          <a:cs typeface="+mn-cs"/>
                        </a:rPr>
                        <a:t>, </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0218">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400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47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862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0</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2857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ru-RU" sz="900" noProof="0" dirty="0" smtClean="0">
                          <a:effectLst/>
                          <a:latin typeface="+mn-lt"/>
                          <a:ea typeface="Calibri" panose="020F0502020204030204" pitchFamily="34" charset="0"/>
                          <a:cs typeface="Times New Roman" panose="02020603050405020304" pitchFamily="18" charset="0"/>
                        </a:rPr>
                        <a:t>1960-1965 </a:t>
                      </a:r>
                      <a:r>
                        <a:rPr lang="ru-RU" sz="900" noProof="0" dirty="0" err="1" smtClean="0">
                          <a:effectLst/>
                          <a:latin typeface="+mn-lt"/>
                          <a:ea typeface="Calibri" panose="020F0502020204030204" pitchFamily="34" charset="0"/>
                          <a:cs typeface="Times New Roman" panose="02020603050405020304" pitchFamily="18" charset="0"/>
                        </a:rPr>
                        <a:t>йй</a:t>
                      </a:r>
                      <a:r>
                        <a:rPr lang="ru-RU" sz="900" noProof="0" dirty="0" smtClean="0">
                          <a:effectLst/>
                          <a:latin typeface="+mn-lt"/>
                          <a:ea typeface="Calibri" panose="020F0502020204030204" pitchFamily="34" charset="0"/>
                          <a:cs typeface="Times New Roman" panose="02020603050405020304" pitchFamily="18" charset="0"/>
                        </a:rPr>
                        <a:t>. - </a:t>
                      </a:r>
                      <a:r>
                        <a:rPr lang="ru-RU" sz="900" noProof="0" dirty="0" err="1" smtClean="0">
                          <a:effectLst/>
                          <a:latin typeface="+mn-lt"/>
                          <a:ea typeface="Calibri" panose="020F0502020204030204" pitchFamily="34" charset="0"/>
                          <a:cs typeface="Times New Roman" panose="02020603050405020304" pitchFamily="18" charset="0"/>
                        </a:rPr>
                        <a:t>Хоразм</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вилоят</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мусиқали</a:t>
                      </a:r>
                      <a:r>
                        <a:rPr lang="ru-RU" sz="900" noProof="0" dirty="0" smtClean="0">
                          <a:effectLst/>
                          <a:latin typeface="+mn-lt"/>
                          <a:ea typeface="Calibri" panose="020F0502020204030204" pitchFamily="34" charset="0"/>
                          <a:cs typeface="Times New Roman" panose="02020603050405020304" pitchFamily="18" charset="0"/>
                        </a:rPr>
                        <a:t> драма  </a:t>
                      </a:r>
                      <a:r>
                        <a:rPr lang="ru-RU" sz="900" noProof="0" dirty="0" err="1" smtClean="0">
                          <a:effectLst/>
                          <a:latin typeface="+mn-lt"/>
                          <a:ea typeface="Calibri" panose="020F0502020204030204" pitchFamily="34" charset="0"/>
                          <a:cs typeface="Times New Roman" panose="02020603050405020304" pitchFamily="18" charset="0"/>
                        </a:rPr>
                        <a:t>театри</a:t>
                      </a:r>
                      <a:r>
                        <a:rPr lang="ru-RU" sz="900" noProof="0" dirty="0" smtClean="0">
                          <a:effectLst/>
                          <a:latin typeface="+mn-lt"/>
                          <a:ea typeface="Calibri" panose="020F0502020204030204" pitchFamily="34" charset="0"/>
                          <a:cs typeface="Times New Roman" panose="02020603050405020304" pitchFamily="18" charset="0"/>
                        </a:rPr>
                        <a:t> балет </a:t>
                      </a:r>
                      <a:r>
                        <a:rPr lang="ru-RU" sz="900" noProof="0" dirty="0" err="1" smtClean="0">
                          <a:effectLst/>
                          <a:latin typeface="+mn-lt"/>
                          <a:ea typeface="Calibri" panose="020F0502020204030204" pitchFamily="34" charset="0"/>
                          <a:cs typeface="Times New Roman" panose="02020603050405020304" pitchFamily="18" charset="0"/>
                        </a:rPr>
                        <a:t>артисти</a:t>
                      </a:r>
                      <a:endParaRPr lang="ru-RU" sz="900" noProof="0" dirty="0" smtClean="0">
                        <a:effectLst/>
                        <a:latin typeface="+mn-lt"/>
                        <a:ea typeface="Calibri" panose="020F0502020204030204" pitchFamily="34" charset="0"/>
                        <a:cs typeface="Times New Roman" panose="02020603050405020304" pitchFamily="18" charset="0"/>
                      </a:endParaRPr>
                    </a:p>
                    <a:p>
                      <a:pPr algn="l">
                        <a:lnSpc>
                          <a:spcPct val="107000"/>
                        </a:lnSpc>
                        <a:spcAft>
                          <a:spcPts val="0"/>
                        </a:spcAft>
                      </a:pPr>
                      <a:r>
                        <a:rPr lang="ru-RU" sz="900" noProof="0" dirty="0" smtClean="0">
                          <a:effectLst/>
                          <a:latin typeface="+mn-lt"/>
                          <a:ea typeface="Calibri" panose="020F0502020204030204" pitchFamily="34" charset="0"/>
                          <a:cs typeface="Times New Roman" panose="02020603050405020304" pitchFamily="18" charset="0"/>
                        </a:rPr>
                        <a:t>1965-2007 </a:t>
                      </a:r>
                      <a:r>
                        <a:rPr lang="ru-RU" sz="900" noProof="0" dirty="0" err="1" smtClean="0">
                          <a:effectLst/>
                          <a:latin typeface="+mn-lt"/>
                          <a:ea typeface="Calibri" panose="020F0502020204030204" pitchFamily="34" charset="0"/>
                          <a:cs typeface="Times New Roman" panose="02020603050405020304" pitchFamily="18" charset="0"/>
                        </a:rPr>
                        <a:t>йй</a:t>
                      </a:r>
                      <a:r>
                        <a:rPr lang="ru-RU" sz="900" noProof="0" dirty="0" smtClean="0">
                          <a:effectLst/>
                          <a:latin typeface="+mn-lt"/>
                          <a:ea typeface="Calibri" panose="020F0502020204030204" pitchFamily="34" charset="0"/>
                          <a:cs typeface="Times New Roman" panose="02020603050405020304" pitchFamily="18" charset="0"/>
                        </a:rPr>
                        <a:t>. -   </a:t>
                      </a:r>
                      <a:r>
                        <a:rPr lang="ru-RU" sz="900" noProof="0" dirty="0" err="1" smtClean="0">
                          <a:effectLst/>
                          <a:latin typeface="+mn-lt"/>
                          <a:ea typeface="Calibri" panose="020F0502020204030204" pitchFamily="34" charset="0"/>
                          <a:cs typeface="Times New Roman" panose="02020603050405020304" pitchFamily="18" charset="0"/>
                        </a:rPr>
                        <a:t>Хоразм</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вилоят</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мусиқали</a:t>
                      </a:r>
                      <a:r>
                        <a:rPr lang="ru-RU" sz="900" noProof="0" dirty="0" smtClean="0">
                          <a:effectLst/>
                          <a:latin typeface="+mn-lt"/>
                          <a:ea typeface="Calibri" panose="020F0502020204030204" pitchFamily="34" charset="0"/>
                          <a:cs typeface="Times New Roman" panose="02020603050405020304" pitchFamily="18" charset="0"/>
                        </a:rPr>
                        <a:t> драма </a:t>
                      </a:r>
                      <a:r>
                        <a:rPr lang="ru-RU" sz="900" noProof="0" dirty="0" err="1" smtClean="0">
                          <a:effectLst/>
                          <a:latin typeface="+mn-lt"/>
                          <a:ea typeface="Calibri" panose="020F0502020204030204" pitchFamily="34" charset="0"/>
                          <a:cs typeface="Times New Roman" panose="02020603050405020304" pitchFamily="18" charset="0"/>
                        </a:rPr>
                        <a:t>театри</a:t>
                      </a:r>
                      <a:r>
                        <a:rPr lang="ru-RU" sz="900" noProof="0" dirty="0" smtClean="0">
                          <a:effectLst/>
                          <a:latin typeface="+mn-lt"/>
                          <a:ea typeface="Calibri" panose="020F0502020204030204" pitchFamily="34" charset="0"/>
                          <a:cs typeface="Times New Roman" panose="02020603050405020304" pitchFamily="18" charset="0"/>
                        </a:rPr>
                        <a:t> солист-</a:t>
                      </a:r>
                      <a:r>
                        <a:rPr lang="ru-RU" sz="900" noProof="0" dirty="0" err="1" smtClean="0">
                          <a:effectLst/>
                          <a:latin typeface="+mn-lt"/>
                          <a:ea typeface="Calibri" panose="020F0502020204030204" pitchFamily="34" charset="0"/>
                          <a:cs typeface="Times New Roman" panose="02020603050405020304" pitchFamily="18" charset="0"/>
                        </a:rPr>
                        <a:t>вокалисти</a:t>
                      </a:r>
                      <a:endParaRPr lang="ru-RU"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7933">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endParaRPr lang="ru-RU" sz="900" kern="1200" noProof="0" dirty="0" smtClean="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7933">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p>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599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74515">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1351">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65268">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ru-RU" sz="900" noProof="0" dirty="0" smtClean="0">
                          <a:effectLst/>
                          <a:latin typeface="+mn-lt"/>
                          <a:ea typeface="Calibri" panose="020F0502020204030204" pitchFamily="34" charset="0"/>
                          <a:cs typeface="Times New Roman" panose="02020603050405020304" pitchFamily="18" charset="0"/>
                        </a:rPr>
                        <a:t>2005й.”Ўзбекистон </a:t>
                      </a:r>
                      <a:r>
                        <a:rPr lang="ru-RU" sz="900" noProof="0" dirty="0" err="1" smtClean="0">
                          <a:effectLst/>
                          <a:latin typeface="+mn-lt"/>
                          <a:ea typeface="Calibri" panose="020F0502020204030204" pitchFamily="34" charset="0"/>
                          <a:cs typeface="Times New Roman" panose="02020603050405020304" pitchFamily="18" charset="0"/>
                        </a:rPr>
                        <a:t>Республикаси</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халқ</a:t>
                      </a:r>
                      <a:r>
                        <a:rPr lang="ru-RU" sz="900" noProof="0" dirty="0" smtClean="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артисти</a:t>
                      </a:r>
                      <a:r>
                        <a:rPr lang="ru-RU" sz="900" noProof="0" dirty="0" smtClean="0">
                          <a:effectLst/>
                          <a:latin typeface="+mn-lt"/>
                          <a:ea typeface="Calibri" panose="020F0502020204030204" pitchFamily="34" charset="0"/>
                          <a:cs typeface="Times New Roman" panose="02020603050405020304" pitchFamily="18" charset="0"/>
                        </a:rPr>
                        <a:t>”</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90295829"/>
              </p:ext>
            </p:extLst>
          </p:nvPr>
        </p:nvGraphicFramePr>
        <p:xfrm>
          <a:off x="6949857" y="869285"/>
          <a:ext cx="2817247" cy="5882381"/>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7494">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930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67980">
                <a:tc>
                  <a:txBody>
                    <a:bodyPr/>
                    <a:lstStyle/>
                    <a:p>
                      <a:pPr algn="just">
                        <a:lnSpc>
                          <a:spcPct val="85000"/>
                        </a:lnSpc>
                      </a:pPr>
                      <a:r>
                        <a:rPr lang="uz-Cyrl-UZ" sz="900" b="0" noProof="0" dirty="0" smtClean="0">
                          <a:solidFill>
                            <a:schemeClr val="tx1"/>
                          </a:solidFill>
                          <a:latin typeface="+mn-lt"/>
                        </a:rPr>
                        <a:t>    Умумий меҳнат стажи 47 йил. Театрда 1960 йилдан меҳнат   фаолиятини бошлаган.</a:t>
                      </a:r>
                    </a:p>
                    <a:p>
                      <a:pPr algn="just">
                        <a:lnSpc>
                          <a:spcPct val="85000"/>
                        </a:lnSpc>
                      </a:pPr>
                      <a:r>
                        <a:rPr lang="uz-Cyrl-UZ" sz="900" b="0" noProof="0" dirty="0" smtClean="0">
                          <a:solidFill>
                            <a:schemeClr val="tx1"/>
                          </a:solidFill>
                          <a:latin typeface="+mn-lt"/>
                        </a:rPr>
                        <a:t>    Ш.Рамазанова театрдаги ижодий фаолияти давомида 100 дан ортиқ ролларни маромига етказиб, зўр маҳорат билан ижро этган актрисадир. Жумладан,  “Равшан ва Зулхумор” мусиқали драмасида Зулхимор , “Лайли ва Мажнун” мусиқали драмасида Лайли, “Ошиқ Ғариб ва Шохсанам”да  Шохсанам , “Тохир ва Зухра”да  Зухра, “Гамлет”да  Офелия, “Қароқчилар”да Амилия, “Олтин девор”да  Дилором, “Парвона”да Назокат, “Нурхон”да  Нурхон, “Тошболта  Ошиқ”да Каромат, “Қайнона”да Офат, “Хижрон”даа Қизбожи, “Майсаранинг иши”да Ойхон, “Олма пишганда галинг”да Ходимбика, “Жалоладдин  Мангуберди”да туркон Хотун, “Авесто”да Она  каби яратган ёрқин образлари томошабинлар олқишига сазовор бўлган. </a:t>
                      </a:r>
                    </a:p>
                    <a:p>
                      <a:pPr algn="just">
                        <a:lnSpc>
                          <a:spcPct val="85000"/>
                        </a:lnSpc>
                      </a:pPr>
                      <a:r>
                        <a:rPr lang="uz-Cyrl-UZ" sz="900" b="0" noProof="0" dirty="0" smtClean="0">
                          <a:solidFill>
                            <a:schemeClr val="tx1"/>
                          </a:solidFill>
                          <a:latin typeface="+mn-lt"/>
                        </a:rPr>
                        <a:t>    Ширин Рамазанова чиройли овоз соҳиби хамдир, унинг ижросидаги Э.Вохидов сўзи Р.Бекчанов мусиқаси билан “Севги”, У.Носир сўзи билан Р.Жуманиёзов мусиқаси “Юрак”, Р.Бекниёзов сўзи А.Отажанов мусиқаси билан “Айрилма мендан”, Э.Рахим сўзи билан “Бахор келди” каби ўнлаб ашулалари Ўзбекистон радиосининг “Олтин фонди”дан  жой олган. Бундан ташқари Огаҳий сўзи билан “Феруз-1”, Навоий ғазали билан “Муножот”, Хоразм фолклор санъати  дурдоналаридан  “Лапар“ қўшиқлари Ширин Рамазонованинг ижодий репертуаридан кенг ўрин эгаллаган.</a:t>
                      </a:r>
                    </a:p>
                    <a:p>
                      <a:pPr algn="just">
                        <a:lnSpc>
                          <a:spcPct val="85000"/>
                        </a:lnSpc>
                      </a:pPr>
                      <a:r>
                        <a:rPr lang="uz-Cyrl-UZ" sz="900" b="0" baseline="0" noProof="0" dirty="0" smtClean="0">
                          <a:solidFill>
                            <a:schemeClr val="tx1"/>
                          </a:solidFill>
                          <a:latin typeface="+mn-lt"/>
                        </a:rPr>
                        <a:t>    </a:t>
                      </a:r>
                      <a:r>
                        <a:rPr lang="uz-Cyrl-UZ" sz="900" b="0" noProof="0" dirty="0" smtClean="0">
                          <a:solidFill>
                            <a:schemeClr val="tx1"/>
                          </a:solidFill>
                          <a:latin typeface="+mn-lt"/>
                        </a:rPr>
                        <a:t>Бугунги кунда Ш.Рамазанова “Оразибон” фолклор-этнографик  ижодий жамоаси таркибда Хоразм миллий   санъатини  халқимизга  намойиш этиб эл  ҳурматига сазовор бўлиб келаётган истеъдодли санъаткорларимиздандир.</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2403">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15198">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келган.</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a:picLocks noChangeAspect="1"/>
          </p:cNvPicPr>
          <p:nvPr/>
        </p:nvPicPr>
        <p:blipFill>
          <a:blip r:embed="rId2"/>
          <a:stretch>
            <a:fillRect/>
          </a:stretch>
        </p:blipFill>
        <p:spPr>
          <a:xfrm>
            <a:off x="256976" y="1138686"/>
            <a:ext cx="883185" cy="1096000"/>
          </a:xfrm>
          <a:prstGeom prst="rect">
            <a:avLst/>
          </a:prstGeom>
        </p:spPr>
      </p:pic>
    </p:spTree>
    <p:extLst>
      <p:ext uri="{BB962C8B-B14F-4D97-AF65-F5344CB8AC3E}">
        <p14:creationId xmlns:p14="http://schemas.microsoft.com/office/powerpoint/2010/main" val="465190107"/>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770233789"/>
              </p:ext>
            </p:extLst>
          </p:nvPr>
        </p:nvGraphicFramePr>
        <p:xfrm>
          <a:off x="144489" y="865702"/>
          <a:ext cx="3427547" cy="5896577"/>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854">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346">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a:solidFill>
                            <a:schemeClr val="tx1"/>
                          </a:solidFill>
                          <a:latin typeface="+mn-lt"/>
                          <a:ea typeface="+mn-ea"/>
                          <a:cs typeface="+mn-cs"/>
                        </a:rPr>
                        <a:t>ЗАРИПОВ</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34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Анвар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34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Хакимович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346">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34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09.06.1956</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34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407">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0840">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1 нафар ўғил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“Ўзбекцирк” ДМ чавандоз-артист, сулола вакили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407">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645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ЗАРИПОВ Хаким Каримович</a:t>
                      </a:r>
                    </a:p>
                    <a:p>
                      <a:pPr algn="l">
                        <a:lnSpc>
                          <a:spcPct val="85000"/>
                        </a:lnSpc>
                      </a:pPr>
                      <a:r>
                        <a:rPr lang="uz-Cyrl-UZ" sz="900" b="0" kern="1200" noProof="0" dirty="0">
                          <a:solidFill>
                            <a:schemeClr val="tx1"/>
                          </a:solidFill>
                          <a:latin typeface="+mn-lt"/>
                          <a:ea typeface="+mn-ea"/>
                          <a:cs typeface="Arial" panose="020B0604020202020204" pitchFamily="34" charset="0"/>
                        </a:rPr>
                        <a:t>1924 йил, Тошкент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2022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Ўзбекистон</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халқ</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артисти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868">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ЗАРИПОВА Нина Дмитриевна</a:t>
                      </a:r>
                    </a:p>
                    <a:p>
                      <a:pPr algn="l">
                        <a:lnSpc>
                          <a:spcPct val="85000"/>
                        </a:lnSpc>
                      </a:pPr>
                      <a:r>
                        <a:rPr lang="uz-Cyrl-UZ" sz="900" b="0" kern="1200" noProof="0" dirty="0">
                          <a:solidFill>
                            <a:schemeClr val="tx1"/>
                          </a:solidFill>
                          <a:latin typeface="+mn-lt"/>
                          <a:ea typeface="+mn-ea"/>
                          <a:cs typeface="Arial" panose="020B0604020202020204" pitchFamily="34" charset="0"/>
                        </a:rPr>
                        <a:t>1924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2017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(Цирк </a:t>
                      </a:r>
                      <a:r>
                        <a:rPr lang="ru-RU" sz="900" b="0" kern="1200" noProof="0" dirty="0" err="1">
                          <a:solidFill>
                            <a:schemeClr val="tx1"/>
                          </a:solidFill>
                          <a:latin typeface="+mn-lt"/>
                          <a:ea typeface="+mn-ea"/>
                          <a:cs typeface="Arial" panose="020B0604020202020204" pitchFamily="34" charset="0"/>
                        </a:rPr>
                        <a:t>артисткаси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868">
                <a:tc>
                  <a:txBody>
                    <a:bodyPr/>
                    <a:lstStyle/>
                    <a:p>
                      <a:pPr algn="ctr">
                        <a:lnSpc>
                          <a:spcPct val="85000"/>
                        </a:lnSpc>
                      </a:pPr>
                      <a:r>
                        <a:rPr lang="uz-Cyrl-UZ" sz="900" b="1" kern="1200" noProof="0" dirty="0">
                          <a:solidFill>
                            <a:schemeClr val="tx1"/>
                          </a:solidFill>
                          <a:latin typeface="+mn-lt"/>
                          <a:ea typeface="+mn-ea"/>
                          <a:cs typeface="+mn-cs"/>
                        </a:rPr>
                        <a:t>Опаси: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ЗАРИПОВА Гавҳар Хакимовна</a:t>
                      </a:r>
                    </a:p>
                    <a:p>
                      <a:pPr algn="l">
                        <a:lnSpc>
                          <a:spcPct val="85000"/>
                        </a:lnSpc>
                      </a:pPr>
                      <a:r>
                        <a:rPr lang="uz-Cyrl-UZ" sz="900" b="0" kern="1200" noProof="0" dirty="0">
                          <a:solidFill>
                            <a:schemeClr val="tx1"/>
                          </a:solidFill>
                          <a:latin typeface="+mn-lt"/>
                          <a:ea typeface="+mn-ea"/>
                          <a:cs typeface="Arial" panose="020B0604020202020204" pitchFamily="34" charset="0"/>
                        </a:rPr>
                        <a:t>1949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mn-cs"/>
                        </a:rPr>
                        <a:t>Нафақада </a:t>
                      </a:r>
                      <a:br>
                        <a:rPr lang="uz-Cyrl-UZ" sz="800" b="0" kern="1200" noProof="0" dirty="0">
                          <a:solidFill>
                            <a:schemeClr val="tx1"/>
                          </a:solidFill>
                          <a:latin typeface="+mn-lt"/>
                          <a:ea typeface="+mn-ea"/>
                          <a:cs typeface="+mn-cs"/>
                        </a:rPr>
                      </a:br>
                      <a:r>
                        <a:rPr lang="uz-Cyrl-UZ" sz="800" b="0" kern="1200" noProof="0" dirty="0">
                          <a:solidFill>
                            <a:schemeClr val="tx1"/>
                          </a:solidFill>
                          <a:latin typeface="+mn-lt"/>
                          <a:ea typeface="+mn-ea"/>
                          <a:cs typeface="+mn-cs"/>
                        </a:rPr>
                        <a:t>(Цирк артисткаси)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8073">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5446">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2008 й. </a:t>
                      </a:r>
                      <a:r>
                        <a:rPr lang="ru-RU" sz="900" b="0" kern="1200" noProof="0" dirty="0" err="1">
                          <a:solidFill>
                            <a:schemeClr val="tx1"/>
                          </a:solidFill>
                          <a:latin typeface="+mn-lt"/>
                          <a:ea typeface="+mn-ea"/>
                          <a:cs typeface="+mn-cs"/>
                        </a:rPr>
                        <a:t>Ўзбекистон</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жисмоний</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тарбия</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96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Спорт гимнастикаси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858">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858">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606">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855570753"/>
              </p:ext>
            </p:extLst>
          </p:nvPr>
        </p:nvGraphicFramePr>
        <p:xfrm>
          <a:off x="3674526" y="865689"/>
          <a:ext cx="3172841" cy="5895575"/>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2375">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6123">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2021 йилдан буён “Ўзбекцирк” ДМ чавандоз-артист-етакчи саҳна устаси</a:t>
                      </a:r>
                      <a:r>
                        <a:rPr lang="uz-Cyrl-UZ" sz="900" b="1" kern="1200" dirty="0">
                          <a:solidFill>
                            <a:schemeClr val="tx1"/>
                          </a:solidFill>
                          <a:effectLst/>
                          <a:latin typeface="+mn-lt"/>
                          <a:ea typeface="+mn-ea"/>
                          <a:cs typeface="+mn-cs"/>
                        </a:rPr>
                        <a:t> </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5473">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991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33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481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4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1163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2022-2026 йй. - “Ўзбекистон йигитлари” чавандозлар гуруҳи раҳбари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2318">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a:t>
                      </a: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соғлиги </a:t>
                      </a: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2318">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0419">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2025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9510">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695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25787">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2026 й. “Маданият ва санъат фидокори” кўкрак нишони </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083437199"/>
              </p:ext>
            </p:extLst>
          </p:nvPr>
        </p:nvGraphicFramePr>
        <p:xfrm>
          <a:off x="6949857" y="869288"/>
          <a:ext cx="2817247" cy="5895696"/>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56818">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9008">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331492">
                <a:tc>
                  <a:txBody>
                    <a:bodyPr/>
                    <a:lstStyle/>
                    <a:p>
                      <a:pPr algn="just">
                        <a:lnSpc>
                          <a:spcPct val="85000"/>
                        </a:lnSpc>
                      </a:pPr>
                      <a:r>
                        <a:rPr lang="uz-Cyrl-UZ" sz="900" b="0" noProof="0" dirty="0">
                          <a:solidFill>
                            <a:schemeClr val="tx1"/>
                          </a:solidFill>
                          <a:latin typeface="+mn-lt"/>
                        </a:rPr>
                        <a:t>    Зарипов Анвар Хакимович 1956 йил 9 июнда Тошкент шахрида цирк артистлари оиласида туғилган ва Зариповлар сулоласининг учинчи авлоди ҳисобланади.</a:t>
                      </a:r>
                    </a:p>
                    <a:p>
                      <a:pPr algn="just">
                        <a:lnSpc>
                          <a:spcPct val="85000"/>
                        </a:lnSpc>
                      </a:pPr>
                      <a:r>
                        <a:rPr lang="uz-Cyrl-UZ" sz="900" b="0" noProof="0" dirty="0">
                          <a:solidFill>
                            <a:schemeClr val="tx1"/>
                          </a:solidFill>
                          <a:latin typeface="+mn-lt"/>
                        </a:rPr>
                        <a:t>     Хозирги кунда у Ўзбекистон Республикаси Вазирлар Махкамасининг 10.19.1995 йилдаги қарорига биноан Ўзбекистон Республикаси худудида ишлаш хуқуқи асосида “Ўзбек давлат цирки” давлат муассасасида ёш кадрларни тайёрлаш учун тор мутахассислик бўйича тренер ва юқори малакали мутахассис сифатида ишлайди. Анвар Зарипов 50 йилдан ортиқ вақт давомида кўплаб номерлар муаллифи хисобланади. Улар орасида: “Фриттерс”, “Олд айланма стол”, “Қайчи 360 даража” ва бошқалар шулар жумласидандир. А.Зариповнинг мохир ижроси томошабинлар томонидан юқори бахоланиб, халқаро танловларда кўплаб совринларга сазовор бўлган. 1970-1993 йилларда у Болгария, Полша, Чехославакия, Руминия, Шарқий Германия, Мўғулистон, Венгрия, Финландия, Малайзия, Дания, Шветция ва бошқа мамлакатларда гастрол сафарларида бўлган.  </a:t>
                      </a:r>
                    </a:p>
                    <a:p>
                      <a:pPr algn="just">
                        <a:lnSpc>
                          <a:spcPct val="85000"/>
                        </a:lnSpc>
                      </a:pPr>
                      <a:r>
                        <a:rPr lang="uz-Cyrl-UZ" sz="900" b="0" noProof="0" dirty="0">
                          <a:solidFill>
                            <a:schemeClr val="tx1"/>
                          </a:solidFill>
                          <a:latin typeface="+mn-lt"/>
                        </a:rPr>
                        <a:t>      А.Зарипов ўз навбатида маданият соҳасида қуйидаги “Улар ўз ватанлари учун курашдилар”, “Дарёнинг нариги томонида”, “Хаво пиёдалари”, ва “Джигит Зариповлар” номли хужжатли филмларида рол ижро этган. Шунингдек, 2011 йилда “Отлардаги акробатлар” номерини яратиб, кўплаб чавандоз шогирдларни тайёрлаб келди. </a:t>
                      </a:r>
                    </a:p>
                    <a:p>
                      <a:pPr algn="just">
                        <a:lnSpc>
                          <a:spcPct val="85000"/>
                        </a:lnSpc>
                      </a:pPr>
                      <a:r>
                        <a:rPr lang="uz-Cyrl-UZ" sz="900" b="0" noProof="0" dirty="0">
                          <a:solidFill>
                            <a:schemeClr val="tx1"/>
                          </a:solidFill>
                          <a:latin typeface="+mn-lt"/>
                        </a:rPr>
                        <a:t>       Анвар Зарипов ва Гавхар Зариповалар халқаро мукофотлар лауреатлари, олтин медал совриндорлари, таниқли цирк усталаридир. 1994 йил Монте Карлода Гран При, 1997-2003 йиллар Франция давлати Париж шаҳрида олтин медал олганлар. Зариповлар сулоласи ўзбек ва жаҳон цирки тарихида ўзига хос ёрқин саҳифаларига эга, улар жаҳон цирки бойлигидир.</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9557">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754456">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a:effectLst/>
                          <a:latin typeface="+mn-lt"/>
                          <a:ea typeface="Calibri" panose="020F0502020204030204" pitchFamily="34" charset="0"/>
                          <a:cs typeface="Times New Roman" panose="02020603050405020304" pitchFamily="18" charset="0"/>
                        </a:rPr>
                        <a:t>Республикамизда</a:t>
                      </a:r>
                      <a:r>
                        <a:rPr lang="uz-Cyrl-UZ" sz="800" b="0" baseline="0" dirty="0">
                          <a:effectLst/>
                          <a:latin typeface="+mn-lt"/>
                          <a:ea typeface="Calibri" panose="020F0502020204030204" pitchFamily="34" charset="0"/>
                          <a:cs typeface="Times New Roman" panose="02020603050405020304" pitchFamily="18" charset="0"/>
                        </a:rPr>
                        <a:t> ўтказилиб келинадиган барча оммавий маданий тадбирлар ва давлат тадбирлари, шунингдек, давлат қабулларида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a:extLst>
              <a:ext uri="{FF2B5EF4-FFF2-40B4-BE49-F238E27FC236}">
                <a16:creationId xmlns:a16="http://schemas.microsoft.com/office/drawing/2014/main" id="{754E13A1-E426-FB10-467C-2CEF4922685A}"/>
              </a:ext>
            </a:extLst>
          </p:cNvPr>
          <p:cNvPicPr>
            <a:picLocks noChangeAspect="1"/>
          </p:cNvPicPr>
          <p:nvPr/>
        </p:nvPicPr>
        <p:blipFill>
          <a:blip r:embed="rId2"/>
          <a:stretch>
            <a:fillRect/>
          </a:stretch>
        </p:blipFill>
        <p:spPr>
          <a:xfrm>
            <a:off x="281955" y="1152899"/>
            <a:ext cx="848105" cy="1089970"/>
          </a:xfrm>
          <a:prstGeom prst="rect">
            <a:avLst/>
          </a:prstGeom>
        </p:spPr>
      </p:pic>
    </p:spTree>
    <p:extLst>
      <p:ext uri="{BB962C8B-B14F-4D97-AF65-F5344CB8AC3E}">
        <p14:creationId xmlns:p14="http://schemas.microsoft.com/office/powerpoint/2010/main" val="2173611489"/>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629456206"/>
              </p:ext>
            </p:extLst>
          </p:nvPr>
        </p:nvGraphicFramePr>
        <p:xfrm>
          <a:off x="144489" y="901338"/>
          <a:ext cx="3471547" cy="5861025"/>
        </p:xfrm>
        <a:graphic>
          <a:graphicData uri="http://schemas.openxmlformats.org/drawingml/2006/table">
            <a:tbl>
              <a:tblPr firstRow="1" bandRow="1">
                <a:tableStyleId>{C083E6E3-FA7D-4D7B-A595-EF9225AFEA82}</a:tableStyleId>
              </a:tblPr>
              <a:tblGrid>
                <a:gridCol w="602831">
                  <a:extLst>
                    <a:ext uri="{9D8B030D-6E8A-4147-A177-3AD203B41FA5}">
                      <a16:colId xmlns:a16="http://schemas.microsoft.com/office/drawing/2014/main" val="2288412290"/>
                    </a:ext>
                  </a:extLst>
                </a:gridCol>
                <a:gridCol w="510006">
                  <a:extLst>
                    <a:ext uri="{9D8B030D-6E8A-4147-A177-3AD203B41FA5}">
                      <a16:colId xmlns:a16="http://schemas.microsoft.com/office/drawing/2014/main" val="1678982439"/>
                    </a:ext>
                  </a:extLst>
                </a:gridCol>
                <a:gridCol w="155469">
                  <a:extLst>
                    <a:ext uri="{9D8B030D-6E8A-4147-A177-3AD203B41FA5}">
                      <a16:colId xmlns:a16="http://schemas.microsoft.com/office/drawing/2014/main" val="2721661767"/>
                    </a:ext>
                  </a:extLst>
                </a:gridCol>
                <a:gridCol w="921898">
                  <a:extLst>
                    <a:ext uri="{9D8B030D-6E8A-4147-A177-3AD203B41FA5}">
                      <a16:colId xmlns:a16="http://schemas.microsoft.com/office/drawing/2014/main" val="546773760"/>
                    </a:ext>
                  </a:extLst>
                </a:gridCol>
                <a:gridCol w="1281343">
                  <a:extLst>
                    <a:ext uri="{9D8B030D-6E8A-4147-A177-3AD203B41FA5}">
                      <a16:colId xmlns:a16="http://schemas.microsoft.com/office/drawing/2014/main" val="546443978"/>
                    </a:ext>
                  </a:extLst>
                </a:gridCol>
              </a:tblGrid>
              <a:tr h="236607">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497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МАДЖИДОВ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2559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Бахром</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497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Джалилович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497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497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11.12.1955</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497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4532">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61698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1нафар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“Ўзбекцирк” ДМ цирк номерлар репетитори лавозимида фаолият олиб бормоқда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4532">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40918">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Мажидов Жалил</a:t>
                      </a:r>
                    </a:p>
                    <a:p>
                      <a:pPr algn="l">
                        <a:lnSpc>
                          <a:spcPct val="85000"/>
                        </a:lnSpc>
                      </a:pPr>
                      <a:r>
                        <a:rPr lang="uz-Cyrl-UZ" sz="900" b="0" kern="1200" noProof="0" dirty="0">
                          <a:solidFill>
                            <a:schemeClr val="tx1"/>
                          </a:solidFill>
                          <a:latin typeface="+mn-lt"/>
                          <a:ea typeface="+mn-ea"/>
                          <a:cs typeface="Arial" panose="020B0604020202020204" pitchFamily="34" charset="0"/>
                        </a:rPr>
                        <a:t>1927 йил, Тошкент вилояти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1996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озиқ-овқат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дўкони</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сотувчи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21012">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Мажидова Шарифа</a:t>
                      </a:r>
                    </a:p>
                    <a:p>
                      <a:pPr algn="l">
                        <a:lnSpc>
                          <a:spcPct val="85000"/>
                        </a:lnSpc>
                      </a:pPr>
                      <a:r>
                        <a:rPr lang="uz-Cyrl-UZ" sz="900" b="0" kern="1200" noProof="0" dirty="0">
                          <a:solidFill>
                            <a:schemeClr val="tx1"/>
                          </a:solidFill>
                          <a:latin typeface="+mn-lt"/>
                          <a:ea typeface="+mn-ea"/>
                          <a:cs typeface="Arial" panose="020B0604020202020204" pitchFamily="34" charset="0"/>
                        </a:rPr>
                        <a:t>1927 йил, Тошкент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2003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озиқ-овқат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дўкони</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сотувчи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36484">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Ачилова Наталья Гиясовна</a:t>
                      </a:r>
                    </a:p>
                    <a:p>
                      <a:pPr algn="l">
                        <a:lnSpc>
                          <a:spcPct val="85000"/>
                        </a:lnSpc>
                      </a:pPr>
                      <a:r>
                        <a:rPr lang="uz-Cyrl-UZ" sz="900" b="0" kern="1200" noProof="0" dirty="0">
                          <a:solidFill>
                            <a:schemeClr val="tx1"/>
                          </a:solidFill>
                          <a:latin typeface="+mn-lt"/>
                          <a:ea typeface="+mn-ea"/>
                          <a:cs typeface="Arial" panose="020B0604020202020204" pitchFamily="34" charset="0"/>
                        </a:rPr>
                        <a:t>1953 йил, Россия федерацияси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Ўзбекистон давлат божхона қўмитаси 1-тоифали мутахассис</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1890">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23826">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1982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маданият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30286">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Оммовий байрамлар режиссёрлиги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5539">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5539">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21012">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211507049"/>
              </p:ext>
            </p:extLst>
          </p:nvPr>
        </p:nvGraphicFramePr>
        <p:xfrm>
          <a:off x="3732415" y="901337"/>
          <a:ext cx="2934392" cy="5860617"/>
        </p:xfrm>
        <a:graphic>
          <a:graphicData uri="http://schemas.openxmlformats.org/drawingml/2006/table">
            <a:tbl>
              <a:tblPr firstRow="1" bandRow="1">
                <a:tableStyleId>{C083E6E3-FA7D-4D7B-A595-EF9225AFEA82}</a:tableStyleId>
              </a:tblPr>
              <a:tblGrid>
                <a:gridCol w="1144855">
                  <a:extLst>
                    <a:ext uri="{9D8B030D-6E8A-4147-A177-3AD203B41FA5}">
                      <a16:colId xmlns:a16="http://schemas.microsoft.com/office/drawing/2014/main" val="2715609854"/>
                    </a:ext>
                  </a:extLst>
                </a:gridCol>
                <a:gridCol w="1789537">
                  <a:extLst>
                    <a:ext uri="{9D8B030D-6E8A-4147-A177-3AD203B41FA5}">
                      <a16:colId xmlns:a16="http://schemas.microsoft.com/office/drawing/2014/main" val="546443978"/>
                    </a:ext>
                  </a:extLst>
                </a:gridCol>
              </a:tblGrid>
              <a:tr h="280833">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38359">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0" kern="1200" noProof="0" dirty="0">
                          <a:solidFill>
                            <a:schemeClr val="tx1"/>
                          </a:solidFill>
                          <a:latin typeface="+mn-lt"/>
                          <a:ea typeface="+mn-ea"/>
                          <a:cs typeface="+mn-cs"/>
                        </a:rPr>
                        <a:t>“Ўзбекцирк” ДМ цирк номерлар репетитори лавозимида фаолият олиб бормоқда</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306606">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8527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53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6800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20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01455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1992-2012 йй. - “Ўзбекдавлатцирк” директори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2023 то хозирги давргача “</a:t>
                      </a:r>
                      <a:r>
                        <a:rPr lang="uz-Cyrl-UZ" sz="900" b="0" kern="1200" noProof="0" dirty="0">
                          <a:solidFill>
                            <a:schemeClr val="tx1"/>
                          </a:solidFill>
                          <a:latin typeface="+mn-lt"/>
                          <a:ea typeface="+mn-ea"/>
                          <a:cs typeface="+mn-cs"/>
                        </a:rPr>
                        <a:t>Ўзбекцирк” ДМ цирк номерлар репетитори лавозимида фаолият олиб бормоқда</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85273">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8527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2025 й. “Турон” сиҳатгоҳида даволанган</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31129">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p>
                      <a:pPr algn="l">
                        <a:lnSpc>
                          <a:spcPct val="107000"/>
                        </a:lnSpc>
                        <a:spcAft>
                          <a:spcPts val="0"/>
                        </a:spcAft>
                      </a:pPr>
                      <a:endParaRPr lang="en-US" sz="900" kern="1200" noProof="0" dirty="0">
                        <a:solidFill>
                          <a:schemeClr val="tx1"/>
                        </a:solidFill>
                        <a:effectLst/>
                        <a:latin typeface="+mn-lt"/>
                        <a:ea typeface="Calibri" panose="020F0502020204030204" pitchFamily="34" charset="0"/>
                        <a:cs typeface="Times New Roman" panose="02020603050405020304" pitchFamily="18" charset="0"/>
                      </a:endParaRPr>
                    </a:p>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8527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2-гуруҳ ногирони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94358">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743675">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2003 й. “Ўзбекистон Республикасида хизмат кўрсатган маданият ходими”</a:t>
                      </a: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755703899"/>
              </p:ext>
            </p:extLst>
          </p:nvPr>
        </p:nvGraphicFramePr>
        <p:xfrm>
          <a:off x="6783186" y="869286"/>
          <a:ext cx="2983919" cy="5892669"/>
        </p:xfrm>
        <a:graphic>
          <a:graphicData uri="http://schemas.openxmlformats.org/drawingml/2006/table">
            <a:tbl>
              <a:tblPr firstRow="1" bandRow="1">
                <a:tableStyleId>{C083E6E3-FA7D-4D7B-A595-EF9225AFEA82}</a:tableStyleId>
              </a:tblPr>
              <a:tblGrid>
                <a:gridCol w="2983919">
                  <a:extLst>
                    <a:ext uri="{9D8B030D-6E8A-4147-A177-3AD203B41FA5}">
                      <a16:colId xmlns:a16="http://schemas.microsoft.com/office/drawing/2014/main" val="2715609854"/>
                    </a:ext>
                  </a:extLst>
                </a:gridCol>
              </a:tblGrid>
              <a:tr h="278349">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0382">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81123">
                <a:tc>
                  <a:txBody>
                    <a:bodyPr/>
                    <a:lstStyle/>
                    <a:p>
                      <a:pPr algn="just">
                        <a:lnSpc>
                          <a:spcPct val="85000"/>
                        </a:lnSpc>
                      </a:pPr>
                      <a:r>
                        <a:rPr lang="uz-Cyrl-UZ" sz="900" b="0" noProof="0" dirty="0" smtClean="0">
                          <a:solidFill>
                            <a:schemeClr val="tx1"/>
                          </a:solidFill>
                          <a:latin typeface="+mn-lt"/>
                        </a:rPr>
                        <a:t>    Куп </a:t>
                      </a:r>
                      <a:r>
                        <a:rPr lang="uz-Cyrl-UZ" sz="900" b="0" noProof="0" dirty="0">
                          <a:solidFill>
                            <a:schemeClr val="tx1"/>
                          </a:solidFill>
                          <a:latin typeface="+mn-lt"/>
                        </a:rPr>
                        <a:t>йиллар давомида Тошкент циркида кўплаб рахбарлар алмашди. Цирк артистлар ва цирк фаолияти учун юракдан жон куйдирадиган  инсонлардан бири Маджидов Бахром. </a:t>
                      </a:r>
                    </a:p>
                    <a:p>
                      <a:pPr algn="just">
                        <a:lnSpc>
                          <a:spcPct val="85000"/>
                        </a:lnSpc>
                      </a:pPr>
                      <a:r>
                        <a:rPr lang="uz-Cyrl-UZ" sz="900" b="0" noProof="0" dirty="0" smtClean="0">
                          <a:solidFill>
                            <a:schemeClr val="tx1"/>
                          </a:solidFill>
                          <a:latin typeface="+mn-lt"/>
                        </a:rPr>
                        <a:t>    У </a:t>
                      </a:r>
                      <a:r>
                        <a:rPr lang="uz-Cyrl-UZ" sz="900" b="0" noProof="0" dirty="0">
                          <a:solidFill>
                            <a:schemeClr val="tx1"/>
                          </a:solidFill>
                          <a:latin typeface="+mn-lt"/>
                        </a:rPr>
                        <a:t>дунёга Тошкент циркида хам ишининг юқори даражадаги усталари борлигини кўрсатмоқчи эди. Мустақиллик берган имкониятлардан фойдаланиб харқаро гастроллар учун йўл очиш мақсадида, аввал Осиё, кейинчалик Европа ва Америка билан боғланди.                   </a:t>
                      </a:r>
                    </a:p>
                    <a:p>
                      <a:pPr algn="just">
                        <a:lnSpc>
                          <a:spcPct val="85000"/>
                        </a:lnSpc>
                      </a:pPr>
                      <a:r>
                        <a:rPr lang="uz-Cyrl-UZ" sz="900" b="0" noProof="0" smtClean="0">
                          <a:solidFill>
                            <a:schemeClr val="tx1"/>
                          </a:solidFill>
                          <a:latin typeface="+mn-lt"/>
                        </a:rPr>
                        <a:t>    У </a:t>
                      </a:r>
                      <a:r>
                        <a:rPr lang="uz-Cyrl-UZ" sz="900" b="0" noProof="0" dirty="0">
                          <a:solidFill>
                            <a:schemeClr val="tx1"/>
                          </a:solidFill>
                          <a:latin typeface="+mn-lt"/>
                        </a:rPr>
                        <a:t>1992 йилдан 2012 йилгача Тошкент давлат циркининг директори бўлиб ишлаган. Бу йилларда цирк гуллаб яшнади. Бу эса, албатта, Истиқлол шарофати ва оқилона раҳбарлик натижаси эди.    </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65107">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17708">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a:extLst>
              <a:ext uri="{FF2B5EF4-FFF2-40B4-BE49-F238E27FC236}">
                <a16:creationId xmlns:a16="http://schemas.microsoft.com/office/drawing/2014/main" id="{754E13A1-E426-FB10-467C-2CEF4922685A}"/>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278301" y="1152899"/>
            <a:ext cx="833635" cy="1116476"/>
          </a:xfrm>
          <a:prstGeom prst="rect">
            <a:avLst/>
          </a:prstGeom>
        </p:spPr>
      </p:pic>
    </p:spTree>
    <p:extLst>
      <p:ext uri="{BB962C8B-B14F-4D97-AF65-F5344CB8AC3E}">
        <p14:creationId xmlns:p14="http://schemas.microsoft.com/office/powerpoint/2010/main" val="3837286404"/>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3"/>
          <a:ext cx="3427547" cy="5847270"/>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37210">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5443">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a:solidFill>
                            <a:schemeClr val="tx1"/>
                          </a:solidFill>
                          <a:latin typeface="+mn-lt"/>
                          <a:ea typeface="+mn-ea"/>
                          <a:cs typeface="+mn-cs"/>
                        </a:rPr>
                        <a:t>А</a:t>
                      </a:r>
                      <a:r>
                        <a:rPr lang="uz-Cyrl-UZ" sz="900" b="0" kern="1200" dirty="0">
                          <a:solidFill>
                            <a:schemeClr val="tx1"/>
                          </a:solidFill>
                          <a:latin typeface="+mn-lt"/>
                          <a:ea typeface="+mn-ea"/>
                          <a:cs typeface="+mn-cs"/>
                        </a:rPr>
                        <a:t>ЛИЕ</a:t>
                      </a:r>
                      <a:r>
                        <a:rPr lang="ru-RU" sz="900" b="0" kern="1200" dirty="0">
                          <a:solidFill>
                            <a:schemeClr val="tx1"/>
                          </a:solidFill>
                          <a:latin typeface="+mn-lt"/>
                          <a:ea typeface="+mn-ea"/>
                          <a:cs typeface="+mn-cs"/>
                        </a:rPr>
                        <a:t>ВА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544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Нарзинисо</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544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Шариповна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5443">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ТОЖИК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544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16.06.1946</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9168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Тожикистон Республикаси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5103">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82363">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1 нафар ўғил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“Ўзбекцирк” ДМ Ижодий жамоа бадиий раҳбари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5103">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16472">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ШАРИПОВ Али Файзиевич</a:t>
                      </a:r>
                    </a:p>
                    <a:p>
                      <a:pPr algn="l">
                        <a:lnSpc>
                          <a:spcPct val="85000"/>
                        </a:lnSpc>
                      </a:pPr>
                      <a:r>
                        <a:rPr lang="uz-Cyrl-UZ" sz="900" b="0" kern="1200" noProof="0" dirty="0">
                          <a:solidFill>
                            <a:schemeClr val="tx1"/>
                          </a:solidFill>
                          <a:latin typeface="+mn-lt"/>
                          <a:ea typeface="+mn-ea"/>
                          <a:cs typeface="Arial" panose="020B0604020202020204" pitchFamily="34" charset="0"/>
                        </a:rPr>
                        <a:t>1917 йил, Хўжанд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1996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(Партия </a:t>
                      </a:r>
                      <a:r>
                        <a:rPr lang="ru-RU" sz="900" b="0" kern="1200" noProof="0" dirty="0" err="1">
                          <a:solidFill>
                            <a:schemeClr val="tx1"/>
                          </a:solidFill>
                          <a:latin typeface="+mn-lt"/>
                          <a:ea typeface="+mn-ea"/>
                          <a:cs typeface="Arial" panose="020B0604020202020204" pitchFamily="34" charset="0"/>
                        </a:rPr>
                        <a:t>ташкилотчиси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22084">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БУТАЕВА Бишарифа Хамракуловна</a:t>
                      </a:r>
                    </a:p>
                    <a:p>
                      <a:pPr algn="l">
                        <a:lnSpc>
                          <a:spcPct val="85000"/>
                        </a:lnSpc>
                      </a:pPr>
                      <a:r>
                        <a:rPr lang="uz-Cyrl-UZ" sz="900" b="0" kern="1200" noProof="0" dirty="0">
                          <a:solidFill>
                            <a:schemeClr val="tx1"/>
                          </a:solidFill>
                          <a:latin typeface="+mn-lt"/>
                          <a:ea typeface="+mn-ea"/>
                          <a:cs typeface="Arial" panose="020B0604020202020204" pitchFamily="34" charset="0"/>
                        </a:rPr>
                        <a:t>1924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1978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ўқитувчи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17316">
                <a:tc>
                  <a:txBody>
                    <a:bodyPr/>
                    <a:lstStyle/>
                    <a:p>
                      <a:pPr algn="ctr">
                        <a:lnSpc>
                          <a:spcPct val="85000"/>
                        </a:lnSpc>
                      </a:pPr>
                      <a:r>
                        <a:rPr lang="uz-Cyrl-UZ" sz="900" b="1" kern="1200" noProof="0" dirty="0">
                          <a:solidFill>
                            <a:schemeClr val="tx1"/>
                          </a:solidFill>
                          <a:latin typeface="+mn-lt"/>
                          <a:ea typeface="+mn-ea"/>
                          <a:cs typeface="+mn-cs"/>
                        </a:rPr>
                        <a:t>Ўғли: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АЛИЕВ Анвар Саидович</a:t>
                      </a:r>
                    </a:p>
                    <a:p>
                      <a:pPr algn="l">
                        <a:lnSpc>
                          <a:spcPct val="85000"/>
                        </a:lnSpc>
                      </a:pPr>
                      <a:r>
                        <a:rPr lang="uz-Cyrl-UZ" sz="900" b="0" kern="1200" noProof="0" dirty="0">
                          <a:solidFill>
                            <a:schemeClr val="tx1"/>
                          </a:solidFill>
                          <a:latin typeface="+mn-lt"/>
                          <a:ea typeface="+mn-ea"/>
                          <a:cs typeface="Arial" panose="020B0604020202020204" pitchFamily="34" charset="0"/>
                        </a:rPr>
                        <a:t>1971 йил, Россия Уфа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mn-cs"/>
                        </a:rPr>
                        <a:t>“Ўзбекцирк” ДМ Артист-етакчи саҳна устаси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2404">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95753">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1992 й. </a:t>
                      </a:r>
                      <a:r>
                        <a:rPr lang="ru-RU" sz="900" b="0" kern="1200" noProof="0" dirty="0" err="1">
                          <a:solidFill>
                            <a:schemeClr val="tx1"/>
                          </a:solidFill>
                          <a:latin typeface="+mn-lt"/>
                          <a:ea typeface="+mn-ea"/>
                          <a:cs typeface="+mn-cs"/>
                        </a:rPr>
                        <a:t>Тожикистон</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санъат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маданият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61907">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Ҳаваскор театр жамоалари раҳбарлиги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6317">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6317">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13973">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89"/>
          <a:ext cx="3172841" cy="5866253"/>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1100">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16865">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2012 йилдан буён “Ўзбекцирк” ДМ Ижодий жамоа бадиий раҳбари </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47059">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267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50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807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31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00106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1978-1994 йй. - “Душанбе” давлат цирки бадиий раҳбари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1994-1995 йй. - Қозоғистон давлат цирки бадиий раҳбари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1995-2026 йй. – “Ўзбекцирк” ДМ ижодий жамоа бадиий раҳбари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236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2362">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2025-2026 й. Давлат шифоҳоналарида даволанган</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0526">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2024-2025 йй.</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063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914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55782">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1978 й. Тожикистон ССР 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2025 й. “Маданият ва санъат фидокори” кўкрак нишони</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935749591"/>
              </p:ext>
            </p:extLst>
          </p:nvPr>
        </p:nvGraphicFramePr>
        <p:xfrm>
          <a:off x="6949857" y="869288"/>
          <a:ext cx="2817247" cy="5844827"/>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28431">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1470">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479823">
                <a:tc>
                  <a:txBody>
                    <a:bodyPr/>
                    <a:lstStyle/>
                    <a:p>
                      <a:pPr algn="just">
                        <a:lnSpc>
                          <a:spcPct val="85000"/>
                        </a:lnSpc>
                      </a:pPr>
                      <a:r>
                        <a:rPr lang="uz-Cyrl-UZ" sz="900" b="0" noProof="0" dirty="0" smtClean="0">
                          <a:solidFill>
                            <a:schemeClr val="tx1"/>
                          </a:solidFill>
                          <a:latin typeface="+mn-lt"/>
                        </a:rPr>
                        <a:t>    Н.Алиева </a:t>
                      </a:r>
                      <a:r>
                        <a:rPr lang="uz-Cyrl-UZ" sz="900" b="0" noProof="0" dirty="0">
                          <a:solidFill>
                            <a:schemeClr val="tx1"/>
                          </a:solidFill>
                          <a:latin typeface="+mn-lt"/>
                        </a:rPr>
                        <a:t>ижодий фаолиятини 1969 йилда Рафаэл Понукалин бошчилигидаги “Акробат жонглёрлар” гурухида бошлаган. 1974 йили эса собиқ иттифоқ халқ артисти-канат устаси В.волжанскийда амалиёт ўтади. 1975 йили ўзининг “Икки қатламли канат” дастурини Москвадаги Измайлов паркида  ташкил этиб, шунингдек ушбу номер 1977 йилда тўлиқ намойиш этилиб, жахонда биринчи бўлди. Алиева Нарзинисо Шариповна Ўзбекистон Республикаси худудида мехнат фаолиятини юритиш хуқуқи асосида 1995 йилда “Ўзбек давлат цирки” га ишлашга таклиф этилган ва хозирда ижодий жамоа бадиий рахбари лавозимида ишлаб келмоқда. Ёш мураббийларни таййорлаш, янги цирк дастурларини яратиш бўйича юқори малакали мутахассисдир. </a:t>
                      </a:r>
                    </a:p>
                    <a:p>
                      <a:pPr algn="just">
                        <a:lnSpc>
                          <a:spcPct val="85000"/>
                        </a:lnSpc>
                      </a:pPr>
                      <a:r>
                        <a:rPr lang="uz-Cyrl-UZ" sz="900" b="0" noProof="0" dirty="0" smtClean="0">
                          <a:solidFill>
                            <a:schemeClr val="tx1"/>
                          </a:solidFill>
                          <a:latin typeface="+mn-lt"/>
                        </a:rPr>
                        <a:t>    У </a:t>
                      </a:r>
                      <a:r>
                        <a:rPr lang="uz-Cyrl-UZ" sz="900" b="0" noProof="0" dirty="0">
                          <a:solidFill>
                            <a:schemeClr val="tx1"/>
                          </a:solidFill>
                          <a:latin typeface="+mn-lt"/>
                        </a:rPr>
                        <a:t>томонидан 1996-1999 йилларда икки жамоа ташкил этилди:</a:t>
                      </a:r>
                    </a:p>
                    <a:p>
                      <a:pPr algn="just">
                        <a:lnSpc>
                          <a:spcPct val="85000"/>
                        </a:lnSpc>
                      </a:pPr>
                      <a:r>
                        <a:rPr lang="uz-Cyrl-UZ" sz="900" b="0" noProof="0" dirty="0" smtClean="0">
                          <a:solidFill>
                            <a:schemeClr val="tx1"/>
                          </a:solidFill>
                          <a:latin typeface="+mn-lt"/>
                        </a:rPr>
                        <a:t>    -</a:t>
                      </a:r>
                      <a:r>
                        <a:rPr lang="uz-Cyrl-UZ" sz="900" b="0" noProof="0" dirty="0">
                          <a:solidFill>
                            <a:schemeClr val="tx1"/>
                          </a:solidFill>
                          <a:latin typeface="+mn-lt"/>
                        </a:rPr>
                        <a:t>Икки қаватли канат-(12 та кишидан иборат)</a:t>
                      </a:r>
                    </a:p>
                    <a:p>
                      <a:pPr algn="just">
                        <a:lnSpc>
                          <a:spcPct val="85000"/>
                        </a:lnSpc>
                      </a:pPr>
                      <a:r>
                        <a:rPr lang="uz-Cyrl-UZ" sz="900" b="0" noProof="0" dirty="0" smtClean="0">
                          <a:solidFill>
                            <a:schemeClr val="tx1"/>
                          </a:solidFill>
                          <a:latin typeface="+mn-lt"/>
                        </a:rPr>
                        <a:t>    -</a:t>
                      </a:r>
                      <a:r>
                        <a:rPr lang="uz-Cyrl-UZ" sz="900" b="0" noProof="0" dirty="0">
                          <a:solidFill>
                            <a:schemeClr val="tx1"/>
                          </a:solidFill>
                          <a:latin typeface="+mn-lt"/>
                        </a:rPr>
                        <a:t>Салават Юнусов рахбарлигидаги канат гурухи-(7 та кишидан иборат</a:t>
                      </a:r>
                      <a:r>
                        <a:rPr lang="uz-Cyrl-UZ" sz="900" b="0" noProof="0" dirty="0" smtClean="0">
                          <a:solidFill>
                            <a:schemeClr val="tx1"/>
                          </a:solidFill>
                          <a:latin typeface="+mn-lt"/>
                        </a:rPr>
                        <a:t>)</a:t>
                      </a:r>
                      <a:r>
                        <a:rPr lang="uz-Cyrl-UZ" sz="900" b="0" baseline="0" noProof="0" dirty="0" smtClean="0">
                          <a:solidFill>
                            <a:schemeClr val="tx1"/>
                          </a:solidFill>
                          <a:latin typeface="+mn-lt"/>
                        </a:rPr>
                        <a:t> </a:t>
                      </a:r>
                      <a:r>
                        <a:rPr lang="uz-Cyrl-UZ" sz="900" b="0" noProof="0" dirty="0" smtClean="0">
                          <a:solidFill>
                            <a:schemeClr val="tx1"/>
                          </a:solidFill>
                          <a:latin typeface="+mn-lt"/>
                        </a:rPr>
                        <a:t>“</a:t>
                      </a:r>
                      <a:r>
                        <a:rPr lang="uz-Cyrl-UZ" sz="900" b="0" noProof="0" dirty="0">
                          <a:solidFill>
                            <a:schemeClr val="tx1"/>
                          </a:solidFill>
                          <a:latin typeface="+mn-lt"/>
                        </a:rPr>
                        <a:t>Икки қаватли канат” дастури қошида 8та кишидан иборат кичик жамоа ташкил қилинди. Нарзинисо Алиева 1999 йилдан буён ўзбек циркига кўплаб бир-биридан қизиқарли номерлар яратишда ўз хиссасини қўшиб келмоқда. У яратган “Икки қаватли канат”  дастури 2000 йилда Хитой давлатида бўлиб ўтган Халқаро цирк фестивалида 3-ўрин бронза медали сохиби бўлдилар. Шунингдек, “Перш” дастури 2008 йили Халқаро цирк фестивалида совринли ўринларга муносиб топилди. </a:t>
                      </a:r>
                    </a:p>
                    <a:p>
                      <a:pPr algn="just">
                        <a:lnSpc>
                          <a:spcPct val="85000"/>
                        </a:lnSpc>
                      </a:pPr>
                      <a:r>
                        <a:rPr lang="uz-Cyrl-UZ" sz="900" b="0" noProof="0" dirty="0" smtClean="0">
                          <a:solidFill>
                            <a:schemeClr val="tx1"/>
                          </a:solidFill>
                          <a:latin typeface="+mn-lt"/>
                        </a:rPr>
                        <a:t>    Н.Алиева </a:t>
                      </a:r>
                      <a:r>
                        <a:rPr lang="uz-Cyrl-UZ" sz="900" b="0" noProof="0" dirty="0">
                          <a:solidFill>
                            <a:schemeClr val="tx1"/>
                          </a:solidFill>
                          <a:latin typeface="+mn-lt"/>
                        </a:rPr>
                        <a:t>рахбарлигидаги кичик жамоаси бир қанча давлатларда миллий ўзбек цирк номини совринли ўринларга олиб чикган.Мисол тариқасида:</a:t>
                      </a:r>
                    </a:p>
                    <a:p>
                      <a:pPr algn="just">
                        <a:lnSpc>
                          <a:spcPct val="85000"/>
                        </a:lnSpc>
                      </a:pPr>
                      <a:r>
                        <a:rPr lang="uz-Cyrl-UZ" sz="900" b="0" noProof="0" dirty="0" smtClean="0">
                          <a:solidFill>
                            <a:schemeClr val="tx1"/>
                          </a:solidFill>
                          <a:latin typeface="+mn-lt"/>
                        </a:rPr>
                        <a:t>    - </a:t>
                      </a:r>
                      <a:r>
                        <a:rPr lang="uz-Cyrl-UZ" sz="900" b="0" noProof="0" dirty="0">
                          <a:solidFill>
                            <a:schemeClr val="tx1"/>
                          </a:solidFill>
                          <a:latin typeface="+mn-lt"/>
                        </a:rPr>
                        <a:t>2000 йил, Хитой- кумуш медаль;</a:t>
                      </a:r>
                    </a:p>
                    <a:p>
                      <a:pPr algn="just">
                        <a:lnSpc>
                          <a:spcPct val="85000"/>
                        </a:lnSpc>
                      </a:pPr>
                      <a:r>
                        <a:rPr lang="uz-Cyrl-UZ" sz="900" b="0" noProof="0" dirty="0" smtClean="0">
                          <a:solidFill>
                            <a:schemeClr val="tx1"/>
                          </a:solidFill>
                          <a:latin typeface="+mn-lt"/>
                        </a:rPr>
                        <a:t>    - </a:t>
                      </a:r>
                      <a:r>
                        <a:rPr lang="uz-Cyrl-UZ" sz="900" b="0" noProof="0" dirty="0">
                          <a:solidFill>
                            <a:schemeClr val="tx1"/>
                          </a:solidFill>
                          <a:latin typeface="+mn-lt"/>
                        </a:rPr>
                        <a:t>2002 йил, Хитой-бронза медаль;</a:t>
                      </a:r>
                    </a:p>
                    <a:p>
                      <a:pPr algn="just">
                        <a:lnSpc>
                          <a:spcPct val="85000"/>
                        </a:lnSpc>
                      </a:pPr>
                      <a:r>
                        <a:rPr lang="uz-Cyrl-UZ" sz="900" b="0" noProof="0" dirty="0" smtClean="0">
                          <a:solidFill>
                            <a:schemeClr val="tx1"/>
                          </a:solidFill>
                          <a:latin typeface="+mn-lt"/>
                        </a:rPr>
                        <a:t>    - </a:t>
                      </a:r>
                      <a:r>
                        <a:rPr lang="uz-Cyrl-UZ" sz="900" b="0" noProof="0" dirty="0">
                          <a:solidFill>
                            <a:schemeClr val="tx1"/>
                          </a:solidFill>
                          <a:latin typeface="+mn-lt"/>
                        </a:rPr>
                        <a:t>2006 йил, Япония-олтин медаль;</a:t>
                      </a:r>
                    </a:p>
                    <a:p>
                      <a:pPr algn="just">
                        <a:lnSpc>
                          <a:spcPct val="85000"/>
                        </a:lnSpc>
                      </a:pPr>
                      <a:r>
                        <a:rPr lang="uz-Cyrl-UZ" sz="900" b="0" noProof="0" dirty="0" smtClean="0">
                          <a:solidFill>
                            <a:schemeClr val="tx1"/>
                          </a:solidFill>
                          <a:latin typeface="+mn-lt"/>
                        </a:rPr>
                        <a:t>    - </a:t>
                      </a:r>
                      <a:r>
                        <a:rPr lang="uz-Cyrl-UZ" sz="900" b="0" noProof="0" dirty="0">
                          <a:solidFill>
                            <a:schemeClr val="tx1"/>
                          </a:solidFill>
                          <a:latin typeface="+mn-lt"/>
                        </a:rPr>
                        <a:t>2008 йил, Хитой-бронза медаль;</a:t>
                      </a:r>
                    </a:p>
                    <a:p>
                      <a:pPr algn="just">
                        <a:lnSpc>
                          <a:spcPct val="85000"/>
                        </a:lnSpc>
                      </a:pPr>
                      <a:r>
                        <a:rPr lang="uz-Cyrl-UZ" sz="900" b="0" noProof="0" dirty="0" smtClean="0">
                          <a:solidFill>
                            <a:schemeClr val="tx1"/>
                          </a:solidFill>
                          <a:latin typeface="+mn-lt"/>
                        </a:rPr>
                        <a:t>    - </a:t>
                      </a:r>
                      <a:r>
                        <a:rPr lang="uz-Cyrl-UZ" sz="900" b="0" noProof="0" dirty="0">
                          <a:solidFill>
                            <a:schemeClr val="tx1"/>
                          </a:solidFill>
                          <a:latin typeface="+mn-lt"/>
                        </a:rPr>
                        <a:t>2011 йил, Тайвань-олтин медаль;</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2792">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38816">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ўтказилиб келинадиган барча оммавий маданий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9" name="Рисунок 8" descr="Изображение выглядит как Человеческое лицо, человек, одежда, Подбородок&#10;&#10;Автоматически созданное описание">
            <a:extLst>
              <a:ext uri="{FF2B5EF4-FFF2-40B4-BE49-F238E27FC236}">
                <a16:creationId xmlns:a16="http://schemas.microsoft.com/office/drawing/2014/main" id="{62DB11ED-5615-A744-0AEF-222A3B6B208F}"/>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237588" y="1191362"/>
            <a:ext cx="901099" cy="1044761"/>
          </a:xfrm>
          <a:prstGeom prst="rect">
            <a:avLst/>
          </a:prstGeom>
        </p:spPr>
      </p:pic>
    </p:spTree>
    <p:extLst>
      <p:ext uri="{BB962C8B-B14F-4D97-AF65-F5344CB8AC3E}">
        <p14:creationId xmlns:p14="http://schemas.microsoft.com/office/powerpoint/2010/main" val="212850280"/>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900691"/>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a:solidFill>
                            <a:schemeClr val="tx1"/>
                          </a:solidFill>
                          <a:latin typeface="+mn-lt"/>
                          <a:ea typeface="+mn-ea"/>
                          <a:cs typeface="+mn-cs"/>
                        </a:rPr>
                        <a:t>ДАВЛАТОВА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Олеся</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Владимировна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РУС</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31.03.1977</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қиз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“Ўзбекцирк” ДМ Ҳайвонлар ўргатувчи артисти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КУЗИН Владимир Алексеевич</a:t>
                      </a:r>
                    </a:p>
                    <a:p>
                      <a:pPr algn="l">
                        <a:lnSpc>
                          <a:spcPct val="85000"/>
                        </a:lnSpc>
                      </a:pPr>
                      <a:r>
                        <a:rPr lang="uz-Cyrl-UZ" sz="900" b="0" kern="1200" noProof="0" dirty="0">
                          <a:solidFill>
                            <a:schemeClr val="tx1"/>
                          </a:solidFill>
                          <a:latin typeface="+mn-lt"/>
                          <a:ea typeface="+mn-ea"/>
                          <a:cs typeface="Arial" panose="020B0604020202020204" pitchFamily="34" charset="0"/>
                        </a:rPr>
                        <a:t>1947 йил, Тошкент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2011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Тошкент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қишлоқ</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хўжалик</a:t>
                      </a:r>
                      <a:r>
                        <a:rPr lang="ru-RU" sz="900" b="0" kern="1200" noProof="0" dirty="0">
                          <a:solidFill>
                            <a:schemeClr val="tx1"/>
                          </a:solidFill>
                          <a:latin typeface="+mn-lt"/>
                          <a:ea typeface="+mn-ea"/>
                          <a:cs typeface="Arial" panose="020B0604020202020204" pitchFamily="34" charset="0"/>
                        </a:rPr>
                        <a:t> заводи </a:t>
                      </a:r>
                      <a:r>
                        <a:rPr lang="ru-RU" sz="900" b="0" kern="1200" noProof="0" dirty="0" err="1">
                          <a:solidFill>
                            <a:schemeClr val="tx1"/>
                          </a:solidFill>
                          <a:latin typeface="+mn-lt"/>
                          <a:ea typeface="+mn-ea"/>
                          <a:cs typeface="Arial" panose="020B0604020202020204" pitchFamily="34" charset="0"/>
                        </a:rPr>
                        <a:t>механиги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КУЗИНА Галина Джураевна</a:t>
                      </a:r>
                    </a:p>
                    <a:p>
                      <a:pPr algn="l">
                        <a:lnSpc>
                          <a:spcPct val="85000"/>
                        </a:lnSpc>
                      </a:pPr>
                      <a:r>
                        <a:rPr lang="uz-Cyrl-UZ" sz="900" b="0" kern="1200" noProof="0" dirty="0">
                          <a:solidFill>
                            <a:schemeClr val="tx1"/>
                          </a:solidFill>
                          <a:latin typeface="+mn-lt"/>
                          <a:ea typeface="+mn-ea"/>
                          <a:cs typeface="Arial" panose="020B0604020202020204" pitchFamily="34" charset="0"/>
                        </a:rPr>
                        <a:t>1953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err="1">
                          <a:solidFill>
                            <a:schemeClr val="tx1"/>
                          </a:solidFill>
                          <a:latin typeface="+mn-lt"/>
                          <a:ea typeface="+mn-ea"/>
                          <a:cs typeface="Arial" panose="020B0604020202020204" pitchFamily="34" charset="0"/>
                        </a:rPr>
                        <a:t>Наф</a:t>
                      </a:r>
                      <a:r>
                        <a:rPr lang="uz-Cyrl-UZ" sz="900" b="0" kern="1200" noProof="0" dirty="0">
                          <a:solidFill>
                            <a:schemeClr val="tx1"/>
                          </a:solidFill>
                          <a:latin typeface="+mn-lt"/>
                          <a:ea typeface="+mn-ea"/>
                          <a:cs typeface="Arial" panose="020B0604020202020204" pitchFamily="34" charset="0"/>
                        </a:rPr>
                        <a:t>ақада</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(Малика </a:t>
                      </a:r>
                      <a:r>
                        <a:rPr lang="ru-RU" sz="900" b="0" kern="1200" noProof="0" dirty="0" err="1">
                          <a:solidFill>
                            <a:schemeClr val="tx1"/>
                          </a:solidFill>
                          <a:latin typeface="+mn-lt"/>
                          <a:ea typeface="+mn-ea"/>
                          <a:cs typeface="Arial" panose="020B0604020202020204" pitchFamily="34" charset="0"/>
                        </a:rPr>
                        <a:t>тикув</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фабрикаси</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тикувчиси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ДАВЛАТОВ Фаррух Алишерович</a:t>
                      </a:r>
                    </a:p>
                    <a:p>
                      <a:pPr algn="l">
                        <a:lnSpc>
                          <a:spcPct val="85000"/>
                        </a:lnSpc>
                      </a:pPr>
                      <a:r>
                        <a:rPr lang="uz-Cyrl-UZ" sz="900" b="0" kern="1200" noProof="0" dirty="0">
                          <a:solidFill>
                            <a:schemeClr val="tx1"/>
                          </a:solidFill>
                          <a:latin typeface="+mn-lt"/>
                          <a:ea typeface="+mn-ea"/>
                          <a:cs typeface="Arial" panose="020B0604020202020204" pitchFamily="34" charset="0"/>
                        </a:rPr>
                        <a:t>1973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mn-cs"/>
                        </a:rPr>
                        <a:t>“Ўзбекцирк” ДМ ассистенти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48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1996 й. Республика эстрада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цирк </a:t>
                      </a:r>
                      <a:r>
                        <a:rPr lang="ru-RU" sz="900" b="0" kern="1200" noProof="0" dirty="0" err="1">
                          <a:solidFill>
                            <a:schemeClr val="tx1"/>
                          </a:solidFill>
                          <a:latin typeface="+mn-lt"/>
                          <a:ea typeface="+mn-ea"/>
                          <a:cs typeface="+mn-cs"/>
                        </a:rPr>
                        <a:t>санъати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студияси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6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Эстрада артисти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1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295907868"/>
              </p:ext>
            </p:extLst>
          </p:nvPr>
        </p:nvGraphicFramePr>
        <p:xfrm>
          <a:off x="3674526" y="865689"/>
          <a:ext cx="3172841" cy="581953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761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1174">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2017 йилдан буён “Ўзбекцирк” ДМ артист-етакчи саҳна устаси</a:t>
                      </a:r>
                      <a:r>
                        <a:rPr lang="uz-Cyrl-UZ" sz="900" b="1" kern="1200" dirty="0">
                          <a:solidFill>
                            <a:schemeClr val="tx1"/>
                          </a:solidFill>
                          <a:effectLst/>
                          <a:latin typeface="+mn-lt"/>
                          <a:ea typeface="+mn-ea"/>
                          <a:cs typeface="+mn-cs"/>
                        </a:rPr>
                        <a:t> </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192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685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26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97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896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2012-2017 йй. – Ҳайвонларни ўргатувчи олий тоифали артист, номер бадиий раҳбари</a:t>
                      </a:r>
                    </a:p>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2017-2026 йй. – Ҳайвонларни ўргатувчи артист-етакчи саҳна устаси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811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8116">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624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2023 йилда</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576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365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96243">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2015 й. Ўзбекистон Республикасида хизмат </a:t>
                      </a:r>
                      <a:r>
                        <a:rPr lang="uz-Cyrl-UZ" sz="900" noProof="0" dirty="0" smtClean="0">
                          <a:effectLst/>
                          <a:latin typeface="+mn-lt"/>
                          <a:ea typeface="Calibri" panose="020F0502020204030204" pitchFamily="34" charset="0"/>
                          <a:cs typeface="Times New Roman" panose="02020603050405020304" pitchFamily="18" charset="0"/>
                        </a:rPr>
                        <a:t>кўрсатган </a:t>
                      </a:r>
                      <a:r>
                        <a:rPr lang="uz-Cyrl-UZ" sz="900" noProof="0" dirty="0">
                          <a:effectLst/>
                          <a:latin typeface="+mn-lt"/>
                          <a:ea typeface="Calibri" panose="020F0502020204030204" pitchFamily="34" charset="0"/>
                          <a:cs typeface="Times New Roman" panose="02020603050405020304" pitchFamily="18" charset="0"/>
                        </a:rPr>
                        <a:t>артист</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855272188"/>
              </p:ext>
            </p:extLst>
          </p:nvPr>
        </p:nvGraphicFramePr>
        <p:xfrm>
          <a:off x="6949857" y="869286"/>
          <a:ext cx="2817247" cy="5827644"/>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algn="just">
                        <a:lnSpc>
                          <a:spcPct val="85000"/>
                        </a:lnSpc>
                      </a:pPr>
                      <a:r>
                        <a:rPr lang="uz-Cyrl-UZ" sz="900" b="0" noProof="0" dirty="0">
                          <a:solidFill>
                            <a:schemeClr val="tx1"/>
                          </a:solidFill>
                          <a:latin typeface="+mn-lt"/>
                        </a:rPr>
                        <a:t>    У ўзбек миллий ва замонавий цирк санъатига 2003 йилда стажёр артист сифатида ижодини бошлаган. Цирк санъатини мукаммал ўрганиш мақсадида 2008 йилдан ҳайвонларга бўлган мехри туфайли ҳайвонларни ўргатиш жанрини кенг тарғиб қилиб келмоқда.</a:t>
                      </a:r>
                    </a:p>
                    <a:p>
                      <a:pPr algn="just">
                        <a:lnSpc>
                          <a:spcPct val="85000"/>
                        </a:lnSpc>
                      </a:pPr>
                      <a:r>
                        <a:rPr lang="uz-Cyrl-UZ" sz="900" b="0" noProof="0" dirty="0">
                          <a:solidFill>
                            <a:schemeClr val="tx1"/>
                          </a:solidFill>
                          <a:latin typeface="+mn-lt"/>
                        </a:rPr>
                        <a:t>    Шунингдек, замонавий ўзбек цирк санъатини  миллий анъаналарига асосланиб, цирк томошаларининг оммабоп бўлишига ҳисса қўшди. </a:t>
                      </a:r>
                    </a:p>
                    <a:p>
                      <a:pPr algn="just">
                        <a:lnSpc>
                          <a:spcPct val="85000"/>
                        </a:lnSpc>
                      </a:pPr>
                      <a:r>
                        <a:rPr lang="uz-Cyrl-UZ" sz="900" b="0" noProof="0" dirty="0">
                          <a:solidFill>
                            <a:schemeClr val="tx1"/>
                          </a:solidFill>
                          <a:latin typeface="+mn-lt"/>
                        </a:rPr>
                        <a:t>    У меҳнат фаолияти давомида Тошкент шаҳридаги барча таълим муассасаларида, мактаб-интернатларда, меҳрибонлик уйларида ўзининг ёрқин чиқишлари билан фаол қатнашган.</a:t>
                      </a:r>
                    </a:p>
                    <a:p>
                      <a:pPr algn="just">
                        <a:lnSpc>
                          <a:spcPct val="85000"/>
                        </a:lnSpc>
                      </a:pPr>
                      <a:r>
                        <a:rPr lang="uz-Cyrl-UZ" sz="900" b="0" noProof="0" dirty="0">
                          <a:solidFill>
                            <a:schemeClr val="tx1"/>
                          </a:solidFill>
                          <a:latin typeface="+mn-lt"/>
                        </a:rPr>
                        <a:t>    О.Давлатованинг мушуклари кўпгина чет эл санъаткорларининг мусиқий клипларида, шунингдек унинг ўргатилган ва зотдор кучуклари республикамиз санъаткорларининг мусиқий клипларида ва кўплаб ўзбекфильмларида суратга тушган.</a:t>
                      </a:r>
                    </a:p>
                    <a:p>
                      <a:pPr algn="just">
                        <a:lnSpc>
                          <a:spcPct val="85000"/>
                        </a:lnSpc>
                      </a:pPr>
                      <a:r>
                        <a:rPr lang="uz-Cyrl-UZ" sz="900" b="0" noProof="0" dirty="0">
                          <a:solidFill>
                            <a:schemeClr val="tx1"/>
                          </a:solidFill>
                          <a:latin typeface="+mn-lt"/>
                        </a:rPr>
                        <a:t>    У ўз устида тинимсиз ишлайдиган, доимий изланишдаги ходим сифатида муассасада алоҳида эътиборга лойиқ. </a:t>
                      </a:r>
                    </a:p>
                    <a:p>
                      <a:pPr algn="just">
                        <a:lnSpc>
                          <a:spcPct val="85000"/>
                        </a:lnSpc>
                      </a:pPr>
                      <a:r>
                        <a:rPr lang="uz-Cyrl-UZ" sz="900" b="0" noProof="0" dirty="0">
                          <a:solidFill>
                            <a:schemeClr val="tx1"/>
                          </a:solidFill>
                          <a:latin typeface="+mn-lt"/>
                        </a:rPr>
                        <a:t>     Шу жумладан, байрам тадбирларига бағишланган катта томошаларда турли ҳайвонларни ўргатиб, янги дастурлари билан томошабинлар қалбидан жой олмоқда.</a:t>
                      </a:r>
                    </a:p>
                    <a:p>
                      <a:pPr algn="just">
                        <a:lnSpc>
                          <a:spcPct val="85000"/>
                        </a:lnSpc>
                      </a:pP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    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ўтказилиб келинадиган барча оммавий маданий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a:extLst>
              <a:ext uri="{FF2B5EF4-FFF2-40B4-BE49-F238E27FC236}">
                <a16:creationId xmlns:a16="http://schemas.microsoft.com/office/drawing/2014/main" id="{5B4D0BFE-6867-0993-7383-C7B97E0965DA}"/>
              </a:ext>
            </a:extLst>
          </p:cNvPr>
          <p:cNvPicPr>
            <a:picLocks noChangeAspect="1"/>
          </p:cNvPicPr>
          <p:nvPr/>
        </p:nvPicPr>
        <p:blipFill>
          <a:blip r:embed="rId2"/>
          <a:stretch>
            <a:fillRect/>
          </a:stretch>
        </p:blipFill>
        <p:spPr>
          <a:xfrm>
            <a:off x="268292" y="1126556"/>
            <a:ext cx="861768" cy="1107685"/>
          </a:xfrm>
          <a:prstGeom prst="rect">
            <a:avLst/>
          </a:prstGeom>
        </p:spPr>
      </p:pic>
    </p:spTree>
    <p:extLst>
      <p:ext uri="{BB962C8B-B14F-4D97-AF65-F5344CB8AC3E}">
        <p14:creationId xmlns:p14="http://schemas.microsoft.com/office/powerpoint/2010/main" val="2884539140"/>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44488" y="595491"/>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97609804"/>
              </p:ext>
            </p:extLst>
          </p:nvPr>
        </p:nvGraphicFramePr>
        <p:xfrm>
          <a:off x="144488" y="865688"/>
          <a:ext cx="3530038" cy="5821029"/>
        </p:xfrm>
        <a:graphic>
          <a:graphicData uri="http://schemas.openxmlformats.org/drawingml/2006/table">
            <a:tbl>
              <a:tblPr firstRow="1" bandRow="1">
                <a:tableStyleId>{C083E6E3-FA7D-4D7B-A595-EF9225AFEA82}</a:tableStyleId>
              </a:tblPr>
              <a:tblGrid>
                <a:gridCol w="612988">
                  <a:extLst>
                    <a:ext uri="{9D8B030D-6E8A-4147-A177-3AD203B41FA5}">
                      <a16:colId xmlns:a16="http://schemas.microsoft.com/office/drawing/2014/main" val="2288412290"/>
                    </a:ext>
                  </a:extLst>
                </a:gridCol>
                <a:gridCol w="518601">
                  <a:extLst>
                    <a:ext uri="{9D8B030D-6E8A-4147-A177-3AD203B41FA5}">
                      <a16:colId xmlns:a16="http://schemas.microsoft.com/office/drawing/2014/main" val="1678982439"/>
                    </a:ext>
                  </a:extLst>
                </a:gridCol>
                <a:gridCol w="158086">
                  <a:extLst>
                    <a:ext uri="{9D8B030D-6E8A-4147-A177-3AD203B41FA5}">
                      <a16:colId xmlns:a16="http://schemas.microsoft.com/office/drawing/2014/main" val="2721661767"/>
                    </a:ext>
                  </a:extLst>
                </a:gridCol>
                <a:gridCol w="937431">
                  <a:extLst>
                    <a:ext uri="{9D8B030D-6E8A-4147-A177-3AD203B41FA5}">
                      <a16:colId xmlns:a16="http://schemas.microsoft.com/office/drawing/2014/main" val="546773760"/>
                    </a:ext>
                  </a:extLst>
                </a:gridCol>
                <a:gridCol w="1302932">
                  <a:extLst>
                    <a:ext uri="{9D8B030D-6E8A-4147-A177-3AD203B41FA5}">
                      <a16:colId xmlns:a16="http://schemas.microsoft.com/office/drawing/2014/main" val="546443978"/>
                    </a:ext>
                  </a:extLst>
                </a:gridCol>
              </a:tblGrid>
              <a:tr h="229034">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7784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ЮНУСОВ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7784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Салават</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2535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Идрисович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7784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БАШҚИРД</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2535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0</a:t>
                      </a:r>
                      <a:r>
                        <a:rPr lang="ru-RU" sz="800" b="0" kern="1200" dirty="0">
                          <a:solidFill>
                            <a:schemeClr val="tx1"/>
                          </a:solidFill>
                          <a:latin typeface="+mn-lt"/>
                          <a:ea typeface="+mn-ea"/>
                          <a:cs typeface="+mn-cs"/>
                        </a:rPr>
                        <a:t>2.05.1964</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7784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17346">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36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ўғил фарзанди бор,хозирда “Ўзбекцирк” ДМ цирк номерлар репититори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17346">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94463">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Юнусов Идрис Юнусович</a:t>
                      </a:r>
                    </a:p>
                    <a:p>
                      <a:pPr algn="l">
                        <a:lnSpc>
                          <a:spcPct val="85000"/>
                        </a:lnSpc>
                      </a:pPr>
                      <a:r>
                        <a:rPr lang="uz-Cyrl-UZ" sz="900" b="0" kern="1200" noProof="0" dirty="0">
                          <a:solidFill>
                            <a:schemeClr val="tx1"/>
                          </a:solidFill>
                          <a:latin typeface="+mn-lt"/>
                          <a:ea typeface="+mn-ea"/>
                          <a:cs typeface="Arial" panose="020B0604020202020204" pitchFamily="34" charset="0"/>
                        </a:rPr>
                        <a:t>1932 йил, Москва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0656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Юнусова Нависа Шариповна</a:t>
                      </a:r>
                    </a:p>
                    <a:p>
                      <a:pPr algn="l">
                        <a:lnSpc>
                          <a:spcPct val="85000"/>
                        </a:lnSpc>
                      </a:pPr>
                      <a:r>
                        <a:rPr lang="uz-Cyrl-UZ" sz="900" b="0" kern="1200" noProof="0" dirty="0">
                          <a:solidFill>
                            <a:schemeClr val="tx1"/>
                          </a:solidFill>
                          <a:latin typeface="+mn-lt"/>
                          <a:ea typeface="+mn-ea"/>
                          <a:cs typeface="Arial" panose="020B0604020202020204" pitchFamily="34" charset="0"/>
                        </a:rPr>
                        <a:t>1936 йил, Москва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0926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Янгибоева Рано Равшановна</a:t>
                      </a:r>
                    </a:p>
                    <a:p>
                      <a:pPr algn="l">
                        <a:lnSpc>
                          <a:spcPct val="85000"/>
                        </a:lnSpc>
                      </a:pPr>
                      <a:r>
                        <a:rPr lang="uz-Cyrl-UZ" sz="900" b="0" kern="1200" noProof="0" dirty="0">
                          <a:solidFill>
                            <a:schemeClr val="tx1"/>
                          </a:solidFill>
                          <a:latin typeface="+mn-lt"/>
                          <a:ea typeface="+mn-ea"/>
                          <a:cs typeface="Arial" panose="020B0604020202020204" pitchFamily="34" charset="0"/>
                        </a:rPr>
                        <a:t>1981 йил, Қашқадарё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a:solidFill>
                            <a:schemeClr val="tx1"/>
                          </a:solidFill>
                          <a:latin typeface="+mn-lt"/>
                          <a:ea typeface="+mn-ea"/>
                          <a:cs typeface="+mn-cs"/>
                        </a:rPr>
                        <a:t>“Ўзбекцирк”ДМ </a:t>
                      </a:r>
                      <a:br>
                        <a:rPr lang="uz-Cyrl-UZ" sz="800" b="0" kern="1200" noProof="0" dirty="0">
                          <a:solidFill>
                            <a:schemeClr val="tx1"/>
                          </a:solidFill>
                          <a:latin typeface="+mn-lt"/>
                          <a:ea typeface="+mn-ea"/>
                          <a:cs typeface="+mn-cs"/>
                        </a:rPr>
                      </a:br>
                      <a:r>
                        <a:rPr lang="uz-Cyrl-UZ" sz="800" b="0" kern="1200" noProof="0" dirty="0">
                          <a:solidFill>
                            <a:schemeClr val="tx1"/>
                          </a:solidFill>
                          <a:latin typeface="+mn-lt"/>
                          <a:ea typeface="+mn-ea"/>
                          <a:cs typeface="+mn-cs"/>
                        </a:rPr>
                        <a:t>1-тоифали артист</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9542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87439">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ў</a:t>
                      </a:r>
                      <a:r>
                        <a:rPr lang="ru-RU" sz="900" b="0" kern="1200" noProof="0" dirty="0">
                          <a:solidFill>
                            <a:schemeClr val="tx1"/>
                          </a:solidFill>
                          <a:latin typeface="+mn-lt"/>
                          <a:ea typeface="+mn-ea"/>
                          <a:cs typeface="+mn-cs"/>
                        </a:rPr>
                        <a:t>рта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5825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Йўқ</a:t>
                      </a:r>
                      <a:endParaRPr lang="ru-RU" sz="900" dirty="0" smtClean="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9478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9478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 ўзбек</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08196">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89"/>
          <a:ext cx="3172841" cy="583493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2803">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6569">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“Ўзбекцирк”ДМ цирк номерлар репититори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579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019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40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507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1277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269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2696">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079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2025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984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7246">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28445">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2015 йил “Дўстлик” ордени</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933580653"/>
              </p:ext>
            </p:extLst>
          </p:nvPr>
        </p:nvGraphicFramePr>
        <p:xfrm>
          <a:off x="6847367" y="865689"/>
          <a:ext cx="2914145" cy="5827644"/>
        </p:xfrm>
        <a:graphic>
          <a:graphicData uri="http://schemas.openxmlformats.org/drawingml/2006/table">
            <a:tbl>
              <a:tblPr firstRow="1" bandRow="1">
                <a:tableStyleId>{C083E6E3-FA7D-4D7B-A595-EF9225AFEA82}</a:tableStyleId>
              </a:tblPr>
              <a:tblGrid>
                <a:gridCol w="2914145">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algn="just"/>
                      <a:r>
                        <a:rPr lang="uz-Cyrl-UZ" sz="900" baseline="0" dirty="0" smtClean="0">
                          <a:effectLst/>
                          <a:latin typeface="Times New Roman" panose="02020603050405020304" pitchFamily="18" charset="0"/>
                          <a:ea typeface="Times New Roman" panose="02020603050405020304" pitchFamily="18" charset="0"/>
                        </a:rPr>
                        <a:t>    </a:t>
                      </a:r>
                      <a:r>
                        <a:rPr lang="uz-Cyrl-UZ" sz="900" dirty="0" smtClean="0">
                          <a:effectLst/>
                          <a:latin typeface="Times New Roman" panose="02020603050405020304" pitchFamily="18" charset="0"/>
                          <a:ea typeface="Times New Roman" panose="02020603050405020304" pitchFamily="18" charset="0"/>
                        </a:rPr>
                        <a:t>Юнусов </a:t>
                      </a:r>
                      <a:r>
                        <a:rPr lang="uz-Cyrl-UZ" sz="900" dirty="0">
                          <a:effectLst/>
                          <a:latin typeface="Times New Roman" panose="02020603050405020304" pitchFamily="18" charset="0"/>
                          <a:ea typeface="Times New Roman" panose="02020603050405020304" pitchFamily="18" charset="0"/>
                        </a:rPr>
                        <a:t>Салават 1980 йилдан бери “Ўзбекцирк” давлат муассасасида ўз иш фалиятини юритиб келмоқда.  </a:t>
                      </a:r>
                    </a:p>
                    <a:p>
                      <a:pPr algn="just"/>
                      <a:r>
                        <a:rPr lang="uz-Cyrl-UZ" sz="900" dirty="0" smtClean="0">
                          <a:effectLst/>
                          <a:latin typeface="Times New Roman" panose="02020603050405020304" pitchFamily="18" charset="0"/>
                          <a:ea typeface="Times New Roman" panose="02020603050405020304" pitchFamily="18" charset="0"/>
                        </a:rPr>
                        <a:t>    С.Юнусов </a:t>
                      </a:r>
                      <a:r>
                        <a:rPr lang="uz-Cyrl-UZ" sz="900" dirty="0">
                          <a:effectLst/>
                          <a:latin typeface="Times New Roman" panose="02020603050405020304" pitchFamily="18" charset="0"/>
                          <a:ea typeface="Times New Roman" panose="02020603050405020304" pitchFamily="18" charset="0"/>
                        </a:rPr>
                        <a:t>ўзбек цирк санъатини ривожлантиришга катта ҳисса қўшиб келаётган моҳир ва интилувчан артист сифатида элга танилган. Куп йиллик иш фаолиятида кўплаб шогиртлар тарбиялаган. Унинг шогиртлари Халқаро цирк фестивалларида муносиб катнашиб юқори ўринларни эгаллаб келмоқда.  Фидоий, жонкуяр жамоада ўз ўрнига эга самимий </a:t>
                      </a:r>
                      <a:r>
                        <a:rPr lang="uz-Cyrl-UZ" sz="900" dirty="0" smtClean="0">
                          <a:effectLst/>
                          <a:latin typeface="Times New Roman" panose="02020603050405020304" pitchFamily="18" charset="0"/>
                          <a:ea typeface="Times New Roman" panose="02020603050405020304" pitchFamily="18" charset="0"/>
                        </a:rPr>
                        <a:t>инсон.</a:t>
                      </a:r>
                    </a:p>
                    <a:p>
                      <a:pPr algn="just"/>
                      <a:r>
                        <a:rPr lang="uz-Cyrl-UZ" sz="900" dirty="0" smtClean="0">
                          <a:effectLst/>
                          <a:latin typeface="Times New Roman" panose="02020603050405020304" pitchFamily="18" charset="0"/>
                          <a:ea typeface="Times New Roman" panose="02020603050405020304" pitchFamily="18" charset="0"/>
                        </a:rPr>
                        <a:t>    С.Юнусов </a:t>
                      </a:r>
                      <a:r>
                        <a:rPr lang="uz-Cyrl-UZ" sz="900" dirty="0">
                          <a:effectLst/>
                          <a:latin typeface="Times New Roman" panose="02020603050405020304" pitchFamily="18" charset="0"/>
                          <a:ea typeface="Times New Roman" panose="02020603050405020304" pitchFamily="18" charset="0"/>
                        </a:rPr>
                        <a:t>йил давомида намойш этиладиган барча цирк томошаларининг доимий иштирокчисидир. Жамоат ишларида фаоллиги билан ажралиб турадиган инсон. </a:t>
                      </a:r>
                    </a:p>
                    <a:p>
                      <a:pPr algn="just"/>
                      <a:r>
                        <a:rPr lang="uz-Cyrl-UZ" sz="900" dirty="0" smtClean="0">
                          <a:effectLst/>
                          <a:latin typeface="Times New Roman" panose="02020603050405020304" pitchFamily="18" charset="0"/>
                          <a:ea typeface="Times New Roman" panose="02020603050405020304" pitchFamily="18" charset="0"/>
                        </a:rPr>
                        <a:t>    Кўп </a:t>
                      </a:r>
                      <a:r>
                        <a:rPr lang="uz-Cyrl-UZ" sz="900" dirty="0">
                          <a:effectLst/>
                          <a:latin typeface="Times New Roman" panose="02020603050405020304" pitchFamily="18" charset="0"/>
                          <a:ea typeface="Times New Roman" panose="02020603050405020304" pitchFamily="18" charset="0"/>
                        </a:rPr>
                        <a:t>йиллик меҳнат фаолияти давомида ўзини жамоанинг етакчи ходими сифатида кўрсатди, ҳамда изланувчанлиги билан ажралиб туради</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Picture 2">
            <a:extLst>
              <a:ext uri="{FF2B5EF4-FFF2-40B4-BE49-F238E27FC236}">
                <a16:creationId xmlns:a16="http://schemas.microsoft.com/office/drawing/2014/main" id="{79DAA86A-CA53-1EC8-0C1D-A493F046A2A1}"/>
              </a:ext>
            </a:extLst>
          </p:cNvPr>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61561" y="1157682"/>
            <a:ext cx="919002" cy="1144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73531437"/>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842214831"/>
              </p:ext>
            </p:extLst>
          </p:nvPr>
        </p:nvGraphicFramePr>
        <p:xfrm>
          <a:off x="144489" y="876036"/>
          <a:ext cx="3427547" cy="5951045"/>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57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0420">
                <a:tc rowSpan="6" gridSpan="2">
                  <a:txBody>
                    <a:bodyPr/>
                    <a:lstStyle/>
                    <a:p>
                      <a:pPr marL="0" marR="0" indent="0" algn="l" defTabSz="914400" rtl="0" eaLnBrk="1" fontAlgn="auto" latinLnBrk="0" hangingPunct="1">
                        <a:lnSpc>
                          <a:spcPct val="90000"/>
                        </a:lnSpc>
                        <a:spcBef>
                          <a:spcPts val="0"/>
                        </a:spcBef>
                        <a:spcAft>
                          <a:spcPts val="0"/>
                        </a:spcAft>
                        <a:buClrTx/>
                        <a:buSzTx/>
                        <a:buFontTx/>
                        <a:buNone/>
                        <a:tabLst/>
                        <a:defRPr/>
                      </a:pPr>
                      <a:endParaRPr lang="ru-RU" sz="1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Жабборов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042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Баходир</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042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Акбаралиевич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042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042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08.07.1953</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40836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Андижон</a:t>
                      </a:r>
                      <a:r>
                        <a:rPr lang="uz-Cyrl-UZ" sz="800" b="0" kern="1200" baseline="0" dirty="0" smtClean="0">
                          <a:solidFill>
                            <a:schemeClr val="tx1"/>
                          </a:solidFill>
                          <a:latin typeface="+mn-lt"/>
                          <a:ea typeface="+mn-ea"/>
                          <a:cs typeface="+mn-cs"/>
                        </a:rPr>
                        <a:t> вилояти. Хўжаобод 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45">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5309">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нафар бир  ўғил, бир қиз фарзандлари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45">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33412">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Хакимов</a:t>
                      </a:r>
                      <a:r>
                        <a:rPr lang="uz-Cyrl-UZ" sz="900" b="1" kern="1200" baseline="0" noProof="0" dirty="0" smtClean="0">
                          <a:solidFill>
                            <a:schemeClr val="tx1"/>
                          </a:solidFill>
                          <a:latin typeface="+mn-lt"/>
                          <a:ea typeface="+mn-ea"/>
                          <a:cs typeface="Arial" panose="020B0604020202020204" pitchFamily="34" charset="0"/>
                        </a:rPr>
                        <a:t> Акбарали</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1930 йил, Фарғона вилояти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2017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14538">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Тешабоева</a:t>
                      </a:r>
                      <a:r>
                        <a:rPr lang="uz-Cyrl-UZ" sz="900" b="0" kern="1200" baseline="0" noProof="0" dirty="0" smtClean="0">
                          <a:solidFill>
                            <a:schemeClr val="tx1"/>
                          </a:solidFill>
                          <a:latin typeface="+mn-lt"/>
                          <a:ea typeface="+mn-ea"/>
                          <a:cs typeface="Arial" panose="020B0604020202020204" pitchFamily="34" charset="0"/>
                        </a:rPr>
                        <a:t> Тожихон  </a:t>
                      </a:r>
                    </a:p>
                    <a:p>
                      <a:pPr algn="l">
                        <a:lnSpc>
                          <a:spcPct val="85000"/>
                        </a:lnSpc>
                      </a:pPr>
                      <a:r>
                        <a:rPr lang="uz-Cyrl-UZ" sz="900" b="0" kern="1200" noProof="0" dirty="0" smtClean="0">
                          <a:solidFill>
                            <a:schemeClr val="tx1"/>
                          </a:solidFill>
                          <a:latin typeface="+mn-lt"/>
                          <a:ea typeface="+mn-ea"/>
                          <a:cs typeface="Arial" panose="020B0604020202020204" pitchFamily="34" charset="0"/>
                        </a:rPr>
                        <a:t>1933 йил, Андижон</a:t>
                      </a:r>
                      <a:r>
                        <a:rPr lang="uz-Cyrl-UZ" sz="900" b="0" kern="1200" baseline="0" noProof="0" dirty="0" smtClean="0">
                          <a:solidFill>
                            <a:schemeClr val="tx1"/>
                          </a:solidFill>
                          <a:latin typeface="+mn-lt"/>
                          <a:ea typeface="+mn-ea"/>
                          <a:cs typeface="Arial" panose="020B0604020202020204" pitchFamily="34" charset="0"/>
                        </a:rPr>
                        <a:t> вилояти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1961</a:t>
                      </a:r>
                      <a:r>
                        <a:rPr lang="ru-RU" sz="900" b="0" kern="1200" baseline="0" noProof="0" dirty="0" smtClean="0">
                          <a:solidFill>
                            <a:schemeClr val="tx1"/>
                          </a:solidFill>
                          <a:latin typeface="+mn-lt"/>
                          <a:ea typeface="+mn-ea"/>
                          <a:cs typeface="Arial" panose="020B0604020202020204" pitchFamily="34" charset="0"/>
                        </a:rPr>
                        <a:t> </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хонанда</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99389">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Юлдашева</a:t>
                      </a:r>
                      <a:r>
                        <a:rPr lang="uz-Cyrl-UZ" sz="900" b="1" kern="1200" baseline="0" noProof="0" dirty="0" smtClean="0">
                          <a:solidFill>
                            <a:schemeClr val="tx1"/>
                          </a:solidFill>
                          <a:latin typeface="+mn-lt"/>
                          <a:ea typeface="+mn-ea"/>
                          <a:cs typeface="Arial" panose="020B0604020202020204" pitchFamily="34" charset="0"/>
                        </a:rPr>
                        <a:t> Мухтабар Паттахова</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1949</a:t>
                      </a:r>
                      <a:r>
                        <a:rPr lang="uz-Cyrl-UZ" sz="900" b="0" kern="1200" baseline="0" noProof="0" dirty="0" smtClean="0">
                          <a:solidFill>
                            <a:schemeClr val="tx1"/>
                          </a:solidFill>
                          <a:latin typeface="+mn-lt"/>
                          <a:ea typeface="+mn-ea"/>
                          <a:cs typeface="Arial" panose="020B0604020202020204" pitchFamily="34" charset="0"/>
                        </a:rPr>
                        <a:t> </a:t>
                      </a:r>
                      <a:r>
                        <a:rPr lang="uz-Cyrl-UZ" sz="900" b="0" kern="1200" noProof="0" dirty="0" smtClean="0">
                          <a:solidFill>
                            <a:schemeClr val="tx1"/>
                          </a:solidFill>
                          <a:latin typeface="+mn-lt"/>
                          <a:ea typeface="+mn-ea"/>
                          <a:cs typeface="Arial" panose="020B0604020202020204" pitchFamily="34" charset="0"/>
                        </a:rPr>
                        <a:t>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800" b="0" kern="1200" noProof="0" dirty="0" smtClean="0">
                          <a:solidFill>
                            <a:schemeClr val="tx1"/>
                          </a:solidFill>
                          <a:latin typeface="+mn-lt"/>
                          <a:ea typeface="+mn-ea"/>
                          <a:cs typeface="+mn-cs"/>
                        </a:rPr>
                        <a:t>2025</a:t>
                      </a:r>
                      <a:r>
                        <a:rPr lang="uz-Cyrl-UZ" sz="800" b="0" kern="1200" baseline="0" noProof="0" dirty="0" smtClean="0">
                          <a:solidFill>
                            <a:schemeClr val="tx1"/>
                          </a:solidFill>
                          <a:latin typeface="+mn-lt"/>
                          <a:ea typeface="+mn-ea"/>
                          <a:cs typeface="+mn-cs"/>
                        </a:rPr>
                        <a:t> йил вафот этган.”Фидокоран хизматлари учун” унвони сохиби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36">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35161">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1977 й. А.Н.Островский</a:t>
                      </a:r>
                      <a:r>
                        <a:rPr lang="ru-RU" sz="900" b="0" kern="1200" baseline="0" noProof="0" dirty="0" smtClean="0">
                          <a:solidFill>
                            <a:schemeClr val="tx1"/>
                          </a:solidFill>
                          <a:latin typeface="+mn-lt"/>
                          <a:ea typeface="+mn-ea"/>
                          <a:cs typeface="+mn-cs"/>
                        </a:rPr>
                        <a:t> </a:t>
                      </a:r>
                      <a:r>
                        <a:rPr lang="ru-RU" sz="900" b="0" kern="1200" baseline="0" noProof="0" dirty="0" err="1" smtClean="0">
                          <a:solidFill>
                            <a:schemeClr val="tx1"/>
                          </a:solidFill>
                          <a:latin typeface="+mn-lt"/>
                          <a:ea typeface="+mn-ea"/>
                          <a:cs typeface="+mn-cs"/>
                        </a:rPr>
                        <a:t>номли</a:t>
                      </a:r>
                      <a:r>
                        <a:rPr lang="ru-RU" sz="900" b="0" kern="1200" baseline="0" noProof="0" dirty="0" smtClean="0">
                          <a:solidFill>
                            <a:schemeClr val="tx1"/>
                          </a:solidFill>
                          <a:latin typeface="+mn-lt"/>
                          <a:ea typeface="+mn-ea"/>
                          <a:cs typeface="+mn-cs"/>
                        </a:rPr>
                        <a:t> театр </a:t>
                      </a:r>
                      <a:r>
                        <a:rPr lang="ru-RU" sz="900" b="0" kern="1200" baseline="0" noProof="0" dirty="0" err="1" smtClean="0">
                          <a:solidFill>
                            <a:schemeClr val="tx1"/>
                          </a:solidFill>
                          <a:latin typeface="+mn-lt"/>
                          <a:ea typeface="+mn-ea"/>
                          <a:cs typeface="+mn-cs"/>
                        </a:rPr>
                        <a:t>ва</a:t>
                      </a:r>
                      <a:r>
                        <a:rPr lang="ru-RU" sz="900" b="0" kern="1200" baseline="0" noProof="0" dirty="0" smtClean="0">
                          <a:solidFill>
                            <a:schemeClr val="tx1"/>
                          </a:solidFill>
                          <a:latin typeface="+mn-lt"/>
                          <a:ea typeface="+mn-ea"/>
                          <a:cs typeface="+mn-cs"/>
                        </a:rPr>
                        <a:t> </a:t>
                      </a:r>
                      <a:r>
                        <a:rPr lang="ru-RU" sz="900" b="0" kern="1200" baseline="0" noProof="0" dirty="0" err="1" smtClean="0">
                          <a:solidFill>
                            <a:schemeClr val="tx1"/>
                          </a:solidFill>
                          <a:latin typeface="+mn-lt"/>
                          <a:ea typeface="+mn-ea"/>
                          <a:cs typeface="+mn-cs"/>
                        </a:rPr>
                        <a:t>рассомчилик</a:t>
                      </a:r>
                      <a:r>
                        <a:rPr lang="ru-RU" sz="900" b="0" kern="1200" baseline="0" noProof="0" dirty="0" smtClean="0">
                          <a:solidFill>
                            <a:schemeClr val="tx1"/>
                          </a:solidFill>
                          <a:latin typeface="+mn-lt"/>
                          <a:ea typeface="+mn-ea"/>
                          <a:cs typeface="+mn-cs"/>
                        </a:rPr>
                        <a:t> </a:t>
                      </a:r>
                      <a:r>
                        <a:rPr lang="ru-RU" sz="900" b="0" kern="1200" baseline="0" noProof="0" dirty="0" err="1" smtClean="0">
                          <a:solidFill>
                            <a:schemeClr val="tx1"/>
                          </a:solidFill>
                          <a:latin typeface="+mn-lt"/>
                          <a:ea typeface="+mn-ea"/>
                          <a:cs typeface="+mn-cs"/>
                        </a:rPr>
                        <a:t>институти</a:t>
                      </a:r>
                      <a:r>
                        <a:rPr lang="ru-RU" sz="900" b="0" kern="1200" baseline="0" noProof="0" dirty="0" smtClean="0">
                          <a:solidFill>
                            <a:schemeClr val="tx1"/>
                          </a:solidFill>
                          <a:latin typeface="+mn-lt"/>
                          <a:ea typeface="+mn-ea"/>
                          <a:cs typeface="+mn-cs"/>
                        </a:rPr>
                        <a:t> </a:t>
                      </a:r>
                      <a:r>
                        <a:rPr lang="ru-RU" sz="900" b="0" kern="1200" noProof="0" dirty="0" smtClean="0">
                          <a:solidFill>
                            <a:schemeClr val="tx1"/>
                          </a:solidFill>
                          <a:latin typeface="+mn-lt"/>
                          <a:ea typeface="+mn-ea"/>
                          <a:cs typeface="+mn-cs"/>
                        </a:rPr>
                        <a:t>(</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p>
                    <a:p>
                      <a:r>
                        <a:rPr lang="uz-Cyrl-UZ" sz="900" b="0" kern="1200" noProof="0" dirty="0" smtClean="0">
                          <a:solidFill>
                            <a:schemeClr val="tx1"/>
                          </a:solidFill>
                          <a:latin typeface="+mn-lt"/>
                          <a:ea typeface="+mn-ea"/>
                          <a:cs typeface="+mn-cs"/>
                        </a:rPr>
                        <a:t>1980 й М.Уйғур номли Тошкент давлат санъат институти</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355458">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Драма</a:t>
                      </a:r>
                      <a:r>
                        <a:rPr lang="uz-Cyrl-UZ" sz="900" b="0" kern="1200" baseline="0" noProof="0" dirty="0" smtClean="0">
                          <a:solidFill>
                            <a:schemeClr val="tx1"/>
                          </a:solidFill>
                          <a:latin typeface="+mn-lt"/>
                          <a:ea typeface="+mn-ea"/>
                          <a:cs typeface="+mn-cs"/>
                        </a:rPr>
                        <a:t> актёрлиги.Қўғирчоқ театри режиссёрли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4538">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4538">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14538">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659696986"/>
              </p:ext>
            </p:extLst>
          </p:nvPr>
        </p:nvGraphicFramePr>
        <p:xfrm>
          <a:off x="3674526" y="865689"/>
          <a:ext cx="3172841" cy="5963150"/>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1951">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52012">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2013 йилдан буён Нафақада</a:t>
                      </a:r>
                      <a:r>
                        <a:rPr lang="uz-Cyrl-UZ" sz="900" b="1" kern="1200" dirty="0" smtClean="0">
                          <a:solidFill>
                            <a:schemeClr val="tx1"/>
                          </a:solidFill>
                          <a:effectLst/>
                          <a:latin typeface="+mn-lt"/>
                          <a:ea typeface="+mn-ea"/>
                          <a:cs typeface="+mn-cs"/>
                        </a:rPr>
                        <a:t>, 2025 йилдан  Андижон</a:t>
                      </a:r>
                      <a:r>
                        <a:rPr lang="uz-Cyrl-UZ" sz="900" b="1" kern="1200" baseline="0" dirty="0" smtClean="0">
                          <a:solidFill>
                            <a:schemeClr val="tx1"/>
                          </a:solidFill>
                          <a:effectLst/>
                          <a:latin typeface="+mn-lt"/>
                          <a:ea typeface="+mn-ea"/>
                          <a:cs typeface="+mn-cs"/>
                        </a:rPr>
                        <a:t> вилояти қўғирчоқ театри бош режиссёри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47694">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321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48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858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12</a:t>
                      </a:r>
                      <a:r>
                        <a:rPr lang="uz-Cyrl-UZ" sz="900" b="0" baseline="0" noProof="0" dirty="0" smtClean="0">
                          <a:effectLst/>
                          <a:latin typeface="+mn-lt"/>
                          <a:ea typeface="Calibri" panose="020F0502020204030204" pitchFamily="34" charset="0"/>
                          <a:cs typeface="Times New Roman" panose="02020603050405020304" pitchFamily="18" charset="0"/>
                        </a:rPr>
                        <a:t> </a:t>
                      </a:r>
                      <a:r>
                        <a:rPr lang="uz-Cyrl-UZ" sz="900" b="0" noProof="0" dirty="0" smtClean="0">
                          <a:effectLst/>
                          <a:latin typeface="+mn-lt"/>
                          <a:ea typeface="Calibri" panose="020F0502020204030204" pitchFamily="34" charset="0"/>
                          <a:cs typeface="Times New Roman" panose="02020603050405020304" pitchFamily="18" charset="0"/>
                        </a:rPr>
                        <a:t>йил</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8388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1997-2008 йй. – Андижон</a:t>
                      </a:r>
                      <a:r>
                        <a:rPr lang="uz-Cyrl-UZ" sz="900" baseline="0" noProof="0" dirty="0" smtClean="0">
                          <a:effectLst/>
                          <a:latin typeface="+mn-lt"/>
                          <a:ea typeface="Calibri" panose="020F0502020204030204" pitchFamily="34" charset="0"/>
                          <a:cs typeface="Times New Roman" panose="02020603050405020304" pitchFamily="18" charset="0"/>
                        </a:rPr>
                        <a:t> вилояти қўғирчоқ театри </a:t>
                      </a:r>
                      <a:r>
                        <a:rPr lang="uz-Cyrl-UZ" sz="900" noProof="0" dirty="0" smtClean="0">
                          <a:effectLst/>
                          <a:latin typeface="+mn-lt"/>
                          <a:ea typeface="Calibri" panose="020F0502020204030204" pitchFamily="34" charset="0"/>
                          <a:cs typeface="Times New Roman" panose="02020603050405020304" pitchFamily="18" charset="0"/>
                        </a:rPr>
                        <a:t>раҳбари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311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311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2016 й. сиҳатгоҳда даволанган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2508">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1303">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9735">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64283">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1987 й. Ўзбекистонда хизмат кўрсатган артист</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2025 й. Маданият</a:t>
                      </a:r>
                      <a:r>
                        <a:rPr lang="uz-Cyrl-UZ" sz="900" baseline="0" noProof="0" dirty="0" smtClean="0">
                          <a:effectLst/>
                          <a:latin typeface="+mn-lt"/>
                          <a:ea typeface="Calibri" panose="020F0502020204030204" pitchFamily="34" charset="0"/>
                          <a:cs typeface="Times New Roman" panose="02020603050405020304" pitchFamily="18" charset="0"/>
                        </a:rPr>
                        <a:t> ва санъат фидокори”кўкрак нишони</a:t>
                      </a: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454486824"/>
              </p:ext>
            </p:extLst>
          </p:nvPr>
        </p:nvGraphicFramePr>
        <p:xfrm>
          <a:off x="6949857" y="869288"/>
          <a:ext cx="2878344" cy="5968455"/>
        </p:xfrm>
        <a:graphic>
          <a:graphicData uri="http://schemas.openxmlformats.org/drawingml/2006/table">
            <a:tbl>
              <a:tblPr firstRow="1" bandRow="1">
                <a:tableStyleId>{C083E6E3-FA7D-4D7B-A595-EF9225AFEA82}</a:tableStyleId>
              </a:tblPr>
              <a:tblGrid>
                <a:gridCol w="2878344">
                  <a:extLst>
                    <a:ext uri="{9D8B030D-6E8A-4147-A177-3AD203B41FA5}">
                      <a16:colId xmlns:a16="http://schemas.microsoft.com/office/drawing/2014/main" val="2715609854"/>
                    </a:ext>
                  </a:extLst>
                </a:gridCol>
              </a:tblGrid>
              <a:tr h="207522">
                <a:tc>
                  <a:txBody>
                    <a:bodyPr/>
                    <a:lstStyle/>
                    <a:p>
                      <a:pPr algn="ctr">
                        <a:lnSpc>
                          <a:spcPct val="85000"/>
                        </a:lnSpc>
                      </a:pPr>
                      <a:r>
                        <a:rPr lang="uz-Cyrl-UZ" sz="1000" b="1" noProof="0" dirty="0" smtClean="0">
                          <a:solidFill>
                            <a:schemeClr val="bg1"/>
                          </a:solidFill>
                          <a:latin typeface="Bahnschrift SemiBold" panose="020B0502040204020203" pitchFamily="34" charset="0"/>
                        </a:rPr>
                        <a:t>ФАОЛИЯТИ</a:t>
                      </a:r>
                      <a:r>
                        <a:rPr lang="uz-Cyrl-UZ" sz="1000" b="1" baseline="0" noProof="0" dirty="0" smtClean="0">
                          <a:solidFill>
                            <a:schemeClr val="bg1"/>
                          </a:solidFill>
                          <a:latin typeface="Bahnschrift SemiBold" panose="020B0502040204020203" pitchFamily="34" charset="0"/>
                        </a:rPr>
                        <a:t> </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9404">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83766">
                <a:tc>
                  <a:txBody>
                    <a:bodyPr/>
                    <a:lstStyle/>
                    <a:p>
                      <a:pPr marL="0" indent="179388" algn="just"/>
                      <a:r>
                        <a:rPr lang="uz-Cyrl-UZ" sz="900" kern="1200" dirty="0" smtClean="0">
                          <a:solidFill>
                            <a:schemeClr val="tx1"/>
                          </a:solidFill>
                          <a:latin typeface="+mn-lt"/>
                          <a:ea typeface="+mn-ea"/>
                          <a:cs typeface="+mn-cs"/>
                        </a:rPr>
                        <a:t>Жабборов Баҳодир Акбаралиевич 1973 йилдан Андижон вилояти қўғирчоқ театрида  ёрдамчи артист лавозимида иш бошлаган. 1997 йилдан 2008 йилга қадар театр директори ҳамда бош режиссёри бўлиб фаолият юритган.</a:t>
                      </a:r>
                      <a:r>
                        <a:rPr lang="ru-RU" sz="900" kern="1200" baseline="0" dirty="0" smtClean="0">
                          <a:solidFill>
                            <a:schemeClr val="tx1"/>
                          </a:solidFill>
                          <a:latin typeface="+mn-lt"/>
                          <a:ea typeface="+mn-ea"/>
                          <a:cs typeface="+mn-cs"/>
                        </a:rPr>
                        <a:t> </a:t>
                      </a:r>
                      <a:r>
                        <a:rPr lang="uz-Cyrl-UZ" sz="900" kern="1200" dirty="0" smtClean="0">
                          <a:solidFill>
                            <a:schemeClr val="tx1"/>
                          </a:solidFill>
                          <a:latin typeface="+mn-lt"/>
                          <a:ea typeface="+mn-ea"/>
                          <a:cs typeface="+mn-cs"/>
                        </a:rPr>
                        <a:t>2025 йил март ойидан бош режиссёр вазифасида ишлаб келмоқда. Б.Жабборов 1975</a:t>
                      </a:r>
                      <a:r>
                        <a:rPr lang="uz-Latn-UZ" sz="900" kern="1200" dirty="0" smtClean="0">
                          <a:solidFill>
                            <a:schemeClr val="tx1"/>
                          </a:solidFill>
                          <a:latin typeface="+mn-lt"/>
                          <a:ea typeface="+mn-ea"/>
                          <a:cs typeface="+mn-cs"/>
                        </a:rPr>
                        <a:t>-80 </a:t>
                      </a:r>
                      <a:r>
                        <a:rPr lang="uz-Cyrl-UZ" sz="900" kern="1200" dirty="0" smtClean="0">
                          <a:solidFill>
                            <a:schemeClr val="tx1"/>
                          </a:solidFill>
                          <a:latin typeface="+mn-lt"/>
                          <a:ea typeface="+mn-ea"/>
                          <a:cs typeface="+mn-cs"/>
                        </a:rPr>
                        <a:t> йилларда Островский номидаги театр ва рассомчилик институтини тамомлаб 1993</a:t>
                      </a:r>
                      <a:r>
                        <a:rPr lang="uz-Latn-UZ" sz="900" kern="1200" dirty="0" smtClean="0">
                          <a:solidFill>
                            <a:schemeClr val="tx1"/>
                          </a:solidFill>
                          <a:latin typeface="+mn-lt"/>
                          <a:ea typeface="+mn-ea"/>
                          <a:cs typeface="+mn-cs"/>
                        </a:rPr>
                        <a:t>-</a:t>
                      </a:r>
                      <a:r>
                        <a:rPr lang="uz-Cyrl-UZ" sz="900" kern="1200" dirty="0" smtClean="0">
                          <a:solidFill>
                            <a:schemeClr val="tx1"/>
                          </a:solidFill>
                          <a:latin typeface="+mn-lt"/>
                          <a:ea typeface="+mn-ea"/>
                          <a:cs typeface="+mn-cs"/>
                        </a:rPr>
                        <a:t>97 йилларда ушбу институтнинг “Қўғирчоқ театри режиссёрлиги” факультетини тамомлаган.</a:t>
                      </a:r>
                      <a:endParaRPr lang="ru-RU" sz="900" kern="1200" dirty="0" smtClean="0">
                        <a:solidFill>
                          <a:schemeClr val="tx1"/>
                        </a:solidFill>
                        <a:latin typeface="+mn-lt"/>
                        <a:ea typeface="+mn-ea"/>
                        <a:cs typeface="+mn-cs"/>
                      </a:endParaRPr>
                    </a:p>
                    <a:p>
                      <a:pPr marL="0" indent="179388" algn="just"/>
                      <a:r>
                        <a:rPr lang="uz-Cyrl-UZ" sz="900" kern="1200" dirty="0" smtClean="0">
                          <a:solidFill>
                            <a:schemeClr val="tx1"/>
                          </a:solidFill>
                          <a:latin typeface="+mn-lt"/>
                          <a:ea typeface="+mn-ea"/>
                          <a:cs typeface="+mn-cs"/>
                        </a:rPr>
                        <a:t>Б.Жабборов актёрлик фаолияти давомида 40 га турли ҳарактердаги образларни ижро этиб ўз маҳоратини шакллантириб келган.</a:t>
                      </a:r>
                      <a:endParaRPr lang="ru-RU" sz="900" kern="1200" dirty="0" smtClean="0">
                        <a:solidFill>
                          <a:schemeClr val="tx1"/>
                        </a:solidFill>
                        <a:latin typeface="+mn-lt"/>
                        <a:ea typeface="+mn-ea"/>
                        <a:cs typeface="+mn-cs"/>
                      </a:endParaRPr>
                    </a:p>
                    <a:p>
                      <a:pPr marL="0" indent="179388" algn="just"/>
                      <a:r>
                        <a:rPr lang="uz-Cyrl-UZ" sz="900" kern="1200" dirty="0" smtClean="0">
                          <a:solidFill>
                            <a:schemeClr val="tx1"/>
                          </a:solidFill>
                          <a:latin typeface="+mn-lt"/>
                          <a:ea typeface="+mn-ea"/>
                          <a:cs typeface="+mn-cs"/>
                        </a:rPr>
                        <a:t>     Режиссёрлик фаолиятида эса Ғайратийнинг “Али кичкина”, Б.Кулунчакованинг “Чўлнинг пок қизи”, Ҳ.Олимжонинг “Ойгул ва Бахтиёр”, Э.Жусупалиевнинг “Бор экану йўқ,экан”, Л.Маҳмудовнинг “Дангасанинг холи вой”, “Туҳмат тош ёрар”, Н.Гернетнинг “Ғозча”, М.Маҳмудованинг “Оҳанграбо”, Н.Қобулнинг “Биринчи ов”, “А.Ориповнинг “Жаннатга йўл”, М.Курязовнинг “Олтин тарвуз”, “99 тилла танга”, “Бухороийи шариф ҳангомалари”, Н.Ҳабибуллаевнинг “Фотиманинг саргузаштлари”,С.Имомхўжаеванинг “Саҳоват маликаси”, Ф.Носировнинг “Зумрад ва Қиммат” пьесаларини саҳналаштириб театр ривожига улкан хисса қўшган.</a:t>
                      </a:r>
                      <a:endParaRPr lang="ru-RU" sz="900" kern="1200" dirty="0" smtClean="0">
                        <a:solidFill>
                          <a:schemeClr val="tx1"/>
                        </a:solidFill>
                        <a:latin typeface="+mn-lt"/>
                        <a:ea typeface="+mn-ea"/>
                        <a:cs typeface="+mn-cs"/>
                      </a:endParaRPr>
                    </a:p>
                    <a:p>
                      <a:pPr marL="0" indent="179388" algn="just"/>
                      <a:r>
                        <a:rPr lang="uz-Cyrl-UZ" sz="900" kern="1200" dirty="0" smtClean="0">
                          <a:solidFill>
                            <a:schemeClr val="tx1"/>
                          </a:solidFill>
                          <a:latin typeface="+mn-lt"/>
                          <a:ea typeface="+mn-ea"/>
                          <a:cs typeface="+mn-cs"/>
                        </a:rPr>
                        <a:t>Театр ва санъат соҳасига қўшган ҳиссаси учун 1987 йилда Ўзбекистон Республикасида хизмат кўрсатган артист унвони билан мукофотланган.</a:t>
                      </a:r>
                      <a:endParaRPr lang="ru-RU" sz="900" kern="1200" dirty="0" smtClean="0">
                        <a:solidFill>
                          <a:schemeClr val="tx1"/>
                        </a:solidFill>
                        <a:latin typeface="+mn-lt"/>
                        <a:ea typeface="+mn-ea"/>
                        <a:cs typeface="+mn-cs"/>
                      </a:endParaRPr>
                    </a:p>
                    <a:p>
                      <a:pPr marL="0" indent="179388" algn="just"/>
                      <a:r>
                        <a:rPr lang="uz-Cyrl-UZ" sz="900" kern="1200" dirty="0" smtClean="0">
                          <a:solidFill>
                            <a:schemeClr val="tx1"/>
                          </a:solidFill>
                          <a:latin typeface="+mn-lt"/>
                          <a:ea typeface="+mn-ea"/>
                          <a:cs typeface="+mn-cs"/>
                        </a:rPr>
                        <a:t>2025 йил “Халқаро театрлар куни” муносабати билан Маданият вазири томонидан Б.Жабборовга “Маданият ва санъат фидокори” кўкрак нишони топширилди.</a:t>
                      </a:r>
                      <a:endParaRPr lang="ru-RU" sz="900" kern="1200" dirty="0" smtClean="0">
                        <a:solidFill>
                          <a:schemeClr val="tx1"/>
                        </a:solidFill>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36085">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9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9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91014">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Picture 2" descr="1"/>
          <p:cNvPicPr>
            <a:picLocks noChangeAspect="1" noChangeArrowheads="1"/>
          </p:cNvPicPr>
          <p:nvPr/>
        </p:nvPicPr>
        <p:blipFill>
          <a:blip r:embed="rId2" cstate="print"/>
          <a:srcRect/>
          <a:stretch>
            <a:fillRect/>
          </a:stretch>
        </p:blipFill>
        <p:spPr bwMode="auto">
          <a:xfrm>
            <a:off x="211015" y="1183837"/>
            <a:ext cx="968553" cy="1244383"/>
          </a:xfrm>
          <a:prstGeom prst="rect">
            <a:avLst/>
          </a:prstGeom>
          <a:noFill/>
          <a:ln w="9525">
            <a:noFill/>
            <a:miter lim="800000"/>
            <a:headEnd/>
            <a:tailEnd/>
          </a:ln>
        </p:spPr>
      </p:pic>
    </p:spTree>
    <p:extLst>
      <p:ext uri="{BB962C8B-B14F-4D97-AF65-F5344CB8AC3E}">
        <p14:creationId xmlns:p14="http://schemas.microsoft.com/office/powerpoint/2010/main" val="4287441203"/>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911024672"/>
              </p:ext>
            </p:extLst>
          </p:nvPr>
        </p:nvGraphicFramePr>
        <p:xfrm>
          <a:off x="144489" y="865702"/>
          <a:ext cx="3427547" cy="5950939"/>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379">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0266">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ТУРДИЕВ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026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Воҳид</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026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Яқубович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0266">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026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kern="1200" dirty="0" smtClean="0">
                          <a:solidFill>
                            <a:schemeClr val="tx1"/>
                          </a:solidFill>
                          <a:effectLst/>
                          <a:latin typeface="+mn-lt"/>
                          <a:ea typeface="+mn-ea"/>
                          <a:cs typeface="+mn-cs"/>
                        </a:rPr>
                        <a:t>09.05.1969</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9927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Андижон</a:t>
                      </a:r>
                      <a:r>
                        <a:rPr lang="uz-Cyrl-UZ" sz="800" b="0" kern="1200" baseline="0" dirty="0" smtClean="0">
                          <a:solidFill>
                            <a:schemeClr val="tx1"/>
                          </a:solidFill>
                          <a:latin typeface="+mn-lt"/>
                          <a:ea typeface="+mn-ea"/>
                          <a:cs typeface="+mn-cs"/>
                        </a:rPr>
                        <a:t> вилояти,  Қўрғонтепа 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0958">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490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a:t>
                      </a:r>
                      <a:r>
                        <a:rPr lang="uz-Cyrl-UZ" sz="900" b="0" kern="1200" baseline="0" noProof="0" dirty="0" smtClean="0">
                          <a:solidFill>
                            <a:schemeClr val="tx1"/>
                          </a:solidFill>
                          <a:latin typeface="+mn-lt"/>
                          <a:ea typeface="+mn-ea"/>
                          <a:cs typeface="+mn-cs"/>
                        </a:rPr>
                        <a:t> </a:t>
                      </a:r>
                      <a:r>
                        <a:rPr lang="uz-Cyrl-UZ" sz="900" b="0" kern="1200" noProof="0" dirty="0" smtClean="0">
                          <a:solidFill>
                            <a:schemeClr val="tx1"/>
                          </a:solidFill>
                          <a:latin typeface="+mn-lt"/>
                          <a:ea typeface="+mn-ea"/>
                          <a:cs typeface="+mn-cs"/>
                        </a:rPr>
                        <a:t>нафар</a:t>
                      </a:r>
                      <a:r>
                        <a:rPr lang="uz-Cyrl-UZ" sz="900" b="0" kern="1200" baseline="0" noProof="0" dirty="0" smtClean="0">
                          <a:solidFill>
                            <a:schemeClr val="tx1"/>
                          </a:solidFill>
                          <a:latin typeface="+mn-lt"/>
                          <a:ea typeface="+mn-ea"/>
                          <a:cs typeface="+mn-cs"/>
                        </a:rPr>
                        <a:t> қиз</a:t>
                      </a:r>
                      <a:r>
                        <a:rPr lang="uz-Cyrl-UZ" sz="900" b="0" kern="1200" noProof="0" dirty="0" smtClean="0">
                          <a:solidFill>
                            <a:schemeClr val="tx1"/>
                          </a:solidFill>
                          <a:latin typeface="+mn-lt"/>
                          <a:ea typeface="+mn-ea"/>
                          <a:cs typeface="+mn-cs"/>
                        </a:rPr>
                        <a:t> </a:t>
                      </a:r>
                      <a:r>
                        <a:rPr lang="uz-Cyrl-UZ" sz="900" b="0" kern="1200" noProof="0" dirty="0">
                          <a:solidFill>
                            <a:schemeClr val="tx1"/>
                          </a:solidFill>
                          <a:latin typeface="+mn-lt"/>
                          <a:ea typeface="+mn-ea"/>
                          <a:cs typeface="+mn-cs"/>
                        </a:rPr>
                        <a:t>фарзанди </a:t>
                      </a:r>
                      <a:r>
                        <a:rPr lang="uz-Cyrl-UZ" sz="900" b="0" kern="1200" noProof="0" smtClean="0">
                          <a:solidFill>
                            <a:schemeClr val="tx1"/>
                          </a:solidFill>
                          <a:latin typeface="+mn-lt"/>
                          <a:ea typeface="+mn-ea"/>
                          <a:cs typeface="+mn-cs"/>
                        </a:rPr>
                        <a:t>бор,</a:t>
                      </a:r>
                      <a:r>
                        <a:rPr lang="uz-Cyrl-UZ" sz="900" b="0" kern="1200" baseline="0" noProof="0" smtClean="0">
                          <a:solidFill>
                            <a:schemeClr val="tx1"/>
                          </a:solidFill>
                          <a:latin typeface="+mn-lt"/>
                          <a:ea typeface="+mn-ea"/>
                          <a:cs typeface="+mn-cs"/>
                        </a:rPr>
                        <a:t> ҳозирда Андижон вилояти ёшлар театрида актёр бўлиб ишлаб келмоқда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0958">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12182">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Турдиев Яқубжон Ўлмасович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1940 йил, Андижон</a:t>
                      </a:r>
                      <a:r>
                        <a:rPr lang="uz-Cyrl-UZ" sz="900" b="0" kern="1200" baseline="0" noProof="0" dirty="0" smtClean="0">
                          <a:solidFill>
                            <a:schemeClr val="tx1"/>
                          </a:solidFill>
                          <a:latin typeface="+mn-lt"/>
                          <a:ea typeface="+mn-ea"/>
                          <a:cs typeface="Arial" panose="020B0604020202020204" pitchFamily="34" charset="0"/>
                        </a:rPr>
                        <a:t> вилояти</a:t>
                      </a:r>
                      <a:endParaRPr lang="uz-Cyrl-UZ"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1919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800" b="0" kern="1200" noProof="0" dirty="0" smtClean="0">
                          <a:solidFill>
                            <a:schemeClr val="tx1"/>
                          </a:solidFill>
                          <a:latin typeface="+mn-lt"/>
                          <a:ea typeface="+mn-ea"/>
                          <a:cs typeface="Arial" panose="020B0604020202020204" pitchFamily="34" charset="0"/>
                        </a:rPr>
                        <a:t>(</a:t>
                      </a:r>
                      <a:r>
                        <a:rPr lang="uz-Cyrl-UZ" sz="800" kern="1200" dirty="0" smtClean="0">
                          <a:solidFill>
                            <a:schemeClr val="tx1"/>
                          </a:solidFill>
                          <a:effectLst/>
                          <a:latin typeface="+mn-lt"/>
                          <a:ea typeface="+mn-ea"/>
                          <a:cs typeface="+mn-cs"/>
                        </a:rPr>
                        <a:t>Қўрғонтепа тумани Алоқа уйи бўлим бошлиғи)</a:t>
                      </a:r>
                      <a:endParaRPr lang="ru-RU" sz="8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51839">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Эгамберидева Улфатхон Мамарўзиевна</a:t>
                      </a:r>
                    </a:p>
                    <a:p>
                      <a:pPr marL="0" marR="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1942 йил, Андижон</a:t>
                      </a:r>
                      <a:r>
                        <a:rPr lang="uz-Cyrl-UZ" sz="900" b="0" kern="1200" baseline="0" noProof="0" dirty="0" smtClean="0">
                          <a:solidFill>
                            <a:schemeClr val="tx1"/>
                          </a:solidFill>
                          <a:latin typeface="+mn-lt"/>
                          <a:ea typeface="+mn-ea"/>
                          <a:cs typeface="Arial" panose="020B0604020202020204" pitchFamily="34" charset="0"/>
                        </a:rPr>
                        <a:t> вилояти</a:t>
                      </a:r>
                      <a:endParaRPr lang="uz-Cyrl-UZ"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spcAft>
                          <a:spcPts val="0"/>
                        </a:spcAft>
                      </a:pPr>
                      <a:r>
                        <a:rPr lang="uz-Cyrl-UZ" sz="800" dirty="0">
                          <a:effectLst/>
                          <a:latin typeface="Times New Roman"/>
                          <a:ea typeface="Times New Roman"/>
                        </a:rPr>
                        <a:t>Нафақада </a:t>
                      </a:r>
                      <a:endParaRPr lang="ru-RU" sz="800" dirty="0">
                        <a:effectLst/>
                        <a:latin typeface="Times New Roman"/>
                        <a:ea typeface="Times New Roman"/>
                      </a:endParaRPr>
                    </a:p>
                    <a:p>
                      <a:pPr algn="ctr">
                        <a:spcAft>
                          <a:spcPts val="0"/>
                        </a:spcAft>
                      </a:pPr>
                      <a:r>
                        <a:rPr lang="uz-Cyrl-UZ" sz="800" dirty="0">
                          <a:effectLst/>
                          <a:latin typeface="Times New Roman"/>
                          <a:ea typeface="Times New Roman"/>
                        </a:rPr>
                        <a:t>(Қўрғонтепа </a:t>
                      </a:r>
                      <a:r>
                        <a:rPr lang="uz-Cyrl-UZ" sz="800" dirty="0" smtClean="0">
                          <a:effectLst/>
                          <a:latin typeface="Times New Roman"/>
                          <a:ea typeface="Times New Roman"/>
                        </a:rPr>
                        <a:t>тумани  2-умумтаълим мактабида ўқитувчи)</a:t>
                      </a:r>
                      <a:endParaRPr lang="ru-RU" sz="800" dirty="0">
                        <a:effectLst/>
                        <a:latin typeface="Times New Roman"/>
                        <a:ea typeface="Times New Roman"/>
                      </a:endParaRPr>
                    </a:p>
                  </a:txBody>
                  <a:tcPr marL="114300" marR="1143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714993">
                <a:tc>
                  <a:txBody>
                    <a:bodyPr/>
                    <a:lstStyle/>
                    <a:p>
                      <a:pPr algn="ctr">
                        <a:lnSpc>
                          <a:spcPct val="85000"/>
                        </a:lnSpc>
                      </a:pPr>
                      <a:r>
                        <a:rPr lang="uz-Cyrl-UZ" sz="900" b="1" kern="1200" noProof="0" dirty="0">
                          <a:solidFill>
                            <a:schemeClr val="tx1"/>
                          </a:solidFill>
                          <a:latin typeface="+mn-lt"/>
                          <a:ea typeface="+mn-ea"/>
                          <a:cs typeface="+mn-cs"/>
                        </a:rPr>
                        <a:t>Турмуш ўртоғи</a:t>
                      </a:r>
                      <a:r>
                        <a:rPr lang="uz-Cyrl-UZ" sz="900" b="1" kern="1200" noProof="0" dirty="0" smtClean="0">
                          <a:solidFill>
                            <a:schemeClr val="tx1"/>
                          </a:solidFill>
                          <a:latin typeface="+mn-lt"/>
                          <a:ea typeface="+mn-ea"/>
                          <a:cs typeface="+mn-cs"/>
                        </a:rPr>
                        <a:t>:</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Қаюмова Мавлудахон Пўлатжоновна 1969 й</a:t>
                      </a:r>
                    </a:p>
                    <a:p>
                      <a:pPr marL="0" marR="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smtClean="0">
                          <a:solidFill>
                            <a:schemeClr val="tx1"/>
                          </a:solidFill>
                          <a:latin typeface="+mn-lt"/>
                          <a:ea typeface="+mn-ea"/>
                          <a:cs typeface="Arial" panose="020B0604020202020204" pitchFamily="34" charset="0"/>
                        </a:rPr>
                        <a:t>Андижон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ru-RU" sz="800" b="0" kern="1200" noProof="0" dirty="0" smtClean="0">
                          <a:solidFill>
                            <a:schemeClr val="tx1"/>
                          </a:solidFill>
                          <a:latin typeface="+mn-lt"/>
                          <a:ea typeface="+mn-ea"/>
                          <a:cs typeface="Arial" panose="020B0604020202020204" pitchFamily="34" charset="0"/>
                        </a:rPr>
                        <a:t>2025 </a:t>
                      </a:r>
                      <a:r>
                        <a:rPr lang="ru-RU" sz="800" b="0" kern="1200" noProof="0" dirty="0" err="1" smtClean="0">
                          <a:solidFill>
                            <a:schemeClr val="tx1"/>
                          </a:solidFill>
                          <a:latin typeface="+mn-lt"/>
                          <a:ea typeface="+mn-ea"/>
                          <a:cs typeface="Arial" panose="020B0604020202020204" pitchFamily="34" charset="0"/>
                        </a:rPr>
                        <a:t>йил</a:t>
                      </a:r>
                      <a:r>
                        <a:rPr lang="ru-RU" sz="800" b="0" kern="1200" noProof="0" dirty="0" smtClean="0">
                          <a:solidFill>
                            <a:schemeClr val="tx1"/>
                          </a:solidFill>
                          <a:latin typeface="+mn-lt"/>
                          <a:ea typeface="+mn-ea"/>
                          <a:cs typeface="Arial" panose="020B0604020202020204" pitchFamily="34" charset="0"/>
                        </a:rPr>
                        <a:t> </a:t>
                      </a:r>
                      <a:r>
                        <a:rPr lang="ru-RU" sz="800" b="0" kern="1200" noProof="0" dirty="0" err="1" smtClean="0">
                          <a:solidFill>
                            <a:schemeClr val="tx1"/>
                          </a:solidFill>
                          <a:latin typeface="+mn-lt"/>
                          <a:ea typeface="+mn-ea"/>
                          <a:cs typeface="Arial" panose="020B0604020202020204" pitchFamily="34" charset="0"/>
                        </a:rPr>
                        <a:t>вафот</a:t>
                      </a:r>
                      <a:r>
                        <a:rPr lang="ru-RU" sz="800" b="0" kern="1200" noProof="0" dirty="0" smtClean="0">
                          <a:solidFill>
                            <a:schemeClr val="tx1"/>
                          </a:solidFill>
                          <a:latin typeface="+mn-lt"/>
                          <a:ea typeface="+mn-ea"/>
                          <a:cs typeface="Arial" panose="020B0604020202020204" pitchFamily="34" charset="0"/>
                        </a:rPr>
                        <a:t> </a:t>
                      </a:r>
                      <a:r>
                        <a:rPr lang="ru-RU" sz="800" b="0" kern="1200" noProof="0" dirty="0" err="1" smtClean="0">
                          <a:solidFill>
                            <a:schemeClr val="tx1"/>
                          </a:solidFill>
                          <a:latin typeface="+mn-lt"/>
                          <a:ea typeface="+mn-ea"/>
                          <a:cs typeface="Arial" panose="020B0604020202020204" pitchFamily="34" charset="0"/>
                        </a:rPr>
                        <a:t>этган</a:t>
                      </a:r>
                      <a:endParaRPr lang="ru-RU" sz="800" b="0" kern="1200" noProof="0" dirty="0" smtClean="0">
                        <a:solidFill>
                          <a:schemeClr val="tx1"/>
                        </a:solidFill>
                        <a:latin typeface="+mn-lt"/>
                        <a:ea typeface="+mn-ea"/>
                        <a:cs typeface="Arial" panose="020B0604020202020204" pitchFamily="34" charset="0"/>
                      </a:endParaRPr>
                    </a:p>
                    <a:p>
                      <a:pPr algn="l">
                        <a:lnSpc>
                          <a:spcPct val="85000"/>
                        </a:lnSpc>
                      </a:pPr>
                      <a:r>
                        <a:rPr lang="uz-Cyrl-UZ" sz="800" b="0" kern="1200" noProof="0" dirty="0" smtClean="0">
                          <a:solidFill>
                            <a:schemeClr val="tx1"/>
                          </a:solidFill>
                          <a:latin typeface="+mn-lt"/>
                          <a:ea typeface="+mn-ea"/>
                          <a:cs typeface="Arial" panose="020B0604020202020204" pitchFamily="34" charset="0"/>
                        </a:rPr>
                        <a:t>(Ҳисобчи)</a:t>
                      </a:r>
                    </a:p>
                    <a:p>
                      <a:pPr marL="0" marR="0" indent="0" algn="l" defTabSz="914400" rtl="0" eaLnBrk="1" fontAlgn="auto" latinLnBrk="0" hangingPunct="1">
                        <a:lnSpc>
                          <a:spcPct val="85000"/>
                        </a:lnSpc>
                        <a:spcBef>
                          <a:spcPts val="0"/>
                        </a:spcBef>
                        <a:spcAft>
                          <a:spcPts val="0"/>
                        </a:spcAft>
                        <a:buClrTx/>
                        <a:buSzTx/>
                        <a:buFontTx/>
                        <a:buNone/>
                        <a:tabLst/>
                        <a:defRPr/>
                      </a:pP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668">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55170">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1988 й</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Андижон санъат билим юрти (кундузги)</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5431">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Театр</a:t>
                      </a:r>
                      <a:r>
                        <a:rPr lang="uz-Cyrl-UZ" sz="900" b="0" kern="1200" baseline="0" noProof="0" dirty="0" smtClean="0">
                          <a:solidFill>
                            <a:schemeClr val="tx1"/>
                          </a:solidFill>
                          <a:latin typeface="+mn-lt"/>
                          <a:ea typeface="+mn-ea"/>
                          <a:cs typeface="+mn-cs"/>
                        </a:rPr>
                        <a:t> ва кино актёрлиги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4283">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4283">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14283">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278790835"/>
              </p:ext>
            </p:extLst>
          </p:nvPr>
        </p:nvGraphicFramePr>
        <p:xfrm>
          <a:off x="3674526" y="865689"/>
          <a:ext cx="3172841" cy="5952119"/>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761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1174">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800" kern="1200" dirty="0" smtClean="0">
                          <a:solidFill>
                            <a:schemeClr val="tx1"/>
                          </a:solidFill>
                          <a:effectLst/>
                          <a:latin typeface="+mn-lt"/>
                          <a:ea typeface="+mn-ea"/>
                          <a:cs typeface="+mn-cs"/>
                        </a:rPr>
                        <a:t>2017 йил 22 июндан :</a:t>
                      </a:r>
                      <a:endParaRPr lang="ru-RU" sz="800" kern="1200" dirty="0" smtClean="0">
                        <a:solidFill>
                          <a:schemeClr val="tx1"/>
                        </a:solidFill>
                        <a:effectLst/>
                        <a:latin typeface="+mn-lt"/>
                        <a:ea typeface="+mn-ea"/>
                        <a:cs typeface="+mn-cs"/>
                      </a:endParaRPr>
                    </a:p>
                    <a:p>
                      <a:r>
                        <a:rPr lang="uz-Cyrl-UZ" sz="800" b="1" kern="1200" dirty="0" smtClean="0">
                          <a:solidFill>
                            <a:schemeClr val="tx1"/>
                          </a:solidFill>
                          <a:effectLst/>
                          <a:latin typeface="+mn-lt"/>
                          <a:ea typeface="+mn-ea"/>
                          <a:cs typeface="+mn-cs"/>
                        </a:rPr>
                        <a:t>Андижон вилояти ёшлар театри етакчи</a:t>
                      </a:r>
                      <a:r>
                        <a:rPr lang="uz-Cyrl-UZ" sz="800" b="1" kern="1200" baseline="0" dirty="0" smtClean="0">
                          <a:solidFill>
                            <a:schemeClr val="tx1"/>
                          </a:solidFill>
                          <a:effectLst/>
                          <a:latin typeface="+mn-lt"/>
                          <a:ea typeface="+mn-ea"/>
                          <a:cs typeface="+mn-cs"/>
                        </a:rPr>
                        <a:t> саҳна устаси (актёр)</a:t>
                      </a:r>
                      <a:endParaRPr lang="ru-RU" sz="800" b="1" kern="1200" dirty="0" smtClean="0">
                        <a:solidFill>
                          <a:schemeClr val="tx1"/>
                        </a:solidFill>
                        <a:effectLst/>
                        <a:latin typeface="+mn-lt"/>
                        <a:ea typeface="+mn-ea"/>
                        <a:cs typeface="+mn-cs"/>
                      </a:endParaRPr>
                    </a:p>
                    <a:p>
                      <a:pPr marL="0" indent="0" algn="l">
                        <a:lnSpc>
                          <a:spcPct val="85000"/>
                        </a:lnSpc>
                      </a:pP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192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685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36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97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Йўқ</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896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811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ҳозирда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811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 ой олдин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624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p>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Ўтган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5764">
                <a:tc>
                  <a:txBody>
                    <a:bodyPr/>
                    <a:lstStyle/>
                    <a:p>
                      <a:pPr algn="l">
                        <a:lnSpc>
                          <a:spcPct val="107000"/>
                        </a:lnSpc>
                        <a:spcAft>
                          <a:spcPts val="0"/>
                        </a:spcAft>
                      </a:pPr>
                      <a:r>
                        <a:rPr lang="uz-Cyrl-UZ" sz="8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8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kern="1200" noProof="0" dirty="0" smtClean="0">
                          <a:solidFill>
                            <a:schemeClr val="tx1"/>
                          </a:solidFill>
                          <a:effectLst/>
                          <a:latin typeface="+mn-lt"/>
                          <a:ea typeface="Calibri" panose="020F0502020204030204" pitchFamily="34" charset="0"/>
                          <a:cs typeface="Times New Roman" panose="02020603050405020304" pitchFamily="18" charset="0"/>
                        </a:rPr>
                        <a:t>Инсулть </a:t>
                      </a:r>
                      <a:endParaRPr lang="uz-Cyrl-UZ" sz="8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3657">
                <a:tc gridSpan="2">
                  <a:txBody>
                    <a:bodyPr/>
                    <a:lstStyle/>
                    <a:p>
                      <a:pPr algn="ctr"/>
                      <a:r>
                        <a:rPr lang="uz-Cyrl-UZ" sz="8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96243">
                <a:tc gridSpan="2">
                  <a:txBody>
                    <a:bodyPr/>
                    <a:lstStyle/>
                    <a:p>
                      <a:r>
                        <a:rPr lang="uz-Cyrl-UZ" sz="800" kern="1200" dirty="0" smtClean="0">
                          <a:solidFill>
                            <a:schemeClr val="tx1"/>
                          </a:solidFill>
                          <a:effectLst/>
                          <a:latin typeface="+mn-lt"/>
                          <a:ea typeface="+mn-ea"/>
                          <a:cs typeface="+mn-cs"/>
                        </a:rPr>
                        <a:t>1988-1990 йй. - Андижон вилояти мусиқали драма театри артист</a:t>
                      </a:r>
                      <a:endParaRPr lang="ru-RU" sz="800" kern="1200" dirty="0" smtClean="0">
                        <a:solidFill>
                          <a:schemeClr val="tx1"/>
                        </a:solidFill>
                        <a:effectLst/>
                        <a:latin typeface="+mn-lt"/>
                        <a:ea typeface="+mn-ea"/>
                        <a:cs typeface="+mn-cs"/>
                      </a:endParaRPr>
                    </a:p>
                    <a:p>
                      <a:r>
                        <a:rPr lang="uz-Cyrl-UZ" sz="800" kern="1200" dirty="0" smtClean="0">
                          <a:solidFill>
                            <a:schemeClr val="tx1"/>
                          </a:solidFill>
                          <a:effectLst/>
                          <a:latin typeface="+mn-lt"/>
                          <a:ea typeface="+mn-ea"/>
                          <a:cs typeface="+mn-cs"/>
                        </a:rPr>
                        <a:t>1990-1991 йй. - "Истиқбол”  театр студиясида актёри</a:t>
                      </a:r>
                      <a:endParaRPr lang="ru-RU" sz="800" kern="1200" dirty="0" smtClean="0">
                        <a:solidFill>
                          <a:schemeClr val="tx1"/>
                        </a:solidFill>
                        <a:effectLst/>
                        <a:latin typeface="+mn-lt"/>
                        <a:ea typeface="+mn-ea"/>
                        <a:cs typeface="+mn-cs"/>
                      </a:endParaRPr>
                    </a:p>
                    <a:p>
                      <a:r>
                        <a:rPr lang="uz-Cyrl-UZ" sz="800" kern="1200" dirty="0" smtClean="0">
                          <a:solidFill>
                            <a:schemeClr val="tx1"/>
                          </a:solidFill>
                          <a:effectLst/>
                          <a:latin typeface="+mn-lt"/>
                          <a:ea typeface="+mn-ea"/>
                          <a:cs typeface="+mn-cs"/>
                        </a:rPr>
                        <a:t>2003-2004 йй. - Андижон шаҳар “Гулжахон-М” кўп тармоқли хусусий фирма иш юритувчиси</a:t>
                      </a:r>
                      <a:endParaRPr lang="ru-RU" sz="800" kern="1200" dirty="0" smtClean="0">
                        <a:solidFill>
                          <a:schemeClr val="tx1"/>
                        </a:solidFill>
                        <a:effectLst/>
                        <a:latin typeface="+mn-lt"/>
                        <a:ea typeface="+mn-ea"/>
                        <a:cs typeface="+mn-cs"/>
                      </a:endParaRPr>
                    </a:p>
                    <a:p>
                      <a:r>
                        <a:rPr lang="uz-Cyrl-UZ" sz="800" kern="1200" dirty="0" smtClean="0">
                          <a:solidFill>
                            <a:schemeClr val="tx1"/>
                          </a:solidFill>
                          <a:effectLst/>
                          <a:latin typeface="+mn-lt"/>
                          <a:ea typeface="+mn-ea"/>
                          <a:cs typeface="+mn-cs"/>
                        </a:rPr>
                        <a:t>2004-2005 йй. - Андижон шаҳар “Дониш-студио” хусусий корхона иш юритувчиси</a:t>
                      </a:r>
                      <a:endParaRPr lang="ru-RU" sz="800" kern="1200" dirty="0" smtClean="0">
                        <a:solidFill>
                          <a:schemeClr val="tx1"/>
                        </a:solidFill>
                        <a:effectLst/>
                        <a:latin typeface="+mn-lt"/>
                        <a:ea typeface="+mn-ea"/>
                        <a:cs typeface="+mn-cs"/>
                      </a:endParaRPr>
                    </a:p>
                    <a:p>
                      <a:r>
                        <a:rPr lang="uz-Cyrl-UZ" sz="800" kern="1200" dirty="0" smtClean="0">
                          <a:solidFill>
                            <a:schemeClr val="tx1"/>
                          </a:solidFill>
                          <a:effectLst/>
                          <a:latin typeface="+mn-lt"/>
                          <a:ea typeface="+mn-ea"/>
                          <a:cs typeface="+mn-cs"/>
                        </a:rPr>
                        <a:t>2005-2009 йй. - Андижон вилояти Ёшлар театри актёри </a:t>
                      </a:r>
                      <a:endParaRPr lang="ru-RU" sz="800" kern="1200" dirty="0" smtClean="0">
                        <a:solidFill>
                          <a:schemeClr val="tx1"/>
                        </a:solidFill>
                        <a:effectLst/>
                        <a:latin typeface="+mn-lt"/>
                        <a:ea typeface="+mn-ea"/>
                        <a:cs typeface="+mn-cs"/>
                      </a:endParaRPr>
                    </a:p>
                    <a:p>
                      <a:r>
                        <a:rPr lang="uz-Cyrl-UZ" sz="800" kern="1200" dirty="0" smtClean="0">
                          <a:solidFill>
                            <a:schemeClr val="tx1"/>
                          </a:solidFill>
                          <a:effectLst/>
                          <a:latin typeface="+mn-lt"/>
                          <a:ea typeface="+mn-ea"/>
                          <a:cs typeface="+mn-cs"/>
                        </a:rPr>
                        <a:t>2009-2016 йй. - Андижон вилояти Ёшлар театри олий тоифали актёри </a:t>
                      </a:r>
                      <a:endParaRPr lang="ru-RU" sz="800" kern="1200" dirty="0" smtClean="0">
                        <a:solidFill>
                          <a:schemeClr val="tx1"/>
                        </a:solidFill>
                        <a:effectLst/>
                        <a:latin typeface="+mn-lt"/>
                        <a:ea typeface="+mn-ea"/>
                        <a:cs typeface="+mn-cs"/>
                      </a:endParaRPr>
                    </a:p>
                    <a:p>
                      <a:r>
                        <a:rPr lang="uz-Cyrl-UZ" sz="800" kern="1200" dirty="0" smtClean="0">
                          <a:solidFill>
                            <a:schemeClr val="tx1"/>
                          </a:solidFill>
                          <a:effectLst/>
                          <a:latin typeface="+mn-lt"/>
                          <a:ea typeface="+mn-ea"/>
                          <a:cs typeface="+mn-cs"/>
                        </a:rPr>
                        <a:t>2016-2017 йй. - Вақтинча ишсиз </a:t>
                      </a:r>
                      <a:endParaRPr lang="ru-RU" sz="800" kern="1200" dirty="0" smtClean="0">
                        <a:solidFill>
                          <a:schemeClr val="tx1"/>
                        </a:solidFill>
                        <a:effectLst/>
                        <a:latin typeface="+mn-lt"/>
                        <a:ea typeface="+mn-ea"/>
                        <a:cs typeface="+mn-cs"/>
                      </a:endParaRPr>
                    </a:p>
                    <a:p>
                      <a:r>
                        <a:rPr lang="uz-Cyrl-UZ" sz="800" kern="1200" dirty="0" smtClean="0">
                          <a:solidFill>
                            <a:schemeClr val="tx1"/>
                          </a:solidFill>
                          <a:effectLst/>
                          <a:latin typeface="+mn-lt"/>
                          <a:ea typeface="+mn-ea"/>
                          <a:cs typeface="+mn-cs"/>
                        </a:rPr>
                        <a:t>2017 й.- ҳ.в.    - Андижон вилояти Ёшлар театри олий тоифали актёри </a:t>
                      </a:r>
                      <a:endParaRPr lang="ru-RU" sz="800" kern="1200" dirty="0" smtClean="0">
                        <a:solidFill>
                          <a:schemeClr val="tx1"/>
                        </a:solidFill>
                        <a:effectLst/>
                        <a:latin typeface="+mn-lt"/>
                        <a:ea typeface="+mn-ea"/>
                        <a:cs typeface="+mn-cs"/>
                      </a:endParaRPr>
                    </a:p>
                    <a:p>
                      <a:pPr marL="0" marR="0" indent="0" algn="just" defTabSz="914400" rtl="0" eaLnBrk="1" fontAlgn="auto" latinLnBrk="0" hangingPunct="1">
                        <a:lnSpc>
                          <a:spcPct val="107000"/>
                        </a:lnSpc>
                        <a:spcBef>
                          <a:spcPts val="0"/>
                        </a:spcBef>
                        <a:spcAft>
                          <a:spcPts val="0"/>
                        </a:spcAft>
                        <a:buClrTx/>
                        <a:buSzTx/>
                        <a:buFontTx/>
                        <a:buNone/>
                        <a:tabLst/>
                        <a:defRPr/>
                      </a:pPr>
                      <a:r>
                        <a:rPr lang="uz-Cyrl-UZ" sz="800" noProof="0" dirty="0" smtClean="0">
                          <a:effectLst/>
                          <a:latin typeface="+mn-lt"/>
                          <a:ea typeface="Calibri" panose="020F0502020204030204" pitchFamily="34" charset="0"/>
                          <a:cs typeface="Times New Roman" panose="02020603050405020304" pitchFamily="18" charset="0"/>
                        </a:rPr>
                        <a:t>2025 й- Андижон вилояти ёшлар театри етакчи саҳна устаси</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800" kern="1200" dirty="0" smtClean="0">
                          <a:solidFill>
                            <a:schemeClr val="tx1"/>
                          </a:solidFill>
                          <a:effectLst/>
                          <a:latin typeface="+mn-lt"/>
                          <a:ea typeface="+mn-ea"/>
                          <a:cs typeface="+mn-cs"/>
                        </a:rPr>
                        <a:t>Республика ва вилоятда ўтказиб келинаётган фестивалларда</a:t>
                      </a:r>
                      <a:r>
                        <a:rPr lang="uz-Cyrl-UZ" sz="800" kern="1200" baseline="0" dirty="0" smtClean="0">
                          <a:solidFill>
                            <a:schemeClr val="tx1"/>
                          </a:solidFill>
                          <a:effectLst/>
                          <a:latin typeface="+mn-lt"/>
                          <a:ea typeface="+mn-ea"/>
                          <a:cs typeface="+mn-cs"/>
                        </a:rPr>
                        <a:t> </a:t>
                      </a:r>
                      <a:r>
                        <a:rPr lang="uz-Cyrl-UZ" sz="800" kern="1200" dirty="0" smtClean="0">
                          <a:solidFill>
                            <a:schemeClr val="tx1"/>
                          </a:solidFill>
                          <a:effectLst/>
                          <a:latin typeface="+mn-lt"/>
                          <a:ea typeface="+mn-ea"/>
                          <a:cs typeface="+mn-cs"/>
                        </a:rPr>
                        <a:t>қизиқчи ва аскиячилик йўналишларда бир қатор ғолибликни қўлга киритиб келмоқда.</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800" kern="1200" dirty="0" smtClean="0">
                          <a:solidFill>
                            <a:schemeClr val="tx1"/>
                          </a:solidFill>
                          <a:effectLst/>
                          <a:latin typeface="+mn-lt"/>
                          <a:ea typeface="+mn-ea"/>
                          <a:cs typeface="+mn-cs"/>
                        </a:rPr>
                        <a:t>2024 йилда Президент Фармони билан “Шуҳрат” медали соҳиби бўлган.</a:t>
                      </a:r>
                      <a:endParaRPr lang="uz-Cyrl-UZ" sz="8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4186362334"/>
              </p:ext>
            </p:extLst>
          </p:nvPr>
        </p:nvGraphicFramePr>
        <p:xfrm>
          <a:off x="6949857" y="869286"/>
          <a:ext cx="2817247" cy="5953627"/>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5237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17682">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097454">
                <a:tc>
                  <a:txBody>
                    <a:bodyPr/>
                    <a:lstStyle/>
                    <a:p>
                      <a:pPr marL="0" indent="179388" algn="just"/>
                      <a:r>
                        <a:rPr lang="uz-Cyrl-UZ" sz="900" b="0" kern="1200" dirty="0" smtClean="0">
                          <a:solidFill>
                            <a:schemeClr val="tx1"/>
                          </a:solidFill>
                          <a:effectLst/>
                          <a:latin typeface="+mn-lt"/>
                          <a:ea typeface="+mn-ea"/>
                          <a:cs typeface="+mn-cs"/>
                        </a:rPr>
                        <a:t>Маннон Ҳамиднинг Тоҳир Маликнинг “Алвидо болалик” асарида Салим, Қобилжон Юнусовнинг “Қабохат комида” асарида  гуруҳбоши, З.Исмоиловнинг “Йўл бўйидаги ховли ”асарида Нусратилло тоға, Эргаш Собировнинг “Қўпол қўчқор” асарида Бўри,  “Яхшивой ва ёмонвойда ”  эртак асарида яхшивой,  Д.Юмагуловнинг “Астаҳфурилло” асарида,  Ўткир Ҳошимовнинг “Тўйлар муборак” асарида Мўмин, Маннон Ҳамидовнинг “Меҳр қолур” асарида Оқ ғаним, Маннон Ҳамидовнинг “Ашула дарсидаги ҳангома” асарида бош роль қоровул тоға, Усмон Азимнинг “Кундузсиз кечалар” (Чўлпон) асарида Файзулло Ҳўжаев ҳамда наганли одам, ўзбек халқ эртаги асосида “Ур тўқмоқ” асарида бош роль Чол, Нурилло Аббосхоннинг “Ҳеч ким билмайди” асарида Яландиев, Фернандо Араббалнинг “Пик-ник” асарида бош санитар , “Ур тўқмоқ”да Чол,  “Зўраки</a:t>
                      </a:r>
                      <a:r>
                        <a:rPr lang="uz-Cyrl-UZ" sz="900" b="0" kern="1200" baseline="0" dirty="0" smtClean="0">
                          <a:solidFill>
                            <a:schemeClr val="tx1"/>
                          </a:solidFill>
                          <a:effectLst/>
                          <a:latin typeface="+mn-lt"/>
                          <a:ea typeface="+mn-ea"/>
                          <a:cs typeface="+mn-cs"/>
                        </a:rPr>
                        <a:t> табиб”да бой ота, “Анда жоним қолди менинг” асарида дарвеш, “Қаҳр ва меҳр” асарида ота </a:t>
                      </a:r>
                      <a:r>
                        <a:rPr lang="uz-Cyrl-UZ" sz="900" b="0" kern="1200" dirty="0" smtClean="0">
                          <a:solidFill>
                            <a:schemeClr val="tx1"/>
                          </a:solidFill>
                          <a:effectLst/>
                          <a:latin typeface="+mn-lt"/>
                          <a:ea typeface="+mn-ea"/>
                          <a:cs typeface="+mn-cs"/>
                        </a:rPr>
                        <a:t> ролларни муваффақиятли тарзда ижро этди.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“Ўзбекистон” телерадиокомпаниясида</a:t>
                      </a:r>
                      <a:r>
                        <a:rPr lang="uz-Cyrl-UZ"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“Ажабқишлоқ ҳангомалари”, Саид Аҳмаднинг “Сағана” ҳажвий кўрсатувларида маҳалла оқсоқоли каби ўнлаб образларни гавдалантирди. Андижон вилоят ёшлар ТВсидаги “Ҳаёт сабоқлари” ҳамда “Тараққиёт”</a:t>
                      </a:r>
                      <a:r>
                        <a:rPr lang="uz-Cyrl-UZ"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телерадиокомпаниясидаги</a:t>
                      </a:r>
                      <a:r>
                        <a:rPr lang="uz-Cyrl-UZ"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“Қўшнилар”</a:t>
                      </a:r>
                      <a:r>
                        <a:rPr lang="uz-Cyrl-UZ"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телесериалида бош роль Қобилжон,  Андижон вилоят телерадиокомпаниясида “Сумбулбулоқда бир куни”  телесериалида Қамбар бош ролни ижро этди, шунингдек, ушбу сериалларнинг сценарий муаллифи ҳамда режиссёри сифтида ижод қилиб, халқ эътиборини қозонмоқда.</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6795">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741395">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descr="фото"/>
          <p:cNvPicPr/>
          <p:nvPr/>
        </p:nvPicPr>
        <p:blipFill>
          <a:blip r:embed="rId2">
            <a:extLst>
              <a:ext uri="{28A0092B-C50C-407E-A947-70E740481C1C}">
                <a14:useLocalDpi xmlns:a14="http://schemas.microsoft.com/office/drawing/2010/main" val="0"/>
              </a:ext>
            </a:extLst>
          </a:blip>
          <a:srcRect l="79893" t="3947" r="6332" b="83029"/>
          <a:stretch>
            <a:fillRect/>
          </a:stretch>
        </p:blipFill>
        <p:spPr bwMode="auto">
          <a:xfrm>
            <a:off x="268579" y="1187420"/>
            <a:ext cx="892492" cy="1057275"/>
          </a:xfrm>
          <a:prstGeom prst="rect">
            <a:avLst/>
          </a:prstGeom>
          <a:noFill/>
          <a:ln>
            <a:noFill/>
          </a:ln>
        </p:spPr>
      </p:pic>
    </p:spTree>
    <p:extLst>
      <p:ext uri="{BB962C8B-B14F-4D97-AF65-F5344CB8AC3E}">
        <p14:creationId xmlns:p14="http://schemas.microsoft.com/office/powerpoint/2010/main" val="3163473653"/>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066923590"/>
              </p:ext>
            </p:extLst>
          </p:nvPr>
        </p:nvGraphicFramePr>
        <p:xfrm>
          <a:off x="144489" y="865690"/>
          <a:ext cx="3427547" cy="5942193"/>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0581">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807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САТТАРОВ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807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Холмурод</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807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Суюнович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807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807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03.09.1962</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807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Қамаши</a:t>
                      </a:r>
                      <a:r>
                        <a:rPr lang="uz-Cyrl-UZ" sz="800" b="0" kern="1200" baseline="0" dirty="0" smtClean="0">
                          <a:solidFill>
                            <a:schemeClr val="tx1"/>
                          </a:solidFill>
                          <a:latin typeface="+mn-lt"/>
                          <a:ea typeface="+mn-ea"/>
                          <a:cs typeface="+mn-cs"/>
                        </a:rPr>
                        <a:t> 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8302">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8921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2</a:t>
                      </a:r>
                      <a:r>
                        <a:rPr lang="uz-Cyrl-UZ" sz="900" b="0" kern="1200" baseline="0" noProof="0" dirty="0" smtClean="0">
                          <a:solidFill>
                            <a:schemeClr val="tx1"/>
                          </a:solidFill>
                          <a:latin typeface="+mn-lt"/>
                          <a:ea typeface="+mn-ea"/>
                          <a:cs typeface="+mn-cs"/>
                        </a:rPr>
                        <a:t> нафар қиз</a:t>
                      </a:r>
                      <a:r>
                        <a:rPr lang="uz-Cyrl-UZ" sz="900" b="0" kern="1200" noProof="0" dirty="0" smtClean="0">
                          <a:solidFill>
                            <a:schemeClr val="tx1"/>
                          </a:solidFill>
                          <a:latin typeface="+mn-lt"/>
                          <a:ea typeface="+mn-ea"/>
                          <a:cs typeface="+mn-cs"/>
                        </a:rPr>
                        <a:t> фарзанди</a:t>
                      </a:r>
                      <a:r>
                        <a:rPr lang="uz-Cyrl-UZ" sz="900" b="0" kern="1200" baseline="0" noProof="0" dirty="0" smtClean="0">
                          <a:solidFill>
                            <a:schemeClr val="tx1"/>
                          </a:solidFill>
                          <a:latin typeface="+mn-lt"/>
                          <a:ea typeface="+mn-ea"/>
                          <a:cs typeface="+mn-cs"/>
                        </a:rPr>
                        <a:t> </a:t>
                      </a:r>
                      <a:r>
                        <a:rPr lang="uz-Cyrl-UZ" sz="900" b="0" kern="1200" noProof="0" dirty="0" smtClean="0">
                          <a:solidFill>
                            <a:schemeClr val="tx1"/>
                          </a:solidFill>
                          <a:latin typeface="+mn-lt"/>
                          <a:ea typeface="+mn-ea"/>
                          <a:cs typeface="+mn-cs"/>
                        </a:rPr>
                        <a:t>бор, ҳозирда Қашқадарё</a:t>
                      </a:r>
                      <a:r>
                        <a:rPr lang="uz-Cyrl-UZ" sz="900" b="0" kern="1200" baseline="0" noProof="0" dirty="0" smtClean="0">
                          <a:solidFill>
                            <a:schemeClr val="tx1"/>
                          </a:solidFill>
                          <a:latin typeface="+mn-lt"/>
                          <a:ea typeface="+mn-ea"/>
                          <a:cs typeface="+mn-cs"/>
                        </a:rPr>
                        <a:t> вилояти қўғирчоқ театрида саҳналаштирувчи режиссёр</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8302">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27350">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dirty="0" smtClean="0">
                          <a:solidFill>
                            <a:schemeClr val="tx1"/>
                          </a:solidFill>
                          <a:effectLst/>
                          <a:latin typeface="+mn-lt"/>
                          <a:ea typeface="+mn-ea"/>
                          <a:cs typeface="+mn-cs"/>
                        </a:rPr>
                        <a:t>Саттаров</a:t>
                      </a:r>
                      <a:r>
                        <a:rPr lang="uz-Cyrl-UZ" sz="1800" b="1" kern="1200" dirty="0" smtClean="0">
                          <a:solidFill>
                            <a:schemeClr val="tx1"/>
                          </a:solidFill>
                          <a:effectLst/>
                          <a:latin typeface="+mn-lt"/>
                          <a:ea typeface="+mn-ea"/>
                          <a:cs typeface="+mn-cs"/>
                        </a:rPr>
                        <a:t> </a:t>
                      </a:r>
                      <a:r>
                        <a:rPr lang="uz-Cyrl-UZ" sz="900" b="1" kern="1200" dirty="0" smtClean="0">
                          <a:solidFill>
                            <a:schemeClr val="tx1"/>
                          </a:solidFill>
                          <a:effectLst/>
                          <a:latin typeface="+mn-lt"/>
                          <a:ea typeface="+mn-ea"/>
                          <a:cs typeface="+mn-cs"/>
                        </a:rPr>
                        <a:t>Суюн</a:t>
                      </a:r>
                    </a:p>
                    <a:p>
                      <a:pPr algn="l">
                        <a:lnSpc>
                          <a:spcPct val="85000"/>
                        </a:lnSpc>
                      </a:pPr>
                      <a:r>
                        <a:rPr lang="uz-Cyrl-UZ" sz="900" kern="1200" dirty="0" smtClean="0">
                          <a:solidFill>
                            <a:schemeClr val="tx1"/>
                          </a:solidFill>
                          <a:effectLst/>
                          <a:latin typeface="+mn-lt"/>
                          <a:ea typeface="+mn-ea"/>
                          <a:cs typeface="+mn-cs"/>
                        </a:rPr>
                        <a:t>1922 йил,Қамаши тумани</a:t>
                      </a: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1998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(Қамаши туманидаги “Қорабоғ” жамоа хужалигида ишчи)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89525">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dirty="0" smtClean="0">
                          <a:solidFill>
                            <a:schemeClr val="tx1"/>
                          </a:solidFill>
                          <a:effectLst/>
                          <a:latin typeface="+mn-lt"/>
                          <a:ea typeface="+mn-ea"/>
                          <a:cs typeface="+mn-cs"/>
                        </a:rPr>
                        <a:t>Норова Давлат</a:t>
                      </a:r>
                    </a:p>
                    <a:p>
                      <a:pPr algn="l">
                        <a:lnSpc>
                          <a:spcPct val="85000"/>
                        </a:lnSpc>
                      </a:pPr>
                      <a:r>
                        <a:rPr lang="uz-Cyrl-UZ" sz="900" kern="1200" dirty="0" smtClean="0">
                          <a:solidFill>
                            <a:schemeClr val="tx1"/>
                          </a:solidFill>
                          <a:effectLst/>
                          <a:latin typeface="+mn-lt"/>
                          <a:ea typeface="+mn-ea"/>
                          <a:cs typeface="+mn-cs"/>
                        </a:rPr>
                        <a:t>1926 йил,Қамаши тумани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effectLst/>
                          <a:latin typeface="+mn-lt"/>
                          <a:ea typeface="+mn-ea"/>
                          <a:cs typeface="+mn-cs"/>
                        </a:rPr>
                        <a:t>1913 йил вафот этган</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(уй бекаси)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662906">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dirty="0" smtClean="0">
                          <a:solidFill>
                            <a:schemeClr val="tx1"/>
                          </a:solidFill>
                          <a:effectLst/>
                          <a:latin typeface="+mn-lt"/>
                          <a:ea typeface="+mn-ea"/>
                          <a:cs typeface="+mn-cs"/>
                        </a:rPr>
                        <a:t>Норова Меҳринисо</a:t>
                      </a:r>
                    </a:p>
                    <a:p>
                      <a:pPr algn="l">
                        <a:lnSpc>
                          <a:spcPct val="85000"/>
                        </a:lnSpc>
                      </a:pPr>
                      <a:r>
                        <a:rPr lang="uz-Cyrl-UZ" sz="900" kern="1200" dirty="0" smtClean="0">
                          <a:solidFill>
                            <a:schemeClr val="tx1"/>
                          </a:solidFill>
                          <a:effectLst/>
                          <a:latin typeface="+mn-lt"/>
                          <a:ea typeface="+mn-ea"/>
                          <a:cs typeface="+mn-cs"/>
                        </a:rPr>
                        <a:t>1964 йил,Қамаши тумани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kern="1200" dirty="0" smtClean="0">
                          <a:solidFill>
                            <a:schemeClr val="tx1"/>
                          </a:solidFill>
                          <a:effectLst/>
                          <a:latin typeface="+mn-lt"/>
                          <a:ea typeface="+mn-ea"/>
                          <a:cs typeface="+mn-cs"/>
                        </a:rPr>
                        <a:t>Қашқадарё вилояти, қарши шаҳри, Шошлинч тиббий ёрдам шифохонасида ҳамшира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5280">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62821">
                <a:tc gridSpan="3">
                  <a:txBody>
                    <a:bodyPr/>
                    <a:lstStyle/>
                    <a:p>
                      <a:pPr algn="l">
                        <a:lnSpc>
                          <a:spcPct val="85000"/>
                        </a:lnSpc>
                      </a:pPr>
                      <a:r>
                        <a:rPr lang="uz-Cyrl-UZ" sz="900" b="1" noProof="0" dirty="0">
                          <a:latin typeface="+mn-lt"/>
                        </a:rPr>
                        <a:t>Т</a:t>
                      </a:r>
                      <a:r>
                        <a:rPr lang="uz-Cyrl-UZ" sz="900" b="1" noProof="0" dirty="0" smtClean="0">
                          <a:latin typeface="+mn-lt"/>
                        </a:rPr>
                        <a:t>амомлаган </a:t>
                      </a:r>
                      <a:r>
                        <a:rPr lang="uz-Cyrl-UZ" sz="900" b="1" noProof="0" dirty="0">
                          <a:latin typeface="+mn-lt"/>
                        </a:rPr>
                        <a:t>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1988 й. </a:t>
                      </a:r>
                      <a:r>
                        <a:rPr lang="uz-Cyrl-UZ" sz="900" kern="1200" dirty="0" smtClean="0">
                          <a:solidFill>
                            <a:schemeClr val="tx1"/>
                          </a:solidFill>
                          <a:effectLst/>
                          <a:latin typeface="+mn-lt"/>
                          <a:ea typeface="+mn-ea"/>
                          <a:cs typeface="+mn-cs"/>
                        </a:rPr>
                        <a:t>Тошкент давлат театр ва рассомчилик санъати </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47430">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a:t>
                      </a:r>
                      <a:r>
                        <a:rPr lang="uz-Cyrl-UZ" sz="900" kern="1200" baseline="0" dirty="0" smtClean="0">
                          <a:solidFill>
                            <a:schemeClr val="tx1"/>
                          </a:solidFill>
                          <a:effectLst/>
                          <a:latin typeface="+mn-lt"/>
                          <a:ea typeface="+mn-ea"/>
                          <a:cs typeface="+mn-cs"/>
                        </a:rPr>
                        <a:t> театри</a:t>
                      </a:r>
                      <a:r>
                        <a:rPr lang="uz-Cyrl-UZ" sz="900" kern="1200" dirty="0" smtClean="0">
                          <a:solidFill>
                            <a:schemeClr val="tx1"/>
                          </a:solidFill>
                          <a:effectLst/>
                          <a:latin typeface="+mn-lt"/>
                          <a:ea typeface="+mn-ea"/>
                          <a:cs typeface="+mn-cs"/>
                        </a:rPr>
                        <a:t> режиссёрлиги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0670">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0670">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1067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367165120"/>
              </p:ext>
            </p:extLst>
          </p:nvPr>
        </p:nvGraphicFramePr>
        <p:xfrm>
          <a:off x="3674526" y="865689"/>
          <a:ext cx="3172841" cy="5942195"/>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0421">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28600">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2020 йилдан Қашқадарё</a:t>
                      </a:r>
                      <a:r>
                        <a:rPr lang="uz-Cyrl-UZ" sz="900" b="1" kern="1200" baseline="0" noProof="0" dirty="0" smtClean="0">
                          <a:solidFill>
                            <a:schemeClr val="tx1"/>
                          </a:solidFill>
                          <a:latin typeface="+mn-lt"/>
                          <a:ea typeface="+mn-ea"/>
                          <a:cs typeface="+mn-cs"/>
                        </a:rPr>
                        <a:t> вилояти қўғирчоқ театрида саҳналаштирувчи режиссёр</a:t>
                      </a:r>
                      <a:endParaRPr lang="uz-Cyrl-UZ" sz="900" b="1"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4014">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866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38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364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11 йил</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0643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smtClean="0">
                          <a:solidFill>
                            <a:schemeClr val="tx1"/>
                          </a:solidFill>
                          <a:effectLst/>
                          <a:latin typeface="+mn-lt"/>
                          <a:ea typeface="+mn-ea"/>
                          <a:cs typeface="+mn-cs"/>
                        </a:rPr>
                        <a:t>2008-2019 й й. -Қашқадарё вилояти қўғирчоқ театрида бош режиссёр </a:t>
                      </a:r>
                      <a:endParaRPr lang="ru-RU" sz="900" kern="1200" dirty="0">
                        <a:solidFill>
                          <a:schemeClr val="tx1"/>
                        </a:solidFill>
                        <a:effectLst/>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059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059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Даволанмаган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870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797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5598">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86961">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2012 й. Ўзбекистонда хизмат кўрсатган артист</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149726558"/>
              </p:ext>
            </p:extLst>
          </p:nvPr>
        </p:nvGraphicFramePr>
        <p:xfrm>
          <a:off x="6949857" y="869286"/>
          <a:ext cx="2817247" cy="5805968"/>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55182">
                <a:tc>
                  <a:txBody>
                    <a:bodyPr/>
                    <a:lstStyle/>
                    <a:p>
                      <a:pPr algn="ctr">
                        <a:lnSpc>
                          <a:spcPct val="85000"/>
                        </a:lnSpc>
                      </a:pPr>
                      <a:r>
                        <a:rPr lang="uz-Cyrl-UZ" sz="900" b="1" noProof="0" dirty="0" smtClean="0">
                          <a:solidFill>
                            <a:schemeClr val="bg1"/>
                          </a:solidFill>
                          <a:latin typeface="Bahnschrift SemiBold" panose="020B0502040204020203" pitchFamily="34" charset="0"/>
                        </a:rPr>
                        <a:t>ФАОЛИЯТИ</a:t>
                      </a:r>
                      <a:r>
                        <a:rPr lang="uz-Cyrl-UZ" sz="900" b="1" baseline="0" noProof="0" dirty="0" smtClean="0">
                          <a:solidFill>
                            <a:schemeClr val="bg1"/>
                          </a:solidFill>
                          <a:latin typeface="Bahnschrift SemiBold" panose="020B0502040204020203" pitchFamily="34" charset="0"/>
                        </a:rPr>
                        <a:t> </a:t>
                      </a:r>
                      <a:endParaRPr lang="uz-Cyrl-UZ" sz="9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1220">
                <a:tc>
                  <a:txBody>
                    <a:bodyPr/>
                    <a:lstStyle/>
                    <a:p>
                      <a:pPr algn="ctr">
                        <a:lnSpc>
                          <a:spcPct val="85000"/>
                        </a:lnSpc>
                      </a:pPr>
                      <a:r>
                        <a:rPr lang="uz-Cyrl-UZ" sz="900" b="1" noProof="0" dirty="0" smtClean="0">
                          <a:solidFill>
                            <a:schemeClr val="bg1"/>
                          </a:solidFill>
                          <a:latin typeface="Bahnschrift SemiBold" panose="020B0502040204020203" pitchFamily="34" charset="0"/>
                        </a:rPr>
                        <a:t>Меҳнат фаолияти ҳақида</a:t>
                      </a:r>
                      <a:r>
                        <a:rPr lang="uz-Cyrl-UZ" sz="900" b="1" baseline="0" noProof="0" dirty="0" smtClean="0">
                          <a:solidFill>
                            <a:schemeClr val="bg1"/>
                          </a:solidFill>
                          <a:latin typeface="Bahnschrift SemiBold" panose="020B0502040204020203" pitchFamily="34" charset="0"/>
                        </a:rPr>
                        <a:t> қисқача тавсифнома</a:t>
                      </a:r>
                      <a:endParaRPr lang="uz-Cyrl-UZ" sz="9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70400">
                <a:tc>
                  <a:txBody>
                    <a:bodyPr/>
                    <a:lstStyle/>
                    <a:p>
                      <a:pPr marL="0" indent="179388" algn="just"/>
                      <a:r>
                        <a:rPr lang="uz-Cyrl-UZ" sz="900" b="0" kern="1200" dirty="0" smtClean="0">
                          <a:solidFill>
                            <a:schemeClr val="tx1"/>
                          </a:solidFill>
                          <a:effectLst/>
                          <a:latin typeface="+mn-lt"/>
                          <a:ea typeface="+mn-ea"/>
                          <a:cs typeface="+mn-cs"/>
                        </a:rPr>
                        <a:t>Умумий меҳнат стажи 38 йил. Мазкур вазифада 2020 йилдан буён ишлаб келмоқда. </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Х.Саттаров ўзининг иш фаолияти давомида</a:t>
                      </a:r>
                      <a:r>
                        <a:rPr lang="uz-Cyrl-UZ"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меҳнатсеварлиги, ишбилармонлиги ва ташаббускорлиги билан бошқалардан ажралиб туради, ҳамда театр санъатини ривожлантириш йўлида изланишлар олиб боради. Ўқийди, ўрганади, янгиликларга интилади ва ҳар қандай топшириқни бекаму-кўст бажара оладиган уддабурон режиссёр ҳамда раҳбар. Х.Саттаров режиссёрлик иш фаолияти давомида қуйидаги саҳна асарларини саҳналаштирган.</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2011 йил “Уч опа сингил” М.Халил асари, 2013 йил “Она тандир”</a:t>
                      </a:r>
                      <a:r>
                        <a:rPr lang="uz-Cyrl-UZ" sz="900" b="0" kern="1200" baseline="0" dirty="0" smtClean="0">
                          <a:solidFill>
                            <a:schemeClr val="tx1"/>
                          </a:solidFill>
                          <a:effectLst/>
                          <a:latin typeface="+mn-lt"/>
                          <a:ea typeface="+mn-ea"/>
                          <a:cs typeface="+mn-cs"/>
                        </a:rPr>
                        <a:t> </a:t>
                      </a:r>
                      <a:r>
                        <a:rPr lang="uz-Cyrl-UZ" sz="900" b="0" kern="1200" dirty="0" smtClean="0">
                          <a:solidFill>
                            <a:schemeClr val="tx1"/>
                          </a:solidFill>
                          <a:effectLst/>
                          <a:latin typeface="+mn-lt"/>
                          <a:ea typeface="+mn-ea"/>
                          <a:cs typeface="+mn-cs"/>
                        </a:rPr>
                        <a:t>Б.Махмудов, 2014 йил М.Очил “Гаройиб бола” саҳналаштирган спектакллари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Х.Саттаров “Бургут “ Болалар учун мусиқали эртак тамоша. “Улоқчанинг китоби “Болалар учун мусиқали эртак тамоша “Созлар можораси “Болалар учун эртак тамоша .”Гирдоб” икки пардали драма катталар учун. </a:t>
                      </a:r>
                      <a:r>
                        <a:rPr lang="uz-Cyrl-UZ" sz="900" b="0" kern="1200" smtClean="0">
                          <a:solidFill>
                            <a:schemeClr val="tx1"/>
                          </a:solidFill>
                          <a:effectLst/>
                          <a:latin typeface="+mn-lt"/>
                          <a:ea typeface="+mn-ea"/>
                          <a:cs typeface="+mn-cs"/>
                        </a:rPr>
                        <a:t>“Ҳаёт </a:t>
                      </a:r>
                      <a:r>
                        <a:rPr lang="uz-Cyrl-UZ" sz="900" b="0" kern="1200" dirty="0" smtClean="0">
                          <a:solidFill>
                            <a:schemeClr val="tx1"/>
                          </a:solidFill>
                          <a:effectLst/>
                          <a:latin typeface="+mn-lt"/>
                          <a:ea typeface="+mn-ea"/>
                          <a:cs typeface="+mn-cs"/>
                        </a:rPr>
                        <a:t>қадри” эртак томоша “Муқаддас олов” бир пардали драма катталар учун “Оймоманинг боласи” Эртак томоша ёзган саҳна асрлари</a:t>
                      </a:r>
                      <a:endParaRPr lang="ru-RU" sz="900" b="0" kern="1200" dirty="0" smtClean="0">
                        <a:solidFill>
                          <a:schemeClr val="tx1"/>
                        </a:solidFill>
                        <a:effectLst/>
                        <a:latin typeface="+mn-lt"/>
                        <a:ea typeface="+mn-ea"/>
                        <a:cs typeface="+mn-cs"/>
                      </a:endParaRPr>
                    </a:p>
                    <a:p>
                      <a:pPr marL="0" indent="179388" algn="just"/>
                      <a:r>
                        <a:rPr lang="uz-Cyrl-UZ" sz="900" b="0" kern="1200" dirty="0" smtClean="0">
                          <a:solidFill>
                            <a:schemeClr val="tx1"/>
                          </a:solidFill>
                          <a:effectLst/>
                          <a:latin typeface="+mn-lt"/>
                          <a:ea typeface="+mn-ea"/>
                          <a:cs typeface="+mn-cs"/>
                        </a:rPr>
                        <a:t>Шунингдек, Х.Саттаров республика ҳамда вилоят миқёсида ўтказилган Наврўз, Мустақиллик ва бошқа байрам тантаналарида театрлаштирлган мусиқали композициялар саҳналаштиргани учун вилоят ҳокимлиги, вилоят маданият ва спорт ишлари бошқармасининг фахрий ёрлиқлари билан бир неча бор тақдирланган Х.Саттаров жамоатчилик ишларининг фаол қатнашчиси бўлиши билан бир қаторда театр ёшларига меҳрибон устоз ва намунали оила бошлиғидир.</a:t>
                      </a:r>
                      <a:endParaRPr lang="ru-RU" sz="900" b="0" kern="1200" dirty="0" smtClean="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8541">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03082">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baseline="0" dirty="0" smtClean="0">
                          <a:effectLst/>
                          <a:latin typeface="+mn-lt"/>
                          <a:ea typeface="Calibri" panose="020F0502020204030204" pitchFamily="34" charset="0"/>
                          <a:cs typeface="Times New Roman" panose="02020603050405020304" pitchFamily="18" charset="0"/>
                        </a:rPr>
                        <a:t>Қашқадарё вилоятида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9" name="Рисунок 8"/>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5928" y="1158584"/>
            <a:ext cx="907072" cy="1080000"/>
          </a:xfrm>
          <a:prstGeom prst="rect">
            <a:avLst/>
          </a:prstGeom>
          <a:noFill/>
          <a:ln>
            <a:noFill/>
          </a:ln>
        </p:spPr>
      </p:pic>
    </p:spTree>
    <p:extLst>
      <p:ext uri="{BB962C8B-B14F-4D97-AF65-F5344CB8AC3E}">
        <p14:creationId xmlns:p14="http://schemas.microsoft.com/office/powerpoint/2010/main" val="3754310545"/>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740242329"/>
              </p:ext>
            </p:extLst>
          </p:nvPr>
        </p:nvGraphicFramePr>
        <p:xfrm>
          <a:off x="138896" y="869286"/>
          <a:ext cx="3438022" cy="5908838"/>
        </p:xfrm>
        <a:graphic>
          <a:graphicData uri="http://schemas.openxmlformats.org/drawingml/2006/table">
            <a:tbl>
              <a:tblPr firstRow="1" bandRow="1">
                <a:tableStyleId>{C083E6E3-FA7D-4D7B-A595-EF9225AFEA82}</a:tableStyleId>
              </a:tblPr>
              <a:tblGrid>
                <a:gridCol w="523555">
                  <a:extLst>
                    <a:ext uri="{9D8B030D-6E8A-4147-A177-3AD203B41FA5}">
                      <a16:colId xmlns:a16="http://schemas.microsoft.com/office/drawing/2014/main" val="2288412290"/>
                    </a:ext>
                  </a:extLst>
                </a:gridCol>
                <a:gridCol w="515833">
                  <a:extLst>
                    <a:ext uri="{9D8B030D-6E8A-4147-A177-3AD203B41FA5}">
                      <a16:colId xmlns:a16="http://schemas.microsoft.com/office/drawing/2014/main" val="1678982439"/>
                    </a:ext>
                  </a:extLst>
                </a:gridCol>
                <a:gridCol w="170222">
                  <a:extLst>
                    <a:ext uri="{9D8B030D-6E8A-4147-A177-3AD203B41FA5}">
                      <a16:colId xmlns:a16="http://schemas.microsoft.com/office/drawing/2014/main" val="2721661767"/>
                    </a:ext>
                  </a:extLst>
                </a:gridCol>
                <a:gridCol w="932431">
                  <a:extLst>
                    <a:ext uri="{9D8B030D-6E8A-4147-A177-3AD203B41FA5}">
                      <a16:colId xmlns:a16="http://schemas.microsoft.com/office/drawing/2014/main" val="546773760"/>
                    </a:ext>
                  </a:extLst>
                </a:gridCol>
                <a:gridCol w="1295981">
                  <a:extLst>
                    <a:ext uri="{9D8B030D-6E8A-4147-A177-3AD203B41FA5}">
                      <a16:colId xmlns:a16="http://schemas.microsoft.com/office/drawing/2014/main" val="546443978"/>
                    </a:ext>
                  </a:extLst>
                </a:gridCol>
              </a:tblGrid>
              <a:tr h="240079">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212510">
                <a:tc rowSpan="6" gridSpan="2">
                  <a:txBody>
                    <a:bodyPr/>
                    <a:lstStyle/>
                    <a:p>
                      <a:pPr algn="l">
                        <a:lnSpc>
                          <a:spcPct val="90000"/>
                        </a:lnSpc>
                      </a:pPr>
                      <a:endParaRPr lang="uz-Cyrl-UZ" sz="500" b="0" dirty="0">
                        <a:latin typeface="+mn-lt"/>
                      </a:endParaRPr>
                    </a:p>
                    <a:p>
                      <a:pPr algn="l">
                        <a:lnSpc>
                          <a:spcPct val="90000"/>
                        </a:lnSpc>
                      </a:pPr>
                      <a:endParaRPr lang="ru-RU" sz="500" b="0" dirty="0">
                        <a:latin typeface="+mn-lt"/>
                      </a:endParaRPr>
                    </a:p>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cs typeface="Times New Roman" panose="02020603050405020304" pitchFamily="18" charset="0"/>
                        </a:rPr>
                        <a:t>Фамилияси:</a:t>
                      </a:r>
                      <a:endParaRPr lang="ru-RU" sz="9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ru-RU" sz="900" kern="1200" dirty="0" smtClean="0">
                          <a:solidFill>
                            <a:schemeClr val="tx1"/>
                          </a:solidFill>
                          <a:effectLst/>
                          <a:latin typeface="+mn-lt"/>
                          <a:ea typeface="+mn-ea"/>
                          <a:cs typeface="Times New Roman" panose="02020603050405020304" pitchFamily="18" charset="0"/>
                        </a:rPr>
                        <a:t>АБДУКАДИРОВ </a:t>
                      </a:r>
                      <a:endParaRPr lang="ru-RU" sz="900" kern="1200" dirty="0">
                        <a:solidFill>
                          <a:schemeClr val="tx1"/>
                        </a:solidFill>
                        <a:effectLst/>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872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cs typeface="Times New Roman" panose="02020603050405020304" pitchFamily="18" charset="0"/>
                        </a:rPr>
                        <a:t>Исми:</a:t>
                      </a:r>
                      <a:endParaRPr lang="ru-RU" sz="9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ru-RU" sz="900" kern="1200" dirty="0" err="1" smtClean="0">
                          <a:solidFill>
                            <a:schemeClr val="tx1"/>
                          </a:solidFill>
                          <a:effectLst/>
                          <a:latin typeface="+mn-lt"/>
                          <a:ea typeface="+mn-ea"/>
                          <a:cs typeface="Times New Roman" panose="02020603050405020304" pitchFamily="18" charset="0"/>
                        </a:rPr>
                        <a:t>Халилжон</a:t>
                      </a:r>
                      <a:endParaRPr lang="uz-Cyrl-UZ" sz="9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872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cs typeface="Times New Roman" panose="02020603050405020304" pitchFamily="18" charset="0"/>
                        </a:rPr>
                        <a:t>Отасининг исми:</a:t>
                      </a:r>
                      <a:endParaRPr lang="ru-RU" sz="9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900" kern="1200" dirty="0" err="1">
                          <a:solidFill>
                            <a:schemeClr val="tx1"/>
                          </a:solidFill>
                          <a:effectLst/>
                          <a:latin typeface="+mn-lt"/>
                          <a:ea typeface="+mn-ea"/>
                          <a:cs typeface="Times New Roman" panose="02020603050405020304" pitchFamily="18" charset="0"/>
                        </a:rPr>
                        <a:t>Хамиджанович</a:t>
                      </a:r>
                      <a:endParaRPr lang="uz-Cyrl-UZ" sz="9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494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cs typeface="Times New Roman" panose="02020603050405020304" pitchFamily="18" charset="0"/>
                        </a:rPr>
                        <a:t>Миллати:</a:t>
                      </a:r>
                      <a:endParaRPr lang="ru-RU" sz="900" dirty="0">
                        <a:latin typeface="+mn-lt"/>
                        <a:cs typeface="Times New Roman" panose="02020603050405020304" pitchFamily="18" charset="0"/>
                      </a:endParaRPr>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Times New Roman" panose="02020603050405020304" pitchFamily="18" charset="0"/>
                        </a:rPr>
                        <a:t>ЎЗБЕК</a:t>
                      </a:r>
                      <a:endParaRPr lang="ru-RU" sz="9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872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cs typeface="Times New Roman" panose="02020603050405020304" pitchFamily="18" charset="0"/>
                        </a:rPr>
                        <a:t>Туғилган санаси:</a:t>
                      </a:r>
                      <a:endParaRPr lang="ru-RU" sz="9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a:solidFill>
                            <a:schemeClr val="tx1"/>
                          </a:solidFill>
                          <a:effectLst/>
                          <a:latin typeface="+mn-lt"/>
                          <a:ea typeface="+mn-ea"/>
                          <a:cs typeface="Times New Roman" panose="02020603050405020304" pitchFamily="18" charset="0"/>
                        </a:rPr>
                        <a:t>04.06.1957</a:t>
                      </a:r>
                      <a:endParaRPr lang="ru-RU" sz="9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872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cs typeface="Times New Roman" panose="02020603050405020304" pitchFamily="18" charset="0"/>
                        </a:rPr>
                        <a:t>Туғилган жойи:</a:t>
                      </a:r>
                      <a:endParaRPr lang="ru-RU" sz="9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a:solidFill>
                            <a:schemeClr val="tx1"/>
                          </a:solidFill>
                          <a:effectLst/>
                          <a:latin typeface="+mn-lt"/>
                          <a:ea typeface="+mn-ea"/>
                          <a:cs typeface="Times New Roman" panose="02020603050405020304" pitchFamily="18" charset="0"/>
                        </a:rPr>
                        <a:t>Ош вилояти</a:t>
                      </a:r>
                      <a:endParaRPr lang="uz-Cyrl-UZ" sz="9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7826">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2616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cs typeface="Times New Roman" panose="02020603050405020304" pitchFamily="18" charset="0"/>
                        </a:rPr>
                        <a:t>Оилавий ва ижтимоий ахволи:</a:t>
                      </a:r>
                      <a:endParaRPr lang="uz-Cyrl-UZ" sz="900" b="1" dirty="0">
                        <a:solidFill>
                          <a:schemeClr val="bg1"/>
                        </a:solidFill>
                        <a:latin typeface="+mn-lt"/>
                        <a:cs typeface="Times New Roman" panose="02020603050405020304" pitchFamily="18"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algn="ctr"/>
                      <a:r>
                        <a:rPr lang="uz-Cyrl-UZ" sz="900" b="0" kern="1200" noProof="0" dirty="0">
                          <a:solidFill>
                            <a:schemeClr val="tx1"/>
                          </a:solidFill>
                          <a:latin typeface="+mn-lt"/>
                          <a:ea typeface="+mn-ea"/>
                          <a:cs typeface="Times New Roman" panose="02020603050405020304" pitchFamily="18" charset="0"/>
                        </a:rPr>
                        <a:t>Оилали, 2 нафар фарзанди </a:t>
                      </a:r>
                      <a:r>
                        <a:rPr lang="uz-Cyrl-UZ" sz="900" b="0" kern="1200" noProof="0" dirty="0" smtClean="0">
                          <a:solidFill>
                            <a:schemeClr val="tx1"/>
                          </a:solidFill>
                          <a:latin typeface="+mn-lt"/>
                          <a:ea typeface="+mn-ea"/>
                          <a:cs typeface="Times New Roman" panose="02020603050405020304" pitchFamily="18" charset="0"/>
                        </a:rPr>
                        <a:t>бор</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7826">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88198">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uz-Cyrl-UZ" sz="900" kern="1200" dirty="0">
                          <a:solidFill>
                            <a:schemeClr val="tx1"/>
                          </a:solidFill>
                          <a:effectLst/>
                          <a:latin typeface="+mn-lt"/>
                          <a:ea typeface="+mn-ea"/>
                          <a:cs typeface="Times New Roman" panose="02020603050405020304" pitchFamily="18" charset="0"/>
                        </a:rPr>
                        <a:t>Абдикадиров Хамиджан</a:t>
                      </a:r>
                    </a:p>
                    <a:p>
                      <a:r>
                        <a:rPr lang="uz-Cyrl-UZ" sz="900" kern="1200" dirty="0">
                          <a:solidFill>
                            <a:schemeClr val="tx1"/>
                          </a:solidFill>
                          <a:effectLst/>
                          <a:latin typeface="+mn-lt"/>
                          <a:ea typeface="+mn-ea"/>
                          <a:cs typeface="Times New Roman" panose="02020603050405020304" pitchFamily="18" charset="0"/>
                        </a:rPr>
                        <a:t>1932 й.</a:t>
                      </a:r>
                      <a:endParaRPr lang="ru-RU" sz="900" kern="1200" dirty="0">
                        <a:solidFill>
                          <a:schemeClr val="tx1"/>
                        </a:solidFill>
                        <a:effectLst/>
                        <a:latin typeface="+mn-lt"/>
                        <a:ea typeface="+mn-ea"/>
                        <a:cs typeface="Times New Roman" panose="02020603050405020304" pitchFamily="18" charset="0"/>
                      </a:endParaRPr>
                    </a:p>
                    <a:p>
                      <a:r>
                        <a:rPr lang="uz-Cyrl-UZ" sz="900" kern="1200" dirty="0">
                          <a:solidFill>
                            <a:schemeClr val="tx1"/>
                          </a:solidFill>
                          <a:effectLst/>
                          <a:latin typeface="+mn-lt"/>
                          <a:ea typeface="+mn-ea"/>
                          <a:cs typeface="Times New Roman" panose="02020603050405020304" pitchFamily="18" charset="0"/>
                        </a:rPr>
                        <a:t>Ош шаҳри</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a:solidFill>
                            <a:schemeClr val="tx1"/>
                          </a:solidFill>
                          <a:effectLst/>
                          <a:latin typeface="+mn-lt"/>
                          <a:ea typeface="+mn-ea"/>
                          <a:cs typeface="Times New Roman" panose="02020603050405020304" pitchFamily="18" charset="0"/>
                        </a:rPr>
                        <a:t>1996 йилда вафот этган</a:t>
                      </a:r>
                      <a:endParaRPr lang="ru-RU"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88198">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uz-Cyrl-UZ" sz="900" kern="1200" dirty="0">
                          <a:solidFill>
                            <a:schemeClr val="tx1"/>
                          </a:solidFill>
                          <a:effectLst/>
                          <a:latin typeface="+mn-lt"/>
                          <a:ea typeface="+mn-ea"/>
                          <a:cs typeface="Times New Roman" panose="02020603050405020304" pitchFamily="18" charset="0"/>
                        </a:rPr>
                        <a:t>Абдикадирова  Каримахон</a:t>
                      </a:r>
                    </a:p>
                    <a:p>
                      <a:r>
                        <a:rPr lang="uz-Cyrl-UZ" sz="900" kern="1200" dirty="0">
                          <a:solidFill>
                            <a:schemeClr val="tx1"/>
                          </a:solidFill>
                          <a:effectLst/>
                          <a:latin typeface="+mn-lt"/>
                          <a:ea typeface="+mn-ea"/>
                          <a:cs typeface="Times New Roman" panose="02020603050405020304" pitchFamily="18" charset="0"/>
                        </a:rPr>
                        <a:t>1932 й.</a:t>
                      </a:r>
                      <a:endParaRPr lang="ru-RU" sz="900" kern="1200" dirty="0">
                        <a:solidFill>
                          <a:schemeClr val="tx1"/>
                        </a:solidFill>
                        <a:effectLst/>
                        <a:latin typeface="+mn-lt"/>
                        <a:ea typeface="+mn-ea"/>
                        <a:cs typeface="Times New Roman" panose="02020603050405020304" pitchFamily="18" charset="0"/>
                      </a:endParaRPr>
                    </a:p>
                    <a:p>
                      <a:r>
                        <a:rPr lang="uz-Cyrl-UZ" sz="900" kern="1200" dirty="0">
                          <a:solidFill>
                            <a:schemeClr val="tx1"/>
                          </a:solidFill>
                          <a:effectLst/>
                          <a:latin typeface="+mn-lt"/>
                          <a:ea typeface="+mn-ea"/>
                          <a:cs typeface="Times New Roman" panose="02020603050405020304" pitchFamily="18" charset="0"/>
                        </a:rPr>
                        <a:t>Татаристон</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a:solidFill>
                            <a:schemeClr val="tx1"/>
                          </a:solidFill>
                          <a:effectLst/>
                          <a:latin typeface="+mn-lt"/>
                          <a:ea typeface="+mn-ea"/>
                          <a:cs typeface="Times New Roman" panose="02020603050405020304" pitchFamily="18" charset="0"/>
                        </a:rPr>
                        <a:t>1998 йилда вафот этган</a:t>
                      </a:r>
                      <a:endParaRPr lang="ru-RU"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88198">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uz-Cyrl-UZ" sz="900" kern="1200" dirty="0">
                          <a:solidFill>
                            <a:schemeClr val="tx1"/>
                          </a:solidFill>
                          <a:effectLst/>
                          <a:latin typeface="+mn-lt"/>
                          <a:ea typeface="+mn-ea"/>
                          <a:cs typeface="Times New Roman" panose="02020603050405020304" pitchFamily="18" charset="0"/>
                        </a:rPr>
                        <a:t>Абдикадирова (Кузина) </a:t>
                      </a:r>
                      <a:endParaRPr lang="uz-Cyrl-UZ" sz="900" kern="1200" dirty="0" smtClean="0">
                        <a:solidFill>
                          <a:schemeClr val="tx1"/>
                        </a:solidFill>
                        <a:effectLst/>
                        <a:latin typeface="+mn-lt"/>
                        <a:ea typeface="+mn-ea"/>
                        <a:cs typeface="Times New Roman" panose="02020603050405020304" pitchFamily="18" charset="0"/>
                      </a:endParaRPr>
                    </a:p>
                    <a:p>
                      <a:r>
                        <a:rPr lang="uz-Cyrl-UZ" sz="900" kern="1200" dirty="0" smtClean="0">
                          <a:solidFill>
                            <a:schemeClr val="tx1"/>
                          </a:solidFill>
                          <a:effectLst/>
                          <a:latin typeface="+mn-lt"/>
                          <a:ea typeface="+mn-ea"/>
                          <a:cs typeface="Times New Roman" panose="02020603050405020304" pitchFamily="18" charset="0"/>
                        </a:rPr>
                        <a:t>Светлана </a:t>
                      </a:r>
                      <a:r>
                        <a:rPr lang="uz-Cyrl-UZ" sz="900" kern="1200" dirty="0">
                          <a:solidFill>
                            <a:schemeClr val="tx1"/>
                          </a:solidFill>
                          <a:effectLst/>
                          <a:latin typeface="+mn-lt"/>
                          <a:ea typeface="+mn-ea"/>
                          <a:cs typeface="Times New Roman" panose="02020603050405020304" pitchFamily="18" charset="0"/>
                        </a:rPr>
                        <a:t>Алекссевна </a:t>
                      </a:r>
                    </a:p>
                    <a:p>
                      <a:r>
                        <a:rPr lang="uz-Cyrl-UZ" sz="900" kern="1200" dirty="0">
                          <a:solidFill>
                            <a:schemeClr val="tx1"/>
                          </a:solidFill>
                          <a:effectLst/>
                          <a:latin typeface="+mn-lt"/>
                          <a:ea typeface="+mn-ea"/>
                          <a:cs typeface="Times New Roman" panose="02020603050405020304" pitchFamily="18" charset="0"/>
                        </a:rPr>
                        <a:t>1956 йил,       Грозний шаҳри</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kern="1200" dirty="0">
                          <a:solidFill>
                            <a:schemeClr val="tx1"/>
                          </a:solidFill>
                          <a:effectLst/>
                          <a:latin typeface="+mn-lt"/>
                          <a:ea typeface="+mn-ea"/>
                          <a:cs typeface="Times New Roman" panose="02020603050405020304" pitchFamily="18" charset="0"/>
                        </a:rPr>
                        <a:t>А.Навоий номидаги ДАКТ концертмейстери</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4852">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68457">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Times New Roman" panose="02020603050405020304" pitchFamily="18" charset="0"/>
                        </a:rPr>
                        <a:t>1987 </a:t>
                      </a:r>
                      <a:r>
                        <a:rPr lang="uz-Cyrl-UZ" sz="900" kern="1200" dirty="0">
                          <a:solidFill>
                            <a:schemeClr val="tx1"/>
                          </a:solidFill>
                          <a:effectLst/>
                          <a:latin typeface="+mn-lt"/>
                          <a:ea typeface="+mn-ea"/>
                          <a:cs typeface="Times New Roman" panose="02020603050405020304" pitchFamily="18" charset="0"/>
                        </a:rPr>
                        <a:t>й., Р.Корсаков номли Ленинград давлат консерваторияси (кундузги</a:t>
                      </a:r>
                      <a:r>
                        <a:rPr lang="uz-Cyrl-UZ" sz="900" kern="1200" dirty="0" smtClean="0">
                          <a:solidFill>
                            <a:schemeClr val="tx1"/>
                          </a:solidFill>
                          <a:effectLst/>
                          <a:latin typeface="+mn-lt"/>
                          <a:ea typeface="+mn-ea"/>
                          <a:cs typeface="Times New Roman" panose="02020603050405020304" pitchFamily="18" charset="0"/>
                        </a:rPr>
                        <a:t>)                                                                               </a:t>
                      </a:r>
                      <a:endParaRPr lang="ru-RU" sz="900" kern="1200" dirty="0">
                        <a:solidFill>
                          <a:schemeClr val="tx1"/>
                        </a:solidFill>
                        <a:effectLst/>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2510">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Times New Roman" panose="02020603050405020304" pitchFamily="18" charset="0"/>
                        </a:rPr>
                        <a:t>мусиқали театр актёри, вокал ўқитувчиси</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9001">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endParaRPr lang="ru-RU" sz="9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9001">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Times New Roman" panose="02020603050405020304" pitchFamily="18" charset="0"/>
                        </a:rPr>
                        <a:t>Рус, итальян тиллари</a:t>
                      </a:r>
                      <a:endParaRPr lang="ru-RU" sz="9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26168">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Times New Roman" panose="02020603050405020304" pitchFamily="18" charset="0"/>
                        </a:rPr>
                        <a:t>Йўқ</a:t>
                      </a:r>
                      <a:endParaRPr lang="ru-RU"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15908375"/>
              </p:ext>
            </p:extLst>
          </p:nvPr>
        </p:nvGraphicFramePr>
        <p:xfrm>
          <a:off x="3647570" y="869284"/>
          <a:ext cx="3209364" cy="5908841"/>
        </p:xfrm>
        <a:graphic>
          <a:graphicData uri="http://schemas.openxmlformats.org/drawingml/2006/table">
            <a:tbl>
              <a:tblPr firstRow="1" bandRow="1">
                <a:tableStyleId>{C083E6E3-FA7D-4D7B-A595-EF9225AFEA82}</a:tableStyleId>
              </a:tblPr>
              <a:tblGrid>
                <a:gridCol w="1472767">
                  <a:extLst>
                    <a:ext uri="{9D8B030D-6E8A-4147-A177-3AD203B41FA5}">
                      <a16:colId xmlns:a16="http://schemas.microsoft.com/office/drawing/2014/main" val="2715609854"/>
                    </a:ext>
                  </a:extLst>
                </a:gridCol>
                <a:gridCol w="1736597">
                  <a:extLst>
                    <a:ext uri="{9D8B030D-6E8A-4147-A177-3AD203B41FA5}">
                      <a16:colId xmlns:a16="http://schemas.microsoft.com/office/drawing/2014/main" val="546443978"/>
                    </a:ext>
                  </a:extLst>
                </a:gridCol>
              </a:tblGrid>
              <a:tr h="300308">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656227">
                <a:tc>
                  <a:txBody>
                    <a:bodyPr/>
                    <a:lstStyle/>
                    <a:p>
                      <a:pPr algn="l">
                        <a:lnSpc>
                          <a:spcPct val="85000"/>
                        </a:lnSpc>
                      </a:pPr>
                      <a:r>
                        <a:rPr lang="uz-Cyrl-UZ" sz="900" b="1" i="0" noProof="0" dirty="0">
                          <a:solidFill>
                            <a:schemeClr val="tx1"/>
                          </a:solidFill>
                          <a:latin typeface="+mn-lt"/>
                          <a:cs typeface="Times New Roman" panose="02020603050405020304" pitchFamily="18" charset="0"/>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b="0" kern="1200" dirty="0">
                          <a:solidFill>
                            <a:schemeClr val="tx1"/>
                          </a:solidFill>
                          <a:effectLst/>
                          <a:latin typeface="+mn-lt"/>
                          <a:ea typeface="+mn-ea"/>
                          <a:cs typeface="Times New Roman" panose="02020603050405020304" pitchFamily="18" charset="0"/>
                        </a:rPr>
                        <a:t>2022</a:t>
                      </a:r>
                      <a:r>
                        <a:rPr lang="ru-RU" sz="900" b="0" kern="1200" dirty="0">
                          <a:solidFill>
                            <a:schemeClr val="tx1"/>
                          </a:solidFill>
                          <a:effectLst/>
                          <a:latin typeface="+mn-lt"/>
                          <a:ea typeface="+mn-ea"/>
                          <a:cs typeface="Times New Roman" panose="02020603050405020304" pitchFamily="18" charset="0"/>
                        </a:rPr>
                        <a:t> </a:t>
                      </a:r>
                      <a:r>
                        <a:rPr lang="ru-RU" sz="900" b="0" kern="1200" dirty="0" err="1">
                          <a:solidFill>
                            <a:schemeClr val="tx1"/>
                          </a:solidFill>
                          <a:effectLst/>
                          <a:latin typeface="+mn-lt"/>
                          <a:ea typeface="+mn-ea"/>
                          <a:cs typeface="Times New Roman" panose="02020603050405020304" pitchFamily="18" charset="0"/>
                        </a:rPr>
                        <a:t>йил</a:t>
                      </a:r>
                      <a:r>
                        <a:rPr lang="uz-Cyrl-UZ" sz="900" b="0" kern="1200" dirty="0">
                          <a:solidFill>
                            <a:schemeClr val="tx1"/>
                          </a:solidFill>
                          <a:effectLst/>
                          <a:latin typeface="+mn-lt"/>
                          <a:ea typeface="+mn-ea"/>
                          <a:cs typeface="Times New Roman" panose="02020603050405020304" pitchFamily="18" charset="0"/>
                        </a:rPr>
                        <a:t> Алишер Навоий номли Ўзбекистон давлат опера ва балет театри  вокал бўйича репетитори </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359034">
                <a:tc>
                  <a:txBody>
                    <a:bodyPr/>
                    <a:lstStyle/>
                    <a:p>
                      <a:pPr algn="l">
                        <a:lnSpc>
                          <a:spcPct val="85000"/>
                        </a:lnSpc>
                      </a:pPr>
                      <a:r>
                        <a:rPr lang="uz-Cyrl-UZ" sz="900" b="1" i="0" noProof="0" dirty="0">
                          <a:solidFill>
                            <a:schemeClr val="tx1"/>
                          </a:solidFill>
                          <a:latin typeface="+mn-lt"/>
                          <a:cs typeface="Times New Roman" panose="02020603050405020304" pitchFamily="18" charset="0"/>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Times New Roman" panose="02020603050405020304" pitchFamily="18" charset="0"/>
                        </a:rPr>
                        <a:t>Й</a:t>
                      </a:r>
                      <a:r>
                        <a:rPr lang="ru-RU" sz="900" b="0" kern="1200" noProof="0" dirty="0" err="1">
                          <a:solidFill>
                            <a:schemeClr val="tx1"/>
                          </a:solidFill>
                          <a:latin typeface="+mn-lt"/>
                          <a:ea typeface="+mn-ea"/>
                          <a:cs typeface="Times New Roman" panose="02020603050405020304" pitchFamily="18" charset="0"/>
                        </a:rPr>
                        <a:t>ўқ</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33122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b="0" noProof="0" dirty="0">
                          <a:effectLst/>
                          <a:latin typeface="+mn-lt"/>
                          <a:ea typeface="Calibri" panose="020F0502020204030204" pitchFamily="34" charset="0"/>
                          <a:cs typeface="Times New Roman" panose="02020603050405020304" pitchFamily="18" charset="0"/>
                        </a:rPr>
                        <a:t>46</a:t>
                      </a:r>
                      <a:r>
                        <a:rPr lang="uz-Cyrl-UZ" sz="900" b="0" noProof="0" dirty="0">
                          <a:effectLst/>
                          <a:latin typeface="+mn-lt"/>
                          <a:ea typeface="Calibri" panose="020F0502020204030204" pitchFamily="34" charset="0"/>
                          <a:cs typeface="Times New Roman" panose="02020603050405020304" pitchFamily="18" charset="0"/>
                        </a:rPr>
                        <a:t>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6498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73436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4375">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3122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50258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3122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90873">
                <a:tc gridSpan="2">
                  <a:txBody>
                    <a:bodyPr/>
                    <a:lstStyle/>
                    <a:p>
                      <a:pPr algn="ctr"/>
                      <a:r>
                        <a:rPr lang="uz-Cyrl-UZ" sz="9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712407">
                <a:tc gridSpan="2">
                  <a:txBody>
                    <a:bodyPr/>
                    <a:lstStyle/>
                    <a:p>
                      <a:pPr algn="just"/>
                      <a:r>
                        <a:rPr lang="uz-Cyrl-UZ" sz="900" kern="1200" dirty="0">
                          <a:solidFill>
                            <a:schemeClr val="tx1"/>
                          </a:solidFill>
                          <a:effectLst/>
                          <a:latin typeface="+mn-lt"/>
                          <a:ea typeface="+mn-ea"/>
                          <a:cs typeface="Times New Roman" panose="02020603050405020304" pitchFamily="18" charset="0"/>
                        </a:rPr>
                        <a:t>1992 йил, - “Ўзбекистон Республикасида хизмат кўрсатган артист” фахрий унвони</a:t>
                      </a:r>
                      <a:endParaRPr lang="en-US" sz="900" kern="1200" dirty="0">
                        <a:solidFill>
                          <a:schemeClr val="tx1"/>
                        </a:solidFill>
                        <a:effectLst/>
                        <a:latin typeface="+mn-lt"/>
                        <a:ea typeface="+mn-ea"/>
                        <a:cs typeface="Times New Roman" panose="02020603050405020304" pitchFamily="18"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uz-Cyrl-UZ" sz="900" kern="1200" dirty="0">
                          <a:solidFill>
                            <a:schemeClr val="tx1"/>
                          </a:solidFill>
                          <a:effectLst/>
                          <a:latin typeface="+mn-lt"/>
                          <a:ea typeface="+mn-ea"/>
                          <a:cs typeface="Times New Roman" panose="02020603050405020304" pitchFamily="18" charset="0"/>
                        </a:rPr>
                        <a:t>2023 йил – “Шуҳрат” медали соҳиби</a:t>
                      </a:r>
                      <a:endParaRPr lang="ru-RU" sz="900" kern="1200" dirty="0">
                        <a:solidFill>
                          <a:schemeClr val="tx1"/>
                        </a:solidFill>
                        <a:effectLst/>
                        <a:latin typeface="+mn-lt"/>
                        <a:ea typeface="+mn-ea"/>
                        <a:cs typeface="Times New Roman" panose="02020603050405020304" pitchFamily="18" charset="0"/>
                      </a:endParaRPr>
                    </a:p>
                    <a:p>
                      <a:endParaRPr lang="ru-RU" sz="18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297522814"/>
              </p:ext>
            </p:extLst>
          </p:nvPr>
        </p:nvGraphicFramePr>
        <p:xfrm>
          <a:off x="6927586" y="869284"/>
          <a:ext cx="2833925" cy="5926761"/>
        </p:xfrm>
        <a:graphic>
          <a:graphicData uri="http://schemas.openxmlformats.org/drawingml/2006/table">
            <a:tbl>
              <a:tblPr firstRow="1" bandRow="1">
                <a:tableStyleId>{C083E6E3-FA7D-4D7B-A595-EF9225AFEA82}</a:tableStyleId>
              </a:tblPr>
              <a:tblGrid>
                <a:gridCol w="2833925">
                  <a:extLst>
                    <a:ext uri="{9D8B030D-6E8A-4147-A177-3AD203B41FA5}">
                      <a16:colId xmlns:a16="http://schemas.microsoft.com/office/drawing/2014/main" val="2715609854"/>
                    </a:ext>
                  </a:extLst>
                </a:gridCol>
              </a:tblGrid>
              <a:tr h="153401">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22597">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3254996">
                <a:tc>
                  <a:txBody>
                    <a:bodyPr/>
                    <a:lstStyle/>
                    <a:p>
                      <a:pPr marL="0" indent="180975" algn="just"/>
                      <a:r>
                        <a:rPr lang="uz-Cyrl-UZ" sz="900" b="0" kern="1200" dirty="0" smtClean="0">
                          <a:solidFill>
                            <a:schemeClr val="tx1"/>
                          </a:solidFill>
                          <a:effectLst/>
                          <a:latin typeface="+mn-lt"/>
                          <a:ea typeface="+mn-ea"/>
                          <a:cs typeface="Times New Roman" panose="02020603050405020304" pitchFamily="18" charset="0"/>
                        </a:rPr>
                        <a:t>Умумий </a:t>
                      </a:r>
                      <a:r>
                        <a:rPr lang="uz-Cyrl-UZ" sz="900" b="0" kern="1200" dirty="0">
                          <a:solidFill>
                            <a:schemeClr val="tx1"/>
                          </a:solidFill>
                          <a:effectLst/>
                          <a:latin typeface="+mn-lt"/>
                          <a:ea typeface="+mn-ea"/>
                          <a:cs typeface="Times New Roman" panose="02020603050405020304" pitchFamily="18" charset="0"/>
                        </a:rPr>
                        <a:t>меҳнат стажи 37 йил. Ушбу театрда 1987- 2005  йиллар мобайнида фаолият юритган, 2022 йил август ойидан  вокал бўйича репетитор сифатида ёш опера хонандаларини  тарбиялашда  фаол меҳнат  қилмоқда.</a:t>
                      </a:r>
                      <a:endParaRPr lang="ru-RU" sz="900" b="0" kern="1200" dirty="0">
                        <a:solidFill>
                          <a:schemeClr val="tx1"/>
                        </a:solidFill>
                        <a:effectLst/>
                        <a:latin typeface="+mn-lt"/>
                        <a:ea typeface="+mn-ea"/>
                        <a:cs typeface="Times New Roman" panose="02020603050405020304" pitchFamily="18" charset="0"/>
                      </a:endParaRPr>
                    </a:p>
                    <a:p>
                      <a:pPr marL="0" indent="180975" algn="just"/>
                      <a:r>
                        <a:rPr lang="uz-Cyrl-UZ" sz="900" b="0" kern="1200" dirty="0" smtClean="0">
                          <a:solidFill>
                            <a:schemeClr val="tx1"/>
                          </a:solidFill>
                          <a:effectLst/>
                          <a:latin typeface="+mn-lt"/>
                          <a:ea typeface="+mn-ea"/>
                          <a:cs typeface="Times New Roman" panose="02020603050405020304" pitchFamily="18" charset="0"/>
                        </a:rPr>
                        <a:t> </a:t>
                      </a:r>
                      <a:r>
                        <a:rPr lang="uz-Cyrl-UZ" sz="900" b="0" kern="1200" dirty="0">
                          <a:solidFill>
                            <a:schemeClr val="tx1"/>
                          </a:solidFill>
                          <a:effectLst/>
                          <a:latin typeface="+mn-lt"/>
                          <a:ea typeface="+mn-ea"/>
                          <a:cs typeface="Times New Roman" panose="02020603050405020304" pitchFamily="18" charset="0"/>
                        </a:rPr>
                        <a:t>Меҳнат фаолияти давомида Х.Абдикадиров ўз соҳасининг танилган опера хонандаси ва устози сифатида 1988 – 1992 йилларда Тошкент шаҳридаги Н.Островский номидаги театр ва рассомчилик институтида, 1992 – 2004 йилларда Ўзбекистон давлат консерваториясида вокал санъатидан дарс берган. Шунингдек, у кўплаб хорижий давлатлар  томонидан  нуфузли консерваторияларига ишга таклиф этилган. Жумладан,   2004 – 2020 йилларда Хитой Халқ Республикасининг  Урумчи шаҳридаги Санъат институтида ва шу шаҳарнинг Опера академиясида сабоқ берган ва профессор унвонига сазовор бўлган.</a:t>
                      </a:r>
                      <a:endParaRPr lang="ru-RU" sz="900" b="0" kern="1200" dirty="0">
                        <a:solidFill>
                          <a:schemeClr val="tx1"/>
                        </a:solidFill>
                        <a:effectLst/>
                        <a:latin typeface="+mn-lt"/>
                        <a:ea typeface="+mn-ea"/>
                        <a:cs typeface="Times New Roman" panose="02020603050405020304" pitchFamily="18" charset="0"/>
                      </a:endParaRPr>
                    </a:p>
                    <a:p>
                      <a:pPr marL="0" indent="180975" algn="just"/>
                      <a:r>
                        <a:rPr lang="uz-Cyrl-UZ" sz="900" b="0" kern="1200" dirty="0">
                          <a:solidFill>
                            <a:schemeClr val="tx1"/>
                          </a:solidFill>
                          <a:effectLst/>
                          <a:latin typeface="+mn-lt"/>
                          <a:ea typeface="+mn-ea"/>
                          <a:cs typeface="Times New Roman" panose="02020603050405020304" pitchFamily="18" charset="0"/>
                        </a:rPr>
                        <a:t>          2008 йилда Хитой Халқ ҳукуматининг “Tian Shan award” юксак мукофоти билан тақдирланган. </a:t>
                      </a:r>
                      <a:endParaRPr lang="ru-RU" sz="900" b="0" kern="1200" dirty="0">
                        <a:solidFill>
                          <a:schemeClr val="tx1"/>
                        </a:solidFill>
                        <a:effectLst/>
                        <a:latin typeface="+mn-lt"/>
                        <a:ea typeface="+mn-ea"/>
                        <a:cs typeface="Times New Roman" panose="02020603050405020304" pitchFamily="18" charset="0"/>
                      </a:endParaRPr>
                    </a:p>
                    <a:p>
                      <a:pPr marL="0" indent="180975" algn="just"/>
                      <a:r>
                        <a:rPr lang="uz-Cyrl-UZ" sz="900" b="0" kern="1200" dirty="0">
                          <a:solidFill>
                            <a:schemeClr val="tx1"/>
                          </a:solidFill>
                          <a:effectLst/>
                          <a:latin typeface="+mn-lt"/>
                          <a:ea typeface="+mn-ea"/>
                          <a:cs typeface="Times New Roman" panose="02020603050405020304" pitchFamily="18" charset="0"/>
                        </a:rPr>
                        <a:t>Ўзбекистон Республикаси  Президентининг 2021 йил 27 декабрдаги “Опера ва балет санъатини янада ривожлантириш чора-тадбирлари тўғрисида”ги ПҚ-64-сон қарорининг 1-иловаси ҳамда Ўзбекистон Республикаси Маданият вазирлигининг 28.02.2022 йилдаги 63-сонли буйруғига мувофиқ театрда опера ва балет санъатида амалий кўникма ва зарур маҳоратга эга бўлган кадрларни тайёрлаш мақсадида “устоз-шогирд” анъаналари асосида ташкил этилган  маҳорат мактаби устозларининг таркибига ҳам Х.Абдикадиров тажрибали устоз сифатида киритилган.</a:t>
                      </a:r>
                      <a:endParaRPr lang="ru-RU" sz="900" b="0" kern="1200" dirty="0">
                        <a:solidFill>
                          <a:schemeClr val="tx1"/>
                        </a:solidFill>
                        <a:effectLst/>
                        <a:latin typeface="+mn-lt"/>
                        <a:ea typeface="+mn-ea"/>
                        <a:cs typeface="Times New Roman" panose="02020603050405020304" pitchFamily="18" charset="0"/>
                      </a:endParaRPr>
                    </a:p>
                    <a:p>
                      <a:pPr marL="0" indent="180975" algn="just"/>
                      <a:r>
                        <a:rPr lang="uz-Cyrl-UZ" sz="900" b="0" kern="1200" dirty="0">
                          <a:solidFill>
                            <a:schemeClr val="tx1"/>
                          </a:solidFill>
                          <a:effectLst/>
                          <a:latin typeface="+mn-lt"/>
                          <a:ea typeface="+mn-ea"/>
                          <a:cs typeface="Times New Roman" panose="02020603050405020304" pitchFamily="18" charset="0"/>
                        </a:rPr>
                        <a:t>        Ўз касбининг фидойиси, билим ва кўникмаларини ёш опера солистларига  ўргатиб келаётган тажрибали ижодкор сифатида жамоа орасида алоҳида ҳурматга сазовор.</a:t>
                      </a:r>
                      <a:endParaRPr lang="ru-RU" sz="900" b="0" kern="1200" dirty="0">
                        <a:solidFill>
                          <a:schemeClr val="tx1"/>
                        </a:solidFill>
                        <a:effectLst/>
                        <a:latin typeface="+mn-lt"/>
                        <a:ea typeface="+mn-ea"/>
                        <a:cs typeface="Times New Roman" panose="02020603050405020304" pitchFamily="18" charset="0"/>
                      </a:endParaRPr>
                    </a:p>
                    <a:p>
                      <a:pPr marL="0" indent="180975"/>
                      <a:r>
                        <a:rPr lang="uz-Cyrl-UZ" sz="900" b="1" kern="1200" dirty="0">
                          <a:solidFill>
                            <a:schemeClr val="tx1"/>
                          </a:solidFill>
                          <a:effectLst/>
                          <a:latin typeface="+mn-lt"/>
                          <a:ea typeface="+mn-ea"/>
                          <a:cs typeface="+mn-cs"/>
                        </a:rPr>
                        <a:t> </a:t>
                      </a:r>
                      <a:endParaRPr lang="ru-RU" sz="9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99130">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325677">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9" name="Рисунок 1">
            <a:extLst>
              <a:ext uri="{FF2B5EF4-FFF2-40B4-BE49-F238E27FC236}">
                <a16:creationId xmlns:a16="http://schemas.microsoft.com/office/drawing/2014/main" id="{2142BE5B-04EB-BD22-A398-729E5294239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1890" y="1107492"/>
            <a:ext cx="902681" cy="1137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18005932"/>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38896" y="865690"/>
          <a:ext cx="3343436" cy="5896154"/>
        </p:xfrm>
        <a:graphic>
          <a:graphicData uri="http://schemas.openxmlformats.org/drawingml/2006/table">
            <a:tbl>
              <a:tblPr firstRow="1" bandRow="1">
                <a:tableStyleId>{C083E6E3-FA7D-4D7B-A595-EF9225AFEA82}</a:tableStyleId>
              </a:tblPr>
              <a:tblGrid>
                <a:gridCol w="638771">
                  <a:extLst>
                    <a:ext uri="{9D8B030D-6E8A-4147-A177-3AD203B41FA5}">
                      <a16:colId xmlns:a16="http://schemas.microsoft.com/office/drawing/2014/main" val="2288412290"/>
                    </a:ext>
                  </a:extLst>
                </a:gridCol>
                <a:gridCol w="375851">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0900">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7869">
                <a:tc rowSpan="6" gridSpan="2">
                  <a:txBody>
                    <a:bodyPr/>
                    <a:lstStyle/>
                    <a:p>
                      <a:pPr algn="l">
                        <a:lnSpc>
                          <a:spcPct val="90000"/>
                        </a:lnSpc>
                      </a:pPr>
                      <a:endParaRPr lang="uz-Cyrl-UZ" sz="500" b="0" dirty="0">
                        <a:latin typeface="+mn-lt"/>
                      </a:endParaRPr>
                    </a:p>
                    <a:p>
                      <a:pPr algn="l">
                        <a:lnSpc>
                          <a:spcPct val="90000"/>
                        </a:lnSpc>
                      </a:pPr>
                      <a:endParaRPr lang="ru-RU" sz="500" b="0" dirty="0">
                        <a:latin typeface="+mn-lt"/>
                      </a:endParaRPr>
                    </a:p>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800" b="1" noProof="0" dirty="0">
                          <a:latin typeface="+mn-lt"/>
                          <a:cs typeface="Times New Roman" panose="02020603050405020304" pitchFamily="18" charset="0"/>
                        </a:rPr>
                        <a:t>Фамилияси:</a:t>
                      </a:r>
                      <a:endParaRPr lang="ru-RU" sz="8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ru-RU" sz="800" b="0" kern="1200" dirty="0" smtClean="0">
                          <a:solidFill>
                            <a:schemeClr val="tx1"/>
                          </a:solidFill>
                          <a:effectLst/>
                          <a:latin typeface="+mn-lt"/>
                          <a:ea typeface="+mn-ea"/>
                          <a:cs typeface="Times New Roman" panose="02020603050405020304" pitchFamily="18" charset="0"/>
                        </a:rPr>
                        <a:t>БАБАДЖАНОВА</a:t>
                      </a:r>
                      <a:endParaRPr lang="ru-RU" sz="800" b="0" kern="1200" dirty="0">
                        <a:solidFill>
                          <a:schemeClr val="tx1"/>
                        </a:solidFill>
                        <a:effectLst/>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557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800" b="1" noProof="0" dirty="0">
                          <a:latin typeface="+mn-lt"/>
                          <a:cs typeface="Times New Roman" panose="02020603050405020304" pitchFamily="18" charset="0"/>
                        </a:rPr>
                        <a:t>Исми:</a:t>
                      </a:r>
                      <a:endParaRPr lang="ru-RU" sz="8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effectLst/>
                          <a:latin typeface="+mn-lt"/>
                          <a:ea typeface="+mn-ea"/>
                          <a:cs typeface="Times New Roman" panose="02020603050405020304" pitchFamily="18" charset="0"/>
                        </a:rPr>
                        <a:t>Амина</a:t>
                      </a:r>
                      <a:endParaRPr lang="uz-Cyrl-UZ" sz="8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557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800" b="1" noProof="0" dirty="0">
                          <a:latin typeface="+mn-lt"/>
                          <a:cs typeface="Times New Roman" panose="02020603050405020304" pitchFamily="18" charset="0"/>
                        </a:rPr>
                        <a:t>Отасининг исми:</a:t>
                      </a:r>
                      <a:endParaRPr lang="ru-RU" sz="8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err="1">
                          <a:solidFill>
                            <a:schemeClr val="tx1"/>
                          </a:solidFill>
                          <a:effectLst/>
                          <a:latin typeface="+mn-lt"/>
                          <a:ea typeface="+mn-ea"/>
                          <a:cs typeface="Times New Roman" panose="02020603050405020304" pitchFamily="18" charset="0"/>
                        </a:rPr>
                        <a:t>Амержоновна</a:t>
                      </a:r>
                      <a:endParaRPr lang="uz-Cyrl-UZ" sz="8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75777">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800" b="1" noProof="0" dirty="0">
                          <a:latin typeface="+mn-lt"/>
                          <a:cs typeface="Times New Roman" panose="02020603050405020304" pitchFamily="18" charset="0"/>
                        </a:rPr>
                        <a:t>Миллати:</a:t>
                      </a:r>
                      <a:endParaRPr lang="ru-RU" sz="800" dirty="0">
                        <a:latin typeface="+mn-lt"/>
                        <a:cs typeface="Times New Roman" panose="02020603050405020304" pitchFamily="18" charset="0"/>
                      </a:endParaRPr>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800" kern="1200" dirty="0">
                          <a:solidFill>
                            <a:schemeClr val="tx1"/>
                          </a:solidFill>
                          <a:effectLst/>
                          <a:latin typeface="+mn-lt"/>
                          <a:ea typeface="+mn-ea"/>
                          <a:cs typeface="Times New Roman" panose="02020603050405020304" pitchFamily="18" charset="0"/>
                        </a:rPr>
                        <a:t>ТАТАР</a:t>
                      </a:r>
                      <a:endParaRPr lang="ru-RU" sz="8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557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800" b="1" noProof="0" dirty="0">
                          <a:latin typeface="+mn-lt"/>
                          <a:cs typeface="Times New Roman" panose="02020603050405020304" pitchFamily="18" charset="0"/>
                        </a:rPr>
                        <a:t>Туғилган санаси:</a:t>
                      </a:r>
                      <a:endParaRPr lang="ru-RU" sz="8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kern="1200" dirty="0">
                          <a:solidFill>
                            <a:schemeClr val="tx1"/>
                          </a:solidFill>
                          <a:effectLst/>
                          <a:latin typeface="+mn-lt"/>
                          <a:ea typeface="+mn-ea"/>
                          <a:cs typeface="Times New Roman" panose="02020603050405020304" pitchFamily="18" charset="0"/>
                        </a:rPr>
                        <a:t>27.12.1976</a:t>
                      </a:r>
                      <a:endParaRPr lang="ru-RU" sz="8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9622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800" b="1" noProof="0" dirty="0">
                          <a:latin typeface="+mn-lt"/>
                          <a:cs typeface="Times New Roman" panose="02020603050405020304" pitchFamily="18" charset="0"/>
                        </a:rPr>
                        <a:t>Туғилган жойи:</a:t>
                      </a:r>
                      <a:endParaRPr lang="ru-RU" sz="8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kern="1200" dirty="0">
                          <a:solidFill>
                            <a:schemeClr val="tx1"/>
                          </a:solidFill>
                          <a:effectLst/>
                          <a:latin typeface="+mn-lt"/>
                          <a:ea typeface="+mn-ea"/>
                          <a:cs typeface="Times New Roman" panose="02020603050405020304" pitchFamily="18" charset="0"/>
                        </a:rPr>
                        <a:t>Фрунзе шахар, Кирғизистон</a:t>
                      </a:r>
                      <a:endParaRPr lang="uz-Cyrl-UZ" sz="8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8605">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28650">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cs typeface="Times New Roman" panose="02020603050405020304" pitchFamily="18" charset="0"/>
                        </a:rPr>
                        <a:t>Оилавий ва ижтимоий ахволи:</a:t>
                      </a:r>
                      <a:endParaRPr lang="uz-Cyrl-UZ" sz="900" b="1" dirty="0">
                        <a:solidFill>
                          <a:schemeClr val="bg1"/>
                        </a:solidFill>
                        <a:latin typeface="+mn-lt"/>
                        <a:cs typeface="Times New Roman" panose="02020603050405020304" pitchFamily="18"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algn="ctr"/>
                      <a:r>
                        <a:rPr lang="uz-Cyrl-UZ" sz="900" b="0" kern="1200" dirty="0" smtClean="0">
                          <a:solidFill>
                            <a:schemeClr val="tx1"/>
                          </a:solidFill>
                          <a:effectLst/>
                          <a:latin typeface="+mn-lt"/>
                          <a:ea typeface="+mn-ea"/>
                          <a:cs typeface="Times New Roman" panose="02020603050405020304" pitchFamily="18" charset="0"/>
                        </a:rPr>
                        <a:t>Турмушга чиқмаган</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8605">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705281">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a:solidFill>
                            <a:schemeClr val="tx1"/>
                          </a:solidFill>
                          <a:effectLst/>
                          <a:latin typeface="+mn-lt"/>
                          <a:ea typeface="+mn-ea"/>
                          <a:cs typeface="Times New Roman" panose="02020603050405020304" pitchFamily="18" charset="0"/>
                        </a:rPr>
                        <a:t>Бабаджанов Амержон Нигматуллаевич,</a:t>
                      </a:r>
                    </a:p>
                    <a:p>
                      <a:r>
                        <a:rPr lang="uz-Cyrl-UZ" sz="900" kern="1200" dirty="0">
                          <a:solidFill>
                            <a:schemeClr val="tx1"/>
                          </a:solidFill>
                          <a:effectLst/>
                          <a:latin typeface="+mn-lt"/>
                          <a:ea typeface="+mn-ea"/>
                          <a:cs typeface="Times New Roman" panose="02020603050405020304" pitchFamily="18" charset="0"/>
                        </a:rPr>
                        <a:t>1955й,</a:t>
                      </a:r>
                      <a:endParaRPr lang="ru-RU" sz="900" kern="1200" dirty="0">
                        <a:solidFill>
                          <a:schemeClr val="tx1"/>
                        </a:solidFill>
                        <a:effectLst/>
                        <a:latin typeface="+mn-lt"/>
                        <a:ea typeface="+mn-ea"/>
                        <a:cs typeface="Times New Roman" panose="02020603050405020304" pitchFamily="18" charset="0"/>
                      </a:endParaRPr>
                    </a:p>
                    <a:p>
                      <a:r>
                        <a:rPr lang="uz-Cyrl-UZ" sz="900" kern="1200" dirty="0">
                          <a:solidFill>
                            <a:schemeClr val="tx1"/>
                          </a:solidFill>
                          <a:effectLst/>
                          <a:latin typeface="+mn-lt"/>
                          <a:ea typeface="+mn-ea"/>
                          <a:cs typeface="Times New Roman" panose="02020603050405020304" pitchFamily="18" charset="0"/>
                        </a:rPr>
                        <a:t>Наманган шаҳри</a:t>
                      </a:r>
                      <a:endParaRPr lang="ru-RU" sz="900" kern="1200" dirty="0">
                        <a:solidFill>
                          <a:schemeClr val="tx1"/>
                        </a:solidFill>
                        <a:effectLst/>
                        <a:latin typeface="+mn-lt"/>
                        <a:ea typeface="+mn-ea"/>
                        <a:cs typeface="Times New Roman" panose="02020603050405020304" pitchFamily="18" charset="0"/>
                      </a:endParaRPr>
                    </a:p>
                    <a:p>
                      <a:pPr algn="l">
                        <a:lnSpc>
                          <a:spcPct val="85000"/>
                        </a:lnSpc>
                      </a:pP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a:solidFill>
                            <a:schemeClr val="tx1"/>
                          </a:solidFill>
                          <a:effectLst/>
                          <a:latin typeface="+mn-lt"/>
                          <a:ea typeface="+mn-ea"/>
                          <a:cs typeface="Times New Roman" panose="02020603050405020304" pitchFamily="18" charset="0"/>
                        </a:rPr>
                        <a:t>Маълумот йук</a:t>
                      </a:r>
                      <a:endParaRPr lang="ru-RU" sz="900" kern="1200" dirty="0">
                        <a:solidFill>
                          <a:schemeClr val="tx1"/>
                        </a:solidFill>
                        <a:effectLst/>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705281">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a:solidFill>
                            <a:schemeClr val="tx1"/>
                          </a:solidFill>
                          <a:effectLst/>
                          <a:latin typeface="+mn-lt"/>
                          <a:ea typeface="+mn-ea"/>
                          <a:cs typeface="Times New Roman" panose="02020603050405020304" pitchFamily="18" charset="0"/>
                        </a:rPr>
                        <a:t>Ахмаджанова Дамира Хусаиновна,</a:t>
                      </a:r>
                    </a:p>
                    <a:p>
                      <a:r>
                        <a:rPr lang="uz-Cyrl-UZ" sz="900" kern="1200" dirty="0">
                          <a:solidFill>
                            <a:schemeClr val="tx1"/>
                          </a:solidFill>
                          <a:effectLst/>
                          <a:latin typeface="+mn-lt"/>
                          <a:ea typeface="+mn-ea"/>
                          <a:cs typeface="Times New Roman" panose="02020603050405020304" pitchFamily="18" charset="0"/>
                        </a:rPr>
                        <a:t>1956 йил,</a:t>
                      </a:r>
                      <a:endParaRPr lang="ru-RU" sz="900" kern="1200" dirty="0">
                        <a:solidFill>
                          <a:schemeClr val="tx1"/>
                        </a:solidFill>
                        <a:effectLst/>
                        <a:latin typeface="+mn-lt"/>
                        <a:ea typeface="+mn-ea"/>
                        <a:cs typeface="Times New Roman" panose="02020603050405020304" pitchFamily="18" charset="0"/>
                      </a:endParaRPr>
                    </a:p>
                    <a:p>
                      <a:r>
                        <a:rPr lang="uz-Cyrl-UZ" sz="900" kern="1200" dirty="0">
                          <a:solidFill>
                            <a:schemeClr val="tx1"/>
                          </a:solidFill>
                          <a:effectLst/>
                          <a:latin typeface="+mn-lt"/>
                          <a:ea typeface="+mn-ea"/>
                          <a:cs typeface="Times New Roman" panose="02020603050405020304" pitchFamily="18" charset="0"/>
                        </a:rPr>
                        <a:t>Наманган шаҳри</a:t>
                      </a:r>
                      <a:endParaRPr lang="ru-RU" sz="900" kern="1200" dirty="0">
                        <a:solidFill>
                          <a:schemeClr val="tx1"/>
                        </a:solidFill>
                        <a:effectLst/>
                        <a:latin typeface="+mn-lt"/>
                        <a:ea typeface="+mn-ea"/>
                        <a:cs typeface="Times New Roman" panose="02020603050405020304" pitchFamily="18" charset="0"/>
                      </a:endParaRPr>
                    </a:p>
                    <a:p>
                      <a:pPr algn="l">
                        <a:lnSpc>
                          <a:spcPct val="85000"/>
                        </a:lnSpc>
                      </a:pP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a:solidFill>
                            <a:schemeClr val="tx1"/>
                          </a:solidFill>
                          <a:effectLst/>
                          <a:latin typeface="+mn-lt"/>
                          <a:ea typeface="+mn-ea"/>
                          <a:cs typeface="Times New Roman" panose="02020603050405020304" pitchFamily="18" charset="0"/>
                        </a:rPr>
                        <a:t>Пенсияда</a:t>
                      </a:r>
                      <a:endParaRPr lang="ru-RU" sz="900" kern="1200" dirty="0">
                        <a:solidFill>
                          <a:schemeClr val="tx1"/>
                        </a:solidFill>
                        <a:effectLst/>
                        <a:latin typeface="+mn-lt"/>
                        <a:ea typeface="+mn-ea"/>
                        <a:cs typeface="Times New Roman" panose="02020603050405020304" pitchFamily="18" charset="0"/>
                      </a:endParaRPr>
                    </a:p>
                    <a:p>
                      <a:r>
                        <a:rPr lang="uz-Cyrl-UZ" sz="900" kern="1200" dirty="0">
                          <a:solidFill>
                            <a:schemeClr val="tx1"/>
                          </a:solidFill>
                          <a:effectLst/>
                          <a:latin typeface="+mn-lt"/>
                          <a:ea typeface="+mn-ea"/>
                          <a:cs typeface="Times New Roman" panose="02020603050405020304" pitchFamily="18" charset="0"/>
                        </a:rPr>
                        <a:t>(Наманган вилояти, Паб шаҳри, боғча тарбиячиси)</a:t>
                      </a:r>
                      <a:endParaRPr lang="ru-RU"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311082">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5553">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51552">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Times New Roman" panose="02020603050405020304" pitchFamily="18" charset="0"/>
                        </a:rPr>
                        <a:t>Ўзбекистон Давлат  хореография академияси                                                                               </a:t>
                      </a:r>
                      <a:endParaRPr lang="ru-RU" sz="900" kern="1200" dirty="0">
                        <a:solidFill>
                          <a:schemeClr val="tx1"/>
                        </a:solidFill>
                        <a:effectLst/>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3237">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Times New Roman" panose="02020603050405020304" pitchFamily="18" charset="0"/>
                        </a:rPr>
                        <a:t> балет артисти</a:t>
                      </a:r>
                      <a:r>
                        <a:rPr lang="uz-Cyrl-UZ" sz="900" kern="1200" dirty="0">
                          <a:solidFill>
                            <a:schemeClr val="tx1"/>
                          </a:solidFill>
                          <a:effectLst/>
                          <a:latin typeface="+mn-lt"/>
                          <a:ea typeface="+mn-ea"/>
                          <a:cs typeface="Times New Roman" panose="02020603050405020304" pitchFamily="18" charset="0"/>
                        </a:rPr>
                        <a:t>, педагог-хореограф</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1082">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ru-RU" sz="900" b="0" kern="1200" noProof="0" dirty="0" err="1" smtClean="0">
                          <a:solidFill>
                            <a:schemeClr val="tx1"/>
                          </a:solidFill>
                          <a:latin typeface="+mn-lt"/>
                          <a:ea typeface="+mn-ea"/>
                          <a:cs typeface="Times New Roman" panose="02020603050405020304" pitchFamily="18" charset="0"/>
                        </a:rPr>
                        <a:t>Йўқ</a:t>
                      </a:r>
                      <a:endParaRPr lang="ru-RU" sz="900" b="0" kern="1200" noProof="0" dirty="0" smtClean="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1082">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Times New Roman" panose="02020603050405020304" pitchFamily="18" charset="0"/>
                        </a:rPr>
                        <a:t>рус тили</a:t>
                      </a:r>
                      <a:endParaRPr lang="ru-RU" sz="9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2865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Times New Roman" panose="02020603050405020304" pitchFamily="18" charset="0"/>
                        </a:rPr>
                        <a:t>Йўқ</a:t>
                      </a:r>
                      <a:endParaRPr lang="ru-RU"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594993" y="865690"/>
          <a:ext cx="3252374" cy="5896155"/>
        </p:xfrm>
        <a:graphic>
          <a:graphicData uri="http://schemas.openxmlformats.org/drawingml/2006/table">
            <a:tbl>
              <a:tblPr firstRow="1" bandRow="1">
                <a:tableStyleId>{C083E6E3-FA7D-4D7B-A595-EF9225AFEA82}</a:tableStyleId>
              </a:tblPr>
              <a:tblGrid>
                <a:gridCol w="1492504">
                  <a:extLst>
                    <a:ext uri="{9D8B030D-6E8A-4147-A177-3AD203B41FA5}">
                      <a16:colId xmlns:a16="http://schemas.microsoft.com/office/drawing/2014/main" val="2715609854"/>
                    </a:ext>
                  </a:extLst>
                </a:gridCol>
                <a:gridCol w="1759870">
                  <a:extLst>
                    <a:ext uri="{9D8B030D-6E8A-4147-A177-3AD203B41FA5}">
                      <a16:colId xmlns:a16="http://schemas.microsoft.com/office/drawing/2014/main" val="546443978"/>
                    </a:ext>
                  </a:extLst>
                </a:gridCol>
              </a:tblGrid>
              <a:tr h="299225">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774436">
                <a:tc>
                  <a:txBody>
                    <a:bodyPr/>
                    <a:lstStyle/>
                    <a:p>
                      <a:pPr algn="l">
                        <a:lnSpc>
                          <a:spcPct val="85000"/>
                        </a:lnSpc>
                      </a:pPr>
                      <a:r>
                        <a:rPr lang="uz-Cyrl-UZ" sz="900" b="1" i="0" noProof="0" dirty="0">
                          <a:solidFill>
                            <a:schemeClr val="tx1"/>
                          </a:solidFill>
                          <a:latin typeface="Times New Roman" panose="02020603050405020304" pitchFamily="18" charset="0"/>
                          <a:cs typeface="Times New Roman" panose="02020603050405020304" pitchFamily="18" charset="0"/>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800" b="0" kern="1200" dirty="0">
                          <a:solidFill>
                            <a:schemeClr val="tx1"/>
                          </a:solidFill>
                          <a:effectLst/>
                          <a:latin typeface="Times New Roman" panose="02020603050405020304" pitchFamily="18" charset="0"/>
                          <a:ea typeface="+mn-ea"/>
                          <a:cs typeface="Times New Roman" panose="02020603050405020304" pitchFamily="18" charset="0"/>
                        </a:rPr>
                        <a:t>2021 йил, </a:t>
                      </a:r>
                      <a:endParaRPr lang="ru-RU" sz="800" b="0" kern="1200" dirty="0">
                        <a:solidFill>
                          <a:schemeClr val="tx1"/>
                        </a:solidFill>
                        <a:effectLst/>
                        <a:latin typeface="Times New Roman" panose="02020603050405020304" pitchFamily="18" charset="0"/>
                        <a:ea typeface="+mn-ea"/>
                        <a:cs typeface="Times New Roman" panose="02020603050405020304" pitchFamily="18" charset="0"/>
                      </a:endParaRPr>
                    </a:p>
                    <a:p>
                      <a:r>
                        <a:rPr lang="uz-Cyrl-UZ" sz="800" b="0" kern="1200" dirty="0">
                          <a:solidFill>
                            <a:schemeClr val="tx1"/>
                          </a:solidFill>
                          <a:effectLst/>
                          <a:latin typeface="Times New Roman" panose="02020603050405020304" pitchFamily="18" charset="0"/>
                          <a:ea typeface="+mn-ea"/>
                          <a:cs typeface="Times New Roman" panose="02020603050405020304" pitchFamily="18" charset="0"/>
                        </a:rPr>
                        <a:t>Алишер Навоий номидаги Ўзбекистон Давлат академик катта театри балет бўйича репетитор</a:t>
                      </a:r>
                      <a:endParaRPr lang="ru-RU" sz="800" b="0" kern="1200" dirty="0">
                        <a:solidFill>
                          <a:schemeClr val="tx1"/>
                        </a:solidFill>
                        <a:effectLst/>
                        <a:latin typeface="Times New Roman" panose="02020603050405020304" pitchFamily="18" charset="0"/>
                        <a:ea typeface="+mn-ea"/>
                        <a:cs typeface="Times New Roman" panose="02020603050405020304" pitchFamily="18" charset="0"/>
                      </a:endParaRPr>
                    </a:p>
                    <a:p>
                      <a:pPr marL="0" indent="0" algn="l">
                        <a:lnSpc>
                          <a:spcPct val="85000"/>
                        </a:lnSpc>
                      </a:pPr>
                      <a:r>
                        <a:rPr lang="uz-Cyrl-UZ" sz="800" b="0" kern="1200" dirty="0">
                          <a:solidFill>
                            <a:schemeClr val="tx1"/>
                          </a:solidFill>
                          <a:effectLst/>
                          <a:latin typeface="Times New Roman" panose="02020603050405020304" pitchFamily="18" charset="0"/>
                          <a:ea typeface="+mn-ea"/>
                          <a:cs typeface="Times New Roman" panose="02020603050405020304" pitchFamily="18" charset="0"/>
                        </a:rPr>
                        <a:t> </a:t>
                      </a:r>
                      <a:endParaRPr lang="uz-Cyrl-UZ"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22092">
                <a:tc>
                  <a:txBody>
                    <a:bodyPr/>
                    <a:lstStyle/>
                    <a:p>
                      <a:pPr algn="l">
                        <a:lnSpc>
                          <a:spcPct val="85000"/>
                        </a:lnSpc>
                      </a:pPr>
                      <a:r>
                        <a:rPr lang="uz-Cyrl-UZ" sz="900" b="1" i="0" noProof="0" dirty="0">
                          <a:solidFill>
                            <a:schemeClr val="tx1"/>
                          </a:solidFill>
                          <a:latin typeface="Times New Roman" panose="02020603050405020304" pitchFamily="18" charset="0"/>
                          <a:cs typeface="Times New Roman" panose="02020603050405020304" pitchFamily="18" charset="0"/>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800" b="0" kern="1200" noProof="0" dirty="0">
                          <a:solidFill>
                            <a:schemeClr val="tx1"/>
                          </a:solidFill>
                          <a:latin typeface="Times New Roman" panose="02020603050405020304" pitchFamily="18" charset="0"/>
                          <a:ea typeface="+mn-ea"/>
                          <a:cs typeface="Times New Roman" panose="02020603050405020304" pitchFamily="18" charset="0"/>
                        </a:rPr>
                        <a:t>Й</a:t>
                      </a:r>
                      <a:r>
                        <a:rPr lang="ru-RU" sz="800" b="0" kern="1200" noProof="0" dirty="0" err="1">
                          <a:solidFill>
                            <a:schemeClr val="tx1"/>
                          </a:solidFill>
                          <a:latin typeface="Times New Roman" panose="02020603050405020304" pitchFamily="18" charset="0"/>
                          <a:ea typeface="+mn-ea"/>
                          <a:cs typeface="Times New Roman" panose="02020603050405020304" pitchFamily="18" charset="0"/>
                        </a:rPr>
                        <a:t>ўқ</a:t>
                      </a:r>
                      <a:endParaRPr lang="uz-Cyrl-UZ"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89035">
                <a:tc>
                  <a:txBody>
                    <a:bodyPr/>
                    <a:lstStyle/>
                    <a:p>
                      <a:pPr algn="l">
                        <a:lnSpc>
                          <a:spcPct val="107000"/>
                        </a:lnSpc>
                        <a:spcAft>
                          <a:spcPts val="0"/>
                        </a:spcAft>
                      </a:pPr>
                      <a:r>
                        <a:rPr lang="uz-Cyrl-UZ" sz="900" b="1" i="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800" b="0" noProof="0" dirty="0">
                          <a:effectLst/>
                          <a:latin typeface="Times New Roman" panose="02020603050405020304" pitchFamily="18" charset="0"/>
                          <a:ea typeface="Calibri" panose="020F0502020204030204" pitchFamily="34" charset="0"/>
                          <a:cs typeface="Times New Roman" panose="02020603050405020304" pitchFamily="18" charset="0"/>
                        </a:rPr>
                        <a:t>30</a:t>
                      </a:r>
                      <a:r>
                        <a:rPr lang="uz-Cyrl-UZ" sz="800" b="0" noProof="0" dirty="0">
                          <a:effectLst/>
                          <a:latin typeface="Times New Roman" panose="02020603050405020304" pitchFamily="18" charset="0"/>
                          <a:ea typeface="Calibri" panose="020F0502020204030204" pitchFamily="34" charset="0"/>
                          <a:cs typeface="Times New Roman" panose="02020603050405020304" pitchFamily="18" charset="0"/>
                        </a:rPr>
                        <a:t>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76057">
                <a:tc>
                  <a:txBody>
                    <a:bodyPr/>
                    <a:lstStyle/>
                    <a:p>
                      <a:pPr algn="l">
                        <a:lnSpc>
                          <a:spcPct val="107000"/>
                        </a:lnSpc>
                        <a:spcAft>
                          <a:spcPts val="0"/>
                        </a:spcAft>
                      </a:pPr>
                      <a:r>
                        <a:rPr lang="uz-Cyrl-UZ" sz="900" b="1" i="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800" b="0" noProof="0" dirty="0">
                          <a:effectLst/>
                          <a:latin typeface="Times New Roman" panose="02020603050405020304" pitchFamily="18" charset="0"/>
                          <a:ea typeface="Calibri" panose="020F0502020204030204" pitchFamily="34" charset="0"/>
                          <a:cs typeface="Times New Roman" panose="02020603050405020304" pitchFamily="18" charset="0"/>
                        </a:rPr>
                        <a:t>5</a:t>
                      </a:r>
                      <a:r>
                        <a:rPr lang="uz-Cyrl-UZ" sz="800" b="0" noProof="0" dirty="0">
                          <a:effectLst/>
                          <a:latin typeface="Times New Roman" panose="02020603050405020304" pitchFamily="18" charset="0"/>
                          <a:ea typeface="Calibri" panose="020F0502020204030204" pitchFamily="34" charset="0"/>
                          <a:cs typeface="Times New Roman" panose="02020603050405020304" pitchFamily="18" charset="0"/>
                        </a:rPr>
                        <a:t>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783630">
                <a:tc>
                  <a:txBody>
                    <a:bodyPr/>
                    <a:lstStyle/>
                    <a:p>
                      <a:pPr algn="l">
                        <a:lnSpc>
                          <a:spcPct val="107000"/>
                        </a:lnSpc>
                        <a:spcAft>
                          <a:spcPts val="0"/>
                        </a:spcAft>
                      </a:pPr>
                      <a:r>
                        <a:rPr lang="uz-Cyrl-UZ" sz="900" b="1" i="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b="0" noProof="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59867">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800" b="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30034">
                <a:tc>
                  <a:txBody>
                    <a:bodyPr/>
                    <a:lstStyle/>
                    <a:p>
                      <a:pPr algn="l">
                        <a:lnSpc>
                          <a:spcPct val="107000"/>
                        </a:lnSpc>
                        <a:spcAft>
                          <a:spcPts val="0"/>
                        </a:spcAft>
                      </a:pPr>
                      <a:r>
                        <a:rPr lang="uz-Cyrl-UZ" sz="900" b="1" i="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b="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500775">
                <a:tc>
                  <a:txBody>
                    <a:bodyPr/>
                    <a:lstStyle/>
                    <a:p>
                      <a:pPr algn="l">
                        <a:lnSpc>
                          <a:spcPct val="107000"/>
                        </a:lnSpc>
                        <a:spcAft>
                          <a:spcPts val="0"/>
                        </a:spcAft>
                      </a:pPr>
                      <a:r>
                        <a:rPr lang="uz-Cyrl-UZ" sz="900" b="1" i="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30034">
                <a:tc>
                  <a:txBody>
                    <a:bodyPr/>
                    <a:lstStyle/>
                    <a:p>
                      <a:pPr algn="l">
                        <a:lnSpc>
                          <a:spcPct val="107000"/>
                        </a:lnSpc>
                        <a:spcAft>
                          <a:spcPts val="0"/>
                        </a:spcAft>
                      </a:pPr>
                      <a:r>
                        <a:rPr lang="uz-Cyrl-UZ" sz="900" b="1" i="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03678">
                <a:tc gridSpan="2">
                  <a:txBody>
                    <a:bodyPr/>
                    <a:lstStyle/>
                    <a:p>
                      <a:pPr algn="ctr"/>
                      <a:r>
                        <a:rPr lang="uz-Cyrl-UZ" sz="9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827292">
                <a:tc gridSpan="2">
                  <a:txBody>
                    <a:bodyPr/>
                    <a:lstStyle/>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2004 йил,  “Ўзбекистон Республикасида хизмат кўрсатган артист” унвони</a:t>
                      </a:r>
                      <a:r>
                        <a:rPr lang="uz-Cyrl-UZ" sz="800" b="1" kern="1200" dirty="0">
                          <a:solidFill>
                            <a:schemeClr val="tx1"/>
                          </a:solidFill>
                          <a:effectLst/>
                          <a:latin typeface="Times New Roman" panose="02020603050405020304" pitchFamily="18" charset="0"/>
                          <a:ea typeface="+mn-ea"/>
                          <a:cs typeface="Times New Roman" panose="02020603050405020304" pitchFamily="18" charset="0"/>
                        </a:rPr>
                        <a:t> </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uz-Cyrl-UZ" sz="800" b="1" kern="1200" dirty="0">
                          <a:solidFill>
                            <a:schemeClr val="tx1"/>
                          </a:solidFill>
                          <a:effectLst/>
                          <a:latin typeface="Times New Roman" panose="02020603050405020304" pitchFamily="18" charset="0"/>
                          <a:ea typeface="+mn-ea"/>
                          <a:cs typeface="Times New Roman" panose="02020603050405020304" pitchFamily="18" charset="0"/>
                        </a:rPr>
                        <a:t> </a:t>
                      </a:r>
                      <a:r>
                        <a:rPr lang="uz-Cyrl-UZ" sz="800" kern="1200" dirty="0">
                          <a:solidFill>
                            <a:schemeClr val="tx1"/>
                          </a:solidFill>
                          <a:effectLst/>
                          <a:latin typeface="Times New Roman" panose="02020603050405020304" pitchFamily="18" charset="0"/>
                          <a:ea typeface="+mn-ea"/>
                          <a:cs typeface="Times New Roman" panose="02020603050405020304" pitchFamily="18" charset="0"/>
                        </a:rPr>
                        <a:t>2023  йил ,“Маданият ва санъат </a:t>
                      </a:r>
                      <a:r>
                        <a:rPr lang="uz-Cyrl-UZ" sz="800" kern="1200" dirty="0" smtClean="0">
                          <a:solidFill>
                            <a:schemeClr val="tx1"/>
                          </a:solidFill>
                          <a:effectLst/>
                          <a:latin typeface="Times New Roman" panose="02020603050405020304" pitchFamily="18" charset="0"/>
                          <a:ea typeface="+mn-ea"/>
                          <a:cs typeface="Times New Roman" panose="02020603050405020304" pitchFamily="18" charset="0"/>
                        </a:rPr>
                        <a:t>фидокори”кўкрак нишони </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p>
                      <a:endParaRPr lang="ru-RU" sz="800" kern="120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5"/>
          <a:ext cx="2817247" cy="5892559"/>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7974">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9911">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75364">
                <a:tc>
                  <a:txBody>
                    <a:bodyPr/>
                    <a:lstStyle/>
                    <a:p>
                      <a:pPr marL="0" indent="179388" algn="just"/>
                      <a:r>
                        <a:rPr lang="uz-Cyrl-UZ" sz="900" kern="1200" dirty="0" smtClean="0">
                          <a:solidFill>
                            <a:schemeClr val="tx1"/>
                          </a:solidFill>
                          <a:effectLst/>
                          <a:latin typeface="+mn-lt"/>
                          <a:ea typeface="+mn-ea"/>
                          <a:cs typeface="Times New Roman" panose="02020603050405020304" pitchFamily="18" charset="0"/>
                        </a:rPr>
                        <a:t>1995</a:t>
                      </a:r>
                      <a:r>
                        <a:rPr lang="ru-RU" sz="900" kern="1200" dirty="0" smtClean="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йилдан</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буён</a:t>
                      </a:r>
                      <a:r>
                        <a:rPr lang="ru-RU"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Алишер Навоий номидаги </a:t>
                      </a:r>
                      <a:r>
                        <a:rPr lang="uz-Cyrl-UZ" sz="900" kern="1200" dirty="0" smtClean="0">
                          <a:solidFill>
                            <a:schemeClr val="tx1"/>
                          </a:solidFill>
                          <a:effectLst/>
                          <a:latin typeface="+mn-lt"/>
                          <a:ea typeface="+mn-ea"/>
                          <a:cs typeface="Times New Roman" panose="02020603050405020304" pitchFamily="18" charset="0"/>
                        </a:rPr>
                        <a:t>Ўзбекистон</a:t>
                      </a:r>
                      <a:r>
                        <a:rPr lang="uz-Cyrl-UZ" sz="900" kern="1200" baseline="0" dirty="0" smtClean="0">
                          <a:solidFill>
                            <a:schemeClr val="tx1"/>
                          </a:solidFill>
                          <a:effectLst/>
                          <a:latin typeface="+mn-lt"/>
                          <a:ea typeface="+mn-ea"/>
                          <a:cs typeface="Times New Roman" panose="02020603050405020304" pitchFamily="18" charset="0"/>
                        </a:rPr>
                        <a:t> д</a:t>
                      </a:r>
                      <a:r>
                        <a:rPr lang="uz-Cyrl-UZ" sz="900" kern="1200" dirty="0" smtClean="0">
                          <a:solidFill>
                            <a:schemeClr val="tx1"/>
                          </a:solidFill>
                          <a:effectLst/>
                          <a:latin typeface="+mn-lt"/>
                          <a:ea typeface="+mn-ea"/>
                          <a:cs typeface="Times New Roman" panose="02020603050405020304" pitchFamily="18" charset="0"/>
                        </a:rPr>
                        <a:t>авлат </a:t>
                      </a:r>
                      <a:r>
                        <a:rPr lang="uz-Cyrl-UZ" sz="900" kern="1200" dirty="0">
                          <a:solidFill>
                            <a:schemeClr val="tx1"/>
                          </a:solidFill>
                          <a:effectLst/>
                          <a:latin typeface="+mn-lt"/>
                          <a:ea typeface="+mn-ea"/>
                          <a:cs typeface="Times New Roman" panose="02020603050405020304" pitchFamily="18" charset="0"/>
                        </a:rPr>
                        <a:t>а</a:t>
                      </a:r>
                      <a:r>
                        <a:rPr lang="uz-Cyrl-UZ" sz="900" kern="1200" dirty="0" smtClean="0">
                          <a:solidFill>
                            <a:schemeClr val="tx1"/>
                          </a:solidFill>
                          <a:effectLst/>
                          <a:latin typeface="+mn-lt"/>
                          <a:ea typeface="+mn-ea"/>
                          <a:cs typeface="Times New Roman" panose="02020603050405020304" pitchFamily="18" charset="0"/>
                        </a:rPr>
                        <a:t>кадемик </a:t>
                      </a:r>
                      <a:r>
                        <a:rPr lang="uz-Cyrl-UZ" sz="900" kern="1200" dirty="0">
                          <a:solidFill>
                            <a:schemeClr val="tx1"/>
                          </a:solidFill>
                          <a:effectLst/>
                          <a:latin typeface="+mn-lt"/>
                          <a:ea typeface="+mn-ea"/>
                          <a:cs typeface="Times New Roman" panose="02020603050405020304" pitchFamily="18" charset="0"/>
                        </a:rPr>
                        <a:t>к</a:t>
                      </a:r>
                      <a:r>
                        <a:rPr lang="uz-Cyrl-UZ" sz="900" kern="1200" dirty="0" smtClean="0">
                          <a:solidFill>
                            <a:schemeClr val="tx1"/>
                          </a:solidFill>
                          <a:effectLst/>
                          <a:latin typeface="+mn-lt"/>
                          <a:ea typeface="+mn-ea"/>
                          <a:cs typeface="Times New Roman" panose="02020603050405020304" pitchFamily="18" charset="0"/>
                        </a:rPr>
                        <a:t>атта театрида </a:t>
                      </a:r>
                      <a:r>
                        <a:rPr lang="ru-RU" sz="900" kern="1200" dirty="0">
                          <a:solidFill>
                            <a:schemeClr val="tx1"/>
                          </a:solidFill>
                          <a:effectLst/>
                          <a:latin typeface="+mn-lt"/>
                          <a:ea typeface="+mn-ea"/>
                          <a:cs typeface="Times New Roman" panose="02020603050405020304" pitchFamily="18" charset="0"/>
                        </a:rPr>
                        <a:t>балет</a:t>
                      </a:r>
                      <a:r>
                        <a:rPr lang="uz-Cyrl-UZ" sz="900" kern="1200" dirty="0">
                          <a:solidFill>
                            <a:schemeClr val="tx1"/>
                          </a:solidFill>
                          <a:effectLst/>
                          <a:latin typeface="+mn-lt"/>
                          <a:ea typeface="+mn-ea"/>
                          <a:cs typeface="Times New Roman" panose="02020603050405020304" pitchFamily="18" charset="0"/>
                        </a:rPr>
                        <a:t> артисти, 2021 йилдан буён – балет бўйича </a:t>
                      </a:r>
                      <a:r>
                        <a:rPr lang="uz-Cyrl-UZ" sz="900" kern="1200" dirty="0" smtClean="0">
                          <a:solidFill>
                            <a:schemeClr val="tx1"/>
                          </a:solidFill>
                          <a:effectLst/>
                          <a:latin typeface="+mn-lt"/>
                          <a:ea typeface="+mn-ea"/>
                          <a:cs typeface="Times New Roman" panose="02020603050405020304" pitchFamily="18" charset="0"/>
                        </a:rPr>
                        <a:t>репетитор</a:t>
                      </a:r>
                      <a:r>
                        <a:rPr lang="uz-Cyrl-UZ" sz="900" kern="1200" baseline="0" dirty="0" smtClean="0">
                          <a:solidFill>
                            <a:schemeClr val="tx1"/>
                          </a:solidFill>
                          <a:effectLst/>
                          <a:latin typeface="+mn-lt"/>
                          <a:ea typeface="+mn-ea"/>
                          <a:cs typeface="Times New Roman" panose="02020603050405020304" pitchFamily="18" charset="0"/>
                        </a:rPr>
                        <a:t> лавозимларида фаолият юритиб келмоқда.</a:t>
                      </a:r>
                      <a:endParaRPr lang="ru-RU" sz="900" kern="1200" dirty="0">
                        <a:solidFill>
                          <a:schemeClr val="tx1"/>
                        </a:solidFill>
                        <a:effectLst/>
                        <a:latin typeface="+mn-lt"/>
                        <a:ea typeface="+mn-ea"/>
                        <a:cs typeface="Times New Roman" panose="02020603050405020304" pitchFamily="18" charset="0"/>
                      </a:endParaRPr>
                    </a:p>
                    <a:p>
                      <a:pPr marL="0" indent="179388" algn="just"/>
                      <a:r>
                        <a:rPr lang="uz-Cyrl-UZ" sz="900" kern="1200" dirty="0" smtClean="0">
                          <a:solidFill>
                            <a:schemeClr val="tx1"/>
                          </a:solidFill>
                          <a:effectLst/>
                          <a:latin typeface="+mn-lt"/>
                          <a:ea typeface="+mn-ea"/>
                          <a:cs typeface="Times New Roman" panose="02020603050405020304" pitchFamily="18" charset="0"/>
                        </a:rPr>
                        <a:t>У  </a:t>
                      </a:r>
                      <a:r>
                        <a:rPr lang="uz-Cyrl-UZ" sz="900" kern="1200" dirty="0">
                          <a:solidFill>
                            <a:schemeClr val="tx1"/>
                          </a:solidFill>
                          <a:effectLst/>
                          <a:latin typeface="+mn-lt"/>
                          <a:ea typeface="+mn-ea"/>
                          <a:cs typeface="Times New Roman" panose="02020603050405020304" pitchFamily="18" charset="0"/>
                        </a:rPr>
                        <a:t>балет  санъатида  ўз  иқтидорини  ёрқин  намойиш  эта  олган  </a:t>
                      </a:r>
                      <a:r>
                        <a:rPr lang="uz-Cyrl-UZ" sz="900" kern="1200" dirty="0" smtClean="0">
                          <a:solidFill>
                            <a:schemeClr val="tx1"/>
                          </a:solidFill>
                          <a:effectLst/>
                          <a:latin typeface="+mn-lt"/>
                          <a:ea typeface="+mn-ea"/>
                          <a:cs typeface="Times New Roman" panose="02020603050405020304" pitchFamily="18" charset="0"/>
                        </a:rPr>
                        <a:t>етакчи  </a:t>
                      </a:r>
                      <a:r>
                        <a:rPr lang="uz-Cyrl-UZ" sz="900" kern="1200" dirty="0">
                          <a:solidFill>
                            <a:schemeClr val="tx1"/>
                          </a:solidFill>
                          <a:effectLst/>
                          <a:latin typeface="+mn-lt"/>
                          <a:ea typeface="+mn-ea"/>
                          <a:cs typeface="Times New Roman" panose="02020603050405020304" pitchFamily="18" charset="0"/>
                        </a:rPr>
                        <a:t>балет раққосаларидан </a:t>
                      </a:r>
                      <a:r>
                        <a:rPr lang="uz-Cyrl-UZ" sz="900" kern="1200" dirty="0" smtClean="0">
                          <a:solidFill>
                            <a:schemeClr val="tx1"/>
                          </a:solidFill>
                          <a:effectLst/>
                          <a:latin typeface="+mn-lt"/>
                          <a:ea typeface="+mn-ea"/>
                          <a:cs typeface="Times New Roman" panose="02020603050405020304" pitchFamily="18" charset="0"/>
                        </a:rPr>
                        <a:t>ҳисобланган. </a:t>
                      </a:r>
                      <a:r>
                        <a:rPr lang="uz-Cyrl-UZ" sz="900" kern="1200" dirty="0">
                          <a:solidFill>
                            <a:schemeClr val="tx1"/>
                          </a:solidFill>
                          <a:effectLst/>
                          <a:latin typeface="+mn-lt"/>
                          <a:ea typeface="+mn-ea"/>
                          <a:cs typeface="Times New Roman" panose="02020603050405020304" pitchFamily="18" charset="0"/>
                        </a:rPr>
                        <a:t>Катта  театрнинг  балет труппаси таркибида  жаҳоннинг  куплаб  мамлакатларида, жумладан; Таиланд, Малайзия, Япония, Хитой, Сингапур, Туркия, Ҳиндистон  ва  бошқа  мамлакатларда  ижодий  гастороль  сафарларида  фаол  иштрок  этиб  ўз  санъати  билан  мухлислари  олқишига  сазовор  </a:t>
                      </a:r>
                      <a:r>
                        <a:rPr lang="uz-Cyrl-UZ" sz="900" kern="1200" dirty="0" smtClean="0">
                          <a:solidFill>
                            <a:schemeClr val="tx1"/>
                          </a:solidFill>
                          <a:effectLst/>
                          <a:latin typeface="+mn-lt"/>
                          <a:ea typeface="+mn-ea"/>
                          <a:cs typeface="Times New Roman" panose="02020603050405020304" pitchFamily="18" charset="0"/>
                        </a:rPr>
                        <a:t>бўлган санъаткорлардан. Балет  </a:t>
                      </a:r>
                      <a:r>
                        <a:rPr lang="uz-Cyrl-UZ" sz="900" kern="1200" dirty="0">
                          <a:solidFill>
                            <a:schemeClr val="tx1"/>
                          </a:solidFill>
                          <a:effectLst/>
                          <a:latin typeface="+mn-lt"/>
                          <a:ea typeface="+mn-ea"/>
                          <a:cs typeface="Times New Roman" panose="02020603050405020304" pitchFamily="18" charset="0"/>
                        </a:rPr>
                        <a:t>жанридаги  самарали  ижодий  фаолияти  учун  2004  йилда  “Ўзбекистонда  хизмат  кўрсатган  артист” фахрий  унвонига  сазовор  бўлган.  </a:t>
                      </a:r>
                      <a:endParaRPr lang="ru-RU" sz="900" kern="1200" dirty="0">
                        <a:solidFill>
                          <a:schemeClr val="tx1"/>
                        </a:solidFill>
                        <a:effectLst/>
                        <a:latin typeface="+mn-lt"/>
                        <a:ea typeface="+mn-ea"/>
                        <a:cs typeface="Times New Roman" panose="02020603050405020304" pitchFamily="18" charset="0"/>
                      </a:endParaRPr>
                    </a:p>
                    <a:p>
                      <a:pPr marL="0" indent="179388" algn="just"/>
                      <a:r>
                        <a:rPr lang="uz-Cyrl-UZ" sz="900" kern="1200" dirty="0" smtClean="0">
                          <a:solidFill>
                            <a:schemeClr val="tx1"/>
                          </a:solidFill>
                          <a:effectLst/>
                          <a:latin typeface="+mn-lt"/>
                          <a:ea typeface="+mn-ea"/>
                          <a:cs typeface="Times New Roman" panose="02020603050405020304" pitchFamily="18" charset="0"/>
                        </a:rPr>
                        <a:t>А</a:t>
                      </a:r>
                      <a:r>
                        <a:rPr lang="uz-Cyrl-UZ" sz="900" kern="1200" dirty="0">
                          <a:solidFill>
                            <a:schemeClr val="tx1"/>
                          </a:solidFill>
                          <a:effectLst/>
                          <a:latin typeface="+mn-lt"/>
                          <a:ea typeface="+mn-ea"/>
                          <a:cs typeface="Times New Roman" panose="02020603050405020304" pitchFamily="18" charset="0"/>
                        </a:rPr>
                        <a:t>.</a:t>
                      </a:r>
                      <a:r>
                        <a:rPr lang="uz-Cyrl-UZ" sz="900" b="1"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Бабаджанова ўз касбининг фидоийси, юқори </a:t>
                      </a:r>
                      <a:r>
                        <a:rPr lang="uz-Cyrl-UZ" sz="900" kern="1200" dirty="0" smtClean="0">
                          <a:solidFill>
                            <a:schemeClr val="tx1"/>
                          </a:solidFill>
                          <a:effectLst/>
                          <a:latin typeface="+mn-lt"/>
                          <a:ea typeface="+mn-ea"/>
                          <a:cs typeface="Times New Roman" panose="02020603050405020304" pitchFamily="18" charset="0"/>
                        </a:rPr>
                        <a:t>малакали балет</a:t>
                      </a:r>
                      <a:r>
                        <a:rPr lang="uz-Cyrl-UZ" sz="900" kern="1200" baseline="0" dirty="0" smtClean="0">
                          <a:solidFill>
                            <a:schemeClr val="tx1"/>
                          </a:solidFill>
                          <a:effectLst/>
                          <a:latin typeface="+mn-lt"/>
                          <a:ea typeface="+mn-ea"/>
                          <a:cs typeface="Times New Roman" panose="02020603050405020304" pitchFamily="18" charset="0"/>
                        </a:rPr>
                        <a:t> муррабийси сифатида ёш балетчиларнинг </a:t>
                      </a:r>
                      <a:r>
                        <a:rPr lang="uz-Cyrl-UZ" sz="900" kern="1200" dirty="0" smtClean="0">
                          <a:solidFill>
                            <a:schemeClr val="tx1"/>
                          </a:solidFill>
                          <a:effectLst/>
                          <a:latin typeface="+mn-lt"/>
                          <a:ea typeface="+mn-ea"/>
                          <a:cs typeface="Times New Roman" panose="02020603050405020304" pitchFamily="18" charset="0"/>
                        </a:rPr>
                        <a:t> иқтидорини очилишига ва</a:t>
                      </a:r>
                      <a:r>
                        <a:rPr lang="uz-Cyrl-UZ" sz="900" kern="1200" baseline="0" dirty="0" smtClean="0">
                          <a:solidFill>
                            <a:schemeClr val="tx1"/>
                          </a:solidFill>
                          <a:effectLst/>
                          <a:latin typeface="+mn-lt"/>
                          <a:ea typeface="+mn-ea"/>
                          <a:cs typeface="Times New Roman" panose="02020603050405020304" pitchFamily="18" charset="0"/>
                        </a:rPr>
                        <a:t> ривожига ҳисса қўшиб келмоқда. </a:t>
                      </a:r>
                    </a:p>
                    <a:p>
                      <a:pPr marL="0" indent="179388" algn="just"/>
                      <a:r>
                        <a:rPr lang="uz-Cyrl-UZ" sz="900" kern="1200" baseline="0" dirty="0" smtClean="0">
                          <a:solidFill>
                            <a:schemeClr val="tx1"/>
                          </a:solidFill>
                          <a:effectLst/>
                          <a:latin typeface="+mn-lt"/>
                          <a:ea typeface="+mn-ea"/>
                          <a:cs typeface="Times New Roman" panose="02020603050405020304" pitchFamily="18" charset="0"/>
                        </a:rPr>
                        <a:t>К</a:t>
                      </a:r>
                      <a:r>
                        <a:rPr lang="uz-Cyrl-UZ" sz="900" kern="1200" dirty="0" smtClean="0">
                          <a:solidFill>
                            <a:schemeClr val="tx1"/>
                          </a:solidFill>
                          <a:effectLst/>
                          <a:latin typeface="+mn-lt"/>
                          <a:ea typeface="+mn-ea"/>
                          <a:cs typeface="Times New Roman" panose="02020603050405020304" pitchFamily="18" charset="0"/>
                        </a:rPr>
                        <a:t>асбига </a:t>
                      </a:r>
                      <a:r>
                        <a:rPr lang="uz-Cyrl-UZ" sz="900" kern="1200" dirty="0">
                          <a:solidFill>
                            <a:schemeClr val="tx1"/>
                          </a:solidFill>
                          <a:effectLst/>
                          <a:latin typeface="+mn-lt"/>
                          <a:ea typeface="+mn-ea"/>
                          <a:cs typeface="Times New Roman" panose="02020603050405020304" pitchFamily="18" charset="0"/>
                        </a:rPr>
                        <a:t>садоқати, масъулияти, ўзига ва </a:t>
                      </a:r>
                      <a:r>
                        <a:rPr lang="uz-Cyrl-UZ" sz="900" kern="1200" dirty="0" smtClean="0">
                          <a:solidFill>
                            <a:schemeClr val="tx1"/>
                          </a:solidFill>
                          <a:effectLst/>
                          <a:latin typeface="+mn-lt"/>
                          <a:ea typeface="+mn-ea"/>
                          <a:cs typeface="Times New Roman" panose="02020603050405020304" pitchFamily="18" charset="0"/>
                        </a:rPr>
                        <a:t>ёш мутахассиисларга талабчанлиги </a:t>
                      </a:r>
                      <a:r>
                        <a:rPr lang="uz-Cyrl-UZ" sz="900" kern="1200" dirty="0">
                          <a:solidFill>
                            <a:schemeClr val="tx1"/>
                          </a:solidFill>
                          <a:effectLst/>
                          <a:latin typeface="+mn-lt"/>
                          <a:ea typeface="+mn-ea"/>
                          <a:cs typeface="Times New Roman" panose="02020603050405020304" pitchFamily="18" charset="0"/>
                        </a:rPr>
                        <a:t>билан барчага ўрнак бўлиб келмоқда. </a:t>
                      </a:r>
                      <a:endParaRPr lang="ru-RU" sz="900" kern="1200" dirty="0">
                        <a:solidFill>
                          <a:schemeClr val="tx1"/>
                        </a:solidFill>
                        <a:effectLst/>
                        <a:latin typeface="+mn-lt"/>
                        <a:ea typeface="+mn-ea"/>
                        <a:cs typeface="Times New Roman" panose="02020603050405020304" pitchFamily="18" charset="0"/>
                      </a:endParaRPr>
                    </a:p>
                    <a:p>
                      <a:pPr algn="just"/>
                      <a:endParaRPr lang="ru-RU" sz="800" kern="1200" dirty="0">
                        <a:solidFill>
                          <a:schemeClr val="tx1"/>
                        </a:solidFill>
                        <a:effectLst/>
                        <a:latin typeface="+mn-lt"/>
                        <a:ea typeface="+mn-ea"/>
                        <a:cs typeface="Times New Roman" panose="02020603050405020304" pitchFamily="18" charset="0"/>
                      </a:endParaRPr>
                    </a:p>
                    <a:p>
                      <a:pPr algn="just"/>
                      <a:r>
                        <a:rPr lang="uz-Cyrl-UZ" sz="800" b="1" kern="1200" dirty="0">
                          <a:solidFill>
                            <a:schemeClr val="tx1"/>
                          </a:solidFill>
                          <a:effectLst/>
                          <a:latin typeface="+mn-lt"/>
                          <a:ea typeface="+mn-ea"/>
                          <a:cs typeface="Times New Roman" panose="02020603050405020304" pitchFamily="18" charset="0"/>
                        </a:rPr>
                        <a:t> </a:t>
                      </a:r>
                      <a:endParaRPr lang="ru-RU" sz="800" kern="1200" dirty="0">
                        <a:solidFill>
                          <a:schemeClr val="tx1"/>
                        </a:solidFill>
                        <a:effectLst/>
                        <a:latin typeface="+mn-lt"/>
                        <a:ea typeface="+mn-ea"/>
                        <a:cs typeface="Times New Roman" panose="02020603050405020304" pitchFamily="18" charset="0"/>
                      </a:endParaRPr>
                    </a:p>
                    <a:p>
                      <a:pPr algn="just"/>
                      <a:endParaRPr lang="ru-RU" sz="8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2702">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Times New Roman" panose="02020603050405020304" pitchFamily="18"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16608">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Picture 2">
            <a:extLst>
              <a:ext uri="{FF2B5EF4-FFF2-40B4-BE49-F238E27FC236}">
                <a16:creationId xmlns:a16="http://schemas.microsoft.com/office/drawing/2014/main" id="{4ABC7807-A28D-6636-5713-27DA21BA3436}"/>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51557" y="1174110"/>
            <a:ext cx="808122" cy="113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16836721"/>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90" y="865703"/>
          <a:ext cx="3308012" cy="5929206"/>
        </p:xfrm>
        <a:graphic>
          <a:graphicData uri="http://schemas.openxmlformats.org/drawingml/2006/table">
            <a:tbl>
              <a:tblPr firstRow="1" bandRow="1">
                <a:tableStyleId>{C083E6E3-FA7D-4D7B-A595-EF9225AFEA82}</a:tableStyleId>
              </a:tblPr>
              <a:tblGrid>
                <a:gridCol w="574433">
                  <a:extLst>
                    <a:ext uri="{9D8B030D-6E8A-4147-A177-3AD203B41FA5}">
                      <a16:colId xmlns:a16="http://schemas.microsoft.com/office/drawing/2014/main" val="2288412290"/>
                    </a:ext>
                  </a:extLst>
                </a:gridCol>
                <a:gridCol w="485982">
                  <a:extLst>
                    <a:ext uri="{9D8B030D-6E8A-4147-A177-3AD203B41FA5}">
                      <a16:colId xmlns:a16="http://schemas.microsoft.com/office/drawing/2014/main" val="1678982439"/>
                    </a:ext>
                  </a:extLst>
                </a:gridCol>
                <a:gridCol w="367521">
                  <a:extLst>
                    <a:ext uri="{9D8B030D-6E8A-4147-A177-3AD203B41FA5}">
                      <a16:colId xmlns:a16="http://schemas.microsoft.com/office/drawing/2014/main" val="2721661767"/>
                    </a:ext>
                  </a:extLst>
                </a:gridCol>
                <a:gridCol w="659094">
                  <a:extLst>
                    <a:ext uri="{9D8B030D-6E8A-4147-A177-3AD203B41FA5}">
                      <a16:colId xmlns:a16="http://schemas.microsoft.com/office/drawing/2014/main" val="546773760"/>
                    </a:ext>
                  </a:extLst>
                </a:gridCol>
                <a:gridCol w="1220982">
                  <a:extLst>
                    <a:ext uri="{9D8B030D-6E8A-4147-A177-3AD203B41FA5}">
                      <a16:colId xmlns:a16="http://schemas.microsoft.com/office/drawing/2014/main" val="546443978"/>
                    </a:ext>
                  </a:extLst>
                </a:gridCol>
              </a:tblGrid>
              <a:tr h="24907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a:t>
                      </a:r>
                      <a:r>
                        <a:rPr lang="uz-Cyrl-UZ" sz="1200" b="1" dirty="0" smtClean="0">
                          <a:solidFill>
                            <a:schemeClr val="bg1"/>
                          </a:solidFill>
                          <a:latin typeface="Bahnschrift SemiBold" panose="020B0502040204020203" pitchFamily="34" charset="0"/>
                        </a:rPr>
                        <a:t>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472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err="1">
                          <a:solidFill>
                            <a:schemeClr val="tx1"/>
                          </a:solidFill>
                          <a:latin typeface="+mn-lt"/>
                          <a:ea typeface="+mn-ea"/>
                          <a:cs typeface="+mn-cs"/>
                        </a:rPr>
                        <a:t>Болтабоева</a:t>
                      </a:r>
                      <a:r>
                        <a:rPr lang="ru-RU" sz="900" b="0" kern="1200" dirty="0">
                          <a:solidFill>
                            <a:schemeClr val="tx1"/>
                          </a:solidFill>
                          <a:latin typeface="+mn-lt"/>
                          <a:ea typeface="+mn-ea"/>
                          <a:cs typeface="+mn-cs"/>
                        </a:rPr>
                        <a:t>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472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Маъсума</a:t>
                      </a:r>
                      <a:r>
                        <a:rPr lang="uz-Cyrl-UZ" sz="800" b="0" kern="1200" baseline="0" dirty="0">
                          <a:solidFill>
                            <a:schemeClr val="tx1"/>
                          </a:solidFill>
                          <a:latin typeface="+mn-lt"/>
                          <a:ea typeface="+mn-ea"/>
                          <a:cs typeface="+mn-cs"/>
                        </a:rPr>
                        <a:t> </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472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Носировна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472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20617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a:solidFill>
                            <a:schemeClr val="tx1"/>
                          </a:solidFill>
                          <a:latin typeface="Times New Roman" pitchFamily="18" charset="0"/>
                          <a:ea typeface="+mn-ea"/>
                          <a:cs typeface="Times New Roman" pitchFamily="18" charset="0"/>
                        </a:rPr>
                        <a:t>16.02.1986	</a:t>
                      </a:r>
                      <a:endParaRPr lang="ru-RU" sz="900" b="0" kern="120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30628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marL="0" marR="0" indent="0" algn="l" defTabSz="914400" rtl="0" eaLnBrk="1" fontAlgn="auto" latinLnBrk="0" hangingPunct="1">
                        <a:lnSpc>
                          <a:spcPct val="90000"/>
                        </a:lnSpc>
                        <a:spcBef>
                          <a:spcPts val="0"/>
                        </a:spcBef>
                        <a:spcAft>
                          <a:spcPts val="0"/>
                        </a:spcAft>
                        <a:buClrTx/>
                        <a:buSzTx/>
                        <a:buFontTx/>
                        <a:buNone/>
                        <a:tabLst/>
                        <a:defRPr/>
                      </a:pPr>
                      <a:r>
                        <a:rPr lang="uz-Cyrl-UZ" sz="800" kern="1200" dirty="0">
                          <a:solidFill>
                            <a:schemeClr val="tx1"/>
                          </a:solidFill>
                          <a:latin typeface="Times New Roman" pitchFamily="18" charset="0"/>
                          <a:ea typeface="+mn-ea"/>
                          <a:cs typeface="Times New Roman" pitchFamily="18" charset="0"/>
                        </a:rPr>
                        <a:t>Фарғона вилояти</a:t>
                      </a:r>
                      <a:endParaRPr lang="ru-RU" sz="800" b="0" kern="1200" dirty="0">
                        <a:solidFill>
                          <a:schemeClr val="tx1"/>
                        </a:solidFill>
                        <a:latin typeface="Times New Roman" pitchFamily="18" charset="0"/>
                        <a:ea typeface="+mn-ea"/>
                        <a:cs typeface="Times New Roman" pitchFamily="18" charset="0"/>
                      </a:endParaRPr>
                    </a:p>
                    <a:p>
                      <a:pPr algn="l">
                        <a:lnSpc>
                          <a:spcPct val="90000"/>
                        </a:lnSpc>
                      </a:pP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6364">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4319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ўғил фарзанди </a:t>
                      </a:r>
                      <a:r>
                        <a:rPr lang="uz-Cyrl-UZ" sz="900" b="0" kern="1200" noProof="0" dirty="0" smtClean="0">
                          <a:solidFill>
                            <a:schemeClr val="tx1"/>
                          </a:solidFill>
                          <a:latin typeface="+mn-lt"/>
                          <a:ea typeface="+mn-ea"/>
                          <a:cs typeface="+mn-cs"/>
                        </a:rPr>
                        <a:t>бор</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6364">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06493">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uz-Cyrl-UZ" sz="900" kern="1200" dirty="0">
                          <a:solidFill>
                            <a:schemeClr val="tx1"/>
                          </a:solidFill>
                          <a:latin typeface="Times New Roman" pitchFamily="18" charset="0"/>
                          <a:ea typeface="+mn-ea"/>
                          <a:cs typeface="Times New Roman" pitchFamily="18" charset="0"/>
                        </a:rPr>
                        <a:t>Болтабоев Носир </a:t>
                      </a:r>
                      <a:endParaRPr lang="ru-RU" sz="900" kern="1200" dirty="0">
                        <a:solidFill>
                          <a:schemeClr val="tx1"/>
                        </a:solidFill>
                        <a:latin typeface="Times New Roman" pitchFamily="18" charset="0"/>
                        <a:ea typeface="+mn-ea"/>
                        <a:cs typeface="Times New Roman" pitchFamily="18" charset="0"/>
                      </a:endParaRPr>
                    </a:p>
                    <a:p>
                      <a:r>
                        <a:rPr lang="uz-Cyrl-UZ" sz="900" kern="1200" dirty="0">
                          <a:solidFill>
                            <a:schemeClr val="tx1"/>
                          </a:solidFill>
                          <a:latin typeface="Times New Roman" pitchFamily="18" charset="0"/>
                          <a:ea typeface="+mn-ea"/>
                          <a:cs typeface="Times New Roman" pitchFamily="18" charset="0"/>
                        </a:rPr>
                        <a:t>Комилович 1948 йил,</a:t>
                      </a:r>
                      <a:endParaRPr lang="ru-RU" sz="900" kern="1200" dirty="0">
                        <a:solidFill>
                          <a:schemeClr val="tx1"/>
                        </a:solidFill>
                        <a:latin typeface="Times New Roman" pitchFamily="18" charset="0"/>
                        <a:ea typeface="+mn-ea"/>
                        <a:cs typeface="Times New Roman" pitchFamily="18" charset="0"/>
                      </a:endParaRPr>
                    </a:p>
                    <a:p>
                      <a:r>
                        <a:rPr lang="uz-Cyrl-UZ" sz="900" kern="1200" dirty="0">
                          <a:solidFill>
                            <a:schemeClr val="tx1"/>
                          </a:solidFill>
                          <a:latin typeface="Times New Roman" pitchFamily="18" charset="0"/>
                          <a:ea typeface="+mn-ea"/>
                          <a:cs typeface="Times New Roman" pitchFamily="18" charset="0"/>
                        </a:rPr>
                        <a:t>Фарғона вилояти</a:t>
                      </a:r>
                      <a:endParaRPr lang="uz-Cyrl-UZ" sz="900" b="0" kern="1200" noProof="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latin typeface="+mn-lt"/>
                          <a:ea typeface="+mn-ea"/>
                          <a:cs typeface="+mn-cs"/>
                        </a:rPr>
                        <a:t>Пенсияда</a:t>
                      </a:r>
                      <a:r>
                        <a:rPr lang="ru-RU" sz="900" kern="1200" dirty="0" smtClean="0">
                          <a:solidFill>
                            <a:schemeClr val="tx1"/>
                          </a:solidFill>
                          <a:latin typeface="+mn-lt"/>
                          <a:ea typeface="+mn-ea"/>
                          <a:cs typeface="+mn-cs"/>
                        </a:rPr>
                        <a:t>,</a:t>
                      </a:r>
                      <a:endParaRPr lang="ru-RU" sz="900" kern="1200" dirty="0">
                        <a:solidFill>
                          <a:schemeClr val="tx1"/>
                        </a:solidFill>
                        <a:latin typeface="+mn-lt"/>
                        <a:ea typeface="+mn-ea"/>
                        <a:cs typeface="+mn-cs"/>
                      </a:endParaRPr>
                    </a:p>
                    <a:p>
                      <a:r>
                        <a:rPr lang="ru-RU" sz="900" kern="1200" dirty="0">
                          <a:solidFill>
                            <a:schemeClr val="tx1"/>
                          </a:solidFill>
                          <a:latin typeface="+mn-lt"/>
                          <a:ea typeface="+mn-ea"/>
                          <a:cs typeface="+mn-cs"/>
                        </a:rPr>
                        <a:t>(</a:t>
                      </a:r>
                      <a:r>
                        <a:rPr lang="uz-Cyrl-UZ" sz="900" kern="1200" dirty="0">
                          <a:solidFill>
                            <a:schemeClr val="tx1"/>
                          </a:solidFill>
                          <a:latin typeface="+mn-lt"/>
                          <a:ea typeface="+mn-ea"/>
                          <a:cs typeface="+mn-cs"/>
                        </a:rPr>
                        <a:t>6-сонли умумтаълим мактаби ўқитувчиси</a:t>
                      </a:r>
                      <a:r>
                        <a:rPr lang="ru-RU" sz="900" kern="1200" dirty="0">
                          <a:solidFill>
                            <a:schemeClr val="tx1"/>
                          </a:solidFill>
                          <a:latin typeface="+mn-lt"/>
                          <a:ea typeface="+mn-ea"/>
                          <a:cs typeface="+mn-cs"/>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606600">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a:solidFill>
                            <a:schemeClr val="tx1"/>
                          </a:solidFill>
                          <a:latin typeface="Times New Roman" pitchFamily="18" charset="0"/>
                          <a:ea typeface="+mn-ea"/>
                          <a:cs typeface="Times New Roman" pitchFamily="18" charset="0"/>
                        </a:rPr>
                        <a:t>Абдуллаева Муборакхон Абдуллаевна</a:t>
                      </a:r>
                    </a:p>
                    <a:p>
                      <a:r>
                        <a:rPr lang="uz-Cyrl-UZ" sz="900" kern="1200" dirty="0">
                          <a:solidFill>
                            <a:schemeClr val="tx1"/>
                          </a:solidFill>
                          <a:latin typeface="Times New Roman" pitchFamily="18" charset="0"/>
                          <a:ea typeface="+mn-ea"/>
                          <a:cs typeface="Times New Roman" pitchFamily="18" charset="0"/>
                        </a:rPr>
                        <a:t>1956 йил, </a:t>
                      </a:r>
                      <a:endParaRPr lang="ru-RU" sz="900" kern="1200" dirty="0">
                        <a:solidFill>
                          <a:schemeClr val="tx1"/>
                        </a:solidFill>
                        <a:latin typeface="Times New Roman" pitchFamily="18" charset="0"/>
                        <a:ea typeface="+mn-ea"/>
                        <a:cs typeface="Times New Roman" pitchFamily="18" charset="0"/>
                      </a:endParaRPr>
                    </a:p>
                    <a:p>
                      <a:r>
                        <a:rPr lang="uz-Cyrl-UZ" sz="900" kern="1200" dirty="0">
                          <a:solidFill>
                            <a:schemeClr val="tx1"/>
                          </a:solidFill>
                          <a:latin typeface="Times New Roman" pitchFamily="18" charset="0"/>
                          <a:ea typeface="+mn-ea"/>
                          <a:cs typeface="Times New Roman" pitchFamily="18" charset="0"/>
                        </a:rPr>
                        <a:t>Фарғона вилояти</a:t>
                      </a:r>
                      <a:endParaRPr lang="uz-Cyrl-UZ" sz="900" b="0" kern="1200" noProof="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latin typeface="+mn-lt"/>
                          <a:ea typeface="+mn-ea"/>
                          <a:cs typeface="+mn-cs"/>
                        </a:rPr>
                        <a:t>Пенсияда</a:t>
                      </a:r>
                      <a:r>
                        <a:rPr lang="ru-RU" sz="900" kern="1200" dirty="0">
                          <a:solidFill>
                            <a:schemeClr val="tx1"/>
                          </a:solidFill>
                          <a:latin typeface="+mn-lt"/>
                          <a:ea typeface="+mn-ea"/>
                          <a:cs typeface="+mn-cs"/>
                        </a:rPr>
                        <a:t>,</a:t>
                      </a:r>
                    </a:p>
                    <a:p>
                      <a:r>
                        <a:rPr lang="ru-RU" sz="900" kern="1200" dirty="0">
                          <a:solidFill>
                            <a:schemeClr val="tx1"/>
                          </a:solidFill>
                          <a:latin typeface="+mn-lt"/>
                          <a:ea typeface="+mn-ea"/>
                          <a:cs typeface="+mn-cs"/>
                        </a:rPr>
                        <a:t>(</a:t>
                      </a:r>
                      <a:r>
                        <a:rPr lang="uz-Cyrl-UZ" sz="900" kern="1200" dirty="0">
                          <a:solidFill>
                            <a:schemeClr val="tx1"/>
                          </a:solidFill>
                          <a:latin typeface="+mn-lt"/>
                          <a:ea typeface="+mn-ea"/>
                          <a:cs typeface="+mn-cs"/>
                        </a:rPr>
                        <a:t>6-сонли умумтаълим мактаби ўқитувчиси</a:t>
                      </a:r>
                      <a:r>
                        <a:rPr lang="ru-RU" sz="900" kern="1200" dirty="0">
                          <a:solidFill>
                            <a:schemeClr val="tx1"/>
                          </a:solidFill>
                          <a:latin typeface="+mn-lt"/>
                          <a:ea typeface="+mn-ea"/>
                          <a:cs typeface="+mn-cs"/>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792512">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uz-Cyrl-UZ" sz="900" kern="1200" dirty="0">
                          <a:solidFill>
                            <a:schemeClr val="tx1"/>
                          </a:solidFill>
                          <a:latin typeface="Times New Roman" pitchFamily="18" charset="0"/>
                          <a:ea typeface="+mn-ea"/>
                          <a:cs typeface="Times New Roman" pitchFamily="18" charset="0"/>
                        </a:rPr>
                        <a:t>Эргашев</a:t>
                      </a:r>
                      <a:endParaRPr lang="ru-RU" sz="900" kern="1200" dirty="0">
                        <a:solidFill>
                          <a:schemeClr val="tx1"/>
                        </a:solidFill>
                        <a:latin typeface="Times New Roman" pitchFamily="18" charset="0"/>
                        <a:ea typeface="+mn-ea"/>
                        <a:cs typeface="Times New Roman" pitchFamily="18" charset="0"/>
                      </a:endParaRPr>
                    </a:p>
                    <a:p>
                      <a:r>
                        <a:rPr lang="uz-Cyrl-UZ" sz="900" kern="1200" dirty="0">
                          <a:solidFill>
                            <a:schemeClr val="tx1"/>
                          </a:solidFill>
                          <a:latin typeface="Times New Roman" pitchFamily="18" charset="0"/>
                          <a:ea typeface="+mn-ea"/>
                          <a:cs typeface="Times New Roman" pitchFamily="18" charset="0"/>
                        </a:rPr>
                        <a:t>Алимардон</a:t>
                      </a:r>
                      <a:endParaRPr lang="ru-RU" sz="900" kern="1200" dirty="0">
                        <a:solidFill>
                          <a:schemeClr val="tx1"/>
                        </a:solidFill>
                        <a:latin typeface="Times New Roman" pitchFamily="18" charset="0"/>
                        <a:ea typeface="+mn-ea"/>
                        <a:cs typeface="Times New Roman" pitchFamily="18" charset="0"/>
                      </a:endParaRPr>
                    </a:p>
                    <a:p>
                      <a:r>
                        <a:rPr lang="uz-Cyrl-UZ" sz="900" kern="1200" dirty="0">
                          <a:solidFill>
                            <a:schemeClr val="tx1"/>
                          </a:solidFill>
                          <a:latin typeface="Times New Roman" pitchFamily="18" charset="0"/>
                          <a:ea typeface="+mn-ea"/>
                          <a:cs typeface="Times New Roman" pitchFamily="18" charset="0"/>
                        </a:rPr>
                        <a:t>Абдираимович</a:t>
                      </a:r>
                    </a:p>
                    <a:p>
                      <a:r>
                        <a:rPr lang="uz-Cyrl-UZ" sz="900" kern="1200" dirty="0">
                          <a:solidFill>
                            <a:schemeClr val="tx1"/>
                          </a:solidFill>
                          <a:latin typeface="Times New Roman" pitchFamily="18" charset="0"/>
                          <a:ea typeface="+mn-ea"/>
                          <a:cs typeface="Times New Roman" pitchFamily="18" charset="0"/>
                        </a:rPr>
                        <a:t>1987 йил</a:t>
                      </a:r>
                      <a:endParaRPr lang="ru-RU" sz="900" kern="1200" dirty="0">
                        <a:solidFill>
                          <a:schemeClr val="tx1"/>
                        </a:solidFill>
                        <a:latin typeface="Times New Roman" pitchFamily="18" charset="0"/>
                        <a:ea typeface="+mn-ea"/>
                        <a:cs typeface="Times New Roman" pitchFamily="18" charset="0"/>
                      </a:endParaRPr>
                    </a:p>
                    <a:p>
                      <a:r>
                        <a:rPr lang="uz-Cyrl-UZ" sz="900" kern="1200" dirty="0">
                          <a:solidFill>
                            <a:schemeClr val="tx1"/>
                          </a:solidFill>
                          <a:latin typeface="Times New Roman" pitchFamily="18" charset="0"/>
                          <a:ea typeface="+mn-ea"/>
                          <a:cs typeface="Times New Roman" pitchFamily="18" charset="0"/>
                        </a:rPr>
                        <a:t>Фарғона вилояти</a:t>
                      </a:r>
                      <a:endParaRPr lang="uz-Cyrl-UZ" sz="900" b="0" kern="1200" noProof="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kern="1200" dirty="0">
                          <a:solidFill>
                            <a:schemeClr val="tx1"/>
                          </a:solidFill>
                          <a:latin typeface="Times New Roman" pitchFamily="18" charset="0"/>
                          <a:ea typeface="+mn-ea"/>
                          <a:cs typeface="Times New Roman" pitchFamily="18" charset="0"/>
                        </a:rPr>
                        <a:t>Ўзбек миллий  мақом санъат маркази “Юнус Ражабий мақом ансамбли”  </a:t>
                      </a:r>
                      <a:r>
                        <a:rPr lang="uz-Cyrl-UZ" sz="900" kern="1200" dirty="0" smtClean="0">
                          <a:solidFill>
                            <a:schemeClr val="tx1"/>
                          </a:solidFill>
                          <a:latin typeface="Times New Roman" pitchFamily="18" charset="0"/>
                          <a:ea typeface="+mn-ea"/>
                          <a:cs typeface="Times New Roman" pitchFamily="18" charset="0"/>
                        </a:rPr>
                        <a:t>созандаси</a:t>
                      </a:r>
                      <a:endParaRPr lang="uz-Cyrl-UZ" sz="900" b="0" kern="1200" noProof="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252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6348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latin typeface="Times New Roman" pitchFamily="18" charset="0"/>
                          <a:ea typeface="+mn-ea"/>
                          <a:cs typeface="Times New Roman" pitchFamily="18" charset="0"/>
                        </a:rPr>
                        <a:t>2010 й. Тошкент давлат консерваторияси </a:t>
                      </a:r>
                      <a:endParaRPr lang="ru-RU" sz="900" kern="120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29724">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ru-RU" sz="900" kern="1200" dirty="0">
                          <a:solidFill>
                            <a:schemeClr val="tx1"/>
                          </a:solidFill>
                          <a:latin typeface="Times New Roman" pitchFamily="18" charset="0"/>
                          <a:ea typeface="+mn-ea"/>
                          <a:cs typeface="Times New Roman" pitchFamily="18" charset="0"/>
                        </a:rPr>
                        <a:t>опера </a:t>
                      </a:r>
                      <a:r>
                        <a:rPr lang="uz-Cyrl-UZ" sz="900" kern="1200" dirty="0">
                          <a:solidFill>
                            <a:schemeClr val="tx1"/>
                          </a:solidFill>
                          <a:latin typeface="Times New Roman" pitchFamily="18" charset="0"/>
                          <a:ea typeface="+mn-ea"/>
                          <a:cs typeface="Times New Roman" pitchFamily="18" charset="0"/>
                        </a:rPr>
                        <a:t>солисти, </a:t>
                      </a:r>
                      <a:r>
                        <a:rPr lang="uz-Cyrl-UZ" sz="900" kern="1200" dirty="0" smtClean="0">
                          <a:solidFill>
                            <a:schemeClr val="tx1"/>
                          </a:solidFill>
                          <a:latin typeface="Times New Roman" pitchFamily="18" charset="0"/>
                          <a:ea typeface="+mn-ea"/>
                          <a:cs typeface="Times New Roman" pitchFamily="18" charset="0"/>
                        </a:rPr>
                        <a:t>ўқитувчи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20474">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20474">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20581">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520703" y="865691"/>
          <a:ext cx="2974102" cy="5929218"/>
        </p:xfrm>
        <a:graphic>
          <a:graphicData uri="http://schemas.openxmlformats.org/drawingml/2006/table">
            <a:tbl>
              <a:tblPr firstRow="1" bandRow="1">
                <a:tableStyleId>{C083E6E3-FA7D-4D7B-A595-EF9225AFEA82}</a:tableStyleId>
              </a:tblPr>
              <a:tblGrid>
                <a:gridCol w="1403458">
                  <a:extLst>
                    <a:ext uri="{9D8B030D-6E8A-4147-A177-3AD203B41FA5}">
                      <a16:colId xmlns:a16="http://schemas.microsoft.com/office/drawing/2014/main" val="2715609854"/>
                    </a:ext>
                  </a:extLst>
                </a:gridCol>
                <a:gridCol w="1570644">
                  <a:extLst>
                    <a:ext uri="{9D8B030D-6E8A-4147-A177-3AD203B41FA5}">
                      <a16:colId xmlns:a16="http://schemas.microsoft.com/office/drawing/2014/main" val="546443978"/>
                    </a:ext>
                  </a:extLst>
                </a:gridCol>
              </a:tblGrid>
              <a:tr h="316874">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98541">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smtClean="0">
                          <a:solidFill>
                            <a:schemeClr val="tx1"/>
                          </a:solidFill>
                          <a:latin typeface="Times New Roman" pitchFamily="18" charset="0"/>
                          <a:ea typeface="+mn-ea"/>
                          <a:cs typeface="Times New Roman" pitchFamily="18" charset="0"/>
                        </a:rPr>
                        <a:t>А.Навоий </a:t>
                      </a:r>
                      <a:r>
                        <a:rPr lang="uz-Cyrl-UZ" sz="900" kern="1200" dirty="0">
                          <a:solidFill>
                            <a:schemeClr val="tx1"/>
                          </a:solidFill>
                          <a:latin typeface="Times New Roman" pitchFamily="18" charset="0"/>
                          <a:ea typeface="+mn-ea"/>
                          <a:cs typeface="Times New Roman" pitchFamily="18" charset="0"/>
                        </a:rPr>
                        <a:t>номидаги Ўзбекистон давлат академик катта театри опера солисти</a:t>
                      </a:r>
                      <a:endParaRPr lang="ru-RU" sz="900" kern="1200" dirty="0">
                        <a:solidFill>
                          <a:schemeClr val="tx1"/>
                        </a:solidFill>
                        <a:latin typeface="Times New Roman" pitchFamily="18" charset="0"/>
                        <a:ea typeface="+mn-ea"/>
                        <a:cs typeface="Times New Roman"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6445">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7283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18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7283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68968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b="0" kern="1200" dirty="0">
                          <a:solidFill>
                            <a:schemeClr val="tx1"/>
                          </a:solidFill>
                          <a:latin typeface="Times New Roman" pitchFamily="18" charset="0"/>
                          <a:ea typeface="+mn-ea"/>
                          <a:cs typeface="Times New Roman" pitchFamily="18" charset="0"/>
                        </a:rPr>
                        <a:t>2008–2010 йй. </a:t>
                      </a:r>
                      <a:r>
                        <a:rPr lang="ru-RU" sz="900" b="0" kern="1200" dirty="0">
                          <a:solidFill>
                            <a:schemeClr val="tx1"/>
                          </a:solidFill>
                          <a:latin typeface="Times New Roman" pitchFamily="18" charset="0"/>
                          <a:ea typeface="+mn-ea"/>
                          <a:cs typeface="Times New Roman" pitchFamily="18" charset="0"/>
                        </a:rPr>
                        <a:t>- </a:t>
                      </a:r>
                      <a:r>
                        <a:rPr lang="uz-Cyrl-UZ" sz="900" b="0" kern="1200" dirty="0">
                          <a:solidFill>
                            <a:schemeClr val="tx1"/>
                          </a:solidFill>
                          <a:latin typeface="Times New Roman" pitchFamily="18" charset="0"/>
                          <a:ea typeface="+mn-ea"/>
                          <a:cs typeface="Times New Roman" pitchFamily="18" charset="0"/>
                        </a:rPr>
                        <a:t>А.Навоий номидаги Ўзбекистон давлат академик катта театри опера стажёри</a:t>
                      </a:r>
                      <a:endParaRPr lang="ru-RU" sz="900" b="0" kern="1200" dirty="0">
                        <a:solidFill>
                          <a:schemeClr val="tx1"/>
                        </a:solidFill>
                        <a:latin typeface="Times New Roman" pitchFamily="18" charset="0"/>
                        <a:ea typeface="+mn-ea"/>
                        <a:cs typeface="Times New Roman" pitchFamily="18" charset="0"/>
                      </a:endParaRPr>
                    </a:p>
                    <a:p>
                      <a:r>
                        <a:rPr lang="uz-Cyrl-UZ" sz="900" b="0" kern="1200" dirty="0">
                          <a:solidFill>
                            <a:schemeClr val="tx1"/>
                          </a:solidFill>
                          <a:latin typeface="Times New Roman" pitchFamily="18" charset="0"/>
                          <a:ea typeface="+mn-ea"/>
                          <a:cs typeface="Times New Roman" pitchFamily="18" charset="0"/>
                        </a:rPr>
                        <a:t>2010  й. – ҳ.в.қ</a:t>
                      </a:r>
                      <a:r>
                        <a:rPr lang="uz-Cyrl-UZ" sz="900" b="1" kern="1200" dirty="0">
                          <a:solidFill>
                            <a:schemeClr val="tx1"/>
                          </a:solidFill>
                          <a:latin typeface="Times New Roman" pitchFamily="18" charset="0"/>
                          <a:ea typeface="+mn-ea"/>
                          <a:cs typeface="Times New Roman" pitchFamily="18" charset="0"/>
                        </a:rPr>
                        <a:t>.</a:t>
                      </a:r>
                      <a:r>
                        <a:rPr lang="uz-Cyrl-UZ" sz="900" kern="1200" dirty="0">
                          <a:solidFill>
                            <a:schemeClr val="tx1"/>
                          </a:solidFill>
                          <a:latin typeface="Times New Roman" pitchFamily="18" charset="0"/>
                          <a:ea typeface="+mn-ea"/>
                          <a:cs typeface="Times New Roman" pitchFamily="18" charset="0"/>
                        </a:rPr>
                        <a:t> - А.Навоий номидаги Ўзбекистон давлат академик катта театри опера солисти</a:t>
                      </a:r>
                      <a:endParaRPr lang="ru-RU" sz="900" kern="1200" dirty="0">
                        <a:solidFill>
                          <a:schemeClr val="tx1"/>
                        </a:solidFill>
                        <a:latin typeface="Times New Roman" pitchFamily="18" charset="0"/>
                        <a:ea typeface="+mn-ea"/>
                        <a:cs typeface="Times New Roman" pitchFamily="18" charset="0"/>
                      </a:endParaRPr>
                    </a:p>
                    <a:p>
                      <a:r>
                        <a:rPr lang="uz-Cyrl-UZ" sz="900" i="1" kern="1200" dirty="0">
                          <a:solidFill>
                            <a:schemeClr val="tx1"/>
                          </a:solidFill>
                          <a:latin typeface="Times New Roman" pitchFamily="18" charset="0"/>
                          <a:ea typeface="+mn-ea"/>
                          <a:cs typeface="Times New Roman" pitchFamily="18" charset="0"/>
                        </a:rPr>
                        <a:t> </a:t>
                      </a:r>
                      <a:endParaRPr lang="ru-RU" sz="900" kern="1200" dirty="0">
                        <a:solidFill>
                          <a:schemeClr val="tx1"/>
                        </a:solidFill>
                        <a:latin typeface="Times New Roman" pitchFamily="18" charset="0"/>
                        <a:ea typeface="+mn-ea"/>
                        <a:cs typeface="Times New Roman" pitchFamily="18" charset="0"/>
                      </a:endParaRPr>
                    </a:p>
                    <a:p>
                      <a:pPr algn="l">
                        <a:lnSpc>
                          <a:spcPct val="107000"/>
                        </a:lnSpc>
                        <a:spcAft>
                          <a:spcPts val="0"/>
                        </a:spcAft>
                      </a:pPr>
                      <a:endParaRPr lang="uz-Cyrl-UZ" sz="900" noProof="0" dirty="0">
                        <a:effectLst/>
                        <a:latin typeface="Times New Roman" pitchFamily="18" charset="0"/>
                        <a:ea typeface="Calibri" panose="020F0502020204030204" pitchFamily="34" charset="0"/>
                        <a:cs typeface="Times New Roman"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5364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53646">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83568">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17283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8777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190539">
                <a:tc gridSpan="2">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dirty="0" smtClean="0">
                          <a:solidFill>
                            <a:schemeClr val="tx1"/>
                          </a:solidFill>
                          <a:latin typeface="Times New Roman" pitchFamily="18" charset="0"/>
                          <a:ea typeface="+mn-ea"/>
                          <a:cs typeface="Times New Roman" pitchFamily="18" charset="0"/>
                        </a:rPr>
                        <a:t>2010 й. “</a:t>
                      </a:r>
                      <a:r>
                        <a:rPr lang="uz-Cyrl-UZ" sz="900" kern="1200" dirty="0">
                          <a:solidFill>
                            <a:schemeClr val="tx1"/>
                          </a:solidFill>
                          <a:latin typeface="Times New Roman" pitchFamily="18" charset="0"/>
                          <a:ea typeface="+mn-ea"/>
                          <a:cs typeface="Times New Roman" pitchFamily="18" charset="0"/>
                        </a:rPr>
                        <a:t>Ниҳол</a:t>
                      </a:r>
                      <a:r>
                        <a:rPr lang="uz-Cyrl-UZ" sz="900" kern="1200" dirty="0" smtClean="0">
                          <a:solidFill>
                            <a:schemeClr val="tx1"/>
                          </a:solidFill>
                          <a:latin typeface="Times New Roman" pitchFamily="18" charset="0"/>
                          <a:ea typeface="+mn-ea"/>
                          <a:cs typeface="Times New Roman" pitchFamily="18" charset="0"/>
                        </a:rPr>
                        <a:t>” давлат мукофоти                                                                                                                               </a:t>
                      </a:r>
                      <a:r>
                        <a:rPr lang="uz-Cyrl-UZ" sz="900" kern="1200" dirty="0">
                          <a:solidFill>
                            <a:schemeClr val="tx1"/>
                          </a:solidFill>
                          <a:latin typeface="Times New Roman" pitchFamily="18" charset="0"/>
                          <a:ea typeface="+mn-ea"/>
                          <a:cs typeface="Times New Roman" pitchFamily="18" charset="0"/>
                        </a:rPr>
                        <a:t>2016 й. “Ў</a:t>
                      </a:r>
                      <a:r>
                        <a:rPr lang="ru-RU" sz="900" kern="1200" dirty="0" err="1">
                          <a:solidFill>
                            <a:schemeClr val="tx1"/>
                          </a:solidFill>
                          <a:latin typeface="Times New Roman" pitchFamily="18" charset="0"/>
                          <a:ea typeface="+mn-ea"/>
                          <a:cs typeface="Times New Roman" pitchFamily="18" charset="0"/>
                        </a:rPr>
                        <a:t>збекистон</a:t>
                      </a:r>
                      <a:r>
                        <a:rPr lang="ru-RU" sz="900" kern="1200" dirty="0">
                          <a:solidFill>
                            <a:schemeClr val="tx1"/>
                          </a:solidFill>
                          <a:latin typeface="Times New Roman" pitchFamily="18" charset="0"/>
                          <a:ea typeface="+mn-ea"/>
                          <a:cs typeface="Times New Roman" pitchFamily="18" charset="0"/>
                        </a:rPr>
                        <a:t> </a:t>
                      </a:r>
                      <a:r>
                        <a:rPr lang="ru-RU" sz="900" kern="1200" dirty="0" err="1">
                          <a:solidFill>
                            <a:schemeClr val="tx1"/>
                          </a:solidFill>
                          <a:latin typeface="Times New Roman" pitchFamily="18" charset="0"/>
                          <a:ea typeface="+mn-ea"/>
                          <a:cs typeface="Times New Roman" pitchFamily="18" charset="0"/>
                        </a:rPr>
                        <a:t>Республикада</a:t>
                      </a:r>
                      <a:r>
                        <a:rPr lang="ru-RU" sz="900" kern="1200" dirty="0">
                          <a:solidFill>
                            <a:schemeClr val="tx1"/>
                          </a:solidFill>
                          <a:latin typeface="Times New Roman" pitchFamily="18" charset="0"/>
                          <a:ea typeface="+mn-ea"/>
                          <a:cs typeface="Times New Roman" pitchFamily="18" charset="0"/>
                        </a:rPr>
                        <a:t> </a:t>
                      </a:r>
                      <a:r>
                        <a:rPr lang="ru-RU" sz="900" kern="1200" dirty="0" err="1">
                          <a:solidFill>
                            <a:schemeClr val="tx1"/>
                          </a:solidFill>
                          <a:latin typeface="Times New Roman" pitchFamily="18" charset="0"/>
                          <a:ea typeface="+mn-ea"/>
                          <a:cs typeface="Times New Roman" pitchFamily="18" charset="0"/>
                        </a:rPr>
                        <a:t>хизмат</a:t>
                      </a:r>
                      <a:r>
                        <a:rPr lang="ru-RU" sz="900" kern="1200" dirty="0">
                          <a:solidFill>
                            <a:schemeClr val="tx1"/>
                          </a:solidFill>
                          <a:latin typeface="Times New Roman" pitchFamily="18" charset="0"/>
                          <a:ea typeface="+mn-ea"/>
                          <a:cs typeface="Times New Roman" pitchFamily="18" charset="0"/>
                        </a:rPr>
                        <a:t> к</a:t>
                      </a:r>
                      <a:r>
                        <a:rPr lang="uz-Cyrl-UZ" sz="900" kern="1200" dirty="0">
                          <a:solidFill>
                            <a:schemeClr val="tx1"/>
                          </a:solidFill>
                          <a:latin typeface="Times New Roman" pitchFamily="18" charset="0"/>
                          <a:ea typeface="+mn-ea"/>
                          <a:cs typeface="Times New Roman" pitchFamily="18" charset="0"/>
                        </a:rPr>
                        <a:t>ўрсатган артист” фахрий унвони</a:t>
                      </a:r>
                      <a:endParaRPr lang="ru-RU" sz="900" kern="1200" dirty="0">
                        <a:solidFill>
                          <a:schemeClr val="tx1"/>
                        </a:solidFill>
                        <a:latin typeface="Times New Roman" pitchFamily="18" charset="0"/>
                        <a:ea typeface="+mn-ea"/>
                        <a:cs typeface="Times New Roman"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563006" y="869287"/>
          <a:ext cx="3204099" cy="5925622"/>
        </p:xfrm>
        <a:graphic>
          <a:graphicData uri="http://schemas.openxmlformats.org/drawingml/2006/table">
            <a:tbl>
              <a:tblPr firstRow="1" bandRow="1">
                <a:tableStyleId>{C083E6E3-FA7D-4D7B-A595-EF9225AFEA82}</a:tableStyleId>
              </a:tblPr>
              <a:tblGrid>
                <a:gridCol w="3204099">
                  <a:extLst>
                    <a:ext uri="{9D8B030D-6E8A-4147-A177-3AD203B41FA5}">
                      <a16:colId xmlns:a16="http://schemas.microsoft.com/office/drawing/2014/main" val="2715609854"/>
                    </a:ext>
                  </a:extLst>
                </a:gridCol>
              </a:tblGrid>
              <a:tr h="235751">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09166">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861616">
                <a:tc>
                  <a:txBody>
                    <a:bodyPr/>
                    <a:lstStyle/>
                    <a:p>
                      <a:pPr marL="0" indent="179388" algn="just"/>
                      <a:r>
                        <a:rPr lang="uz-Cyrl-UZ" sz="900" b="0" kern="1200" dirty="0" smtClean="0">
                          <a:solidFill>
                            <a:schemeClr val="tx1"/>
                          </a:solidFill>
                          <a:latin typeface="+mn-lt"/>
                          <a:ea typeface="+mn-ea"/>
                          <a:cs typeface="Times New Roman" pitchFamily="18" charset="0"/>
                        </a:rPr>
                        <a:t>Ўтган </a:t>
                      </a:r>
                      <a:r>
                        <a:rPr lang="uz-Cyrl-UZ" sz="900" b="0" kern="1200" dirty="0">
                          <a:solidFill>
                            <a:schemeClr val="tx1"/>
                          </a:solidFill>
                          <a:latin typeface="+mn-lt"/>
                          <a:ea typeface="+mn-ea"/>
                          <a:cs typeface="Times New Roman" pitchFamily="18" charset="0"/>
                        </a:rPr>
                        <a:t>йиллар мобайнида Маъсумахон Болтабоева “Тоҳир ва Зуҳра”да Зуҳра, “Майсаранинг иши”да Ойхон, “Севгим самоси”да Қиз, Ҳулкар, “Кармен”да Микаэла, “Севги шароби”да Жанетта, “Травиата”да Анина, “Трубадур”да Инес, “Пиковая дама”да Прилепа, “Борис Годунов”да Ксения, М.Таджиевнинг  “Кумуш” операсида Кумуш  каби партияларни маромига етказиб ижро этиб, томошабинлар олқиши ва мутахассислар эътирофига сазовор бўлиб келмоқда.</a:t>
                      </a:r>
                      <a:endParaRPr lang="ru-RU" sz="900" b="0" kern="1200" dirty="0">
                        <a:solidFill>
                          <a:schemeClr val="tx1"/>
                        </a:solidFill>
                        <a:latin typeface="+mn-lt"/>
                        <a:ea typeface="+mn-ea"/>
                        <a:cs typeface="Times New Roman" pitchFamily="18" charset="0"/>
                      </a:endParaRPr>
                    </a:p>
                    <a:p>
                      <a:pPr marL="0" indent="179388" algn="just"/>
                      <a:r>
                        <a:rPr lang="uz-Cyrl-UZ" sz="900" b="0" kern="1200" dirty="0">
                          <a:solidFill>
                            <a:schemeClr val="tx1"/>
                          </a:solidFill>
                          <a:latin typeface="+mn-lt"/>
                          <a:ea typeface="+mn-ea"/>
                          <a:cs typeface="Times New Roman" pitchFamily="18" charset="0"/>
                        </a:rPr>
                        <a:t>М.Болтабоева иқтидорли опера ижрочиси сифатида  2005 йили Назира Аҳмедова номидаги Республика хонандалар танловида учинчи ўрин соҳиби, 2007 йили Назира Аҳмедова номидаги Халқаро аёл хонандалар танловида учинчи ўрин соҳиби, 2011 йили Қозоғистоннинг Чимкент шаҳрида бўлиб ўтган “Романсиада 2011” Халқаро танловининг иккинчи ўрин соҳиби бўлган.</a:t>
                      </a:r>
                      <a:endParaRPr lang="ru-RU" sz="900" b="0" kern="1200" dirty="0">
                        <a:solidFill>
                          <a:schemeClr val="tx1"/>
                        </a:solidFill>
                        <a:latin typeface="+mn-lt"/>
                        <a:ea typeface="+mn-ea"/>
                        <a:cs typeface="Times New Roman" pitchFamily="18" charset="0"/>
                      </a:endParaRPr>
                    </a:p>
                    <a:p>
                      <a:pPr marL="0" indent="179388" algn="just"/>
                      <a:r>
                        <a:rPr lang="uz-Cyrl-UZ" sz="900" b="0" kern="1200" dirty="0" smtClean="0">
                          <a:solidFill>
                            <a:schemeClr val="tx1"/>
                          </a:solidFill>
                          <a:latin typeface="+mn-lt"/>
                          <a:ea typeface="+mn-ea"/>
                          <a:cs typeface="Times New Roman" pitchFamily="18" charset="0"/>
                        </a:rPr>
                        <a:t>Шу </a:t>
                      </a:r>
                      <a:r>
                        <a:rPr lang="uz-Cyrl-UZ" sz="900" b="0" kern="1200" dirty="0">
                          <a:solidFill>
                            <a:schemeClr val="tx1"/>
                          </a:solidFill>
                          <a:latin typeface="+mn-lt"/>
                          <a:ea typeface="+mn-ea"/>
                          <a:cs typeface="Times New Roman" pitchFamily="18" charset="0"/>
                        </a:rPr>
                        <a:t>билан биргаликда у халқаро даражадаги кўплаб маданий дастурларда, жумладан: Тошкент ва Самарқанд шаҳарларида ўтказилган “Шанхай ҳамкорлик ташкилоти” иштирокчилари шарафига бағишланган концертлар дастури, Тошҳовуз ва Бухоро шаҳарларида ўтган Ўзбек–Туркман халқлари дўстлигига бағишланган қўшма концерт дастури, Самарқанд шаҳрида ўтказиб келинаётган “Шарқ тароналари” халқаро мусиқа фестивалларида мунтазам иштирок этиб, мутахассислар ва томошабинларнинг олқишларига сазовор бўлиб келмоқда. Бундан ташқари Республикамизнинг турли вилоятларида ўтказиб келинаётган кўплаб концерт дастурлари ва маданий–маърифий, ижодий учрашувларда фаол иштирок этиб келмоқда.</a:t>
                      </a:r>
                      <a:endParaRPr lang="ru-RU" sz="900" b="0" kern="1200" dirty="0">
                        <a:solidFill>
                          <a:schemeClr val="tx1"/>
                        </a:solidFill>
                        <a:latin typeface="+mn-lt"/>
                        <a:ea typeface="+mn-ea"/>
                        <a:cs typeface="Times New Roman" pitchFamily="18" charset="0"/>
                      </a:endParaRPr>
                    </a:p>
                    <a:p>
                      <a:pPr marL="0" indent="179388" algn="just"/>
                      <a:r>
                        <a:rPr lang="uz-Cyrl-UZ" sz="900" b="0" kern="1200" dirty="0">
                          <a:solidFill>
                            <a:schemeClr val="tx1"/>
                          </a:solidFill>
                          <a:latin typeface="+mn-lt"/>
                          <a:ea typeface="+mn-ea"/>
                          <a:cs typeface="Times New Roman" pitchFamily="18" charset="0"/>
                        </a:rPr>
                        <a:t>Сўнгги йилларда театр ижодий жамоаси билан чет эллик опера санъати усталари иштирокида ташкил этилган кўплаб ижодий кечаларда, ҳамкорликдаги концерт дастурларида, “Тошкент баҳори”, “Ёшлар баҳори” опера ва балет санъати фестивалларининг доимий иштирокчисидир</a:t>
                      </a:r>
                      <a:r>
                        <a:rPr lang="uz-Cyrl-UZ" sz="900" b="0" kern="1200" dirty="0" smtClean="0">
                          <a:solidFill>
                            <a:schemeClr val="tx1"/>
                          </a:solidFill>
                          <a:latin typeface="+mn-lt"/>
                          <a:ea typeface="+mn-ea"/>
                          <a:cs typeface="Times New Roman" pitchFamily="18" charset="0"/>
                        </a:rPr>
                        <a:t>.</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6733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1000" b="0"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0"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51757">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a:effectLst/>
                          <a:latin typeface="+mn-lt"/>
                          <a:ea typeface="Calibri" panose="020F0502020204030204" pitchFamily="34" charset="0"/>
                          <a:cs typeface="Times New Roman" panose="02020603050405020304" pitchFamily="18" charset="0"/>
                        </a:rPr>
                        <a:t>Республикамизда</a:t>
                      </a:r>
                      <a:r>
                        <a:rPr lang="uz-Cyrl-UZ" sz="900" b="0" baseline="0" dirty="0">
                          <a:effectLst/>
                          <a:latin typeface="+mn-lt"/>
                          <a:ea typeface="Calibri" panose="020F0502020204030204" pitchFamily="34" charset="0"/>
                          <a:cs typeface="Times New Roman" panose="02020603050405020304" pitchFamily="18" charset="0"/>
                        </a:rPr>
                        <a:t> </a:t>
                      </a:r>
                      <a:r>
                        <a:rPr lang="uz-Cyrl-UZ" sz="900" b="0" baseline="0" dirty="0" smtClean="0">
                          <a:effectLst/>
                          <a:latin typeface="+mn-lt"/>
                          <a:ea typeface="Calibri" panose="020F0502020204030204" pitchFamily="34" charset="0"/>
                          <a:cs typeface="Times New Roman" panose="02020603050405020304" pitchFamily="18" charset="0"/>
                        </a:rPr>
                        <a:t>ўтказилиб </a:t>
                      </a:r>
                      <a:r>
                        <a:rPr lang="uz-Cyrl-UZ" sz="900" b="0" baseline="0" dirty="0">
                          <a:effectLst/>
                          <a:latin typeface="+mn-lt"/>
                          <a:ea typeface="Calibri" panose="020F0502020204030204" pitchFamily="34" charset="0"/>
                          <a:cs typeface="Times New Roman" panose="02020603050405020304" pitchFamily="18" charset="0"/>
                        </a:rPr>
                        <a:t>келинадиган </a:t>
                      </a:r>
                      <a:r>
                        <a:rPr lang="uz-Cyrl-UZ" sz="900" b="0" baseline="0" dirty="0" smtClean="0">
                          <a:effectLst/>
                          <a:latin typeface="+mn-lt"/>
                          <a:ea typeface="Calibri" panose="020F0502020204030204" pitchFamily="34" charset="0"/>
                          <a:cs typeface="Times New Roman" panose="02020603050405020304" pitchFamily="18" charset="0"/>
                        </a:rPr>
                        <a:t> </a:t>
                      </a:r>
                      <a:r>
                        <a:rPr lang="uz-Cyrl-UZ" sz="900" b="0" baseline="0" dirty="0">
                          <a:effectLst/>
                          <a:latin typeface="+mn-lt"/>
                          <a:ea typeface="Calibri" panose="020F0502020204030204" pitchFamily="34" charset="0"/>
                          <a:cs typeface="Times New Roman" panose="02020603050405020304" pitchFamily="18" charset="0"/>
                        </a:rPr>
                        <a:t>оммавий </a:t>
                      </a:r>
                      <a:r>
                        <a:rPr lang="uz-Cyrl-UZ" sz="900" b="0" baseline="0" dirty="0" smtClean="0">
                          <a:effectLst/>
                          <a:latin typeface="+mn-lt"/>
                          <a:ea typeface="Calibri" panose="020F0502020204030204" pitchFamily="34" charset="0"/>
                          <a:cs typeface="Times New Roman" panose="02020603050405020304" pitchFamily="18" charset="0"/>
                        </a:rPr>
                        <a:t>маданий </a:t>
                      </a:r>
                      <a:r>
                        <a:rPr lang="uz-Cyrl-UZ" sz="900" b="0" baseline="0" dirty="0">
                          <a:effectLst/>
                          <a:latin typeface="+mn-lt"/>
                          <a:ea typeface="Calibri" panose="020F0502020204030204" pitchFamily="34" charset="0"/>
                          <a:cs typeface="Times New Roman" panose="02020603050405020304" pitchFamily="18" charset="0"/>
                        </a:rPr>
                        <a:t>тадбирлар ва давлат </a:t>
                      </a:r>
                      <a:r>
                        <a:rPr lang="uz-Cyrl-UZ" sz="900" b="0" baseline="0" dirty="0" smtClean="0">
                          <a:effectLst/>
                          <a:latin typeface="+mn-lt"/>
                          <a:ea typeface="Calibri" panose="020F0502020204030204" pitchFamily="34" charset="0"/>
                          <a:cs typeface="Times New Roman" panose="02020603050405020304" pitchFamily="18" charset="0"/>
                        </a:rPr>
                        <a:t>тадбирларида иштирок </a:t>
                      </a:r>
                      <a:r>
                        <a:rPr lang="uz-Cyrl-UZ" sz="900" b="0" baseline="0" dirty="0">
                          <a:effectLst/>
                          <a:latin typeface="+mn-lt"/>
                          <a:ea typeface="Calibri" panose="020F0502020204030204" pitchFamily="34" charset="0"/>
                          <a:cs typeface="Times New Roman" panose="02020603050405020304" pitchFamily="18" charset="0"/>
                        </a:rPr>
                        <a:t>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Picture 2">
            <a:extLst>
              <a:ext uri="{FF2B5EF4-FFF2-40B4-BE49-F238E27FC236}">
                <a16:creationId xmlns:a16="http://schemas.microsoft.com/office/drawing/2014/main" id="{E7D16728-2612-22DF-93CF-1AA5DEBE3FF7}"/>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50296" y="1149350"/>
            <a:ext cx="914400" cy="113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2190819"/>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41354" cy="5881241"/>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799549">
                  <a:extLst>
                    <a:ext uri="{9D8B030D-6E8A-4147-A177-3AD203B41FA5}">
                      <a16:colId xmlns:a16="http://schemas.microsoft.com/office/drawing/2014/main" val="546773760"/>
                    </a:ext>
                  </a:extLst>
                </a:gridCol>
                <a:gridCol w="110665">
                  <a:extLst>
                    <a:ext uri="{9D8B030D-6E8A-4147-A177-3AD203B41FA5}">
                      <a16:colId xmlns:a16="http://schemas.microsoft.com/office/drawing/2014/main" val="429349325"/>
                    </a:ext>
                  </a:extLst>
                </a:gridCol>
                <a:gridCol w="1278909">
                  <a:extLst>
                    <a:ext uri="{9D8B030D-6E8A-4147-A177-3AD203B41FA5}">
                      <a16:colId xmlns:a16="http://schemas.microsoft.com/office/drawing/2014/main" val="546443978"/>
                    </a:ext>
                  </a:extLst>
                </a:gridCol>
              </a:tblGrid>
              <a:tr h="240643">
                <a:tc gridSpan="6">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8127">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БОРЧАНИНОВ</a:t>
                      </a:r>
                      <a:r>
                        <a:rPr lang="uz-Cyrl-UZ" sz="900" b="0" kern="1200" baseline="0" dirty="0" smtClean="0">
                          <a:solidFill>
                            <a:schemeClr val="tx1"/>
                          </a:solidFill>
                          <a:latin typeface="+mn-lt"/>
                          <a:ea typeface="+mn-ea"/>
                          <a:cs typeface="+mn-cs"/>
                        </a:rPr>
                        <a:t>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812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3">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Кирилл</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2130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r>
                        <a:rPr lang="ru-RU" sz="900" b="0" kern="1200" dirty="0" smtClean="0">
                          <a:solidFill>
                            <a:schemeClr val="tx1"/>
                          </a:solidFill>
                          <a:latin typeface="Times New Roman" pitchFamily="18" charset="0"/>
                          <a:ea typeface="+mn-ea"/>
                          <a:cs typeface="Times New Roman" pitchFamily="18" charset="0"/>
                        </a:rPr>
                        <a:t>Валерьевич</a:t>
                      </a:r>
                      <a:endParaRPr lang="ru-RU" sz="900" b="0" kern="120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8127">
                <a:tc gridSpan="2" vMerge="1">
                  <a:txBody>
                    <a:bodyPr/>
                    <a:lstStyle/>
                    <a:p>
                      <a:endParaRPr lang="ru-RU"/>
                    </a:p>
                  </a:txBody>
                  <a:tcPr>
                    <a:lnT>
                      <a:noFill/>
                    </a:lnT>
                  </a:tcPr>
                </a:tc>
                <a:tc hMerge="1" vMerge="1">
                  <a:txBody>
                    <a:bodyPr/>
                    <a:lstStyle/>
                    <a:p>
                      <a:endParaRPr lang="ru-RU"/>
                    </a:p>
                  </a:txBody>
                  <a:tcPr/>
                </a:tc>
                <a:tc gridSpan="3">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РУС</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919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ru-RU" sz="900" kern="1200" dirty="0" smtClean="0">
                          <a:solidFill>
                            <a:schemeClr val="tx1"/>
                          </a:solidFill>
                          <a:latin typeface="Times New Roman" pitchFamily="18" charset="0"/>
                          <a:ea typeface="+mn-ea"/>
                          <a:cs typeface="Times New Roman" pitchFamily="18" charset="0"/>
                        </a:rPr>
                        <a:t>23</a:t>
                      </a:r>
                      <a:r>
                        <a:rPr lang="uz-Cyrl-UZ" sz="900" kern="1200" dirty="0" smtClean="0">
                          <a:solidFill>
                            <a:schemeClr val="tx1"/>
                          </a:solidFill>
                          <a:latin typeface="Times New Roman" pitchFamily="18" charset="0"/>
                          <a:ea typeface="+mn-ea"/>
                          <a:cs typeface="Times New Roman" pitchFamily="18" charset="0"/>
                        </a:rPr>
                        <a:t>.09.</a:t>
                      </a:r>
                      <a:r>
                        <a:rPr lang="ru-RU" sz="900" kern="1200" dirty="0" smtClean="0">
                          <a:solidFill>
                            <a:schemeClr val="tx1"/>
                          </a:solidFill>
                          <a:latin typeface="Times New Roman" pitchFamily="18" charset="0"/>
                          <a:ea typeface="+mn-ea"/>
                          <a:cs typeface="Times New Roman" pitchFamily="18" charset="0"/>
                        </a:rPr>
                        <a:t>1967</a:t>
                      </a:r>
                      <a:endParaRPr lang="ru-RU" sz="900" b="0" kern="120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8127">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8362">
                <a:tc gridSpan="6">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5117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1 нафар қиз фарзандлари бор</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8362">
                <a:tc gridSpan="6">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275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ru-RU" sz="900" kern="1200" dirty="0" err="1" smtClean="0">
                          <a:solidFill>
                            <a:schemeClr val="tx1"/>
                          </a:solidFill>
                          <a:latin typeface="Times New Roman" pitchFamily="18" charset="0"/>
                          <a:ea typeface="+mn-ea"/>
                          <a:cs typeface="Times New Roman" pitchFamily="18" charset="0"/>
                        </a:rPr>
                        <a:t>Гётц</a:t>
                      </a:r>
                      <a:r>
                        <a:rPr lang="ru-RU" sz="900" kern="1200" dirty="0" smtClean="0">
                          <a:solidFill>
                            <a:schemeClr val="tx1"/>
                          </a:solidFill>
                          <a:latin typeface="Times New Roman" pitchFamily="18" charset="0"/>
                          <a:ea typeface="+mn-ea"/>
                          <a:cs typeface="Times New Roman" pitchFamily="18" charset="0"/>
                        </a:rPr>
                        <a:t> Андрей</a:t>
                      </a:r>
                    </a:p>
                    <a:p>
                      <a:r>
                        <a:rPr lang="ru-RU" sz="900" kern="1200" dirty="0" smtClean="0">
                          <a:solidFill>
                            <a:schemeClr val="tx1"/>
                          </a:solidFill>
                          <a:latin typeface="Times New Roman" pitchFamily="18" charset="0"/>
                          <a:ea typeface="+mn-ea"/>
                          <a:cs typeface="Times New Roman" pitchFamily="18" charset="0"/>
                        </a:rPr>
                        <a:t>Андреевич</a:t>
                      </a:r>
                    </a:p>
                    <a:p>
                      <a:r>
                        <a:rPr lang="ru-RU" sz="900" kern="1200" dirty="0" smtClean="0">
                          <a:solidFill>
                            <a:schemeClr val="tx1"/>
                          </a:solidFill>
                          <a:latin typeface="Times New Roman" pitchFamily="18" charset="0"/>
                          <a:ea typeface="+mn-ea"/>
                          <a:cs typeface="Times New Roman" pitchFamily="18" charset="0"/>
                        </a:rPr>
                        <a:t>1933 </a:t>
                      </a:r>
                      <a:r>
                        <a:rPr lang="ru-RU" sz="900" kern="1200" dirty="0" err="1" smtClean="0">
                          <a:solidFill>
                            <a:schemeClr val="tx1"/>
                          </a:solidFill>
                          <a:latin typeface="Times New Roman" pitchFamily="18" charset="0"/>
                          <a:ea typeface="+mn-ea"/>
                          <a:cs typeface="Times New Roman" pitchFamily="18" charset="0"/>
                        </a:rPr>
                        <a:t>й</a:t>
                      </a:r>
                      <a:r>
                        <a:rPr lang="uz-Cyrl-UZ" sz="900" kern="1200" dirty="0" smtClean="0">
                          <a:solidFill>
                            <a:schemeClr val="tx1"/>
                          </a:solidFill>
                          <a:latin typeface="Times New Roman" pitchFamily="18" charset="0"/>
                          <a:ea typeface="+mn-ea"/>
                          <a:cs typeface="Times New Roman" pitchFamily="18" charset="0"/>
                        </a:rPr>
                        <a:t>ил,</a:t>
                      </a:r>
                      <a:endParaRPr lang="ru-RU" sz="900" kern="1200" dirty="0" smtClean="0">
                        <a:solidFill>
                          <a:schemeClr val="tx1"/>
                        </a:solidFill>
                        <a:latin typeface="Times New Roman" pitchFamily="18" charset="0"/>
                        <a:ea typeface="+mn-ea"/>
                        <a:cs typeface="Times New Roman" pitchFamily="18" charset="0"/>
                      </a:endParaRPr>
                    </a:p>
                    <a:p>
                      <a:r>
                        <a:rPr lang="ru-RU" sz="900" kern="1200" dirty="0" smtClean="0">
                          <a:solidFill>
                            <a:schemeClr val="tx1"/>
                          </a:solidFill>
                          <a:latin typeface="Times New Roman" pitchFamily="18" charset="0"/>
                          <a:ea typeface="+mn-ea"/>
                          <a:cs typeface="Times New Roman" pitchFamily="18" charset="0"/>
                        </a:rPr>
                        <a:t>Герман</a:t>
                      </a:r>
                      <a:r>
                        <a:rPr lang="uz-Cyrl-UZ" sz="900" kern="1200" dirty="0" smtClean="0">
                          <a:solidFill>
                            <a:schemeClr val="tx1"/>
                          </a:solidFill>
                          <a:latin typeface="Times New Roman" pitchFamily="18" charset="0"/>
                          <a:ea typeface="+mn-ea"/>
                          <a:cs typeface="Times New Roman" pitchFamily="18" charset="0"/>
                        </a:rPr>
                        <a:t>ия Республикаси</a:t>
                      </a:r>
                      <a:endParaRPr lang="uz-Cyrl-UZ" sz="900" b="0" kern="1200" noProof="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latin typeface="Times New Roman" pitchFamily="18" charset="0"/>
                          <a:ea typeface="+mn-ea"/>
                          <a:cs typeface="Times New Roman" pitchFamily="18" charset="0"/>
                        </a:rPr>
                        <a:t>2004 йил в</a:t>
                      </a:r>
                      <a:r>
                        <a:rPr lang="ru-RU" sz="900" kern="1200" dirty="0" err="1" smtClean="0">
                          <a:solidFill>
                            <a:schemeClr val="tx1"/>
                          </a:solidFill>
                          <a:latin typeface="Times New Roman" pitchFamily="18" charset="0"/>
                          <a:ea typeface="+mn-ea"/>
                          <a:cs typeface="Times New Roman" pitchFamily="18" charset="0"/>
                        </a:rPr>
                        <a:t>афот</a:t>
                      </a:r>
                      <a:r>
                        <a:rPr lang="ru-RU" sz="900" kern="1200" dirty="0" smtClean="0">
                          <a:solidFill>
                            <a:schemeClr val="tx1"/>
                          </a:solidFill>
                          <a:latin typeface="Times New Roman" pitchFamily="18" charset="0"/>
                          <a:ea typeface="+mn-ea"/>
                          <a:cs typeface="Times New Roman" pitchFamily="18" charset="0"/>
                        </a:rPr>
                        <a:t> </a:t>
                      </a:r>
                      <a:r>
                        <a:rPr lang="ru-RU" sz="900" kern="1200" dirty="0" err="1" smtClean="0">
                          <a:solidFill>
                            <a:schemeClr val="tx1"/>
                          </a:solidFill>
                          <a:latin typeface="Times New Roman" pitchFamily="18" charset="0"/>
                          <a:ea typeface="+mn-ea"/>
                          <a:cs typeface="Times New Roman" pitchFamily="18" charset="0"/>
                        </a:rPr>
                        <a:t>этган</a:t>
                      </a:r>
                      <a:endParaRPr lang="ru-RU" sz="900" kern="1200" dirty="0" smtClean="0">
                        <a:solidFill>
                          <a:schemeClr val="tx1"/>
                        </a:solidFill>
                        <a:latin typeface="Times New Roman" pitchFamily="18" charset="0"/>
                        <a:ea typeface="+mn-ea"/>
                        <a:cs typeface="Times New Roman" pitchFamily="18" charset="0"/>
                      </a:endParaRPr>
                    </a:p>
                    <a:p>
                      <a:r>
                        <a:rPr lang="uz-Cyrl-UZ" sz="900" kern="1200" dirty="0" smtClean="0">
                          <a:solidFill>
                            <a:schemeClr val="tx1"/>
                          </a:solidFill>
                          <a:latin typeface="Times New Roman" pitchFamily="18" charset="0"/>
                          <a:ea typeface="+mn-ea"/>
                          <a:cs typeface="Times New Roman" pitchFamily="18" charset="0"/>
                        </a:rPr>
                        <a:t>(Тиббий </a:t>
                      </a:r>
                      <a:r>
                        <a:rPr lang="ru-RU" sz="900" kern="1200" dirty="0" smtClean="0">
                          <a:solidFill>
                            <a:schemeClr val="tx1"/>
                          </a:solidFill>
                          <a:latin typeface="Times New Roman" pitchFamily="18" charset="0"/>
                          <a:ea typeface="+mn-ea"/>
                          <a:cs typeface="Times New Roman" pitchFamily="18" charset="0"/>
                        </a:rPr>
                        <a:t>ё</a:t>
                      </a:r>
                      <a:r>
                        <a:rPr lang="uz-Cyrl-UZ" sz="900" kern="1200" dirty="0" smtClean="0">
                          <a:solidFill>
                            <a:schemeClr val="tx1"/>
                          </a:solidFill>
                          <a:latin typeface="Times New Roman" pitchFamily="18" charset="0"/>
                          <a:ea typeface="+mn-ea"/>
                          <a:cs typeface="Times New Roman" pitchFamily="18" charset="0"/>
                        </a:rPr>
                        <a:t>рдам базаси техник ходими)</a:t>
                      </a:r>
                      <a:endParaRPr lang="ru-RU" sz="900" b="0" kern="1200" noProof="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sz="900" b="0" kern="1200" noProof="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627514">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ru-RU" sz="900" kern="1200" dirty="0" smtClean="0">
                          <a:solidFill>
                            <a:schemeClr val="tx1"/>
                          </a:solidFill>
                          <a:latin typeface="Times New Roman" pitchFamily="18" charset="0"/>
                          <a:ea typeface="+mn-ea"/>
                          <a:cs typeface="Times New Roman" pitchFamily="18" charset="0"/>
                        </a:rPr>
                        <a:t>Борчанинова</a:t>
                      </a:r>
                    </a:p>
                    <a:p>
                      <a:r>
                        <a:rPr lang="ru-RU" sz="900" kern="1200" dirty="0" smtClean="0">
                          <a:solidFill>
                            <a:schemeClr val="tx1"/>
                          </a:solidFill>
                          <a:latin typeface="Times New Roman" pitchFamily="18" charset="0"/>
                          <a:ea typeface="+mn-ea"/>
                          <a:cs typeface="Times New Roman" pitchFamily="18" charset="0"/>
                        </a:rPr>
                        <a:t>Татьяна</a:t>
                      </a:r>
                      <a:r>
                        <a:rPr lang="uz-Cyrl-UZ" sz="900" kern="1200" dirty="0" smtClean="0">
                          <a:solidFill>
                            <a:schemeClr val="tx1"/>
                          </a:solidFill>
                          <a:latin typeface="Times New Roman" pitchFamily="18" charset="0"/>
                          <a:ea typeface="+mn-ea"/>
                          <a:cs typeface="Times New Roman" pitchFamily="18" charset="0"/>
                        </a:rPr>
                        <a:t>  </a:t>
                      </a:r>
                      <a:r>
                        <a:rPr lang="ru-RU" sz="900" kern="1200" dirty="0" smtClean="0">
                          <a:solidFill>
                            <a:schemeClr val="tx1"/>
                          </a:solidFill>
                          <a:latin typeface="Times New Roman" pitchFamily="18" charset="0"/>
                          <a:ea typeface="+mn-ea"/>
                          <a:cs typeface="Times New Roman" pitchFamily="18" charset="0"/>
                        </a:rPr>
                        <a:t>Васильевна                   1942 </a:t>
                      </a:r>
                      <a:r>
                        <a:rPr lang="ru-RU" sz="900" kern="1200" dirty="0" err="1" smtClean="0">
                          <a:solidFill>
                            <a:schemeClr val="tx1"/>
                          </a:solidFill>
                          <a:latin typeface="Times New Roman" pitchFamily="18" charset="0"/>
                          <a:ea typeface="+mn-ea"/>
                          <a:cs typeface="Times New Roman" pitchFamily="18" charset="0"/>
                        </a:rPr>
                        <a:t>й</a:t>
                      </a:r>
                      <a:r>
                        <a:rPr lang="uz-Cyrl-UZ" sz="900" kern="1200" dirty="0" smtClean="0">
                          <a:solidFill>
                            <a:schemeClr val="tx1"/>
                          </a:solidFill>
                          <a:latin typeface="Times New Roman" pitchFamily="18" charset="0"/>
                          <a:ea typeface="+mn-ea"/>
                          <a:cs typeface="Times New Roman" pitchFamily="18" charset="0"/>
                        </a:rPr>
                        <a:t>ил,</a:t>
                      </a:r>
                      <a:endParaRPr lang="ru-RU" sz="900" kern="1200" dirty="0" smtClean="0">
                        <a:solidFill>
                          <a:schemeClr val="tx1"/>
                        </a:solidFill>
                        <a:latin typeface="Times New Roman" pitchFamily="18" charset="0"/>
                        <a:ea typeface="+mn-ea"/>
                        <a:cs typeface="Times New Roman" pitchFamily="18" charset="0"/>
                      </a:endParaRPr>
                    </a:p>
                    <a:p>
                      <a:r>
                        <a:rPr lang="uz-Cyrl-UZ" sz="900" kern="1200" dirty="0" smtClean="0">
                          <a:solidFill>
                            <a:schemeClr val="tx1"/>
                          </a:solidFill>
                          <a:latin typeface="Times New Roman" pitchFamily="18" charset="0"/>
                          <a:ea typeface="+mn-ea"/>
                          <a:cs typeface="Times New Roman" pitchFamily="18" charset="0"/>
                        </a:rPr>
                        <a:t>Росси</a:t>
                      </a:r>
                      <a:r>
                        <a:rPr lang="ru-RU" sz="900" kern="1200" dirty="0" smtClean="0">
                          <a:solidFill>
                            <a:schemeClr val="tx1"/>
                          </a:solidFill>
                          <a:latin typeface="Times New Roman" pitchFamily="18" charset="0"/>
                          <a:ea typeface="+mn-ea"/>
                          <a:cs typeface="Times New Roman" pitchFamily="18" charset="0"/>
                        </a:rPr>
                        <a:t>я</a:t>
                      </a:r>
                      <a:r>
                        <a:rPr lang="uz-Cyrl-UZ" sz="900" kern="1200" dirty="0" smtClean="0">
                          <a:solidFill>
                            <a:schemeClr val="tx1"/>
                          </a:solidFill>
                          <a:latin typeface="Times New Roman" pitchFamily="18" charset="0"/>
                          <a:ea typeface="+mn-ea"/>
                          <a:cs typeface="Times New Roman" pitchFamily="18" charset="0"/>
                        </a:rPr>
                        <a:t> Федераци</a:t>
                      </a:r>
                      <a:r>
                        <a:rPr lang="ru-RU" sz="900" kern="1200" dirty="0" err="1" smtClean="0">
                          <a:solidFill>
                            <a:schemeClr val="tx1"/>
                          </a:solidFill>
                          <a:latin typeface="Times New Roman" pitchFamily="18" charset="0"/>
                          <a:ea typeface="+mn-ea"/>
                          <a:cs typeface="Times New Roman" pitchFamily="18" charset="0"/>
                        </a:rPr>
                        <a:t>яси</a:t>
                      </a:r>
                      <a:endParaRPr lang="uz-Cyrl-UZ" sz="900" b="0" kern="1200" noProof="0" dirty="0" smtClean="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latin typeface="Times New Roman" pitchFamily="18" charset="0"/>
                          <a:ea typeface="+mn-ea"/>
                          <a:cs typeface="Times New Roman" pitchFamily="18" charset="0"/>
                        </a:rPr>
                        <a:t>Пенсияда</a:t>
                      </a:r>
                      <a:r>
                        <a:rPr lang="ru-RU" sz="900" kern="1200" dirty="0" smtClean="0">
                          <a:solidFill>
                            <a:schemeClr val="tx1"/>
                          </a:solidFill>
                          <a:latin typeface="Times New Roman" pitchFamily="18" charset="0"/>
                          <a:ea typeface="+mn-ea"/>
                          <a:cs typeface="Times New Roman" pitchFamily="18" charset="0"/>
                        </a:rPr>
                        <a:t>,</a:t>
                      </a:r>
                    </a:p>
                    <a:p>
                      <a:r>
                        <a:rPr lang="uz-Cyrl-UZ" sz="900" kern="1200" dirty="0" smtClean="0">
                          <a:solidFill>
                            <a:schemeClr val="tx1"/>
                          </a:solidFill>
                          <a:latin typeface="Times New Roman" pitchFamily="18" charset="0"/>
                          <a:ea typeface="+mn-ea"/>
                          <a:cs typeface="Times New Roman" pitchFamily="18" charset="0"/>
                        </a:rPr>
                        <a:t>(“Тошкент Бош қурилиш” муҳандиси)</a:t>
                      </a:r>
                      <a:endParaRPr lang="ru-RU" sz="900" b="0" kern="1200" noProof="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sz="900" b="0" kern="1200" noProof="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8606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ru-RU" sz="900" kern="1200" dirty="0" smtClean="0">
                          <a:solidFill>
                            <a:schemeClr val="tx1"/>
                          </a:solidFill>
                          <a:latin typeface="Times New Roman" pitchFamily="18" charset="0"/>
                          <a:ea typeface="+mn-ea"/>
                          <a:cs typeface="Times New Roman" pitchFamily="18" charset="0"/>
                        </a:rPr>
                        <a:t>Борчанинова</a:t>
                      </a:r>
                      <a:r>
                        <a:rPr lang="uz-Cyrl-UZ" sz="900" kern="1200" dirty="0" smtClean="0">
                          <a:solidFill>
                            <a:schemeClr val="tx1"/>
                          </a:solidFill>
                          <a:latin typeface="Times New Roman" pitchFamily="18" charset="0"/>
                          <a:ea typeface="+mn-ea"/>
                          <a:cs typeface="Times New Roman" pitchFamily="18" charset="0"/>
                        </a:rPr>
                        <a:t> (Ефимова)</a:t>
                      </a:r>
                      <a:r>
                        <a:rPr lang="ru-RU" sz="900" kern="1200" dirty="0" smtClean="0">
                          <a:solidFill>
                            <a:schemeClr val="tx1"/>
                          </a:solidFill>
                          <a:latin typeface="Times New Roman" pitchFamily="18" charset="0"/>
                          <a:ea typeface="+mn-ea"/>
                          <a:cs typeface="Times New Roman" pitchFamily="18" charset="0"/>
                        </a:rPr>
                        <a:t> Анна Ильинична</a:t>
                      </a:r>
                    </a:p>
                    <a:p>
                      <a:r>
                        <a:rPr lang="ru-RU" sz="900" kern="1200" dirty="0" smtClean="0">
                          <a:solidFill>
                            <a:schemeClr val="tx1"/>
                          </a:solidFill>
                          <a:latin typeface="Times New Roman" pitchFamily="18" charset="0"/>
                          <a:ea typeface="+mn-ea"/>
                          <a:cs typeface="Times New Roman" pitchFamily="18" charset="0"/>
                        </a:rPr>
                        <a:t>1976 </a:t>
                      </a:r>
                      <a:r>
                        <a:rPr lang="ru-RU" sz="900" kern="1200" dirty="0" err="1" smtClean="0">
                          <a:solidFill>
                            <a:schemeClr val="tx1"/>
                          </a:solidFill>
                          <a:latin typeface="Times New Roman" pitchFamily="18" charset="0"/>
                          <a:ea typeface="+mn-ea"/>
                          <a:cs typeface="Times New Roman" pitchFamily="18" charset="0"/>
                        </a:rPr>
                        <a:t>й</a:t>
                      </a:r>
                      <a:r>
                        <a:rPr lang="uz-Cyrl-UZ" sz="900" kern="1200" dirty="0" smtClean="0">
                          <a:solidFill>
                            <a:schemeClr val="tx1"/>
                          </a:solidFill>
                          <a:latin typeface="Times New Roman" pitchFamily="18" charset="0"/>
                          <a:ea typeface="+mn-ea"/>
                          <a:cs typeface="Times New Roman" pitchFamily="18" charset="0"/>
                        </a:rPr>
                        <a:t>ил,</a:t>
                      </a:r>
                      <a:endParaRPr lang="ru-RU" sz="900" kern="1200" dirty="0" smtClean="0">
                        <a:solidFill>
                          <a:schemeClr val="tx1"/>
                        </a:solidFill>
                        <a:latin typeface="Times New Roman" pitchFamily="18" charset="0"/>
                        <a:ea typeface="+mn-ea"/>
                        <a:cs typeface="Times New Roman" pitchFamily="18" charset="0"/>
                      </a:endParaRPr>
                    </a:p>
                    <a:p>
                      <a:r>
                        <a:rPr lang="ru-RU" sz="900" kern="1200" dirty="0" err="1" smtClean="0">
                          <a:solidFill>
                            <a:schemeClr val="tx1"/>
                          </a:solidFill>
                          <a:latin typeface="Times New Roman" pitchFamily="18" charset="0"/>
                          <a:ea typeface="+mn-ea"/>
                          <a:cs typeface="Times New Roman" pitchFamily="18" charset="0"/>
                        </a:rPr>
                        <a:t>Тошкент</a:t>
                      </a:r>
                      <a:r>
                        <a:rPr lang="ru-RU" sz="900" kern="1200" dirty="0" smtClean="0">
                          <a:solidFill>
                            <a:schemeClr val="tx1"/>
                          </a:solidFill>
                          <a:latin typeface="Times New Roman" pitchFamily="18" charset="0"/>
                          <a:ea typeface="+mn-ea"/>
                          <a:cs typeface="Times New Roman" pitchFamily="18" charset="0"/>
                        </a:rPr>
                        <a:t> </a:t>
                      </a:r>
                      <a:r>
                        <a:rPr lang="ru-RU" sz="900" kern="1200" dirty="0" err="1" smtClean="0">
                          <a:solidFill>
                            <a:schemeClr val="tx1"/>
                          </a:solidFill>
                          <a:latin typeface="Times New Roman" pitchFamily="18" charset="0"/>
                          <a:ea typeface="+mn-ea"/>
                          <a:cs typeface="Times New Roman" pitchFamily="18" charset="0"/>
                        </a:rPr>
                        <a:t>ш</a:t>
                      </a:r>
                      <a:r>
                        <a:rPr lang="uz-Cyrl-UZ" sz="900" kern="1200" dirty="0" smtClean="0">
                          <a:solidFill>
                            <a:schemeClr val="tx1"/>
                          </a:solidFill>
                          <a:latin typeface="Times New Roman" pitchFamily="18" charset="0"/>
                          <a:ea typeface="+mn-ea"/>
                          <a:cs typeface="Times New Roman" pitchFamily="18" charset="0"/>
                        </a:rPr>
                        <a:t>аҳри</a:t>
                      </a:r>
                      <a:endParaRPr lang="uz-Cyrl-UZ" sz="900" b="0" kern="1200" noProof="0" dirty="0" smtClean="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latin typeface="Times New Roman" pitchFamily="18" charset="0"/>
                          <a:ea typeface="+mn-ea"/>
                          <a:cs typeface="Times New Roman" pitchFamily="18" charset="0"/>
                        </a:rPr>
                        <a:t>Ҳамза номли мусиқа</a:t>
                      </a:r>
                      <a:endParaRPr lang="ru-RU" sz="900" kern="1200" dirty="0" smtClean="0">
                        <a:solidFill>
                          <a:schemeClr val="tx1"/>
                        </a:solidFill>
                        <a:latin typeface="Times New Roman" pitchFamily="18" charset="0"/>
                        <a:ea typeface="+mn-ea"/>
                        <a:cs typeface="Times New Roman" pitchFamily="18" charset="0"/>
                      </a:endParaRPr>
                    </a:p>
                    <a:p>
                      <a:r>
                        <a:rPr lang="uz-Cyrl-UZ" sz="900" kern="1200" dirty="0" smtClean="0">
                          <a:solidFill>
                            <a:schemeClr val="tx1"/>
                          </a:solidFill>
                          <a:latin typeface="Times New Roman" pitchFamily="18" charset="0"/>
                          <a:ea typeface="+mn-ea"/>
                          <a:cs typeface="Times New Roman" pitchFamily="18" charset="0"/>
                        </a:rPr>
                        <a:t>коллежи ўқитувчиси</a:t>
                      </a:r>
                      <a:endParaRPr lang="uz-Cyrl-UZ" sz="900" b="0" kern="1200" noProof="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uz-Cyrl-UZ" sz="900" b="0" kern="1200" noProof="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92285">
                <a:tc gridSpan="6">
                  <a:txBody>
                    <a:bodyPr/>
                    <a:lstStyle/>
                    <a:p>
                      <a:pPr algn="ctr">
                        <a:lnSpc>
                          <a:spcPct val="85000"/>
                        </a:lnSpc>
                      </a:pPr>
                      <a:r>
                        <a:rPr lang="uz-Cyrl-UZ" sz="900" b="1" kern="1200" noProof="0" dirty="0">
                          <a:solidFill>
                            <a:schemeClr val="bg1"/>
                          </a:solidFill>
                          <a:latin typeface="Times New Roman" pitchFamily="18" charset="0"/>
                          <a:ea typeface="+mn-ea"/>
                          <a:cs typeface="Times New Roman" pitchFamily="18" charset="0"/>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213010">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kern="1200" dirty="0" smtClean="0">
                          <a:solidFill>
                            <a:schemeClr val="tx1"/>
                          </a:solidFill>
                          <a:latin typeface="Times New Roman" pitchFamily="18" charset="0"/>
                          <a:ea typeface="+mn-ea"/>
                          <a:cs typeface="Times New Roman" pitchFamily="18" charset="0"/>
                        </a:rPr>
                        <a:t>2000 й  Тошкент д</a:t>
                      </a:r>
                      <a:r>
                        <a:rPr lang="ru-RU" sz="900" kern="1200" dirty="0" err="1" smtClean="0">
                          <a:solidFill>
                            <a:schemeClr val="tx1"/>
                          </a:solidFill>
                          <a:latin typeface="Times New Roman" pitchFamily="18" charset="0"/>
                          <a:ea typeface="+mn-ea"/>
                          <a:cs typeface="Times New Roman" pitchFamily="18" charset="0"/>
                        </a:rPr>
                        <a:t>авлат</a:t>
                      </a:r>
                      <a:r>
                        <a:rPr lang="ru-RU" sz="900" kern="1200" dirty="0" smtClean="0">
                          <a:solidFill>
                            <a:schemeClr val="tx1"/>
                          </a:solidFill>
                          <a:latin typeface="Times New Roman" pitchFamily="18" charset="0"/>
                          <a:ea typeface="+mn-ea"/>
                          <a:cs typeface="Times New Roman" pitchFamily="18" charset="0"/>
                        </a:rPr>
                        <a:t> </a:t>
                      </a:r>
                      <a:r>
                        <a:rPr lang="ru-RU" sz="900" kern="1200" dirty="0" err="1" smtClean="0">
                          <a:solidFill>
                            <a:schemeClr val="tx1"/>
                          </a:solidFill>
                          <a:latin typeface="Times New Roman" pitchFamily="18" charset="0"/>
                          <a:ea typeface="+mn-ea"/>
                          <a:cs typeface="Times New Roman" pitchFamily="18" charset="0"/>
                        </a:rPr>
                        <a:t>консерваторияси</a:t>
                      </a:r>
                      <a:endParaRPr lang="ru-RU" sz="900" kern="120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489346">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kern="1200" dirty="0" smtClean="0">
                          <a:solidFill>
                            <a:schemeClr val="tx1"/>
                          </a:solidFill>
                          <a:latin typeface="Times New Roman" pitchFamily="18" charset="0"/>
                          <a:ea typeface="+mn-ea"/>
                          <a:cs typeface="Times New Roman" pitchFamily="18" charset="0"/>
                        </a:rPr>
                        <a:t>қиличбозлик спорти бўйича мураббий,</a:t>
                      </a:r>
                      <a:r>
                        <a:rPr lang="ru-RU" sz="900" kern="1200" dirty="0" smtClean="0">
                          <a:solidFill>
                            <a:schemeClr val="tx1"/>
                          </a:solidFill>
                          <a:latin typeface="Times New Roman" pitchFamily="18" charset="0"/>
                          <a:ea typeface="+mn-ea"/>
                          <a:cs typeface="Times New Roman" pitchFamily="18" charset="0"/>
                        </a:rPr>
                        <a:t> опера </a:t>
                      </a:r>
                      <a:r>
                        <a:rPr lang="ru-RU" sz="900" kern="1200" dirty="0" err="1" smtClean="0">
                          <a:solidFill>
                            <a:schemeClr val="tx1"/>
                          </a:solidFill>
                          <a:latin typeface="Times New Roman" pitchFamily="18" charset="0"/>
                          <a:ea typeface="+mn-ea"/>
                          <a:cs typeface="Times New Roman" pitchFamily="18" charset="0"/>
                        </a:rPr>
                        <a:t>солисти</a:t>
                      </a:r>
                      <a:r>
                        <a:rPr lang="uz-Cyrl-UZ" sz="900" kern="1200" dirty="0" smtClean="0">
                          <a:solidFill>
                            <a:schemeClr val="tx1"/>
                          </a:solidFill>
                          <a:latin typeface="Times New Roman" pitchFamily="18" charset="0"/>
                          <a:ea typeface="+mn-ea"/>
                          <a:cs typeface="Times New Roman" pitchFamily="18" charset="0"/>
                        </a:rPr>
                        <a:t>, академик хонанда, вокал бўйича педагог</a:t>
                      </a:r>
                      <a:endParaRPr lang="ru-RU" sz="900" kern="120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0751">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0751">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kern="1200" dirty="0" smtClean="0">
                          <a:solidFill>
                            <a:schemeClr val="tx1"/>
                          </a:solidFill>
                          <a:latin typeface="Times New Roman" pitchFamily="18" charset="0"/>
                          <a:ea typeface="+mn-ea"/>
                          <a:cs typeface="Times New Roman" pitchFamily="18" charset="0"/>
                        </a:rPr>
                        <a:t>ўзбек,  итальян, инглиз</a:t>
                      </a:r>
                      <a:r>
                        <a:rPr lang="ru-RU" sz="900" kern="1200" dirty="0" smtClean="0">
                          <a:solidFill>
                            <a:schemeClr val="tx1"/>
                          </a:solidFill>
                          <a:latin typeface="Times New Roman" pitchFamily="18" charset="0"/>
                          <a:ea typeface="+mn-ea"/>
                          <a:cs typeface="Times New Roman" pitchFamily="18" charset="0"/>
                        </a:rPr>
                        <a:t> </a:t>
                      </a:r>
                      <a:r>
                        <a:rPr lang="ru-RU" sz="900" kern="1200" dirty="0" err="1" smtClean="0">
                          <a:solidFill>
                            <a:schemeClr val="tx1"/>
                          </a:solidFill>
                          <a:latin typeface="Times New Roman" pitchFamily="18" charset="0"/>
                          <a:ea typeface="+mn-ea"/>
                          <a:cs typeface="Times New Roman" pitchFamily="18" charset="0"/>
                        </a:rPr>
                        <a:t>тил</a:t>
                      </a:r>
                      <a:r>
                        <a:rPr lang="uz-Cyrl-UZ" sz="900" kern="1200" dirty="0" smtClean="0">
                          <a:solidFill>
                            <a:schemeClr val="tx1"/>
                          </a:solidFill>
                          <a:latin typeface="Times New Roman" pitchFamily="18" charset="0"/>
                          <a:ea typeface="+mn-ea"/>
                          <a:cs typeface="Times New Roman" pitchFamily="18" charset="0"/>
                        </a:rPr>
                        <a:t>лари</a:t>
                      </a:r>
                      <a:endParaRPr lang="ru-RU" sz="900" dirty="0">
                        <a:latin typeface="Times New Roman" pitchFamily="18" charset="0"/>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10751">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7" y="865689"/>
          <a:ext cx="3051014" cy="5881253"/>
        </p:xfrm>
        <a:graphic>
          <a:graphicData uri="http://schemas.openxmlformats.org/drawingml/2006/table">
            <a:tbl>
              <a:tblPr firstRow="1" bandRow="1">
                <a:tableStyleId>{C083E6E3-FA7D-4D7B-A595-EF9225AFEA82}</a:tableStyleId>
              </a:tblPr>
              <a:tblGrid>
                <a:gridCol w="1439752">
                  <a:extLst>
                    <a:ext uri="{9D8B030D-6E8A-4147-A177-3AD203B41FA5}">
                      <a16:colId xmlns:a16="http://schemas.microsoft.com/office/drawing/2014/main" val="2715609854"/>
                    </a:ext>
                  </a:extLst>
                </a:gridCol>
                <a:gridCol w="1611262">
                  <a:extLst>
                    <a:ext uri="{9D8B030D-6E8A-4147-A177-3AD203B41FA5}">
                      <a16:colId xmlns:a16="http://schemas.microsoft.com/office/drawing/2014/main" val="546443978"/>
                    </a:ext>
                  </a:extLst>
                </a:gridCol>
              </a:tblGrid>
              <a:tr h="33761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1174">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smtClean="0">
                          <a:solidFill>
                            <a:schemeClr val="tx1"/>
                          </a:solidFill>
                          <a:latin typeface="Times New Roman" pitchFamily="18" charset="0"/>
                          <a:ea typeface="+mn-ea"/>
                          <a:cs typeface="Times New Roman" pitchFamily="18" charset="0"/>
                        </a:rPr>
                        <a:t>Алишер Навоий номидаги Ўзбекистон давлат академик катта театри опера солисти</a:t>
                      </a:r>
                      <a:endParaRPr lang="ru-RU" sz="900" kern="1200" dirty="0">
                        <a:solidFill>
                          <a:schemeClr val="tx1"/>
                        </a:solidFill>
                        <a:latin typeface="Times New Roman" pitchFamily="18" charset="0"/>
                        <a:ea typeface="+mn-ea"/>
                        <a:cs typeface="Times New Roman"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192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Times New Roman" pitchFamily="18" charset="0"/>
                          <a:ea typeface="+mn-ea"/>
                          <a:cs typeface="Times New Roman" pitchFamily="18" charset="0"/>
                        </a:rPr>
                        <a:t>Й</a:t>
                      </a:r>
                      <a:r>
                        <a:rPr lang="ru-RU" sz="900" b="0" kern="1200" noProof="0" dirty="0" err="1" smtClean="0">
                          <a:solidFill>
                            <a:schemeClr val="tx1"/>
                          </a:solidFill>
                          <a:latin typeface="Times New Roman" pitchFamily="18" charset="0"/>
                          <a:ea typeface="+mn-ea"/>
                          <a:cs typeface="Times New Roman" pitchFamily="18" charset="0"/>
                        </a:rPr>
                        <a:t>ўқ</a:t>
                      </a:r>
                      <a:endParaRPr lang="uz-Cyrl-UZ" sz="900" b="0" kern="1200" noProof="0" dirty="0">
                        <a:solidFill>
                          <a:schemeClr val="tx1"/>
                        </a:solidFill>
                        <a:latin typeface="Times New Roman" pitchFamily="18" charset="0"/>
                        <a:ea typeface="+mn-ea"/>
                        <a:cs typeface="Times New Roman"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685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36 йил</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97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896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smtClean="0">
                          <a:solidFill>
                            <a:schemeClr val="tx1"/>
                          </a:solidFill>
                          <a:latin typeface="Times New Roman" pitchFamily="18" charset="0"/>
                          <a:ea typeface="+mn-ea"/>
                          <a:cs typeface="Times New Roman" pitchFamily="18" charset="0"/>
                        </a:rPr>
                        <a:t>1999 й. -  ҳ.в.  - Алишер Навоий номидаги Ўзбекистон давлат академик катта театри опера солисти</a:t>
                      </a:r>
                      <a:endParaRPr lang="ru-RU" sz="900" kern="1200" dirty="0">
                        <a:solidFill>
                          <a:schemeClr val="tx1"/>
                        </a:solidFill>
                        <a:latin typeface="Times New Roman" pitchFamily="18" charset="0"/>
                        <a:ea typeface="+mn-ea"/>
                        <a:cs typeface="Times New Roman"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811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811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624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576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365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96243">
                <a:tc gridSpan="2">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uz-Cyrl-UZ" sz="900" kern="1200" dirty="0" smtClean="0">
                        <a:solidFill>
                          <a:schemeClr val="tx1"/>
                        </a:solidFill>
                        <a:effectLst/>
                        <a:latin typeface="+mn-lt"/>
                        <a:ea typeface="+mn-ea"/>
                        <a:cs typeface="+mn-cs"/>
                      </a:endParaRPr>
                    </a:p>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2016 й. “Ў</a:t>
                      </a:r>
                      <a:r>
                        <a:rPr lang="ru-RU" sz="900" kern="1200" dirty="0" err="1" smtClean="0">
                          <a:solidFill>
                            <a:schemeClr val="tx1"/>
                          </a:solidFill>
                          <a:effectLst/>
                          <a:latin typeface="+mn-lt"/>
                          <a:ea typeface="+mn-ea"/>
                          <a:cs typeface="+mn-cs"/>
                        </a:rPr>
                        <a:t>збекистон</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Республикада</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хизмат</a:t>
                      </a:r>
                      <a:r>
                        <a:rPr lang="ru-RU" sz="900" kern="1200" dirty="0" smtClean="0">
                          <a:solidFill>
                            <a:schemeClr val="tx1"/>
                          </a:solidFill>
                          <a:effectLst/>
                          <a:latin typeface="+mn-lt"/>
                          <a:ea typeface="+mn-ea"/>
                          <a:cs typeface="+mn-cs"/>
                        </a:rPr>
                        <a:t> к</a:t>
                      </a:r>
                      <a:r>
                        <a:rPr lang="uz-Cyrl-UZ" sz="900" kern="1200" dirty="0" smtClean="0">
                          <a:solidFill>
                            <a:schemeClr val="tx1"/>
                          </a:solidFill>
                          <a:effectLst/>
                          <a:latin typeface="+mn-lt"/>
                          <a:ea typeface="+mn-ea"/>
                          <a:cs typeface="+mn-cs"/>
                        </a:rPr>
                        <a:t>ўрсатган артист” фахрий унвони</a:t>
                      </a:r>
                      <a:endParaRPr lang="ru-RU" sz="900" kern="1200" dirty="0" smtClean="0">
                        <a:solidFill>
                          <a:schemeClr val="tx1"/>
                        </a:solidFill>
                        <a:effectLst/>
                        <a:latin typeface="+mn-lt"/>
                        <a:ea typeface="+mn-ea"/>
                        <a:cs typeface="+mn-cs"/>
                      </a:endParaRPr>
                    </a:p>
                    <a:p>
                      <a:pPr marL="0" marR="0" lvl="0" indent="0" algn="just" defTabSz="914400" rtl="0" eaLnBrk="1" fontAlgn="auto" latinLnBrk="0" hangingPunct="1">
                        <a:lnSpc>
                          <a:spcPct val="107000"/>
                        </a:lnSpc>
                        <a:spcBef>
                          <a:spcPts val="0"/>
                        </a:spcBef>
                        <a:spcAft>
                          <a:spcPts val="0"/>
                        </a:spcAft>
                        <a:buClrTx/>
                        <a:buSzTx/>
                        <a:buFontTx/>
                        <a:buNone/>
                        <a:tabLst/>
                        <a:defRPr/>
                      </a:pPr>
                      <a:endParaRPr lang="uz-Cyrl-UZ" sz="900" kern="1200" dirty="0" smtClean="0">
                        <a:solidFill>
                          <a:schemeClr val="tx1"/>
                        </a:solidFill>
                        <a:effectLst/>
                        <a:latin typeface="+mn-lt"/>
                        <a:ea typeface="+mn-ea"/>
                        <a:cs typeface="+mn-cs"/>
                      </a:endParaRPr>
                    </a:p>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2025 й. “Дўстлик” ордени</a:t>
                      </a:r>
                      <a:endParaRPr lang="ru-RU" sz="900" kern="1200" dirty="0" smtClean="0">
                        <a:solidFill>
                          <a:schemeClr val="tx1"/>
                        </a:solidFill>
                        <a:effectLst/>
                        <a:latin typeface="+mn-lt"/>
                        <a:ea typeface="+mn-ea"/>
                        <a:cs typeface="+mn-cs"/>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814225" y="869286"/>
          <a:ext cx="2952879" cy="5877656"/>
        </p:xfrm>
        <a:graphic>
          <a:graphicData uri="http://schemas.openxmlformats.org/drawingml/2006/table">
            <a:tbl>
              <a:tblPr firstRow="1" bandRow="1">
                <a:tableStyleId>{C083E6E3-FA7D-4D7B-A595-EF9225AFEA82}</a:tableStyleId>
              </a:tblPr>
              <a:tblGrid>
                <a:gridCol w="2952879">
                  <a:extLst>
                    <a:ext uri="{9D8B030D-6E8A-4147-A177-3AD203B41FA5}">
                      <a16:colId xmlns:a16="http://schemas.microsoft.com/office/drawing/2014/main" val="2715609854"/>
                    </a:ext>
                  </a:extLst>
                </a:gridCol>
              </a:tblGrid>
              <a:tr h="235289">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0875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5133030">
                <a:tc>
                  <a:txBody>
                    <a:bodyPr/>
                    <a:lstStyle/>
                    <a:p>
                      <a:pPr marL="0" indent="179388" algn="just"/>
                      <a:r>
                        <a:rPr lang="uz-Cyrl-UZ" sz="900" kern="1200" dirty="0" smtClean="0">
                          <a:solidFill>
                            <a:schemeClr val="tx1"/>
                          </a:solidFill>
                          <a:latin typeface="+mn-lt"/>
                          <a:ea typeface="+mn-ea"/>
                          <a:cs typeface="Times New Roman" pitchFamily="18" charset="0"/>
                        </a:rPr>
                        <a:t>К.В.Борчанинов 1999 йилдар Алишер Навоий номидаги Ўзбекистон давлат академик катта театрида опера солисти. Шу вақт мобайнида театрнинг етакчи солисти сифатида салмоқли ижод қилиб, </a:t>
                      </a:r>
                      <a:r>
                        <a:rPr lang="uz-Cyrl-UZ" sz="900" b="0" kern="1200" dirty="0" smtClean="0">
                          <a:solidFill>
                            <a:schemeClr val="tx1"/>
                          </a:solidFill>
                          <a:latin typeface="+mn-lt"/>
                          <a:ea typeface="+mn-ea"/>
                          <a:cs typeface="Times New Roman" pitchFamily="18" charset="0"/>
                        </a:rPr>
                        <a:t>“Фауст”да Мефистофель, “Иоланта”да Рене, “Евгений Онегин”да Гремин, “Лючия де Ламмермур”да Раймонд, “Аида”да Рамфис, “Отелло”да Монтано, “Риголетто”да Спарафучиль ҳамда Монтероне, “Трубадур”да Феррандо, “Бал-маскарад”да Самуэль, “Богема”да Колин, “Самсон ва Далила”да Абимилех, “Сеҳрли най”да Зорастро, “Борис Годунов”да Пимен, “Алеко”да Қари лўли, “Кармен”да Цунига, “Гофман эртаклари”да Герман ҳамда Шлемиль, “Эгизаклар”да Ота каби бир қанча катта ва кичик партияларни ижро этди:</a:t>
                      </a:r>
                      <a:endParaRPr lang="ru-RU" sz="900" b="0" kern="1200" dirty="0" smtClean="0">
                        <a:solidFill>
                          <a:schemeClr val="tx1"/>
                        </a:solidFill>
                        <a:latin typeface="+mn-lt"/>
                        <a:ea typeface="+mn-ea"/>
                        <a:cs typeface="Times New Roman" pitchFamily="18" charset="0"/>
                      </a:endParaRPr>
                    </a:p>
                    <a:p>
                      <a:pPr marL="0" indent="179388" algn="just"/>
                      <a:r>
                        <a:rPr lang="uz-Cyrl-UZ" sz="900" b="0" kern="1200" dirty="0" smtClean="0">
                          <a:solidFill>
                            <a:schemeClr val="tx1"/>
                          </a:solidFill>
                          <a:latin typeface="+mn-lt"/>
                          <a:ea typeface="+mn-ea"/>
                          <a:cs typeface="Times New Roman" pitchFamily="18" charset="0"/>
                        </a:rPr>
                        <a:t>Булардан ташқари, кичик ёшдаги томошабинлар учун саҳналаштирилган “Бремен мусиқачилари”, “Алиса мўъжизалар оламида”, “Қор маликаси” каби бир қанча болалар спектакллари ва Янги йил томошаларида фаол иштирок этиб келмоқда.</a:t>
                      </a:r>
                      <a:endParaRPr lang="ru-RU" sz="900" b="0" kern="1200" dirty="0" smtClean="0">
                        <a:solidFill>
                          <a:schemeClr val="tx1"/>
                        </a:solidFill>
                        <a:latin typeface="+mn-lt"/>
                        <a:ea typeface="+mn-ea"/>
                        <a:cs typeface="Times New Roman" pitchFamily="18" charset="0"/>
                      </a:endParaRPr>
                    </a:p>
                    <a:p>
                      <a:pPr marL="0" indent="179388" algn="just"/>
                      <a:r>
                        <a:rPr lang="uz-Cyrl-UZ" sz="900" b="0" kern="1200" dirty="0" smtClean="0">
                          <a:solidFill>
                            <a:schemeClr val="tx1"/>
                          </a:solidFill>
                          <a:latin typeface="+mn-lt"/>
                          <a:ea typeface="+mn-ea"/>
                          <a:cs typeface="Times New Roman" pitchFamily="18" charset="0"/>
                        </a:rPr>
                        <a:t>Театрдаги фаолияти билан бир қаторда Германиянинг Мюнхен, Гамбург, Бадендор, Россиянинг Екатеринбург, Қозоғистоннинг Алмата каби кўплаб </a:t>
                      </a:r>
                      <a:r>
                        <a:rPr lang="uz-Cyrl-UZ" sz="900" kern="1200" dirty="0" smtClean="0">
                          <a:solidFill>
                            <a:schemeClr val="tx1"/>
                          </a:solidFill>
                          <a:latin typeface="+mn-lt"/>
                          <a:ea typeface="+mn-ea"/>
                          <a:cs typeface="Times New Roman" pitchFamily="18" charset="0"/>
                        </a:rPr>
                        <a:t>хорижий шаҳарларда ўтказилган  Концерт дастурлар, фестивал ва танловларда иштирок этиб, опера санъати ютуқларини халқаро майдонда намойиш этган.</a:t>
                      </a:r>
                      <a:endParaRPr lang="ru-RU" sz="900" kern="1200" dirty="0" smtClean="0">
                        <a:solidFill>
                          <a:schemeClr val="tx1"/>
                        </a:solidFill>
                        <a:latin typeface="+mn-lt"/>
                        <a:ea typeface="+mn-ea"/>
                        <a:cs typeface="Times New Roman" pitchFamily="18" charset="0"/>
                      </a:endParaRPr>
                    </a:p>
                    <a:p>
                      <a:pPr marL="0" indent="179388" algn="just"/>
                      <a:r>
                        <a:rPr lang="uz-Cyrl-UZ" sz="900" dirty="0" smtClean="0">
                          <a:latin typeface="+mn-lt"/>
                          <a:cs typeface="Times New Roman" pitchFamily="18" charset="0"/>
                        </a:rPr>
                        <a:t> К.Борчанинов театрдаги ижодий фаолиятидан ташқари Республикамиз  маънавий ва маданий ҳаётида фаол иштирок этиб,  бир қанча ташкилотлар томонидан ташаккурномалар олган. У, шунингдек, театр жамоаси билан республикамизнинг бир қатор вилоятларида,  ҳамдўстлик ва чет эл мамлакатларида ижодий сафарларда бўлган. </a:t>
                      </a:r>
                      <a:endParaRPr lang="ru-RU" sz="900" dirty="0" smtClean="0">
                        <a:latin typeface="+mn-lt"/>
                        <a:cs typeface="Times New Roman" pitchFamily="18" charset="0"/>
                      </a:endParaRPr>
                    </a:p>
                    <a:p>
                      <a:pPr marL="0" indent="179388" algn="just"/>
                      <a:r>
                        <a:rPr lang="uz-Cyrl-UZ" sz="900" dirty="0" smtClean="0">
                          <a:latin typeface="+mn-lt"/>
                          <a:cs typeface="Times New Roman" pitchFamily="18" charset="0"/>
                        </a:rPr>
                        <a:t>К.Борчанинов меҳнатсевар, ўз устида тинмай ишлайдиган, халқаро маданий алоқаларни ривожлантиришда ўзининг муносиб хиссасини қўшиб келаётган  ижодкорлардандир. </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67004">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133577">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Рисунок 1"/>
          <p:cNvPicPr>
            <a:picLocks noChangeAspect="1" noChangeArrowheads="1"/>
          </p:cNvPicPr>
          <p:nvPr/>
        </p:nvPicPr>
        <p:blipFill>
          <a:blip r:embed="rId2" cstate="print"/>
          <a:srcRect/>
          <a:stretch>
            <a:fillRect/>
          </a:stretch>
        </p:blipFill>
        <p:spPr bwMode="auto">
          <a:xfrm>
            <a:off x="263377" y="1138054"/>
            <a:ext cx="837071" cy="1120990"/>
          </a:xfrm>
          <a:prstGeom prst="rect">
            <a:avLst/>
          </a:prstGeom>
          <a:noFill/>
          <a:ln w="9525">
            <a:noFill/>
            <a:miter lim="800000"/>
            <a:headEnd/>
            <a:tailEnd/>
          </a:ln>
        </p:spPr>
      </p:pic>
      <p:sp>
        <p:nvSpPr>
          <p:cNvPr id="8" name="Прямоугольник 7">
            <a:extLst>
              <a:ext uri="{FF2B5EF4-FFF2-40B4-BE49-F238E27FC236}">
                <a16:creationId xmlns:a16="http://schemas.microsoft.com/office/drawing/2014/main" id="{5A9AA459-1519-4154-AF5D-18C6732B0658}"/>
              </a:ext>
            </a:extLst>
          </p:cNvPr>
          <p:cNvSpPr/>
          <p:nvPr/>
        </p:nvSpPr>
        <p:spPr>
          <a:xfrm>
            <a:off x="138895"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spTree>
    <p:extLst>
      <p:ext uri="{BB962C8B-B14F-4D97-AF65-F5344CB8AC3E}">
        <p14:creationId xmlns:p14="http://schemas.microsoft.com/office/powerpoint/2010/main" val="2509680968"/>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944242"/>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6951">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305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ГАФУРОВ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305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Бердишукур</a:t>
                      </a:r>
                      <a:r>
                        <a:rPr lang="uz-Cyrl-UZ" sz="800" b="0" kern="1200" baseline="0" dirty="0" smtClean="0">
                          <a:solidFill>
                            <a:schemeClr val="tx1"/>
                          </a:solidFill>
                          <a:latin typeface="+mn-lt"/>
                          <a:ea typeface="+mn-ea"/>
                          <a:cs typeface="+mn-cs"/>
                        </a:rPr>
                        <a:t> </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305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Фозилович</a:t>
                      </a:r>
                      <a:r>
                        <a:rPr lang="uz-Cyrl-UZ" sz="800" b="0" kern="1200" baseline="0" dirty="0" smtClean="0">
                          <a:solidFill>
                            <a:schemeClr val="tx1"/>
                          </a:solidFill>
                          <a:latin typeface="+mn-lt"/>
                          <a:ea typeface="+mn-ea"/>
                          <a:cs typeface="+mn-cs"/>
                        </a:rPr>
                        <a:t> </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305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20441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smtClean="0">
                          <a:solidFill>
                            <a:schemeClr val="tx1"/>
                          </a:solidFill>
                          <a:latin typeface="Times New Roman" pitchFamily="18" charset="0"/>
                          <a:ea typeface="+mn-ea"/>
                          <a:cs typeface="Times New Roman" pitchFamily="18" charset="0"/>
                        </a:rPr>
                        <a:t>15.04.1954</a:t>
                      </a:r>
                      <a:endParaRPr lang="ru-RU" sz="900" b="0" kern="120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305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Қашқадарё</a:t>
                      </a:r>
                      <a:r>
                        <a:rPr lang="uz-Cyrl-UZ" sz="800" b="0" kern="1200" baseline="0" dirty="0" smtClean="0">
                          <a:solidFill>
                            <a:schemeClr val="tx1"/>
                          </a:solidFill>
                          <a:latin typeface="+mn-lt"/>
                          <a:ea typeface="+mn-ea"/>
                          <a:cs typeface="+mn-cs"/>
                        </a:rPr>
                        <a:t> 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4348">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502172">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3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1нафар қиз</a:t>
                      </a:r>
                      <a:r>
                        <a:rPr lang="uz-Cyrl-UZ" sz="900" b="0" kern="1200" baseline="0" noProof="0" dirty="0" smtClean="0">
                          <a:solidFill>
                            <a:schemeClr val="tx1"/>
                          </a:solidFill>
                          <a:latin typeface="+mn-lt"/>
                          <a:ea typeface="+mn-ea"/>
                          <a:cs typeface="+mn-cs"/>
                        </a:rPr>
                        <a:t> </a:t>
                      </a:r>
                      <a:r>
                        <a:rPr lang="uz-Cyrl-UZ" sz="900" b="0" kern="1200" noProof="0" dirty="0" smtClean="0">
                          <a:solidFill>
                            <a:schemeClr val="tx1"/>
                          </a:solidFill>
                          <a:latin typeface="+mn-lt"/>
                          <a:ea typeface="+mn-ea"/>
                          <a:cs typeface="+mn-cs"/>
                        </a:rPr>
                        <a:t> фарзанди бор</a:t>
                      </a:r>
                      <a:br>
                        <a:rPr lang="uz-Cyrl-UZ" sz="900" b="0" kern="1200" noProof="0" dirty="0" smtClean="0">
                          <a:solidFill>
                            <a:schemeClr val="tx1"/>
                          </a:solidFill>
                          <a:latin typeface="+mn-lt"/>
                          <a:ea typeface="+mn-ea"/>
                          <a:cs typeface="+mn-cs"/>
                        </a:rPr>
                      </a:b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4348">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280323">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uz-Cyrl-UZ" sz="900" kern="1200" dirty="0" smtClean="0">
                          <a:solidFill>
                            <a:schemeClr val="tx1"/>
                          </a:solidFill>
                          <a:latin typeface="Times New Roman" pitchFamily="18" charset="0"/>
                          <a:ea typeface="+mn-ea"/>
                          <a:cs typeface="Times New Roman" pitchFamily="18" charset="0"/>
                        </a:rPr>
                        <a:t>Маълумотга эга эмас</a:t>
                      </a:r>
                      <a:endParaRPr lang="uz-Cyrl-UZ" sz="900" b="0" kern="1200" noProof="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18896">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uz-Cyrl-UZ" sz="900" kern="1200" dirty="0" smtClean="0">
                          <a:solidFill>
                            <a:schemeClr val="tx1"/>
                          </a:solidFill>
                          <a:latin typeface="Times New Roman" pitchFamily="18" charset="0"/>
                          <a:ea typeface="+mn-ea"/>
                          <a:cs typeface="Times New Roman" pitchFamily="18" charset="0"/>
                        </a:rPr>
                        <a:t>Маълумотга эга эмас</a:t>
                      </a:r>
                      <a:endParaRPr lang="uz-Cyrl-UZ" sz="900" b="0" kern="1200" noProof="0" dirty="0" smtClean="0">
                        <a:solidFill>
                          <a:schemeClr val="tx1"/>
                        </a:solidFill>
                        <a:latin typeface="Times New Roman" pitchFamily="18" charset="0"/>
                        <a:ea typeface="+mn-ea"/>
                        <a:cs typeface="Times New Roman" pitchFamily="18" charset="0"/>
                      </a:endParaRPr>
                    </a:p>
                    <a:p>
                      <a:pPr algn="l">
                        <a:lnSpc>
                          <a:spcPct val="85000"/>
                        </a:lnSpc>
                      </a:pP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927541">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uz-Cyrl-UZ" sz="900" b="0" kern="1200" dirty="0" smtClean="0">
                          <a:solidFill>
                            <a:schemeClr val="tx1"/>
                          </a:solidFill>
                          <a:latin typeface="Times New Roman" pitchFamily="18" charset="0"/>
                          <a:ea typeface="+mn-ea"/>
                          <a:cs typeface="Times New Roman" pitchFamily="18" charset="0"/>
                        </a:rPr>
                        <a:t>Гафурова</a:t>
                      </a:r>
                    </a:p>
                    <a:p>
                      <a:r>
                        <a:rPr lang="uz-Cyrl-UZ" sz="900" b="0" kern="1200" dirty="0" smtClean="0">
                          <a:solidFill>
                            <a:schemeClr val="tx1"/>
                          </a:solidFill>
                          <a:latin typeface="Times New Roman" pitchFamily="18" charset="0"/>
                          <a:ea typeface="+mn-ea"/>
                          <a:cs typeface="Times New Roman" pitchFamily="18" charset="0"/>
                        </a:rPr>
                        <a:t>(Шерматова)</a:t>
                      </a:r>
                      <a:endParaRPr lang="ru-RU" sz="900" b="0" kern="1200" dirty="0" smtClean="0">
                        <a:solidFill>
                          <a:schemeClr val="tx1"/>
                        </a:solidFill>
                        <a:latin typeface="Times New Roman" pitchFamily="18" charset="0"/>
                        <a:ea typeface="+mn-ea"/>
                        <a:cs typeface="Times New Roman" pitchFamily="18" charset="0"/>
                      </a:endParaRPr>
                    </a:p>
                    <a:p>
                      <a:r>
                        <a:rPr lang="uz-Cyrl-UZ" sz="900" b="0" kern="1200" dirty="0" smtClean="0">
                          <a:solidFill>
                            <a:schemeClr val="tx1"/>
                          </a:solidFill>
                          <a:latin typeface="Times New Roman" pitchFamily="18" charset="0"/>
                          <a:ea typeface="+mn-ea"/>
                          <a:cs typeface="Times New Roman" pitchFamily="18" charset="0"/>
                        </a:rPr>
                        <a:t>Нафиса</a:t>
                      </a:r>
                      <a:endParaRPr lang="ru-RU" sz="900" b="0" kern="1200" dirty="0" smtClean="0">
                        <a:solidFill>
                          <a:schemeClr val="tx1"/>
                        </a:solidFill>
                        <a:latin typeface="Times New Roman" pitchFamily="18" charset="0"/>
                        <a:ea typeface="+mn-ea"/>
                        <a:cs typeface="Times New Roman" pitchFamily="18" charset="0"/>
                      </a:endParaRPr>
                    </a:p>
                    <a:p>
                      <a:r>
                        <a:rPr lang="uz-Cyrl-UZ" sz="900" b="0" kern="1200" dirty="0" smtClean="0">
                          <a:solidFill>
                            <a:schemeClr val="tx1"/>
                          </a:solidFill>
                          <a:latin typeface="Times New Roman" pitchFamily="18" charset="0"/>
                          <a:ea typeface="+mn-ea"/>
                          <a:cs typeface="Times New Roman" pitchFamily="18" charset="0"/>
                        </a:rPr>
                        <a:t>Акромовна</a:t>
                      </a:r>
                    </a:p>
                    <a:p>
                      <a:r>
                        <a:rPr lang="uz-Cyrl-UZ" sz="900" b="0" kern="1200" dirty="0" smtClean="0">
                          <a:solidFill>
                            <a:schemeClr val="tx1"/>
                          </a:solidFill>
                          <a:latin typeface="Times New Roman" pitchFamily="18" charset="0"/>
                          <a:ea typeface="+mn-ea"/>
                          <a:cs typeface="Times New Roman" pitchFamily="18" charset="0"/>
                        </a:rPr>
                        <a:t>1967 йил,</a:t>
                      </a:r>
                      <a:endParaRPr lang="ru-RU" sz="900" b="0" kern="1200" dirty="0" smtClean="0">
                        <a:solidFill>
                          <a:schemeClr val="tx1"/>
                        </a:solidFill>
                        <a:latin typeface="Times New Roman" pitchFamily="18" charset="0"/>
                        <a:ea typeface="+mn-ea"/>
                        <a:cs typeface="Times New Roman" pitchFamily="18" charset="0"/>
                      </a:endParaRPr>
                    </a:p>
                    <a:p>
                      <a:r>
                        <a:rPr lang="uz-Cyrl-UZ" sz="900" b="0" kern="1200" dirty="0" smtClean="0">
                          <a:solidFill>
                            <a:schemeClr val="tx1"/>
                          </a:solidFill>
                          <a:latin typeface="Times New Roman" pitchFamily="18" charset="0"/>
                          <a:ea typeface="+mn-ea"/>
                          <a:cs typeface="Times New Roman" pitchFamily="18" charset="0"/>
                        </a:rPr>
                        <a:t>Тошкент шаҳри</a:t>
                      </a:r>
                      <a:endParaRPr lang="uz-Cyrl-UZ" sz="900" b="0" kern="1200" noProof="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b="0" kern="1200" dirty="0" smtClean="0">
                          <a:solidFill>
                            <a:schemeClr val="tx1"/>
                          </a:solidFill>
                          <a:latin typeface="Times New Roman" pitchFamily="18" charset="0"/>
                          <a:ea typeface="+mn-ea"/>
                          <a:cs typeface="Times New Roman" pitchFamily="18" charset="0"/>
                        </a:rPr>
                        <a:t>Уй бекаси</a:t>
                      </a:r>
                      <a:endParaRPr lang="uz-Cyrl-UZ" sz="900" b="0" kern="1200" noProof="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0716">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43962">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latin typeface="Times New Roman" pitchFamily="18" charset="0"/>
                          <a:ea typeface="+mn-ea"/>
                          <a:cs typeface="Times New Roman" pitchFamily="18" charset="0"/>
                        </a:rPr>
                        <a:t>1981 й. Тошкент давлат консерваторияси</a:t>
                      </a:r>
                      <a:r>
                        <a:rPr lang="ru-RU" sz="900" kern="1200" dirty="0" smtClean="0">
                          <a:solidFill>
                            <a:schemeClr val="tx1"/>
                          </a:solidFill>
                          <a:latin typeface="Times New Roman" pitchFamily="18" charset="0"/>
                          <a:ea typeface="+mn-ea"/>
                          <a:cs typeface="Times New Roman" pitchFamily="18" charset="0"/>
                        </a:rPr>
                        <a:t> (</a:t>
                      </a:r>
                      <a:r>
                        <a:rPr lang="ru-RU" sz="900" kern="1200" dirty="0" err="1" smtClean="0">
                          <a:solidFill>
                            <a:schemeClr val="tx1"/>
                          </a:solidFill>
                          <a:latin typeface="Times New Roman" pitchFamily="18" charset="0"/>
                          <a:ea typeface="+mn-ea"/>
                          <a:cs typeface="Times New Roman" pitchFamily="18" charset="0"/>
                        </a:rPr>
                        <a:t>кундузги</a:t>
                      </a:r>
                      <a:r>
                        <a:rPr lang="ru-RU" sz="900" kern="1200" dirty="0" smtClean="0">
                          <a:solidFill>
                            <a:schemeClr val="tx1"/>
                          </a:solidFill>
                          <a:latin typeface="Times New Roman" pitchFamily="18" charset="0"/>
                          <a:ea typeface="+mn-ea"/>
                          <a:cs typeface="Times New Roman" pitchFamily="18" charset="0"/>
                        </a:rPr>
                        <a:t>)</a:t>
                      </a:r>
                      <a:r>
                        <a:rPr lang="uz-Cyrl-UZ" sz="900" kern="1200" dirty="0" smtClean="0">
                          <a:solidFill>
                            <a:schemeClr val="tx1"/>
                          </a:solidFill>
                          <a:latin typeface="Times New Roman" pitchFamily="18" charset="0"/>
                          <a:ea typeface="+mn-ea"/>
                          <a:cs typeface="Times New Roman" pitchFamily="18" charset="0"/>
                        </a:rPr>
                        <a:t>,                             </a:t>
                      </a:r>
                    </a:p>
                    <a:p>
                      <a:r>
                        <a:rPr lang="uz-Cyrl-UZ" sz="900" kern="1200" dirty="0" smtClean="0">
                          <a:solidFill>
                            <a:schemeClr val="tx1"/>
                          </a:solidFill>
                          <a:latin typeface="Times New Roman" pitchFamily="18" charset="0"/>
                          <a:ea typeface="+mn-ea"/>
                          <a:cs typeface="Times New Roman" pitchFamily="18" charset="0"/>
                        </a:rPr>
                        <a:t>1984 й. Тошкент театр ва рассомлик санъати институти</a:t>
                      </a:r>
                      <a:endParaRPr lang="ru-RU" sz="900" b="0" kern="1200" noProof="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8593">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latin typeface="Times New Roman" pitchFamily="18" charset="0"/>
                          <a:ea typeface="+mn-ea"/>
                          <a:cs typeface="Times New Roman" pitchFamily="18" charset="0"/>
                        </a:rPr>
                        <a:t>Академик опера хонандаси</a:t>
                      </a:r>
                      <a:endParaRPr lang="ru-RU" sz="900" kern="120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889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889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18896">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89"/>
          <a:ext cx="3172841" cy="5944257"/>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02945">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1194274">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smtClean="0">
                          <a:solidFill>
                            <a:schemeClr val="tx1"/>
                          </a:solidFill>
                          <a:latin typeface="Times New Roman" pitchFamily="18" charset="0"/>
                          <a:ea typeface="+mn-ea"/>
                          <a:cs typeface="Times New Roman" pitchFamily="18" charset="0"/>
                        </a:rPr>
                        <a:t>Алишер Навоий номидаги Ўзбекистон давлат академик катта театри опера солисти</a:t>
                      </a:r>
                      <a:endParaRPr lang="ru-RU" sz="900" kern="1200" dirty="0" smtClean="0">
                        <a:solidFill>
                          <a:schemeClr val="tx1"/>
                        </a:solidFill>
                        <a:latin typeface="Times New Roman" pitchFamily="18" charset="0"/>
                        <a:ea typeface="+mn-ea"/>
                        <a:cs typeface="Times New Roman" pitchFamily="18" charset="0"/>
                      </a:endParaRPr>
                    </a:p>
                    <a:p>
                      <a:r>
                        <a:rPr lang="uz-Cyrl-UZ" sz="900" b="1" kern="1200" dirty="0" smtClean="0">
                          <a:solidFill>
                            <a:schemeClr val="tx1"/>
                          </a:solidFill>
                          <a:latin typeface="Times New Roman" pitchFamily="18" charset="0"/>
                          <a:ea typeface="+mn-ea"/>
                          <a:cs typeface="Times New Roman" pitchFamily="18" charset="0"/>
                        </a:rPr>
                        <a:t> </a:t>
                      </a:r>
                      <a:endParaRPr lang="ru-RU" sz="900" kern="1200" dirty="0" smtClean="0">
                        <a:solidFill>
                          <a:schemeClr val="tx1"/>
                        </a:solidFill>
                        <a:latin typeface="Times New Roman" pitchFamily="18" charset="0"/>
                        <a:ea typeface="+mn-ea"/>
                        <a:cs typeface="Times New Roman" pitchFamily="18" charset="0"/>
                      </a:endParaRPr>
                    </a:p>
                    <a:p>
                      <a:r>
                        <a:rPr lang="uz-Cyrl-UZ" sz="900" b="1" kern="1200" dirty="0" smtClean="0">
                          <a:solidFill>
                            <a:schemeClr val="tx1"/>
                          </a:solidFill>
                          <a:latin typeface="Times New Roman" pitchFamily="18" charset="0"/>
                          <a:ea typeface="+mn-ea"/>
                          <a:cs typeface="Times New Roman" pitchFamily="18" charset="0"/>
                        </a:rPr>
                        <a:t> </a:t>
                      </a:r>
                      <a:endParaRPr lang="ru-RU" sz="900" kern="1200" dirty="0" smtClean="0">
                        <a:solidFill>
                          <a:schemeClr val="tx1"/>
                        </a:solidFill>
                        <a:latin typeface="Times New Roman" pitchFamily="18" charset="0"/>
                        <a:ea typeface="+mn-ea"/>
                        <a:cs typeface="Times New Roman" pitchFamily="18" charset="0"/>
                      </a:endParaRPr>
                    </a:p>
                    <a:p>
                      <a:r>
                        <a:rPr lang="uz-Cyrl-UZ" sz="900" b="1" kern="1200" dirty="0" smtClean="0">
                          <a:solidFill>
                            <a:schemeClr val="tx1"/>
                          </a:solidFill>
                          <a:latin typeface="Times New Roman" pitchFamily="18" charset="0"/>
                          <a:ea typeface="+mn-ea"/>
                          <a:cs typeface="Times New Roman" pitchFamily="18" charset="0"/>
                        </a:rPr>
                        <a:t> </a:t>
                      </a:r>
                      <a:endParaRPr lang="ru-RU" sz="900" kern="1200" dirty="0" smtClean="0">
                        <a:solidFill>
                          <a:schemeClr val="tx1"/>
                        </a:solidFill>
                        <a:latin typeface="Times New Roman" pitchFamily="18" charset="0"/>
                        <a:ea typeface="+mn-ea"/>
                        <a:cs typeface="Times New Roman" pitchFamily="18" charset="0"/>
                      </a:endParaRPr>
                    </a:p>
                    <a:p>
                      <a:pPr marL="0" indent="0" algn="l">
                        <a:lnSpc>
                          <a:spcPct val="85000"/>
                        </a:lnSpc>
                      </a:pPr>
                      <a:endParaRPr lang="uz-Cyrl-UZ" sz="900" b="0" kern="1200" noProof="0" dirty="0">
                        <a:solidFill>
                          <a:schemeClr val="tx1"/>
                        </a:solidFill>
                        <a:latin typeface="Times New Roman" pitchFamily="18" charset="0"/>
                        <a:ea typeface="+mn-ea"/>
                        <a:cs typeface="Times New Roman"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26050">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7769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42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6549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73661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1800" b="1" kern="1200" dirty="0" smtClean="0">
                          <a:solidFill>
                            <a:schemeClr val="tx1"/>
                          </a:solidFill>
                          <a:latin typeface="+mn-lt"/>
                          <a:ea typeface="+mn-ea"/>
                          <a:cs typeface="+mn-cs"/>
                        </a:rPr>
                        <a:t> </a:t>
                      </a:r>
                      <a:endParaRPr lang="ru-RU" sz="1800" kern="1200" dirty="0">
                        <a:solidFill>
                          <a:schemeClr val="tx1"/>
                        </a:solidFill>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38101">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3810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3810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1776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91458">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717659">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kern="1200" dirty="0" smtClean="0">
                          <a:solidFill>
                            <a:schemeClr val="tx1"/>
                          </a:solidFill>
                          <a:latin typeface="Times New Roman" pitchFamily="18" charset="0"/>
                          <a:ea typeface="+mn-ea"/>
                          <a:cs typeface="Times New Roman" pitchFamily="18" charset="0"/>
                        </a:rPr>
                        <a:t>2004 й. “Ўзбекистонда хизмат кўрсатган артист” фахрий унвони</a:t>
                      </a:r>
                      <a:endParaRPr lang="ru-RU" sz="900" kern="1200" dirty="0" smtClean="0">
                        <a:solidFill>
                          <a:schemeClr val="tx1"/>
                        </a:solidFill>
                        <a:latin typeface="Times New Roman" pitchFamily="18" charset="0"/>
                        <a:ea typeface="+mn-ea"/>
                        <a:cs typeface="Times New Roman"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6"/>
          <a:ext cx="2817247" cy="5955266"/>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15036">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12034">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91192">
                <a:tc>
                  <a:txBody>
                    <a:bodyPr/>
                    <a:lstStyle/>
                    <a:p>
                      <a:pPr marL="0" indent="179388" algn="just"/>
                      <a:r>
                        <a:rPr lang="uz-Cyrl-UZ" sz="900" b="0" noProof="0" dirty="0" smtClean="0">
                          <a:solidFill>
                            <a:schemeClr val="tx1"/>
                          </a:solidFill>
                          <a:latin typeface="+mn-lt"/>
                        </a:rPr>
                        <a:t>    </a:t>
                      </a:r>
                      <a:r>
                        <a:rPr lang="uz-Cyrl-UZ" sz="900" kern="1200" dirty="0" smtClean="0">
                          <a:solidFill>
                            <a:schemeClr val="tx1"/>
                          </a:solidFill>
                          <a:latin typeface="+mn-lt"/>
                          <a:ea typeface="+mn-ea"/>
                          <a:cs typeface="Times New Roman" pitchFamily="18" charset="0"/>
                        </a:rPr>
                        <a:t>Фаолияти даврида театр </a:t>
                      </a:r>
                      <a:r>
                        <a:rPr lang="uz-Cyrl-UZ" sz="900" b="0" kern="1200" dirty="0" smtClean="0">
                          <a:solidFill>
                            <a:schemeClr val="tx1"/>
                          </a:solidFill>
                          <a:latin typeface="+mn-lt"/>
                          <a:ea typeface="+mn-ea"/>
                          <a:cs typeface="Times New Roman" pitchFamily="18" charset="0"/>
                        </a:rPr>
                        <a:t> репертуаридаги кўплаб европа ва ўзбек композиторларининг опера асарларида бош ва етакчи партияларни ижро этиб келмоқда. Жумладан; М.Ашрафийнинг “Дилором”да шоҳ Баҳром, И.Акбаровнинг “Сўғд эли қоплони”да Спитамен, Т.Жалиловнинг “Тоҳир ва Зуҳра”да Қора ботир, М.Бурхоновнинг “Алишер Навоий” операсида Алишер Навоий, С.Юдаковнинг “Майсаранинг иши”да Ҳожи дарға, М.Бафоевнинг “Севгим самоси”да Ал-Фарғоний, Д.Вердининг “Риголетто”да Риголетто, “Травиата”да Жермон, Д.Россинининг “Севилия сартароши”да Фигаро, Г.Доницеттининг “Лючия ди Ламмермур”да сер Генри, “Севги шароби”да Белькоро, Р.Леонкаваллонинг “Масхарабозлар”да Сильвио, П.Чайковскийнинг “Евгений Онегин”да Онегин, “Иоланта”да Роберт,  “Пиковая дама”да князь Елецкий  ва  бошқалар.</a:t>
                      </a:r>
                      <a:endParaRPr lang="ru-RU" sz="900" b="0" kern="1200" dirty="0" smtClean="0">
                        <a:solidFill>
                          <a:schemeClr val="tx1"/>
                        </a:solidFill>
                        <a:latin typeface="+mn-lt"/>
                        <a:ea typeface="+mn-ea"/>
                        <a:cs typeface="Times New Roman" pitchFamily="18" charset="0"/>
                      </a:endParaRPr>
                    </a:p>
                    <a:p>
                      <a:pPr marL="0" indent="179388" algn="just"/>
                      <a:r>
                        <a:rPr lang="uz-Cyrl-UZ" sz="900" b="0" kern="1200" dirty="0" smtClean="0">
                          <a:solidFill>
                            <a:schemeClr val="tx1"/>
                          </a:solidFill>
                          <a:latin typeface="+mn-lt"/>
                          <a:ea typeface="+mn-ea"/>
                          <a:cs typeface="Times New Roman" pitchFamily="18" charset="0"/>
                        </a:rPr>
                        <a:t>Кўплаб чет эллик ҳамкорлар билан ижодий</a:t>
                      </a:r>
                      <a:r>
                        <a:rPr lang="uz-Cyrl-UZ" sz="900" kern="1200" dirty="0" smtClean="0">
                          <a:solidFill>
                            <a:schemeClr val="tx1"/>
                          </a:solidFill>
                          <a:latin typeface="+mn-lt"/>
                          <a:ea typeface="+mn-ea"/>
                          <a:cs typeface="Times New Roman" pitchFamily="18" charset="0"/>
                        </a:rPr>
                        <a:t> лойиҳаларни, концерт дастурларини амалга ошириб келмоқда. Жанубий Корея, Польша, Россия, Италия, Германия, Франция, Қозоғистон ва бошқа мамлакатлар шулар жумласидандир. </a:t>
                      </a:r>
                      <a:endParaRPr lang="ru-RU" sz="900" kern="1200" dirty="0" smtClean="0">
                        <a:solidFill>
                          <a:schemeClr val="tx1"/>
                        </a:solidFill>
                        <a:latin typeface="+mn-lt"/>
                        <a:ea typeface="+mn-ea"/>
                        <a:cs typeface="Times New Roman" pitchFamily="18" charset="0"/>
                      </a:endParaRPr>
                    </a:p>
                    <a:p>
                      <a:pPr marL="0" indent="179388" algn="just"/>
                      <a:r>
                        <a:rPr lang="uz-Cyrl-UZ" sz="900" kern="1200" dirty="0" smtClean="0">
                          <a:solidFill>
                            <a:schemeClr val="tx1"/>
                          </a:solidFill>
                          <a:latin typeface="+mn-lt"/>
                          <a:ea typeface="+mn-ea"/>
                          <a:cs typeface="Times New Roman" pitchFamily="18" charset="0"/>
                        </a:rPr>
                        <a:t>У театр ижодий жамоаси билан чет эллик опера санъати усталари иштирокида ташкил этилган кўплаб ижодий кечаларда, ҳамкорликдаги концерт дастурларида, </a:t>
                      </a:r>
                      <a:r>
                        <a:rPr lang="uz-Cyrl-UZ" sz="900" b="0" kern="1200" dirty="0" smtClean="0">
                          <a:solidFill>
                            <a:schemeClr val="tx1"/>
                          </a:solidFill>
                          <a:latin typeface="+mn-lt"/>
                          <a:ea typeface="+mn-ea"/>
                          <a:cs typeface="Times New Roman" pitchFamily="18" charset="0"/>
                        </a:rPr>
                        <a:t>“Тошкент баҳори”, “Ёшлар баҳори” опера ва балет санъати  фестивалиларининг юқори савияда ўтишида тажрибали устоз ва ижрочи  сифатида  ёшларга  ўрнак  бўлиб  келмоқда.</a:t>
                      </a:r>
                      <a:endParaRPr lang="ru-RU" sz="900" b="0" kern="1200" dirty="0" smtClean="0">
                        <a:solidFill>
                          <a:schemeClr val="tx1"/>
                        </a:solidFill>
                        <a:latin typeface="+mn-lt"/>
                        <a:ea typeface="+mn-ea"/>
                        <a:cs typeface="Times New Roman" pitchFamily="18" charset="0"/>
                      </a:endParaRPr>
                    </a:p>
                    <a:p>
                      <a:pPr marL="0" indent="179388" algn="just"/>
                      <a:r>
                        <a:rPr lang="uz-Cyrl-UZ" sz="900" b="0" kern="1200" dirty="0" smtClean="0">
                          <a:solidFill>
                            <a:schemeClr val="tx1"/>
                          </a:solidFill>
                          <a:latin typeface="+mn-lt"/>
                          <a:ea typeface="+mn-ea"/>
                          <a:cs typeface="Times New Roman" pitchFamily="18" charset="0"/>
                        </a:rPr>
                        <a:t>2015 йил театр биносининг тантанали очилиш маросимидаги концертда оммавий саҳналарда фаол иштирок этди.</a:t>
                      </a:r>
                      <a:endParaRPr lang="ru-RU" sz="900" b="0" kern="1200" dirty="0" smtClean="0">
                        <a:solidFill>
                          <a:schemeClr val="tx1"/>
                        </a:solidFill>
                        <a:latin typeface="+mn-lt"/>
                        <a:ea typeface="+mn-ea"/>
                        <a:cs typeface="Times New Roman" pitchFamily="18" charset="0"/>
                      </a:endParaRPr>
                    </a:p>
                    <a:p>
                      <a:pPr marL="0" indent="179388" algn="just"/>
                      <a:r>
                        <a:rPr lang="uz-Cyrl-UZ" sz="900" kern="1200" dirty="0" smtClean="0">
                          <a:solidFill>
                            <a:schemeClr val="tx1"/>
                          </a:solidFill>
                          <a:latin typeface="+mn-lt"/>
                          <a:ea typeface="+mn-ea"/>
                          <a:cs typeface="Times New Roman" pitchFamily="18" charset="0"/>
                        </a:rPr>
                        <a:t>        У ўзининг самимийлиги, меҳнатсеварлиги билан театр жамоаси, санъат ва маданият намоёндалари орасида ҳурмат ва эътиборга лойиқ  санъаткорлардандир.</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38959">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21702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Рисунок 1" descr="C:\Users\user\Pictures\img829.jpg"/>
          <p:cNvPicPr>
            <a:picLocks noChangeAspect="1" noChangeArrowheads="1"/>
          </p:cNvPicPr>
          <p:nvPr/>
        </p:nvPicPr>
        <p:blipFill>
          <a:blip r:embed="rId2" cstate="print"/>
          <a:srcRect l="86021" t="86475" b="606"/>
          <a:stretch>
            <a:fillRect/>
          </a:stretch>
        </p:blipFill>
        <p:spPr bwMode="auto">
          <a:xfrm>
            <a:off x="238082" y="1134212"/>
            <a:ext cx="939114" cy="1123858"/>
          </a:xfrm>
          <a:prstGeom prst="rect">
            <a:avLst/>
          </a:prstGeom>
          <a:noFill/>
          <a:ln w="9525">
            <a:noFill/>
            <a:miter lim="800000"/>
            <a:headEnd/>
            <a:tailEnd/>
          </a:ln>
        </p:spPr>
      </p:pic>
      <p:sp>
        <p:nvSpPr>
          <p:cNvPr id="8" name="Прямоугольник 7">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spTree>
    <p:extLst>
      <p:ext uri="{BB962C8B-B14F-4D97-AF65-F5344CB8AC3E}">
        <p14:creationId xmlns:p14="http://schemas.microsoft.com/office/powerpoint/2010/main" val="3588213635"/>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926756"/>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5517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948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Times New Roman" pitchFamily="18" charset="0"/>
                        </a:rPr>
                        <a:t>ДЖУРАБАЕВА</a:t>
                      </a:r>
                      <a:endParaRPr lang="ru-RU"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1122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smtClean="0">
                          <a:solidFill>
                            <a:schemeClr val="tx1"/>
                          </a:solidFill>
                          <a:latin typeface="+mn-lt"/>
                          <a:ea typeface="+mn-ea"/>
                          <a:cs typeface="Times New Roman" pitchFamily="18" charset="0"/>
                        </a:rPr>
                        <a:t>Чаросой</a:t>
                      </a:r>
                      <a:endParaRPr lang="uz-Cyrl-UZ"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22587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uz-Cyrl-UZ" sz="900" b="0" kern="1200" dirty="0" smtClean="0">
                          <a:solidFill>
                            <a:schemeClr val="tx1"/>
                          </a:solidFill>
                          <a:latin typeface="+mn-lt"/>
                          <a:ea typeface="+mn-ea"/>
                          <a:cs typeface="Times New Roman" pitchFamily="18" charset="0"/>
                        </a:rPr>
                        <a:t>Хосилжановна</a:t>
                      </a:r>
                      <a:endParaRPr lang="ru-RU"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948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latin typeface="+mn-lt"/>
                      </a:endParaRPr>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21122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smtClean="0">
                          <a:solidFill>
                            <a:schemeClr val="tx1"/>
                          </a:solidFill>
                          <a:latin typeface="+mn-lt"/>
                          <a:ea typeface="+mn-ea"/>
                          <a:cs typeface="Times New Roman" pitchFamily="18" charset="0"/>
                        </a:rPr>
                        <a:t>30.09.1986</a:t>
                      </a:r>
                      <a:endParaRPr lang="ru-RU"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1122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smtClean="0">
                          <a:solidFill>
                            <a:schemeClr val="tx1"/>
                          </a:solidFill>
                          <a:latin typeface="+mn-lt"/>
                          <a:ea typeface="+mn-ea"/>
                          <a:cs typeface="Times New Roman" pitchFamily="18" charset="0"/>
                        </a:rPr>
                        <a:t>Андижон вилояти</a:t>
                      </a:r>
                      <a:endParaRPr lang="uz-Cyrl-UZ"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42152">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72385">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1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a:t>
                      </a:r>
                      <a:br>
                        <a:rPr lang="uz-Cyrl-UZ" sz="900" b="0" kern="1200" noProof="0" dirty="0" smtClean="0">
                          <a:solidFill>
                            <a:schemeClr val="tx1"/>
                          </a:solidFill>
                          <a:latin typeface="+mn-lt"/>
                          <a:ea typeface="+mn-ea"/>
                          <a:cs typeface="+mn-cs"/>
                        </a:rPr>
                      </a:b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42152">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54052">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smtClean="0">
                          <a:solidFill>
                            <a:schemeClr val="tx1"/>
                          </a:solidFill>
                          <a:latin typeface="+mn-lt"/>
                          <a:ea typeface="+mn-ea"/>
                          <a:cs typeface="Times New Roman" pitchFamily="18" charset="0"/>
                        </a:rPr>
                        <a:t>Джурабаев Хосилжон </a:t>
                      </a:r>
                    </a:p>
                    <a:p>
                      <a:pPr marL="0" marR="0" indent="0" algn="l" defTabSz="914400" rtl="0" eaLnBrk="1" fontAlgn="auto" latinLnBrk="0" hangingPunct="1">
                        <a:lnSpc>
                          <a:spcPct val="85000"/>
                        </a:lnSpc>
                        <a:spcBef>
                          <a:spcPts val="0"/>
                        </a:spcBef>
                        <a:spcAft>
                          <a:spcPts val="0"/>
                        </a:spcAft>
                        <a:buClrTx/>
                        <a:buSzTx/>
                        <a:buFontTx/>
                        <a:buNone/>
                        <a:tabLst/>
                        <a:defRPr/>
                      </a:pPr>
                      <a:r>
                        <a:rPr lang="uz-Cyrl-UZ" sz="900" kern="1200" dirty="0" smtClean="0">
                          <a:solidFill>
                            <a:schemeClr val="tx1"/>
                          </a:solidFill>
                          <a:latin typeface="+mn-lt"/>
                          <a:ea typeface="+mn-ea"/>
                          <a:cs typeface="Times New Roman" pitchFamily="18" charset="0"/>
                        </a:rPr>
                        <a:t>1949</a:t>
                      </a:r>
                      <a:r>
                        <a:rPr lang="uz-Latn-UZ" sz="900" kern="1200" dirty="0" smtClean="0">
                          <a:solidFill>
                            <a:schemeClr val="tx1"/>
                          </a:solidFill>
                          <a:latin typeface="+mn-lt"/>
                          <a:ea typeface="+mn-ea"/>
                          <a:cs typeface="Times New Roman" pitchFamily="18" charset="0"/>
                        </a:rPr>
                        <a:t> йил</a:t>
                      </a:r>
                      <a:r>
                        <a:rPr lang="uz-Cyrl-UZ" sz="900" kern="1200" dirty="0" smtClean="0">
                          <a:solidFill>
                            <a:schemeClr val="tx1"/>
                          </a:solidFill>
                          <a:latin typeface="+mn-lt"/>
                          <a:ea typeface="+mn-ea"/>
                          <a:cs typeface="Times New Roman" pitchFamily="18" charset="0"/>
                        </a:rPr>
                        <a:t> Андижон вилояти</a:t>
                      </a:r>
                      <a:endParaRPr lang="uz-Cyrl-UZ" sz="900" b="0" kern="1200" dirty="0" smtClean="0">
                        <a:solidFill>
                          <a:schemeClr val="tx1"/>
                        </a:solidFill>
                        <a:latin typeface="+mn-lt"/>
                        <a:ea typeface="+mn-ea"/>
                        <a:cs typeface="Times New Roman" pitchFamily="18" charset="0"/>
                      </a:endParaRPr>
                    </a:p>
                    <a:p>
                      <a:pPr algn="l">
                        <a:lnSpc>
                          <a:spcPct val="85000"/>
                        </a:lnSpc>
                      </a:pPr>
                      <a:endParaRPr lang="uz-Cyrl-UZ"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latin typeface="+mn-lt"/>
                          <a:ea typeface="+mn-ea"/>
                          <a:cs typeface="Times New Roman" pitchFamily="18" charset="0"/>
                        </a:rPr>
                        <a:t>2018 йилда вафот этди </a:t>
                      </a:r>
                      <a:endParaRPr lang="ru-RU" sz="900" kern="1200" dirty="0" smtClean="0">
                        <a:solidFill>
                          <a:schemeClr val="tx1"/>
                        </a:solidFill>
                        <a:latin typeface="+mn-lt"/>
                        <a:ea typeface="+mn-ea"/>
                        <a:cs typeface="Times New Roman" pitchFamily="18" charset="0"/>
                      </a:endParaRPr>
                    </a:p>
                    <a:p>
                      <a:r>
                        <a:rPr lang="uz-Cyrl-UZ" sz="900" kern="1200" dirty="0" smtClean="0">
                          <a:solidFill>
                            <a:schemeClr val="tx1"/>
                          </a:solidFill>
                          <a:latin typeface="+mn-lt"/>
                          <a:ea typeface="+mn-ea"/>
                          <a:cs typeface="Times New Roman" pitchFamily="18" charset="0"/>
                        </a:rPr>
                        <a:t>(хусусий тадбиркор)</a:t>
                      </a:r>
                      <a:endParaRPr lang="ru-RU"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621456">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smtClean="0">
                          <a:solidFill>
                            <a:schemeClr val="tx1"/>
                          </a:solidFill>
                          <a:latin typeface="+mn-lt"/>
                          <a:ea typeface="+mn-ea"/>
                          <a:cs typeface="Times New Roman" pitchFamily="18" charset="0"/>
                        </a:rPr>
                        <a:t>Сайфутдинова Рисолатхон Жалолиддиновна</a:t>
                      </a:r>
                    </a:p>
                    <a:p>
                      <a:r>
                        <a:rPr lang="ru-RU" sz="900" kern="1200" dirty="0" smtClean="0">
                          <a:solidFill>
                            <a:schemeClr val="tx1"/>
                          </a:solidFill>
                          <a:latin typeface="+mn-lt"/>
                          <a:ea typeface="+mn-ea"/>
                          <a:cs typeface="Times New Roman" pitchFamily="18" charset="0"/>
                        </a:rPr>
                        <a:t>19</a:t>
                      </a:r>
                      <a:r>
                        <a:rPr lang="uz-Cyrl-UZ" sz="900" kern="1200" dirty="0" smtClean="0">
                          <a:solidFill>
                            <a:schemeClr val="tx1"/>
                          </a:solidFill>
                          <a:latin typeface="+mn-lt"/>
                          <a:ea typeface="+mn-ea"/>
                          <a:cs typeface="Times New Roman" pitchFamily="18" charset="0"/>
                        </a:rPr>
                        <a:t>50 </a:t>
                      </a:r>
                      <a:r>
                        <a:rPr lang="uz-Latn-UZ" sz="900" kern="1200" dirty="0" smtClean="0">
                          <a:solidFill>
                            <a:schemeClr val="tx1"/>
                          </a:solidFill>
                          <a:latin typeface="+mn-lt"/>
                          <a:ea typeface="+mn-ea"/>
                          <a:cs typeface="Times New Roman" pitchFamily="18" charset="0"/>
                        </a:rPr>
                        <a:t>йил,</a:t>
                      </a:r>
                      <a:endParaRPr lang="ru-RU" sz="900" kern="1200" dirty="0" smtClean="0">
                        <a:solidFill>
                          <a:schemeClr val="tx1"/>
                        </a:solidFill>
                        <a:latin typeface="+mn-lt"/>
                        <a:ea typeface="+mn-ea"/>
                        <a:cs typeface="Times New Roman" pitchFamily="18" charset="0"/>
                      </a:endParaRPr>
                    </a:p>
                    <a:p>
                      <a:r>
                        <a:rPr lang="uz-Cyrl-UZ" sz="900" kern="1200" dirty="0" smtClean="0">
                          <a:solidFill>
                            <a:schemeClr val="tx1"/>
                          </a:solidFill>
                          <a:latin typeface="+mn-lt"/>
                          <a:ea typeface="+mn-ea"/>
                          <a:cs typeface="Times New Roman" pitchFamily="18" charset="0"/>
                        </a:rPr>
                        <a:t>Андижон вилояти</a:t>
                      </a:r>
                      <a:endParaRPr lang="uz-Cyrl-UZ" sz="900" b="0" kern="1200" noProof="0" dirty="0" smtClean="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latin typeface="+mn-lt"/>
                          <a:ea typeface="+mn-ea"/>
                          <a:cs typeface="Times New Roman" pitchFamily="18" charset="0"/>
                        </a:rPr>
                        <a:t>2019 йил вафот этди </a:t>
                      </a:r>
                      <a:endParaRPr lang="ru-RU" sz="900" kern="1200" dirty="0" smtClean="0">
                        <a:solidFill>
                          <a:schemeClr val="tx1"/>
                        </a:solidFill>
                        <a:latin typeface="+mn-lt"/>
                        <a:ea typeface="+mn-ea"/>
                        <a:cs typeface="Times New Roman" pitchFamily="18" charset="0"/>
                      </a:endParaRPr>
                    </a:p>
                    <a:p>
                      <a:r>
                        <a:rPr lang="uz-Cyrl-UZ" sz="900" kern="1200" dirty="0" smtClean="0">
                          <a:solidFill>
                            <a:schemeClr val="tx1"/>
                          </a:solidFill>
                          <a:latin typeface="+mn-lt"/>
                          <a:ea typeface="+mn-ea"/>
                          <a:cs typeface="Times New Roman" pitchFamily="18" charset="0"/>
                        </a:rPr>
                        <a:t>(уй бекаси)</a:t>
                      </a:r>
                      <a:endParaRPr lang="ru-RU"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357131">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7734">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16016">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latin typeface="+mn-lt"/>
                          <a:ea typeface="+mn-ea"/>
                          <a:cs typeface="Times New Roman" pitchFamily="18" charset="0"/>
                        </a:rPr>
                        <a:t>2021 й. Ўзбекистон давлат хореография академияси </a:t>
                      </a:r>
                      <a:endParaRPr lang="ru-RU" sz="90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372385">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latin typeface="+mn-lt"/>
                          <a:ea typeface="+mn-ea"/>
                          <a:cs typeface="Times New Roman" pitchFamily="18" charset="0"/>
                        </a:rPr>
                        <a:t>хореография санъати, хореография жамоалар раҳбари</a:t>
                      </a:r>
                      <a:r>
                        <a:rPr lang="uz-Cyrl-UZ" sz="900" b="1" kern="1200" dirty="0" smtClean="0">
                          <a:solidFill>
                            <a:schemeClr val="tx1"/>
                          </a:solidFill>
                          <a:latin typeface="+mn-lt"/>
                          <a:ea typeface="+mn-ea"/>
                          <a:cs typeface="Times New Roman" pitchFamily="18" charset="0"/>
                        </a:rPr>
                        <a:t> </a:t>
                      </a:r>
                      <a:endParaRPr lang="uz-Cyrl-UZ"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29518">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магистр</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29518">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58565">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90"/>
          <a:ext cx="3172841" cy="5926769"/>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291153">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860515">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smtClean="0">
                          <a:solidFill>
                            <a:schemeClr val="tx1"/>
                          </a:solidFill>
                          <a:latin typeface="+mn-lt"/>
                          <a:ea typeface="+mn-ea"/>
                          <a:cs typeface="+mn-cs"/>
                        </a:rPr>
                        <a:t>Алишер Навоий номидаги Ўзбекистон давлат академик катта театри Ёшлар балетчилар гуруҳи  (“Тумор” ансамбли) бадиий раҳбари</a:t>
                      </a:r>
                      <a:endParaRPr lang="ru-RU" sz="900" kern="120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17250">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6370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15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5880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9</a:t>
                      </a:r>
                      <a:r>
                        <a:rPr lang="uz-Cyrl-UZ" sz="900" b="0" baseline="0" noProof="0" dirty="0" smtClean="0">
                          <a:effectLst/>
                          <a:latin typeface="+mn-lt"/>
                          <a:ea typeface="Calibri" panose="020F0502020204030204" pitchFamily="34" charset="0"/>
                          <a:cs typeface="Times New Roman" panose="02020603050405020304" pitchFamily="18" charset="0"/>
                        </a:rPr>
                        <a:t> </a:t>
                      </a:r>
                      <a:r>
                        <a:rPr lang="uz-Cyrl-UZ" sz="900" b="0" noProof="0" dirty="0" smtClean="0">
                          <a:effectLst/>
                          <a:latin typeface="+mn-lt"/>
                          <a:ea typeface="Calibri" panose="020F0502020204030204" pitchFamily="34" charset="0"/>
                          <a:cs typeface="Times New Roman" panose="02020603050405020304" pitchFamily="18" charset="0"/>
                        </a:rPr>
                        <a:t>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40105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smtClean="0">
                          <a:solidFill>
                            <a:schemeClr val="tx1"/>
                          </a:solidFill>
                          <a:latin typeface="Times New Roman" pitchFamily="18" charset="0"/>
                          <a:ea typeface="+mn-ea"/>
                          <a:cs typeface="Times New Roman" pitchFamily="18" charset="0"/>
                        </a:rPr>
                        <a:t>2011-2016 йй. - “Тumor raqs dastasi” масъулияти чекланган жамияти бош балетмейстери</a:t>
                      </a:r>
                      <a:endParaRPr lang="ru-RU" sz="900" kern="1200" dirty="0" smtClean="0">
                        <a:solidFill>
                          <a:schemeClr val="tx1"/>
                        </a:solidFill>
                        <a:latin typeface="Times New Roman" pitchFamily="18" charset="0"/>
                        <a:ea typeface="+mn-ea"/>
                        <a:cs typeface="Times New Roman" pitchFamily="18" charset="0"/>
                      </a:endParaRPr>
                    </a:p>
                    <a:p>
                      <a:r>
                        <a:rPr lang="uz-Cyrl-UZ" sz="900" kern="1200" dirty="0" smtClean="0">
                          <a:solidFill>
                            <a:schemeClr val="tx1"/>
                          </a:solidFill>
                          <a:latin typeface="Times New Roman" pitchFamily="18" charset="0"/>
                          <a:ea typeface="+mn-ea"/>
                          <a:cs typeface="Times New Roman" pitchFamily="18" charset="0"/>
                        </a:rPr>
                        <a:t>2017 й. -  ҳ.в.  - </a:t>
                      </a:r>
                      <a:r>
                        <a:rPr lang="uz-Cyrl-UZ" sz="900" kern="1200" dirty="0" smtClean="0">
                          <a:solidFill>
                            <a:schemeClr val="tx1"/>
                          </a:solidFill>
                          <a:latin typeface="+mn-lt"/>
                          <a:ea typeface="+mn-ea"/>
                          <a:cs typeface="+mn-cs"/>
                        </a:rPr>
                        <a:t>Алишер Навоий номидаги Ўзбекистон давлат академик катта театри Ёшлар балетчилар гуруҳи  (“Тумор” ансамбли) бадиий раҳбари</a:t>
                      </a:r>
                      <a:endParaRPr lang="ru-RU" sz="900" kern="1200" dirty="0" smtClean="0">
                        <a:solidFill>
                          <a:schemeClr val="tx1"/>
                        </a:solidFill>
                        <a:latin typeface="+mn-lt"/>
                        <a:ea typeface="+mn-ea"/>
                        <a:cs typeface="+mn-cs"/>
                      </a:endParaRPr>
                    </a:p>
                    <a:p>
                      <a:pPr algn="l">
                        <a:lnSpc>
                          <a:spcPct val="107000"/>
                        </a:lnSpc>
                        <a:spcAft>
                          <a:spcPts val="0"/>
                        </a:spcAft>
                      </a:pP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25038">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2493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2493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0061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7638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582385">
                <a:tc grid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2015 йилда - “Эътироф” миллий мукофоти</a:t>
                      </a:r>
                      <a:endParaRPr lang="uz-Cyrl-UZ" sz="900" kern="1200" dirty="0" smtClean="0">
                        <a:solidFill>
                          <a:schemeClr val="tx1"/>
                        </a:solidFill>
                        <a:latin typeface="+mn-lt"/>
                        <a:ea typeface="+mn-ea"/>
                        <a:cs typeface="Times New Roman" pitchFamily="18" charset="0"/>
                      </a:endParaRPr>
                    </a:p>
                    <a:p>
                      <a:r>
                        <a:rPr lang="uz-Cyrl-UZ" sz="900" kern="1200" dirty="0" smtClean="0">
                          <a:solidFill>
                            <a:schemeClr val="tx1"/>
                          </a:solidFill>
                          <a:latin typeface="+mn-lt"/>
                          <a:ea typeface="+mn-ea"/>
                          <a:cs typeface="Times New Roman" pitchFamily="18" charset="0"/>
                        </a:rPr>
                        <a:t>2018 й. “Дўстлик” ордени </a:t>
                      </a:r>
                    </a:p>
                    <a:p>
                      <a:pPr marL="0" marR="0" lvl="0" indent="0" algn="l" defTabSz="914400" rtl="0" eaLnBrk="1" fontAlgn="auto" latinLnBrk="0" hangingPunct="1">
                        <a:lnSpc>
                          <a:spcPct val="100000"/>
                        </a:lnSpc>
                        <a:spcBef>
                          <a:spcPts val="0"/>
                        </a:spcBef>
                        <a:spcAft>
                          <a:spcPts val="0"/>
                        </a:spcAft>
                        <a:buClrTx/>
                        <a:buSzTx/>
                        <a:buFontTx/>
                        <a:buNone/>
                        <a:tabLst/>
                        <a:defRPr/>
                      </a:pPr>
                      <a:r>
                        <a:rPr lang="uz-Cyrl-UZ" sz="900" kern="1200" dirty="0" smtClean="0">
                          <a:solidFill>
                            <a:schemeClr val="tx1"/>
                          </a:solidFill>
                          <a:effectLst/>
                          <a:latin typeface="+mn-lt"/>
                          <a:ea typeface="+mn-ea"/>
                          <a:cs typeface="+mn-cs"/>
                        </a:rPr>
                        <a:t>2022 йил – “Маданият ва санъат фидокори” кўкрак белгиси</a:t>
                      </a:r>
                      <a:endParaRPr lang="ru-RU" sz="900" kern="1200" dirty="0" smtClean="0">
                        <a:solidFill>
                          <a:schemeClr val="tx1"/>
                        </a:solidFill>
                        <a:latin typeface="+mn-lt"/>
                        <a:ea typeface="+mn-ea"/>
                        <a:cs typeface="Times New Roman" pitchFamily="18" charset="0"/>
                      </a:endParaRPr>
                    </a:p>
                    <a:p>
                      <a:r>
                        <a:rPr lang="uz-Cyrl-UZ" sz="900" kern="1200" dirty="0" smtClean="0">
                          <a:solidFill>
                            <a:schemeClr val="tx1"/>
                          </a:solidFill>
                          <a:latin typeface="+mn-lt"/>
                          <a:ea typeface="+mn-ea"/>
                          <a:cs typeface="Times New Roman" pitchFamily="18" charset="0"/>
                        </a:rPr>
                        <a:t>2023 й. “Ўзбекистонда хизмат кўрсатган артист” фахрий унвони</a:t>
                      </a:r>
                      <a:endParaRPr lang="ru-RU" sz="900" kern="1200" dirty="0" smtClean="0">
                        <a:solidFill>
                          <a:schemeClr val="tx1"/>
                        </a:solidFill>
                        <a:latin typeface="+mn-lt"/>
                        <a:ea typeface="+mn-ea"/>
                        <a:cs typeface="Times New Roman"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7"/>
          <a:ext cx="2817247" cy="5939775"/>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4617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09878">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3996791">
                <a:tc>
                  <a:txBody>
                    <a:bodyPr/>
                    <a:lstStyle/>
                    <a:p>
                      <a:pPr marL="0" indent="179388" algn="just"/>
                      <a:r>
                        <a:rPr lang="uz-Cyrl-UZ" sz="900" kern="1200" dirty="0" smtClean="0">
                          <a:solidFill>
                            <a:schemeClr val="tx1"/>
                          </a:solidFill>
                          <a:latin typeface="+mn-lt"/>
                          <a:ea typeface="+mn-ea"/>
                          <a:cs typeface="Times New Roman" pitchFamily="18" charset="0"/>
                        </a:rPr>
                        <a:t>У 2017 йилдан Алишер Навоий номидаги Ўзбекистон давлат академик катта театри Ёш балетчилар гуруҳи (“Тумор” ансамбли) бадиий раҳбари сифатида мазкур ансамблининг  юртимизда ва хорижда  тан олинишига  самарали меҳнатини қўшиб келмоқда. </a:t>
                      </a:r>
                      <a:endParaRPr lang="ru-RU" sz="900" kern="1200" dirty="0" smtClean="0">
                        <a:solidFill>
                          <a:schemeClr val="tx1"/>
                        </a:solidFill>
                        <a:latin typeface="+mn-lt"/>
                        <a:ea typeface="+mn-ea"/>
                        <a:cs typeface="Times New Roman" pitchFamily="18" charset="0"/>
                      </a:endParaRPr>
                    </a:p>
                    <a:p>
                      <a:pPr marL="0" indent="179388" algn="just"/>
                      <a:r>
                        <a:rPr lang="uz-Cyrl-UZ" sz="900" kern="1200" dirty="0" smtClean="0">
                          <a:solidFill>
                            <a:schemeClr val="tx1"/>
                          </a:solidFill>
                          <a:latin typeface="+mn-lt"/>
                          <a:ea typeface="+mn-ea"/>
                          <a:cs typeface="Times New Roman" pitchFamily="18" charset="0"/>
                        </a:rPr>
                        <a:t>Сўнгги йилларда у раҳбарлик қилаётган “Тумор” ансамбли Мустакиллик ва Наврўз байрамлари, “8 март - Ҳалқаро хотин қизлар куни”, “Ўқитувчи ва мураббийлар куни”, “Ватан химоячилари куни”, Ўзбекистон Республикасининг Конституцияси қабул қилинган кунига бағишлаб ўтказилиб келинаётган байрам концерт дастурларининг иштирокчисидир. Шу билан биргаликда ансамбль ҳалқаро даражадаги кўплаб маданий дастурларда иштирок этиб, мутахассислар ва томошабинларнинг олқишларига сазовор бўлиб келмокда. Бундан ташқари Республикамизнинг турли вилоятларида ўтказиб келинаётган кўплаб концерт дастурлари ва маданий-маърифий, ижодий учрашувларда мунтазам равишда фаол иштирок этиб келмоқда</a:t>
                      </a:r>
                      <a:endParaRPr lang="ru-RU" sz="900" kern="1200" dirty="0" smtClean="0">
                        <a:solidFill>
                          <a:schemeClr val="tx1"/>
                        </a:solidFill>
                        <a:latin typeface="+mn-lt"/>
                        <a:ea typeface="+mn-ea"/>
                        <a:cs typeface="Times New Roman" pitchFamily="18" charset="0"/>
                      </a:endParaRPr>
                    </a:p>
                    <a:p>
                      <a:pPr marL="0" indent="179388" algn="just"/>
                      <a:r>
                        <a:rPr lang="uz-Cyrl-UZ" sz="900" kern="1200" dirty="0" smtClean="0">
                          <a:solidFill>
                            <a:schemeClr val="tx1"/>
                          </a:solidFill>
                          <a:latin typeface="+mn-lt"/>
                          <a:ea typeface="+mn-ea"/>
                          <a:cs typeface="Times New Roman" pitchFamily="18" charset="0"/>
                        </a:rPr>
                        <a:t>Ч.Джурабаева ҳозирги кунда келажаги бор ёш балетмейстерлардан бири бўлиб,  замонавий услубда мусиқа оҳангига мос равишда рақсларни моҳирона саҳналаштира оладиган профессионал мутаҳассислардан биридир.</a:t>
                      </a:r>
                      <a:endParaRPr lang="ru-RU" sz="900" kern="1200" dirty="0" smtClean="0">
                        <a:solidFill>
                          <a:schemeClr val="tx1"/>
                        </a:solidFill>
                        <a:latin typeface="+mn-lt"/>
                        <a:ea typeface="+mn-ea"/>
                        <a:cs typeface="Times New Roman" pitchFamily="18" charset="0"/>
                      </a:endParaRPr>
                    </a:p>
                    <a:p>
                      <a:pPr marL="0" indent="179388" algn="just"/>
                      <a:r>
                        <a:rPr lang="uz-Cyrl-UZ" sz="900" kern="1200" dirty="0" smtClean="0">
                          <a:solidFill>
                            <a:schemeClr val="tx1"/>
                          </a:solidFill>
                          <a:latin typeface="+mn-lt"/>
                          <a:ea typeface="+mn-ea"/>
                          <a:cs typeface="Times New Roman" pitchFamily="18" charset="0"/>
                        </a:rPr>
                        <a:t>Ч.Джурабоева салоҳиятли ижодкор сифатида янгиликларга интилувчан  хизмат вазифасига масъулият билан ёндошадиган раҳбар.  Меҳнаткаш, камтар ва тўғрисўз инсон. Ҳозирги кунда устоз-шогирд анъаналарига содиқ қолган ҳолда ёшларни тарбиялашда жонбозлик кўрсатиб  келмоқда.</a:t>
                      </a:r>
                      <a:endParaRPr lang="uz-Cyrl-UZ" sz="900" b="0" noProof="0" dirty="0">
                        <a:solidFill>
                          <a:schemeClr val="tx1"/>
                        </a:solidFill>
                        <a:latin typeface="+mn-lt"/>
                        <a:cs typeface="Times New Roman" pitchFamily="18" charset="0"/>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2943">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723181">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ўтказлиб келинадиган барча оммавий мадарий тадбирлар ва давлат тадбирлари, шунингдек, давлат қабулларининг концерт дастурларида “Тумор” ансамбли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438" y="1213424"/>
            <a:ext cx="866607" cy="1085393"/>
          </a:xfrm>
          <a:prstGeom prst="rect">
            <a:avLst/>
          </a:prstGeom>
          <a:noFill/>
          <a:ln>
            <a:noFill/>
          </a:ln>
        </p:spPr>
      </p:pic>
      <p:sp>
        <p:nvSpPr>
          <p:cNvPr id="9" name="Прямоугольник 8">
            <a:extLst>
              <a:ext uri="{FF2B5EF4-FFF2-40B4-BE49-F238E27FC236}">
                <a16:creationId xmlns:a16="http://schemas.microsoft.com/office/drawing/2014/main" id="{5A9AA459-1519-4154-AF5D-18C6732B0658}"/>
              </a:ext>
            </a:extLst>
          </p:cNvPr>
          <p:cNvSpPr/>
          <p:nvPr/>
        </p:nvSpPr>
        <p:spPr>
          <a:xfrm>
            <a:off x="138896" y="566501"/>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spTree>
    <p:extLst>
      <p:ext uri="{BB962C8B-B14F-4D97-AF65-F5344CB8AC3E}">
        <p14:creationId xmlns:p14="http://schemas.microsoft.com/office/powerpoint/2010/main" val="4184156736"/>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38896" y="865689"/>
          <a:ext cx="3343436" cy="5875002"/>
        </p:xfrm>
        <a:graphic>
          <a:graphicData uri="http://schemas.openxmlformats.org/drawingml/2006/table">
            <a:tbl>
              <a:tblPr firstRow="1" bandRow="1">
                <a:tableStyleId>{C083E6E3-FA7D-4D7B-A595-EF9225AFEA82}</a:tableStyleId>
              </a:tblPr>
              <a:tblGrid>
                <a:gridCol w="511079">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Times New Roman" panose="02020603050405020304" pitchFamily="18" charset="0"/>
                          <a:cs typeface="Times New Roman" panose="02020603050405020304" pitchFamily="18" charset="0"/>
                        </a:rPr>
                        <a:t>Фамилияси:</a:t>
                      </a:r>
                      <a:endParaRPr lang="ru-RU" dirty="0">
                        <a:latin typeface="Times New Roman" panose="02020603050405020304" pitchFamily="18" charset="0"/>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ru-RU" sz="800" b="1" dirty="0" smtClean="0">
                          <a:effectLst/>
                          <a:latin typeface="Times New Roman" panose="02020603050405020304" pitchFamily="18" charset="0"/>
                          <a:ea typeface="Calibri" panose="020F0502020204030204" pitchFamily="34" charset="0"/>
                          <a:cs typeface="Times New Roman" panose="02020603050405020304" pitchFamily="18" charset="0"/>
                        </a:rPr>
                        <a:t>ЕГАЙ</a:t>
                      </a:r>
                      <a:endParaRPr lang="ru-RU" sz="800" b="0" kern="1200" dirty="0">
                        <a:solidFill>
                          <a:schemeClr val="tx1"/>
                        </a:solidFill>
                        <a:effectLst/>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Times New Roman" panose="02020603050405020304" pitchFamily="18" charset="0"/>
                          <a:cs typeface="Times New Roman" panose="02020603050405020304" pitchFamily="18" charset="0"/>
                        </a:rPr>
                        <a:t>Исми:</a:t>
                      </a:r>
                      <a:endParaRPr lang="ru-RU" dirty="0">
                        <a:latin typeface="Times New Roman" panose="02020603050405020304" pitchFamily="18" charset="0"/>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1" dirty="0">
                          <a:effectLst/>
                          <a:latin typeface="Times New Roman" panose="02020603050405020304" pitchFamily="18" charset="0"/>
                          <a:ea typeface="Calibri" panose="020F0502020204030204" pitchFamily="34" charset="0"/>
                          <a:cs typeface="Times New Roman" panose="02020603050405020304" pitchFamily="18" charset="0"/>
                        </a:rPr>
                        <a:t>Владислав </a:t>
                      </a:r>
                      <a:endParaRPr lang="uz-Cyrl-UZ" sz="800" b="0" kern="120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Times New Roman" panose="02020603050405020304" pitchFamily="18" charset="0"/>
                          <a:cs typeface="Times New Roman" panose="02020603050405020304" pitchFamily="18" charset="0"/>
                        </a:rPr>
                        <a:t>Отасининг исми:</a:t>
                      </a:r>
                      <a:endParaRPr lang="ru-RU" dirty="0">
                        <a:latin typeface="Times New Roman" panose="02020603050405020304" pitchFamily="18" charset="0"/>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Times New Roman" panose="02020603050405020304" pitchFamily="18" charset="0"/>
                          <a:ea typeface="+mn-ea"/>
                          <a:cs typeface="Times New Roman" panose="02020603050405020304" pitchFamily="18" charset="0"/>
                        </a:rPr>
                        <a:t>ХХХ</a:t>
                      </a:r>
                      <a:endParaRPr lang="uz-Cyrl-UZ" sz="800" b="0" kern="120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Times New Roman" panose="02020603050405020304" pitchFamily="18" charset="0"/>
                          <a:cs typeface="Times New Roman" panose="02020603050405020304" pitchFamily="18" charset="0"/>
                        </a:rPr>
                        <a:t>Миллати:</a:t>
                      </a:r>
                      <a:endParaRPr lang="ru-RU" dirty="0">
                        <a:latin typeface="Times New Roman" panose="02020603050405020304" pitchFamily="18" charset="0"/>
                        <a:cs typeface="Times New Roman" panose="02020603050405020304" pitchFamily="18" charset="0"/>
                      </a:endParaRPr>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800" kern="1200" dirty="0">
                          <a:solidFill>
                            <a:schemeClr val="tx1"/>
                          </a:solidFill>
                          <a:effectLst/>
                          <a:latin typeface="Times New Roman" panose="02020603050405020304" pitchFamily="18" charset="0"/>
                          <a:ea typeface="+mn-ea"/>
                          <a:cs typeface="Times New Roman" panose="02020603050405020304" pitchFamily="18" charset="0"/>
                        </a:rPr>
                        <a:t>КОРЕЙС</a:t>
                      </a:r>
                      <a:endParaRPr lang="ru-RU" sz="800" b="0" kern="120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Times New Roman" panose="02020603050405020304" pitchFamily="18" charset="0"/>
                          <a:cs typeface="Times New Roman" panose="02020603050405020304" pitchFamily="18" charset="0"/>
                        </a:rPr>
                        <a:t>Туғилган санаси:</a:t>
                      </a:r>
                      <a:endParaRPr lang="ru-RU" dirty="0">
                        <a:latin typeface="Times New Roman" panose="02020603050405020304" pitchFamily="18" charset="0"/>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kern="1200" dirty="0">
                          <a:solidFill>
                            <a:schemeClr val="tx1"/>
                          </a:solidFill>
                          <a:effectLst/>
                          <a:latin typeface="Times New Roman" panose="02020603050405020304" pitchFamily="18" charset="0"/>
                          <a:ea typeface="+mn-ea"/>
                          <a:cs typeface="Times New Roman" panose="02020603050405020304" pitchFamily="18" charset="0"/>
                        </a:rPr>
                        <a:t>17.06.1948</a:t>
                      </a:r>
                      <a:endParaRPr lang="ru-RU" sz="800" b="0" kern="120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Times New Roman" panose="02020603050405020304" pitchFamily="18" charset="0"/>
                          <a:cs typeface="Times New Roman" panose="02020603050405020304" pitchFamily="18" charset="0"/>
                        </a:rPr>
                        <a:t>Туғилган жойи:</a:t>
                      </a:r>
                      <a:endParaRPr lang="ru-RU" dirty="0">
                        <a:latin typeface="Times New Roman" panose="02020603050405020304" pitchFamily="18" charset="0"/>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kern="1200" dirty="0">
                          <a:solidFill>
                            <a:schemeClr val="tx1"/>
                          </a:solidFill>
                          <a:effectLst/>
                          <a:latin typeface="Times New Roman" panose="02020603050405020304" pitchFamily="18" charset="0"/>
                          <a:ea typeface="+mn-ea"/>
                          <a:cs typeface="Times New Roman" panose="02020603050405020304" pitchFamily="18" charset="0"/>
                        </a:rPr>
                        <a:t>Тошкент шаҳри</a:t>
                      </a:r>
                      <a:endParaRPr lang="uz-Cyrl-UZ" sz="800" b="0" kern="120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Times New Roman" panose="02020603050405020304" pitchFamily="18" charset="0"/>
                          <a:cs typeface="Times New Roman" panose="02020603050405020304" pitchFamily="18" charset="0"/>
                        </a:rPr>
                        <a:t>Оилавий ва ижтимоий ахволи:</a:t>
                      </a:r>
                      <a:endParaRPr lang="uz-Cyrl-UZ" sz="800" b="1" dirty="0">
                        <a:solidFill>
                          <a:schemeClr val="bg1"/>
                        </a:solidFill>
                        <a:latin typeface="Times New Roman" panose="02020603050405020304" pitchFamily="18" charset="0"/>
                        <a:cs typeface="Times New Roman" panose="02020603050405020304" pitchFamily="18"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uz-Cyrl-UZ" sz="800" b="0" kern="1200" noProof="0" dirty="0" smtClean="0">
                          <a:solidFill>
                            <a:schemeClr val="tx1"/>
                          </a:solidFill>
                          <a:latin typeface="Times New Roman" panose="02020603050405020304" pitchFamily="18" charset="0"/>
                          <a:ea typeface="+mn-ea"/>
                          <a:cs typeface="Times New Roman" panose="02020603050405020304" pitchFamily="18" charset="0"/>
                        </a:rPr>
                        <a:t>буйдоқ</a:t>
                      </a:r>
                      <a:endParaRPr lang="uz-Cyrl-UZ"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Е Дон-Хо</a:t>
                      </a:r>
                    </a:p>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1899 йил, </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Фарғана шаҳри</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p>
                      <a:endParaRPr lang="uz-Cyrl-UZ"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1976 йил, вафот этган</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(Куйлюк тумани </a:t>
                      </a:r>
                      <a:r>
                        <a:rPr lang="ru-RU" sz="800" kern="1200" dirty="0">
                          <a:solidFill>
                            <a:schemeClr val="tx1"/>
                          </a:solidFill>
                          <a:effectLst/>
                          <a:latin typeface="Times New Roman" panose="02020603050405020304" pitchFamily="18" charset="0"/>
                          <a:ea typeface="+mn-ea"/>
                          <a:cs typeface="Times New Roman" panose="02020603050405020304" pitchFamily="18" charset="0"/>
                        </a:rPr>
                        <a:t>совет</a:t>
                      </a:r>
                      <a:r>
                        <a:rPr lang="uz-Cyrl-UZ" sz="800" kern="1200" dirty="0">
                          <a:solidFill>
                            <a:schemeClr val="tx1"/>
                          </a:solidFill>
                          <a:effectLst/>
                          <a:latin typeface="Times New Roman" panose="02020603050405020304" pitchFamily="18" charset="0"/>
                          <a:ea typeface="+mn-ea"/>
                          <a:cs typeface="Times New Roman" panose="02020603050405020304" pitchFamily="18" charset="0"/>
                        </a:rPr>
                        <a:t>и</a:t>
                      </a:r>
                      <a:r>
                        <a:rPr lang="ru-RU" sz="800" kern="1200" dirty="0">
                          <a:solidFill>
                            <a:schemeClr val="tx1"/>
                          </a:solidFill>
                          <a:effectLst/>
                          <a:latin typeface="Times New Roman" panose="02020603050405020304" pitchFamily="18" charset="0"/>
                          <a:ea typeface="+mn-ea"/>
                          <a:cs typeface="Times New Roman" panose="02020603050405020304" pitchFamily="18" charset="0"/>
                        </a:rPr>
                        <a:t> Депутат</a:t>
                      </a:r>
                      <a:r>
                        <a:rPr lang="uz-Cyrl-UZ" sz="800" kern="1200" dirty="0">
                          <a:solidFill>
                            <a:schemeClr val="tx1"/>
                          </a:solidFill>
                          <a:effectLst/>
                          <a:latin typeface="Times New Roman" panose="02020603050405020304" pitchFamily="18" charset="0"/>
                          <a:ea typeface="+mn-ea"/>
                          <a:cs typeface="Times New Roman" panose="02020603050405020304" pitchFamily="18" charset="0"/>
                        </a:rPr>
                        <a:t>и)</a:t>
                      </a:r>
                      <a:endParaRPr lang="ru-RU"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Е  Вера </a:t>
                      </a:r>
                      <a:r>
                        <a:rPr lang="ru-RU" sz="800" kern="1200" dirty="0">
                          <a:solidFill>
                            <a:schemeClr val="tx1"/>
                          </a:solidFill>
                          <a:effectLst/>
                          <a:latin typeface="Times New Roman" panose="02020603050405020304" pitchFamily="18" charset="0"/>
                          <a:ea typeface="+mn-ea"/>
                          <a:cs typeface="Times New Roman" panose="02020603050405020304" pitchFamily="18" charset="0"/>
                        </a:rPr>
                        <a:t>1910</a:t>
                      </a:r>
                      <a:r>
                        <a:rPr lang="uz-Cyrl-UZ" sz="800" kern="1200" dirty="0">
                          <a:solidFill>
                            <a:schemeClr val="tx1"/>
                          </a:solidFill>
                          <a:effectLst/>
                          <a:latin typeface="Times New Roman" panose="02020603050405020304" pitchFamily="18" charset="0"/>
                          <a:ea typeface="+mn-ea"/>
                          <a:cs typeface="Times New Roman" panose="02020603050405020304" pitchFamily="18" charset="0"/>
                        </a:rPr>
                        <a:t> йил,</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p>
                      <a:r>
                        <a:rPr lang="ru-RU" sz="800" kern="1200" dirty="0">
                          <a:solidFill>
                            <a:schemeClr val="tx1"/>
                          </a:solidFill>
                          <a:effectLst/>
                          <a:latin typeface="Times New Roman" panose="02020603050405020304" pitchFamily="18" charset="0"/>
                          <a:ea typeface="+mn-ea"/>
                          <a:cs typeface="Times New Roman" panose="02020603050405020304" pitchFamily="18" charset="0"/>
                        </a:rPr>
                        <a:t>Т</a:t>
                      </a:r>
                      <a:r>
                        <a:rPr lang="uz-Cyrl-UZ" sz="800" kern="1200" dirty="0">
                          <a:solidFill>
                            <a:schemeClr val="tx1"/>
                          </a:solidFill>
                          <a:effectLst/>
                          <a:latin typeface="Times New Roman" panose="02020603050405020304" pitchFamily="18" charset="0"/>
                          <a:ea typeface="+mn-ea"/>
                          <a:cs typeface="Times New Roman" panose="02020603050405020304" pitchFamily="18" charset="0"/>
                        </a:rPr>
                        <a:t>о</a:t>
                      </a:r>
                      <a:r>
                        <a:rPr lang="ru-RU" sz="800" kern="1200" dirty="0" err="1">
                          <a:solidFill>
                            <a:schemeClr val="tx1"/>
                          </a:solidFill>
                          <a:effectLst/>
                          <a:latin typeface="Times New Roman" panose="02020603050405020304" pitchFamily="18" charset="0"/>
                          <a:ea typeface="+mn-ea"/>
                          <a:cs typeface="Times New Roman" panose="02020603050405020304" pitchFamily="18" charset="0"/>
                        </a:rPr>
                        <a:t>шкент</a:t>
                      </a:r>
                      <a:r>
                        <a:rPr lang="ru-RU" sz="800" kern="1200" dirty="0">
                          <a:solidFill>
                            <a:schemeClr val="tx1"/>
                          </a:solidFill>
                          <a:effectLst/>
                          <a:latin typeface="Times New Roman" panose="02020603050405020304" pitchFamily="18" charset="0"/>
                          <a:ea typeface="+mn-ea"/>
                          <a:cs typeface="Times New Roman" panose="02020603050405020304" pitchFamily="18" charset="0"/>
                        </a:rPr>
                        <a:t> </a:t>
                      </a:r>
                      <a:r>
                        <a:rPr lang="uz-Cyrl-UZ" sz="800" kern="1200" dirty="0">
                          <a:solidFill>
                            <a:schemeClr val="tx1"/>
                          </a:solidFill>
                          <a:effectLst/>
                          <a:latin typeface="Times New Roman" panose="02020603050405020304" pitchFamily="18" charset="0"/>
                          <a:ea typeface="+mn-ea"/>
                          <a:cs typeface="Times New Roman" panose="02020603050405020304" pitchFamily="18" charset="0"/>
                        </a:rPr>
                        <a:t>шаҳри</a:t>
                      </a:r>
                    </a:p>
                    <a:p>
                      <a:endParaRPr lang="uz-Cyrl-UZ"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ru-RU" sz="800" kern="1200" dirty="0">
                          <a:solidFill>
                            <a:schemeClr val="tx1"/>
                          </a:solidFill>
                          <a:effectLst/>
                          <a:latin typeface="Times New Roman" panose="02020603050405020304" pitchFamily="18" charset="0"/>
                          <a:ea typeface="+mn-ea"/>
                          <a:cs typeface="Times New Roman" panose="02020603050405020304" pitchFamily="18" charset="0"/>
                        </a:rPr>
                        <a:t>1983 </a:t>
                      </a:r>
                      <a:r>
                        <a:rPr lang="uz-Cyrl-UZ" sz="800" kern="1200" dirty="0">
                          <a:solidFill>
                            <a:schemeClr val="tx1"/>
                          </a:solidFill>
                          <a:effectLst/>
                          <a:latin typeface="Times New Roman" panose="02020603050405020304" pitchFamily="18" charset="0"/>
                          <a:ea typeface="+mn-ea"/>
                          <a:cs typeface="Times New Roman" panose="02020603050405020304" pitchFamily="18" charset="0"/>
                        </a:rPr>
                        <a:t>йил, вафот этган </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 уй бекаси, тикувчи)</a:t>
                      </a:r>
                      <a:endParaRPr lang="ru-RU"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endParaRPr lang="uz-Cyrl-UZ"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endParaRPr lang="uz-Cyrl-UZ"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48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kern="1200" dirty="0">
                          <a:solidFill>
                            <a:schemeClr val="tx1"/>
                          </a:solidFill>
                          <a:effectLst/>
                          <a:latin typeface="Times New Roman" panose="02020603050405020304" pitchFamily="18" charset="0"/>
                          <a:ea typeface="+mn-ea"/>
                          <a:cs typeface="Times New Roman" panose="02020603050405020304" pitchFamily="18" charset="0"/>
                        </a:rPr>
                        <a:t>1993 </a:t>
                      </a:r>
                      <a:r>
                        <a:rPr lang="uz-Cyrl-UZ" sz="800" kern="1200" dirty="0">
                          <a:solidFill>
                            <a:schemeClr val="tx1"/>
                          </a:solidFill>
                          <a:effectLst/>
                          <a:latin typeface="Times New Roman" panose="02020603050405020304" pitchFamily="18" charset="0"/>
                          <a:ea typeface="+mn-ea"/>
                          <a:cs typeface="Times New Roman" panose="02020603050405020304" pitchFamily="18" charset="0"/>
                        </a:rPr>
                        <a:t>й., А.Қодирий номидаги </a:t>
                      </a:r>
                      <a:r>
                        <a:rPr lang="ru-RU" sz="800" kern="1200" dirty="0">
                          <a:solidFill>
                            <a:schemeClr val="tx1"/>
                          </a:solidFill>
                          <a:effectLst/>
                          <a:latin typeface="Times New Roman" panose="02020603050405020304" pitchFamily="18" charset="0"/>
                          <a:ea typeface="+mn-ea"/>
                          <a:cs typeface="Times New Roman" panose="02020603050405020304" pitchFamily="18" charset="0"/>
                        </a:rPr>
                        <a:t>Т</a:t>
                      </a:r>
                      <a:r>
                        <a:rPr lang="uz-Cyrl-UZ" sz="800" kern="1200" dirty="0">
                          <a:solidFill>
                            <a:schemeClr val="tx1"/>
                          </a:solidFill>
                          <a:effectLst/>
                          <a:latin typeface="Times New Roman" panose="02020603050405020304" pitchFamily="18" charset="0"/>
                          <a:ea typeface="+mn-ea"/>
                          <a:cs typeface="Times New Roman" panose="02020603050405020304" pitchFamily="18" charset="0"/>
                        </a:rPr>
                        <a:t>о</a:t>
                      </a:r>
                      <a:r>
                        <a:rPr lang="ru-RU" sz="800" kern="1200" dirty="0" err="1">
                          <a:solidFill>
                            <a:schemeClr val="tx1"/>
                          </a:solidFill>
                          <a:effectLst/>
                          <a:latin typeface="Times New Roman" panose="02020603050405020304" pitchFamily="18" charset="0"/>
                          <a:ea typeface="+mn-ea"/>
                          <a:cs typeface="Times New Roman" panose="02020603050405020304" pitchFamily="18" charset="0"/>
                        </a:rPr>
                        <a:t>шкент</a:t>
                      </a:r>
                      <a:r>
                        <a:rPr lang="ru-RU" sz="800" kern="1200" dirty="0">
                          <a:solidFill>
                            <a:schemeClr val="tx1"/>
                          </a:solidFill>
                          <a:effectLst/>
                          <a:latin typeface="Times New Roman" panose="02020603050405020304" pitchFamily="18" charset="0"/>
                          <a:ea typeface="+mn-ea"/>
                          <a:cs typeface="Times New Roman" panose="02020603050405020304" pitchFamily="18" charset="0"/>
                        </a:rPr>
                        <a:t> </a:t>
                      </a:r>
                      <a:r>
                        <a:rPr lang="uz-Cyrl-UZ" sz="800" kern="1200" dirty="0">
                          <a:solidFill>
                            <a:schemeClr val="tx1"/>
                          </a:solidFill>
                          <a:effectLst/>
                          <a:latin typeface="Times New Roman" panose="02020603050405020304" pitchFamily="18" charset="0"/>
                          <a:ea typeface="+mn-ea"/>
                          <a:cs typeface="Times New Roman" panose="02020603050405020304" pitchFamily="18" charset="0"/>
                        </a:rPr>
                        <a:t>                                        давлат маданият и</a:t>
                      </a:r>
                      <a:r>
                        <a:rPr lang="ru-RU" sz="800" kern="1200" dirty="0" err="1">
                          <a:solidFill>
                            <a:schemeClr val="tx1"/>
                          </a:solidFill>
                          <a:effectLst/>
                          <a:latin typeface="Times New Roman" panose="02020603050405020304" pitchFamily="18" charset="0"/>
                          <a:ea typeface="+mn-ea"/>
                          <a:cs typeface="Times New Roman" panose="02020603050405020304" pitchFamily="18" charset="0"/>
                        </a:rPr>
                        <a:t>нститут</a:t>
                      </a:r>
                      <a:r>
                        <a:rPr lang="uz-Cyrl-UZ" sz="800" kern="1200" dirty="0">
                          <a:solidFill>
                            <a:schemeClr val="tx1"/>
                          </a:solidFill>
                          <a:effectLst/>
                          <a:latin typeface="Times New Roman" panose="02020603050405020304" pitchFamily="18" charset="0"/>
                          <a:ea typeface="+mn-ea"/>
                          <a:cs typeface="Times New Roman" panose="02020603050405020304" pitchFamily="18" charset="0"/>
                        </a:rPr>
                        <a:t>и </a:t>
                      </a:r>
                      <a:r>
                        <a:rPr lang="ru-RU" sz="800" kern="1200" dirty="0">
                          <a:solidFill>
                            <a:schemeClr val="tx1"/>
                          </a:solidFill>
                          <a:effectLst/>
                          <a:latin typeface="Times New Roman" panose="02020603050405020304" pitchFamily="18" charset="0"/>
                          <a:ea typeface="+mn-ea"/>
                          <a:cs typeface="Times New Roman" panose="02020603050405020304" pitchFamily="18" charset="0"/>
                        </a:rPr>
                        <a:t>(</a:t>
                      </a:r>
                      <a:r>
                        <a:rPr lang="ru-RU" sz="800" kern="1200" dirty="0" err="1">
                          <a:solidFill>
                            <a:schemeClr val="tx1"/>
                          </a:solidFill>
                          <a:effectLst/>
                          <a:latin typeface="Times New Roman" panose="02020603050405020304" pitchFamily="18" charset="0"/>
                          <a:ea typeface="+mn-ea"/>
                          <a:cs typeface="Times New Roman" panose="02020603050405020304" pitchFamily="18" charset="0"/>
                        </a:rPr>
                        <a:t>кундузги</a:t>
                      </a:r>
                      <a:r>
                        <a:rPr lang="ru-RU" sz="800" kern="1200" dirty="0">
                          <a:solidFill>
                            <a:schemeClr val="tx1"/>
                          </a:solidFill>
                          <a:effectLst/>
                          <a:latin typeface="Times New Roman" panose="02020603050405020304" pitchFamily="18" charset="0"/>
                          <a:ea typeface="+mn-ea"/>
                          <a:cs typeface="Times New Roman" panose="02020603050405020304" pitchFamily="18" charset="0"/>
                        </a:rPr>
                        <a:t>)</a:t>
                      </a:r>
                    </a:p>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                                                                               </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6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uz-Cyrl-UZ" sz="800" kern="1200" dirty="0">
                          <a:solidFill>
                            <a:schemeClr val="tx1"/>
                          </a:solidFill>
                          <a:effectLst/>
                          <a:latin typeface="Times New Roman" panose="02020603050405020304" pitchFamily="18" charset="0"/>
                          <a:ea typeface="+mn-ea"/>
                          <a:cs typeface="Times New Roman" panose="02020603050405020304" pitchFamily="18" charset="0"/>
                        </a:rPr>
                        <a:t>маданият ва марифат иши  ва</a:t>
                      </a:r>
                      <a:r>
                        <a:rPr lang="uz-Cyrl-UZ" sz="800" b="1" kern="1200" dirty="0">
                          <a:solidFill>
                            <a:schemeClr val="tx1"/>
                          </a:solidFill>
                          <a:effectLst/>
                          <a:latin typeface="Times New Roman" panose="02020603050405020304" pitchFamily="18" charset="0"/>
                          <a:ea typeface="+mn-ea"/>
                          <a:cs typeface="Times New Roman" panose="02020603050405020304" pitchFamily="18" charset="0"/>
                        </a:rPr>
                        <a:t> </a:t>
                      </a:r>
                      <a:r>
                        <a:rPr lang="ru-RU" sz="800" kern="1200" dirty="0">
                          <a:solidFill>
                            <a:schemeClr val="tx1"/>
                          </a:solidFill>
                          <a:effectLst/>
                          <a:latin typeface="Times New Roman" panose="02020603050405020304" pitchFamily="18" charset="0"/>
                          <a:ea typeface="+mn-ea"/>
                          <a:cs typeface="Times New Roman" panose="02020603050405020304" pitchFamily="18" charset="0"/>
                        </a:rPr>
                        <a:t>хореография</a:t>
                      </a:r>
                      <a:endParaRPr lang="uz-Cyrl-UZ"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endParaRPr lang="ru-RU" sz="800" dirty="0">
                        <a:latin typeface="Times New Roman" panose="02020603050405020304" pitchFamily="18" charset="0"/>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Рус, француз тиллар</a:t>
                      </a:r>
                      <a:endParaRPr lang="ru-RU" sz="800" dirty="0">
                        <a:latin typeface="Times New Roman" panose="02020603050405020304" pitchFamily="18" charset="0"/>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1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err="1">
                          <a:solidFill>
                            <a:schemeClr val="tx1"/>
                          </a:solidFill>
                          <a:latin typeface="Times New Roman" panose="02020603050405020304" pitchFamily="18" charset="0"/>
                          <a:ea typeface="+mn-ea"/>
                          <a:cs typeface="Times New Roman" panose="02020603050405020304" pitchFamily="18" charset="0"/>
                        </a:rPr>
                        <a:t>Йўқ</a:t>
                      </a:r>
                      <a:endParaRPr lang="ru-RU"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562726" y="865689"/>
          <a:ext cx="3096634" cy="5880603"/>
        </p:xfrm>
        <a:graphic>
          <a:graphicData uri="http://schemas.openxmlformats.org/drawingml/2006/table">
            <a:tbl>
              <a:tblPr firstRow="1" bandRow="1">
                <a:tableStyleId>{C083E6E3-FA7D-4D7B-A595-EF9225AFEA82}</a:tableStyleId>
              </a:tblPr>
              <a:tblGrid>
                <a:gridCol w="1421035">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19750">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57185">
                <a:tc>
                  <a:txBody>
                    <a:bodyPr/>
                    <a:lstStyle/>
                    <a:p>
                      <a:pPr algn="l">
                        <a:lnSpc>
                          <a:spcPct val="85000"/>
                        </a:lnSpc>
                      </a:pPr>
                      <a:r>
                        <a:rPr lang="uz-Cyrl-UZ" sz="900" b="1" i="0" noProof="0" dirty="0">
                          <a:solidFill>
                            <a:schemeClr val="tx1"/>
                          </a:solidFill>
                          <a:latin typeface="Times New Roman" panose="02020603050405020304" pitchFamily="18" charset="0"/>
                          <a:cs typeface="Times New Roman" panose="02020603050405020304" pitchFamily="18" charset="0"/>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just"/>
                      <a:r>
                        <a:rPr lang="uz-Cyrl-UZ" sz="800" b="0" kern="1200" dirty="0" smtClean="0">
                          <a:solidFill>
                            <a:schemeClr val="tx1"/>
                          </a:solidFill>
                          <a:effectLst/>
                          <a:latin typeface="Times New Roman" panose="02020603050405020304" pitchFamily="18" charset="0"/>
                          <a:ea typeface="+mn-ea"/>
                          <a:cs typeface="Times New Roman" panose="02020603050405020304" pitchFamily="18" charset="0"/>
                        </a:rPr>
                        <a:t>Алишер </a:t>
                      </a:r>
                      <a:r>
                        <a:rPr lang="uz-Cyrl-UZ" sz="800" b="0" kern="1200" dirty="0">
                          <a:solidFill>
                            <a:schemeClr val="tx1"/>
                          </a:solidFill>
                          <a:effectLst/>
                          <a:latin typeface="Times New Roman" panose="02020603050405020304" pitchFamily="18" charset="0"/>
                          <a:ea typeface="+mn-ea"/>
                          <a:cs typeface="Times New Roman" panose="02020603050405020304" pitchFamily="18" charset="0"/>
                        </a:rPr>
                        <a:t>Навоий номидаги Ўзбекистон давлат академик катта театри    </a:t>
                      </a:r>
                      <a:r>
                        <a:rPr lang="uz-Cyrl-UZ" sz="800" b="0" kern="1200" dirty="0" smtClean="0">
                          <a:solidFill>
                            <a:schemeClr val="tx1"/>
                          </a:solidFill>
                          <a:effectLst/>
                          <a:latin typeface="Times New Roman" panose="02020603050405020304" pitchFamily="18" charset="0"/>
                          <a:ea typeface="+mn-ea"/>
                          <a:cs typeface="Times New Roman" panose="02020603050405020304" pitchFamily="18" charset="0"/>
                        </a:rPr>
                        <a:t>балет </a:t>
                      </a:r>
                      <a:r>
                        <a:rPr lang="uz-Cyrl-UZ" sz="800" b="0" kern="1200" dirty="0">
                          <a:solidFill>
                            <a:schemeClr val="tx1"/>
                          </a:solidFill>
                          <a:effectLst/>
                          <a:latin typeface="Times New Roman" panose="02020603050405020304" pitchFamily="18" charset="0"/>
                          <a:ea typeface="+mn-ea"/>
                          <a:cs typeface="Times New Roman" panose="02020603050405020304" pitchFamily="18" charset="0"/>
                        </a:rPr>
                        <a:t>артисти</a:t>
                      </a:r>
                      <a:endParaRPr lang="ru-RU" sz="800" b="0" kern="1200" dirty="0">
                        <a:solidFill>
                          <a:schemeClr val="tx1"/>
                        </a:solidFill>
                        <a:effectLst/>
                        <a:latin typeface="Times New Roman" panose="02020603050405020304" pitchFamily="18" charset="0"/>
                        <a:ea typeface="+mn-ea"/>
                        <a:cs typeface="Times New Roman" panose="02020603050405020304" pitchFamily="18" charset="0"/>
                      </a:endParaRPr>
                    </a:p>
                    <a:p>
                      <a:pPr marL="0" indent="0" algn="l">
                        <a:lnSpc>
                          <a:spcPct val="85000"/>
                        </a:lnSpc>
                      </a:pPr>
                      <a:r>
                        <a:rPr lang="uz-Cyrl-UZ" sz="800" b="0" kern="1200" dirty="0">
                          <a:solidFill>
                            <a:schemeClr val="tx1"/>
                          </a:solidFill>
                          <a:effectLst/>
                          <a:latin typeface="Times New Roman" panose="02020603050405020304" pitchFamily="18" charset="0"/>
                          <a:ea typeface="+mn-ea"/>
                          <a:cs typeface="Times New Roman" panose="02020603050405020304" pitchFamily="18" charset="0"/>
                        </a:rPr>
                        <a:t> </a:t>
                      </a:r>
                      <a:endParaRPr lang="uz-Cyrl-UZ"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8590">
                <a:tc>
                  <a:txBody>
                    <a:bodyPr/>
                    <a:lstStyle/>
                    <a:p>
                      <a:pPr algn="l">
                        <a:lnSpc>
                          <a:spcPct val="85000"/>
                        </a:lnSpc>
                      </a:pPr>
                      <a:r>
                        <a:rPr lang="uz-Cyrl-UZ" sz="900" b="1" i="0" noProof="0" dirty="0">
                          <a:solidFill>
                            <a:schemeClr val="tx1"/>
                          </a:solidFill>
                          <a:latin typeface="Times New Roman" panose="02020603050405020304" pitchFamily="18" charset="0"/>
                          <a:cs typeface="Times New Roman" panose="02020603050405020304" pitchFamily="18" charset="0"/>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800" b="0" kern="1200" noProof="0" dirty="0">
                          <a:solidFill>
                            <a:schemeClr val="tx1"/>
                          </a:solidFill>
                          <a:latin typeface="Times New Roman" panose="02020603050405020304" pitchFamily="18" charset="0"/>
                          <a:ea typeface="+mn-ea"/>
                          <a:cs typeface="Times New Roman" panose="02020603050405020304" pitchFamily="18" charset="0"/>
                        </a:rPr>
                        <a:t>Й</a:t>
                      </a:r>
                      <a:r>
                        <a:rPr lang="ru-RU" sz="800" b="0" kern="1200" noProof="0" dirty="0" err="1">
                          <a:solidFill>
                            <a:schemeClr val="tx1"/>
                          </a:solidFill>
                          <a:latin typeface="Times New Roman" panose="02020603050405020304" pitchFamily="18" charset="0"/>
                          <a:ea typeface="+mn-ea"/>
                          <a:cs typeface="Times New Roman" panose="02020603050405020304" pitchFamily="18" charset="0"/>
                        </a:rPr>
                        <a:t>ўқ</a:t>
                      </a:r>
                      <a:endParaRPr lang="uz-Cyrl-UZ"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5382">
                <a:tc>
                  <a:txBody>
                    <a:bodyPr/>
                    <a:lstStyle/>
                    <a:p>
                      <a:pPr algn="l">
                        <a:lnSpc>
                          <a:spcPct val="107000"/>
                        </a:lnSpc>
                        <a:spcAft>
                          <a:spcPts val="0"/>
                        </a:spcAft>
                      </a:pPr>
                      <a:r>
                        <a:rPr lang="uz-Cyrl-UZ" sz="900" b="1" i="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800" b="0" noProof="0" dirty="0">
                          <a:effectLst/>
                          <a:latin typeface="Times New Roman" panose="02020603050405020304" pitchFamily="18" charset="0"/>
                          <a:ea typeface="Calibri" panose="020F0502020204030204" pitchFamily="34" charset="0"/>
                          <a:cs typeface="Times New Roman" panose="02020603050405020304" pitchFamily="18" charset="0"/>
                        </a:rPr>
                        <a:t>58 </a:t>
                      </a:r>
                      <a:r>
                        <a:rPr lang="uz-Cyrl-UZ" sz="800" b="0" noProof="0" dirty="0">
                          <a:effectLst/>
                          <a:latin typeface="Times New Roman" panose="02020603050405020304" pitchFamily="18" charset="0"/>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1283">
                <a:tc>
                  <a:txBody>
                    <a:bodyPr/>
                    <a:lstStyle/>
                    <a:p>
                      <a:pPr algn="l">
                        <a:lnSpc>
                          <a:spcPct val="107000"/>
                        </a:lnSpc>
                        <a:spcAft>
                          <a:spcPts val="0"/>
                        </a:spcAft>
                      </a:pPr>
                      <a:r>
                        <a:rPr lang="uz-Cyrl-UZ" sz="900" b="1" i="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b="0" noProof="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51393">
                <a:tc>
                  <a:txBody>
                    <a:bodyPr/>
                    <a:lstStyle/>
                    <a:p>
                      <a:pPr algn="l">
                        <a:lnSpc>
                          <a:spcPct val="107000"/>
                        </a:lnSpc>
                        <a:spcAft>
                          <a:spcPts val="0"/>
                        </a:spcAft>
                      </a:pPr>
                      <a:r>
                        <a:rPr lang="uz-Cyrl-UZ" sz="900" b="1" i="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b="0" noProof="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82339">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800" b="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0697">
                <a:tc>
                  <a:txBody>
                    <a:bodyPr/>
                    <a:lstStyle/>
                    <a:p>
                      <a:pPr algn="l">
                        <a:lnSpc>
                          <a:spcPct val="107000"/>
                        </a:lnSpc>
                        <a:spcAft>
                          <a:spcPts val="0"/>
                        </a:spcAft>
                      </a:pPr>
                      <a:r>
                        <a:rPr lang="uz-Cyrl-UZ" sz="900" b="1" i="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b="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41088">
                <a:tc>
                  <a:txBody>
                    <a:bodyPr/>
                    <a:lstStyle/>
                    <a:p>
                      <a:pPr algn="l">
                        <a:lnSpc>
                          <a:spcPct val="107000"/>
                        </a:lnSpc>
                        <a:spcAft>
                          <a:spcPts val="0"/>
                        </a:spcAft>
                      </a:pPr>
                      <a:r>
                        <a:rPr lang="uz-Cyrl-UZ" sz="900" b="1" i="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90697">
                <a:tc>
                  <a:txBody>
                    <a:bodyPr/>
                    <a:lstStyle/>
                    <a:p>
                      <a:pPr algn="l">
                        <a:lnSpc>
                          <a:spcPct val="107000"/>
                        </a:lnSpc>
                        <a:spcAft>
                          <a:spcPts val="0"/>
                        </a:spcAft>
                      </a:pPr>
                      <a:r>
                        <a:rPr lang="uz-Cyrl-UZ" sz="900" b="1" i="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1292">
                <a:tc gridSpan="2">
                  <a:txBody>
                    <a:bodyPr/>
                    <a:lstStyle/>
                    <a:p>
                      <a:pPr algn="ctr"/>
                      <a:r>
                        <a:rPr lang="uz-Cyrl-UZ" sz="9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985307">
                <a:tc gridSpan="2">
                  <a:txBody>
                    <a:bodyPr/>
                    <a:lstStyle/>
                    <a:p>
                      <a:r>
                        <a:rPr lang="ru-RU" sz="800" kern="1200" dirty="0">
                          <a:solidFill>
                            <a:schemeClr val="tx1"/>
                          </a:solidFill>
                          <a:effectLst/>
                          <a:latin typeface="Times New Roman" panose="02020603050405020304" pitchFamily="18" charset="0"/>
                          <a:ea typeface="+mn-ea"/>
                          <a:cs typeface="Times New Roman" panose="02020603050405020304" pitchFamily="18" charset="0"/>
                        </a:rPr>
                        <a:t>1985 й. </a:t>
                      </a:r>
                      <a:r>
                        <a:rPr lang="uz-Cyrl-UZ" sz="800" kern="1200" dirty="0">
                          <a:solidFill>
                            <a:schemeClr val="tx1"/>
                          </a:solidFill>
                          <a:effectLst/>
                          <a:latin typeface="Times New Roman" panose="02020603050405020304" pitchFamily="18" charset="0"/>
                          <a:ea typeface="+mn-ea"/>
                          <a:cs typeface="Times New Roman" panose="02020603050405020304" pitchFamily="18" charset="0"/>
                        </a:rPr>
                        <a:t>“Ўзбекистон Республикасида хизмат кўрсатган </a:t>
                      </a:r>
                      <a:r>
                        <a:rPr lang="ru-RU" sz="800" kern="1200" dirty="0">
                          <a:solidFill>
                            <a:schemeClr val="tx1"/>
                          </a:solidFill>
                          <a:effectLst/>
                          <a:latin typeface="Times New Roman" panose="02020603050405020304" pitchFamily="18" charset="0"/>
                          <a:ea typeface="+mn-ea"/>
                          <a:cs typeface="Times New Roman" panose="02020603050405020304" pitchFamily="18" charset="0"/>
                        </a:rPr>
                        <a:t> артист</a:t>
                      </a:r>
                      <a:r>
                        <a:rPr lang="uz-Cyrl-UZ" sz="800" kern="1200" dirty="0">
                          <a:solidFill>
                            <a:schemeClr val="tx1"/>
                          </a:solidFill>
                          <a:effectLst/>
                          <a:latin typeface="Times New Roman" panose="02020603050405020304" pitchFamily="18" charset="0"/>
                          <a:ea typeface="+mn-ea"/>
                          <a:cs typeface="Times New Roman" panose="02020603050405020304" pitchFamily="18" charset="0"/>
                        </a:rPr>
                        <a:t>” </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739755" y="869287"/>
          <a:ext cx="3027350" cy="5897836"/>
        </p:xfrm>
        <a:graphic>
          <a:graphicData uri="http://schemas.openxmlformats.org/drawingml/2006/table">
            <a:tbl>
              <a:tblPr firstRow="1" bandRow="1">
                <a:tableStyleId>{C083E6E3-FA7D-4D7B-A595-EF9225AFEA82}</a:tableStyleId>
              </a:tblPr>
              <a:tblGrid>
                <a:gridCol w="3027350">
                  <a:extLst>
                    <a:ext uri="{9D8B030D-6E8A-4147-A177-3AD203B41FA5}">
                      <a16:colId xmlns:a16="http://schemas.microsoft.com/office/drawing/2014/main" val="2715609854"/>
                    </a:ext>
                  </a:extLst>
                </a:gridCol>
              </a:tblGrid>
              <a:tr h="185499">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164580">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157560">
                <a:tc>
                  <a:txBody>
                    <a:bodyPr/>
                    <a:lstStyle/>
                    <a:p>
                      <a:pPr marL="0" indent="179388" algn="just"/>
                      <a:r>
                        <a:rPr lang="uz-Cyrl-UZ" sz="900" kern="1200" dirty="0" smtClean="0">
                          <a:solidFill>
                            <a:schemeClr val="tx1"/>
                          </a:solidFill>
                          <a:effectLst/>
                          <a:latin typeface="+mn-lt"/>
                          <a:ea typeface="+mn-ea"/>
                          <a:cs typeface="Times New Roman" panose="02020603050405020304" pitchFamily="18" charset="0"/>
                        </a:rPr>
                        <a:t>Егай 1967-69 </a:t>
                      </a:r>
                      <a:r>
                        <a:rPr lang="uz-Cyrl-UZ" sz="900" kern="1200" dirty="0">
                          <a:solidFill>
                            <a:schemeClr val="tx1"/>
                          </a:solidFill>
                          <a:effectLst/>
                          <a:latin typeface="+mn-lt"/>
                          <a:ea typeface="+mn-ea"/>
                          <a:cs typeface="Times New Roman" panose="02020603050405020304" pitchFamily="18" charset="0"/>
                        </a:rPr>
                        <a:t>йилларда Ўзбекистон  Республикаси  Маданият  ишлари  вазирлиги  йўлланмаси  билан  Москва  шахри  Катта  Театри  қошидаги  Академик  хореография  билим  юртида  СССРда  хизмат  Кўрсатган  артист  Жданов  Леонид  Тимофеевич  синфида  тахсил  олиб,   малакасини  ошириб  келди.    Шундан  буён  А. Навоий  номли  давлат  академик  катта  театрида  балет  солисти  сифатида  бугунги  кунга  қадар  самарали  мехнат  қилиб  келмоқда.</a:t>
                      </a:r>
                      <a:endParaRPr lang="ru-RU" sz="900" kern="1200" dirty="0">
                        <a:solidFill>
                          <a:schemeClr val="tx1"/>
                        </a:solidFill>
                        <a:effectLst/>
                        <a:latin typeface="+mn-lt"/>
                        <a:ea typeface="+mn-ea"/>
                        <a:cs typeface="Times New Roman" panose="02020603050405020304" pitchFamily="18" charset="0"/>
                      </a:endParaRPr>
                    </a:p>
                    <a:p>
                      <a:pPr marL="0" indent="179388" algn="just"/>
                      <a:r>
                        <a:rPr lang="uz-Cyrl-UZ" sz="900" kern="1200" dirty="0" smtClean="0">
                          <a:solidFill>
                            <a:schemeClr val="tx1"/>
                          </a:solidFill>
                          <a:effectLst/>
                          <a:latin typeface="+mn-lt"/>
                          <a:ea typeface="+mn-ea"/>
                          <a:cs typeface="Times New Roman" panose="02020603050405020304" pitchFamily="18" charset="0"/>
                        </a:rPr>
                        <a:t>Бу  </a:t>
                      </a:r>
                      <a:r>
                        <a:rPr lang="uz-Cyrl-UZ" sz="900" kern="1200" dirty="0">
                          <a:solidFill>
                            <a:schemeClr val="tx1"/>
                          </a:solidFill>
                          <a:effectLst/>
                          <a:latin typeface="+mn-lt"/>
                          <a:ea typeface="+mn-ea"/>
                          <a:cs typeface="Times New Roman" panose="02020603050405020304" pitchFamily="18" charset="0"/>
                        </a:rPr>
                        <a:t>давр  мобайнида  театр  репертуаридаги  классик  ва  миллий  балет  спектаклларида  етакчи  ва  якка  партияларни  ижро  этиб  келмоқда. Жумладан: “Жизель”; “Уйқудаги  гўзал”,</a:t>
                      </a:r>
                      <a:r>
                        <a:rPr lang="ru-RU"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“Дон Кихот”, “Корсар”да</a:t>
                      </a:r>
                      <a:r>
                        <a:rPr lang="ru-RU"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Золушка”да, “Ромео  ва  Жулетта”да, “1001 кеча”да</a:t>
                      </a:r>
                      <a:r>
                        <a:rPr lang="ru-RU"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“Оққуш  кўли”да; “Раймонда”да; “Щелкунчик”да; “Спартак”да;</a:t>
                      </a:r>
                      <a:r>
                        <a:rPr lang="ru-RU"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Коппелия</a:t>
                      </a:r>
                      <a:r>
                        <a:rPr lang="ru-RU" sz="900" kern="1200" dirty="0">
                          <a:solidFill>
                            <a:schemeClr val="tx1"/>
                          </a:solidFill>
                          <a:effectLst/>
                          <a:latin typeface="+mn-lt"/>
                          <a:ea typeface="+mn-ea"/>
                          <a:cs typeface="Times New Roman" panose="02020603050405020304" pitchFamily="18" charset="0"/>
                        </a:rPr>
                        <a:t>»</a:t>
                      </a:r>
                      <a:r>
                        <a:rPr lang="uz-Cyrl-UZ" sz="900" kern="1200" dirty="0">
                          <a:solidFill>
                            <a:schemeClr val="tx1"/>
                          </a:solidFill>
                          <a:effectLst/>
                          <a:latin typeface="+mn-lt"/>
                          <a:ea typeface="+mn-ea"/>
                          <a:cs typeface="Times New Roman" panose="02020603050405020304" pitchFamily="18" charset="0"/>
                        </a:rPr>
                        <a:t>да; “Тўмарис”да; “Фауст”да; “Доктор  Айболит”да ; “Хўжа  Насриддиннинг”да, “Қадимий  Афросиёб  афсонаси”да ; “Хумо”да ва бошкалар.  </a:t>
                      </a:r>
                      <a:endParaRPr lang="ru-RU" sz="900" kern="1200" dirty="0">
                        <a:solidFill>
                          <a:schemeClr val="tx1"/>
                        </a:solidFill>
                        <a:effectLst/>
                        <a:latin typeface="+mn-lt"/>
                        <a:ea typeface="+mn-ea"/>
                        <a:cs typeface="Times New Roman" panose="02020603050405020304" pitchFamily="18" charset="0"/>
                      </a:endParaRPr>
                    </a:p>
                    <a:p>
                      <a:pPr marL="0" indent="179388" algn="just"/>
                      <a:r>
                        <a:rPr lang="uz-Cyrl-UZ" sz="900" kern="1200" dirty="0" smtClean="0">
                          <a:solidFill>
                            <a:schemeClr val="tx1"/>
                          </a:solidFill>
                          <a:effectLst/>
                          <a:latin typeface="+mn-lt"/>
                          <a:ea typeface="+mn-ea"/>
                          <a:cs typeface="Times New Roman" panose="02020603050405020304" pitchFamily="18" charset="0"/>
                        </a:rPr>
                        <a:t>Буюк  </a:t>
                      </a:r>
                      <a:r>
                        <a:rPr lang="uz-Cyrl-UZ" sz="900" kern="1200" dirty="0">
                          <a:solidFill>
                            <a:schemeClr val="tx1"/>
                          </a:solidFill>
                          <a:effectLst/>
                          <a:latin typeface="+mn-lt"/>
                          <a:ea typeface="+mn-ea"/>
                          <a:cs typeface="Times New Roman" panose="02020603050405020304" pitchFamily="18" charset="0"/>
                        </a:rPr>
                        <a:t>режиссёрлар  Алишер  Ҳамроев  ва  К. Муратова  суръатга  олган   </a:t>
                      </a:r>
                      <a:r>
                        <a:rPr lang="uz-Cyrl-UZ" sz="900" kern="1200" dirty="0" smtClean="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“Умар  Хайём”  ва  “Тўмарис”  фильмида - Фрада  ролини  ижро  этган.  Театрнинг  балет  жамоаси  билан бир қанча  чет эл  мамлакатларида  гастроль  сафарларида  бўлиб, ўзбек  балет  санъатини  юксак  маҳорат  билан  намоён  этган. Улардан: АҚШ, Германия, Миср, Польша, Марокко, Венгрия, Болгария, Тайланд, Малайзия, </a:t>
                      </a:r>
                      <a:r>
                        <a:rPr lang="ru-RU" sz="900" kern="1200" dirty="0">
                          <a:solidFill>
                            <a:schemeClr val="tx1"/>
                          </a:solidFill>
                          <a:effectLst/>
                          <a:latin typeface="+mn-lt"/>
                          <a:ea typeface="+mn-ea"/>
                          <a:cs typeface="Times New Roman" panose="02020603050405020304" pitchFamily="18" charset="0"/>
                        </a:rPr>
                        <a:t> Япония</a:t>
                      </a:r>
                      <a:r>
                        <a:rPr lang="uz-Cyrl-UZ" sz="900" kern="1200" dirty="0">
                          <a:solidFill>
                            <a:schemeClr val="tx1"/>
                          </a:solidFill>
                          <a:effectLst/>
                          <a:latin typeface="+mn-lt"/>
                          <a:ea typeface="+mn-ea"/>
                          <a:cs typeface="Times New Roman" panose="02020603050405020304" pitchFamily="18" charset="0"/>
                        </a:rPr>
                        <a:t>,</a:t>
                      </a:r>
                      <a:r>
                        <a:rPr lang="ru-RU" sz="900" kern="1200" dirty="0">
                          <a:solidFill>
                            <a:schemeClr val="tx1"/>
                          </a:solidFill>
                          <a:effectLst/>
                          <a:latin typeface="+mn-lt"/>
                          <a:ea typeface="+mn-ea"/>
                          <a:cs typeface="Times New Roman" panose="02020603050405020304" pitchFamily="18" charset="0"/>
                        </a:rPr>
                        <a:t> Корея</a:t>
                      </a:r>
                      <a:r>
                        <a:rPr lang="uz-Cyrl-UZ" sz="900" kern="1200" dirty="0">
                          <a:solidFill>
                            <a:schemeClr val="tx1"/>
                          </a:solidFill>
                          <a:effectLst/>
                          <a:latin typeface="+mn-lt"/>
                          <a:ea typeface="+mn-ea"/>
                          <a:cs typeface="Times New Roman" panose="02020603050405020304" pitchFamily="18" charset="0"/>
                        </a:rPr>
                        <a:t>,</a:t>
                      </a:r>
                      <a:r>
                        <a:rPr lang="ru-RU" sz="900" kern="1200" dirty="0">
                          <a:solidFill>
                            <a:schemeClr val="tx1"/>
                          </a:solidFill>
                          <a:effectLst/>
                          <a:latin typeface="+mn-lt"/>
                          <a:ea typeface="+mn-ea"/>
                          <a:cs typeface="Times New Roman" panose="02020603050405020304" pitchFamily="18" charset="0"/>
                        </a:rPr>
                        <a:t> Сингапур</a:t>
                      </a:r>
                      <a:r>
                        <a:rPr lang="uz-Cyrl-UZ" sz="900" kern="1200" dirty="0">
                          <a:solidFill>
                            <a:schemeClr val="tx1"/>
                          </a:solidFill>
                          <a:effectLst/>
                          <a:latin typeface="+mn-lt"/>
                          <a:ea typeface="+mn-ea"/>
                          <a:cs typeface="Times New Roman" panose="02020603050405020304" pitchFamily="18" charset="0"/>
                        </a:rPr>
                        <a:t>,  </a:t>
                      </a:r>
                      <a:r>
                        <a:rPr lang="ru-RU" sz="900" kern="1200" dirty="0">
                          <a:solidFill>
                            <a:schemeClr val="tx1"/>
                          </a:solidFill>
                          <a:effectLst/>
                          <a:latin typeface="+mn-lt"/>
                          <a:ea typeface="+mn-ea"/>
                          <a:cs typeface="Times New Roman" panose="02020603050405020304" pitchFamily="18" charset="0"/>
                        </a:rPr>
                        <a:t>Индонезия, Греция, </a:t>
                      </a:r>
                      <a:r>
                        <a:rPr lang="uz-Cyrl-UZ" sz="900" kern="1200" dirty="0">
                          <a:solidFill>
                            <a:schemeClr val="tx1"/>
                          </a:solidFill>
                          <a:effectLst/>
                          <a:latin typeface="+mn-lt"/>
                          <a:ea typeface="+mn-ea"/>
                          <a:cs typeface="Times New Roman" panose="02020603050405020304" pitchFamily="18" charset="0"/>
                        </a:rPr>
                        <a:t>Ҳиндистон  ва бошқалар.</a:t>
                      </a:r>
                      <a:endParaRPr lang="ru-RU" sz="900" kern="1200" dirty="0">
                        <a:solidFill>
                          <a:schemeClr val="tx1"/>
                        </a:solidFill>
                        <a:effectLst/>
                        <a:latin typeface="+mn-lt"/>
                        <a:ea typeface="+mn-ea"/>
                        <a:cs typeface="Times New Roman" panose="02020603050405020304" pitchFamily="18" charset="0"/>
                      </a:endParaRPr>
                    </a:p>
                    <a:p>
                      <a:pPr marL="0" indent="179388" algn="just"/>
                      <a:r>
                        <a:rPr lang="uz-Cyrl-UZ" sz="900" kern="1200" dirty="0" smtClean="0">
                          <a:solidFill>
                            <a:schemeClr val="tx1"/>
                          </a:solidFill>
                          <a:effectLst/>
                          <a:latin typeface="+mn-lt"/>
                          <a:ea typeface="+mn-ea"/>
                          <a:cs typeface="Times New Roman" panose="02020603050405020304" pitchFamily="18" charset="0"/>
                        </a:rPr>
                        <a:t>Коре</a:t>
                      </a:r>
                      <a:r>
                        <a:rPr lang="ru-RU" sz="900" kern="1200" dirty="0">
                          <a:solidFill>
                            <a:schemeClr val="tx1"/>
                          </a:solidFill>
                          <a:effectLst/>
                          <a:latin typeface="+mn-lt"/>
                          <a:ea typeface="+mn-ea"/>
                          <a:cs typeface="Times New Roman" panose="02020603050405020304" pitchFamily="18" charset="0"/>
                        </a:rPr>
                        <a:t>й</a:t>
                      </a:r>
                      <a:r>
                        <a:rPr lang="uz-Cyrl-UZ" sz="900" kern="1200" dirty="0">
                          <a:solidFill>
                            <a:schemeClr val="tx1"/>
                          </a:solidFill>
                          <a:effectLst/>
                          <a:latin typeface="+mn-lt"/>
                          <a:ea typeface="+mn-ea"/>
                          <a:cs typeface="Times New Roman" panose="02020603050405020304" pitchFamily="18" charset="0"/>
                        </a:rPr>
                        <a:t>сларнинг  Жахон  Олимпиадасида  иштирок  этиб, Олий  соврин  (Кубок)  сохиби  бўлди.   </a:t>
                      </a:r>
                      <a:endParaRPr lang="ru-RU" sz="900" kern="1200" dirty="0">
                        <a:solidFill>
                          <a:schemeClr val="tx1"/>
                        </a:solidFill>
                        <a:effectLst/>
                        <a:latin typeface="+mn-lt"/>
                        <a:ea typeface="+mn-ea"/>
                        <a:cs typeface="Times New Roman" panose="02020603050405020304" pitchFamily="18" charset="0"/>
                      </a:endParaRPr>
                    </a:p>
                    <a:p>
                      <a:pPr marL="0" indent="179388" algn="just"/>
                      <a:r>
                        <a:rPr lang="uz-Cyrl-UZ" sz="900" kern="1200" dirty="0" smtClean="0">
                          <a:solidFill>
                            <a:schemeClr val="tx1"/>
                          </a:solidFill>
                          <a:effectLst/>
                          <a:latin typeface="+mn-lt"/>
                          <a:ea typeface="+mn-ea"/>
                          <a:cs typeface="Times New Roman" panose="02020603050405020304" pitchFamily="18" charset="0"/>
                        </a:rPr>
                        <a:t>Бугунги  </a:t>
                      </a:r>
                      <a:r>
                        <a:rPr lang="uz-Cyrl-UZ" sz="900" kern="1200" dirty="0">
                          <a:solidFill>
                            <a:schemeClr val="tx1"/>
                          </a:solidFill>
                          <a:effectLst/>
                          <a:latin typeface="+mn-lt"/>
                          <a:ea typeface="+mn-ea"/>
                          <a:cs typeface="Times New Roman" panose="02020603050405020304" pitchFamily="18" charset="0"/>
                        </a:rPr>
                        <a:t>кунга  қадар  В.А.Егай  театрнинг  ёш  балет артистларига  мураббийлик  қилиб, санъат сирларини  ўргатиб  келмоқда.   У  ўқитган  ёш  балет  артистлари  тез  кунда  якка партияларни  махорат  билан  ижро  этиши  ва  бошқа  муваффаққиятлари  В.А.Егайнинг  балет  санъати  ривожланишида  қўшган  хиссасидан  далолатдир.   Бундан  ташқари   </a:t>
                      </a:r>
                      <a:r>
                        <a:rPr lang="uz-Cyrl-UZ" sz="900" kern="1200" dirty="0" smtClean="0">
                          <a:solidFill>
                            <a:schemeClr val="tx1"/>
                          </a:solidFill>
                          <a:effectLst/>
                          <a:latin typeface="+mn-lt"/>
                          <a:ea typeface="+mn-ea"/>
                          <a:cs typeface="Times New Roman" panose="02020603050405020304" pitchFamily="18" charset="0"/>
                        </a:rPr>
                        <a:t>В. </a:t>
                      </a:r>
                      <a:r>
                        <a:rPr lang="uz-Cyrl-UZ" sz="900" kern="1200" dirty="0">
                          <a:solidFill>
                            <a:schemeClr val="tx1"/>
                          </a:solidFill>
                          <a:effectLst/>
                          <a:latin typeface="+mn-lt"/>
                          <a:ea typeface="+mn-ea"/>
                          <a:cs typeface="Times New Roman" panose="02020603050405020304" pitchFamily="18" charset="0"/>
                        </a:rPr>
                        <a:t>Егай деярли   20 йил  мобайнида  </a:t>
                      </a:r>
                      <a:r>
                        <a:rPr lang="uz-Cyrl-UZ" sz="900" kern="1200" dirty="0" smtClean="0">
                          <a:solidFill>
                            <a:schemeClr val="tx1"/>
                          </a:solidFill>
                          <a:effectLst/>
                          <a:latin typeface="+mn-lt"/>
                          <a:ea typeface="+mn-ea"/>
                          <a:cs typeface="Times New Roman" panose="02020603050405020304" pitchFamily="18" charset="0"/>
                        </a:rPr>
                        <a:t>театрнинг касаба  </a:t>
                      </a:r>
                      <a:r>
                        <a:rPr lang="uz-Cyrl-UZ" sz="900" kern="1200" dirty="0">
                          <a:solidFill>
                            <a:schemeClr val="tx1"/>
                          </a:solidFill>
                          <a:effectLst/>
                          <a:latin typeface="+mn-lt"/>
                          <a:ea typeface="+mn-ea"/>
                          <a:cs typeface="Times New Roman" panose="02020603050405020304" pitchFamily="18" charset="0"/>
                        </a:rPr>
                        <a:t>кўмитаси  раиси  сифатида  </a:t>
                      </a:r>
                      <a:r>
                        <a:rPr lang="uz-Cyrl-UZ" sz="900" kern="1200" dirty="0" smtClean="0">
                          <a:solidFill>
                            <a:schemeClr val="tx1"/>
                          </a:solidFill>
                          <a:effectLst/>
                          <a:latin typeface="+mn-lt"/>
                          <a:ea typeface="+mn-ea"/>
                          <a:cs typeface="Times New Roman" panose="02020603050405020304" pitchFamily="18" charset="0"/>
                        </a:rPr>
                        <a:t>мехнат</a:t>
                      </a:r>
                      <a:r>
                        <a:rPr lang="uz-Cyrl-UZ" sz="900" kern="1200" baseline="0" dirty="0" smtClean="0">
                          <a:solidFill>
                            <a:schemeClr val="tx1"/>
                          </a:solidFill>
                          <a:effectLst/>
                          <a:latin typeface="+mn-lt"/>
                          <a:ea typeface="+mn-ea"/>
                          <a:cs typeface="Times New Roman" panose="02020603050405020304" pitchFamily="18" charset="0"/>
                        </a:rPr>
                        <a:t> </a:t>
                      </a:r>
                      <a:r>
                        <a:rPr lang="uz-Cyrl-UZ" sz="900" kern="1200" dirty="0" smtClean="0">
                          <a:solidFill>
                            <a:schemeClr val="tx1"/>
                          </a:solidFill>
                          <a:effectLst/>
                          <a:latin typeface="+mn-lt"/>
                          <a:ea typeface="+mn-ea"/>
                          <a:cs typeface="Times New Roman" panose="02020603050405020304" pitchFamily="18" charset="0"/>
                        </a:rPr>
                        <a:t>қилиб  </a:t>
                      </a:r>
                      <a:r>
                        <a:rPr lang="uz-Cyrl-UZ" sz="900" kern="1200" dirty="0">
                          <a:solidFill>
                            <a:schemeClr val="tx1"/>
                          </a:solidFill>
                          <a:effectLst/>
                          <a:latin typeface="+mn-lt"/>
                          <a:ea typeface="+mn-ea"/>
                          <a:cs typeface="Times New Roman" panose="02020603050405020304" pitchFamily="18" charset="0"/>
                        </a:rPr>
                        <a:t>келмоқда</a:t>
                      </a:r>
                      <a:r>
                        <a:rPr lang="uz-Cyrl-UZ" sz="900" kern="1200" dirty="0" smtClean="0">
                          <a:solidFill>
                            <a:schemeClr val="tx1"/>
                          </a:solidFill>
                          <a:effectLst/>
                          <a:latin typeface="+mn-lt"/>
                          <a:ea typeface="+mn-ea"/>
                          <a:cs typeface="Times New Roman" panose="02020603050405020304" pitchFamily="18" charset="0"/>
                        </a:rPr>
                        <a:t>.</a:t>
                      </a:r>
                      <a:endParaRPr lang="ru-RU" sz="18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19871">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15197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Picture 5">
            <a:extLst>
              <a:ext uri="{FF2B5EF4-FFF2-40B4-BE49-F238E27FC236}">
                <a16:creationId xmlns:a16="http://schemas.microsoft.com/office/drawing/2014/main" id="{E6703912-FB83-7648-A9EC-799C4F55B6CA}"/>
              </a:ext>
            </a:extLst>
          </p:cNvPr>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3831" y="1153663"/>
            <a:ext cx="807266" cy="1016969"/>
          </a:xfrm>
          <a:prstGeom prst="rect">
            <a:avLst/>
          </a:prstGeom>
          <a:noFill/>
          <a:ln>
            <a:noFill/>
          </a:ln>
        </p:spPr>
      </p:pic>
    </p:spTree>
    <p:extLst>
      <p:ext uri="{BB962C8B-B14F-4D97-AF65-F5344CB8AC3E}">
        <p14:creationId xmlns:p14="http://schemas.microsoft.com/office/powerpoint/2010/main" val="4171212187"/>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38896" y="865689"/>
          <a:ext cx="3438311" cy="5944634"/>
        </p:xfrm>
        <a:graphic>
          <a:graphicData uri="http://schemas.openxmlformats.org/drawingml/2006/table">
            <a:tbl>
              <a:tblPr firstRow="1" bandRow="1">
                <a:tableStyleId>{C083E6E3-FA7D-4D7B-A595-EF9225AFEA82}</a:tableStyleId>
              </a:tblPr>
              <a:tblGrid>
                <a:gridCol w="525581">
                  <a:extLst>
                    <a:ext uri="{9D8B030D-6E8A-4147-A177-3AD203B41FA5}">
                      <a16:colId xmlns:a16="http://schemas.microsoft.com/office/drawing/2014/main" val="2288412290"/>
                    </a:ext>
                  </a:extLst>
                </a:gridCol>
                <a:gridCol w="517832">
                  <a:extLst>
                    <a:ext uri="{9D8B030D-6E8A-4147-A177-3AD203B41FA5}">
                      <a16:colId xmlns:a16="http://schemas.microsoft.com/office/drawing/2014/main" val="1678982439"/>
                    </a:ext>
                  </a:extLst>
                </a:gridCol>
                <a:gridCol w="157854">
                  <a:extLst>
                    <a:ext uri="{9D8B030D-6E8A-4147-A177-3AD203B41FA5}">
                      <a16:colId xmlns:a16="http://schemas.microsoft.com/office/drawing/2014/main" val="2721661767"/>
                    </a:ext>
                  </a:extLst>
                </a:gridCol>
                <a:gridCol w="936043">
                  <a:extLst>
                    <a:ext uri="{9D8B030D-6E8A-4147-A177-3AD203B41FA5}">
                      <a16:colId xmlns:a16="http://schemas.microsoft.com/office/drawing/2014/main" val="546773760"/>
                    </a:ext>
                  </a:extLst>
                </a:gridCol>
                <a:gridCol w="1301001">
                  <a:extLst>
                    <a:ext uri="{9D8B030D-6E8A-4147-A177-3AD203B41FA5}">
                      <a16:colId xmlns:a16="http://schemas.microsoft.com/office/drawing/2014/main" val="546443978"/>
                    </a:ext>
                  </a:extLst>
                </a:gridCol>
              </a:tblGrid>
              <a:tr h="248359">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203995">
                <a:tc rowSpan="6" gridSpan="2">
                  <a:txBody>
                    <a:bodyPr/>
                    <a:lstStyle/>
                    <a:p>
                      <a:pPr algn="l">
                        <a:lnSpc>
                          <a:spcPct val="90000"/>
                        </a:lnSpc>
                      </a:pPr>
                      <a:endParaRPr lang="uz-Cyrl-UZ" sz="500" b="0" dirty="0">
                        <a:latin typeface="+mn-lt"/>
                      </a:endParaRPr>
                    </a:p>
                    <a:p>
                      <a:pPr algn="l">
                        <a:lnSpc>
                          <a:spcPct val="90000"/>
                        </a:lnSpc>
                      </a:pPr>
                      <a:endParaRPr lang="ru-RU" sz="500" b="0" dirty="0">
                        <a:latin typeface="+mn-lt"/>
                      </a:endParaRPr>
                    </a:p>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uz-Cyrl-UZ" sz="800" b="0" kern="1200" dirty="0" smtClean="0">
                          <a:solidFill>
                            <a:schemeClr val="tx1"/>
                          </a:solidFill>
                          <a:effectLst/>
                          <a:latin typeface="Times New Roman" panose="02020603050405020304" pitchFamily="18" charset="0"/>
                          <a:ea typeface="+mn-ea"/>
                          <a:cs typeface="Times New Roman" panose="02020603050405020304" pitchFamily="18" charset="0"/>
                        </a:rPr>
                        <a:t>ЖДАНОВ</a:t>
                      </a:r>
                      <a:endParaRPr lang="ru-RU" sz="800" b="0" kern="1200" dirty="0">
                        <a:solidFill>
                          <a:schemeClr val="tx1"/>
                        </a:solidFill>
                        <a:effectLst/>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415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uz-Cyrl-UZ" sz="800" b="0" kern="1200" dirty="0">
                          <a:solidFill>
                            <a:schemeClr val="tx1"/>
                          </a:solidFill>
                          <a:effectLst/>
                          <a:latin typeface="Times New Roman" panose="02020603050405020304" pitchFamily="18" charset="0"/>
                          <a:ea typeface="+mn-ea"/>
                          <a:cs typeface="Times New Roman" panose="02020603050405020304" pitchFamily="18" charset="0"/>
                        </a:rPr>
                        <a:t>Дмитрий</a:t>
                      </a:r>
                      <a:endParaRPr lang="uz-Cyrl-UZ" sz="800" b="0" kern="120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415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effectLst/>
                          <a:latin typeface="Times New Roman" panose="02020603050405020304" pitchFamily="18" charset="0"/>
                          <a:ea typeface="+mn-ea"/>
                          <a:cs typeface="Times New Roman" panose="02020603050405020304" pitchFamily="18" charset="0"/>
                        </a:rPr>
                        <a:t>Юрьевич</a:t>
                      </a:r>
                      <a:endParaRPr lang="uz-Cyrl-UZ" sz="800" b="0" kern="120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4159">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800" b="0" kern="1200" dirty="0">
                          <a:solidFill>
                            <a:schemeClr val="tx1"/>
                          </a:solidFill>
                          <a:effectLst/>
                          <a:latin typeface="Times New Roman" panose="02020603050405020304" pitchFamily="18" charset="0"/>
                          <a:ea typeface="+mn-ea"/>
                          <a:cs typeface="Times New Roman" panose="02020603050405020304" pitchFamily="18" charset="0"/>
                        </a:rPr>
                        <a:t>НЕМИС</a:t>
                      </a:r>
                      <a:endParaRPr lang="ru-RU" sz="800" b="0" kern="120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415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effectLst/>
                          <a:latin typeface="Times New Roman" panose="02020603050405020304" pitchFamily="18" charset="0"/>
                          <a:ea typeface="+mn-ea"/>
                          <a:cs typeface="Times New Roman" panose="02020603050405020304" pitchFamily="18" charset="0"/>
                        </a:rPr>
                        <a:t>02.01.1967 йил </a:t>
                      </a:r>
                      <a:endParaRPr lang="ru-RU" sz="800" b="0" kern="120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0399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uz-Cyrl-UZ" sz="800" b="0" kern="1200" dirty="0">
                          <a:solidFill>
                            <a:schemeClr val="tx1"/>
                          </a:solidFill>
                          <a:effectLst/>
                          <a:latin typeface="Times New Roman" panose="02020603050405020304" pitchFamily="18" charset="0"/>
                          <a:ea typeface="+mn-ea"/>
                          <a:cs typeface="Times New Roman" panose="02020603050405020304" pitchFamily="18" charset="0"/>
                        </a:rPr>
                        <a:t>Тошкент шаҳри  </a:t>
                      </a:r>
                      <a:endParaRPr lang="ru-RU" sz="800" b="0" kern="1200" dirty="0">
                        <a:solidFill>
                          <a:schemeClr val="tx1"/>
                        </a:solidFill>
                        <a:effectLst/>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5684">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57502">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Times New Roman" panose="02020603050405020304" pitchFamily="18" charset="0"/>
                          <a:cs typeface="Times New Roman" panose="02020603050405020304" pitchFamily="18" charset="0"/>
                        </a:rPr>
                        <a:t>Оилавий ва ижтимоий ахволи:</a:t>
                      </a:r>
                      <a:endParaRPr lang="uz-Cyrl-UZ" sz="800" b="1" dirty="0">
                        <a:solidFill>
                          <a:schemeClr val="bg1"/>
                        </a:solidFill>
                        <a:latin typeface="Times New Roman" panose="02020603050405020304" pitchFamily="18" charset="0"/>
                        <a:cs typeface="Times New Roman" panose="02020603050405020304" pitchFamily="18"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uz-Cyrl-UZ" sz="800" b="0" kern="1200" dirty="0">
                          <a:solidFill>
                            <a:schemeClr val="tx1"/>
                          </a:solidFill>
                          <a:effectLst/>
                          <a:latin typeface="Times New Roman" panose="02020603050405020304" pitchFamily="18" charset="0"/>
                          <a:ea typeface="+mn-ea"/>
                          <a:cs typeface="Times New Roman" panose="02020603050405020304" pitchFamily="18" charset="0"/>
                        </a:rPr>
                        <a:t>Оилали, 1 нафар фарзанди </a:t>
                      </a:r>
                      <a:r>
                        <a:rPr lang="uz-Cyrl-UZ" sz="800" b="0" kern="1200" dirty="0" smtClean="0">
                          <a:solidFill>
                            <a:schemeClr val="tx1"/>
                          </a:solidFill>
                          <a:effectLst/>
                          <a:latin typeface="Times New Roman" panose="02020603050405020304" pitchFamily="18" charset="0"/>
                          <a:ea typeface="+mn-ea"/>
                          <a:cs typeface="Times New Roman" panose="02020603050405020304" pitchFamily="18" charset="0"/>
                        </a:rPr>
                        <a:t>бор</a:t>
                      </a:r>
                      <a:endParaRPr lang="uz-Cyrl-UZ"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no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5684">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84256">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Жданов </a:t>
                      </a:r>
                      <a:r>
                        <a:rPr lang="uz-Cyrl-UZ" sz="800" kern="1200" dirty="0" smtClean="0">
                          <a:solidFill>
                            <a:schemeClr val="tx1"/>
                          </a:solidFill>
                          <a:effectLst/>
                          <a:latin typeface="Times New Roman" panose="02020603050405020304" pitchFamily="18" charset="0"/>
                          <a:ea typeface="+mn-ea"/>
                          <a:cs typeface="Times New Roman" panose="02020603050405020304" pitchFamily="18" charset="0"/>
                        </a:rPr>
                        <a:t>Юрий </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p>
                      <a:pPr defTabSz="1255713"/>
                      <a:r>
                        <a:rPr lang="uz-Cyrl-UZ" sz="800" kern="1200" dirty="0">
                          <a:solidFill>
                            <a:schemeClr val="tx1"/>
                          </a:solidFill>
                          <a:effectLst/>
                          <a:latin typeface="Times New Roman" panose="02020603050405020304" pitchFamily="18" charset="0"/>
                          <a:ea typeface="+mn-ea"/>
                          <a:cs typeface="Times New Roman" panose="02020603050405020304" pitchFamily="18" charset="0"/>
                        </a:rPr>
                        <a:t>Леонидович</a:t>
                      </a:r>
                    </a:p>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1939 йил,</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Гулистон шаҳри</a:t>
                      </a:r>
                      <a:endParaRPr lang="uz-Cyrl-UZ"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Нафақада</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(А.Навоий номидаги ДАКТ опера солисти) </a:t>
                      </a:r>
                      <a:endParaRPr lang="ru-RU"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84256">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Жданова </a:t>
                      </a:r>
                      <a:r>
                        <a:rPr lang="uz-Cyrl-UZ" sz="800" kern="1200" dirty="0" smtClean="0">
                          <a:solidFill>
                            <a:schemeClr val="tx1"/>
                          </a:solidFill>
                          <a:effectLst/>
                          <a:latin typeface="Times New Roman" panose="02020603050405020304" pitchFamily="18" charset="0"/>
                          <a:ea typeface="+mn-ea"/>
                          <a:cs typeface="Times New Roman" panose="02020603050405020304" pitchFamily="18" charset="0"/>
                        </a:rPr>
                        <a:t>Ирина</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p>
                      <a:r>
                        <a:rPr lang="uz-Cyrl-UZ" sz="800" kern="1200" dirty="0" smtClean="0">
                          <a:solidFill>
                            <a:schemeClr val="tx1"/>
                          </a:solidFill>
                          <a:effectLst/>
                          <a:latin typeface="Times New Roman" panose="02020603050405020304" pitchFamily="18" charset="0"/>
                          <a:ea typeface="+mn-ea"/>
                          <a:cs typeface="Times New Roman" panose="02020603050405020304" pitchFamily="18" charset="0"/>
                        </a:rPr>
                        <a:t>Леонидовна</a:t>
                      </a:r>
                      <a:endParaRPr lang="uz-Cyrl-UZ" sz="800" kern="1200" dirty="0">
                        <a:solidFill>
                          <a:schemeClr val="tx1"/>
                        </a:solidFill>
                        <a:effectLst/>
                        <a:latin typeface="Times New Roman" panose="02020603050405020304" pitchFamily="18" charset="0"/>
                        <a:ea typeface="+mn-ea"/>
                        <a:cs typeface="Times New Roman" panose="02020603050405020304" pitchFamily="18" charset="0"/>
                      </a:endParaRPr>
                    </a:p>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1941 йил,</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Тошкент шаҳри</a:t>
                      </a:r>
                      <a:endParaRPr lang="uz-Cyrl-UZ"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Нафақада</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(15- сон болалар мусиқа мактаби ўқитувчиси)</a:t>
                      </a:r>
                      <a:endParaRPr lang="ru-RU"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711010">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Мархлевская</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p>
                      <a:r>
                        <a:rPr lang="uz-Cyrl-UZ" sz="800" kern="1200" dirty="0" smtClean="0">
                          <a:solidFill>
                            <a:schemeClr val="tx1"/>
                          </a:solidFill>
                          <a:effectLst/>
                          <a:latin typeface="Times New Roman" panose="02020603050405020304" pitchFamily="18" charset="0"/>
                          <a:ea typeface="+mn-ea"/>
                          <a:cs typeface="Times New Roman" panose="02020603050405020304" pitchFamily="18" charset="0"/>
                        </a:rPr>
                        <a:t>Елена </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Николаевна</a:t>
                      </a:r>
                    </a:p>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1968 йил,</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Тошкент шаҳри</a:t>
                      </a:r>
                      <a:endParaRPr lang="uz-Cyrl-UZ"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a:t>
                      </a:r>
                      <a:r>
                        <a:rPr lang="en-US" sz="800" kern="1200" dirty="0">
                          <a:solidFill>
                            <a:schemeClr val="tx1"/>
                          </a:solidFill>
                          <a:effectLst/>
                          <a:latin typeface="Times New Roman" panose="02020603050405020304" pitchFamily="18" charset="0"/>
                          <a:ea typeface="+mn-ea"/>
                          <a:cs typeface="Times New Roman" panose="02020603050405020304" pitchFamily="18" charset="0"/>
                        </a:rPr>
                        <a:t>NOWADAY</a:t>
                      </a:r>
                      <a:r>
                        <a:rPr lang="uz-Cyrl-UZ" sz="800" kern="1200" dirty="0">
                          <a:solidFill>
                            <a:schemeClr val="tx1"/>
                          </a:solidFill>
                          <a:effectLst/>
                          <a:latin typeface="Times New Roman" panose="02020603050405020304" pitchFamily="18" charset="0"/>
                          <a:ea typeface="+mn-ea"/>
                          <a:cs typeface="Times New Roman" panose="02020603050405020304" pitchFamily="18" charset="0"/>
                        </a:rPr>
                        <a:t>” МЧЖ </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p>
                      <a:r>
                        <a:rPr lang="ru-RU" sz="800" kern="1200" dirty="0">
                          <a:solidFill>
                            <a:schemeClr val="tx1"/>
                          </a:solidFill>
                          <a:effectLst/>
                          <a:latin typeface="Times New Roman" panose="02020603050405020304" pitchFamily="18" charset="0"/>
                          <a:ea typeface="+mn-ea"/>
                          <a:cs typeface="Times New Roman" panose="02020603050405020304" pitchFamily="18" charset="0"/>
                        </a:rPr>
                        <a:t>бош </a:t>
                      </a:r>
                      <a:r>
                        <a:rPr lang="ru-RU" sz="800" kern="1200" dirty="0" err="1">
                          <a:solidFill>
                            <a:schemeClr val="tx1"/>
                          </a:solidFill>
                          <a:effectLst/>
                          <a:latin typeface="Times New Roman" panose="02020603050405020304" pitchFamily="18" charset="0"/>
                          <a:ea typeface="+mn-ea"/>
                          <a:cs typeface="Times New Roman" panose="02020603050405020304" pitchFamily="18" charset="0"/>
                        </a:rPr>
                        <a:t>мутахассис</a:t>
                      </a:r>
                      <a:r>
                        <a:rPr lang="uz-Cyrl-UZ" sz="800" kern="1200" dirty="0">
                          <a:solidFill>
                            <a:schemeClr val="tx1"/>
                          </a:solidFill>
                          <a:effectLst/>
                          <a:latin typeface="Times New Roman" panose="02020603050405020304" pitchFamily="18" charset="0"/>
                          <a:ea typeface="+mn-ea"/>
                          <a:cs typeface="Times New Roman" panose="02020603050405020304" pitchFamily="18" charset="0"/>
                        </a:rPr>
                        <a:t>и</a:t>
                      </a:r>
                      <a:endParaRPr lang="uz-Cyrl-UZ"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1917">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203995">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1996 йил, Ўзбекистон давлат консерваторияси                                                                               </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2575324793"/>
                  </a:ext>
                </a:extLst>
              </a:tr>
              <a:tr h="203995">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хор дирижёри, ўқитувчи </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3581415073"/>
                  </a:ext>
                </a:extLst>
              </a:tr>
              <a:tr h="320714">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endParaRPr lang="ru-RU" sz="800" dirty="0">
                        <a:latin typeface="Times New Roman" panose="02020603050405020304" pitchFamily="18" charset="0"/>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1062673456"/>
                  </a:ext>
                </a:extLst>
              </a:tr>
              <a:tr h="320714">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Немис, италян тиллари </a:t>
                      </a:r>
                      <a:endParaRPr lang="ru-RU" sz="800" dirty="0">
                        <a:latin typeface="Times New Roman" panose="02020603050405020304" pitchFamily="18" charset="0"/>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1498889981"/>
                  </a:ext>
                </a:extLst>
              </a:tr>
              <a:tr h="441922">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800" b="0" kern="1200" noProof="0" dirty="0" err="1">
                          <a:solidFill>
                            <a:schemeClr val="tx1"/>
                          </a:solidFill>
                          <a:latin typeface="Times New Roman" panose="02020603050405020304" pitchFamily="18" charset="0"/>
                          <a:ea typeface="+mn-ea"/>
                          <a:cs typeface="Times New Roman" panose="02020603050405020304" pitchFamily="18" charset="0"/>
                        </a:rPr>
                        <a:t>Йўқ</a:t>
                      </a:r>
                      <a:endParaRPr lang="ru-RU"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66146" y="865688"/>
          <a:ext cx="3001760" cy="5944637"/>
        </p:xfrm>
        <a:graphic>
          <a:graphicData uri="http://schemas.openxmlformats.org/drawingml/2006/table">
            <a:tbl>
              <a:tblPr firstRow="1" bandRow="1">
                <a:tableStyleId>{C083E6E3-FA7D-4D7B-A595-EF9225AFEA82}</a:tableStyleId>
              </a:tblPr>
              <a:tblGrid>
                <a:gridCol w="1377498">
                  <a:extLst>
                    <a:ext uri="{9D8B030D-6E8A-4147-A177-3AD203B41FA5}">
                      <a16:colId xmlns:a16="http://schemas.microsoft.com/office/drawing/2014/main" val="2715609854"/>
                    </a:ext>
                  </a:extLst>
                </a:gridCol>
                <a:gridCol w="1624262">
                  <a:extLst>
                    <a:ext uri="{9D8B030D-6E8A-4147-A177-3AD203B41FA5}">
                      <a16:colId xmlns:a16="http://schemas.microsoft.com/office/drawing/2014/main" val="546443978"/>
                    </a:ext>
                  </a:extLst>
                </a:gridCol>
              </a:tblGrid>
              <a:tr h="320154">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77191">
                <a:tc>
                  <a:txBody>
                    <a:bodyPr/>
                    <a:lstStyle/>
                    <a:p>
                      <a:pPr algn="l">
                        <a:lnSpc>
                          <a:spcPct val="85000"/>
                        </a:lnSpc>
                      </a:pPr>
                      <a:r>
                        <a:rPr lang="uz-Cyrl-UZ" sz="900" b="1" i="0" noProof="0" dirty="0">
                          <a:solidFill>
                            <a:schemeClr val="tx1"/>
                          </a:solidFill>
                          <a:latin typeface="Times New Roman" panose="02020603050405020304" pitchFamily="18" charset="0"/>
                          <a:cs typeface="Times New Roman" panose="02020603050405020304" pitchFamily="18" charset="0"/>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800" b="0" kern="1200" dirty="0" smtClean="0">
                          <a:solidFill>
                            <a:schemeClr val="tx1"/>
                          </a:solidFill>
                          <a:effectLst/>
                          <a:latin typeface="Times New Roman" panose="02020603050405020304" pitchFamily="18" charset="0"/>
                          <a:ea typeface="+mn-ea"/>
                          <a:cs typeface="Times New Roman" panose="02020603050405020304" pitchFamily="18" charset="0"/>
                        </a:rPr>
                        <a:t> </a:t>
                      </a:r>
                      <a:r>
                        <a:rPr lang="uz-Cyrl-UZ" sz="800" b="0" kern="1200" dirty="0">
                          <a:solidFill>
                            <a:schemeClr val="tx1"/>
                          </a:solidFill>
                          <a:effectLst/>
                          <a:latin typeface="Times New Roman" panose="02020603050405020304" pitchFamily="18" charset="0"/>
                          <a:ea typeface="+mn-ea"/>
                          <a:cs typeface="Times New Roman" panose="02020603050405020304" pitchFamily="18" charset="0"/>
                        </a:rPr>
                        <a:t>Алишер Навоий номидаги Ўзбекистон давлат академик катта театри   </a:t>
                      </a:r>
                      <a:r>
                        <a:rPr lang="uz-Cyrl-UZ" sz="800" b="0" kern="1200" dirty="0" smtClean="0">
                          <a:solidFill>
                            <a:schemeClr val="tx1"/>
                          </a:solidFill>
                          <a:effectLst/>
                          <a:latin typeface="Times New Roman" panose="02020603050405020304" pitchFamily="18" charset="0"/>
                          <a:ea typeface="+mn-ea"/>
                          <a:cs typeface="Times New Roman" panose="02020603050405020304" pitchFamily="18" charset="0"/>
                        </a:rPr>
                        <a:t>хормейстер </a:t>
                      </a:r>
                      <a:r>
                        <a:rPr lang="uz-Cyrl-UZ" sz="800" b="0" kern="1200" dirty="0">
                          <a:solidFill>
                            <a:schemeClr val="tx1"/>
                          </a:solidFill>
                          <a:effectLst/>
                          <a:latin typeface="Times New Roman" panose="02020603050405020304" pitchFamily="18" charset="0"/>
                          <a:ea typeface="+mn-ea"/>
                          <a:cs typeface="Times New Roman" panose="02020603050405020304" pitchFamily="18" charset="0"/>
                        </a:rPr>
                        <a:t>ассистенти</a:t>
                      </a:r>
                      <a:endParaRPr lang="ru-RU" sz="800" b="0" kern="1200" dirty="0">
                        <a:solidFill>
                          <a:schemeClr val="tx1"/>
                        </a:solidFill>
                        <a:effectLst/>
                        <a:latin typeface="Times New Roman" panose="02020603050405020304" pitchFamily="18" charset="0"/>
                        <a:ea typeface="+mn-ea"/>
                        <a:cs typeface="Times New Roman" panose="02020603050405020304"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8891">
                <a:tc>
                  <a:txBody>
                    <a:bodyPr/>
                    <a:lstStyle/>
                    <a:p>
                      <a:pPr algn="l">
                        <a:lnSpc>
                          <a:spcPct val="85000"/>
                        </a:lnSpc>
                      </a:pPr>
                      <a:r>
                        <a:rPr lang="uz-Cyrl-UZ" sz="900" b="1" i="0" noProof="0" dirty="0">
                          <a:solidFill>
                            <a:schemeClr val="tx1"/>
                          </a:solidFill>
                          <a:latin typeface="Times New Roman" panose="02020603050405020304" pitchFamily="18" charset="0"/>
                          <a:cs typeface="Times New Roman" panose="02020603050405020304" pitchFamily="18" charset="0"/>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800" b="0" kern="1200" noProof="0" dirty="0">
                          <a:solidFill>
                            <a:schemeClr val="tx1"/>
                          </a:solidFill>
                          <a:latin typeface="Times New Roman" panose="02020603050405020304" pitchFamily="18" charset="0"/>
                          <a:ea typeface="+mn-ea"/>
                          <a:cs typeface="Times New Roman" panose="02020603050405020304" pitchFamily="18" charset="0"/>
                        </a:rPr>
                        <a:t>Й</a:t>
                      </a:r>
                      <a:r>
                        <a:rPr lang="ru-RU" sz="800" b="0" kern="1200" noProof="0" dirty="0" err="1">
                          <a:solidFill>
                            <a:schemeClr val="tx1"/>
                          </a:solidFill>
                          <a:latin typeface="Times New Roman" panose="02020603050405020304" pitchFamily="18" charset="0"/>
                          <a:ea typeface="+mn-ea"/>
                          <a:cs typeface="Times New Roman" panose="02020603050405020304" pitchFamily="18" charset="0"/>
                        </a:rPr>
                        <a:t>ўқ</a:t>
                      </a:r>
                      <a:endParaRPr lang="uz-Cyrl-UZ"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5641">
                <a:tc>
                  <a:txBody>
                    <a:bodyPr/>
                    <a:lstStyle/>
                    <a:p>
                      <a:pPr algn="l">
                        <a:lnSpc>
                          <a:spcPct val="107000"/>
                        </a:lnSpc>
                        <a:spcAft>
                          <a:spcPts val="0"/>
                        </a:spcAft>
                      </a:pPr>
                      <a:r>
                        <a:rPr lang="uz-Cyrl-UZ" sz="900" b="1" i="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800" b="0" noProof="0" dirty="0">
                          <a:effectLst/>
                          <a:latin typeface="Times New Roman" panose="02020603050405020304" pitchFamily="18" charset="0"/>
                          <a:ea typeface="Calibri" panose="020F0502020204030204" pitchFamily="34" charset="0"/>
                          <a:cs typeface="Times New Roman" panose="02020603050405020304" pitchFamily="18" charset="0"/>
                        </a:rPr>
                        <a:t>34</a:t>
                      </a:r>
                      <a:r>
                        <a:rPr lang="uz-Cyrl-UZ" sz="800" b="0" noProof="0" dirty="0">
                          <a:effectLst/>
                          <a:latin typeface="Times New Roman" panose="02020603050405020304" pitchFamily="18" charset="0"/>
                          <a:ea typeface="Calibri" panose="020F0502020204030204" pitchFamily="34" charset="0"/>
                          <a:cs typeface="Times New Roman" panose="02020603050405020304" pitchFamily="18" charset="0"/>
                        </a:rPr>
                        <a:t>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1523">
                <a:tc>
                  <a:txBody>
                    <a:bodyPr/>
                    <a:lstStyle/>
                    <a:p>
                      <a:pPr algn="l">
                        <a:lnSpc>
                          <a:spcPct val="107000"/>
                        </a:lnSpc>
                        <a:spcAft>
                          <a:spcPts val="0"/>
                        </a:spcAft>
                      </a:pPr>
                      <a:r>
                        <a:rPr lang="uz-Cyrl-UZ" sz="900" b="1" i="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b="0" noProof="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52466">
                <a:tc>
                  <a:txBody>
                    <a:bodyPr/>
                    <a:lstStyle/>
                    <a:p>
                      <a:pPr algn="l">
                        <a:lnSpc>
                          <a:spcPct val="107000"/>
                        </a:lnSpc>
                        <a:spcAft>
                          <a:spcPts val="0"/>
                        </a:spcAft>
                      </a:pPr>
                      <a:r>
                        <a:rPr lang="uz-Cyrl-UZ" sz="900" b="1" i="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b="0" noProof="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8269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800" b="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7592">
                <a:tc>
                  <a:txBody>
                    <a:bodyPr/>
                    <a:lstStyle/>
                    <a:p>
                      <a:pPr algn="l">
                        <a:lnSpc>
                          <a:spcPct val="107000"/>
                        </a:lnSpc>
                        <a:spcAft>
                          <a:spcPts val="0"/>
                        </a:spcAft>
                      </a:pPr>
                      <a:r>
                        <a:rPr lang="uz-Cyrl-UZ" sz="900" b="1" i="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800" b="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66724">
                <a:tc>
                  <a:txBody>
                    <a:bodyPr/>
                    <a:lstStyle/>
                    <a:p>
                      <a:pPr algn="l">
                        <a:lnSpc>
                          <a:spcPct val="107000"/>
                        </a:lnSpc>
                        <a:spcAft>
                          <a:spcPts val="0"/>
                        </a:spcAft>
                      </a:pPr>
                      <a:r>
                        <a:rPr lang="uz-Cyrl-UZ" sz="900" b="1" i="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07592">
                <a:tc>
                  <a:txBody>
                    <a:bodyPr/>
                    <a:lstStyle/>
                    <a:p>
                      <a:pPr algn="l">
                        <a:lnSpc>
                          <a:spcPct val="107000"/>
                        </a:lnSpc>
                        <a:spcAft>
                          <a:spcPts val="0"/>
                        </a:spcAft>
                      </a:pPr>
                      <a:r>
                        <a:rPr lang="uz-Cyrl-UZ" sz="900" b="1" i="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800" b="0" kern="1200" noProof="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1571">
                <a:tc gridSpan="2">
                  <a:txBody>
                    <a:bodyPr/>
                    <a:lstStyle/>
                    <a:p>
                      <a:pPr algn="just"/>
                      <a:r>
                        <a:rPr lang="uz-Cyrl-UZ" sz="800" b="1" kern="1200" noProof="0" dirty="0">
                          <a:solidFill>
                            <a:schemeClr val="bg1"/>
                          </a:solidFill>
                          <a:latin typeface="Times New Roman" panose="02020603050405020304" pitchFamily="18" charset="0"/>
                          <a:ea typeface="+mn-ea"/>
                          <a:cs typeface="Times New Roman" panose="02020603050405020304" pitchFamily="18" charset="0"/>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987811">
                <a:tc gridSpan="2">
                  <a:txBody>
                    <a:bodyPr/>
                    <a:lstStyle/>
                    <a:p>
                      <a:r>
                        <a:rPr lang="uz-Cyrl-UZ" sz="800" kern="1200" dirty="0">
                          <a:solidFill>
                            <a:schemeClr val="tx1"/>
                          </a:solidFill>
                          <a:effectLst/>
                          <a:latin typeface="Times New Roman" panose="02020603050405020304" pitchFamily="18" charset="0"/>
                          <a:ea typeface="+mn-ea"/>
                          <a:cs typeface="Times New Roman" panose="02020603050405020304" pitchFamily="18" charset="0"/>
                        </a:rPr>
                        <a:t>2009 йил, “Ўзбекистон Республикасида хизмат кўрсатган артист” унвони</a:t>
                      </a:r>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p>
                      <a:pPr algn="just"/>
                      <a:endParaRPr lang="ru-RU" sz="800" kern="1200" dirty="0">
                        <a:solidFill>
                          <a:schemeClr val="tx1"/>
                        </a:solidFill>
                        <a:effectLst/>
                        <a:latin typeface="Times New Roman" panose="02020603050405020304" pitchFamily="18" charset="0"/>
                        <a:ea typeface="+mn-ea"/>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756845" y="869289"/>
          <a:ext cx="3010260" cy="5941034"/>
        </p:xfrm>
        <a:graphic>
          <a:graphicData uri="http://schemas.openxmlformats.org/drawingml/2006/table">
            <a:tbl>
              <a:tblPr firstRow="1" bandRow="1">
                <a:tableStyleId>{C083E6E3-FA7D-4D7B-A595-EF9225AFEA82}</a:tableStyleId>
              </a:tblPr>
              <a:tblGrid>
                <a:gridCol w="3010260">
                  <a:extLst>
                    <a:ext uri="{9D8B030D-6E8A-4147-A177-3AD203B41FA5}">
                      <a16:colId xmlns:a16="http://schemas.microsoft.com/office/drawing/2014/main" val="2715609854"/>
                    </a:ext>
                  </a:extLst>
                </a:gridCol>
              </a:tblGrid>
              <a:tr h="255829">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35475">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5122910">
                <a:tc>
                  <a:txBody>
                    <a:bodyPr/>
                    <a:lstStyle/>
                    <a:p>
                      <a:pPr marL="0" indent="179388" algn="just">
                        <a:lnSpc>
                          <a:spcPct val="100000"/>
                        </a:lnSpc>
                      </a:pPr>
                      <a:r>
                        <a:rPr lang="uz-Cyrl-UZ" sz="900" b="0" kern="1200" dirty="0" smtClean="0">
                          <a:solidFill>
                            <a:schemeClr val="tx1"/>
                          </a:solidFill>
                          <a:effectLst/>
                          <a:latin typeface="+mn-lt"/>
                          <a:ea typeface="+mn-ea"/>
                          <a:cs typeface="Times New Roman" panose="02020603050405020304" pitchFamily="18" charset="0"/>
                        </a:rPr>
                        <a:t>Д.Жданов </a:t>
                      </a:r>
                      <a:r>
                        <a:rPr lang="uz-Cyrl-UZ" sz="900" b="0" kern="1200" dirty="0">
                          <a:solidFill>
                            <a:schemeClr val="tx1"/>
                          </a:solidFill>
                          <a:effectLst/>
                          <a:latin typeface="+mn-lt"/>
                          <a:ea typeface="+mn-ea"/>
                          <a:cs typeface="Times New Roman" panose="02020603050405020304" pitchFamily="18" charset="0"/>
                        </a:rPr>
                        <a:t>ижодий фаолияти давомида 20 дан зиёд спектаклларнинг саҳна юзини кўришида опера ва балет саньати ривожига ўз хиссасини қўшиб келмоқда.</a:t>
                      </a:r>
                      <a:endParaRPr lang="ru-RU" sz="900" b="0" kern="1200" dirty="0">
                        <a:solidFill>
                          <a:schemeClr val="tx1"/>
                        </a:solidFill>
                        <a:effectLst/>
                        <a:latin typeface="+mn-lt"/>
                        <a:ea typeface="+mn-ea"/>
                        <a:cs typeface="Times New Roman" panose="02020603050405020304" pitchFamily="18" charset="0"/>
                      </a:endParaRPr>
                    </a:p>
                    <a:p>
                      <a:pPr marL="0" indent="179388" algn="just">
                        <a:lnSpc>
                          <a:spcPct val="100000"/>
                        </a:lnSpc>
                      </a:pPr>
                      <a:r>
                        <a:rPr lang="uz-Cyrl-UZ" sz="900" b="0" kern="1200" dirty="0">
                          <a:solidFill>
                            <a:schemeClr val="tx1"/>
                          </a:solidFill>
                          <a:effectLst/>
                          <a:latin typeface="+mn-lt"/>
                          <a:ea typeface="+mn-ea"/>
                          <a:cs typeface="Times New Roman" panose="02020603050405020304" pitchFamily="18" charset="0"/>
                        </a:rPr>
                        <a:t>А.Икромов  Т.Жалилов ва Б.Бровцин “Тоҳир ва Зуҳра”, М.Ашрафий М.Бафоев “Севгим самоси”, С.Юдаков “Майсаранинг иши”, И.Акбаров “Сўғд элининг қоплони” опера спектакли, П.Чайковскийнинг “Евгений Онегин”, Дж.Пуччини “Богема”, “Травиата”, “Трубадур”, “Риголетто”, “Бал-Маскарад”, Ж.Бизе “Кармен”, “Искатели жемчуга”, Г.Доницетти “Лючия де Ламмермур”, В.Моцарт “Театр директори” операси, М.Ашрафий “Севги тумори”, “Темур”, “Бременлик мусиқачилар”, каби спектакллар шулар жумласидандир.</a:t>
                      </a:r>
                      <a:endParaRPr lang="ru-RU" sz="900" b="0" kern="1200" dirty="0">
                        <a:solidFill>
                          <a:schemeClr val="tx1"/>
                        </a:solidFill>
                        <a:effectLst/>
                        <a:latin typeface="+mn-lt"/>
                        <a:ea typeface="+mn-ea"/>
                        <a:cs typeface="Times New Roman" panose="02020603050405020304" pitchFamily="18" charset="0"/>
                      </a:endParaRPr>
                    </a:p>
                    <a:p>
                      <a:pPr marL="0" indent="179388" algn="just">
                        <a:lnSpc>
                          <a:spcPct val="100000"/>
                        </a:lnSpc>
                      </a:pPr>
                      <a:r>
                        <a:rPr lang="uz-Cyrl-UZ" sz="900" b="0" kern="1200" dirty="0">
                          <a:solidFill>
                            <a:schemeClr val="tx1"/>
                          </a:solidFill>
                          <a:effectLst/>
                          <a:latin typeface="+mn-lt"/>
                          <a:ea typeface="+mn-ea"/>
                          <a:cs typeface="Times New Roman" panose="02020603050405020304" pitchFamily="18" charset="0"/>
                        </a:rPr>
                        <a:t>Д.Жданов жаҳон профессионал мусиқа саньатини ҳар томонлама кенг ва чуқур биладиган, узоқ йиллар давомида ўз мутахассислиги бўйича ишлаб, салмоқли ижодий тажрибага эга булган профессионал хор артисти ва театрнинг хормейстер ассистенти хисобланади. У театрнинг хор жамоасида кўп йиллардан буён фаолият юритиб, театр репертуаридан ўрин олган барча спектаклларни муваффақиятини таъминлаб келаётган саньат усталаридан ҳисобланади.</a:t>
                      </a:r>
                      <a:endParaRPr lang="ru-RU" sz="900" b="0" kern="1200" dirty="0">
                        <a:solidFill>
                          <a:schemeClr val="tx1"/>
                        </a:solidFill>
                        <a:effectLst/>
                        <a:latin typeface="+mn-lt"/>
                        <a:ea typeface="+mn-ea"/>
                        <a:cs typeface="Times New Roman" panose="02020603050405020304" pitchFamily="18" charset="0"/>
                      </a:endParaRPr>
                    </a:p>
                    <a:p>
                      <a:pPr marL="0" indent="179388" algn="just">
                        <a:lnSpc>
                          <a:spcPct val="100000"/>
                        </a:lnSpc>
                      </a:pPr>
                      <a:r>
                        <a:rPr lang="uz-Cyrl-UZ" sz="900" b="0" kern="1200" dirty="0">
                          <a:solidFill>
                            <a:schemeClr val="tx1"/>
                          </a:solidFill>
                          <a:effectLst/>
                          <a:latin typeface="+mn-lt"/>
                          <a:ea typeface="+mn-ea"/>
                          <a:cs typeface="Times New Roman" panose="02020603050405020304" pitchFamily="18" charset="0"/>
                        </a:rPr>
                        <a:t>Д.Жданов </a:t>
                      </a:r>
                      <a:r>
                        <a:rPr lang="uz-Cyrl-UZ" sz="900" b="0" kern="1200" dirty="0" smtClean="0">
                          <a:solidFill>
                            <a:schemeClr val="tx1"/>
                          </a:solidFill>
                          <a:effectLst/>
                          <a:latin typeface="+mn-lt"/>
                          <a:ea typeface="+mn-ea"/>
                          <a:cs typeface="Times New Roman" panose="02020603050405020304" pitchFamily="18" charset="0"/>
                        </a:rPr>
                        <a:t>сўнгги </a:t>
                      </a:r>
                      <a:r>
                        <a:rPr lang="uz-Cyrl-UZ" sz="900" b="0" kern="1200" dirty="0">
                          <a:solidFill>
                            <a:schemeClr val="tx1"/>
                          </a:solidFill>
                          <a:effectLst/>
                          <a:latin typeface="+mn-lt"/>
                          <a:ea typeface="+mn-ea"/>
                          <a:cs typeface="Times New Roman" panose="02020603050405020304" pitchFamily="18" charset="0"/>
                        </a:rPr>
                        <a:t>йилларда Республикамизда ўтказиб келинаётган халқаро даражадаги “Тошкент баҳори”, “Ёшлар баҳори”, “Шарқ тароналари” халқаро мусиқа фестиваллари ҳамда Мустақиллик ва Наврўз умумхалқ байрамларига тайёргарлик кўриш ва уларни юқори бадиий савияда ўтишида хормейстер ассистенти сифатида ўз маҳоратини намойиш этиб келмоқда.</a:t>
                      </a:r>
                      <a:endParaRPr lang="ru-RU" sz="900" b="0" kern="1200" dirty="0">
                        <a:solidFill>
                          <a:schemeClr val="tx1"/>
                        </a:solidFill>
                        <a:effectLst/>
                        <a:latin typeface="+mn-lt"/>
                        <a:ea typeface="+mn-ea"/>
                        <a:cs typeface="Times New Roman" panose="02020603050405020304" pitchFamily="18" charset="0"/>
                      </a:endParaRPr>
                    </a:p>
                    <a:p>
                      <a:pPr marL="0" indent="179388" algn="just">
                        <a:lnSpc>
                          <a:spcPct val="100000"/>
                        </a:lnSpc>
                      </a:pPr>
                      <a:r>
                        <a:rPr lang="uz-Cyrl-UZ" sz="900" b="0" kern="1200" dirty="0">
                          <a:solidFill>
                            <a:schemeClr val="tx1"/>
                          </a:solidFill>
                          <a:effectLst/>
                          <a:latin typeface="+mn-lt"/>
                          <a:ea typeface="+mn-ea"/>
                          <a:cs typeface="Times New Roman" panose="02020603050405020304" pitchFamily="18" charset="0"/>
                        </a:rPr>
                        <a:t>Д.Жданов фаолияти давомида ёш ижодкорларга керакли маслаҳатлар бериши, малака улашиши орқали жамоа орасида ҳурматга сазовор бўлган ижодкорлардандир</a:t>
                      </a:r>
                      <a:r>
                        <a:rPr lang="uz-Cyrl-UZ" sz="900" b="0" kern="1200" dirty="0" smtClean="0">
                          <a:solidFill>
                            <a:schemeClr val="tx1"/>
                          </a:solidFill>
                          <a:effectLst/>
                          <a:latin typeface="+mn-lt"/>
                          <a:ea typeface="+mn-ea"/>
                          <a:cs typeface="Times New Roman" panose="02020603050405020304" pitchFamily="18" charset="0"/>
                        </a:rPr>
                        <a:t>.</a:t>
                      </a:r>
                      <a:endParaRPr lang="ru-RU" sz="8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81582">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145238">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Picture 2" descr="Жданов Дмитрий"/>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44045" y="1184082"/>
            <a:ext cx="820490" cy="1054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19788528"/>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1"/>
          <a:ext cx="3427547" cy="5817685"/>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851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428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Times New Roman" pitchFamily="18" charset="0"/>
                        </a:rPr>
                        <a:t>КАБДУРАХМАНОВ</a:t>
                      </a:r>
                      <a:endParaRPr lang="ru-RU"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57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smtClean="0">
                          <a:solidFill>
                            <a:schemeClr val="tx1"/>
                          </a:solidFill>
                          <a:latin typeface="+mn-lt"/>
                          <a:ea typeface="+mn-ea"/>
                          <a:cs typeface="Times New Roman" pitchFamily="18" charset="0"/>
                        </a:rPr>
                        <a:t>Алибек </a:t>
                      </a:r>
                      <a:endParaRPr lang="uz-Cyrl-UZ"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21997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uz-Cyrl-UZ" sz="900" b="0" kern="1200" dirty="0" smtClean="0">
                          <a:solidFill>
                            <a:schemeClr val="tx1"/>
                          </a:solidFill>
                          <a:latin typeface="+mn-lt"/>
                          <a:ea typeface="+mn-ea"/>
                          <a:cs typeface="Times New Roman" pitchFamily="18" charset="0"/>
                        </a:rPr>
                        <a:t>Асатуллаевич</a:t>
                      </a:r>
                      <a:endParaRPr lang="ru-RU"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428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latin typeface="+mn-lt"/>
                      </a:endParaRPr>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ҚОЗОҚ</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smtClean="0">
                          <a:solidFill>
                            <a:schemeClr val="tx1"/>
                          </a:solidFill>
                          <a:effectLst/>
                          <a:latin typeface="+mn-lt"/>
                          <a:ea typeface="+mn-ea"/>
                          <a:cs typeface="+mn-cs"/>
                        </a:rPr>
                        <a:t>10.06.1984</a:t>
                      </a:r>
                      <a:endParaRPr lang="ru-RU"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0571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smtClean="0">
                          <a:solidFill>
                            <a:schemeClr val="tx1"/>
                          </a:solidFill>
                          <a:latin typeface="+mn-lt"/>
                          <a:ea typeface="+mn-ea"/>
                          <a:cs typeface="Times New Roman" pitchFamily="18" charset="0"/>
                        </a:rPr>
                        <a:t>Тошкент шаҳри</a:t>
                      </a:r>
                      <a:endParaRPr lang="uz-Cyrl-UZ"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5833">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2091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Оилали,</a:t>
                      </a:r>
                      <a:r>
                        <a:rPr lang="uz-Cyrl-UZ" sz="900" b="0" kern="1200" baseline="0" noProof="0" dirty="0" smtClean="0">
                          <a:solidFill>
                            <a:schemeClr val="tx1"/>
                          </a:solidFill>
                          <a:latin typeface="+mn-lt"/>
                          <a:ea typeface="+mn-ea"/>
                          <a:cs typeface="+mn-cs"/>
                        </a:rPr>
                        <a:t> 2</a:t>
                      </a:r>
                      <a:r>
                        <a:rPr lang="uz-Cyrl-UZ" sz="900" b="0" kern="1200" noProof="0" dirty="0" smtClean="0">
                          <a:solidFill>
                            <a:schemeClr val="tx1"/>
                          </a:solidFill>
                          <a:latin typeface="+mn-lt"/>
                          <a:ea typeface="+mn-ea"/>
                          <a:cs typeface="+mn-cs"/>
                        </a:rPr>
                        <a:t>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фарзанди бор</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5833">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0535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uz-Cyrl-UZ" sz="900" kern="1200" dirty="0" smtClean="0">
                          <a:solidFill>
                            <a:schemeClr val="tx1"/>
                          </a:solidFill>
                          <a:effectLst/>
                          <a:latin typeface="+mn-lt"/>
                          <a:ea typeface="+mn-ea"/>
                          <a:cs typeface="+mn-cs"/>
                        </a:rPr>
                        <a:t>Кабдурахманов Асатулла Гуватуллаевич</a:t>
                      </a:r>
                    </a:p>
                    <a:p>
                      <a:r>
                        <a:rPr lang="uz-Cyrl-UZ" sz="900" b="0" kern="1200" noProof="0" dirty="0" smtClean="0">
                          <a:solidFill>
                            <a:schemeClr val="tx1"/>
                          </a:solidFill>
                          <a:effectLst/>
                          <a:latin typeface="+mn-lt"/>
                          <a:ea typeface="+mn-ea"/>
                          <a:cs typeface="+mn-cs"/>
                        </a:rPr>
                        <a:t>1959 йил, Тошкент шаҳри</a:t>
                      </a:r>
                      <a:endParaRPr lang="uz-Cyrl-UZ"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latin typeface="+mn-lt"/>
                          <a:ea typeface="+mn-ea"/>
                          <a:cs typeface="Times New Roman" pitchFamily="18" charset="0"/>
                        </a:rPr>
                        <a:t>(маълумотга эга эмас)</a:t>
                      </a:r>
                      <a:endParaRPr lang="ru-RU"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648042">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uz-Cyrl-UZ" sz="900" kern="1200" dirty="0" smtClean="0">
                          <a:solidFill>
                            <a:schemeClr val="tx1"/>
                          </a:solidFill>
                          <a:effectLst/>
                          <a:latin typeface="+mn-lt"/>
                          <a:ea typeface="+mn-ea"/>
                          <a:cs typeface="+mn-cs"/>
                        </a:rPr>
                        <a:t>Кабдурахманова  (Ахмедова)</a:t>
                      </a:r>
                      <a:r>
                        <a:rPr lang="ru-RU"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Раиса  </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Халкузовна</a:t>
                      </a:r>
                    </a:p>
                    <a:p>
                      <a:r>
                        <a:rPr lang="uz-Cyrl-UZ" sz="900" b="0" kern="1200" noProof="0" dirty="0" smtClean="0">
                          <a:solidFill>
                            <a:schemeClr val="tx1"/>
                          </a:solidFill>
                          <a:effectLst/>
                          <a:latin typeface="+mn-lt"/>
                          <a:ea typeface="+mn-ea"/>
                          <a:cs typeface="+mn-cs"/>
                        </a:rPr>
                        <a:t>1959 йил, Тошкент шаҳри</a:t>
                      </a:r>
                      <a:endParaRPr lang="uz-Cyrl-UZ" sz="900" b="0" kern="1200" noProof="0" dirty="0" smtClean="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b="0" kern="1200" noProof="0" dirty="0" smtClean="0">
                          <a:solidFill>
                            <a:schemeClr val="tx1"/>
                          </a:solidFill>
                          <a:latin typeface="+mn-lt"/>
                          <a:ea typeface="+mn-ea"/>
                          <a:cs typeface="Times New Roman" pitchFamily="18" charset="0"/>
                        </a:rPr>
                        <a:t>пенсияда</a:t>
                      </a:r>
                      <a:endParaRPr lang="ru-RU"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648042">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ru-RU" sz="900" kern="1200" dirty="0" err="1" smtClean="0">
                          <a:solidFill>
                            <a:schemeClr val="tx1"/>
                          </a:solidFill>
                          <a:effectLst/>
                          <a:latin typeface="+mn-lt"/>
                          <a:ea typeface="+mn-ea"/>
                          <a:cs typeface="+mn-cs"/>
                        </a:rPr>
                        <a:t>Кабдурахманова</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(Давлятова) </a:t>
                      </a:r>
                      <a:r>
                        <a:rPr lang="ru-RU" sz="900" kern="1200" dirty="0" smtClean="0">
                          <a:solidFill>
                            <a:schemeClr val="tx1"/>
                          </a:solidFill>
                          <a:effectLst/>
                          <a:latin typeface="+mn-lt"/>
                          <a:ea typeface="+mn-ea"/>
                          <a:cs typeface="+mn-cs"/>
                        </a:rPr>
                        <a:t>Луиза </a:t>
                      </a:r>
                    </a:p>
                    <a:p>
                      <a:r>
                        <a:rPr lang="uz-Cyrl-UZ" sz="900" kern="1200" dirty="0" smtClean="0">
                          <a:solidFill>
                            <a:schemeClr val="tx1"/>
                          </a:solidFill>
                          <a:effectLst/>
                          <a:latin typeface="+mn-lt"/>
                          <a:ea typeface="+mn-ea"/>
                          <a:cs typeface="+mn-cs"/>
                        </a:rPr>
                        <a:t>Бахтиеровна</a:t>
                      </a:r>
                    </a:p>
                    <a:p>
                      <a:r>
                        <a:rPr lang="ru-RU" sz="900" kern="1200" dirty="0" smtClean="0">
                          <a:solidFill>
                            <a:schemeClr val="tx1"/>
                          </a:solidFill>
                          <a:effectLst/>
                          <a:latin typeface="+mn-lt"/>
                          <a:ea typeface="+mn-ea"/>
                          <a:cs typeface="+mn-cs"/>
                        </a:rPr>
                        <a:t>1983 </a:t>
                      </a:r>
                      <a:r>
                        <a:rPr lang="ru-RU" sz="900" kern="1200" dirty="0" err="1" smtClean="0">
                          <a:solidFill>
                            <a:schemeClr val="tx1"/>
                          </a:solidFill>
                          <a:effectLst/>
                          <a:latin typeface="+mn-lt"/>
                          <a:ea typeface="+mn-ea"/>
                          <a:cs typeface="+mn-cs"/>
                        </a:rPr>
                        <a:t>йил</a:t>
                      </a:r>
                      <a:r>
                        <a:rPr lang="uz-Cyrl-UZ" sz="900" kern="1200" dirty="0" smtClean="0">
                          <a:solidFill>
                            <a:schemeClr val="tx1"/>
                          </a:solidFill>
                          <a:effectLst/>
                          <a:latin typeface="+mn-lt"/>
                          <a:ea typeface="+mn-ea"/>
                          <a:cs typeface="+mn-cs"/>
                        </a:rPr>
                        <a:t>,</a:t>
                      </a:r>
                      <a:r>
                        <a:rPr lang="en-US" sz="900"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Тошкент вилояти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mn-cs"/>
                        </a:rPr>
                        <a:t>Ўзбекистон давлат консерваторияси ўқитувчиси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2051">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62666">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2007 йил, Ўзбекистон давлат консерваторияси</a:t>
                      </a:r>
                      <a:endParaRPr lang="ru-RU" sz="900" kern="120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9978">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latin typeface="Times New Roman" pitchFamily="18" charset="0"/>
                          <a:ea typeface="+mn-ea"/>
                          <a:cs typeface="Times New Roman" pitchFamily="18" charset="0"/>
                        </a:rPr>
                        <a:t>Оркестр артисти</a:t>
                      </a:r>
                      <a:endParaRPr lang="uz-Cyrl-UZ" sz="900" b="0" kern="1200" noProof="0" dirty="0">
                        <a:solidFill>
                          <a:schemeClr val="tx1"/>
                        </a:solidFill>
                        <a:latin typeface="Times New Roman" pitchFamily="18" charset="0"/>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20917">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20917">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20917">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89"/>
          <a:ext cx="3172841" cy="5825669"/>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20644">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776668">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smtClean="0">
                          <a:solidFill>
                            <a:schemeClr val="tx1"/>
                          </a:solidFill>
                          <a:latin typeface="+mn-lt"/>
                          <a:ea typeface="+mn-ea"/>
                          <a:cs typeface="+mn-cs"/>
                        </a:rPr>
                        <a:t>2025 й. -  ҳ.в.  - Алишер Навоий номидаги Ўзбекистон давлат академик катта театри директори</a:t>
                      </a:r>
                      <a:endParaRPr lang="ru-RU" sz="900" kern="120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9256">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7488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21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7488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baseline="0" noProof="0" dirty="0" smtClean="0">
                          <a:effectLst/>
                          <a:latin typeface="+mn-lt"/>
                          <a:ea typeface="Calibri" panose="020F0502020204030204" pitchFamily="34" charset="0"/>
                          <a:cs typeface="Times New Roman" panose="02020603050405020304" pitchFamily="18" charset="0"/>
                        </a:rPr>
                        <a:t>6 </a:t>
                      </a:r>
                      <a:r>
                        <a:rPr lang="uz-Cyrl-UZ" sz="900" b="0" noProof="0" dirty="0" smtClean="0">
                          <a:effectLst/>
                          <a:latin typeface="+mn-lt"/>
                          <a:ea typeface="Calibri" panose="020F0502020204030204" pitchFamily="34" charset="0"/>
                          <a:cs typeface="Times New Roman" panose="02020603050405020304" pitchFamily="18" charset="0"/>
                        </a:rPr>
                        <a:t>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54296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smtClean="0">
                          <a:solidFill>
                            <a:schemeClr val="tx1"/>
                          </a:solidFill>
                          <a:effectLst/>
                          <a:latin typeface="+mn-lt"/>
                          <a:ea typeface="+mn-ea"/>
                          <a:cs typeface="+mn-cs"/>
                        </a:rPr>
                        <a:t>2020-2025 йй. - Ўзбекистон давлат филармонияси Миллий симфоник оркестри бош дирижёри </a:t>
                      </a:r>
                      <a:endParaRPr lang="ru-RU" sz="900" kern="1200" dirty="0" smtClean="0">
                        <a:solidFill>
                          <a:schemeClr val="tx1"/>
                        </a:solidFill>
                        <a:effectLst/>
                        <a:latin typeface="+mn-lt"/>
                        <a:ea typeface="+mn-ea"/>
                        <a:cs typeface="+mn-cs"/>
                      </a:endParaRPr>
                    </a:p>
                    <a:p>
                      <a:r>
                        <a:rPr lang="uz-Cyrl-UZ" sz="900" kern="1200" dirty="0" smtClean="0">
                          <a:solidFill>
                            <a:schemeClr val="tx1"/>
                          </a:solidFill>
                          <a:effectLst/>
                          <a:latin typeface="+mn-lt"/>
                          <a:ea typeface="+mn-ea"/>
                          <a:cs typeface="+mn-cs"/>
                        </a:rPr>
                        <a:t>2025 й. -  ҳ.в.  - Алишер Навоий номидаги Ўзбекистон давлат академик катта театри директори</a:t>
                      </a:r>
                      <a:endParaRPr lang="ru-RU" sz="900" kern="1200" dirty="0" smtClean="0">
                        <a:solidFill>
                          <a:schemeClr val="tx1"/>
                        </a:solidFill>
                        <a:effectLst/>
                        <a:latin typeface="+mn-lt"/>
                        <a:ea typeface="+mn-ea"/>
                        <a:cs typeface="+mn-cs"/>
                      </a:endParaRPr>
                    </a:p>
                    <a:p>
                      <a:pPr algn="l">
                        <a:lnSpc>
                          <a:spcPct val="107000"/>
                        </a:lnSpc>
                        <a:spcAft>
                          <a:spcPts val="0"/>
                        </a:spcAft>
                      </a:pP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188724">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57853">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57853">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17488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9001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327031">
                <a:tc gridSpan="2">
                  <a:txBody>
                    <a:bodyPr/>
                    <a:lstStyle/>
                    <a:p>
                      <a:r>
                        <a:rPr lang="uz-Cyrl-UZ" sz="900" kern="1200" dirty="0" smtClean="0">
                          <a:solidFill>
                            <a:schemeClr val="tx1"/>
                          </a:solidFill>
                          <a:effectLst/>
                          <a:latin typeface="+mn-lt"/>
                          <a:ea typeface="+mn-ea"/>
                          <a:cs typeface="+mn-cs"/>
                        </a:rPr>
                        <a:t>2022 й. “Маданият ва санъат фидокори” кўкрак нишони</a:t>
                      </a:r>
                      <a:endParaRPr lang="ru-RU" sz="900" kern="1200" dirty="0" smtClean="0">
                        <a:solidFill>
                          <a:schemeClr val="tx1"/>
                        </a:solidFill>
                        <a:effectLst/>
                        <a:latin typeface="+mn-lt"/>
                        <a:ea typeface="+mn-ea"/>
                        <a:cs typeface="+mn-cs"/>
                      </a:endParaRPr>
                    </a:p>
                    <a:p>
                      <a:r>
                        <a:rPr lang="uz-Cyrl-UZ" sz="900" kern="1200" dirty="0" smtClean="0">
                          <a:solidFill>
                            <a:schemeClr val="tx1"/>
                          </a:solidFill>
                          <a:latin typeface="+mn-lt"/>
                          <a:ea typeface="+mn-ea"/>
                          <a:cs typeface="Times New Roman" pitchFamily="18" charset="0"/>
                        </a:rPr>
                        <a:t>2024 й. “Ўзбекистонда хизмат кўрсатган артист” фахрий унвони</a:t>
                      </a:r>
                      <a:endParaRPr lang="ru-RU" sz="900" kern="1200" dirty="0" smtClean="0">
                        <a:solidFill>
                          <a:schemeClr val="tx1"/>
                        </a:solidFill>
                        <a:latin typeface="+mn-lt"/>
                        <a:ea typeface="+mn-ea"/>
                        <a:cs typeface="Times New Roman"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6"/>
          <a:ext cx="2817247" cy="5822071"/>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649">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5725">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4221">
                <a:tc>
                  <a:txBody>
                    <a:bodyPr/>
                    <a:lstStyle/>
                    <a:p>
                      <a:pPr marL="0" indent="179388" algn="just"/>
                      <a:r>
                        <a:rPr lang="uz-Cyrl-UZ" sz="900" dirty="0" smtClean="0">
                          <a:effectLst/>
                        </a:rPr>
                        <a:t>А.Кабдурахманов академик  театр жамоасини бошқаришда замонавий  иш  юритиш услубларини эгаллаган, юқори турувчи органларнинг   топшириқларини  тезкорлик  билан  ўз  вақтида ва талаб даражасида хал  қиладиган маъсулиятли раҳбар.</a:t>
                      </a:r>
                    </a:p>
                    <a:p>
                      <a:pPr marL="0" indent="179388" algn="just"/>
                      <a:r>
                        <a:rPr lang="uz-Cyrl-UZ" sz="900" dirty="0" smtClean="0">
                          <a:effectLst/>
                        </a:rPr>
                        <a:t>Халқаро ва республика танловлари ва бошқа кўплаб тадбирларни юқори савияда ўтишида ўзининг салмоқли хиссасини қўшиб, ўзининг назарий билими билан бирга ташкилотчилик қобилиятини ҳам намоён этиб келмоқда.</a:t>
                      </a:r>
                      <a:r>
                        <a:rPr lang="uz-Cyrl-UZ" sz="900" kern="1200" dirty="0" smtClean="0">
                          <a:solidFill>
                            <a:schemeClr val="tx1"/>
                          </a:solidFill>
                          <a:effectLst/>
                          <a:latin typeface="+mn-lt"/>
                          <a:ea typeface="+mn-ea"/>
                          <a:cs typeface="+mn-cs"/>
                        </a:rPr>
                        <a:t> </a:t>
                      </a:r>
                      <a:endParaRPr lang="ru-RU" sz="900" kern="1200" dirty="0" smtClean="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Республика миқёсида ўтказиладиган турли байрам ва тадбирлар доирасида худудларга юборилаётган театр ижодкорларидан иборат маънавият-тарғибот гуруҳлари иштирокида  аҳолининг турли қатламлари, айниқса, ёшлар билан ижодий учрашувлар ўтказишни ташкил этишда раҳбарлик ва ташкилотчилик хусусиятларни намоён этиб келмоқда. </a:t>
                      </a:r>
                      <a:endParaRPr lang="ru-RU" sz="900" kern="1200" dirty="0" smtClean="0">
                        <a:solidFill>
                          <a:schemeClr val="tx1"/>
                        </a:solidFill>
                        <a:effectLst/>
                        <a:latin typeface="+mn-lt"/>
                        <a:ea typeface="+mn-ea"/>
                        <a:cs typeface="+mn-cs"/>
                      </a:endParaRPr>
                    </a:p>
                    <a:p>
                      <a:pPr marL="0" indent="179388" algn="just"/>
                      <a:r>
                        <a:rPr lang="uz-Cyrl-UZ" sz="900" kern="1200" dirty="0" smtClean="0">
                          <a:solidFill>
                            <a:schemeClr val="tx1"/>
                          </a:solidFill>
                          <a:effectLst/>
                          <a:latin typeface="+mn-lt"/>
                          <a:ea typeface="+mn-ea"/>
                          <a:cs typeface="+mn-cs"/>
                        </a:rPr>
                        <a:t>А.Кабдурахманов Ўзбекистон Республикаси Президенти томонидан олиб борилаётган сиёсатни тўғри тушунади ва қўллаб-қувватлайди. </a:t>
                      </a:r>
                      <a:endParaRPr lang="ru-RU" sz="900" kern="1200" dirty="0" smtClean="0">
                        <a:solidFill>
                          <a:schemeClr val="tx1"/>
                        </a:solidFill>
                        <a:effectLst/>
                        <a:latin typeface="+mn-lt"/>
                        <a:ea typeface="+mn-ea"/>
                        <a:cs typeface="+mn-cs"/>
                      </a:endParaRPr>
                    </a:p>
                    <a:p>
                      <a:pPr marL="0" indent="179388" algn="just"/>
                      <a:r>
                        <a:rPr lang="uz-Cyrl-UZ" sz="900" dirty="0" smtClean="0">
                          <a:effectLst/>
                        </a:rPr>
                        <a:t>Замонавий  иш  юритиш шароитида бошқарув   кўрсатма ва топшириқларни  ижро интизомларига мувофиқ сифатли ва тезкорлик  билан  ўз  вақтида  хал  қилиш  каби  хусусиятлари  билан  ҳамда  катта  театр жамоасини  маъсулият билан  бошқариб  келаётган  профессионал  мутахассис ва  раҳбар сифатида эътирофга эга.</a:t>
                      </a:r>
                      <a:r>
                        <a:rPr lang="uz-Cyrl-UZ" sz="900" kern="1200" dirty="0" smtClean="0">
                          <a:solidFill>
                            <a:schemeClr val="tx1"/>
                          </a:solidFill>
                          <a:effectLst/>
                          <a:latin typeface="+mn-lt"/>
                          <a:ea typeface="+mn-ea"/>
                          <a:cs typeface="+mn-cs"/>
                        </a:rPr>
                        <a:t> </a:t>
                      </a:r>
                      <a:endParaRPr lang="ru-RU" sz="9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636">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6840">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7" name="Picture 3" descr="DSC_871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3038" y="1170774"/>
            <a:ext cx="942151" cy="1104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Прямоугольник 7">
            <a:extLst>
              <a:ext uri="{FF2B5EF4-FFF2-40B4-BE49-F238E27FC236}">
                <a16:creationId xmlns:a16="http://schemas.microsoft.com/office/drawing/2014/main" id="{5A9AA459-1519-4154-AF5D-18C6732B0658}"/>
              </a:ext>
            </a:extLst>
          </p:cNvPr>
          <p:cNvSpPr/>
          <p:nvPr/>
        </p:nvSpPr>
        <p:spPr>
          <a:xfrm>
            <a:off x="138895" y="557937"/>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spTree>
    <p:extLst>
      <p:ext uri="{BB962C8B-B14F-4D97-AF65-F5344CB8AC3E}">
        <p14:creationId xmlns:p14="http://schemas.microsoft.com/office/powerpoint/2010/main" val="4182757648"/>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uz-Cyrl-UZ" sz="1600" b="1" dirty="0"/>
              <a:t>Алишер Навоий номидаги Ўзбекистон Давлат Академик Катта театри ходимлари</a:t>
            </a:r>
            <a:endParaRPr lang="ru-RU" sz="1600" dirty="0"/>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5"/>
          <a:ext cx="3427547" cy="5940190"/>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117630">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Слоним</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a:solidFill>
                            <a:schemeClr val="tx1"/>
                          </a:solidFill>
                          <a:latin typeface="+mn-lt"/>
                          <a:ea typeface="+mn-ea"/>
                          <a:cs typeface="+mn-cs"/>
                        </a:rPr>
                        <a:t>Андрей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900" b="0" kern="1200" dirty="0">
                          <a:solidFill>
                            <a:schemeClr val="tx1"/>
                          </a:solidFill>
                          <a:latin typeface="+mn-lt"/>
                          <a:ea typeface="+mn-ea"/>
                          <a:cs typeface="Times New Roman" pitchFamily="18" charset="0"/>
                        </a:rPr>
                        <a:t>Евсеевич</a:t>
                      </a:r>
                      <a:endParaRPr lang="uz-Cyrl-UZ"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РУС</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a:solidFill>
                            <a:schemeClr val="tx1"/>
                          </a:solidFill>
                          <a:latin typeface="+mn-lt"/>
                          <a:ea typeface="+mn-ea"/>
                          <a:cs typeface="Times New Roman" pitchFamily="18" charset="0"/>
                        </a:rPr>
                        <a:t>25.01.1949</a:t>
                      </a:r>
                      <a:endParaRPr lang="ru-RU"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111627">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151899">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111627">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38438">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a:solidFill>
                            <a:schemeClr val="tx1"/>
                          </a:solidFill>
                          <a:latin typeface="+mn-lt"/>
                          <a:ea typeface="+mn-ea"/>
                          <a:cs typeface="Times New Roman" pitchFamily="18" charset="0"/>
                        </a:rPr>
                        <a:t>Слоним </a:t>
                      </a:r>
                      <a:r>
                        <a:rPr lang="ru-RU" sz="900" kern="1200" dirty="0" err="1">
                          <a:solidFill>
                            <a:schemeClr val="tx1"/>
                          </a:solidFill>
                          <a:latin typeface="+mn-lt"/>
                          <a:ea typeface="+mn-ea"/>
                          <a:cs typeface="Times New Roman" pitchFamily="18" charset="0"/>
                        </a:rPr>
                        <a:t>Евсей</a:t>
                      </a:r>
                      <a:r>
                        <a:rPr lang="ru-RU" sz="900" kern="1200" dirty="0">
                          <a:solidFill>
                            <a:schemeClr val="tx1"/>
                          </a:solidFill>
                          <a:latin typeface="+mn-lt"/>
                          <a:ea typeface="+mn-ea"/>
                          <a:cs typeface="Times New Roman" pitchFamily="18" charset="0"/>
                        </a:rPr>
                        <a:t> Моисеевич</a:t>
                      </a:r>
                    </a:p>
                    <a:p>
                      <a:pPr algn="l">
                        <a:lnSpc>
                          <a:spcPct val="85000"/>
                        </a:lnSpc>
                      </a:pPr>
                      <a:r>
                        <a:rPr lang="uz-Cyrl-UZ" sz="900" b="0" kern="1200" noProof="0" dirty="0">
                          <a:solidFill>
                            <a:schemeClr val="tx1"/>
                          </a:solidFill>
                          <a:latin typeface="+mn-lt"/>
                          <a:ea typeface="+mn-ea"/>
                          <a:cs typeface="+mn-cs"/>
                        </a:rPr>
                        <a:t>1915</a:t>
                      </a:r>
                      <a:r>
                        <a:rPr lang="uz-Cyrl-UZ" sz="900" b="0" kern="1200" baseline="0" noProof="0" dirty="0">
                          <a:solidFill>
                            <a:schemeClr val="tx1"/>
                          </a:solidFill>
                          <a:latin typeface="+mn-lt"/>
                          <a:ea typeface="+mn-ea"/>
                          <a:cs typeface="+mn-cs"/>
                        </a:rPr>
                        <a:t> йил,</a:t>
                      </a:r>
                      <a:r>
                        <a:rPr lang="uz-Cyrl-UZ" sz="900" b="0" kern="1200" noProof="0" dirty="0">
                          <a:solidFill>
                            <a:schemeClr val="tx1"/>
                          </a:solidFill>
                          <a:latin typeface="+mn-lt"/>
                          <a:ea typeface="+mn-ea"/>
                          <a:cs typeface="Arial" panose="020B0604020202020204" pitchFamily="34" charset="0"/>
                        </a:rPr>
                        <a:t> Тошкент шаҳри</a:t>
                      </a:r>
                      <a:endParaRPr lang="uz-Cyrl-UZ"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1996</a:t>
                      </a:r>
                      <a:r>
                        <a:rPr lang="ru-RU" sz="900" b="0" kern="1200" baseline="0" noProof="0" dirty="0">
                          <a:solidFill>
                            <a:schemeClr val="tx1"/>
                          </a:solidFill>
                          <a:latin typeface="+mn-lt"/>
                          <a:ea typeface="+mn-ea"/>
                          <a:cs typeface="Arial" panose="020B0604020202020204" pitchFamily="34" charset="0"/>
                        </a:rPr>
                        <a:t> </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uz-Cyrl-UZ" sz="900" kern="1200" dirty="0">
                          <a:solidFill>
                            <a:schemeClr val="tx1"/>
                          </a:solidFill>
                          <a:latin typeface="+mn-lt"/>
                          <a:ea typeface="+mn-ea"/>
                          <a:cs typeface="Times New Roman" pitchFamily="18" charset="0"/>
                        </a:rPr>
                        <a:t>(Тошкент Политехника Унверситети Қурилиши назарияси ва тарих факультети доценти)</a:t>
                      </a:r>
                      <a:endParaRPr lang="ru-RU"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74276">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a:solidFill>
                            <a:schemeClr val="tx1"/>
                          </a:solidFill>
                          <a:latin typeface="+mn-lt"/>
                          <a:ea typeface="+mn-ea"/>
                          <a:cs typeface="Times New Roman" pitchFamily="18" charset="0"/>
                        </a:rPr>
                        <a:t>Рачинская Ирина Александровна</a:t>
                      </a:r>
                    </a:p>
                    <a:p>
                      <a:pPr algn="l">
                        <a:lnSpc>
                          <a:spcPct val="85000"/>
                        </a:lnSpc>
                      </a:pPr>
                      <a:r>
                        <a:rPr lang="uz-Cyrl-UZ" sz="900" b="0" kern="1200" noProof="0" dirty="0">
                          <a:solidFill>
                            <a:schemeClr val="tx1"/>
                          </a:solidFill>
                          <a:latin typeface="+mn-lt"/>
                          <a:ea typeface="+mn-ea"/>
                          <a:cs typeface="Times New Roman" pitchFamily="18" charset="0"/>
                        </a:rPr>
                        <a:t>1916 йил,Тошкент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a:solidFill>
                            <a:schemeClr val="tx1"/>
                          </a:solidFill>
                          <a:latin typeface="+mn-lt"/>
                          <a:ea typeface="+mn-ea"/>
                          <a:cs typeface="Times New Roman" pitchFamily="18" charset="0"/>
                        </a:rPr>
                        <a:t>1965 йил вафот этган</a:t>
                      </a:r>
                      <a:endParaRPr lang="ru-RU" sz="900" kern="1200" dirty="0">
                        <a:solidFill>
                          <a:schemeClr val="tx1"/>
                        </a:solidFill>
                        <a:latin typeface="+mn-lt"/>
                        <a:ea typeface="+mn-ea"/>
                        <a:cs typeface="Times New Roman" pitchFamily="18" charset="0"/>
                      </a:endParaRPr>
                    </a:p>
                    <a:p>
                      <a:r>
                        <a:rPr lang="uz-Cyrl-UZ" sz="900" kern="1200" dirty="0">
                          <a:solidFill>
                            <a:schemeClr val="tx1"/>
                          </a:solidFill>
                          <a:latin typeface="+mn-lt"/>
                          <a:ea typeface="+mn-ea"/>
                          <a:cs typeface="Times New Roman" pitchFamily="18" charset="0"/>
                        </a:rPr>
                        <a:t>(“УЗГОСПРОЕКТ” и “ТАШЗНИИЭП” лойихалатириш институти рахбари)</a:t>
                      </a:r>
                      <a:endParaRPr lang="ru-RU"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209307">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a:solidFill>
                            <a:schemeClr val="tx1"/>
                          </a:solidFill>
                          <a:latin typeface="+mn-lt"/>
                          <a:ea typeface="+mn-ea"/>
                          <a:cs typeface="Times New Roman" pitchFamily="18" charset="0"/>
                        </a:rPr>
                        <a:t>Слоним Людмила Васильевна</a:t>
                      </a:r>
                      <a:r>
                        <a:rPr lang="uz-Cyrl-UZ" sz="900" b="0" kern="1200" noProof="0" dirty="0">
                          <a:solidFill>
                            <a:schemeClr val="tx1"/>
                          </a:solidFill>
                          <a:latin typeface="+mn-lt"/>
                          <a:ea typeface="+mn-ea"/>
                          <a:cs typeface="Times New Roman" pitchFamily="18" charset="0"/>
                        </a:rPr>
                        <a:t>1953 </a:t>
                      </a:r>
                      <a:r>
                        <a:rPr lang="uz-Cyrl-UZ" sz="900" b="0" kern="1200" noProof="0" dirty="0">
                          <a:solidFill>
                            <a:schemeClr val="tx1"/>
                          </a:solidFill>
                          <a:latin typeface="+mn-lt"/>
                          <a:ea typeface="+mn-ea"/>
                          <a:cs typeface="Arial" panose="020B0604020202020204" pitchFamily="34" charset="0"/>
                        </a:rPr>
                        <a:t>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kern="1200" dirty="0">
                          <a:solidFill>
                            <a:schemeClr val="tx1"/>
                          </a:solidFill>
                          <a:latin typeface="+mn-lt"/>
                          <a:ea typeface="+mn-ea"/>
                          <a:cs typeface="Times New Roman" pitchFamily="18" charset="0"/>
                        </a:rPr>
                        <a:t>А.Навоий номидаги ДАКТ</a:t>
                      </a:r>
                      <a:r>
                        <a:rPr lang="uz-Cyrl-UZ" sz="900" b="1" kern="1200" dirty="0">
                          <a:solidFill>
                            <a:schemeClr val="tx1"/>
                          </a:solidFill>
                          <a:latin typeface="+mn-lt"/>
                          <a:ea typeface="+mn-ea"/>
                          <a:cs typeface="Times New Roman" pitchFamily="18" charset="0"/>
                        </a:rPr>
                        <a:t> </a:t>
                      </a:r>
                      <a:r>
                        <a:rPr lang="ru-RU" sz="900" kern="1200" dirty="0">
                          <a:solidFill>
                            <a:schemeClr val="tx1"/>
                          </a:solidFill>
                          <a:latin typeface="+mn-lt"/>
                          <a:ea typeface="+mn-ea"/>
                          <a:cs typeface="Times New Roman" pitchFamily="18" charset="0"/>
                        </a:rPr>
                        <a:t>концертмейстер</a:t>
                      </a:r>
                      <a:r>
                        <a:rPr lang="uz-Cyrl-UZ" sz="900" kern="1200" dirty="0">
                          <a:solidFill>
                            <a:schemeClr val="tx1"/>
                          </a:solidFill>
                          <a:latin typeface="+mn-lt"/>
                          <a:ea typeface="+mn-ea"/>
                          <a:cs typeface="Times New Roman" pitchFamily="18" charset="0"/>
                        </a:rPr>
                        <a:t>и</a:t>
                      </a:r>
                      <a:endParaRPr lang="uz-Cyrl-UZ"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00370">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239199">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latin typeface="+mn-lt"/>
                          <a:ea typeface="+mn-ea"/>
                          <a:cs typeface="Times New Roman" pitchFamily="18" charset="0"/>
                        </a:rPr>
                        <a:t>1970 й. </a:t>
                      </a:r>
                      <a:r>
                        <a:rPr lang="ru-RU" sz="900" kern="1200" dirty="0" err="1">
                          <a:solidFill>
                            <a:schemeClr val="tx1"/>
                          </a:solidFill>
                          <a:latin typeface="+mn-lt"/>
                          <a:ea typeface="+mn-ea"/>
                          <a:cs typeface="Times New Roman" pitchFamily="18" charset="0"/>
                        </a:rPr>
                        <a:t>Тошкент</a:t>
                      </a:r>
                      <a:r>
                        <a:rPr lang="ru-RU" sz="900" kern="1200" dirty="0">
                          <a:solidFill>
                            <a:schemeClr val="tx1"/>
                          </a:solidFill>
                          <a:latin typeface="+mn-lt"/>
                          <a:ea typeface="+mn-ea"/>
                          <a:cs typeface="Times New Roman" pitchFamily="18" charset="0"/>
                        </a:rPr>
                        <a:t> </a:t>
                      </a:r>
                      <a:r>
                        <a:rPr lang="ru-RU" sz="900" kern="1200" dirty="0" err="1">
                          <a:solidFill>
                            <a:schemeClr val="tx1"/>
                          </a:solidFill>
                          <a:latin typeface="+mn-lt"/>
                          <a:ea typeface="+mn-ea"/>
                          <a:cs typeface="Times New Roman" pitchFamily="18" charset="0"/>
                        </a:rPr>
                        <a:t>Давлат</a:t>
                      </a:r>
                      <a:r>
                        <a:rPr lang="ru-RU" sz="900" kern="1200" dirty="0">
                          <a:solidFill>
                            <a:schemeClr val="tx1"/>
                          </a:solidFill>
                          <a:latin typeface="+mn-lt"/>
                          <a:ea typeface="+mn-ea"/>
                          <a:cs typeface="Times New Roman" pitchFamily="18" charset="0"/>
                        </a:rPr>
                        <a:t> </a:t>
                      </a:r>
                      <a:r>
                        <a:rPr lang="ru-RU" sz="900" kern="1200" dirty="0" err="1">
                          <a:solidFill>
                            <a:schemeClr val="tx1"/>
                          </a:solidFill>
                          <a:latin typeface="+mn-lt"/>
                          <a:ea typeface="+mn-ea"/>
                          <a:cs typeface="Times New Roman" pitchFamily="18" charset="0"/>
                        </a:rPr>
                        <a:t>Университети</a:t>
                      </a:r>
                      <a:r>
                        <a:rPr lang="uz-Cyrl-UZ" sz="900" kern="1200" dirty="0">
                          <a:solidFill>
                            <a:schemeClr val="tx1"/>
                          </a:solidFill>
                          <a:latin typeface="+mn-lt"/>
                          <a:ea typeface="+mn-ea"/>
                          <a:cs typeface="Times New Roman" pitchFamily="18" charset="0"/>
                        </a:rPr>
                        <a:t>,</a:t>
                      </a:r>
                      <a:r>
                        <a:rPr lang="ru-RU" sz="900" kern="1200" dirty="0">
                          <a:solidFill>
                            <a:schemeClr val="tx1"/>
                          </a:solidFill>
                          <a:latin typeface="+mn-lt"/>
                          <a:ea typeface="+mn-ea"/>
                          <a:cs typeface="Times New Roman" pitchFamily="18" charset="0"/>
                        </a:rPr>
                        <a:t> 1974 </a:t>
                      </a:r>
                      <a:r>
                        <a:rPr lang="ru-RU" sz="900" kern="1200" dirty="0" err="1">
                          <a:solidFill>
                            <a:schemeClr val="tx1"/>
                          </a:solidFill>
                          <a:latin typeface="+mn-lt"/>
                          <a:ea typeface="+mn-ea"/>
                          <a:cs typeface="Times New Roman" pitchFamily="18" charset="0"/>
                        </a:rPr>
                        <a:t>й</a:t>
                      </a:r>
                      <a:r>
                        <a:rPr lang="uz-Cyrl-UZ" sz="900" kern="1200" dirty="0">
                          <a:solidFill>
                            <a:schemeClr val="tx1"/>
                          </a:solidFill>
                          <a:latin typeface="+mn-lt"/>
                          <a:ea typeface="+mn-ea"/>
                          <a:cs typeface="Times New Roman" pitchFamily="18" charset="0"/>
                        </a:rPr>
                        <a:t>. </a:t>
                      </a:r>
                      <a:r>
                        <a:rPr lang="ru-RU" sz="900" kern="1200" dirty="0" err="1">
                          <a:solidFill>
                            <a:schemeClr val="tx1"/>
                          </a:solidFill>
                          <a:latin typeface="+mn-lt"/>
                          <a:ea typeface="+mn-ea"/>
                          <a:cs typeface="Times New Roman" pitchFamily="18" charset="0"/>
                        </a:rPr>
                        <a:t>Тошкент</a:t>
                      </a:r>
                      <a:r>
                        <a:rPr lang="ru-RU" sz="900" kern="1200" dirty="0">
                          <a:solidFill>
                            <a:schemeClr val="tx1"/>
                          </a:solidFill>
                          <a:latin typeface="+mn-lt"/>
                          <a:ea typeface="+mn-ea"/>
                          <a:cs typeface="Times New Roman" pitchFamily="18" charset="0"/>
                        </a:rPr>
                        <a:t> </a:t>
                      </a:r>
                      <a:r>
                        <a:rPr lang="ru-RU" sz="900" kern="1200" dirty="0" err="1">
                          <a:solidFill>
                            <a:schemeClr val="tx1"/>
                          </a:solidFill>
                          <a:latin typeface="+mn-lt"/>
                          <a:ea typeface="+mn-ea"/>
                          <a:cs typeface="Times New Roman" pitchFamily="18" charset="0"/>
                        </a:rPr>
                        <a:t>Давлат</a:t>
                      </a:r>
                      <a:r>
                        <a:rPr lang="ru-RU" sz="900" kern="1200" dirty="0">
                          <a:solidFill>
                            <a:schemeClr val="tx1"/>
                          </a:solidFill>
                          <a:latin typeface="+mn-lt"/>
                          <a:ea typeface="+mn-ea"/>
                          <a:cs typeface="Times New Roman" pitchFamily="18" charset="0"/>
                        </a:rPr>
                        <a:t> театр </a:t>
                      </a:r>
                      <a:r>
                        <a:rPr lang="ru-RU" sz="900" kern="1200" dirty="0" err="1">
                          <a:solidFill>
                            <a:schemeClr val="tx1"/>
                          </a:solidFill>
                          <a:latin typeface="+mn-lt"/>
                          <a:ea typeface="+mn-ea"/>
                          <a:cs typeface="Times New Roman" pitchFamily="18" charset="0"/>
                        </a:rPr>
                        <a:t>ва</a:t>
                      </a:r>
                      <a:r>
                        <a:rPr lang="ru-RU" sz="900" kern="1200" dirty="0">
                          <a:solidFill>
                            <a:schemeClr val="tx1"/>
                          </a:solidFill>
                          <a:latin typeface="+mn-lt"/>
                          <a:ea typeface="+mn-ea"/>
                          <a:cs typeface="Times New Roman" pitchFamily="18" charset="0"/>
                        </a:rPr>
                        <a:t> </a:t>
                      </a:r>
                      <a:r>
                        <a:rPr lang="ru-RU" sz="900" kern="1200" dirty="0" err="1">
                          <a:solidFill>
                            <a:schemeClr val="tx1"/>
                          </a:solidFill>
                          <a:latin typeface="+mn-lt"/>
                          <a:ea typeface="+mn-ea"/>
                          <a:cs typeface="Times New Roman" pitchFamily="18" charset="0"/>
                        </a:rPr>
                        <a:t>рассомлик</a:t>
                      </a:r>
                      <a:r>
                        <a:rPr lang="ru-RU" sz="900" kern="1200" dirty="0">
                          <a:solidFill>
                            <a:schemeClr val="tx1"/>
                          </a:solidFill>
                          <a:latin typeface="+mn-lt"/>
                          <a:ea typeface="+mn-ea"/>
                          <a:cs typeface="Times New Roman" pitchFamily="18" charset="0"/>
                        </a:rPr>
                        <a:t> </a:t>
                      </a:r>
                      <a:r>
                        <a:rPr lang="uz-Cyrl-UZ" sz="900" kern="1200" dirty="0">
                          <a:solidFill>
                            <a:schemeClr val="tx1"/>
                          </a:solidFill>
                          <a:latin typeface="+mn-lt"/>
                          <a:ea typeface="+mn-ea"/>
                          <a:cs typeface="Times New Roman" pitchFamily="18" charset="0"/>
                        </a:rPr>
                        <a:t>санъати </a:t>
                      </a:r>
                      <a:r>
                        <a:rPr lang="ru-RU" sz="900" kern="1200" dirty="0" err="1">
                          <a:solidFill>
                            <a:schemeClr val="tx1"/>
                          </a:solidFill>
                          <a:latin typeface="+mn-lt"/>
                          <a:ea typeface="+mn-ea"/>
                          <a:cs typeface="Times New Roman" pitchFamily="18" charset="0"/>
                        </a:rPr>
                        <a:t>институти</a:t>
                      </a:r>
                      <a:r>
                        <a:rPr lang="ru-RU" sz="900" kern="1200" dirty="0">
                          <a:solidFill>
                            <a:schemeClr val="tx1"/>
                          </a:solidFill>
                          <a:latin typeface="+mn-lt"/>
                          <a:ea typeface="+mn-ea"/>
                          <a:cs typeface="Times New Roman" pitchFamily="18" charset="0"/>
                        </a:rPr>
                        <a:t> </a:t>
                      </a:r>
                      <a:r>
                        <a:rPr lang="uz-Cyrl-UZ" sz="900" b="1" kern="1200" dirty="0" smtClean="0">
                          <a:solidFill>
                            <a:schemeClr val="tx1"/>
                          </a:solidFill>
                          <a:latin typeface="+mn-lt"/>
                          <a:ea typeface="+mn-ea"/>
                          <a:cs typeface="Times New Roman" pitchFamily="18" charset="0"/>
                        </a:rPr>
                        <a:t> </a:t>
                      </a:r>
                      <a:endParaRPr lang="ru-RU" sz="90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10412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kern="1200" dirty="0">
                          <a:solidFill>
                            <a:schemeClr val="tx1"/>
                          </a:solidFill>
                          <a:latin typeface="+mn-lt"/>
                          <a:ea typeface="+mn-ea"/>
                          <a:cs typeface="Times New Roman" pitchFamily="18" charset="0"/>
                        </a:rPr>
                        <a:t>режиссёр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151899">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151899">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kern="1200" dirty="0" err="1">
                          <a:solidFill>
                            <a:schemeClr val="tx1"/>
                          </a:solidFill>
                          <a:latin typeface="+mn-lt"/>
                          <a:ea typeface="+mn-ea"/>
                          <a:cs typeface="Times New Roman" pitchFamily="18" charset="0"/>
                        </a:rPr>
                        <a:t>итальян</a:t>
                      </a:r>
                      <a:r>
                        <a:rPr lang="ru-RU" sz="900" kern="1200" dirty="0">
                          <a:solidFill>
                            <a:schemeClr val="tx1"/>
                          </a:solidFill>
                          <a:latin typeface="+mn-lt"/>
                          <a:ea typeface="+mn-ea"/>
                          <a:cs typeface="Times New Roman" pitchFamily="18" charset="0"/>
                        </a:rPr>
                        <a:t>, </a:t>
                      </a:r>
                      <a:r>
                        <a:rPr lang="ru-RU" sz="900" kern="1200" dirty="0" err="1">
                          <a:solidFill>
                            <a:schemeClr val="tx1"/>
                          </a:solidFill>
                          <a:latin typeface="+mn-lt"/>
                          <a:ea typeface="+mn-ea"/>
                          <a:cs typeface="Times New Roman" pitchFamily="18" charset="0"/>
                        </a:rPr>
                        <a:t>инглиз</a:t>
                      </a:r>
                      <a:r>
                        <a:rPr lang="uz-Cyrl-UZ" sz="900" kern="1200" dirty="0">
                          <a:solidFill>
                            <a:schemeClr val="tx1"/>
                          </a:solidFill>
                          <a:latin typeface="+mn-lt"/>
                          <a:ea typeface="+mn-ea"/>
                          <a:cs typeface="Times New Roman" pitchFamily="18" charset="0"/>
                        </a:rPr>
                        <a:t> тиллари</a:t>
                      </a:r>
                      <a:endParaRPr lang="ru-RU" sz="900" dirty="0">
                        <a:latin typeface="+mn-lt"/>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151899">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89"/>
          <a:ext cx="3088739" cy="5951765"/>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591497">
                  <a:extLst>
                    <a:ext uri="{9D8B030D-6E8A-4147-A177-3AD203B41FA5}">
                      <a16:colId xmlns:a16="http://schemas.microsoft.com/office/drawing/2014/main" val="546443978"/>
                    </a:ext>
                  </a:extLst>
                </a:gridCol>
              </a:tblGrid>
              <a:tr h="289873">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837453">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ru-RU" sz="900" kern="1200" dirty="0" smtClean="0">
                          <a:solidFill>
                            <a:schemeClr val="tx1"/>
                          </a:solidFill>
                          <a:latin typeface="+mn-lt"/>
                          <a:ea typeface="+mn-ea"/>
                          <a:cs typeface="Times New Roman" pitchFamily="18" charset="0"/>
                        </a:rPr>
                        <a:t>Алишер </a:t>
                      </a:r>
                      <a:r>
                        <a:rPr lang="ru-RU" sz="900" kern="1200" dirty="0" err="1" smtClean="0">
                          <a:solidFill>
                            <a:schemeClr val="tx1"/>
                          </a:solidFill>
                          <a:latin typeface="+mn-lt"/>
                          <a:ea typeface="+mn-ea"/>
                          <a:cs typeface="Times New Roman" pitchFamily="18" charset="0"/>
                        </a:rPr>
                        <a:t>Навоий</a:t>
                      </a:r>
                      <a:r>
                        <a:rPr lang="ru-RU" sz="900" kern="1200" dirty="0" smtClean="0">
                          <a:solidFill>
                            <a:schemeClr val="tx1"/>
                          </a:solidFill>
                          <a:latin typeface="+mn-lt"/>
                          <a:ea typeface="+mn-ea"/>
                          <a:cs typeface="Times New Roman" pitchFamily="18" charset="0"/>
                        </a:rPr>
                        <a:t> </a:t>
                      </a:r>
                      <a:r>
                        <a:rPr lang="ru-RU" sz="900" kern="1200" dirty="0" err="1" smtClean="0">
                          <a:solidFill>
                            <a:schemeClr val="tx1"/>
                          </a:solidFill>
                          <a:latin typeface="+mn-lt"/>
                          <a:ea typeface="+mn-ea"/>
                          <a:cs typeface="Times New Roman" pitchFamily="18" charset="0"/>
                        </a:rPr>
                        <a:t>номидаги</a:t>
                      </a:r>
                      <a:r>
                        <a:rPr lang="ru-RU" sz="900" kern="1200" dirty="0" smtClean="0">
                          <a:solidFill>
                            <a:schemeClr val="tx1"/>
                          </a:solidFill>
                          <a:latin typeface="+mn-lt"/>
                          <a:ea typeface="+mn-ea"/>
                          <a:cs typeface="Times New Roman" pitchFamily="18" charset="0"/>
                        </a:rPr>
                        <a:t> </a:t>
                      </a:r>
                      <a:r>
                        <a:rPr lang="uz-Cyrl-UZ" sz="900" kern="1200" dirty="0" smtClean="0">
                          <a:solidFill>
                            <a:schemeClr val="tx1"/>
                          </a:solidFill>
                          <a:latin typeface="+mn-lt"/>
                          <a:ea typeface="+mn-ea"/>
                          <a:cs typeface="Times New Roman" pitchFamily="18" charset="0"/>
                        </a:rPr>
                        <a:t>Ў</a:t>
                      </a:r>
                      <a:r>
                        <a:rPr lang="ru-RU" sz="900" kern="1200" dirty="0" err="1" smtClean="0">
                          <a:solidFill>
                            <a:schemeClr val="tx1"/>
                          </a:solidFill>
                          <a:latin typeface="+mn-lt"/>
                          <a:ea typeface="+mn-ea"/>
                          <a:cs typeface="Times New Roman" pitchFamily="18" charset="0"/>
                        </a:rPr>
                        <a:t>збекистон</a:t>
                      </a:r>
                      <a:r>
                        <a:rPr lang="ru-RU" sz="900" kern="1200" dirty="0" smtClean="0">
                          <a:solidFill>
                            <a:schemeClr val="tx1"/>
                          </a:solidFill>
                          <a:latin typeface="+mn-lt"/>
                          <a:ea typeface="+mn-ea"/>
                          <a:cs typeface="Times New Roman" pitchFamily="18" charset="0"/>
                        </a:rPr>
                        <a:t> </a:t>
                      </a:r>
                      <a:r>
                        <a:rPr lang="uz-Cyrl-UZ" sz="900" kern="1200" dirty="0" smtClean="0">
                          <a:solidFill>
                            <a:schemeClr val="tx1"/>
                          </a:solidFill>
                          <a:latin typeface="+mn-lt"/>
                          <a:ea typeface="+mn-ea"/>
                          <a:cs typeface="Times New Roman" pitchFamily="18" charset="0"/>
                        </a:rPr>
                        <a:t>д</a:t>
                      </a:r>
                      <a:r>
                        <a:rPr lang="ru-RU" sz="900" kern="1200" dirty="0" err="1" smtClean="0">
                          <a:solidFill>
                            <a:schemeClr val="tx1"/>
                          </a:solidFill>
                          <a:latin typeface="+mn-lt"/>
                          <a:ea typeface="+mn-ea"/>
                          <a:cs typeface="Times New Roman" pitchFamily="18" charset="0"/>
                        </a:rPr>
                        <a:t>авлат</a:t>
                      </a:r>
                      <a:r>
                        <a:rPr lang="ru-RU" sz="900" kern="1200" dirty="0" smtClean="0">
                          <a:solidFill>
                            <a:schemeClr val="tx1"/>
                          </a:solidFill>
                          <a:latin typeface="+mn-lt"/>
                          <a:ea typeface="+mn-ea"/>
                          <a:cs typeface="Times New Roman" pitchFamily="18" charset="0"/>
                        </a:rPr>
                        <a:t> </a:t>
                      </a:r>
                      <a:r>
                        <a:rPr lang="uz-Cyrl-UZ" sz="900" kern="1200" dirty="0" smtClean="0">
                          <a:solidFill>
                            <a:schemeClr val="tx1"/>
                          </a:solidFill>
                          <a:latin typeface="+mn-lt"/>
                          <a:ea typeface="+mn-ea"/>
                          <a:cs typeface="Times New Roman" pitchFamily="18" charset="0"/>
                        </a:rPr>
                        <a:t>а</a:t>
                      </a:r>
                      <a:r>
                        <a:rPr lang="ru-RU" sz="900" kern="1200" dirty="0" err="1" smtClean="0">
                          <a:solidFill>
                            <a:schemeClr val="tx1"/>
                          </a:solidFill>
                          <a:latin typeface="+mn-lt"/>
                          <a:ea typeface="+mn-ea"/>
                          <a:cs typeface="Times New Roman" pitchFamily="18" charset="0"/>
                        </a:rPr>
                        <a:t>кадемик</a:t>
                      </a:r>
                      <a:r>
                        <a:rPr lang="ru-RU" sz="900" kern="1200" dirty="0" smtClean="0">
                          <a:solidFill>
                            <a:schemeClr val="tx1"/>
                          </a:solidFill>
                          <a:latin typeface="+mn-lt"/>
                          <a:ea typeface="+mn-ea"/>
                          <a:cs typeface="Times New Roman" pitchFamily="18" charset="0"/>
                        </a:rPr>
                        <a:t> </a:t>
                      </a:r>
                      <a:r>
                        <a:rPr lang="uz-Cyrl-UZ" sz="900" kern="1200" dirty="0" smtClean="0">
                          <a:solidFill>
                            <a:schemeClr val="tx1"/>
                          </a:solidFill>
                          <a:latin typeface="+mn-lt"/>
                          <a:ea typeface="+mn-ea"/>
                          <a:cs typeface="Times New Roman" pitchFamily="18" charset="0"/>
                        </a:rPr>
                        <a:t>к</a:t>
                      </a:r>
                      <a:r>
                        <a:rPr lang="ru-RU" sz="900" kern="1200" dirty="0" err="1" smtClean="0">
                          <a:solidFill>
                            <a:schemeClr val="tx1"/>
                          </a:solidFill>
                          <a:latin typeface="+mn-lt"/>
                          <a:ea typeface="+mn-ea"/>
                          <a:cs typeface="Times New Roman" pitchFamily="18" charset="0"/>
                        </a:rPr>
                        <a:t>атта</a:t>
                      </a:r>
                      <a:r>
                        <a:rPr lang="ru-RU" sz="900" kern="1200" dirty="0" smtClean="0">
                          <a:solidFill>
                            <a:schemeClr val="tx1"/>
                          </a:solidFill>
                          <a:latin typeface="+mn-lt"/>
                          <a:ea typeface="+mn-ea"/>
                          <a:cs typeface="Times New Roman" pitchFamily="18" charset="0"/>
                        </a:rPr>
                        <a:t> </a:t>
                      </a:r>
                      <a:r>
                        <a:rPr lang="ru-RU" sz="900" kern="1200" dirty="0" err="1" smtClean="0">
                          <a:solidFill>
                            <a:schemeClr val="tx1"/>
                          </a:solidFill>
                          <a:latin typeface="+mn-lt"/>
                          <a:ea typeface="+mn-ea"/>
                          <a:cs typeface="Times New Roman" pitchFamily="18" charset="0"/>
                        </a:rPr>
                        <a:t>театри</a:t>
                      </a:r>
                      <a:r>
                        <a:rPr lang="ru-RU" sz="900" kern="1200" dirty="0" smtClean="0">
                          <a:solidFill>
                            <a:schemeClr val="tx1"/>
                          </a:solidFill>
                          <a:latin typeface="+mn-lt"/>
                          <a:ea typeface="+mn-ea"/>
                          <a:cs typeface="Times New Roman" pitchFamily="18" charset="0"/>
                        </a:rPr>
                        <a:t> с</a:t>
                      </a:r>
                      <a:r>
                        <a:rPr lang="uz-Cyrl-UZ" sz="900" kern="1200" dirty="0" smtClean="0">
                          <a:solidFill>
                            <a:schemeClr val="tx1"/>
                          </a:solidFill>
                          <a:latin typeface="+mn-lt"/>
                          <a:ea typeface="+mn-ea"/>
                          <a:cs typeface="Times New Roman" pitchFamily="18" charset="0"/>
                        </a:rPr>
                        <a:t>аҳналаштирувчи  </a:t>
                      </a:r>
                      <a:endParaRPr lang="ru-RU" sz="900" kern="1200" dirty="0" smtClean="0">
                        <a:solidFill>
                          <a:schemeClr val="tx1"/>
                        </a:solidFill>
                        <a:latin typeface="+mn-lt"/>
                        <a:ea typeface="+mn-ea"/>
                        <a:cs typeface="Times New Roman" pitchFamily="18" charset="0"/>
                      </a:endParaRPr>
                    </a:p>
                    <a:p>
                      <a:r>
                        <a:rPr lang="uz-Cyrl-UZ" sz="900" kern="1200" dirty="0" smtClean="0">
                          <a:solidFill>
                            <a:schemeClr val="tx1"/>
                          </a:solidFill>
                          <a:latin typeface="+mn-lt"/>
                          <a:ea typeface="+mn-ea"/>
                          <a:cs typeface="Times New Roman" pitchFamily="18" charset="0"/>
                        </a:rPr>
                        <a:t> р</a:t>
                      </a:r>
                      <a:r>
                        <a:rPr lang="ru-RU" sz="900" kern="1200" dirty="0" err="1" smtClean="0">
                          <a:solidFill>
                            <a:schemeClr val="tx1"/>
                          </a:solidFill>
                          <a:latin typeface="+mn-lt"/>
                          <a:ea typeface="+mn-ea"/>
                          <a:cs typeface="Times New Roman" pitchFamily="18" charset="0"/>
                        </a:rPr>
                        <a:t>ежиссёри</a:t>
                      </a:r>
                      <a:endParaRPr lang="ru-RU" sz="900" kern="1200" dirty="0">
                        <a:solidFill>
                          <a:schemeClr val="tx1"/>
                        </a:solidFill>
                        <a:latin typeface="+mn-lt"/>
                        <a:ea typeface="+mn-ea"/>
                        <a:cs typeface="Times New Roman"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16297">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8619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52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7340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77184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endParaRPr lang="uz-Cyrl-UZ" sz="900" noProof="0" dirty="0">
                        <a:effectLst/>
                        <a:latin typeface="+mn-lt"/>
                        <a:ea typeface="Calibri" panose="020F0502020204030204" pitchFamily="34" charset="0"/>
                        <a:cs typeface="Times New Roman"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12523">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1623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1623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28181">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503731">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p>
                      <a:pPr algn="ctr"/>
                      <a:endParaRPr lang="uz-Cyrl-UZ" sz="1000" b="1" kern="1200" noProof="0" dirty="0">
                        <a:solidFill>
                          <a:schemeClr val="bg1"/>
                        </a:solidFill>
                        <a:latin typeface="Bahnschrift SemiBold" panose="020B0502040204020203" pitchFamily="34" charset="0"/>
                        <a:ea typeface="+mn-ea"/>
                        <a:cs typeface="+mn-cs"/>
                      </a:endParaRPr>
                    </a:p>
                    <a:p>
                      <a:pPr algn="ctr"/>
                      <a:endParaRPr lang="uz-Cyrl-UZ" sz="1000" b="1" kern="1200" noProof="0" dirty="0">
                        <a:solidFill>
                          <a:schemeClr val="bg1"/>
                        </a:solidFill>
                        <a:latin typeface="Bahnschrift SemiBold" panose="020B0502040204020203" pitchFamily="34" charset="0"/>
                        <a:ea typeface="+mn-ea"/>
                        <a:cs typeface="+mn-cs"/>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799803">
                <a:tc gridSpan="2">
                  <a:txBody>
                    <a:bodyPr/>
                    <a:lstStyle/>
                    <a:p>
                      <a:r>
                        <a:rPr lang="ru-RU" sz="900" kern="1200" dirty="0">
                          <a:solidFill>
                            <a:schemeClr val="tx1"/>
                          </a:solidFill>
                          <a:latin typeface="+mn-lt"/>
                          <a:ea typeface="+mn-ea"/>
                          <a:cs typeface="Times New Roman" pitchFamily="18" charset="0"/>
                        </a:rPr>
                        <a:t>2006 </a:t>
                      </a:r>
                      <a:r>
                        <a:rPr lang="ru-RU" sz="900" kern="1200" dirty="0" err="1">
                          <a:solidFill>
                            <a:schemeClr val="tx1"/>
                          </a:solidFill>
                          <a:latin typeface="+mn-lt"/>
                          <a:ea typeface="+mn-ea"/>
                          <a:cs typeface="Times New Roman" pitchFamily="18" charset="0"/>
                        </a:rPr>
                        <a:t>й</a:t>
                      </a:r>
                      <a:r>
                        <a:rPr lang="uz-Cyrl-UZ" sz="900" kern="1200" dirty="0">
                          <a:solidFill>
                            <a:schemeClr val="tx1"/>
                          </a:solidFill>
                          <a:latin typeface="+mn-lt"/>
                          <a:ea typeface="+mn-ea"/>
                          <a:cs typeface="Times New Roman" pitchFamily="18" charset="0"/>
                        </a:rPr>
                        <a:t>. “Ў</a:t>
                      </a:r>
                      <a:r>
                        <a:rPr lang="ru-RU" sz="900" kern="1200" dirty="0" err="1">
                          <a:solidFill>
                            <a:schemeClr val="tx1"/>
                          </a:solidFill>
                          <a:latin typeface="+mn-lt"/>
                          <a:ea typeface="+mn-ea"/>
                          <a:cs typeface="Times New Roman" pitchFamily="18" charset="0"/>
                        </a:rPr>
                        <a:t>збекистон</a:t>
                      </a:r>
                      <a:r>
                        <a:rPr lang="ru-RU" sz="900" kern="1200" dirty="0">
                          <a:solidFill>
                            <a:schemeClr val="tx1"/>
                          </a:solidFill>
                          <a:latin typeface="+mn-lt"/>
                          <a:ea typeface="+mn-ea"/>
                          <a:cs typeface="Times New Roman" pitchFamily="18" charset="0"/>
                        </a:rPr>
                        <a:t> </a:t>
                      </a:r>
                      <a:r>
                        <a:rPr lang="ru-RU" sz="900" kern="1200" dirty="0" err="1">
                          <a:solidFill>
                            <a:schemeClr val="tx1"/>
                          </a:solidFill>
                          <a:latin typeface="+mn-lt"/>
                          <a:ea typeface="+mn-ea"/>
                          <a:cs typeface="Times New Roman" pitchFamily="18" charset="0"/>
                        </a:rPr>
                        <a:t>Республикада</a:t>
                      </a:r>
                      <a:r>
                        <a:rPr lang="uz-Cyrl-UZ" sz="900" kern="1200" dirty="0">
                          <a:solidFill>
                            <a:schemeClr val="tx1"/>
                          </a:solidFill>
                          <a:latin typeface="+mn-lt"/>
                          <a:ea typeface="+mn-ea"/>
                          <a:cs typeface="Times New Roman" pitchFamily="18" charset="0"/>
                        </a:rPr>
                        <a:t> х</a:t>
                      </a:r>
                      <a:r>
                        <a:rPr lang="ru-RU" sz="900" kern="1200" dirty="0" err="1">
                          <a:solidFill>
                            <a:schemeClr val="tx1"/>
                          </a:solidFill>
                          <a:latin typeface="+mn-lt"/>
                          <a:ea typeface="+mn-ea"/>
                          <a:cs typeface="Times New Roman" pitchFamily="18" charset="0"/>
                        </a:rPr>
                        <a:t>измат</a:t>
                      </a:r>
                      <a:r>
                        <a:rPr lang="ru-RU" sz="900" kern="1200" dirty="0">
                          <a:solidFill>
                            <a:schemeClr val="tx1"/>
                          </a:solidFill>
                          <a:latin typeface="+mn-lt"/>
                          <a:ea typeface="+mn-ea"/>
                          <a:cs typeface="Times New Roman" pitchFamily="18" charset="0"/>
                        </a:rPr>
                        <a:t> </a:t>
                      </a:r>
                      <a:r>
                        <a:rPr lang="ru-RU" sz="900" kern="1200" dirty="0" err="1">
                          <a:solidFill>
                            <a:schemeClr val="tx1"/>
                          </a:solidFill>
                          <a:latin typeface="+mn-lt"/>
                          <a:ea typeface="+mn-ea"/>
                          <a:cs typeface="Times New Roman" pitchFamily="18" charset="0"/>
                        </a:rPr>
                        <a:t>курсатган</a:t>
                      </a:r>
                      <a:r>
                        <a:rPr lang="ru-RU" sz="900" kern="1200" dirty="0">
                          <a:solidFill>
                            <a:schemeClr val="tx1"/>
                          </a:solidFill>
                          <a:latin typeface="+mn-lt"/>
                          <a:ea typeface="+mn-ea"/>
                          <a:cs typeface="Times New Roman" pitchFamily="18" charset="0"/>
                        </a:rPr>
                        <a:t> </a:t>
                      </a:r>
                      <a:r>
                        <a:rPr lang="ru-RU" sz="900" kern="1200" dirty="0" err="1">
                          <a:solidFill>
                            <a:schemeClr val="tx1"/>
                          </a:solidFill>
                          <a:latin typeface="+mn-lt"/>
                          <a:ea typeface="+mn-ea"/>
                          <a:cs typeface="Times New Roman" pitchFamily="18" charset="0"/>
                        </a:rPr>
                        <a:t>маданият</a:t>
                      </a:r>
                      <a:r>
                        <a:rPr lang="ru-RU" sz="900" kern="1200" dirty="0">
                          <a:solidFill>
                            <a:schemeClr val="tx1"/>
                          </a:solidFill>
                          <a:latin typeface="+mn-lt"/>
                          <a:ea typeface="+mn-ea"/>
                          <a:cs typeface="Times New Roman" pitchFamily="18" charset="0"/>
                        </a:rPr>
                        <a:t> </a:t>
                      </a:r>
                      <a:r>
                        <a:rPr lang="ru-RU" sz="900" kern="1200" dirty="0" err="1">
                          <a:solidFill>
                            <a:schemeClr val="tx1"/>
                          </a:solidFill>
                          <a:latin typeface="+mn-lt"/>
                          <a:ea typeface="+mn-ea"/>
                          <a:cs typeface="Times New Roman" pitchFamily="18" charset="0"/>
                        </a:rPr>
                        <a:t>ходими</a:t>
                      </a:r>
                      <a:r>
                        <a:rPr lang="uz-Cyrl-UZ" sz="900" kern="1200" dirty="0">
                          <a:solidFill>
                            <a:schemeClr val="tx1"/>
                          </a:solidFill>
                          <a:latin typeface="+mn-lt"/>
                          <a:ea typeface="+mn-ea"/>
                          <a:cs typeface="Times New Roman" pitchFamily="18" charset="0"/>
                        </a:rPr>
                        <a:t>” </a:t>
                      </a:r>
                      <a:endParaRPr lang="uz-Cyrl-UZ" sz="900" kern="1200" dirty="0" smtClean="0">
                        <a:solidFill>
                          <a:schemeClr val="tx1"/>
                        </a:solidFill>
                        <a:latin typeface="+mn-lt"/>
                        <a:ea typeface="+mn-ea"/>
                        <a:cs typeface="Times New Roman" pitchFamily="18" charset="0"/>
                      </a:endParaRPr>
                    </a:p>
                    <a:p>
                      <a:r>
                        <a:rPr lang="uz-Cyrl-UZ" sz="900" kern="1200" dirty="0" smtClean="0">
                          <a:solidFill>
                            <a:schemeClr val="tx1"/>
                          </a:solidFill>
                          <a:latin typeface="+mn-lt"/>
                          <a:ea typeface="+mn-ea"/>
                          <a:cs typeface="Times New Roman" pitchFamily="18" charset="0"/>
                        </a:rPr>
                        <a:t>2016 </a:t>
                      </a:r>
                      <a:r>
                        <a:rPr lang="uz-Cyrl-UZ" sz="900" kern="1200" dirty="0">
                          <a:solidFill>
                            <a:schemeClr val="tx1"/>
                          </a:solidFill>
                          <a:latin typeface="+mn-lt"/>
                          <a:ea typeface="+mn-ea"/>
                          <a:cs typeface="Times New Roman" pitchFamily="18" charset="0"/>
                        </a:rPr>
                        <a:t>й. “Ў</a:t>
                      </a:r>
                      <a:r>
                        <a:rPr lang="ru-RU" sz="900" kern="1200" dirty="0" err="1">
                          <a:solidFill>
                            <a:schemeClr val="tx1"/>
                          </a:solidFill>
                          <a:latin typeface="+mn-lt"/>
                          <a:ea typeface="+mn-ea"/>
                          <a:cs typeface="Times New Roman" pitchFamily="18" charset="0"/>
                        </a:rPr>
                        <a:t>збекистон</a:t>
                      </a:r>
                      <a:r>
                        <a:rPr lang="ru-RU" sz="900" kern="1200" dirty="0">
                          <a:solidFill>
                            <a:schemeClr val="tx1"/>
                          </a:solidFill>
                          <a:latin typeface="+mn-lt"/>
                          <a:ea typeface="+mn-ea"/>
                          <a:cs typeface="Times New Roman" pitchFamily="18" charset="0"/>
                        </a:rPr>
                        <a:t> </a:t>
                      </a:r>
                      <a:r>
                        <a:rPr lang="ru-RU" sz="900" kern="1200" dirty="0" err="1">
                          <a:solidFill>
                            <a:schemeClr val="tx1"/>
                          </a:solidFill>
                          <a:latin typeface="+mn-lt"/>
                          <a:ea typeface="+mn-ea"/>
                          <a:cs typeface="Times New Roman" pitchFamily="18" charset="0"/>
                        </a:rPr>
                        <a:t>Республикаси</a:t>
                      </a:r>
                      <a:r>
                        <a:rPr lang="ru-RU" sz="900" kern="1200" dirty="0">
                          <a:solidFill>
                            <a:schemeClr val="tx1"/>
                          </a:solidFill>
                          <a:latin typeface="+mn-lt"/>
                          <a:ea typeface="+mn-ea"/>
                          <a:cs typeface="Times New Roman" pitchFamily="18" charset="0"/>
                        </a:rPr>
                        <a:t> </a:t>
                      </a:r>
                      <a:r>
                        <a:rPr lang="ru-RU" sz="900" kern="1200" dirty="0" err="1">
                          <a:solidFill>
                            <a:schemeClr val="tx1"/>
                          </a:solidFill>
                          <a:latin typeface="+mn-lt"/>
                          <a:ea typeface="+mn-ea"/>
                          <a:cs typeface="Times New Roman" pitchFamily="18" charset="0"/>
                        </a:rPr>
                        <a:t>санъат</a:t>
                      </a:r>
                      <a:r>
                        <a:rPr lang="ru-RU" sz="900" kern="1200" dirty="0">
                          <a:solidFill>
                            <a:schemeClr val="tx1"/>
                          </a:solidFill>
                          <a:latin typeface="+mn-lt"/>
                          <a:ea typeface="+mn-ea"/>
                          <a:cs typeface="Times New Roman" pitchFamily="18" charset="0"/>
                        </a:rPr>
                        <a:t> </a:t>
                      </a:r>
                      <a:r>
                        <a:rPr lang="ru-RU" sz="900" kern="1200" dirty="0" err="1">
                          <a:solidFill>
                            <a:schemeClr val="tx1"/>
                          </a:solidFill>
                          <a:latin typeface="+mn-lt"/>
                          <a:ea typeface="+mn-ea"/>
                          <a:cs typeface="Times New Roman" pitchFamily="18" charset="0"/>
                        </a:rPr>
                        <a:t>арбоби</a:t>
                      </a:r>
                      <a:r>
                        <a:rPr lang="uz-Cyrl-UZ" sz="900" kern="1200" dirty="0" smtClean="0">
                          <a:solidFill>
                            <a:schemeClr val="tx1"/>
                          </a:solidFill>
                          <a:latin typeface="+mn-lt"/>
                          <a:ea typeface="+mn-ea"/>
                          <a:cs typeface="Times New Roman" pitchFamily="18" charset="0"/>
                        </a:rPr>
                        <a:t>”</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865755" y="869285"/>
          <a:ext cx="2901349" cy="5948167"/>
        </p:xfrm>
        <a:graphic>
          <a:graphicData uri="http://schemas.openxmlformats.org/drawingml/2006/table">
            <a:tbl>
              <a:tblPr firstRow="1" bandRow="1">
                <a:tableStyleId>{C083E6E3-FA7D-4D7B-A595-EF9225AFEA82}</a:tableStyleId>
              </a:tblPr>
              <a:tblGrid>
                <a:gridCol w="2901349">
                  <a:extLst>
                    <a:ext uri="{9D8B030D-6E8A-4147-A177-3AD203B41FA5}">
                      <a16:colId xmlns:a16="http://schemas.microsoft.com/office/drawing/2014/main" val="2715609854"/>
                    </a:ext>
                  </a:extLst>
                </a:gridCol>
              </a:tblGrid>
              <a:tr h="280598">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3213">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315711">
                <a:tc>
                  <a:txBody>
                    <a:bodyPr/>
                    <a:lstStyle/>
                    <a:p>
                      <a:pPr marL="0" marR="0" indent="179388" algn="just" defTabSz="914400" rtl="0" eaLnBrk="1" fontAlgn="auto" latinLnBrk="0" hangingPunct="1">
                        <a:lnSpc>
                          <a:spcPct val="85000"/>
                        </a:lnSpc>
                        <a:spcBef>
                          <a:spcPts val="0"/>
                        </a:spcBef>
                        <a:spcAft>
                          <a:spcPts val="0"/>
                        </a:spcAft>
                        <a:buClrTx/>
                        <a:buSzTx/>
                        <a:buFontTx/>
                        <a:buNone/>
                        <a:tabLst/>
                        <a:defRPr/>
                      </a:pPr>
                      <a:r>
                        <a:rPr lang="uz-Cyrl-UZ" sz="900" kern="1200" dirty="0">
                          <a:solidFill>
                            <a:schemeClr val="tx1"/>
                          </a:solidFill>
                          <a:latin typeface="+mn-lt"/>
                          <a:ea typeface="+mn-ea"/>
                          <a:cs typeface="Times New Roman" pitchFamily="18" charset="0"/>
                        </a:rPr>
                        <a:t>У 1993 йилдан шу кунга қадар Алишер Навоий номидаги Ўзбекистон </a:t>
                      </a:r>
                      <a:r>
                        <a:rPr lang="uz-Cyrl-UZ" sz="900" kern="1200" dirty="0" smtClean="0">
                          <a:solidFill>
                            <a:schemeClr val="tx1"/>
                          </a:solidFill>
                          <a:latin typeface="+mn-lt"/>
                          <a:ea typeface="+mn-ea"/>
                          <a:cs typeface="Times New Roman" pitchFamily="18" charset="0"/>
                        </a:rPr>
                        <a:t>давлат академик катта </a:t>
                      </a:r>
                      <a:r>
                        <a:rPr lang="uz-Cyrl-UZ" sz="900" kern="1200" dirty="0">
                          <a:solidFill>
                            <a:schemeClr val="tx1"/>
                          </a:solidFill>
                          <a:latin typeface="+mn-lt"/>
                          <a:ea typeface="+mn-ea"/>
                          <a:cs typeface="Times New Roman" pitchFamily="18" charset="0"/>
                        </a:rPr>
                        <a:t>театрида саҳналаштирувчи режиссёр лавозимида ижод  қилиб келмоқда. Ўтган йиллар мобайнида театрда бир қатор жаҳон ва ўзбек </a:t>
                      </a:r>
                      <a:r>
                        <a:rPr lang="uz-Cyrl-UZ" sz="900" kern="1200" dirty="0" smtClean="0">
                          <a:solidFill>
                            <a:schemeClr val="tx1"/>
                          </a:solidFill>
                          <a:latin typeface="+mn-lt"/>
                          <a:ea typeface="+mn-ea"/>
                          <a:cs typeface="Times New Roman" pitchFamily="18" charset="0"/>
                        </a:rPr>
                        <a:t>композиторларининг </a:t>
                      </a:r>
                      <a:r>
                        <a:rPr lang="uz-Cyrl-UZ" sz="900" kern="1200" dirty="0">
                          <a:solidFill>
                            <a:schemeClr val="tx1"/>
                          </a:solidFill>
                          <a:latin typeface="+mn-lt"/>
                          <a:ea typeface="+mn-ea"/>
                          <a:cs typeface="Times New Roman" pitchFamily="18" charset="0"/>
                        </a:rPr>
                        <a:t>асарларини саҳналаштирган. Жумладан; В.Миловнинг </a:t>
                      </a:r>
                      <a:r>
                        <a:rPr lang="uz-Cyrl-UZ" sz="900" b="1" kern="1200" dirty="0">
                          <a:solidFill>
                            <a:schemeClr val="tx1"/>
                          </a:solidFill>
                          <a:latin typeface="+mn-lt"/>
                          <a:ea typeface="+mn-ea"/>
                          <a:cs typeface="Times New Roman" pitchFamily="18" charset="0"/>
                        </a:rPr>
                        <a:t>“</a:t>
                      </a:r>
                      <a:r>
                        <a:rPr lang="uz-Cyrl-UZ" sz="900" b="0" kern="1200" dirty="0">
                          <a:solidFill>
                            <a:schemeClr val="tx1"/>
                          </a:solidFill>
                          <a:latin typeface="+mn-lt"/>
                          <a:ea typeface="+mn-ea"/>
                          <a:cs typeface="Times New Roman" pitchFamily="18" charset="0"/>
                        </a:rPr>
                        <a:t>Али  бобо ва 40 қароқчи”, В.А.Моцартнинг “Сеҳрли най”, “Фигаронинг тўйи”,  “Театр директори”, У.Мусаевнинг “Поэтик миниатюралар”, Н.Зокиров “Тахтга йўл”, Г.Доницеттининг “Лючия ди Ламмермур”, Дж.Пуччинининг “Флория Тоска”, “Мадам Баттерфляй”, А.Хачатуряннинг “Спартак”, П.Чайковскийнинг “Евгений  Онегин”, С.Рахманиновнинг “Алеко”, И.Стравинскийнинг “Мавра”, Р.Корсаковнинг  “Шоҳ  қайлиғи”, А.Эргашев билан ҳамкорликдаги “Мўъжизалар ойнаси” асарларида рассом ва режиссёр сифатида </a:t>
                      </a:r>
                      <a:r>
                        <a:rPr lang="uz-Cyrl-UZ" sz="900" kern="1200" dirty="0">
                          <a:solidFill>
                            <a:schemeClr val="tx1"/>
                          </a:solidFill>
                          <a:latin typeface="+mn-lt"/>
                          <a:ea typeface="+mn-ea"/>
                          <a:cs typeface="Times New Roman" pitchFamily="18" charset="0"/>
                        </a:rPr>
                        <a:t>қатнашган.</a:t>
                      </a:r>
                      <a:endParaRPr lang="ru-RU" sz="900" kern="1200" dirty="0">
                        <a:solidFill>
                          <a:schemeClr val="tx1"/>
                        </a:solidFill>
                        <a:latin typeface="+mn-lt"/>
                        <a:ea typeface="+mn-ea"/>
                        <a:cs typeface="Times New Roman" pitchFamily="18" charset="0"/>
                      </a:endParaRPr>
                    </a:p>
                    <a:p>
                      <a:pPr marL="0" indent="179388" algn="just"/>
                      <a:r>
                        <a:rPr lang="uz-Cyrl-UZ" sz="900" kern="1200" dirty="0">
                          <a:solidFill>
                            <a:schemeClr val="tx1"/>
                          </a:solidFill>
                          <a:latin typeface="+mn-lt"/>
                          <a:ea typeface="+mn-ea"/>
                          <a:cs typeface="Times New Roman" pitchFamily="18" charset="0"/>
                        </a:rPr>
                        <a:t>А.Слоним театрдаги ижодий ишларидан ташқари Республикамизнинг  маънавий ва маданий ҳаётида фаол иштирок этиб </a:t>
                      </a:r>
                      <a:r>
                        <a:rPr lang="uz-Cyrl-UZ" sz="900" kern="1200" dirty="0" smtClean="0">
                          <a:solidFill>
                            <a:schemeClr val="tx1"/>
                          </a:solidFill>
                          <a:latin typeface="+mn-lt"/>
                          <a:ea typeface="+mn-ea"/>
                          <a:cs typeface="Times New Roman" pitchFamily="18" charset="0"/>
                        </a:rPr>
                        <a:t>келмоқда.</a:t>
                      </a:r>
                    </a:p>
                    <a:p>
                      <a:pPr marL="0" indent="179388" algn="just"/>
                      <a:r>
                        <a:rPr lang="uz-Cyrl-UZ" sz="900" kern="1200" dirty="0" smtClean="0">
                          <a:solidFill>
                            <a:schemeClr val="tx1"/>
                          </a:solidFill>
                          <a:latin typeface="+mn-lt"/>
                          <a:ea typeface="+mn-ea"/>
                          <a:cs typeface="Times New Roman" pitchFamily="18" charset="0"/>
                        </a:rPr>
                        <a:t>Кўплаб </a:t>
                      </a:r>
                      <a:r>
                        <a:rPr lang="uz-Cyrl-UZ" sz="900" kern="1200" dirty="0">
                          <a:solidFill>
                            <a:schemeClr val="tx1"/>
                          </a:solidFill>
                          <a:latin typeface="+mn-lt"/>
                          <a:ea typeface="+mn-ea"/>
                          <a:cs typeface="Times New Roman" pitchFamily="18" charset="0"/>
                        </a:rPr>
                        <a:t>Давлат  аҳамиятига молик тадбирлар, буюк композиторлар, ёзувчи ва шоирлар ижоди ва  ҳаёти ҳақидаги адабий-мусиқий кечалар, пойтахтимиздаги Интермарказ қошидаги  турли миллатлар маданий марказлари билан ҳамкорликда байрам тадбирларини  ташкил этиш ва ўтказишда режиссёр сифатида ўзининг маҳоратини намойиш этиб  келмоқда. </a:t>
                      </a:r>
                      <a:endParaRPr lang="ru-RU" sz="900" kern="1200" dirty="0">
                        <a:solidFill>
                          <a:schemeClr val="tx1"/>
                        </a:solidFill>
                        <a:latin typeface="+mn-lt"/>
                        <a:ea typeface="+mn-ea"/>
                        <a:cs typeface="Times New Roman" pitchFamily="18" charset="0"/>
                      </a:endParaRPr>
                    </a:p>
                    <a:p>
                      <a:pPr algn="just"/>
                      <a:r>
                        <a:rPr lang="uz-Cyrl-UZ" sz="1000" kern="1200" dirty="0">
                          <a:solidFill>
                            <a:schemeClr val="tx1"/>
                          </a:solidFill>
                          <a:latin typeface="+mn-lt"/>
                          <a:ea typeface="+mn-ea"/>
                          <a:cs typeface="+mn-cs"/>
                        </a:rPr>
                        <a:t> </a:t>
                      </a:r>
                      <a:endParaRPr lang="ru-RU" sz="1000" kern="1200" dirty="0">
                        <a:solidFill>
                          <a:schemeClr val="tx1"/>
                        </a:solidFill>
                        <a:latin typeface="+mn-lt"/>
                        <a:ea typeface="+mn-ea"/>
                        <a:cs typeface="+mn-cs"/>
                      </a:endParaRPr>
                    </a:p>
                    <a:p>
                      <a:pPr algn="just">
                        <a:lnSpc>
                          <a:spcPct val="85000"/>
                        </a:lnSpc>
                      </a:pP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4331">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24314">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a:extLst>
              <a:ext uri="{FF2B5EF4-FFF2-40B4-BE49-F238E27FC236}">
                <a16:creationId xmlns:a16="http://schemas.microsoft.com/office/drawing/2014/main" id="{161D814E-A993-5060-05E3-595EB1B34F4D}"/>
              </a:ext>
            </a:extLst>
          </p:cNvPr>
          <p:cNvPicPr>
            <a:picLocks noChangeAspect="1"/>
          </p:cNvPicPr>
          <p:nvPr/>
        </p:nvPicPr>
        <p:blipFill>
          <a:blip r:embed="rId2"/>
          <a:stretch>
            <a:fillRect/>
          </a:stretch>
        </p:blipFill>
        <p:spPr>
          <a:xfrm>
            <a:off x="254825" y="1129858"/>
            <a:ext cx="900994" cy="1088410"/>
          </a:xfrm>
          <a:prstGeom prst="rect">
            <a:avLst/>
          </a:prstGeom>
        </p:spPr>
      </p:pic>
      <p:sp>
        <p:nvSpPr>
          <p:cNvPr id="9" name="Прямоугольник 8">
            <a:extLst>
              <a:ext uri="{FF2B5EF4-FFF2-40B4-BE49-F238E27FC236}">
                <a16:creationId xmlns:a16="http://schemas.microsoft.com/office/drawing/2014/main" id="{5A9AA459-1519-4154-AF5D-18C6732B0658}"/>
              </a:ext>
            </a:extLst>
          </p:cNvPr>
          <p:cNvSpPr/>
          <p:nvPr/>
        </p:nvSpPr>
        <p:spPr>
          <a:xfrm>
            <a:off x="138896" y="557937"/>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spTree>
    <p:extLst>
      <p:ext uri="{BB962C8B-B14F-4D97-AF65-F5344CB8AC3E}">
        <p14:creationId xmlns:p14="http://schemas.microsoft.com/office/powerpoint/2010/main" val="872377782"/>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3"/>
          <a:ext cx="3427547" cy="5894023"/>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794545">
                  <a:extLst>
                    <a:ext uri="{9D8B030D-6E8A-4147-A177-3AD203B41FA5}">
                      <a16:colId xmlns:a16="http://schemas.microsoft.com/office/drawing/2014/main" val="546773760"/>
                    </a:ext>
                  </a:extLst>
                </a:gridCol>
                <a:gridCol w="115669">
                  <a:extLst>
                    <a:ext uri="{9D8B030D-6E8A-4147-A177-3AD203B41FA5}">
                      <a16:colId xmlns:a16="http://schemas.microsoft.com/office/drawing/2014/main" val="20004"/>
                    </a:ext>
                  </a:extLst>
                </a:gridCol>
                <a:gridCol w="1265102">
                  <a:extLst>
                    <a:ext uri="{9D8B030D-6E8A-4147-A177-3AD203B41FA5}">
                      <a16:colId xmlns:a16="http://schemas.microsoft.com/office/drawing/2014/main" val="546443978"/>
                    </a:ext>
                  </a:extLst>
                </a:gridCol>
              </a:tblGrid>
              <a:tr h="243150">
                <a:tc gridSpan="6">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0087">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ХАБИБОВ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26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3">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900" b="0" kern="1200" dirty="0" smtClean="0">
                          <a:solidFill>
                            <a:schemeClr val="tx1"/>
                          </a:solidFill>
                          <a:latin typeface="+mn-lt"/>
                          <a:ea typeface="+mn-ea"/>
                          <a:cs typeface="Times New Roman" pitchFamily="18" charset="0"/>
                        </a:rPr>
                        <a:t>Нигматулла</a:t>
                      </a:r>
                      <a:endParaRPr lang="uz-Cyrl-UZ"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20126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900" b="0" kern="1200" dirty="0" smtClean="0">
                          <a:solidFill>
                            <a:schemeClr val="tx1"/>
                          </a:solidFill>
                          <a:latin typeface="+mn-lt"/>
                          <a:ea typeface="+mn-ea"/>
                          <a:cs typeface="+mn-cs"/>
                        </a:rPr>
                        <a:t>Махарамович</a:t>
                      </a:r>
                      <a:r>
                        <a:rPr lang="uz-Cyrl-UZ" sz="900" b="0" kern="1200" baseline="0" dirty="0" smtClean="0">
                          <a:solidFill>
                            <a:schemeClr val="tx1"/>
                          </a:solidFill>
                          <a:latin typeface="+mn-lt"/>
                          <a:ea typeface="+mn-ea"/>
                          <a:cs typeface="+mn-cs"/>
                        </a:rPr>
                        <a:t> </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0087">
                <a:tc gridSpan="2" vMerge="1">
                  <a:txBody>
                    <a:bodyPr/>
                    <a:lstStyle/>
                    <a:p>
                      <a:endParaRPr lang="ru-RU"/>
                    </a:p>
                  </a:txBody>
                  <a:tcPr>
                    <a:lnT>
                      <a:noFill/>
                    </a:lnT>
                  </a:tcPr>
                </a:tc>
                <a:tc hMerge="1" vMerge="1">
                  <a:txBody>
                    <a:bodyPr/>
                    <a:lstStyle/>
                    <a:p>
                      <a:endParaRPr lang="ru-RU"/>
                    </a:p>
                  </a:txBody>
                  <a:tcPr/>
                </a:tc>
                <a:tc gridSpan="3">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20126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900" kern="1200" dirty="0" smtClean="0">
                          <a:solidFill>
                            <a:schemeClr val="tx1"/>
                          </a:solidFill>
                          <a:latin typeface="+mn-lt"/>
                          <a:ea typeface="+mn-ea"/>
                          <a:cs typeface="Times New Roman" pitchFamily="18" charset="0"/>
                        </a:rPr>
                        <a:t>29.10.1958</a:t>
                      </a:r>
                      <a:endParaRPr lang="ru-RU"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32691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900" kern="1200" dirty="0" smtClean="0">
                          <a:solidFill>
                            <a:schemeClr val="tx1"/>
                          </a:solidFill>
                          <a:latin typeface="+mn-lt"/>
                          <a:ea typeface="+mn-ea"/>
                          <a:cs typeface="Times New Roman" pitchFamily="18" charset="0"/>
                        </a:rPr>
                        <a:t>Қозоғистон Республикаси</a:t>
                      </a:r>
                      <a:endParaRPr lang="uz-Cyrl-UZ"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0741">
                <a:tc gridSpan="6">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1398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3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қиз</a:t>
                      </a:r>
                      <a:r>
                        <a:rPr lang="uz-Cyrl-UZ" sz="900" b="0" kern="1200" baseline="0" noProof="0" dirty="0" smtClean="0">
                          <a:solidFill>
                            <a:schemeClr val="tx1"/>
                          </a:solidFill>
                          <a:latin typeface="+mn-lt"/>
                          <a:ea typeface="+mn-ea"/>
                          <a:cs typeface="+mn-cs"/>
                        </a:rPr>
                        <a:t> </a:t>
                      </a:r>
                      <a:r>
                        <a:rPr lang="uz-Cyrl-UZ" sz="900" b="0" kern="1200" noProof="0" dirty="0" smtClean="0">
                          <a:solidFill>
                            <a:schemeClr val="tx1"/>
                          </a:solidFill>
                          <a:latin typeface="+mn-lt"/>
                          <a:ea typeface="+mn-ea"/>
                          <a:cs typeface="+mn-cs"/>
                        </a:rPr>
                        <a:t>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0741">
                <a:tc gridSpan="6">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31620">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smtClean="0">
                          <a:solidFill>
                            <a:schemeClr val="tx1"/>
                          </a:solidFill>
                          <a:latin typeface="+mn-lt"/>
                          <a:ea typeface="+mn-ea"/>
                          <a:cs typeface="Times New Roman" pitchFamily="18" charset="0"/>
                        </a:rPr>
                        <a:t>Синхабиби Махарам</a:t>
                      </a:r>
                    </a:p>
                    <a:p>
                      <a:pPr algn="l">
                        <a:lnSpc>
                          <a:spcPct val="85000"/>
                        </a:lnSpc>
                      </a:pPr>
                      <a:r>
                        <a:rPr lang="uz-Cyrl-UZ" sz="900" kern="1200" dirty="0" smtClean="0">
                          <a:solidFill>
                            <a:schemeClr val="tx1"/>
                          </a:solidFill>
                          <a:latin typeface="+mn-lt"/>
                          <a:ea typeface="+mn-ea"/>
                          <a:cs typeface="Times New Roman" pitchFamily="18" charset="0"/>
                        </a:rPr>
                        <a:t>1890 йил, </a:t>
                      </a:r>
                      <a:br>
                        <a:rPr lang="uz-Cyrl-UZ" sz="900" kern="1200" dirty="0" smtClean="0">
                          <a:solidFill>
                            <a:schemeClr val="tx1"/>
                          </a:solidFill>
                          <a:latin typeface="+mn-lt"/>
                          <a:ea typeface="+mn-ea"/>
                          <a:cs typeface="Times New Roman" pitchFamily="18" charset="0"/>
                        </a:rPr>
                      </a:br>
                      <a:r>
                        <a:rPr lang="uz-Cyrl-UZ" sz="900" kern="1200" dirty="0" smtClean="0">
                          <a:solidFill>
                            <a:schemeClr val="tx1"/>
                          </a:solidFill>
                          <a:latin typeface="+mn-lt"/>
                          <a:ea typeface="+mn-ea"/>
                          <a:cs typeface="Times New Roman" pitchFamily="18" charset="0"/>
                        </a:rPr>
                        <a:t>Қозоғистон Республикаси</a:t>
                      </a:r>
                      <a:endParaRPr lang="uz-Cyrl-UZ"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latin typeface="+mn-lt"/>
                          <a:ea typeface="+mn-ea"/>
                          <a:cs typeface="Times New Roman" pitchFamily="18" charset="0"/>
                        </a:rPr>
                        <a:t>1969 йил вафот этган</a:t>
                      </a:r>
                      <a:endParaRPr lang="ru-RU" sz="900" kern="1200" dirty="0" smtClean="0">
                        <a:solidFill>
                          <a:schemeClr val="tx1"/>
                        </a:solidFill>
                        <a:latin typeface="+mn-lt"/>
                        <a:ea typeface="+mn-ea"/>
                        <a:cs typeface="Times New Roman" pitchFamily="18" charset="0"/>
                      </a:endParaRPr>
                    </a:p>
                    <a:p>
                      <a:r>
                        <a:rPr lang="uz-Cyrl-UZ" sz="900" kern="1200" dirty="0" smtClean="0">
                          <a:solidFill>
                            <a:schemeClr val="tx1"/>
                          </a:solidFill>
                          <a:latin typeface="+mn-lt"/>
                          <a:ea typeface="+mn-ea"/>
                          <a:cs typeface="Times New Roman" pitchFamily="18" charset="0"/>
                        </a:rPr>
                        <a:t>(Маълумотга эга эмас)</a:t>
                      </a:r>
                      <a:endParaRPr lang="ru-RU"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50286">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smtClean="0">
                          <a:solidFill>
                            <a:schemeClr val="tx1"/>
                          </a:solidFill>
                          <a:latin typeface="+mn-lt"/>
                          <a:ea typeface="+mn-ea"/>
                          <a:cs typeface="Times New Roman" pitchFamily="18" charset="0"/>
                        </a:rPr>
                        <a:t>Рўзметова Комила</a:t>
                      </a:r>
                    </a:p>
                    <a:p>
                      <a:pPr marL="0" marR="0" indent="0" algn="l" defTabSz="914400" rtl="0" eaLnBrk="1" fontAlgn="auto" latinLnBrk="0" hangingPunct="1">
                        <a:lnSpc>
                          <a:spcPct val="85000"/>
                        </a:lnSpc>
                        <a:spcBef>
                          <a:spcPts val="0"/>
                        </a:spcBef>
                        <a:spcAft>
                          <a:spcPts val="0"/>
                        </a:spcAft>
                        <a:buClrTx/>
                        <a:buSzTx/>
                        <a:buFontTx/>
                        <a:buNone/>
                        <a:tabLst/>
                        <a:defRPr/>
                      </a:pPr>
                      <a:r>
                        <a:rPr lang="uz-Cyrl-UZ" sz="900" kern="1200" dirty="0" smtClean="0">
                          <a:solidFill>
                            <a:schemeClr val="tx1"/>
                          </a:solidFill>
                          <a:latin typeface="+mn-lt"/>
                          <a:ea typeface="+mn-ea"/>
                          <a:cs typeface="Times New Roman" pitchFamily="18" charset="0"/>
                        </a:rPr>
                        <a:t>1921</a:t>
                      </a:r>
                      <a:r>
                        <a:rPr lang="uz-Cyrl-UZ" sz="900" kern="1200" baseline="0" dirty="0" smtClean="0">
                          <a:solidFill>
                            <a:schemeClr val="tx1"/>
                          </a:solidFill>
                          <a:latin typeface="+mn-lt"/>
                          <a:ea typeface="+mn-ea"/>
                          <a:cs typeface="Times New Roman" pitchFamily="18" charset="0"/>
                        </a:rPr>
                        <a:t> </a:t>
                      </a:r>
                      <a:r>
                        <a:rPr lang="uz-Cyrl-UZ" sz="900" kern="1200" dirty="0" smtClean="0">
                          <a:solidFill>
                            <a:schemeClr val="tx1"/>
                          </a:solidFill>
                          <a:latin typeface="+mn-lt"/>
                          <a:ea typeface="+mn-ea"/>
                          <a:cs typeface="Times New Roman" pitchFamily="18" charset="0"/>
                        </a:rPr>
                        <a:t>йил, </a:t>
                      </a:r>
                      <a:br>
                        <a:rPr lang="uz-Cyrl-UZ" sz="900" kern="1200" dirty="0" smtClean="0">
                          <a:solidFill>
                            <a:schemeClr val="tx1"/>
                          </a:solidFill>
                          <a:latin typeface="+mn-lt"/>
                          <a:ea typeface="+mn-ea"/>
                          <a:cs typeface="Times New Roman" pitchFamily="18" charset="0"/>
                        </a:rPr>
                      </a:br>
                      <a:r>
                        <a:rPr lang="uz-Cyrl-UZ" sz="900" kern="1200" dirty="0" smtClean="0">
                          <a:solidFill>
                            <a:schemeClr val="tx1"/>
                          </a:solidFill>
                          <a:latin typeface="+mn-lt"/>
                          <a:ea typeface="+mn-ea"/>
                          <a:cs typeface="Times New Roman" pitchFamily="18" charset="0"/>
                        </a:rPr>
                        <a:t>Қозоғистон Республикаси</a:t>
                      </a:r>
                      <a:endParaRPr lang="uz-Cyrl-UZ" sz="900" b="0" kern="1200" noProof="0" dirty="0" smtClean="0">
                        <a:solidFill>
                          <a:schemeClr val="tx1"/>
                        </a:solidFill>
                        <a:latin typeface="+mn-lt"/>
                        <a:ea typeface="+mn-ea"/>
                        <a:cs typeface="Times New Roman" pitchFamily="18" charset="0"/>
                      </a:endParaRPr>
                    </a:p>
                    <a:p>
                      <a:pPr algn="l">
                        <a:lnSpc>
                          <a:spcPct val="85000"/>
                        </a:lnSpc>
                      </a:pPr>
                      <a:endParaRPr lang="uz-Cyrl-UZ" sz="900" b="0" kern="1200" noProof="0" dirty="0" smtClean="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latin typeface="+mn-lt"/>
                          <a:ea typeface="+mn-ea"/>
                          <a:cs typeface="Times New Roman" pitchFamily="18" charset="0"/>
                        </a:rPr>
                        <a:t>1988 йил вафот этган</a:t>
                      </a:r>
                      <a:endParaRPr lang="ru-RU" sz="900" kern="1200" dirty="0" smtClean="0">
                        <a:solidFill>
                          <a:schemeClr val="tx1"/>
                        </a:solidFill>
                        <a:latin typeface="+mn-lt"/>
                        <a:ea typeface="+mn-ea"/>
                        <a:cs typeface="Times New Roman" pitchFamily="18" charset="0"/>
                      </a:endParaRPr>
                    </a:p>
                    <a:p>
                      <a:r>
                        <a:rPr lang="uz-Cyrl-UZ" sz="900" kern="1200" dirty="0" smtClean="0">
                          <a:solidFill>
                            <a:schemeClr val="tx1"/>
                          </a:solidFill>
                          <a:latin typeface="+mn-lt"/>
                          <a:ea typeface="+mn-ea"/>
                          <a:cs typeface="Times New Roman" pitchFamily="18" charset="0"/>
                        </a:rPr>
                        <a:t>Уй бекаси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l">
                        <a:lnSpc>
                          <a:spcPct val="85000"/>
                        </a:lnSpc>
                      </a:pP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83889">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smtClean="0">
                          <a:solidFill>
                            <a:schemeClr val="tx1"/>
                          </a:solidFill>
                          <a:latin typeface="+mn-lt"/>
                          <a:ea typeface="+mn-ea"/>
                          <a:cs typeface="Times New Roman" pitchFamily="18" charset="0"/>
                        </a:rPr>
                        <a:t>Синхабиби (Атажанова) Мархабо Кадировна</a:t>
                      </a:r>
                    </a:p>
                    <a:p>
                      <a:pPr marL="0" marR="0" indent="0" algn="l" defTabSz="914400" rtl="0" eaLnBrk="1" fontAlgn="auto" latinLnBrk="0" hangingPunct="1">
                        <a:lnSpc>
                          <a:spcPct val="85000"/>
                        </a:lnSpc>
                        <a:spcBef>
                          <a:spcPts val="0"/>
                        </a:spcBef>
                        <a:spcAft>
                          <a:spcPts val="0"/>
                        </a:spcAft>
                        <a:buClrTx/>
                        <a:buSzTx/>
                        <a:buFontTx/>
                        <a:buNone/>
                        <a:tabLst/>
                        <a:defRPr/>
                      </a:pPr>
                      <a:r>
                        <a:rPr lang="uz-Cyrl-UZ" sz="900" kern="1200" dirty="0" smtClean="0">
                          <a:solidFill>
                            <a:schemeClr val="tx1"/>
                          </a:solidFill>
                          <a:latin typeface="+mn-lt"/>
                          <a:ea typeface="+mn-ea"/>
                          <a:cs typeface="Times New Roman" pitchFamily="18" charset="0"/>
                        </a:rPr>
                        <a:t>1959</a:t>
                      </a:r>
                      <a:r>
                        <a:rPr lang="uz-Cyrl-UZ" sz="900" kern="1200" baseline="0" dirty="0" smtClean="0">
                          <a:solidFill>
                            <a:schemeClr val="tx1"/>
                          </a:solidFill>
                          <a:latin typeface="+mn-lt"/>
                          <a:ea typeface="+mn-ea"/>
                          <a:cs typeface="Times New Roman" pitchFamily="18" charset="0"/>
                        </a:rPr>
                        <a:t> </a:t>
                      </a:r>
                      <a:r>
                        <a:rPr lang="uz-Cyrl-UZ" sz="900" kern="1200" dirty="0" smtClean="0">
                          <a:solidFill>
                            <a:schemeClr val="tx1"/>
                          </a:solidFill>
                          <a:latin typeface="+mn-lt"/>
                          <a:ea typeface="+mn-ea"/>
                          <a:cs typeface="Times New Roman" pitchFamily="18" charset="0"/>
                        </a:rPr>
                        <a:t>йил, </a:t>
                      </a:r>
                      <a:br>
                        <a:rPr lang="uz-Cyrl-UZ" sz="900" kern="1200" dirty="0" smtClean="0">
                          <a:solidFill>
                            <a:schemeClr val="tx1"/>
                          </a:solidFill>
                          <a:latin typeface="+mn-lt"/>
                          <a:ea typeface="+mn-ea"/>
                          <a:cs typeface="Times New Roman" pitchFamily="18" charset="0"/>
                        </a:rPr>
                      </a:br>
                      <a:r>
                        <a:rPr lang="uz-Cyrl-UZ" sz="900" kern="1200" dirty="0" smtClean="0">
                          <a:solidFill>
                            <a:schemeClr val="tx1"/>
                          </a:solidFill>
                          <a:latin typeface="+mn-lt"/>
                          <a:ea typeface="+mn-ea"/>
                          <a:cs typeface="Times New Roman" pitchFamily="18" charset="0"/>
                        </a:rPr>
                        <a:t>Қозоғистон Республикаси</a:t>
                      </a:r>
                      <a:endParaRPr lang="uz-Cyrl-UZ" sz="900" b="0" kern="1200" noProof="0" dirty="0" smtClean="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algn="l">
                        <a:lnSpc>
                          <a:spcPct val="85000"/>
                        </a:lnSpc>
                      </a:pPr>
                      <a:r>
                        <a:rPr lang="uz-Cyrl-UZ" sz="900" kern="1200" dirty="0" smtClean="0">
                          <a:solidFill>
                            <a:schemeClr val="tx1"/>
                          </a:solidFill>
                          <a:latin typeface="+mn-lt"/>
                          <a:ea typeface="+mn-ea"/>
                          <a:cs typeface="Times New Roman" pitchFamily="18" charset="0"/>
                        </a:rPr>
                        <a:t>Тошкент давлат маданият коллежи ўқитувчиси</a:t>
                      </a:r>
                      <a:endParaRPr lang="uz-Cyrl-UZ"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l">
                        <a:lnSpc>
                          <a:spcPct val="85000"/>
                        </a:lnSpc>
                      </a:pP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473">
                <a:tc gridSpan="6">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34050">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kern="1200" dirty="0" smtClean="0">
                          <a:solidFill>
                            <a:schemeClr val="tx1"/>
                          </a:solidFill>
                          <a:latin typeface="+mn-lt"/>
                          <a:ea typeface="+mn-ea"/>
                          <a:cs typeface="Times New Roman" pitchFamily="18" charset="0"/>
                        </a:rPr>
                        <a:t>1981 й</a:t>
                      </a:r>
                      <a:r>
                        <a:rPr lang="ru-RU" sz="900" kern="1200" dirty="0" smtClean="0">
                          <a:solidFill>
                            <a:schemeClr val="tx1"/>
                          </a:solidFill>
                          <a:latin typeface="+mn-lt"/>
                          <a:ea typeface="+mn-ea"/>
                          <a:cs typeface="Times New Roman" pitchFamily="18" charset="0"/>
                        </a:rPr>
                        <a:t>. </a:t>
                      </a:r>
                      <a:r>
                        <a:rPr lang="uz-Cyrl-UZ" sz="900" kern="1200" dirty="0" smtClean="0">
                          <a:solidFill>
                            <a:schemeClr val="tx1"/>
                          </a:solidFill>
                          <a:latin typeface="+mn-lt"/>
                          <a:ea typeface="+mn-ea"/>
                          <a:cs typeface="Times New Roman" pitchFamily="18" charset="0"/>
                        </a:rPr>
                        <a:t>Тошкент давлат маданият институти (кундузги)</a:t>
                      </a:r>
                      <a:endParaRPr lang="ru-RU" sz="900" kern="1200" dirty="0" smtClean="0">
                        <a:solidFill>
                          <a:schemeClr val="tx1"/>
                        </a:solidFill>
                        <a:latin typeface="+mn-lt"/>
                        <a:ea typeface="+mn-ea"/>
                        <a:cs typeface="Times New Roman" pitchFamily="18" charset="0"/>
                      </a:endParaRPr>
                    </a:p>
                    <a:p>
                      <a:r>
                        <a:rPr lang="uz-Cyrl-UZ" sz="900" kern="1200" dirty="0" smtClean="0">
                          <a:solidFill>
                            <a:schemeClr val="tx1"/>
                          </a:solidFill>
                          <a:latin typeface="+mn-lt"/>
                          <a:ea typeface="+mn-ea"/>
                          <a:cs typeface="Times New Roman" pitchFamily="18" charset="0"/>
                        </a:rPr>
                        <a:t>1988 й. Ўзбекистон давлат консерваторияси (сиртқи)</a:t>
                      </a:r>
                      <a:endParaRPr lang="ru-RU" sz="90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522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kern="1200" dirty="0" smtClean="0">
                          <a:solidFill>
                            <a:schemeClr val="tx1"/>
                          </a:solidFill>
                          <a:latin typeface="+mn-lt"/>
                          <a:ea typeface="+mn-ea"/>
                          <a:cs typeface="Times New Roman" pitchFamily="18" charset="0"/>
                        </a:rPr>
                        <a:t>ашула ўқитувчиси, опера солисти</a:t>
                      </a:r>
                      <a:endParaRPr lang="ru-RU" sz="90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988">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b="0" kern="1200" noProof="0" dirty="0" smtClean="0">
                          <a:solidFill>
                            <a:schemeClr val="tx1"/>
                          </a:solidFill>
                          <a:latin typeface="+mn-lt"/>
                          <a:ea typeface="+mn-ea"/>
                          <a:cs typeface="+mn-cs"/>
                        </a:rPr>
                        <a:t>Йўқ</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988">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b="0" kern="1200" noProof="0" dirty="0" smtClean="0">
                          <a:solidFill>
                            <a:schemeClr val="tx1"/>
                          </a:solidFill>
                          <a:latin typeface="+mn-lt"/>
                          <a:ea typeface="+mn-ea"/>
                          <a:cs typeface="+mn-cs"/>
                        </a:rPr>
                        <a:t>Рус тили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13988">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90"/>
          <a:ext cx="3172841" cy="5894038"/>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11595">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798642">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smtClean="0">
                          <a:solidFill>
                            <a:schemeClr val="tx1"/>
                          </a:solidFill>
                          <a:latin typeface="+mn-lt"/>
                          <a:ea typeface="+mn-ea"/>
                          <a:cs typeface="Times New Roman" pitchFamily="18" charset="0"/>
                        </a:rPr>
                        <a:t>1980 й. ҳ.в.қ.      -    Алишер Навоий номидаги Ўзбекистон давлат академик катта театри опера солисти</a:t>
                      </a:r>
                      <a:endParaRPr lang="ru-RU" sz="900" kern="1200" dirty="0" smtClean="0">
                        <a:solidFill>
                          <a:schemeClr val="tx1"/>
                        </a:solidFill>
                        <a:latin typeface="+mn-lt"/>
                        <a:ea typeface="+mn-ea"/>
                        <a:cs typeface="Times New Roman" pitchFamily="18" charset="0"/>
                      </a:endParaRPr>
                    </a:p>
                    <a:p>
                      <a:r>
                        <a:rPr lang="uz-Cyrl-UZ" sz="900" b="1" kern="1200" dirty="0" smtClean="0">
                          <a:solidFill>
                            <a:schemeClr val="tx1"/>
                          </a:solidFill>
                          <a:latin typeface="+mn-lt"/>
                          <a:ea typeface="+mn-ea"/>
                          <a:cs typeface="Times New Roman" pitchFamily="18" charset="0"/>
                        </a:rPr>
                        <a:t> </a:t>
                      </a:r>
                      <a:endParaRPr lang="ru-RU" sz="900" kern="1200" dirty="0">
                        <a:solidFill>
                          <a:schemeClr val="tx1"/>
                        </a:solidFill>
                        <a:latin typeface="+mn-lt"/>
                        <a:ea typeface="+mn-ea"/>
                        <a:cs typeface="Times New Roman"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2505">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014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46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640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46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6442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smtClean="0">
                          <a:solidFill>
                            <a:schemeClr val="tx1"/>
                          </a:solidFill>
                          <a:latin typeface="+mn-lt"/>
                          <a:ea typeface="+mn-ea"/>
                          <a:cs typeface="Times New Roman" pitchFamily="18" charset="0"/>
                        </a:rPr>
                        <a:t>1980 й. ҳ.в.қ.      -    Алишер Навоий номидаги Ўзбекистон давлат академик катта театри опера солисти</a:t>
                      </a:r>
                      <a:endParaRPr lang="ru-RU" sz="900" kern="1200" dirty="0" smtClean="0">
                        <a:solidFill>
                          <a:schemeClr val="tx1"/>
                        </a:solidFill>
                        <a:latin typeface="+mn-lt"/>
                        <a:ea typeface="+mn-ea"/>
                        <a:cs typeface="Times New Roman" pitchFamily="18" charset="0"/>
                      </a:endParaRPr>
                    </a:p>
                    <a:p>
                      <a:r>
                        <a:rPr lang="uz-Cyrl-UZ" sz="900" b="1" kern="1200" dirty="0" smtClean="0">
                          <a:solidFill>
                            <a:schemeClr val="tx1"/>
                          </a:solidFill>
                          <a:latin typeface="+mn-lt"/>
                          <a:ea typeface="+mn-ea"/>
                          <a:cs typeface="Times New Roman" pitchFamily="18" charset="0"/>
                        </a:rPr>
                        <a:t> </a:t>
                      </a:r>
                      <a:endParaRPr lang="ru-RU" sz="900" kern="1200" dirty="0" smtClean="0">
                        <a:solidFill>
                          <a:schemeClr val="tx1"/>
                        </a:solidFill>
                        <a:latin typeface="+mn-lt"/>
                        <a:ea typeface="+mn-ea"/>
                        <a:cs typeface="Times New Roman" pitchFamily="18" charset="0"/>
                      </a:endParaRPr>
                    </a:p>
                    <a:p>
                      <a:pPr algn="l">
                        <a:lnSpc>
                          <a:spcPct val="107000"/>
                        </a:lnSpc>
                        <a:spcAft>
                          <a:spcPts val="0"/>
                        </a:spcAft>
                      </a:pPr>
                      <a:endParaRPr lang="uz-Cyrl-UZ" sz="900" noProof="0" dirty="0" smtClean="0">
                        <a:effectLst/>
                        <a:latin typeface="+mn-lt"/>
                        <a:ea typeface="Calibri" panose="020F0502020204030204" pitchFamily="34" charset="0"/>
                        <a:cs typeface="Times New Roman"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1575">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1575">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1575">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4527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564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934670">
                <a:tc gridSpan="2">
                  <a:txBody>
                    <a:bodyPr/>
                    <a:lstStyle/>
                    <a:p>
                      <a:r>
                        <a:rPr lang="uz-Cyrl-UZ" sz="900" dirty="0" smtClean="0">
                          <a:latin typeface="+mn-lt"/>
                        </a:rPr>
                        <a:t>2018 й. “Ўзбекистон Республикасида хизмат кўрсатган артист”  </a:t>
                      </a:r>
                      <a:endParaRPr lang="ru-RU" sz="900" dirty="0" smtClean="0">
                        <a:latin typeface="+mn-lt"/>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9"/>
          <a:ext cx="2817247" cy="5923044"/>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21553">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1490">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682228">
                <a:tc>
                  <a:txBody>
                    <a:bodyPr/>
                    <a:lstStyle/>
                    <a:p>
                      <a:pPr marL="0" indent="179388" algn="just"/>
                      <a:r>
                        <a:rPr lang="uz-Cyrl-UZ" sz="900" b="0" kern="1200" dirty="0" smtClean="0">
                          <a:solidFill>
                            <a:schemeClr val="tx1"/>
                          </a:solidFill>
                          <a:latin typeface="+mn-lt"/>
                          <a:ea typeface="+mn-ea"/>
                          <a:cs typeface="Times New Roman" pitchFamily="18" charset="0"/>
                        </a:rPr>
                        <a:t>У кенг диапазонли ёқимли тенор овоз сохиби бўлиб, “Майсаранинг иши” операсида Чўпонали, “Лайли ва Мажнун”да Мажнун, “Сўғд элининг қоплони”да А.Македонский, “Умар Хайём”да Умар Ҳайём, “Дилором”да Мони, “Трубадур”да Манрико, “Отелло”да Кассио, “Фауст”да Фауст, “Кармен”да Хозе, “Зебунисо”да Розий ва Фаранг элчиси, “Пётр I”да Меншиков, “Олов фаришта”да Табиб каби ўнлаб ўзига хос ёрқин образлар яратиб, мухлисларга манзур бўлиб келмоқда.</a:t>
                      </a:r>
                      <a:endParaRPr lang="ru-RU" sz="900" b="0" kern="1200" dirty="0" smtClean="0">
                        <a:solidFill>
                          <a:schemeClr val="tx1"/>
                        </a:solidFill>
                        <a:latin typeface="+mn-lt"/>
                        <a:ea typeface="+mn-ea"/>
                        <a:cs typeface="Times New Roman" pitchFamily="18" charset="0"/>
                      </a:endParaRPr>
                    </a:p>
                    <a:p>
                      <a:pPr marL="0" indent="179388" algn="just"/>
                      <a:r>
                        <a:rPr lang="uz-Cyrl-UZ" sz="900" b="0" kern="1200" dirty="0" smtClean="0">
                          <a:solidFill>
                            <a:schemeClr val="tx1"/>
                          </a:solidFill>
                          <a:latin typeface="+mn-lt"/>
                          <a:ea typeface="+mn-ea"/>
                          <a:cs typeface="Times New Roman" pitchFamily="18" charset="0"/>
                        </a:rPr>
                        <a:t>У кўплаб хорижий давлатларда, жумладан, Озорбайжоннинг Баку опера театрида Д.Вердининг “Аида” операсида Радамес ролини, Россиянинг Кросноярск театрида Д.Вердининг “Бал-маскарад” операсида Граф-Ричард ролини, Қозоғистоннинг Алма-Ата шаҳри опера театрида Д.Вердининг “Трубадур” ва “Аида” операсида етакчи ролларни ижро этиб, Ўзбекистон опера санъати ютуқларини халқаро майдонда фаол намойиш қилиб келмоқда.</a:t>
                      </a:r>
                      <a:endParaRPr lang="ru-RU" sz="900" b="0" kern="1200" dirty="0" smtClean="0">
                        <a:solidFill>
                          <a:schemeClr val="tx1"/>
                        </a:solidFill>
                        <a:latin typeface="+mn-lt"/>
                        <a:ea typeface="+mn-ea"/>
                        <a:cs typeface="Times New Roman" pitchFamily="18" charset="0"/>
                      </a:endParaRPr>
                    </a:p>
                    <a:p>
                      <a:pPr marL="0" indent="179388" algn="just"/>
                      <a:r>
                        <a:rPr lang="uz-Cyrl-UZ" sz="900" b="0" kern="1200" dirty="0" smtClean="0">
                          <a:solidFill>
                            <a:schemeClr val="tx1"/>
                          </a:solidFill>
                          <a:latin typeface="+mn-lt"/>
                          <a:ea typeface="+mn-ea"/>
                          <a:cs typeface="Times New Roman" pitchFamily="18" charset="0"/>
                        </a:rPr>
                        <a:t>Н.М.Хабибов ўз истеъдоди билан 1986 йили Ўзбекистон Республикаси Вокалистлар танловининг 2-ўрин соҳиби, 1987 йили бўлиб ўтган Глиэр номидаги халқаро вокалистларнинг 12-кўрик-танлови совриндори, 2008 йил Джакомонинг 150 йиллигига бағишлаб ўтказилган халқаро фестивалнинг</a:t>
                      </a:r>
                      <a:r>
                        <a:rPr lang="uz-Cyrl-UZ" sz="900" b="0" kern="1200" baseline="0" dirty="0" smtClean="0">
                          <a:solidFill>
                            <a:schemeClr val="tx1"/>
                          </a:solidFill>
                          <a:latin typeface="+mn-lt"/>
                          <a:ea typeface="+mn-ea"/>
                          <a:cs typeface="Times New Roman" pitchFamily="18" charset="0"/>
                        </a:rPr>
                        <a:t/>
                      </a:r>
                      <a:br>
                        <a:rPr lang="uz-Cyrl-UZ" sz="900" b="0" kern="1200" baseline="0" dirty="0" smtClean="0">
                          <a:solidFill>
                            <a:schemeClr val="tx1"/>
                          </a:solidFill>
                          <a:latin typeface="+mn-lt"/>
                          <a:ea typeface="+mn-ea"/>
                          <a:cs typeface="Times New Roman" pitchFamily="18" charset="0"/>
                        </a:rPr>
                      </a:br>
                      <a:r>
                        <a:rPr lang="uz-Cyrl-UZ" sz="900" b="0" kern="1200" dirty="0" smtClean="0">
                          <a:solidFill>
                            <a:schemeClr val="tx1"/>
                          </a:solidFill>
                          <a:latin typeface="+mn-lt"/>
                          <a:ea typeface="+mn-ea"/>
                          <a:cs typeface="Times New Roman" pitchFamily="18" charset="0"/>
                        </a:rPr>
                        <a:t>2-даражали дипломи соҳиби бўлди.</a:t>
                      </a:r>
                      <a:endParaRPr lang="ru-RU" sz="900" b="0" kern="1200" dirty="0" smtClean="0">
                        <a:solidFill>
                          <a:schemeClr val="tx1"/>
                        </a:solidFill>
                        <a:latin typeface="+mn-lt"/>
                        <a:ea typeface="+mn-ea"/>
                        <a:cs typeface="Times New Roman" pitchFamily="18" charset="0"/>
                      </a:endParaRPr>
                    </a:p>
                    <a:p>
                      <a:pPr marL="0" indent="179388" algn="just"/>
                      <a:r>
                        <a:rPr lang="uz-Cyrl-UZ" sz="900" b="0" kern="1200" dirty="0" smtClean="0">
                          <a:solidFill>
                            <a:schemeClr val="tx1"/>
                          </a:solidFill>
                          <a:latin typeface="+mn-lt"/>
                          <a:ea typeface="+mn-ea"/>
                          <a:cs typeface="Times New Roman" pitchFamily="18" charset="0"/>
                        </a:rPr>
                        <a:t>Шунингдек, 2011 йил Шимолий Кореяда ўтказилган Бутун дунё халқаро мусиқа фестивалида тенор овозлар ичида ғолиб чиқиб, олий даражали мукофот сохиби бўлган.</a:t>
                      </a:r>
                      <a:endParaRPr lang="ru-RU" sz="900" b="0" kern="1200" dirty="0" smtClean="0">
                        <a:solidFill>
                          <a:schemeClr val="tx1"/>
                        </a:solidFill>
                        <a:latin typeface="+mn-lt"/>
                        <a:ea typeface="+mn-ea"/>
                        <a:cs typeface="Times New Roman" pitchFamily="18" charset="0"/>
                      </a:endParaRPr>
                    </a:p>
                    <a:p>
                      <a:pPr marL="0" indent="179388" algn="just"/>
                      <a:r>
                        <a:rPr lang="uz-Cyrl-UZ" sz="900" b="0" kern="1200" dirty="0" smtClean="0">
                          <a:solidFill>
                            <a:schemeClr val="tx1"/>
                          </a:solidFill>
                          <a:latin typeface="+mn-lt"/>
                          <a:ea typeface="+mn-ea"/>
                          <a:cs typeface="Times New Roman" pitchFamily="18" charset="0"/>
                        </a:rPr>
                        <a:t>Республика миқёсидаги “Наврўз”, “Мустақиллик” умумхалқ байрамлари ва бошқа оммавий-маданий тадбирларда ҳамда ҳалқаро учрашувларда фаол иштирок этиб келмоқда.</a:t>
                      </a:r>
                      <a:endParaRPr lang="ru-RU" sz="1800" b="0" kern="1200" dirty="0" smtClean="0">
                        <a:solidFill>
                          <a:schemeClr val="tx1"/>
                        </a:solidFill>
                        <a:latin typeface="+mn-lt"/>
                        <a:ea typeface="+mn-ea"/>
                        <a:cs typeface="+mn-cs"/>
                      </a:endParaRPr>
                    </a:p>
                    <a:p>
                      <a:pPr algn="just">
                        <a:lnSpc>
                          <a:spcPct val="85000"/>
                        </a:lnSpc>
                      </a:pP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3170">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0"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0"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342534">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Picture 2" descr="Синхабиби Нематилла"/>
          <p:cNvPicPr>
            <a:picLocks noChangeAspect="1" noChangeArrowheads="1"/>
          </p:cNvPicPr>
          <p:nvPr/>
        </p:nvPicPr>
        <p:blipFill>
          <a:blip r:embed="rId2" cstate="print"/>
          <a:srcRect/>
          <a:stretch>
            <a:fillRect/>
          </a:stretch>
        </p:blipFill>
        <p:spPr bwMode="auto">
          <a:xfrm>
            <a:off x="227889" y="1209864"/>
            <a:ext cx="897924" cy="1156648"/>
          </a:xfrm>
          <a:prstGeom prst="rect">
            <a:avLst/>
          </a:prstGeom>
          <a:noFill/>
          <a:ln w="9525">
            <a:noFill/>
            <a:miter lim="800000"/>
            <a:headEnd/>
            <a:tailEnd/>
          </a:ln>
        </p:spPr>
      </p:pic>
      <p:sp>
        <p:nvSpPr>
          <p:cNvPr id="8" name="Прямоугольник 7">
            <a:extLst>
              <a:ext uri="{FF2B5EF4-FFF2-40B4-BE49-F238E27FC236}">
                <a16:creationId xmlns:a16="http://schemas.microsoft.com/office/drawing/2014/main" id="{5A9AA459-1519-4154-AF5D-18C6732B0658}"/>
              </a:ext>
            </a:extLst>
          </p:cNvPr>
          <p:cNvSpPr/>
          <p:nvPr/>
        </p:nvSpPr>
        <p:spPr>
          <a:xfrm>
            <a:off x="138896" y="557305"/>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spTree>
    <p:extLst>
      <p:ext uri="{BB962C8B-B14F-4D97-AF65-F5344CB8AC3E}">
        <p14:creationId xmlns:p14="http://schemas.microsoft.com/office/powerpoint/2010/main" val="2210443688"/>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38896" y="865689"/>
          <a:ext cx="3343436" cy="5934132"/>
        </p:xfrm>
        <a:graphic>
          <a:graphicData uri="http://schemas.openxmlformats.org/drawingml/2006/table">
            <a:tbl>
              <a:tblPr firstRow="1" bandRow="1">
                <a:tableStyleId>{C083E6E3-FA7D-4D7B-A595-EF9225AFEA82}</a:tableStyleId>
              </a:tblPr>
              <a:tblGrid>
                <a:gridCol w="604588">
                  <a:extLst>
                    <a:ext uri="{9D8B030D-6E8A-4147-A177-3AD203B41FA5}">
                      <a16:colId xmlns:a16="http://schemas.microsoft.com/office/drawing/2014/main" val="2288412290"/>
                    </a:ext>
                  </a:extLst>
                </a:gridCol>
                <a:gridCol w="410034">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2128">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28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kern="1200" dirty="0" smtClean="0">
                          <a:solidFill>
                            <a:schemeClr val="tx1"/>
                          </a:solidFill>
                          <a:effectLst/>
                          <a:latin typeface="+mn-lt"/>
                          <a:ea typeface="+mn-ea"/>
                          <a:cs typeface="Times New Roman" panose="02020603050405020304" pitchFamily="18" charset="0"/>
                        </a:rPr>
                        <a:t>ХАМРАЕВА</a:t>
                      </a:r>
                      <a:endParaRPr lang="ru-RU" sz="9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042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a:solidFill>
                            <a:schemeClr val="tx1"/>
                          </a:solidFill>
                          <a:effectLst/>
                          <a:latin typeface="+mn-lt"/>
                          <a:ea typeface="+mn-ea"/>
                          <a:cs typeface="Times New Roman" panose="02020603050405020304" pitchFamily="18" charset="0"/>
                        </a:rPr>
                        <a:t>Надира</a:t>
                      </a:r>
                      <a:endParaRPr lang="uz-Cyrl-UZ" sz="9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20042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a:solidFill>
                            <a:schemeClr val="tx1"/>
                          </a:solidFill>
                          <a:effectLst/>
                          <a:latin typeface="+mn-lt"/>
                          <a:ea typeface="+mn-ea"/>
                          <a:cs typeface="Times New Roman" panose="02020603050405020304" pitchFamily="18" charset="0"/>
                        </a:rPr>
                        <a:t>Михайловна</a:t>
                      </a:r>
                      <a:endParaRPr lang="uz-Cyrl-UZ" sz="9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28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Times New Roman" panose="02020603050405020304" pitchFamily="18" charset="0"/>
                        </a:rPr>
                        <a:t>ЎЗБЕК</a:t>
                      </a:r>
                      <a:endParaRPr lang="ru-RU" sz="9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20042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a:solidFill>
                            <a:schemeClr val="tx1"/>
                          </a:solidFill>
                          <a:effectLst/>
                          <a:latin typeface="+mn-lt"/>
                          <a:ea typeface="+mn-ea"/>
                          <a:cs typeface="Times New Roman" panose="02020603050405020304" pitchFamily="18" charset="0"/>
                        </a:rPr>
                        <a:t>19.11.1985</a:t>
                      </a:r>
                      <a:endParaRPr lang="ru-RU" sz="9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0042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a:solidFill>
                            <a:schemeClr val="tx1"/>
                          </a:solidFill>
                          <a:latin typeface="+mn-lt"/>
                          <a:ea typeface="+mn-ea"/>
                          <a:cs typeface="Times New Roman" panose="02020603050405020304" pitchFamily="18" charset="0"/>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9771">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29806">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Times New Roman" panose="02020603050405020304" pitchFamily="18" charset="0"/>
                          <a:cs typeface="Times New Roman" panose="02020603050405020304" pitchFamily="18" charset="0"/>
                        </a:rPr>
                        <a:t>Оилавий ва ижтимоий ахволи:</a:t>
                      </a:r>
                      <a:endParaRPr lang="uz-Cyrl-UZ" sz="800" b="1" dirty="0">
                        <a:solidFill>
                          <a:schemeClr val="bg1"/>
                        </a:solidFill>
                        <a:latin typeface="Times New Roman" panose="02020603050405020304" pitchFamily="18" charset="0"/>
                        <a:cs typeface="Times New Roman" panose="02020603050405020304" pitchFamily="18"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800" b="0" kern="1200" noProof="0" dirty="0">
                          <a:solidFill>
                            <a:schemeClr val="tx1"/>
                          </a:solidFill>
                          <a:latin typeface="Times New Roman" panose="02020603050405020304" pitchFamily="18" charset="0"/>
                          <a:ea typeface="+mn-ea"/>
                          <a:cs typeface="Times New Roman" panose="02020603050405020304" pitchFamily="18" charset="0"/>
                        </a:rPr>
                        <a:t>Оилали, 1 нафар ўғил фарзанди </a:t>
                      </a:r>
                      <a:r>
                        <a:rPr lang="uz-Cyrl-UZ" sz="800" b="0" kern="1200" noProof="0" dirty="0" smtClean="0">
                          <a:solidFill>
                            <a:schemeClr val="tx1"/>
                          </a:solidFill>
                          <a:latin typeface="Times New Roman" panose="02020603050405020304" pitchFamily="18" charset="0"/>
                          <a:ea typeface="+mn-ea"/>
                          <a:cs typeface="Times New Roman" panose="02020603050405020304" pitchFamily="18" charset="0"/>
                        </a:rPr>
                        <a:t>бор</a:t>
                      </a:r>
                      <a:endParaRPr lang="uz-Cyrl-UZ" sz="800" b="0" kern="1200" noProof="0" dirty="0">
                        <a:solidFill>
                          <a:schemeClr val="tx1"/>
                        </a:solidFill>
                        <a:latin typeface="Times New Roman" panose="02020603050405020304" pitchFamily="18" charset="0"/>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9771">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30836">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a:solidFill>
                            <a:schemeClr val="tx1"/>
                          </a:solidFill>
                          <a:effectLst/>
                          <a:latin typeface="+mn-lt"/>
                          <a:ea typeface="+mn-ea"/>
                          <a:cs typeface="Times New Roman" panose="02020603050405020304" pitchFamily="18" charset="0"/>
                        </a:rPr>
                        <a:t>Худковский</a:t>
                      </a:r>
                      <a:r>
                        <a:rPr lang="ru-RU" sz="900" kern="1200" dirty="0">
                          <a:solidFill>
                            <a:schemeClr val="tx1"/>
                          </a:solidFill>
                          <a:effectLst/>
                          <a:latin typeface="+mn-lt"/>
                          <a:ea typeface="+mn-ea"/>
                          <a:cs typeface="Times New Roman" panose="02020603050405020304" pitchFamily="18" charset="0"/>
                        </a:rPr>
                        <a:t> Миха</a:t>
                      </a:r>
                      <a:r>
                        <a:rPr lang="uz-Cyrl-UZ" sz="900" kern="1200" dirty="0">
                          <a:solidFill>
                            <a:schemeClr val="tx1"/>
                          </a:solidFill>
                          <a:effectLst/>
                          <a:latin typeface="+mn-lt"/>
                          <a:ea typeface="+mn-ea"/>
                          <a:cs typeface="Times New Roman" panose="02020603050405020304" pitchFamily="18" charset="0"/>
                        </a:rPr>
                        <a:t>и</a:t>
                      </a:r>
                      <a:r>
                        <a:rPr lang="ru-RU" sz="900" kern="1200" dirty="0">
                          <a:solidFill>
                            <a:schemeClr val="tx1"/>
                          </a:solidFill>
                          <a:effectLst/>
                          <a:latin typeface="+mn-lt"/>
                          <a:ea typeface="+mn-ea"/>
                          <a:cs typeface="Times New Roman" panose="02020603050405020304" pitchFamily="18" charset="0"/>
                        </a:rPr>
                        <a:t>л </a:t>
                      </a:r>
                      <a:r>
                        <a:rPr lang="en-US" sz="900" kern="1200" dirty="0">
                          <a:solidFill>
                            <a:schemeClr val="tx1"/>
                          </a:solidFill>
                          <a:effectLst/>
                          <a:latin typeface="+mn-lt"/>
                          <a:ea typeface="+mn-ea"/>
                          <a:cs typeface="Times New Roman" panose="02020603050405020304" pitchFamily="18" charset="0"/>
                        </a:rPr>
                        <a:t>         </a:t>
                      </a:r>
                      <a:r>
                        <a:rPr lang="ru-RU" sz="900" kern="1200" dirty="0">
                          <a:solidFill>
                            <a:schemeClr val="tx1"/>
                          </a:solidFill>
                          <a:effectLst/>
                          <a:latin typeface="+mn-lt"/>
                          <a:ea typeface="+mn-ea"/>
                          <a:cs typeface="Times New Roman" panose="02020603050405020304" pitchFamily="18" charset="0"/>
                        </a:rPr>
                        <a:t>Аркадьевич</a:t>
                      </a:r>
                    </a:p>
                    <a:p>
                      <a:pPr algn="l">
                        <a:lnSpc>
                          <a:spcPct val="85000"/>
                        </a:lnSpc>
                      </a:pPr>
                      <a:r>
                        <a:rPr lang="ru-RU"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1945 йил</a:t>
                      </a:r>
                      <a:r>
                        <a:rPr lang="uz-Cyrl-UZ" sz="900" b="0" kern="1200" noProof="0" dirty="0">
                          <a:solidFill>
                            <a:schemeClr val="tx1"/>
                          </a:solidFill>
                          <a:latin typeface="+mn-lt"/>
                          <a:ea typeface="+mn-ea"/>
                          <a:cs typeface="Times New Roman" panose="02020603050405020304" pitchFamily="18" charset="0"/>
                        </a:rPr>
                        <a:t>, Тошкент </a:t>
                      </a:r>
                      <a:r>
                        <a:rPr lang="uz-Cyrl-UZ" sz="900" b="0" kern="1200" noProof="0" dirty="0" smtClean="0">
                          <a:solidFill>
                            <a:schemeClr val="tx1"/>
                          </a:solidFill>
                          <a:latin typeface="+mn-lt"/>
                          <a:ea typeface="+mn-ea"/>
                          <a:cs typeface="Times New Roman" panose="02020603050405020304" pitchFamily="18" charset="0"/>
                        </a:rPr>
                        <a:t>шаҳри</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err="1" smtClean="0">
                          <a:solidFill>
                            <a:schemeClr val="tx1"/>
                          </a:solidFill>
                          <a:latin typeface="+mn-lt"/>
                          <a:ea typeface="+mn-ea"/>
                          <a:cs typeface="Times New Roman" panose="02020603050405020304" pitchFamily="18" charset="0"/>
                        </a:rPr>
                        <a:t>Пенсияда</a:t>
                      </a:r>
                      <a:r>
                        <a:rPr lang="ru-RU" sz="900" b="0" kern="1200" noProof="0" dirty="0" smtClean="0">
                          <a:solidFill>
                            <a:schemeClr val="tx1"/>
                          </a:solidFill>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(“Метрогидротранс” дастурловчиси)</a:t>
                      </a:r>
                      <a:endParaRPr lang="ru-RU"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92365">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a:solidFill>
                            <a:schemeClr val="tx1"/>
                          </a:solidFill>
                          <a:effectLst/>
                          <a:latin typeface="+mn-lt"/>
                          <a:ea typeface="+mn-ea"/>
                          <a:cs typeface="Times New Roman" panose="02020603050405020304" pitchFamily="18" charset="0"/>
                        </a:rPr>
                        <a:t>Хамраева</a:t>
                      </a:r>
                      <a:r>
                        <a:rPr lang="en-US" sz="900" kern="1200" dirty="0">
                          <a:solidFill>
                            <a:schemeClr val="tx1"/>
                          </a:solidFill>
                          <a:effectLst/>
                          <a:latin typeface="+mn-lt"/>
                          <a:ea typeface="+mn-ea"/>
                          <a:cs typeface="Times New Roman" panose="02020603050405020304" pitchFamily="18" charset="0"/>
                        </a:rPr>
                        <a:t> </a:t>
                      </a:r>
                      <a:r>
                        <a:rPr lang="ru-RU" sz="900" kern="1200" dirty="0">
                          <a:solidFill>
                            <a:schemeClr val="tx1"/>
                          </a:solidFill>
                          <a:effectLst/>
                          <a:latin typeface="+mn-lt"/>
                          <a:ea typeface="+mn-ea"/>
                          <a:cs typeface="Times New Roman" panose="02020603050405020304" pitchFamily="18" charset="0"/>
                        </a:rPr>
                        <a:t>Гули </a:t>
                      </a:r>
                      <a:r>
                        <a:rPr lang="uz-Cyrl-UZ" sz="900" kern="1200" dirty="0" smtClean="0">
                          <a:solidFill>
                            <a:schemeClr val="tx1"/>
                          </a:solidFill>
                          <a:effectLst/>
                          <a:latin typeface="+mn-lt"/>
                          <a:ea typeface="+mn-ea"/>
                          <a:cs typeface="Times New Roman" panose="02020603050405020304" pitchFamily="18" charset="0"/>
                        </a:rPr>
                        <a:t>Разаковна</a:t>
                      </a:r>
                    </a:p>
                    <a:p>
                      <a:pPr algn="l">
                        <a:lnSpc>
                          <a:spcPct val="85000"/>
                        </a:lnSpc>
                      </a:pPr>
                      <a:r>
                        <a:rPr lang="uz-Cyrl-UZ" sz="900" kern="1200" dirty="0" smtClean="0">
                          <a:solidFill>
                            <a:schemeClr val="tx1"/>
                          </a:solidFill>
                          <a:effectLst/>
                          <a:latin typeface="+mn-lt"/>
                          <a:ea typeface="+mn-ea"/>
                          <a:cs typeface="Times New Roman" panose="02020603050405020304" pitchFamily="18" charset="0"/>
                        </a:rPr>
                        <a:t>1946</a:t>
                      </a:r>
                      <a:r>
                        <a:rPr lang="uz-Cyrl-UZ" sz="900" b="0" kern="1200" noProof="0" dirty="0" smtClean="0">
                          <a:solidFill>
                            <a:schemeClr val="tx1"/>
                          </a:solidFill>
                          <a:latin typeface="+mn-lt"/>
                          <a:ea typeface="+mn-ea"/>
                          <a:cs typeface="Times New Roman" panose="02020603050405020304" pitchFamily="18" charset="0"/>
                        </a:rPr>
                        <a:t> йил, Тошкент шаҳри</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a:solidFill>
                            <a:schemeClr val="tx1"/>
                          </a:solidFill>
                          <a:effectLst/>
                          <a:latin typeface="+mn-lt"/>
                          <a:ea typeface="+mn-ea"/>
                          <a:cs typeface="Times New Roman" panose="02020603050405020304" pitchFamily="18" charset="0"/>
                        </a:rPr>
                        <a:t>2023 йилда вафот этган </a:t>
                      </a:r>
                      <a:r>
                        <a:rPr lang="uz-Cyrl-UZ" sz="900" kern="1200" dirty="0" smtClean="0">
                          <a:solidFill>
                            <a:schemeClr val="tx1"/>
                          </a:solidFill>
                          <a:effectLst/>
                          <a:latin typeface="+mn-lt"/>
                          <a:ea typeface="+mn-ea"/>
                          <a:cs typeface="Times New Roman" panose="02020603050405020304" pitchFamily="18" charset="0"/>
                        </a:rPr>
                        <a:t>(театри</a:t>
                      </a:r>
                      <a:r>
                        <a:rPr lang="uz-Cyrl-UZ" sz="900" kern="1200" baseline="0" dirty="0" smtClean="0">
                          <a:solidFill>
                            <a:schemeClr val="tx1"/>
                          </a:solidFill>
                          <a:effectLst/>
                          <a:latin typeface="+mn-lt"/>
                          <a:ea typeface="+mn-ea"/>
                          <a:cs typeface="Times New Roman" panose="02020603050405020304" pitchFamily="18" charset="0"/>
                        </a:rPr>
                        <a:t> </a:t>
                      </a:r>
                      <a:r>
                        <a:rPr lang="uz-Cyrl-UZ" sz="900" kern="1200" dirty="0" smtClean="0">
                          <a:solidFill>
                            <a:schemeClr val="tx1"/>
                          </a:solidFill>
                          <a:effectLst/>
                          <a:latin typeface="+mn-lt"/>
                          <a:ea typeface="+mn-ea"/>
                          <a:cs typeface="Times New Roman" panose="02020603050405020304" pitchFamily="18" charset="0"/>
                        </a:rPr>
                        <a:t>балетмейстери</a:t>
                      </a:r>
                      <a:r>
                        <a:rPr lang="uz-Cyrl-UZ" sz="900" kern="1200" dirty="0">
                          <a:solidFill>
                            <a:schemeClr val="tx1"/>
                          </a:solidFill>
                          <a:effectLst/>
                          <a:latin typeface="+mn-lt"/>
                          <a:ea typeface="+mn-ea"/>
                          <a:cs typeface="Times New Roman" panose="02020603050405020304" pitchFamily="18" charset="0"/>
                        </a:rPr>
                        <a:t>)</a:t>
                      </a:r>
                      <a:endParaRPr lang="ru-RU"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312668">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6601">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909426">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Times New Roman" panose="02020603050405020304" pitchFamily="18" charset="0"/>
                        </a:rPr>
                        <a:t>2012 й. Тошкент Давлат Миллий рақс ва хореография олий мактаби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кундузги</a:t>
                      </a:r>
                      <a:r>
                        <a:rPr lang="ru-RU" sz="900" kern="1200" dirty="0">
                          <a:solidFill>
                            <a:schemeClr val="tx1"/>
                          </a:solidFill>
                          <a:effectLst/>
                          <a:latin typeface="+mn-lt"/>
                          <a:ea typeface="+mn-ea"/>
                          <a:cs typeface="Times New Roman" panose="02020603050405020304" pitchFamily="18" charset="0"/>
                        </a:rPr>
                        <a:t>), </a:t>
                      </a:r>
                    </a:p>
                    <a:p>
                      <a:r>
                        <a:rPr lang="uz-Cyrl-UZ" sz="900" kern="1200" dirty="0">
                          <a:solidFill>
                            <a:schemeClr val="tx1"/>
                          </a:solidFill>
                          <a:effectLst/>
                          <a:latin typeface="+mn-lt"/>
                          <a:ea typeface="+mn-ea"/>
                          <a:cs typeface="Times New Roman" panose="02020603050405020304" pitchFamily="18" charset="0"/>
                        </a:rPr>
                        <a:t>                                                                               </a:t>
                      </a:r>
                      <a:r>
                        <a:rPr lang="ru-RU" sz="900" kern="1200" dirty="0">
                          <a:solidFill>
                            <a:schemeClr val="tx1"/>
                          </a:solidFill>
                          <a:effectLst/>
                          <a:latin typeface="+mn-lt"/>
                          <a:ea typeface="+mn-ea"/>
                          <a:cs typeface="Times New Roman" panose="02020603050405020304" pitchFamily="18" charset="0"/>
                        </a:rPr>
                        <a:t>2015 й. </a:t>
                      </a:r>
                      <a:r>
                        <a:rPr lang="uz-Cyrl-UZ" sz="900" kern="1200" dirty="0">
                          <a:solidFill>
                            <a:schemeClr val="tx1"/>
                          </a:solidFill>
                          <a:effectLst/>
                          <a:latin typeface="+mn-lt"/>
                          <a:ea typeface="+mn-ea"/>
                          <a:cs typeface="Times New Roman" panose="02020603050405020304" pitchFamily="18" charset="0"/>
                        </a:rPr>
                        <a:t>Тошкент Давлат Миллий рақс ва хореография олий мактаби (</a:t>
                      </a:r>
                      <a:r>
                        <a:rPr lang="ru-RU" sz="900" kern="1200" dirty="0">
                          <a:solidFill>
                            <a:schemeClr val="tx1"/>
                          </a:solidFill>
                          <a:effectLst/>
                          <a:latin typeface="+mn-lt"/>
                          <a:ea typeface="+mn-ea"/>
                          <a:cs typeface="Times New Roman" panose="02020603050405020304" pitchFamily="18" charset="0"/>
                        </a:rPr>
                        <a:t>магистратура</a:t>
                      </a:r>
                      <a:r>
                        <a:rPr lang="uz-Cyrl-UZ" sz="900" kern="1200" dirty="0">
                          <a:solidFill>
                            <a:schemeClr val="tx1"/>
                          </a:solidFill>
                          <a:effectLst/>
                          <a:latin typeface="+mn-lt"/>
                          <a:ea typeface="+mn-ea"/>
                          <a:cs typeface="Times New Roman" panose="02020603050405020304" pitchFamily="18" charset="0"/>
                        </a:rPr>
                        <a:t>)</a:t>
                      </a:r>
                      <a:endParaRPr lang="ru-RU" sz="900" kern="1200" dirty="0">
                        <a:solidFill>
                          <a:schemeClr val="tx1"/>
                        </a:solidFill>
                        <a:effectLst/>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4324">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Times New Roman" panose="02020603050405020304" pitchFamily="18" charset="0"/>
                        </a:rPr>
                        <a:t>балет артисти, педагог-хореограф</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2668">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Times New Roman" panose="02020603050405020304" pitchFamily="18" charset="0"/>
                        </a:rPr>
                        <a:t>магистр</a:t>
                      </a:r>
                      <a:endParaRPr lang="ru-RU" sz="9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2668">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Times New Roman" panose="02020603050405020304" pitchFamily="18" charset="0"/>
                        </a:rPr>
                        <a:t>рус, инглиз, испан тиллари </a:t>
                      </a:r>
                      <a:endParaRPr lang="ru-RU" sz="9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0836">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Times New Roman" panose="02020603050405020304" pitchFamily="18" charset="0"/>
                        </a:rPr>
                        <a:t>Йўқ</a:t>
                      </a:r>
                      <a:endParaRPr lang="ru-RU"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554180" y="865690"/>
          <a:ext cx="3096634" cy="5939593"/>
        </p:xfrm>
        <a:graphic>
          <a:graphicData uri="http://schemas.openxmlformats.org/drawingml/2006/table">
            <a:tbl>
              <a:tblPr firstRow="1" bandRow="1">
                <a:tableStyleId>{C083E6E3-FA7D-4D7B-A595-EF9225AFEA82}</a:tableStyleId>
              </a:tblPr>
              <a:tblGrid>
                <a:gridCol w="1421035">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22013">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21330">
                <a:tc>
                  <a:txBody>
                    <a:bodyPr/>
                    <a:lstStyle/>
                    <a:p>
                      <a:pPr algn="l">
                        <a:lnSpc>
                          <a:spcPct val="85000"/>
                        </a:lnSpc>
                      </a:pPr>
                      <a:r>
                        <a:rPr lang="uz-Cyrl-UZ" sz="900" b="1" i="0" noProof="0" dirty="0">
                          <a:solidFill>
                            <a:schemeClr val="tx1"/>
                          </a:solidFill>
                          <a:latin typeface="+mn-lt"/>
                          <a:cs typeface="Times New Roman" panose="02020603050405020304" pitchFamily="18" charset="0"/>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dirty="0" smtClean="0">
                          <a:solidFill>
                            <a:schemeClr val="tx1"/>
                          </a:solidFill>
                          <a:effectLst/>
                          <a:latin typeface="+mn-lt"/>
                          <a:ea typeface="+mn-ea"/>
                          <a:cs typeface="Times New Roman" panose="02020603050405020304" pitchFamily="18" charset="0"/>
                        </a:rPr>
                        <a:t>Алишер </a:t>
                      </a:r>
                      <a:r>
                        <a:rPr lang="uz-Cyrl-UZ" sz="900" b="0" kern="1200" dirty="0">
                          <a:solidFill>
                            <a:schemeClr val="tx1"/>
                          </a:solidFill>
                          <a:effectLst/>
                          <a:latin typeface="+mn-lt"/>
                          <a:ea typeface="+mn-ea"/>
                          <a:cs typeface="Times New Roman" panose="02020603050405020304" pitchFamily="18" charset="0"/>
                        </a:rPr>
                        <a:t>Навоий номидаги Ўзбекистон давлат академик катта театри балет артисти</a:t>
                      </a:r>
                      <a:endParaRPr lang="ru-RU" sz="900" b="0" kern="1200" dirty="0">
                        <a:solidFill>
                          <a:schemeClr val="tx1"/>
                        </a:solidFill>
                        <a:effectLst/>
                        <a:latin typeface="+mn-lt"/>
                        <a:ea typeface="+mn-ea"/>
                        <a:cs typeface="Times New Roman" panose="02020603050405020304" pitchFamily="18" charset="0"/>
                      </a:endParaRPr>
                    </a:p>
                    <a:p>
                      <a:pPr marL="0" indent="0" algn="l">
                        <a:lnSpc>
                          <a:spcPct val="85000"/>
                        </a:lnSpc>
                      </a:pPr>
                      <a:r>
                        <a:rPr lang="uz-Cyrl-UZ" sz="900" b="0" kern="1200" dirty="0">
                          <a:solidFill>
                            <a:schemeClr val="tx1"/>
                          </a:solidFill>
                          <a:effectLst/>
                          <a:latin typeface="+mn-lt"/>
                          <a:ea typeface="+mn-ea"/>
                          <a:cs typeface="Times New Roman" panose="02020603050405020304" pitchFamily="18" charset="0"/>
                        </a:rPr>
                        <a:t> </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40279">
                <a:tc>
                  <a:txBody>
                    <a:bodyPr/>
                    <a:lstStyle/>
                    <a:p>
                      <a:pPr algn="l">
                        <a:lnSpc>
                          <a:spcPct val="85000"/>
                        </a:lnSpc>
                      </a:pPr>
                      <a:r>
                        <a:rPr lang="uz-Cyrl-UZ" sz="900" b="1" i="0" noProof="0" dirty="0">
                          <a:solidFill>
                            <a:schemeClr val="tx1"/>
                          </a:solidFill>
                          <a:latin typeface="+mn-lt"/>
                          <a:cs typeface="Times New Roman" panose="02020603050405020304" pitchFamily="18" charset="0"/>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Times New Roman" panose="02020603050405020304" pitchFamily="18" charset="0"/>
                        </a:rPr>
                        <a:t>Й</a:t>
                      </a:r>
                      <a:r>
                        <a:rPr lang="ru-RU" sz="900" b="0" kern="1200" noProof="0" dirty="0" err="1">
                          <a:solidFill>
                            <a:schemeClr val="tx1"/>
                          </a:solidFill>
                          <a:latin typeface="+mn-lt"/>
                          <a:ea typeface="+mn-ea"/>
                          <a:cs typeface="Times New Roman" panose="02020603050405020304" pitchFamily="18" charset="0"/>
                        </a:rPr>
                        <a:t>ўқ</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683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b="0" noProof="0" dirty="0">
                          <a:effectLst/>
                          <a:latin typeface="+mn-lt"/>
                          <a:ea typeface="Calibri" panose="020F0502020204030204" pitchFamily="34" charset="0"/>
                          <a:cs typeface="Times New Roman" panose="02020603050405020304" pitchFamily="18" charset="0"/>
                        </a:rPr>
                        <a:t>22</a:t>
                      </a:r>
                      <a:r>
                        <a:rPr lang="uz-Cyrl-UZ" sz="900" b="0" noProof="0" dirty="0">
                          <a:effectLst/>
                          <a:latin typeface="+mn-lt"/>
                          <a:ea typeface="Calibri" panose="020F0502020204030204" pitchFamily="34" charset="0"/>
                          <a:cs typeface="Times New Roman" panose="02020603050405020304" pitchFamily="18" charset="0"/>
                        </a:rPr>
                        <a:t>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263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5741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84338">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251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5902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0251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2858">
                <a:tc gridSpan="2">
                  <a:txBody>
                    <a:bodyPr/>
                    <a:lstStyle/>
                    <a:p>
                      <a:pPr algn="ctr"/>
                      <a:r>
                        <a:rPr lang="uz-Cyrl-UZ" sz="9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999357">
                <a:tc gridSpan="2">
                  <a:txBody>
                    <a:bodyPr/>
                    <a:lstStyle/>
                    <a:p>
                      <a:pPr algn="just"/>
                      <a:r>
                        <a:rPr lang="uz-Cyrl-UZ" sz="900" b="0" kern="1200" dirty="0">
                          <a:solidFill>
                            <a:schemeClr val="tx1"/>
                          </a:solidFill>
                          <a:effectLst/>
                          <a:latin typeface="+mn-lt"/>
                          <a:ea typeface="+mn-ea"/>
                          <a:cs typeface="Times New Roman" panose="02020603050405020304" pitchFamily="18" charset="0"/>
                        </a:rPr>
                        <a:t>2003 </a:t>
                      </a:r>
                      <a:r>
                        <a:rPr lang="uz-Cyrl-UZ" sz="900" b="0" kern="1200" dirty="0" smtClean="0">
                          <a:solidFill>
                            <a:schemeClr val="tx1"/>
                          </a:solidFill>
                          <a:effectLst/>
                          <a:latin typeface="+mn-lt"/>
                          <a:ea typeface="+mn-ea"/>
                          <a:cs typeface="Times New Roman" panose="02020603050405020304" pitchFamily="18" charset="0"/>
                        </a:rPr>
                        <a:t>йил  </a:t>
                      </a:r>
                      <a:r>
                        <a:rPr lang="uz-Cyrl-UZ" sz="900" b="0" kern="1200" dirty="0">
                          <a:solidFill>
                            <a:schemeClr val="tx1"/>
                          </a:solidFill>
                          <a:effectLst/>
                          <a:latin typeface="+mn-lt"/>
                          <a:ea typeface="+mn-ea"/>
                          <a:cs typeface="Times New Roman" panose="02020603050405020304" pitchFamily="18" charset="0"/>
                        </a:rPr>
                        <a:t>“Ниҳол” давлат мукофоти </a:t>
                      </a:r>
                      <a:endParaRPr lang="en-US" sz="900" b="0" kern="1200" dirty="0">
                        <a:solidFill>
                          <a:schemeClr val="tx1"/>
                        </a:solidFill>
                        <a:effectLst/>
                        <a:latin typeface="+mn-lt"/>
                        <a:ea typeface="+mn-ea"/>
                        <a:cs typeface="Times New Roman" panose="02020603050405020304" pitchFamily="18" charset="0"/>
                      </a:endParaRPr>
                    </a:p>
                    <a:p>
                      <a:pPr algn="just"/>
                      <a:r>
                        <a:rPr lang="uz-Cyrl-UZ" sz="900" b="0" kern="1200" dirty="0">
                          <a:solidFill>
                            <a:schemeClr val="tx1"/>
                          </a:solidFill>
                          <a:effectLst/>
                          <a:latin typeface="+mn-lt"/>
                          <a:ea typeface="+mn-ea"/>
                          <a:cs typeface="Times New Roman" panose="02020603050405020304" pitchFamily="18" charset="0"/>
                        </a:rPr>
                        <a:t>2004 </a:t>
                      </a:r>
                      <a:r>
                        <a:rPr lang="uz-Cyrl-UZ" sz="900" b="0" kern="1200" dirty="0" smtClean="0">
                          <a:solidFill>
                            <a:schemeClr val="tx1"/>
                          </a:solidFill>
                          <a:effectLst/>
                          <a:latin typeface="+mn-lt"/>
                          <a:ea typeface="+mn-ea"/>
                          <a:cs typeface="Times New Roman" panose="02020603050405020304" pitchFamily="18" charset="0"/>
                        </a:rPr>
                        <a:t>йил </a:t>
                      </a:r>
                      <a:r>
                        <a:rPr lang="uz-Cyrl-UZ" sz="900" b="0" kern="1200" dirty="0">
                          <a:solidFill>
                            <a:schemeClr val="tx1"/>
                          </a:solidFill>
                          <a:effectLst/>
                          <a:latin typeface="+mn-lt"/>
                          <a:ea typeface="+mn-ea"/>
                          <a:cs typeface="Times New Roman" panose="02020603050405020304" pitchFamily="18" charset="0"/>
                        </a:rPr>
                        <a:t>“9-Халқаро Рига фестивали” лауреати</a:t>
                      </a:r>
                      <a:endParaRPr lang="en-US" sz="900" b="0" kern="1200" dirty="0">
                        <a:solidFill>
                          <a:schemeClr val="tx1"/>
                        </a:solidFill>
                        <a:effectLst/>
                        <a:latin typeface="+mn-lt"/>
                        <a:ea typeface="+mn-ea"/>
                        <a:cs typeface="Times New Roman" panose="02020603050405020304" pitchFamily="18" charset="0"/>
                      </a:endParaRPr>
                    </a:p>
                    <a:p>
                      <a:pPr algn="just"/>
                      <a:r>
                        <a:rPr lang="uz-Cyrl-UZ" sz="900" b="0" kern="1200" dirty="0">
                          <a:solidFill>
                            <a:schemeClr val="tx1"/>
                          </a:solidFill>
                          <a:effectLst/>
                          <a:latin typeface="+mn-lt"/>
                          <a:ea typeface="+mn-ea"/>
                          <a:cs typeface="Times New Roman" panose="02020603050405020304" pitchFamily="18" charset="0"/>
                        </a:rPr>
                        <a:t>2006 </a:t>
                      </a:r>
                      <a:r>
                        <a:rPr lang="uz-Cyrl-UZ" sz="900" b="0" kern="1200" dirty="0" smtClean="0">
                          <a:solidFill>
                            <a:schemeClr val="tx1"/>
                          </a:solidFill>
                          <a:effectLst/>
                          <a:latin typeface="+mn-lt"/>
                          <a:ea typeface="+mn-ea"/>
                          <a:cs typeface="Times New Roman" panose="02020603050405020304" pitchFamily="18" charset="0"/>
                        </a:rPr>
                        <a:t>йил </a:t>
                      </a:r>
                      <a:r>
                        <a:rPr lang="uz-Cyrl-UZ" sz="900" b="0" kern="1200" dirty="0">
                          <a:solidFill>
                            <a:schemeClr val="tx1"/>
                          </a:solidFill>
                          <a:effectLst/>
                          <a:latin typeface="+mn-lt"/>
                          <a:ea typeface="+mn-ea"/>
                          <a:cs typeface="Times New Roman" panose="02020603050405020304" pitchFamily="18" charset="0"/>
                        </a:rPr>
                        <a:t>“Йилнинг энг яхши балеринаси”</a:t>
                      </a:r>
                      <a:endParaRPr lang="en-US" sz="900" b="0" kern="1200" dirty="0">
                        <a:solidFill>
                          <a:schemeClr val="tx1"/>
                        </a:solidFill>
                        <a:effectLst/>
                        <a:latin typeface="+mn-lt"/>
                        <a:ea typeface="+mn-ea"/>
                        <a:cs typeface="Times New Roman" panose="02020603050405020304" pitchFamily="18"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uz-Cyrl-UZ" sz="900" b="0" kern="1200" dirty="0">
                          <a:solidFill>
                            <a:schemeClr val="tx1"/>
                          </a:solidFill>
                          <a:effectLst/>
                          <a:latin typeface="+mn-lt"/>
                          <a:ea typeface="+mn-ea"/>
                          <a:cs typeface="Times New Roman" panose="02020603050405020304" pitchFamily="18" charset="0"/>
                        </a:rPr>
                        <a:t>2009 </a:t>
                      </a:r>
                      <a:r>
                        <a:rPr lang="uz-Cyrl-UZ" sz="900" b="0" kern="1200" dirty="0" smtClean="0">
                          <a:solidFill>
                            <a:schemeClr val="tx1"/>
                          </a:solidFill>
                          <a:effectLst/>
                          <a:latin typeface="+mn-lt"/>
                          <a:ea typeface="+mn-ea"/>
                          <a:cs typeface="Times New Roman" panose="02020603050405020304" pitchFamily="18" charset="0"/>
                        </a:rPr>
                        <a:t>йил </a:t>
                      </a:r>
                      <a:r>
                        <a:rPr lang="uz-Cyrl-UZ" sz="900" b="0" kern="1200" dirty="0">
                          <a:solidFill>
                            <a:schemeClr val="tx1"/>
                          </a:solidFill>
                          <a:effectLst/>
                          <a:latin typeface="+mn-lt"/>
                          <a:ea typeface="+mn-ea"/>
                          <a:cs typeface="Times New Roman" panose="02020603050405020304" pitchFamily="18" charset="0"/>
                        </a:rPr>
                        <a:t>“Балет санъатининг келажак юлдузи”</a:t>
                      </a:r>
                      <a:endParaRPr lang="en-US" sz="900" b="0" kern="1200" dirty="0">
                        <a:solidFill>
                          <a:schemeClr val="tx1"/>
                        </a:solidFill>
                        <a:effectLst/>
                        <a:latin typeface="+mn-lt"/>
                        <a:ea typeface="+mn-ea"/>
                        <a:cs typeface="Times New Roman" panose="02020603050405020304" pitchFamily="18"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uz-Cyrl-UZ" sz="900" b="0" kern="1200" dirty="0">
                          <a:solidFill>
                            <a:schemeClr val="tx1"/>
                          </a:solidFill>
                          <a:effectLst/>
                          <a:latin typeface="+mn-lt"/>
                          <a:ea typeface="+mn-ea"/>
                          <a:cs typeface="Times New Roman" panose="02020603050405020304" pitchFamily="18" charset="0"/>
                        </a:rPr>
                        <a:t> 2010 </a:t>
                      </a:r>
                      <a:r>
                        <a:rPr lang="uz-Cyrl-UZ" sz="900" b="0" kern="1200" dirty="0" smtClean="0">
                          <a:solidFill>
                            <a:schemeClr val="tx1"/>
                          </a:solidFill>
                          <a:effectLst/>
                          <a:latin typeface="+mn-lt"/>
                          <a:ea typeface="+mn-ea"/>
                          <a:cs typeface="Times New Roman" panose="02020603050405020304" pitchFamily="18" charset="0"/>
                        </a:rPr>
                        <a:t>йил </a:t>
                      </a:r>
                      <a:r>
                        <a:rPr lang="uz-Cyrl-UZ" sz="900" b="0" kern="1200" dirty="0">
                          <a:solidFill>
                            <a:schemeClr val="tx1"/>
                          </a:solidFill>
                          <a:effectLst/>
                          <a:latin typeface="+mn-lt"/>
                          <a:ea typeface="+mn-ea"/>
                          <a:cs typeface="Times New Roman" panose="02020603050405020304" pitchFamily="18" charset="0"/>
                        </a:rPr>
                        <a:t>“Ўзбекистон Республикасида хизмат кўрсатган артист” фахрий унвони</a:t>
                      </a:r>
                      <a:endParaRPr lang="en-US" sz="900" b="0" kern="1200" dirty="0">
                        <a:solidFill>
                          <a:schemeClr val="tx1"/>
                        </a:solidFill>
                        <a:effectLst/>
                        <a:latin typeface="+mn-lt"/>
                        <a:ea typeface="+mn-ea"/>
                        <a:cs typeface="Times New Roman" panose="02020603050405020304" pitchFamily="18" charset="0"/>
                      </a:endParaRPr>
                    </a:p>
                    <a:p>
                      <a:pPr algn="just"/>
                      <a:r>
                        <a:rPr lang="uz-Cyrl-UZ" sz="900" b="0" kern="1200" dirty="0">
                          <a:solidFill>
                            <a:schemeClr val="tx1"/>
                          </a:solidFill>
                          <a:effectLst/>
                          <a:latin typeface="+mn-lt"/>
                          <a:ea typeface="+mn-ea"/>
                          <a:cs typeface="Times New Roman" panose="02020603050405020304" pitchFamily="18" charset="0"/>
                        </a:rPr>
                        <a:t>2011 </a:t>
                      </a:r>
                      <a:r>
                        <a:rPr lang="uz-Cyrl-UZ" sz="900" b="0" kern="1200" dirty="0" smtClean="0">
                          <a:solidFill>
                            <a:schemeClr val="tx1"/>
                          </a:solidFill>
                          <a:effectLst/>
                          <a:latin typeface="+mn-lt"/>
                          <a:ea typeface="+mn-ea"/>
                          <a:cs typeface="Times New Roman" panose="02020603050405020304" pitchFamily="18" charset="0"/>
                        </a:rPr>
                        <a:t>йил </a:t>
                      </a:r>
                      <a:r>
                        <a:rPr lang="uz-Cyrl-UZ" sz="900" b="0" kern="1200" dirty="0">
                          <a:solidFill>
                            <a:schemeClr val="tx1"/>
                          </a:solidFill>
                          <a:effectLst/>
                          <a:latin typeface="+mn-lt"/>
                          <a:ea typeface="+mn-ea"/>
                          <a:cs typeface="Times New Roman" panose="02020603050405020304" pitchFamily="18" charset="0"/>
                        </a:rPr>
                        <a:t>“Йилнинг энг яхши балет артисти”</a:t>
                      </a:r>
                      <a:endParaRPr lang="en-US" sz="900" b="0" kern="1200" dirty="0">
                        <a:solidFill>
                          <a:schemeClr val="tx1"/>
                        </a:solidFill>
                        <a:effectLst/>
                        <a:latin typeface="+mn-lt"/>
                        <a:ea typeface="+mn-ea"/>
                        <a:cs typeface="Times New Roman" panose="02020603050405020304" pitchFamily="18" charset="0"/>
                      </a:endParaRPr>
                    </a:p>
                    <a:p>
                      <a:pPr algn="just"/>
                      <a:r>
                        <a:rPr lang="uz-Cyrl-UZ" sz="900" b="0" kern="1200" dirty="0">
                          <a:solidFill>
                            <a:schemeClr val="tx1"/>
                          </a:solidFill>
                          <a:effectLst/>
                          <a:latin typeface="+mn-lt"/>
                          <a:ea typeface="+mn-ea"/>
                          <a:cs typeface="Times New Roman" panose="02020603050405020304" pitchFamily="18" charset="0"/>
                        </a:rPr>
                        <a:t>2018  </a:t>
                      </a:r>
                      <a:r>
                        <a:rPr lang="uz-Cyrl-UZ" sz="900" b="0" kern="1200" dirty="0" smtClean="0">
                          <a:solidFill>
                            <a:schemeClr val="tx1"/>
                          </a:solidFill>
                          <a:effectLst/>
                          <a:latin typeface="+mn-lt"/>
                          <a:ea typeface="+mn-ea"/>
                          <a:cs typeface="Times New Roman" panose="02020603050405020304" pitchFamily="18" charset="0"/>
                        </a:rPr>
                        <a:t>йил </a:t>
                      </a:r>
                      <a:r>
                        <a:rPr lang="uz-Cyrl-UZ" sz="900" b="0" kern="1200" dirty="0">
                          <a:solidFill>
                            <a:schemeClr val="tx1"/>
                          </a:solidFill>
                          <a:effectLst/>
                          <a:latin typeface="+mn-lt"/>
                          <a:ea typeface="+mn-ea"/>
                          <a:cs typeface="Times New Roman" panose="02020603050405020304" pitchFamily="18" charset="0"/>
                        </a:rPr>
                        <a:t>“Йил балет артисти”</a:t>
                      </a:r>
                      <a:endParaRPr lang="ru-RU" sz="900" b="0"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722663" y="869287"/>
          <a:ext cx="3044442" cy="5930534"/>
        </p:xfrm>
        <a:graphic>
          <a:graphicData uri="http://schemas.openxmlformats.org/drawingml/2006/table">
            <a:tbl>
              <a:tblPr firstRow="1" bandRow="1">
                <a:tableStyleId>{C083E6E3-FA7D-4D7B-A595-EF9225AFEA82}</a:tableStyleId>
              </a:tblPr>
              <a:tblGrid>
                <a:gridCol w="3044442">
                  <a:extLst>
                    <a:ext uri="{9D8B030D-6E8A-4147-A177-3AD203B41FA5}">
                      <a16:colId xmlns:a16="http://schemas.microsoft.com/office/drawing/2014/main" val="2715609854"/>
                    </a:ext>
                  </a:extLst>
                </a:gridCol>
              </a:tblGrid>
              <a:tr h="236484">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09816">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876720">
                <a:tc>
                  <a:txBody>
                    <a:bodyPr/>
                    <a:lstStyle/>
                    <a:p>
                      <a:pPr marL="0" indent="179388" algn="just"/>
                      <a:r>
                        <a:rPr lang="uz-Cyrl-UZ" sz="900" b="0" kern="1200" dirty="0" smtClean="0">
                          <a:solidFill>
                            <a:schemeClr val="tx1"/>
                          </a:solidFill>
                          <a:effectLst/>
                          <a:latin typeface="+mn-lt"/>
                          <a:ea typeface="+mn-ea"/>
                          <a:cs typeface="Times New Roman" panose="02020603050405020304" pitchFamily="18" charset="0"/>
                        </a:rPr>
                        <a:t>Н.Хамраева</a:t>
                      </a:r>
                      <a:r>
                        <a:rPr lang="uz-Cyrl-UZ" sz="900" b="0" kern="1200" baseline="0" dirty="0" smtClean="0">
                          <a:solidFill>
                            <a:schemeClr val="tx1"/>
                          </a:solidFill>
                          <a:effectLst/>
                          <a:latin typeface="+mn-lt"/>
                          <a:ea typeface="+mn-ea"/>
                          <a:cs typeface="Times New Roman" panose="02020603050405020304" pitchFamily="18" charset="0"/>
                        </a:rPr>
                        <a:t> </a:t>
                      </a:r>
                      <a:r>
                        <a:rPr lang="uz-Cyrl-UZ" sz="900" b="0" kern="1200" dirty="0" smtClean="0">
                          <a:solidFill>
                            <a:schemeClr val="tx1"/>
                          </a:solidFill>
                          <a:effectLst/>
                          <a:latin typeface="+mn-lt"/>
                          <a:ea typeface="+mn-ea"/>
                          <a:cs typeface="Times New Roman" panose="02020603050405020304" pitchFamily="18" charset="0"/>
                        </a:rPr>
                        <a:t>юксак </a:t>
                      </a:r>
                      <a:r>
                        <a:rPr lang="uz-Cyrl-UZ" sz="900" b="0" kern="1200" dirty="0">
                          <a:solidFill>
                            <a:schemeClr val="tx1"/>
                          </a:solidFill>
                          <a:effectLst/>
                          <a:latin typeface="+mn-lt"/>
                          <a:ea typeface="+mn-ea"/>
                          <a:cs typeface="Times New Roman" panose="02020603050405020304" pitchFamily="18" charset="0"/>
                        </a:rPr>
                        <a:t>малакали балерина, классик ва миллий балет спектаклларида етакчи партияларнинг моҳир ижрочиси. Унинг ижросидаги “Оққуш кўли” балетидаги Одетта-Одилия, “Шелкунчик”даги Мари, “Уйқудаги малика”даги малика Аврора, “Жизель”даги Жизель, </a:t>
                      </a:r>
                      <a:r>
                        <a:rPr lang="uz-Cyrl-UZ" sz="900" b="0" kern="1200" dirty="0" smtClean="0">
                          <a:solidFill>
                            <a:schemeClr val="tx1"/>
                          </a:solidFill>
                          <a:effectLst/>
                          <a:latin typeface="+mn-lt"/>
                          <a:ea typeface="+mn-ea"/>
                          <a:cs typeface="Times New Roman" panose="02020603050405020304" pitchFamily="18" charset="0"/>
                        </a:rPr>
                        <a:t>“</a:t>
                      </a:r>
                      <a:r>
                        <a:rPr lang="uz-Cyrl-UZ" sz="900" b="0" kern="1200" dirty="0">
                          <a:solidFill>
                            <a:schemeClr val="tx1"/>
                          </a:solidFill>
                          <a:effectLst/>
                          <a:latin typeface="+mn-lt"/>
                          <a:ea typeface="+mn-ea"/>
                          <a:cs typeface="Times New Roman" panose="02020603050405020304" pitchFamily="18" charset="0"/>
                        </a:rPr>
                        <a:t>Икки дил достони”даги Комде, “Дама с Камелиями”даги Маргарита, “Франческа да Римини”даги Франческа каби қатор образлари томошабинлар эътиборига тушган. Айниқса, “Дама с Камелиями” балетидаги Маргарита образини Нодира Хамраева нафис ҳамда нозик дид билан жонли, эсда қоларли моҳирона тарзда ижро этиб томошабинлар олқишига сазовор бўлди.   </a:t>
                      </a:r>
                      <a:endParaRPr lang="ru-RU" sz="900" b="0" kern="1200" dirty="0">
                        <a:solidFill>
                          <a:schemeClr val="tx1"/>
                        </a:solidFill>
                        <a:effectLst/>
                        <a:latin typeface="+mn-lt"/>
                        <a:ea typeface="+mn-ea"/>
                        <a:cs typeface="Times New Roman" panose="02020603050405020304" pitchFamily="18" charset="0"/>
                      </a:endParaRPr>
                    </a:p>
                    <a:p>
                      <a:pPr marL="0" indent="179388" algn="just"/>
                      <a:r>
                        <a:rPr lang="uz-Cyrl-UZ" sz="900" b="0" kern="1200" dirty="0">
                          <a:solidFill>
                            <a:schemeClr val="tx1"/>
                          </a:solidFill>
                          <a:effectLst/>
                          <a:latin typeface="+mn-lt"/>
                          <a:ea typeface="+mn-ea"/>
                          <a:cs typeface="Times New Roman" panose="02020603050405020304" pitchFamily="18" charset="0"/>
                        </a:rPr>
                        <a:t>У театрдаги фаолияти билан биргаликда Тошкент давлат миллий рақс ва хореография Олий мактабида ҳам бўлажак балет артистларига ўз билим ва малакасини тажрибали устоз сифатида етказиб бермоқда ҳамда бу борада яхши натижаларга эришган. </a:t>
                      </a:r>
                      <a:endParaRPr lang="ru-RU" sz="900" b="0" kern="1200" dirty="0">
                        <a:solidFill>
                          <a:schemeClr val="tx1"/>
                        </a:solidFill>
                        <a:effectLst/>
                        <a:latin typeface="+mn-lt"/>
                        <a:ea typeface="+mn-ea"/>
                        <a:cs typeface="Times New Roman" panose="02020603050405020304" pitchFamily="18" charset="0"/>
                      </a:endParaRPr>
                    </a:p>
                    <a:p>
                      <a:pPr marL="0" indent="179388" algn="just"/>
                      <a:r>
                        <a:rPr lang="uz-Cyrl-UZ" sz="900" b="0" kern="1200" dirty="0" smtClean="0">
                          <a:solidFill>
                            <a:schemeClr val="tx1"/>
                          </a:solidFill>
                          <a:effectLst/>
                          <a:latin typeface="+mn-lt"/>
                          <a:ea typeface="+mn-ea"/>
                          <a:cs typeface="Times New Roman" panose="02020603050405020304" pitchFamily="18" charset="0"/>
                        </a:rPr>
                        <a:t>2023 йилда ўтказилган  Р. Абдуллаевнинг  “Жалолиддин Мангуберди” спектаклининг премьерасида бош партия - Гулбону образини Н.Хамраева эсда қоларли моҳирона тарзда ижро этиб, томошабинлар олқишига сазовор бўлди.</a:t>
                      </a:r>
                      <a:r>
                        <a:rPr lang="uz-Cyrl-UZ" sz="900" b="0" kern="1200" baseline="0" dirty="0" smtClean="0">
                          <a:solidFill>
                            <a:schemeClr val="tx1"/>
                          </a:solidFill>
                          <a:effectLst/>
                          <a:latin typeface="+mn-lt"/>
                          <a:ea typeface="+mn-ea"/>
                          <a:cs typeface="Times New Roman" panose="02020603050405020304" pitchFamily="18" charset="0"/>
                        </a:rPr>
                        <a:t> </a:t>
                      </a:r>
                      <a:r>
                        <a:rPr lang="uz-Cyrl-UZ" sz="900" b="0" kern="1200" dirty="0" smtClean="0">
                          <a:solidFill>
                            <a:schemeClr val="tx1"/>
                          </a:solidFill>
                          <a:effectLst/>
                          <a:latin typeface="+mn-lt"/>
                          <a:ea typeface="+mn-ea"/>
                          <a:cs typeface="Times New Roman" panose="02020603050405020304" pitchFamily="18" charset="0"/>
                        </a:rPr>
                        <a:t>Нодира  </a:t>
                      </a:r>
                      <a:r>
                        <a:rPr lang="uz-Cyrl-UZ" sz="900" b="0" kern="1200" dirty="0">
                          <a:solidFill>
                            <a:schemeClr val="tx1"/>
                          </a:solidFill>
                          <a:effectLst/>
                          <a:latin typeface="+mn-lt"/>
                          <a:ea typeface="+mn-ea"/>
                          <a:cs typeface="Times New Roman" panose="02020603050405020304" pitchFamily="18" charset="0"/>
                        </a:rPr>
                        <a:t>Хамраева  Республикамизнинг  маънавий  ва  маданий  ҳаётида  фаол  иштирок  этиб,   кўплаб  давлат   даражасидаги  тадбирларда, “Мустақиллик”  ва  “Наврўз”  байрам  тантаналарида,  театрнинг  балет труппаси таркибида  жаҳоннинг  куплаб  мамлакатларида, жумладан, Таиланд, Малайзия, Туркия, Япония, Хитой, Сингапур, Ҳиндистон, Италия, Озарбайжон, Германия   ва  бошқа  мамлакатларда  ижодий  гастроль  сафарларида  балет солисти сифатида фаол иштирок этиб келмоқда.</a:t>
                      </a:r>
                      <a:endParaRPr lang="ru-RU" sz="900" b="0" kern="1200" dirty="0">
                        <a:solidFill>
                          <a:schemeClr val="tx1"/>
                        </a:solidFill>
                        <a:effectLst/>
                        <a:latin typeface="+mn-lt"/>
                        <a:ea typeface="+mn-ea"/>
                        <a:cs typeface="Times New Roman" panose="02020603050405020304" pitchFamily="18" charset="0"/>
                      </a:endParaRPr>
                    </a:p>
                    <a:p>
                      <a:pPr marL="0" indent="179388" algn="just"/>
                      <a:r>
                        <a:rPr lang="uz-Cyrl-UZ" sz="900" b="0" kern="1200" dirty="0">
                          <a:solidFill>
                            <a:schemeClr val="tx1"/>
                          </a:solidFill>
                          <a:effectLst/>
                          <a:latin typeface="+mn-lt"/>
                          <a:ea typeface="+mn-ea"/>
                          <a:cs typeface="Times New Roman" panose="02020603050405020304" pitchFamily="18" charset="0"/>
                        </a:rPr>
                        <a:t>Н.Хамраева ўз касбининг фидойиси ҳамда юқори малакали фаол раққоса сифатида жамоадошлари орасида обрў-эътибор қозонган. </a:t>
                      </a:r>
                      <a:endParaRPr lang="ru-RU" sz="900" kern="1200" dirty="0">
                        <a:solidFill>
                          <a:schemeClr val="tx1"/>
                        </a:solidFill>
                        <a:effectLst/>
                        <a:latin typeface="+mn-lt"/>
                        <a:ea typeface="+mn-ea"/>
                        <a:cs typeface="Times New Roman" panose="02020603050405020304" pitchFamily="18" charset="0"/>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6544">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900" b="1" noProof="0" dirty="0">
                          <a:solidFill>
                            <a:srgbClr val="C00000"/>
                          </a:solidFill>
                          <a:effectLst/>
                          <a:latin typeface="+mn-lt"/>
                          <a:ea typeface="Calibri" panose="020F0502020204030204" pitchFamily="34" charset="0"/>
                          <a:cs typeface="Times New Roman" panose="02020603050405020304" pitchFamily="18" charset="0"/>
                        </a:rPr>
                        <a:t>Давлат тадбирларидаги иштироки:</a:t>
                      </a:r>
                      <a:endParaRPr lang="ru-RU" sz="900" b="1" dirty="0">
                        <a:effectLst/>
                        <a:latin typeface="+mn-lt"/>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50970">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kern="1200" dirty="0" smtClean="0">
                          <a:solidFill>
                            <a:schemeClr val="tx1"/>
                          </a:solidFill>
                          <a:effectLst/>
                          <a:latin typeface="+mn-lt"/>
                          <a:ea typeface="+mn-ea"/>
                          <a:cs typeface="Times New Roman" panose="02020603050405020304" pitchFamily="18" charset="0"/>
                        </a:rPr>
                        <a:t>Нодира  Хамраева  Республикамизнинг  маънавий  ва  маданий  ҳаётида,  кўплаб  давлат   даражасидаги  тадбирларда фаол  иштирок  этиб келмоқда. </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9" name="Рисунок 8">
            <a:extLst>
              <a:ext uri="{FF2B5EF4-FFF2-40B4-BE49-F238E27FC236}">
                <a16:creationId xmlns:a16="http://schemas.microsoft.com/office/drawing/2014/main" id="{031734D5-2A9C-F8C4-1846-C3E6F7DF63D4}"/>
              </a:ext>
            </a:extLst>
          </p:cNvPr>
          <p:cNvPicPr>
            <a:picLocks noChangeAspect="1"/>
          </p:cNvPicPr>
          <p:nvPr/>
        </p:nvPicPr>
        <p:blipFill>
          <a:blip r:embed="rId2"/>
          <a:stretch>
            <a:fillRect/>
          </a:stretch>
        </p:blipFill>
        <p:spPr>
          <a:xfrm>
            <a:off x="265106" y="1157914"/>
            <a:ext cx="756845" cy="1051886"/>
          </a:xfrm>
          <a:prstGeom prst="rect">
            <a:avLst/>
          </a:prstGeom>
        </p:spPr>
      </p:pic>
    </p:spTree>
    <p:extLst>
      <p:ext uri="{BB962C8B-B14F-4D97-AF65-F5344CB8AC3E}">
        <p14:creationId xmlns:p14="http://schemas.microsoft.com/office/powerpoint/2010/main" val="3992355971"/>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38896" y="865691"/>
          <a:ext cx="3343436" cy="5933332"/>
        </p:xfrm>
        <a:graphic>
          <a:graphicData uri="http://schemas.openxmlformats.org/drawingml/2006/table">
            <a:tbl>
              <a:tblPr firstRow="1" bandRow="1">
                <a:tableStyleId>{C083E6E3-FA7D-4D7B-A595-EF9225AFEA82}</a:tableStyleId>
              </a:tblPr>
              <a:tblGrid>
                <a:gridCol w="511079">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188855">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67168">
                <a:tc rowSpan="6" gridSpan="2">
                  <a:txBody>
                    <a:bodyPr/>
                    <a:lstStyle/>
                    <a:p>
                      <a:pPr algn="l">
                        <a:lnSpc>
                          <a:spcPct val="90000"/>
                        </a:lnSpc>
                      </a:pPr>
                      <a:endParaRPr lang="uz-Cyrl-UZ" sz="500" b="0" dirty="0">
                        <a:latin typeface="+mn-lt"/>
                      </a:endParaRPr>
                    </a:p>
                    <a:p>
                      <a:pPr algn="l">
                        <a:lnSpc>
                          <a:spcPct val="90000"/>
                        </a:lnSpc>
                      </a:pPr>
                      <a:endParaRPr lang="ru-RU" sz="500" b="0" dirty="0">
                        <a:latin typeface="+mn-lt"/>
                      </a:endParaRPr>
                    </a:p>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ru-RU" sz="900" b="0" kern="1200" dirty="0" smtClean="0">
                          <a:solidFill>
                            <a:schemeClr val="tx1"/>
                          </a:solidFill>
                          <a:effectLst/>
                          <a:latin typeface="+mn-lt"/>
                          <a:ea typeface="+mn-ea"/>
                          <a:cs typeface="Times New Roman" panose="02020603050405020304" pitchFamily="18" charset="0"/>
                        </a:rPr>
                        <a:t>ХАСАНОВА</a:t>
                      </a:r>
                      <a:endParaRPr lang="ru-RU" sz="900" b="0" kern="1200" dirty="0">
                        <a:solidFill>
                          <a:schemeClr val="tx1"/>
                        </a:solidFill>
                        <a:effectLst/>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5632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900" b="0" kern="1200" dirty="0" err="1">
                          <a:solidFill>
                            <a:schemeClr val="tx1"/>
                          </a:solidFill>
                          <a:effectLst/>
                          <a:latin typeface="+mn-lt"/>
                          <a:ea typeface="+mn-ea"/>
                          <a:cs typeface="Times New Roman" panose="02020603050405020304" pitchFamily="18" charset="0"/>
                        </a:rPr>
                        <a:t>Нозима</a:t>
                      </a:r>
                      <a:endParaRPr lang="uz-Cyrl-UZ" sz="9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5632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900" b="0" kern="1200" dirty="0" err="1">
                          <a:solidFill>
                            <a:schemeClr val="tx1"/>
                          </a:solidFill>
                          <a:effectLst/>
                          <a:latin typeface="+mn-lt"/>
                          <a:ea typeface="+mn-ea"/>
                          <a:cs typeface="Times New Roman" panose="02020603050405020304" pitchFamily="18" charset="0"/>
                        </a:rPr>
                        <a:t>Самукжановна</a:t>
                      </a:r>
                      <a:endParaRPr lang="uz-Cyrl-UZ" sz="9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47641">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sz="900" dirty="0">
                        <a:latin typeface="+mn-lt"/>
                      </a:endParaRPr>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Times New Roman" panose="02020603050405020304" pitchFamily="18" charset="0"/>
                        </a:rPr>
                        <a:t>ЎЗБЕК</a:t>
                      </a:r>
                      <a:endParaRPr lang="ru-RU" sz="9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5632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a:solidFill>
                            <a:schemeClr val="tx1"/>
                          </a:solidFill>
                          <a:effectLst/>
                          <a:latin typeface="+mn-lt"/>
                          <a:ea typeface="+mn-ea"/>
                          <a:cs typeface="Times New Roman" panose="02020603050405020304" pitchFamily="18" charset="0"/>
                        </a:rPr>
                        <a:t>17.01.1975</a:t>
                      </a:r>
                      <a:endParaRPr lang="ru-RU" sz="9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5632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a:solidFill>
                            <a:schemeClr val="tx1"/>
                          </a:solidFill>
                          <a:latin typeface="+mn-lt"/>
                          <a:ea typeface="+mn-ea"/>
                          <a:cs typeface="Times New Roman" panose="02020603050405020304" pitchFamily="18" charset="0"/>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179216">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36043">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cs typeface="Times New Roman" panose="02020603050405020304" pitchFamily="18" charset="0"/>
                        </a:rPr>
                        <a:t>Оилавий ва ижтимоий ахволи:</a:t>
                      </a:r>
                      <a:endParaRPr lang="uz-Cyrl-UZ" sz="900" b="1" dirty="0">
                        <a:solidFill>
                          <a:schemeClr val="bg1"/>
                        </a:solidFill>
                        <a:latin typeface="+mn-lt"/>
                        <a:cs typeface="Times New Roman" panose="02020603050405020304" pitchFamily="18"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algn="ctr"/>
                      <a:r>
                        <a:rPr lang="uz-Cyrl-UZ" sz="900" b="0" kern="1200" noProof="0" dirty="0">
                          <a:solidFill>
                            <a:schemeClr val="tx1"/>
                          </a:solidFill>
                          <a:latin typeface="+mn-lt"/>
                          <a:ea typeface="+mn-ea"/>
                          <a:cs typeface="Times New Roman" panose="02020603050405020304" pitchFamily="18" charset="0"/>
                        </a:rPr>
                        <a:t>Оилали, 2 нафар ўғил фарзанди </a:t>
                      </a:r>
                      <a:r>
                        <a:rPr lang="uz-Cyrl-UZ" sz="900" b="0" kern="1200" noProof="0" dirty="0" smtClean="0">
                          <a:solidFill>
                            <a:schemeClr val="tx1"/>
                          </a:solidFill>
                          <a:latin typeface="+mn-lt"/>
                          <a:ea typeface="+mn-ea"/>
                          <a:cs typeface="Times New Roman" panose="02020603050405020304" pitchFamily="18" charset="0"/>
                        </a:rPr>
                        <a:t>бор</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179216">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368572">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ru-RU" sz="900" kern="1200" dirty="0">
                          <a:solidFill>
                            <a:schemeClr val="tx1"/>
                          </a:solidFill>
                          <a:effectLst/>
                          <a:latin typeface="+mn-lt"/>
                          <a:ea typeface="+mn-ea"/>
                          <a:cs typeface="Times New Roman" panose="02020603050405020304" pitchFamily="18" charset="0"/>
                        </a:rPr>
                        <a:t>Умаров </a:t>
                      </a:r>
                      <a:r>
                        <a:rPr lang="ru-RU" sz="900" kern="1200" dirty="0" err="1">
                          <a:solidFill>
                            <a:schemeClr val="tx1"/>
                          </a:solidFill>
                          <a:effectLst/>
                          <a:latin typeface="+mn-lt"/>
                          <a:ea typeface="+mn-ea"/>
                          <a:cs typeface="Times New Roman" panose="02020603050405020304" pitchFamily="18" charset="0"/>
                        </a:rPr>
                        <a:t>Самукжон</a:t>
                      </a:r>
                      <a:r>
                        <a:rPr lang="ru-RU" sz="900" kern="1200" dirty="0">
                          <a:solidFill>
                            <a:schemeClr val="tx1"/>
                          </a:solidFill>
                          <a:effectLst/>
                          <a:latin typeface="+mn-lt"/>
                          <a:ea typeface="+mn-ea"/>
                          <a:cs typeface="Times New Roman" panose="02020603050405020304" pitchFamily="18" charset="0"/>
                        </a:rPr>
                        <a:t> 1942 </a:t>
                      </a:r>
                      <a:r>
                        <a:rPr lang="ru-RU" sz="900" kern="1200" dirty="0" err="1">
                          <a:solidFill>
                            <a:schemeClr val="tx1"/>
                          </a:solidFill>
                          <a:effectLst/>
                          <a:latin typeface="+mn-lt"/>
                          <a:ea typeface="+mn-ea"/>
                          <a:cs typeface="Times New Roman" panose="02020603050405020304" pitchFamily="18" charset="0"/>
                        </a:rPr>
                        <a:t>йил</a:t>
                      </a:r>
                      <a:r>
                        <a:rPr lang="uz-Cyrl-UZ" sz="900" kern="1200" dirty="0">
                          <a:solidFill>
                            <a:schemeClr val="tx1"/>
                          </a:solidFill>
                          <a:effectLst/>
                          <a:latin typeface="+mn-lt"/>
                          <a:ea typeface="+mn-ea"/>
                          <a:cs typeface="Times New Roman" panose="02020603050405020304" pitchFamily="18" charset="0"/>
                        </a:rPr>
                        <a:t>,</a:t>
                      </a:r>
                      <a:endParaRPr lang="ru-RU" sz="900" kern="1200" dirty="0">
                        <a:solidFill>
                          <a:schemeClr val="tx1"/>
                        </a:solidFill>
                        <a:effectLst/>
                        <a:latin typeface="+mn-lt"/>
                        <a:ea typeface="+mn-ea"/>
                        <a:cs typeface="Times New Roman" panose="02020603050405020304" pitchFamily="18" charset="0"/>
                      </a:endParaRPr>
                    </a:p>
                    <a:p>
                      <a:r>
                        <a:rPr lang="ru-RU" sz="900" kern="1200" dirty="0" err="1">
                          <a:solidFill>
                            <a:schemeClr val="tx1"/>
                          </a:solidFill>
                          <a:effectLst/>
                          <a:latin typeface="+mn-lt"/>
                          <a:ea typeface="+mn-ea"/>
                          <a:cs typeface="Times New Roman" panose="02020603050405020304" pitchFamily="18" charset="0"/>
                        </a:rPr>
                        <a:t>Тошкент</a:t>
                      </a:r>
                      <a:r>
                        <a:rPr lang="uz-Cyrl-UZ" sz="900" kern="1200" dirty="0">
                          <a:solidFill>
                            <a:schemeClr val="tx1"/>
                          </a:solidFill>
                          <a:effectLst/>
                          <a:latin typeface="+mn-lt"/>
                          <a:ea typeface="+mn-ea"/>
                          <a:cs typeface="Times New Roman" panose="02020603050405020304" pitchFamily="18" charset="0"/>
                        </a:rPr>
                        <a:t> шаҳри</a:t>
                      </a:r>
                      <a:endParaRPr lang="uz-Cyrl-UZ" sz="900" b="0" kern="1200" noProof="0" dirty="0">
                        <a:solidFill>
                          <a:schemeClr val="tx1"/>
                        </a:solidFill>
                        <a:latin typeface="+mn-lt"/>
                        <a:ea typeface="+mn-ea"/>
                        <a:cs typeface="Times New Roman" panose="02020603050405020304" pitchFamily="18" charset="0"/>
                      </a:endParaRPr>
                    </a:p>
                    <a:p>
                      <a:pPr algn="l">
                        <a:lnSpc>
                          <a:spcPct val="85000"/>
                        </a:lnSpc>
                      </a:pP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ru-RU" sz="900" kern="1200" dirty="0">
                          <a:solidFill>
                            <a:schemeClr val="tx1"/>
                          </a:solidFill>
                          <a:effectLst/>
                          <a:latin typeface="+mn-lt"/>
                          <a:ea typeface="+mn-ea"/>
                          <a:cs typeface="Times New Roman" panose="02020603050405020304" pitchFamily="18" charset="0"/>
                        </a:rPr>
                        <a:t>2004 </a:t>
                      </a:r>
                      <a:r>
                        <a:rPr lang="ru-RU" sz="900" kern="1200" dirty="0" err="1">
                          <a:solidFill>
                            <a:schemeClr val="tx1"/>
                          </a:solidFill>
                          <a:effectLst/>
                          <a:latin typeface="+mn-lt"/>
                          <a:ea typeface="+mn-ea"/>
                          <a:cs typeface="Times New Roman" panose="02020603050405020304" pitchFamily="18" charset="0"/>
                        </a:rPr>
                        <a:t>йил</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вафот</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этган</a:t>
                      </a:r>
                      <a:endParaRPr lang="ru-RU" sz="900" kern="1200" dirty="0">
                        <a:solidFill>
                          <a:schemeClr val="tx1"/>
                        </a:solidFill>
                        <a:effectLst/>
                        <a:latin typeface="+mn-lt"/>
                        <a:ea typeface="+mn-ea"/>
                        <a:cs typeface="Times New Roman" panose="02020603050405020304" pitchFamily="18" charset="0"/>
                      </a:endParaRPr>
                    </a:p>
                    <a:p>
                      <a:r>
                        <a:rPr lang="ru-RU" sz="900" kern="1200" dirty="0">
                          <a:solidFill>
                            <a:schemeClr val="tx1"/>
                          </a:solidFill>
                          <a:effectLst/>
                          <a:latin typeface="+mn-lt"/>
                          <a:ea typeface="+mn-ea"/>
                          <a:cs typeface="Times New Roman" panose="02020603050405020304" pitchFamily="18" charset="0"/>
                        </a:rPr>
                        <a:t> </a:t>
                      </a:r>
                      <a:r>
                        <a:rPr lang="ru-RU" sz="900" kern="1200" dirty="0" smtClean="0">
                          <a:solidFill>
                            <a:schemeClr val="tx1"/>
                          </a:solidFill>
                          <a:effectLst/>
                          <a:latin typeface="+mn-lt"/>
                          <a:ea typeface="+mn-ea"/>
                          <a:cs typeface="Times New Roman" panose="02020603050405020304" pitchFamily="18" charset="0"/>
                        </a:rPr>
                        <a:t>(2 -</a:t>
                      </a:r>
                      <a:r>
                        <a:rPr lang="ru-RU" sz="900" kern="1200" dirty="0" err="1" smtClean="0">
                          <a:solidFill>
                            <a:schemeClr val="tx1"/>
                          </a:solidFill>
                          <a:effectLst/>
                          <a:latin typeface="+mn-lt"/>
                          <a:ea typeface="+mn-ea"/>
                          <a:cs typeface="Times New Roman" panose="02020603050405020304" pitchFamily="18" charset="0"/>
                        </a:rPr>
                        <a:t>гураҳ</a:t>
                      </a:r>
                      <a:r>
                        <a:rPr lang="ru-RU" sz="900" kern="1200" dirty="0" smtClean="0">
                          <a:solidFill>
                            <a:schemeClr val="tx1"/>
                          </a:solidFill>
                          <a:effectLst/>
                          <a:latin typeface="+mn-lt"/>
                          <a:ea typeface="+mn-ea"/>
                          <a:cs typeface="Times New Roman" panose="02020603050405020304" pitchFamily="18" charset="0"/>
                        </a:rPr>
                        <a:t> </a:t>
                      </a:r>
                      <a:r>
                        <a:rPr lang="ru-RU" sz="900" kern="1200" dirty="0" err="1" smtClean="0">
                          <a:solidFill>
                            <a:schemeClr val="tx1"/>
                          </a:solidFill>
                          <a:effectLst/>
                          <a:latin typeface="+mn-lt"/>
                          <a:ea typeface="+mn-ea"/>
                          <a:cs typeface="Times New Roman" panose="02020603050405020304" pitchFamily="18" charset="0"/>
                        </a:rPr>
                        <a:t>ногирони</a:t>
                      </a:r>
                      <a:r>
                        <a:rPr lang="ru-RU" sz="900" kern="1200" dirty="0" smtClean="0">
                          <a:solidFill>
                            <a:schemeClr val="tx1"/>
                          </a:solidFill>
                          <a:effectLst/>
                          <a:latin typeface="+mn-lt"/>
                          <a:ea typeface="+mn-ea"/>
                          <a:cs typeface="Times New Roman" panose="02020603050405020304" pitchFamily="18" charset="0"/>
                        </a:rPr>
                        <a:t>)</a:t>
                      </a:r>
                      <a:endParaRPr lang="ru-RU"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77005">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ru-RU" sz="900" kern="1200" dirty="0">
                          <a:solidFill>
                            <a:schemeClr val="tx1"/>
                          </a:solidFill>
                          <a:effectLst/>
                          <a:latin typeface="+mn-lt"/>
                          <a:ea typeface="+mn-ea"/>
                          <a:cs typeface="Times New Roman" panose="02020603050405020304" pitchFamily="18" charset="0"/>
                        </a:rPr>
                        <a:t>Умарова </a:t>
                      </a:r>
                      <a:r>
                        <a:rPr lang="ru-RU" sz="900" kern="1200" dirty="0" err="1">
                          <a:solidFill>
                            <a:schemeClr val="tx1"/>
                          </a:solidFill>
                          <a:effectLst/>
                          <a:latin typeface="+mn-lt"/>
                          <a:ea typeface="+mn-ea"/>
                          <a:cs typeface="Times New Roman" panose="02020603050405020304" pitchFamily="18" charset="0"/>
                        </a:rPr>
                        <a:t>Шахноза</a:t>
                      </a:r>
                      <a:r>
                        <a:rPr lang="ru-RU" sz="900" kern="1200" dirty="0">
                          <a:solidFill>
                            <a:schemeClr val="tx1"/>
                          </a:solidFill>
                          <a:effectLst/>
                          <a:latin typeface="+mn-lt"/>
                          <a:ea typeface="+mn-ea"/>
                          <a:cs typeface="Times New Roman" panose="02020603050405020304" pitchFamily="18" charset="0"/>
                        </a:rPr>
                        <a:t> Рашидовна1947 </a:t>
                      </a:r>
                      <a:r>
                        <a:rPr lang="ru-RU" sz="900" kern="1200" dirty="0" err="1">
                          <a:solidFill>
                            <a:schemeClr val="tx1"/>
                          </a:solidFill>
                          <a:effectLst/>
                          <a:latin typeface="+mn-lt"/>
                          <a:ea typeface="+mn-ea"/>
                          <a:cs typeface="Times New Roman" panose="02020603050405020304" pitchFamily="18" charset="0"/>
                        </a:rPr>
                        <a:t>йил</a:t>
                      </a:r>
                      <a:r>
                        <a:rPr lang="uz-Cyrl-UZ" sz="900" kern="1200" dirty="0">
                          <a:solidFill>
                            <a:schemeClr val="tx1"/>
                          </a:solidFill>
                          <a:effectLst/>
                          <a:latin typeface="+mn-lt"/>
                          <a:ea typeface="+mn-ea"/>
                          <a:cs typeface="Times New Roman" panose="02020603050405020304" pitchFamily="18" charset="0"/>
                        </a:rPr>
                        <a:t>,</a:t>
                      </a:r>
                      <a:endParaRPr lang="ru-RU" sz="900" kern="1200" dirty="0">
                        <a:solidFill>
                          <a:schemeClr val="tx1"/>
                        </a:solidFill>
                        <a:effectLst/>
                        <a:latin typeface="+mn-lt"/>
                        <a:ea typeface="+mn-ea"/>
                        <a:cs typeface="Times New Roman" panose="02020603050405020304" pitchFamily="18" charset="0"/>
                      </a:endParaRPr>
                    </a:p>
                    <a:p>
                      <a:r>
                        <a:rPr lang="ru-RU" sz="900" kern="1200" dirty="0" err="1">
                          <a:solidFill>
                            <a:schemeClr val="tx1"/>
                          </a:solidFill>
                          <a:effectLst/>
                          <a:latin typeface="+mn-lt"/>
                          <a:ea typeface="+mn-ea"/>
                          <a:cs typeface="Times New Roman" panose="02020603050405020304" pitchFamily="18" charset="0"/>
                        </a:rPr>
                        <a:t>Тошкент</a:t>
                      </a:r>
                      <a:r>
                        <a:rPr lang="uz-Cyrl-UZ" sz="900" kern="1200" dirty="0">
                          <a:solidFill>
                            <a:schemeClr val="tx1"/>
                          </a:solidFill>
                          <a:effectLst/>
                          <a:latin typeface="+mn-lt"/>
                          <a:ea typeface="+mn-ea"/>
                          <a:cs typeface="Times New Roman" panose="02020603050405020304" pitchFamily="18" charset="0"/>
                        </a:rPr>
                        <a:t> шаҳри</a:t>
                      </a:r>
                      <a:endParaRPr lang="ru-RU" sz="900" b="0" kern="1200" noProof="0" dirty="0">
                        <a:solidFill>
                          <a:schemeClr val="tx1"/>
                        </a:solidFill>
                        <a:latin typeface="+mn-lt"/>
                        <a:ea typeface="+mn-ea"/>
                        <a:cs typeface="Times New Roman" panose="02020603050405020304" pitchFamily="18" charset="0"/>
                      </a:endParaRPr>
                    </a:p>
                    <a:p>
                      <a:pPr algn="l">
                        <a:lnSpc>
                          <a:spcPct val="85000"/>
                        </a:lnSpc>
                      </a:pP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ru-RU" sz="900" kern="1200" dirty="0">
                          <a:solidFill>
                            <a:schemeClr val="tx1"/>
                          </a:solidFill>
                          <a:effectLst/>
                          <a:latin typeface="+mn-lt"/>
                          <a:ea typeface="+mn-ea"/>
                          <a:cs typeface="Times New Roman" panose="02020603050405020304" pitchFamily="18" charset="0"/>
                        </a:rPr>
                        <a:t>2009 </a:t>
                      </a:r>
                      <a:r>
                        <a:rPr lang="ru-RU" sz="900" kern="1200" dirty="0" err="1">
                          <a:solidFill>
                            <a:schemeClr val="tx1"/>
                          </a:solidFill>
                          <a:effectLst/>
                          <a:latin typeface="+mn-lt"/>
                          <a:ea typeface="+mn-ea"/>
                          <a:cs typeface="Times New Roman" panose="02020603050405020304" pitchFamily="18" charset="0"/>
                        </a:rPr>
                        <a:t>йил</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вафот</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этган</a:t>
                      </a:r>
                      <a:endParaRPr lang="ru-RU" sz="900" kern="1200" dirty="0">
                        <a:solidFill>
                          <a:schemeClr val="tx1"/>
                        </a:solidFill>
                        <a:effectLst/>
                        <a:latin typeface="+mn-lt"/>
                        <a:ea typeface="+mn-ea"/>
                        <a:cs typeface="Times New Roman" panose="02020603050405020304" pitchFamily="18" charset="0"/>
                      </a:endParaRPr>
                    </a:p>
                    <a:p>
                      <a:r>
                        <a:rPr lang="ru-RU" sz="900" kern="1200" dirty="0" smtClean="0">
                          <a:solidFill>
                            <a:schemeClr val="tx1"/>
                          </a:solidFill>
                          <a:effectLst/>
                          <a:latin typeface="+mn-lt"/>
                          <a:ea typeface="+mn-ea"/>
                          <a:cs typeface="Times New Roman" panose="02020603050405020304" pitchFamily="18" charset="0"/>
                        </a:rPr>
                        <a:t>(архитектор) </a:t>
                      </a:r>
                      <a:endParaRPr lang="ru-RU"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92467">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ru-RU" sz="900" kern="1200" dirty="0">
                          <a:solidFill>
                            <a:schemeClr val="tx1"/>
                          </a:solidFill>
                          <a:effectLst/>
                          <a:latin typeface="+mn-lt"/>
                          <a:ea typeface="+mn-ea"/>
                          <a:cs typeface="Times New Roman" panose="02020603050405020304" pitchFamily="18" charset="0"/>
                        </a:rPr>
                        <a:t>Хасанов </a:t>
                      </a:r>
                      <a:r>
                        <a:rPr lang="ru-RU" sz="900" kern="1200" dirty="0" err="1">
                          <a:solidFill>
                            <a:schemeClr val="tx1"/>
                          </a:solidFill>
                          <a:effectLst/>
                          <a:latin typeface="+mn-lt"/>
                          <a:ea typeface="+mn-ea"/>
                          <a:cs typeface="Times New Roman" panose="02020603050405020304" pitchFamily="18" charset="0"/>
                        </a:rPr>
                        <a:t>Баходир</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Абдужалилович</a:t>
                      </a:r>
                      <a:r>
                        <a:rPr lang="ru-RU" sz="900" kern="1200" dirty="0">
                          <a:solidFill>
                            <a:schemeClr val="tx1"/>
                          </a:solidFill>
                          <a:effectLst/>
                          <a:latin typeface="+mn-lt"/>
                          <a:ea typeface="+mn-ea"/>
                          <a:cs typeface="Times New Roman" panose="02020603050405020304" pitchFamily="18" charset="0"/>
                        </a:rPr>
                        <a:t> </a:t>
                      </a:r>
                      <a:endParaRPr lang="ru-RU" sz="900" kern="1200" dirty="0" smtClean="0">
                        <a:solidFill>
                          <a:schemeClr val="tx1"/>
                        </a:solidFill>
                        <a:effectLst/>
                        <a:latin typeface="+mn-lt"/>
                        <a:ea typeface="+mn-ea"/>
                        <a:cs typeface="Times New Roman" panose="02020603050405020304" pitchFamily="18" charset="0"/>
                      </a:endParaRPr>
                    </a:p>
                    <a:p>
                      <a:r>
                        <a:rPr lang="ru-RU" sz="900" kern="1200" dirty="0" smtClean="0">
                          <a:solidFill>
                            <a:schemeClr val="tx1"/>
                          </a:solidFill>
                          <a:effectLst/>
                          <a:latin typeface="+mn-lt"/>
                          <a:ea typeface="+mn-ea"/>
                          <a:cs typeface="Times New Roman" panose="02020603050405020304" pitchFamily="18" charset="0"/>
                        </a:rPr>
                        <a:t>1971 </a:t>
                      </a:r>
                      <a:r>
                        <a:rPr lang="ru-RU" sz="900" kern="1200" dirty="0" err="1">
                          <a:solidFill>
                            <a:schemeClr val="tx1"/>
                          </a:solidFill>
                          <a:effectLst/>
                          <a:latin typeface="+mn-lt"/>
                          <a:ea typeface="+mn-ea"/>
                          <a:cs typeface="Times New Roman" panose="02020603050405020304" pitchFamily="18" charset="0"/>
                        </a:rPr>
                        <a:t>йил</a:t>
                      </a:r>
                      <a:r>
                        <a:rPr lang="uz-Cyrl-UZ" sz="900" kern="1200" dirty="0">
                          <a:solidFill>
                            <a:schemeClr val="tx1"/>
                          </a:solidFill>
                          <a:effectLst/>
                          <a:latin typeface="+mn-lt"/>
                          <a:ea typeface="+mn-ea"/>
                          <a:cs typeface="Times New Roman" panose="02020603050405020304" pitchFamily="18" charset="0"/>
                        </a:rPr>
                        <a:t>,</a:t>
                      </a:r>
                      <a:endParaRPr lang="ru-RU" sz="900" kern="1200" dirty="0">
                        <a:solidFill>
                          <a:schemeClr val="tx1"/>
                        </a:solidFill>
                        <a:effectLst/>
                        <a:latin typeface="+mn-lt"/>
                        <a:ea typeface="+mn-ea"/>
                        <a:cs typeface="Times New Roman" panose="02020603050405020304" pitchFamily="18" charset="0"/>
                      </a:endParaRPr>
                    </a:p>
                    <a:p>
                      <a:r>
                        <a:rPr lang="ru-RU" sz="900" kern="1200" dirty="0" err="1">
                          <a:solidFill>
                            <a:schemeClr val="tx1"/>
                          </a:solidFill>
                          <a:effectLst/>
                          <a:latin typeface="+mn-lt"/>
                          <a:ea typeface="+mn-ea"/>
                          <a:cs typeface="Times New Roman" panose="02020603050405020304" pitchFamily="18" charset="0"/>
                        </a:rPr>
                        <a:t>Тошкент</a:t>
                      </a:r>
                      <a:r>
                        <a:rPr lang="uz-Cyrl-UZ" sz="900" kern="1200" dirty="0">
                          <a:solidFill>
                            <a:schemeClr val="tx1"/>
                          </a:solidFill>
                          <a:effectLst/>
                          <a:latin typeface="+mn-lt"/>
                          <a:ea typeface="+mn-ea"/>
                          <a:cs typeface="Times New Roman" panose="02020603050405020304" pitchFamily="18" charset="0"/>
                        </a:rPr>
                        <a:t> шаҳри</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kern="1200" dirty="0">
                          <a:solidFill>
                            <a:schemeClr val="tx1"/>
                          </a:solidFill>
                          <a:effectLst/>
                          <a:latin typeface="+mn-lt"/>
                          <a:ea typeface="+mn-ea"/>
                          <a:cs typeface="Times New Roman" panose="02020603050405020304" pitchFamily="18" charset="0"/>
                        </a:rPr>
                        <a:t>«</a:t>
                      </a:r>
                      <a:r>
                        <a:rPr lang="en-US" sz="900" kern="1200" dirty="0">
                          <a:solidFill>
                            <a:schemeClr val="tx1"/>
                          </a:solidFill>
                          <a:effectLst/>
                          <a:latin typeface="+mn-lt"/>
                          <a:ea typeface="+mn-ea"/>
                          <a:cs typeface="Times New Roman" panose="02020603050405020304" pitchFamily="18" charset="0"/>
                        </a:rPr>
                        <a:t>HUQUQ </a:t>
                      </a:r>
                      <a:r>
                        <a:rPr lang="en-US" sz="900" kern="1200" dirty="0" err="1">
                          <a:solidFill>
                            <a:schemeClr val="tx1"/>
                          </a:solidFill>
                          <a:effectLst/>
                          <a:latin typeface="+mn-lt"/>
                          <a:ea typeface="+mn-ea"/>
                          <a:cs typeface="Times New Roman" panose="02020603050405020304" pitchFamily="18" charset="0"/>
                        </a:rPr>
                        <a:t>va</a:t>
                      </a:r>
                      <a:r>
                        <a:rPr lang="en-US" sz="900" kern="1200" dirty="0">
                          <a:solidFill>
                            <a:schemeClr val="tx1"/>
                          </a:solidFill>
                          <a:effectLst/>
                          <a:latin typeface="+mn-lt"/>
                          <a:ea typeface="+mn-ea"/>
                          <a:cs typeface="Times New Roman" panose="02020603050405020304" pitchFamily="18" charset="0"/>
                        </a:rPr>
                        <a:t> HIMOYA</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адвокатлик</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бюроси</a:t>
                      </a:r>
                      <a:r>
                        <a:rPr lang="ru-RU"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д</a:t>
                      </a:r>
                      <a:r>
                        <a:rPr lang="ru-RU" sz="900" kern="1200" dirty="0" err="1">
                          <a:solidFill>
                            <a:schemeClr val="tx1"/>
                          </a:solidFill>
                          <a:effectLst/>
                          <a:latin typeface="+mn-lt"/>
                          <a:ea typeface="+mn-ea"/>
                          <a:cs typeface="Times New Roman" panose="02020603050405020304" pitchFamily="18" charset="0"/>
                        </a:rPr>
                        <a:t>иректори</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61144">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8403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Times New Roman" panose="02020603050405020304" pitchFamily="18" charset="0"/>
                        </a:rPr>
                        <a:t>1992 й</a:t>
                      </a:r>
                      <a:r>
                        <a:rPr lang="ru-RU" sz="900" kern="1200" dirty="0">
                          <a:solidFill>
                            <a:schemeClr val="tx1"/>
                          </a:solidFill>
                          <a:effectLst/>
                          <a:latin typeface="+mn-lt"/>
                          <a:ea typeface="+mn-ea"/>
                          <a:cs typeface="Times New Roman" panose="02020603050405020304" pitchFamily="18" charset="0"/>
                        </a:rPr>
                        <a:t>.</a:t>
                      </a:r>
                      <a:r>
                        <a:rPr lang="uz-Cyrl-UZ" sz="900" kern="1200" dirty="0">
                          <a:solidFill>
                            <a:schemeClr val="tx1"/>
                          </a:solidFill>
                          <a:effectLst/>
                          <a:latin typeface="+mn-lt"/>
                          <a:ea typeface="+mn-ea"/>
                          <a:cs typeface="Times New Roman" panose="02020603050405020304" pitchFamily="18" charset="0"/>
                        </a:rPr>
                        <a:t> Тошкент Давлат Миллий рақс ва хореография Олий мактаби</a:t>
                      </a:r>
                      <a:endParaRPr lang="ru-RU" sz="900" kern="1200" dirty="0">
                        <a:solidFill>
                          <a:schemeClr val="tx1"/>
                        </a:solidFill>
                        <a:effectLst/>
                        <a:latin typeface="+mn-lt"/>
                        <a:ea typeface="+mn-ea"/>
                        <a:cs typeface="Times New Roman" panose="02020603050405020304" pitchFamily="18" charset="0"/>
                      </a:endParaRPr>
                    </a:p>
                    <a:p>
                      <a:r>
                        <a:rPr lang="uz-Cyrl-UZ" sz="900" kern="1200" dirty="0">
                          <a:solidFill>
                            <a:schemeClr val="tx1"/>
                          </a:solidFill>
                          <a:effectLst/>
                          <a:latin typeface="+mn-lt"/>
                          <a:ea typeface="+mn-ea"/>
                          <a:cs typeface="Times New Roman" panose="02020603050405020304" pitchFamily="18" charset="0"/>
                        </a:rPr>
                        <a:t>                                                                               </a:t>
                      </a:r>
                      <a:endParaRPr lang="ru-RU" sz="900" kern="1200" dirty="0">
                        <a:solidFill>
                          <a:schemeClr val="tx1"/>
                        </a:solidFill>
                        <a:effectLst/>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167168">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Times New Roman" panose="02020603050405020304" pitchFamily="18" charset="0"/>
                        </a:rPr>
                        <a:t>балет артисти</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43875">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endParaRPr lang="ru-RU" sz="9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43875">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Times New Roman" panose="02020603050405020304" pitchFamily="18" charset="0"/>
                        </a:rPr>
                        <a:t>рус тили</a:t>
                      </a:r>
                      <a:endParaRPr lang="ru-RU" sz="9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36043">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Times New Roman" panose="02020603050405020304" pitchFamily="18" charset="0"/>
                        </a:rPr>
                        <a:t>Йўқ</a:t>
                      </a:r>
                      <a:endParaRPr lang="ru-RU"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05455" y="865686"/>
          <a:ext cx="3096634" cy="5942163"/>
        </p:xfrm>
        <a:graphic>
          <a:graphicData uri="http://schemas.openxmlformats.org/drawingml/2006/table">
            <a:tbl>
              <a:tblPr firstRow="1" bandRow="1">
                <a:tableStyleId>{C083E6E3-FA7D-4D7B-A595-EF9225AFEA82}</a:tableStyleId>
              </a:tblPr>
              <a:tblGrid>
                <a:gridCol w="1421035">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292778">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843055">
                <a:tc>
                  <a:txBody>
                    <a:bodyPr/>
                    <a:lstStyle/>
                    <a:p>
                      <a:pPr algn="l">
                        <a:lnSpc>
                          <a:spcPct val="85000"/>
                        </a:lnSpc>
                      </a:pPr>
                      <a:r>
                        <a:rPr lang="uz-Cyrl-UZ" sz="900" b="1" i="0" noProof="0" dirty="0">
                          <a:solidFill>
                            <a:schemeClr val="tx1"/>
                          </a:solidFill>
                          <a:latin typeface="+mn-lt"/>
                          <a:cs typeface="Times New Roman" panose="02020603050405020304" pitchFamily="18" charset="0"/>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just"/>
                      <a:r>
                        <a:rPr lang="uz-Cyrl-UZ" sz="900" b="0" kern="1200" dirty="0" smtClean="0">
                          <a:solidFill>
                            <a:schemeClr val="tx1"/>
                          </a:solidFill>
                          <a:effectLst/>
                          <a:latin typeface="+mn-lt"/>
                          <a:ea typeface="+mn-ea"/>
                          <a:cs typeface="Times New Roman" panose="02020603050405020304" pitchFamily="18" charset="0"/>
                        </a:rPr>
                        <a:t>Алишер </a:t>
                      </a:r>
                      <a:r>
                        <a:rPr lang="uz-Cyrl-UZ" sz="900" b="0" kern="1200" dirty="0">
                          <a:solidFill>
                            <a:schemeClr val="tx1"/>
                          </a:solidFill>
                          <a:effectLst/>
                          <a:latin typeface="+mn-lt"/>
                          <a:ea typeface="+mn-ea"/>
                          <a:cs typeface="Times New Roman" panose="02020603050405020304" pitchFamily="18" charset="0"/>
                        </a:rPr>
                        <a:t>Навоий номидаги Ўзбекистон давлат академик катта театри </a:t>
                      </a:r>
                      <a:r>
                        <a:rPr lang="uz-Cyrl-UZ" sz="900" b="0" kern="1200" dirty="0" smtClean="0">
                          <a:solidFill>
                            <a:schemeClr val="tx1"/>
                          </a:solidFill>
                          <a:effectLst/>
                          <a:latin typeface="+mn-lt"/>
                          <a:ea typeface="+mn-ea"/>
                          <a:cs typeface="Times New Roman" panose="02020603050405020304" pitchFamily="18" charset="0"/>
                        </a:rPr>
                        <a:t> </a:t>
                      </a:r>
                      <a:r>
                        <a:rPr lang="uz-Cyrl-UZ" sz="900" b="0" kern="1200" dirty="0">
                          <a:solidFill>
                            <a:schemeClr val="tx1"/>
                          </a:solidFill>
                          <a:effectLst/>
                          <a:latin typeface="+mn-lt"/>
                          <a:ea typeface="+mn-ea"/>
                          <a:cs typeface="Times New Roman" panose="02020603050405020304" pitchFamily="18" charset="0"/>
                        </a:rPr>
                        <a:t>балет труппаси мудири</a:t>
                      </a:r>
                      <a:endParaRPr lang="ru-RU" sz="900" b="0" kern="1200" dirty="0">
                        <a:solidFill>
                          <a:schemeClr val="tx1"/>
                        </a:solidFill>
                        <a:effectLst/>
                        <a:latin typeface="+mn-lt"/>
                        <a:ea typeface="+mn-ea"/>
                        <a:cs typeface="Times New Roman" panose="02020603050405020304" pitchFamily="18" charset="0"/>
                      </a:endParaRPr>
                    </a:p>
                    <a:p>
                      <a:pPr marL="0" indent="0" algn="l">
                        <a:lnSpc>
                          <a:spcPct val="85000"/>
                        </a:lnSpc>
                      </a:pPr>
                      <a:r>
                        <a:rPr lang="uz-Cyrl-UZ" sz="900" b="0" kern="1200" dirty="0">
                          <a:solidFill>
                            <a:schemeClr val="tx1"/>
                          </a:solidFill>
                          <a:effectLst/>
                          <a:latin typeface="+mn-lt"/>
                          <a:ea typeface="+mn-ea"/>
                          <a:cs typeface="Times New Roman" panose="02020603050405020304" pitchFamily="18" charset="0"/>
                        </a:rPr>
                        <a:t> </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18463">
                <a:tc>
                  <a:txBody>
                    <a:bodyPr/>
                    <a:lstStyle/>
                    <a:p>
                      <a:pPr algn="l">
                        <a:lnSpc>
                          <a:spcPct val="85000"/>
                        </a:lnSpc>
                      </a:pPr>
                      <a:r>
                        <a:rPr lang="uz-Cyrl-UZ" sz="900" b="1" i="0" noProof="0" dirty="0">
                          <a:solidFill>
                            <a:schemeClr val="tx1"/>
                          </a:solidFill>
                          <a:latin typeface="+mn-lt"/>
                          <a:cs typeface="Times New Roman" panose="02020603050405020304" pitchFamily="18" charset="0"/>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Times New Roman" panose="02020603050405020304" pitchFamily="18" charset="0"/>
                        </a:rPr>
                        <a:t>Й</a:t>
                      </a:r>
                      <a:r>
                        <a:rPr lang="ru-RU" sz="900" b="0" kern="1200" noProof="0" dirty="0" err="1">
                          <a:solidFill>
                            <a:schemeClr val="tx1"/>
                          </a:solidFill>
                          <a:latin typeface="+mn-lt"/>
                          <a:ea typeface="+mn-ea"/>
                          <a:cs typeface="Times New Roman" panose="02020603050405020304" pitchFamily="18" charset="0"/>
                        </a:rPr>
                        <a:t>ўқ</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8326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b="0" noProof="0" dirty="0">
                          <a:effectLst/>
                          <a:latin typeface="+mn-lt"/>
                          <a:ea typeface="Calibri" panose="020F0502020204030204" pitchFamily="34" charset="0"/>
                          <a:cs typeface="Times New Roman" panose="02020603050405020304" pitchFamily="18" charset="0"/>
                        </a:rPr>
                        <a:t>34</a:t>
                      </a:r>
                      <a:r>
                        <a:rPr lang="uz-Cyrl-UZ" sz="900" b="0" noProof="0" dirty="0">
                          <a:effectLst/>
                          <a:latin typeface="+mn-lt"/>
                          <a:ea typeface="Calibri" panose="020F0502020204030204" pitchFamily="34" charset="0"/>
                          <a:cs typeface="Times New Roman" panose="02020603050405020304" pitchFamily="18" charset="0"/>
                        </a:rPr>
                        <a:t>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7067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a:effectLst/>
                          <a:latin typeface="+mn-lt"/>
                          <a:ea typeface="Calibri" panose="020F0502020204030204" pitchFamily="34" charset="0"/>
                          <a:cs typeface="Times New Roman" panose="02020603050405020304" pitchFamily="18" charset="0"/>
                        </a:rPr>
                        <a:t>8 йил</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2794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en-US" sz="900" b="0" noProof="0" dirty="0">
                          <a:effectLst/>
                          <a:latin typeface="+mn-lt"/>
                          <a:ea typeface="Calibri" panose="020F0502020204030204" pitchFamily="34" charset="0"/>
                          <a:cs typeface="Times New Roman" panose="02020603050405020304" pitchFamily="18" charset="0"/>
                        </a:rPr>
                        <a:t>2018 </a:t>
                      </a:r>
                      <a:r>
                        <a:rPr lang="uz-Cyrl-UZ" sz="900" b="0" noProof="0" dirty="0">
                          <a:effectLst/>
                          <a:latin typeface="+mn-lt"/>
                          <a:ea typeface="Calibri" panose="020F0502020204030204" pitchFamily="34" charset="0"/>
                          <a:cs typeface="Times New Roman" panose="02020603050405020304" pitchFamily="18" charset="0"/>
                        </a:rPr>
                        <a:t>йил, </a:t>
                      </a:r>
                      <a:r>
                        <a:rPr lang="uz-Cyrl-UZ" sz="900" b="0" kern="1200" dirty="0">
                          <a:solidFill>
                            <a:schemeClr val="tx1"/>
                          </a:solidFill>
                          <a:effectLst/>
                          <a:latin typeface="+mn-lt"/>
                          <a:ea typeface="+mn-ea"/>
                          <a:cs typeface="Times New Roman" panose="02020603050405020304" pitchFamily="18" charset="0"/>
                        </a:rPr>
                        <a:t>Алишер Навоий номидаги Ўзбекистон давлат академик катта театри балет труппаси мудири</a:t>
                      </a:r>
                      <a:endParaRPr lang="ru-RU" sz="900" b="0" kern="1200" dirty="0">
                        <a:solidFill>
                          <a:schemeClr val="tx1"/>
                        </a:solidFill>
                        <a:effectLst/>
                        <a:latin typeface="+mn-lt"/>
                        <a:ea typeface="+mn-ea"/>
                        <a:cs typeface="Times New Roman" panose="02020603050405020304" pitchFamily="18" charset="0"/>
                      </a:endParaRPr>
                    </a:p>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26753">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2675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93818">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8973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97456">
                <a:tc gridSpan="2">
                  <a:txBody>
                    <a:bodyPr/>
                    <a:lstStyle/>
                    <a:p>
                      <a:pPr algn="ctr"/>
                      <a:r>
                        <a:rPr lang="uz-Cyrl-UZ" sz="9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771465">
                <a:tc gridSpan="2">
                  <a:txBody>
                    <a:bodyPr/>
                    <a:lstStyle/>
                    <a:p>
                      <a:pPr algn="just"/>
                      <a:r>
                        <a:rPr lang="ru-RU" sz="900" b="0" kern="1200" dirty="0">
                          <a:solidFill>
                            <a:schemeClr val="tx1"/>
                          </a:solidFill>
                          <a:effectLst/>
                          <a:latin typeface="+mn-lt"/>
                          <a:ea typeface="+mn-ea"/>
                          <a:cs typeface="Times New Roman" panose="02020603050405020304" pitchFamily="18" charset="0"/>
                        </a:rPr>
                        <a:t>2001 й</a:t>
                      </a:r>
                      <a:r>
                        <a:rPr lang="uz-Cyrl-UZ" sz="900" b="0" kern="1200" dirty="0">
                          <a:solidFill>
                            <a:schemeClr val="tx1"/>
                          </a:solidFill>
                          <a:effectLst/>
                          <a:latin typeface="+mn-lt"/>
                          <a:ea typeface="+mn-ea"/>
                          <a:cs typeface="Times New Roman" panose="02020603050405020304" pitchFamily="18" charset="0"/>
                        </a:rPr>
                        <a:t>ил</a:t>
                      </a:r>
                      <a:r>
                        <a:rPr lang="ru-RU" sz="900" b="0" kern="1200" dirty="0">
                          <a:solidFill>
                            <a:schemeClr val="tx1"/>
                          </a:solidFill>
                          <a:effectLst/>
                          <a:latin typeface="+mn-lt"/>
                          <a:ea typeface="+mn-ea"/>
                          <a:cs typeface="Times New Roman" panose="02020603050405020304" pitchFamily="18" charset="0"/>
                        </a:rPr>
                        <a:t> «</a:t>
                      </a:r>
                      <a:r>
                        <a:rPr lang="uz-Cyrl-UZ" sz="900" b="0" kern="1200" dirty="0">
                          <a:solidFill>
                            <a:schemeClr val="tx1"/>
                          </a:solidFill>
                          <a:effectLst/>
                          <a:latin typeface="+mn-lt"/>
                          <a:ea typeface="+mn-ea"/>
                          <a:cs typeface="Times New Roman" panose="02020603050405020304" pitchFamily="18" charset="0"/>
                        </a:rPr>
                        <a:t>Ў</a:t>
                      </a:r>
                      <a:r>
                        <a:rPr lang="ru-RU" sz="900" b="0" kern="1200" dirty="0" err="1">
                          <a:solidFill>
                            <a:schemeClr val="tx1"/>
                          </a:solidFill>
                          <a:effectLst/>
                          <a:latin typeface="+mn-lt"/>
                          <a:ea typeface="+mn-ea"/>
                          <a:cs typeface="Times New Roman" panose="02020603050405020304" pitchFamily="18" charset="0"/>
                        </a:rPr>
                        <a:t>збекистон</a:t>
                      </a:r>
                      <a:r>
                        <a:rPr lang="ru-RU" sz="900" b="0" kern="1200" dirty="0">
                          <a:solidFill>
                            <a:schemeClr val="tx1"/>
                          </a:solidFill>
                          <a:effectLst/>
                          <a:latin typeface="+mn-lt"/>
                          <a:ea typeface="+mn-ea"/>
                          <a:cs typeface="Times New Roman" panose="02020603050405020304" pitchFamily="18" charset="0"/>
                        </a:rPr>
                        <a:t> </a:t>
                      </a:r>
                      <a:r>
                        <a:rPr lang="ru-RU" sz="900" b="0" kern="1200" dirty="0" err="1">
                          <a:solidFill>
                            <a:schemeClr val="tx1"/>
                          </a:solidFill>
                          <a:effectLst/>
                          <a:latin typeface="+mn-lt"/>
                          <a:ea typeface="+mn-ea"/>
                          <a:cs typeface="Times New Roman" panose="02020603050405020304" pitchFamily="18" charset="0"/>
                        </a:rPr>
                        <a:t>Республикасида</a:t>
                      </a:r>
                      <a:r>
                        <a:rPr lang="ru-RU" sz="900" b="0" kern="1200" dirty="0">
                          <a:solidFill>
                            <a:schemeClr val="tx1"/>
                          </a:solidFill>
                          <a:effectLst/>
                          <a:latin typeface="+mn-lt"/>
                          <a:ea typeface="+mn-ea"/>
                          <a:cs typeface="Times New Roman" panose="02020603050405020304" pitchFamily="18" charset="0"/>
                        </a:rPr>
                        <a:t> </a:t>
                      </a:r>
                      <a:r>
                        <a:rPr lang="ru-RU" sz="900" b="0" kern="1200" dirty="0" err="1">
                          <a:solidFill>
                            <a:schemeClr val="tx1"/>
                          </a:solidFill>
                          <a:effectLst/>
                          <a:latin typeface="+mn-lt"/>
                          <a:ea typeface="+mn-ea"/>
                          <a:cs typeface="Times New Roman" panose="02020603050405020304" pitchFamily="18" charset="0"/>
                        </a:rPr>
                        <a:t>хизмат</a:t>
                      </a:r>
                      <a:r>
                        <a:rPr lang="ru-RU" sz="900" b="0" kern="1200" dirty="0">
                          <a:solidFill>
                            <a:schemeClr val="tx1"/>
                          </a:solidFill>
                          <a:effectLst/>
                          <a:latin typeface="+mn-lt"/>
                          <a:ea typeface="+mn-ea"/>
                          <a:cs typeface="Times New Roman" panose="02020603050405020304" pitchFamily="18" charset="0"/>
                        </a:rPr>
                        <a:t> к</a:t>
                      </a:r>
                      <a:r>
                        <a:rPr lang="uz-Cyrl-UZ" sz="900" b="0" kern="1200" dirty="0">
                          <a:solidFill>
                            <a:schemeClr val="tx1"/>
                          </a:solidFill>
                          <a:effectLst/>
                          <a:latin typeface="+mn-lt"/>
                          <a:ea typeface="+mn-ea"/>
                          <a:cs typeface="Times New Roman" panose="02020603050405020304" pitchFamily="18" charset="0"/>
                        </a:rPr>
                        <a:t>ў</a:t>
                      </a:r>
                      <a:r>
                        <a:rPr lang="ru-RU" sz="900" b="0" kern="1200" dirty="0" err="1">
                          <a:solidFill>
                            <a:schemeClr val="tx1"/>
                          </a:solidFill>
                          <a:effectLst/>
                          <a:latin typeface="+mn-lt"/>
                          <a:ea typeface="+mn-ea"/>
                          <a:cs typeface="Times New Roman" panose="02020603050405020304" pitchFamily="18" charset="0"/>
                        </a:rPr>
                        <a:t>рсатган</a:t>
                      </a:r>
                      <a:r>
                        <a:rPr lang="ru-RU" sz="900" b="0" kern="1200" dirty="0">
                          <a:solidFill>
                            <a:schemeClr val="tx1"/>
                          </a:solidFill>
                          <a:effectLst/>
                          <a:latin typeface="+mn-lt"/>
                          <a:ea typeface="+mn-ea"/>
                          <a:cs typeface="Times New Roman" panose="02020603050405020304" pitchFamily="18" charset="0"/>
                        </a:rPr>
                        <a:t> артист» </a:t>
                      </a:r>
                      <a:r>
                        <a:rPr lang="ru-RU" sz="900" b="0" kern="1200" dirty="0" err="1">
                          <a:solidFill>
                            <a:schemeClr val="tx1"/>
                          </a:solidFill>
                          <a:effectLst/>
                          <a:latin typeface="+mn-lt"/>
                          <a:ea typeface="+mn-ea"/>
                          <a:cs typeface="Times New Roman" panose="02020603050405020304" pitchFamily="18" charset="0"/>
                        </a:rPr>
                        <a:t>унвони</a:t>
                      </a:r>
                      <a:r>
                        <a:rPr lang="ru-RU" sz="900" b="0" kern="1200" dirty="0">
                          <a:solidFill>
                            <a:schemeClr val="tx1"/>
                          </a:solidFill>
                          <a:effectLst/>
                          <a:latin typeface="+mn-lt"/>
                          <a:ea typeface="+mn-ea"/>
                          <a:cs typeface="Times New Roman" panose="02020603050405020304" pitchFamily="18" charset="0"/>
                        </a:rPr>
                        <a:t> </a:t>
                      </a:r>
                      <a:endParaRPr lang="en-US" sz="900" b="0" kern="1200" dirty="0">
                        <a:solidFill>
                          <a:schemeClr val="tx1"/>
                        </a:solidFill>
                        <a:effectLst/>
                        <a:latin typeface="+mn-lt"/>
                        <a:ea typeface="+mn-ea"/>
                        <a:cs typeface="Times New Roman" panose="02020603050405020304" pitchFamily="18" charset="0"/>
                      </a:endParaRPr>
                    </a:p>
                    <a:p>
                      <a:pPr algn="just"/>
                      <a:r>
                        <a:rPr lang="uz-Cyrl-UZ" sz="900" b="0" kern="1200" dirty="0">
                          <a:solidFill>
                            <a:schemeClr val="tx1"/>
                          </a:solidFill>
                          <a:effectLst/>
                          <a:latin typeface="+mn-lt"/>
                          <a:ea typeface="+mn-ea"/>
                          <a:cs typeface="Times New Roman" panose="02020603050405020304" pitchFamily="18" charset="0"/>
                        </a:rPr>
                        <a:t>2023 йил – “Маданият ва санъат фидокори” кўкрак белгиси</a:t>
                      </a:r>
                      <a:endParaRPr lang="ru-RU" sz="900" b="0"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825213" y="869286"/>
          <a:ext cx="2941892" cy="5938562"/>
        </p:xfrm>
        <a:graphic>
          <a:graphicData uri="http://schemas.openxmlformats.org/drawingml/2006/table">
            <a:tbl>
              <a:tblPr firstRow="1" bandRow="1">
                <a:tableStyleId>{C083E6E3-FA7D-4D7B-A595-EF9225AFEA82}</a:tableStyleId>
              </a:tblPr>
              <a:tblGrid>
                <a:gridCol w="2941892">
                  <a:extLst>
                    <a:ext uri="{9D8B030D-6E8A-4147-A177-3AD203B41FA5}">
                      <a16:colId xmlns:a16="http://schemas.microsoft.com/office/drawing/2014/main" val="2715609854"/>
                    </a:ext>
                  </a:extLst>
                </a:gridCol>
              </a:tblGrid>
              <a:tr h="237727">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10919">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5186220">
                <a:tc>
                  <a:txBody>
                    <a:bodyPr/>
                    <a:lstStyle/>
                    <a:p>
                      <a:pPr marL="0" indent="179388" algn="just"/>
                      <a:r>
                        <a:rPr lang="uz-Cyrl-UZ" sz="900" b="0" kern="1200" dirty="0" smtClean="0">
                          <a:solidFill>
                            <a:schemeClr val="tx1"/>
                          </a:solidFill>
                          <a:effectLst/>
                          <a:latin typeface="+mn-lt"/>
                          <a:ea typeface="+mn-ea"/>
                          <a:cs typeface="Times New Roman" panose="02020603050405020304" pitchFamily="18" charset="0"/>
                        </a:rPr>
                        <a:t>Ушбу </a:t>
                      </a:r>
                      <a:r>
                        <a:rPr lang="uz-Cyrl-UZ" sz="900" b="0" kern="1200" dirty="0">
                          <a:solidFill>
                            <a:schemeClr val="tx1"/>
                          </a:solidFill>
                          <a:effectLst/>
                          <a:latin typeface="+mn-lt"/>
                          <a:ea typeface="+mn-ea"/>
                          <a:cs typeface="Times New Roman" panose="02020603050405020304" pitchFamily="18" charset="0"/>
                        </a:rPr>
                        <a:t>театрда 1992 йилдан буён фаолият юритиб келмоқда.</a:t>
                      </a:r>
                      <a:endParaRPr lang="ru-RU" sz="900" b="0" kern="1200" dirty="0">
                        <a:solidFill>
                          <a:schemeClr val="tx1"/>
                        </a:solidFill>
                        <a:effectLst/>
                        <a:latin typeface="+mn-lt"/>
                        <a:ea typeface="+mn-ea"/>
                        <a:cs typeface="Times New Roman" panose="02020603050405020304" pitchFamily="18" charset="0"/>
                      </a:endParaRPr>
                    </a:p>
                    <a:p>
                      <a:pPr marL="0" indent="179388" algn="just"/>
                      <a:r>
                        <a:rPr lang="uz-Cyrl-UZ" sz="900" b="0" kern="1200" dirty="0">
                          <a:solidFill>
                            <a:schemeClr val="tx1"/>
                          </a:solidFill>
                          <a:effectLst/>
                          <a:latin typeface="+mn-lt"/>
                          <a:ea typeface="+mn-ea"/>
                          <a:cs typeface="Times New Roman" panose="02020603050405020304" pitchFamily="18" charset="0"/>
                        </a:rPr>
                        <a:t>Ўтган  йиллар мобайнида балет репертуаридаги балет  спектаклларида етакчи ва  характерли  партияларни  ижро  этиб  келмоқда. Унинг ижросидаги </a:t>
                      </a:r>
                      <a:r>
                        <a:rPr lang="ru-RU" sz="900" b="0" kern="1200" dirty="0" err="1">
                          <a:solidFill>
                            <a:schemeClr val="tx1"/>
                          </a:solidFill>
                          <a:effectLst/>
                          <a:latin typeface="+mn-lt"/>
                          <a:ea typeface="+mn-ea"/>
                          <a:cs typeface="Times New Roman" panose="02020603050405020304" pitchFamily="18" charset="0"/>
                        </a:rPr>
                        <a:t>Лебединное</a:t>
                      </a:r>
                      <a:r>
                        <a:rPr lang="ru-RU" sz="900" b="0" kern="1200" dirty="0">
                          <a:solidFill>
                            <a:schemeClr val="tx1"/>
                          </a:solidFill>
                          <a:effectLst/>
                          <a:latin typeface="+mn-lt"/>
                          <a:ea typeface="+mn-ea"/>
                          <a:cs typeface="Times New Roman" panose="02020603050405020304" pitchFamily="18" charset="0"/>
                        </a:rPr>
                        <a:t> озеро – Одетта-Одиллия, </a:t>
                      </a:r>
                      <a:r>
                        <a:rPr lang="en-US" sz="900" b="0" kern="1200" dirty="0">
                          <a:solidFill>
                            <a:schemeClr val="tx1"/>
                          </a:solidFill>
                          <a:effectLst/>
                          <a:latin typeface="+mn-lt"/>
                          <a:ea typeface="+mn-ea"/>
                          <a:cs typeface="Times New Roman" panose="02020603050405020304" pitchFamily="18" charset="0"/>
                        </a:rPr>
                        <a:t>pas</a:t>
                      </a:r>
                      <a:r>
                        <a:rPr lang="ru-RU" sz="900" b="0" kern="1200" dirty="0">
                          <a:solidFill>
                            <a:schemeClr val="tx1"/>
                          </a:solidFill>
                          <a:effectLst/>
                          <a:latin typeface="+mn-lt"/>
                          <a:ea typeface="+mn-ea"/>
                          <a:cs typeface="Times New Roman" panose="02020603050405020304" pitchFamily="18" charset="0"/>
                        </a:rPr>
                        <a:t>- </a:t>
                      </a:r>
                      <a:r>
                        <a:rPr lang="en-US" sz="900" b="0" kern="1200" dirty="0">
                          <a:solidFill>
                            <a:schemeClr val="tx1"/>
                          </a:solidFill>
                          <a:effectLst/>
                          <a:latin typeface="+mn-lt"/>
                          <a:ea typeface="+mn-ea"/>
                          <a:cs typeface="Times New Roman" panose="02020603050405020304" pitchFamily="18" charset="0"/>
                        </a:rPr>
                        <a:t>de</a:t>
                      </a:r>
                      <a:r>
                        <a:rPr lang="ru-RU" sz="900" b="0" kern="1200" dirty="0">
                          <a:solidFill>
                            <a:schemeClr val="tx1"/>
                          </a:solidFill>
                          <a:effectLst/>
                          <a:latin typeface="+mn-lt"/>
                          <a:ea typeface="+mn-ea"/>
                          <a:cs typeface="Times New Roman" panose="02020603050405020304" pitchFamily="18" charset="0"/>
                        </a:rPr>
                        <a:t>- </a:t>
                      </a:r>
                      <a:r>
                        <a:rPr lang="en-US" sz="900" b="0" kern="1200" dirty="0" err="1">
                          <a:solidFill>
                            <a:schemeClr val="tx1"/>
                          </a:solidFill>
                          <a:effectLst/>
                          <a:latin typeface="+mn-lt"/>
                          <a:ea typeface="+mn-ea"/>
                          <a:cs typeface="Times New Roman" panose="02020603050405020304" pitchFamily="18" charset="0"/>
                        </a:rPr>
                        <a:t>troise</a:t>
                      </a:r>
                      <a:r>
                        <a:rPr lang="ru-RU" sz="900" b="0" kern="1200" dirty="0">
                          <a:solidFill>
                            <a:schemeClr val="tx1"/>
                          </a:solidFill>
                          <a:effectLst/>
                          <a:latin typeface="+mn-lt"/>
                          <a:ea typeface="+mn-ea"/>
                          <a:cs typeface="Times New Roman" panose="02020603050405020304" pitchFamily="18" charset="0"/>
                        </a:rPr>
                        <a:t>, большие лебеди, 2та вариации. Щелкунчик – испанская и индийская кукла. Жизель – 2 та Виллис, Мирта, </a:t>
                      </a:r>
                      <a:r>
                        <a:rPr lang="ru-RU" sz="900" b="0" kern="1200" dirty="0" err="1">
                          <a:solidFill>
                            <a:schemeClr val="tx1"/>
                          </a:solidFill>
                          <a:effectLst/>
                          <a:latin typeface="+mn-lt"/>
                          <a:ea typeface="+mn-ea"/>
                          <a:cs typeface="Times New Roman" panose="02020603050405020304" pitchFamily="18" charset="0"/>
                        </a:rPr>
                        <a:t>Батильда</a:t>
                      </a:r>
                      <a:r>
                        <a:rPr lang="ru-RU" sz="900" b="0" kern="1200" dirty="0">
                          <a:solidFill>
                            <a:schemeClr val="tx1"/>
                          </a:solidFill>
                          <a:effectLst/>
                          <a:latin typeface="+mn-lt"/>
                          <a:ea typeface="+mn-ea"/>
                          <a:cs typeface="Times New Roman" panose="02020603050405020304" pitchFamily="18" charset="0"/>
                        </a:rPr>
                        <a:t>. Спящая красавица – Фея Сирени, Фея </a:t>
                      </a:r>
                      <a:r>
                        <a:rPr lang="ru-RU" sz="900" b="0" kern="1200" dirty="0" err="1">
                          <a:solidFill>
                            <a:schemeClr val="tx1"/>
                          </a:solidFill>
                          <a:effectLst/>
                          <a:latin typeface="+mn-lt"/>
                          <a:ea typeface="+mn-ea"/>
                          <a:cs typeface="Times New Roman" panose="02020603050405020304" pitchFamily="18" charset="0"/>
                        </a:rPr>
                        <a:t>Карабосс</a:t>
                      </a:r>
                      <a:r>
                        <a:rPr lang="ru-RU" sz="900" b="0" kern="1200" dirty="0">
                          <a:solidFill>
                            <a:schemeClr val="tx1"/>
                          </a:solidFill>
                          <a:effectLst/>
                          <a:latin typeface="+mn-lt"/>
                          <a:ea typeface="+mn-ea"/>
                          <a:cs typeface="Times New Roman" panose="02020603050405020304" pitchFamily="18" charset="0"/>
                        </a:rPr>
                        <a:t>, Фея пылких страстей. Дон Кихот – Китри, Уличная, Повелительница дриад, Вставная вариация</a:t>
                      </a:r>
                      <a:r>
                        <a:rPr lang="uz-Cyrl-UZ" sz="900" b="0" kern="1200" dirty="0">
                          <a:solidFill>
                            <a:schemeClr val="tx1"/>
                          </a:solidFill>
                          <a:effectLst/>
                          <a:latin typeface="+mn-lt"/>
                          <a:ea typeface="+mn-ea"/>
                          <a:cs typeface="Times New Roman" panose="02020603050405020304" pitchFamily="18" charset="0"/>
                        </a:rPr>
                        <a:t>, </a:t>
                      </a:r>
                      <a:r>
                        <a:rPr lang="ru-RU" sz="900" b="0" kern="1200" dirty="0">
                          <a:solidFill>
                            <a:schemeClr val="tx1"/>
                          </a:solidFill>
                          <a:effectLst/>
                          <a:latin typeface="+mn-lt"/>
                          <a:ea typeface="+mn-ea"/>
                          <a:cs typeface="Times New Roman" panose="02020603050405020304" pitchFamily="18" charset="0"/>
                        </a:rPr>
                        <a:t>1000 и 1 ночь – </a:t>
                      </a:r>
                      <a:r>
                        <a:rPr lang="ru-RU" sz="900" b="0" kern="1200" dirty="0" err="1">
                          <a:solidFill>
                            <a:schemeClr val="tx1"/>
                          </a:solidFill>
                          <a:effectLst/>
                          <a:latin typeface="+mn-lt"/>
                          <a:ea typeface="+mn-ea"/>
                          <a:cs typeface="Times New Roman" panose="02020603050405020304" pitchFamily="18" charset="0"/>
                        </a:rPr>
                        <a:t>Шахеризада</a:t>
                      </a:r>
                      <a:r>
                        <a:rPr lang="ru-RU" sz="900" b="0" kern="1200" dirty="0">
                          <a:solidFill>
                            <a:schemeClr val="tx1"/>
                          </a:solidFill>
                          <a:effectLst/>
                          <a:latin typeface="+mn-lt"/>
                          <a:ea typeface="+mn-ea"/>
                          <a:cs typeface="Times New Roman" panose="02020603050405020304" pitchFamily="18" charset="0"/>
                        </a:rPr>
                        <a:t>, Птица Счастья</a:t>
                      </a:r>
                      <a:r>
                        <a:rPr lang="uz-Cyrl-UZ" sz="900" b="0" kern="1200" dirty="0">
                          <a:solidFill>
                            <a:schemeClr val="tx1"/>
                          </a:solidFill>
                          <a:effectLst/>
                          <a:latin typeface="+mn-lt"/>
                          <a:ea typeface="+mn-ea"/>
                          <a:cs typeface="Times New Roman" panose="02020603050405020304" pitchFamily="18" charset="0"/>
                        </a:rPr>
                        <a:t>, </a:t>
                      </a:r>
                      <a:r>
                        <a:rPr lang="ru-RU" sz="900" b="0" kern="1200" dirty="0">
                          <a:solidFill>
                            <a:schemeClr val="tx1"/>
                          </a:solidFill>
                          <a:effectLst/>
                          <a:latin typeface="+mn-lt"/>
                          <a:ea typeface="+mn-ea"/>
                          <a:cs typeface="Times New Roman" panose="02020603050405020304" pitchFamily="18" charset="0"/>
                        </a:rPr>
                        <a:t>Ромео и Джульетта –2та </a:t>
                      </a:r>
                      <a:r>
                        <a:rPr lang="ru-RU" sz="900" b="0" kern="1200" dirty="0" err="1">
                          <a:solidFill>
                            <a:schemeClr val="tx1"/>
                          </a:solidFill>
                          <a:effectLst/>
                          <a:latin typeface="+mn-lt"/>
                          <a:ea typeface="+mn-ea"/>
                          <a:cs typeface="Times New Roman" panose="02020603050405020304" pitchFamily="18" charset="0"/>
                        </a:rPr>
                        <a:t>дугона</a:t>
                      </a:r>
                      <a:r>
                        <a:rPr lang="ru-RU" sz="900" b="0" kern="1200" dirty="0">
                          <a:solidFill>
                            <a:schemeClr val="tx1"/>
                          </a:solidFill>
                          <a:effectLst/>
                          <a:latin typeface="+mn-lt"/>
                          <a:ea typeface="+mn-ea"/>
                          <a:cs typeface="Times New Roman" panose="02020603050405020304" pitchFamily="18" charset="0"/>
                        </a:rPr>
                        <a:t>, Леди Капулетти</a:t>
                      </a:r>
                      <a:r>
                        <a:rPr lang="uz-Cyrl-UZ" sz="900" b="0" kern="1200" dirty="0">
                          <a:solidFill>
                            <a:schemeClr val="tx1"/>
                          </a:solidFill>
                          <a:effectLst/>
                          <a:latin typeface="+mn-lt"/>
                          <a:ea typeface="+mn-ea"/>
                          <a:cs typeface="Times New Roman" panose="02020603050405020304" pitchFamily="18" charset="0"/>
                        </a:rPr>
                        <a:t>, </a:t>
                      </a:r>
                      <a:r>
                        <a:rPr lang="ru-RU" sz="900" b="0" kern="1200" dirty="0">
                          <a:solidFill>
                            <a:schemeClr val="tx1"/>
                          </a:solidFill>
                          <a:effectLst/>
                          <a:latin typeface="+mn-lt"/>
                          <a:ea typeface="+mn-ea"/>
                          <a:cs typeface="Times New Roman" panose="02020603050405020304" pitchFamily="18" charset="0"/>
                        </a:rPr>
                        <a:t>Корсар – </a:t>
                      </a:r>
                      <a:r>
                        <a:rPr lang="ru-RU" sz="900" b="0" kern="1200" dirty="0" err="1">
                          <a:solidFill>
                            <a:schemeClr val="tx1"/>
                          </a:solidFill>
                          <a:effectLst/>
                          <a:latin typeface="+mn-lt"/>
                          <a:ea typeface="+mn-ea"/>
                          <a:cs typeface="Times New Roman" panose="02020603050405020304" pitchFamily="18" charset="0"/>
                        </a:rPr>
                        <a:t>Медора</a:t>
                      </a:r>
                      <a:r>
                        <a:rPr lang="ru-RU" sz="900" b="0" kern="1200" dirty="0">
                          <a:solidFill>
                            <a:schemeClr val="tx1"/>
                          </a:solidFill>
                          <a:effectLst/>
                          <a:latin typeface="+mn-lt"/>
                          <a:ea typeface="+mn-ea"/>
                          <a:cs typeface="Times New Roman" panose="02020603050405020304" pitchFamily="18" charset="0"/>
                        </a:rPr>
                        <a:t>, Гульнара, трио Корсар. </a:t>
                      </a:r>
                      <a:r>
                        <a:rPr lang="ru-RU" sz="900" b="0" kern="1200" dirty="0" err="1">
                          <a:solidFill>
                            <a:schemeClr val="tx1"/>
                          </a:solidFill>
                          <a:effectLst/>
                          <a:latin typeface="+mn-lt"/>
                          <a:ea typeface="+mn-ea"/>
                          <a:cs typeface="Times New Roman" panose="02020603050405020304" pitchFamily="18" charset="0"/>
                        </a:rPr>
                        <a:t>Чипполино</a:t>
                      </a:r>
                      <a:r>
                        <a:rPr lang="ru-RU" sz="900" b="0" kern="1200" dirty="0">
                          <a:solidFill>
                            <a:schemeClr val="tx1"/>
                          </a:solidFill>
                          <a:effectLst/>
                          <a:latin typeface="+mn-lt"/>
                          <a:ea typeface="+mn-ea"/>
                          <a:cs typeface="Times New Roman" panose="02020603050405020304" pitchFamily="18" charset="0"/>
                        </a:rPr>
                        <a:t> –2та </a:t>
                      </a:r>
                      <a:r>
                        <a:rPr lang="ru-RU" sz="900" b="0" kern="1200" dirty="0" err="1">
                          <a:solidFill>
                            <a:schemeClr val="tx1"/>
                          </a:solidFill>
                          <a:effectLst/>
                          <a:latin typeface="+mn-lt"/>
                          <a:ea typeface="+mn-ea"/>
                          <a:cs typeface="Times New Roman" panose="02020603050405020304" pitchFamily="18" charset="0"/>
                        </a:rPr>
                        <a:t>Олча</a:t>
                      </a:r>
                      <a:r>
                        <a:rPr lang="ru-RU" sz="900" b="0" kern="1200" dirty="0">
                          <a:solidFill>
                            <a:schemeClr val="tx1"/>
                          </a:solidFill>
                          <a:effectLst/>
                          <a:latin typeface="+mn-lt"/>
                          <a:ea typeface="+mn-ea"/>
                          <a:cs typeface="Times New Roman" panose="02020603050405020304" pitchFamily="18" charset="0"/>
                        </a:rPr>
                        <a:t>,  Доктор Айболит – </a:t>
                      </a:r>
                      <a:r>
                        <a:rPr lang="ru-RU" sz="900" b="0" kern="1200" dirty="0" err="1">
                          <a:solidFill>
                            <a:schemeClr val="tx1"/>
                          </a:solidFill>
                          <a:effectLst/>
                          <a:latin typeface="+mn-lt"/>
                          <a:ea typeface="+mn-ea"/>
                          <a:cs typeface="Times New Roman" panose="02020603050405020304" pitchFamily="18" charset="0"/>
                        </a:rPr>
                        <a:t>Туземча</a:t>
                      </a:r>
                      <a:r>
                        <a:rPr lang="ru-RU" sz="900" b="0" kern="1200" dirty="0">
                          <a:solidFill>
                            <a:schemeClr val="tx1"/>
                          </a:solidFill>
                          <a:effectLst/>
                          <a:latin typeface="+mn-lt"/>
                          <a:ea typeface="+mn-ea"/>
                          <a:cs typeface="Times New Roman" panose="02020603050405020304" pitchFamily="18" charset="0"/>
                        </a:rPr>
                        <a:t> </a:t>
                      </a:r>
                      <a:r>
                        <a:rPr lang="ru-RU" sz="900" b="0" kern="1200" dirty="0" err="1">
                          <a:solidFill>
                            <a:schemeClr val="tx1"/>
                          </a:solidFill>
                          <a:effectLst/>
                          <a:latin typeface="+mn-lt"/>
                          <a:ea typeface="+mn-ea"/>
                          <a:cs typeface="Times New Roman" panose="02020603050405020304" pitchFamily="18" charset="0"/>
                        </a:rPr>
                        <a:t>ра</a:t>
                      </a:r>
                      <a:r>
                        <a:rPr lang="uz-Cyrl-UZ" sz="900" b="0" kern="1200" dirty="0">
                          <a:solidFill>
                            <a:schemeClr val="tx1"/>
                          </a:solidFill>
                          <a:effectLst/>
                          <a:latin typeface="+mn-lt"/>
                          <a:ea typeface="+mn-ea"/>
                          <a:cs typeface="Times New Roman" panose="02020603050405020304" pitchFamily="18" charset="0"/>
                        </a:rPr>
                        <a:t>қс, </a:t>
                      </a:r>
                      <a:r>
                        <a:rPr lang="ru-RU" sz="900" b="0" kern="1200" dirty="0">
                          <a:solidFill>
                            <a:schemeClr val="tx1"/>
                          </a:solidFill>
                          <a:effectLst/>
                          <a:latin typeface="+mn-lt"/>
                          <a:ea typeface="+mn-ea"/>
                          <a:cs typeface="Times New Roman" panose="02020603050405020304" pitchFamily="18" charset="0"/>
                        </a:rPr>
                        <a:t>Бахчисарайский фонтан – Зарема</a:t>
                      </a:r>
                      <a:r>
                        <a:rPr lang="uz-Cyrl-UZ" sz="900" b="0" kern="1200" dirty="0">
                          <a:solidFill>
                            <a:schemeClr val="tx1"/>
                          </a:solidFill>
                          <a:effectLst/>
                          <a:latin typeface="+mn-lt"/>
                          <a:ea typeface="+mn-ea"/>
                          <a:cs typeface="Times New Roman" panose="02020603050405020304" pitchFamily="18" charset="0"/>
                        </a:rPr>
                        <a:t>. </a:t>
                      </a:r>
                      <a:r>
                        <a:rPr lang="ru-RU" sz="900" b="0" kern="1200" dirty="0">
                          <a:solidFill>
                            <a:schemeClr val="tx1"/>
                          </a:solidFill>
                          <a:effectLst/>
                          <a:latin typeface="+mn-lt"/>
                          <a:ea typeface="+mn-ea"/>
                          <a:cs typeface="Times New Roman" panose="02020603050405020304" pitchFamily="18" charset="0"/>
                        </a:rPr>
                        <a:t>Спартак – Эгина</a:t>
                      </a:r>
                      <a:r>
                        <a:rPr lang="uz-Cyrl-UZ" sz="900" b="0" kern="1200" dirty="0">
                          <a:solidFill>
                            <a:schemeClr val="tx1"/>
                          </a:solidFill>
                          <a:effectLst/>
                          <a:latin typeface="+mn-lt"/>
                          <a:ea typeface="+mn-ea"/>
                          <a:cs typeface="Times New Roman" panose="02020603050405020304" pitchFamily="18" charset="0"/>
                        </a:rPr>
                        <a:t>. </a:t>
                      </a:r>
                      <a:r>
                        <a:rPr lang="ru-RU" sz="900" b="0" kern="1200" dirty="0">
                          <a:solidFill>
                            <a:schemeClr val="tx1"/>
                          </a:solidFill>
                          <a:effectLst/>
                          <a:latin typeface="+mn-lt"/>
                          <a:ea typeface="+mn-ea"/>
                          <a:cs typeface="Times New Roman" panose="02020603050405020304" pitchFamily="18" charset="0"/>
                        </a:rPr>
                        <a:t>Амулет любви – </a:t>
                      </a:r>
                      <a:r>
                        <a:rPr lang="ru-RU" sz="900" b="0" kern="1200" dirty="0" err="1">
                          <a:solidFill>
                            <a:schemeClr val="tx1"/>
                          </a:solidFill>
                          <a:effectLst/>
                          <a:latin typeface="+mn-lt"/>
                          <a:ea typeface="+mn-ea"/>
                          <a:cs typeface="Times New Roman" panose="02020603050405020304" pitchFamily="18" charset="0"/>
                        </a:rPr>
                        <a:t>Чундари</a:t>
                      </a:r>
                      <a:r>
                        <a:rPr lang="uz-Cyrl-UZ" sz="900" b="0" kern="1200" dirty="0">
                          <a:solidFill>
                            <a:schemeClr val="tx1"/>
                          </a:solidFill>
                          <a:effectLst/>
                          <a:latin typeface="+mn-lt"/>
                          <a:ea typeface="+mn-ea"/>
                          <a:cs typeface="Times New Roman" panose="02020603050405020304" pitchFamily="18" charset="0"/>
                        </a:rPr>
                        <a:t>. </a:t>
                      </a:r>
                      <a:r>
                        <a:rPr lang="ru-RU" sz="900" b="0" kern="1200" dirty="0" err="1">
                          <a:solidFill>
                            <a:schemeClr val="tx1"/>
                          </a:solidFill>
                          <a:effectLst/>
                          <a:latin typeface="+mn-lt"/>
                          <a:ea typeface="+mn-ea"/>
                          <a:cs typeface="Times New Roman" panose="02020603050405020304" pitchFamily="18" charset="0"/>
                        </a:rPr>
                        <a:t>Хумо</a:t>
                      </a:r>
                      <a:r>
                        <a:rPr lang="ru-RU" sz="900" b="0" kern="1200" dirty="0">
                          <a:solidFill>
                            <a:schemeClr val="tx1"/>
                          </a:solidFill>
                          <a:effectLst/>
                          <a:latin typeface="+mn-lt"/>
                          <a:ea typeface="+mn-ea"/>
                          <a:cs typeface="Times New Roman" panose="02020603050405020304" pitchFamily="18" charset="0"/>
                        </a:rPr>
                        <a:t> – </a:t>
                      </a:r>
                      <a:r>
                        <a:rPr lang="ru-RU" sz="900" b="0" kern="1200" dirty="0" err="1">
                          <a:solidFill>
                            <a:schemeClr val="tx1"/>
                          </a:solidFill>
                          <a:effectLst/>
                          <a:latin typeface="+mn-lt"/>
                          <a:ea typeface="+mn-ea"/>
                          <a:cs typeface="Times New Roman" panose="02020603050405020304" pitchFamily="18" charset="0"/>
                        </a:rPr>
                        <a:t>Хумо</a:t>
                      </a:r>
                      <a:r>
                        <a:rPr lang="uz-Cyrl-UZ" sz="900" b="0" kern="1200" dirty="0">
                          <a:solidFill>
                            <a:schemeClr val="tx1"/>
                          </a:solidFill>
                          <a:effectLst/>
                          <a:latin typeface="+mn-lt"/>
                          <a:ea typeface="+mn-ea"/>
                          <a:cs typeface="Times New Roman" panose="02020603050405020304" pitchFamily="18" charset="0"/>
                        </a:rPr>
                        <a:t>. </a:t>
                      </a:r>
                      <a:r>
                        <a:rPr lang="ru-RU" sz="900" b="0" kern="1200" dirty="0">
                          <a:solidFill>
                            <a:schemeClr val="tx1"/>
                          </a:solidFill>
                          <a:effectLst/>
                          <a:latin typeface="+mn-lt"/>
                          <a:ea typeface="+mn-ea"/>
                          <a:cs typeface="Times New Roman" panose="02020603050405020304" pitchFamily="18" charset="0"/>
                        </a:rPr>
                        <a:t>Золушка – вариация Лето</a:t>
                      </a:r>
                      <a:r>
                        <a:rPr lang="uz-Cyrl-UZ" sz="900" b="0" kern="1200" dirty="0">
                          <a:solidFill>
                            <a:schemeClr val="tx1"/>
                          </a:solidFill>
                          <a:effectLst/>
                          <a:latin typeface="+mn-lt"/>
                          <a:ea typeface="+mn-ea"/>
                          <a:cs typeface="Times New Roman" panose="02020603050405020304" pitchFamily="18" charset="0"/>
                        </a:rPr>
                        <a:t>, </a:t>
                      </a:r>
                      <a:r>
                        <a:rPr lang="ru-RU" sz="900" b="0" kern="1200" dirty="0">
                          <a:solidFill>
                            <a:schemeClr val="tx1"/>
                          </a:solidFill>
                          <a:effectLst/>
                          <a:latin typeface="+mn-lt"/>
                          <a:ea typeface="+mn-ea"/>
                          <a:cs typeface="Times New Roman" panose="02020603050405020304" pitchFamily="18" charset="0"/>
                        </a:rPr>
                        <a:t>Раймонда – Раймонда, 2</a:t>
                      </a:r>
                      <a:r>
                        <a:rPr lang="uz-Cyrl-UZ" sz="900" b="0" kern="1200" dirty="0">
                          <a:solidFill>
                            <a:schemeClr val="tx1"/>
                          </a:solidFill>
                          <a:effectLst/>
                          <a:latin typeface="+mn-lt"/>
                          <a:ea typeface="+mn-ea"/>
                          <a:cs typeface="Times New Roman" panose="02020603050405020304" pitchFamily="18" charset="0"/>
                        </a:rPr>
                        <a:t>т</a:t>
                      </a:r>
                      <a:r>
                        <a:rPr lang="ru-RU" sz="900" b="0" kern="1200" dirty="0">
                          <a:solidFill>
                            <a:schemeClr val="tx1"/>
                          </a:solidFill>
                          <a:effectLst/>
                          <a:latin typeface="+mn-lt"/>
                          <a:ea typeface="+mn-ea"/>
                          <a:cs typeface="Times New Roman" panose="02020603050405020304" pitchFamily="18" charset="0"/>
                        </a:rPr>
                        <a:t>а подруг, </a:t>
                      </a:r>
                      <a:r>
                        <a:rPr lang="en-US" sz="900" b="0" kern="1200" dirty="0">
                          <a:solidFill>
                            <a:schemeClr val="tx1"/>
                          </a:solidFill>
                          <a:effectLst/>
                          <a:latin typeface="+mn-lt"/>
                          <a:ea typeface="+mn-ea"/>
                          <a:cs typeface="Times New Roman" panose="02020603050405020304" pitchFamily="18" charset="0"/>
                        </a:rPr>
                        <a:t>grand</a:t>
                      </a:r>
                      <a:r>
                        <a:rPr lang="ru-RU" sz="900" b="0" kern="1200" dirty="0">
                          <a:solidFill>
                            <a:schemeClr val="tx1"/>
                          </a:solidFill>
                          <a:effectLst/>
                          <a:latin typeface="+mn-lt"/>
                          <a:ea typeface="+mn-ea"/>
                          <a:cs typeface="Times New Roman" panose="02020603050405020304" pitchFamily="18" charset="0"/>
                        </a:rPr>
                        <a:t>- </a:t>
                      </a:r>
                      <a:r>
                        <a:rPr lang="en-US" sz="900" b="0" kern="1200" dirty="0">
                          <a:solidFill>
                            <a:schemeClr val="tx1"/>
                          </a:solidFill>
                          <a:effectLst/>
                          <a:latin typeface="+mn-lt"/>
                          <a:ea typeface="+mn-ea"/>
                          <a:cs typeface="Times New Roman" panose="02020603050405020304" pitchFamily="18" charset="0"/>
                        </a:rPr>
                        <a:t>pas</a:t>
                      </a:r>
                      <a:r>
                        <a:rPr lang="uz-Cyrl-UZ" sz="900" b="0" kern="1200" dirty="0">
                          <a:solidFill>
                            <a:schemeClr val="tx1"/>
                          </a:solidFill>
                          <a:effectLst/>
                          <a:latin typeface="+mn-lt"/>
                          <a:ea typeface="+mn-ea"/>
                          <a:cs typeface="Times New Roman" panose="02020603050405020304" pitchFamily="18" charset="0"/>
                        </a:rPr>
                        <a:t>. </a:t>
                      </a:r>
                      <a:r>
                        <a:rPr lang="ru-RU" sz="900" b="0" kern="1200" dirty="0">
                          <a:solidFill>
                            <a:schemeClr val="tx1"/>
                          </a:solidFill>
                          <a:effectLst/>
                          <a:latin typeface="+mn-lt"/>
                          <a:ea typeface="+mn-ea"/>
                          <a:cs typeface="Times New Roman" panose="02020603050405020304" pitchFamily="18" charset="0"/>
                        </a:rPr>
                        <a:t>Эсмеральда – Эсмеральда</a:t>
                      </a:r>
                      <a:r>
                        <a:rPr lang="uz-Cyrl-UZ" sz="900" b="0" kern="1200" dirty="0">
                          <a:solidFill>
                            <a:schemeClr val="tx1"/>
                          </a:solidFill>
                          <a:effectLst/>
                          <a:latin typeface="+mn-lt"/>
                          <a:ea typeface="+mn-ea"/>
                          <a:cs typeface="Times New Roman" panose="02020603050405020304" pitchFamily="18" charset="0"/>
                        </a:rPr>
                        <a:t>. </a:t>
                      </a:r>
                      <a:r>
                        <a:rPr lang="ru-RU" sz="900" b="0" kern="1200" dirty="0">
                          <a:solidFill>
                            <a:schemeClr val="tx1"/>
                          </a:solidFill>
                          <a:effectLst/>
                          <a:latin typeface="+mn-lt"/>
                          <a:ea typeface="+mn-ea"/>
                          <a:cs typeface="Times New Roman" panose="02020603050405020304" pitchFamily="18" charset="0"/>
                        </a:rPr>
                        <a:t>Кармен- сюита- Кармен</a:t>
                      </a:r>
                      <a:r>
                        <a:rPr lang="uz-Cyrl-UZ" sz="900" b="0" kern="1200" dirty="0">
                          <a:solidFill>
                            <a:schemeClr val="tx1"/>
                          </a:solidFill>
                          <a:effectLst/>
                          <a:latin typeface="+mn-lt"/>
                          <a:ea typeface="+mn-ea"/>
                          <a:cs typeface="Times New Roman" panose="02020603050405020304" pitchFamily="18" charset="0"/>
                        </a:rPr>
                        <a:t>. </a:t>
                      </a:r>
                      <a:r>
                        <a:rPr lang="ru-RU" sz="900" b="0" kern="1200" dirty="0">
                          <a:solidFill>
                            <a:schemeClr val="tx1"/>
                          </a:solidFill>
                          <a:effectLst/>
                          <a:latin typeface="+mn-lt"/>
                          <a:ea typeface="+mn-ea"/>
                          <a:cs typeface="Times New Roman" panose="02020603050405020304" pitchFamily="18" charset="0"/>
                        </a:rPr>
                        <a:t>Легенда древнего </a:t>
                      </a:r>
                      <a:r>
                        <a:rPr lang="ru-RU" sz="900" b="0" kern="1200" dirty="0" err="1">
                          <a:solidFill>
                            <a:schemeClr val="tx1"/>
                          </a:solidFill>
                          <a:effectLst/>
                          <a:latin typeface="+mn-lt"/>
                          <a:ea typeface="+mn-ea"/>
                          <a:cs typeface="Times New Roman" panose="02020603050405020304" pitchFamily="18" charset="0"/>
                        </a:rPr>
                        <a:t>Афросиаба</a:t>
                      </a:r>
                      <a:r>
                        <a:rPr lang="ru-RU" sz="900" b="0" kern="1200" dirty="0">
                          <a:solidFill>
                            <a:schemeClr val="tx1"/>
                          </a:solidFill>
                          <a:effectLst/>
                          <a:latin typeface="+mn-lt"/>
                          <a:ea typeface="+mn-ea"/>
                          <a:cs typeface="Times New Roman" panose="02020603050405020304" pitchFamily="18" charset="0"/>
                        </a:rPr>
                        <a:t> – Шахиня</a:t>
                      </a:r>
                      <a:r>
                        <a:rPr lang="uz-Cyrl-UZ" sz="900" b="0" kern="1200" dirty="0">
                          <a:solidFill>
                            <a:schemeClr val="tx1"/>
                          </a:solidFill>
                          <a:effectLst/>
                          <a:latin typeface="+mn-lt"/>
                          <a:ea typeface="+mn-ea"/>
                          <a:cs typeface="Times New Roman" panose="02020603050405020304" pitchFamily="18" charset="0"/>
                        </a:rPr>
                        <a:t>, </a:t>
                      </a:r>
                      <a:r>
                        <a:rPr lang="ru-RU" sz="900" b="0" kern="1200" dirty="0">
                          <a:solidFill>
                            <a:schemeClr val="tx1"/>
                          </a:solidFill>
                          <a:effectLst/>
                          <a:latin typeface="+mn-lt"/>
                          <a:ea typeface="+mn-ea"/>
                          <a:cs typeface="Times New Roman" panose="02020603050405020304" pitchFamily="18" charset="0"/>
                        </a:rPr>
                        <a:t>Проделки Насреддина – </a:t>
                      </a:r>
                      <a:r>
                        <a:rPr lang="ru-RU" sz="900" b="0" kern="1200" dirty="0" err="1">
                          <a:solidFill>
                            <a:schemeClr val="tx1"/>
                          </a:solidFill>
                          <a:effectLst/>
                          <a:latin typeface="+mn-lt"/>
                          <a:ea typeface="+mn-ea"/>
                          <a:cs typeface="Times New Roman" panose="02020603050405020304" pitchFamily="18" charset="0"/>
                        </a:rPr>
                        <a:t>Зумрад</a:t>
                      </a:r>
                      <a:r>
                        <a:rPr lang="uz-Cyrl-UZ" sz="900" b="0" kern="1200" dirty="0">
                          <a:solidFill>
                            <a:schemeClr val="tx1"/>
                          </a:solidFill>
                          <a:effectLst/>
                          <a:latin typeface="+mn-lt"/>
                          <a:ea typeface="+mn-ea"/>
                          <a:cs typeface="Times New Roman" panose="02020603050405020304" pitchFamily="18" charset="0"/>
                        </a:rPr>
                        <a:t> образлари мутахассис ва томошабинлар эътирофига сазовор бўлган.</a:t>
                      </a:r>
                      <a:endParaRPr lang="ru-RU" sz="900" b="0" kern="1200" dirty="0">
                        <a:solidFill>
                          <a:schemeClr val="tx1"/>
                        </a:solidFill>
                        <a:effectLst/>
                        <a:latin typeface="+mn-lt"/>
                        <a:ea typeface="+mn-ea"/>
                        <a:cs typeface="Times New Roman" panose="02020603050405020304" pitchFamily="18" charset="0"/>
                      </a:endParaRPr>
                    </a:p>
                    <a:p>
                      <a:pPr marL="0" indent="179388" algn="just"/>
                      <a:r>
                        <a:rPr lang="uz-Cyrl-UZ" sz="900" b="0" kern="1200" dirty="0">
                          <a:solidFill>
                            <a:schemeClr val="tx1"/>
                          </a:solidFill>
                          <a:effectLst/>
                          <a:latin typeface="+mn-lt"/>
                          <a:ea typeface="+mn-ea"/>
                          <a:cs typeface="Times New Roman" panose="02020603050405020304" pitchFamily="18" charset="0"/>
                        </a:rPr>
                        <a:t>Нозима Хасанова бир қатор республика ва халқаро миқёсида ўтказилган кўрик-фестивалларда  иштирок  этиб  лауреат  бўлган. 2010 йил Козоғистонда бўлиб ўтган халқаро “Орлеу” конкурси лауреати. У театр жамоаси билан бирга республика бўйлаб ҳамда Тайланд, Сингапур, Гон- Конг, Малайзия, Япония, Китай, Турция, Хитойда Грузия театр билан каби қатор хорижий давлатларга уюштирилган гастрол сафарларида иштирок этиб, юртимиз балет санъатини халқаро майдонларда муносиб намойиш этган.</a:t>
                      </a:r>
                      <a:endParaRPr lang="ru-RU" sz="900" b="0" kern="1200" dirty="0">
                        <a:solidFill>
                          <a:schemeClr val="tx1"/>
                        </a:solidFill>
                        <a:effectLst/>
                        <a:latin typeface="+mn-lt"/>
                        <a:ea typeface="+mn-ea"/>
                        <a:cs typeface="Times New Roman" panose="02020603050405020304" pitchFamily="18" charset="0"/>
                      </a:endParaRPr>
                    </a:p>
                    <a:p>
                      <a:pPr marL="0" indent="179388" algn="just"/>
                      <a:r>
                        <a:rPr lang="uz-Cyrl-UZ" sz="900" b="0" kern="1200" dirty="0" smtClean="0">
                          <a:solidFill>
                            <a:schemeClr val="tx1"/>
                          </a:solidFill>
                          <a:effectLst/>
                          <a:latin typeface="+mn-lt"/>
                          <a:ea typeface="+mn-ea"/>
                          <a:cs typeface="Times New Roman" panose="02020603050405020304" pitchFamily="18" charset="0"/>
                        </a:rPr>
                        <a:t>Нозима </a:t>
                      </a:r>
                      <a:r>
                        <a:rPr lang="uz-Cyrl-UZ" sz="900" b="0" kern="1200" dirty="0">
                          <a:solidFill>
                            <a:schemeClr val="tx1"/>
                          </a:solidFill>
                          <a:effectLst/>
                          <a:latin typeface="+mn-lt"/>
                          <a:ea typeface="+mn-ea"/>
                          <a:cs typeface="Times New Roman" panose="02020603050405020304" pitchFamily="18" charset="0"/>
                        </a:rPr>
                        <a:t>Хасанова </a:t>
                      </a:r>
                      <a:r>
                        <a:rPr lang="uz-Cyrl-UZ" sz="900" kern="1200" dirty="0" smtClean="0">
                          <a:solidFill>
                            <a:schemeClr val="tx1"/>
                          </a:solidFill>
                          <a:effectLst/>
                          <a:latin typeface="+mn-lt"/>
                          <a:ea typeface="+mn-ea"/>
                          <a:cs typeface="Times New Roman" panose="02020603050405020304" pitchFamily="18" charset="0"/>
                        </a:rPr>
                        <a:t>ўз касбининг фидоийси, юқори малакали балет</a:t>
                      </a:r>
                      <a:r>
                        <a:rPr lang="uz-Cyrl-UZ" sz="900" kern="1200" baseline="0" dirty="0" smtClean="0">
                          <a:solidFill>
                            <a:schemeClr val="tx1"/>
                          </a:solidFill>
                          <a:effectLst/>
                          <a:latin typeface="+mn-lt"/>
                          <a:ea typeface="+mn-ea"/>
                          <a:cs typeface="Times New Roman" panose="02020603050405020304" pitchFamily="18" charset="0"/>
                        </a:rPr>
                        <a:t> муррабийси сифатида ёш балетчиларнинг </a:t>
                      </a:r>
                      <a:r>
                        <a:rPr lang="uz-Cyrl-UZ" sz="900" kern="1200" dirty="0" smtClean="0">
                          <a:solidFill>
                            <a:schemeClr val="tx1"/>
                          </a:solidFill>
                          <a:effectLst/>
                          <a:latin typeface="+mn-lt"/>
                          <a:ea typeface="+mn-ea"/>
                          <a:cs typeface="Times New Roman" panose="02020603050405020304" pitchFamily="18" charset="0"/>
                        </a:rPr>
                        <a:t> иқтидорини очилишига ва</a:t>
                      </a:r>
                      <a:r>
                        <a:rPr lang="uz-Cyrl-UZ" sz="900" kern="1200" baseline="0" dirty="0" smtClean="0">
                          <a:solidFill>
                            <a:schemeClr val="tx1"/>
                          </a:solidFill>
                          <a:effectLst/>
                          <a:latin typeface="+mn-lt"/>
                          <a:ea typeface="+mn-ea"/>
                          <a:cs typeface="Times New Roman" panose="02020603050405020304" pitchFamily="18" charset="0"/>
                        </a:rPr>
                        <a:t> ривожига ҳисса қўшиб келмоқда.</a:t>
                      </a:r>
                      <a:endParaRPr lang="ru-RU" sz="8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68734">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13496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Picture 2">
            <a:extLst>
              <a:ext uri="{FF2B5EF4-FFF2-40B4-BE49-F238E27FC236}">
                <a16:creationId xmlns:a16="http://schemas.microsoft.com/office/drawing/2014/main" id="{E5D5848A-2657-4E19-26B8-26865B6E7622}"/>
              </a:ext>
            </a:extLst>
          </p:cNvPr>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20133" y="1168241"/>
            <a:ext cx="831000" cy="1061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47137434"/>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38896" y="865690"/>
          <a:ext cx="3343436" cy="5892184"/>
        </p:xfrm>
        <a:graphic>
          <a:graphicData uri="http://schemas.openxmlformats.org/drawingml/2006/table">
            <a:tbl>
              <a:tblPr firstRow="1" bandRow="1">
                <a:tableStyleId>{C083E6E3-FA7D-4D7B-A595-EF9225AFEA82}</a:tableStyleId>
              </a:tblPr>
              <a:tblGrid>
                <a:gridCol w="511079">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178414">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57926">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cs typeface="Times New Roman" panose="02020603050405020304" pitchFamily="18" charset="0"/>
                        </a:rPr>
                        <a:t>Фамилияси:</a:t>
                      </a:r>
                      <a:endParaRPr lang="ru-RU" sz="9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ru-RU" sz="900" b="0" kern="1200" dirty="0" err="1">
                          <a:solidFill>
                            <a:schemeClr val="tx1"/>
                          </a:solidFill>
                          <a:effectLst/>
                          <a:latin typeface="+mn-lt"/>
                          <a:ea typeface="+mn-ea"/>
                          <a:cs typeface="Times New Roman" panose="02020603050405020304" pitchFamily="18" charset="0"/>
                        </a:rPr>
                        <a:t>Хуррамов</a:t>
                      </a:r>
                      <a:endParaRPr lang="ru-RU" sz="900" b="0" kern="1200" dirty="0">
                        <a:solidFill>
                          <a:schemeClr val="tx1"/>
                        </a:solidFill>
                        <a:effectLst/>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4768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cs typeface="Times New Roman" panose="02020603050405020304" pitchFamily="18" charset="0"/>
                        </a:rPr>
                        <a:t>Исми:</a:t>
                      </a:r>
                      <a:endParaRPr lang="ru-RU" sz="9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900" b="0" kern="1200" dirty="0">
                          <a:solidFill>
                            <a:schemeClr val="tx1"/>
                          </a:solidFill>
                          <a:effectLst/>
                          <a:latin typeface="+mn-lt"/>
                          <a:ea typeface="+mn-ea"/>
                          <a:cs typeface="Times New Roman" panose="02020603050405020304" pitchFamily="18" charset="0"/>
                        </a:rPr>
                        <a:t>Мансур</a:t>
                      </a:r>
                      <a:endParaRPr lang="uz-Cyrl-UZ" sz="9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4768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cs typeface="Times New Roman" panose="02020603050405020304" pitchFamily="18" charset="0"/>
                        </a:rPr>
                        <a:t>Отасининг исми:</a:t>
                      </a:r>
                      <a:endParaRPr lang="ru-RU" sz="9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900" b="0" kern="1200" dirty="0">
                          <a:solidFill>
                            <a:schemeClr val="tx1"/>
                          </a:solidFill>
                          <a:effectLst/>
                          <a:latin typeface="+mn-lt"/>
                          <a:ea typeface="+mn-ea"/>
                          <a:cs typeface="Times New Roman" panose="02020603050405020304" pitchFamily="18" charset="0"/>
                        </a:rPr>
                        <a:t>Расулович</a:t>
                      </a:r>
                      <a:endParaRPr lang="uz-Cyrl-UZ" sz="9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3947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cs typeface="Times New Roman" panose="02020603050405020304" pitchFamily="18" charset="0"/>
                        </a:rPr>
                        <a:t>Миллати:</a:t>
                      </a:r>
                      <a:endParaRPr lang="ru-RU" sz="900" dirty="0">
                        <a:latin typeface="+mn-lt"/>
                        <a:cs typeface="Times New Roman" panose="02020603050405020304" pitchFamily="18" charset="0"/>
                      </a:endParaRPr>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Times New Roman" panose="02020603050405020304" pitchFamily="18" charset="0"/>
                        </a:rPr>
                        <a:t>ЎЗБЕК</a:t>
                      </a:r>
                      <a:endParaRPr lang="ru-RU" sz="9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4768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cs typeface="Times New Roman" panose="02020603050405020304" pitchFamily="18" charset="0"/>
                        </a:rPr>
                        <a:t>Туғилган санаси:</a:t>
                      </a:r>
                      <a:endParaRPr lang="ru-RU" sz="9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a:solidFill>
                            <a:schemeClr val="tx1"/>
                          </a:solidFill>
                          <a:effectLst/>
                          <a:latin typeface="+mn-lt"/>
                          <a:ea typeface="+mn-ea"/>
                          <a:cs typeface="Times New Roman" panose="02020603050405020304" pitchFamily="18" charset="0"/>
                        </a:rPr>
                        <a:t>20.05.1955</a:t>
                      </a:r>
                      <a:endParaRPr lang="ru-RU" sz="9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4768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cs typeface="Times New Roman" panose="02020603050405020304" pitchFamily="18" charset="0"/>
                        </a:rPr>
                        <a:t>Туғилган жойи:</a:t>
                      </a:r>
                      <a:endParaRPr lang="ru-RU" sz="9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a:solidFill>
                            <a:schemeClr val="tx1"/>
                          </a:solidFill>
                          <a:effectLst/>
                          <a:latin typeface="+mn-lt"/>
                          <a:ea typeface="+mn-ea"/>
                          <a:cs typeface="Times New Roman" panose="02020603050405020304" pitchFamily="18" charset="0"/>
                        </a:rPr>
                        <a:t>Қашқадарё вило</a:t>
                      </a:r>
                      <a:r>
                        <a:rPr lang="ru-RU" sz="900" b="0" kern="1200" dirty="0">
                          <a:solidFill>
                            <a:schemeClr val="tx1"/>
                          </a:solidFill>
                          <a:effectLst/>
                          <a:latin typeface="+mn-lt"/>
                          <a:ea typeface="+mn-ea"/>
                          <a:cs typeface="Times New Roman" panose="02020603050405020304" pitchFamily="18" charset="0"/>
                        </a:rPr>
                        <a:t>я</a:t>
                      </a:r>
                      <a:r>
                        <a:rPr lang="uz-Cyrl-UZ" sz="900" b="0" kern="1200" dirty="0">
                          <a:solidFill>
                            <a:schemeClr val="tx1"/>
                          </a:solidFill>
                          <a:effectLst/>
                          <a:latin typeface="+mn-lt"/>
                          <a:ea typeface="+mn-ea"/>
                          <a:cs typeface="Times New Roman" panose="02020603050405020304" pitchFamily="18" charset="0"/>
                        </a:rPr>
                        <a:t>ти</a:t>
                      </a:r>
                      <a:endParaRPr lang="uz-Cyrl-UZ" sz="900" b="0" kern="120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169308">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17464">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cs typeface="Times New Roman" panose="02020603050405020304" pitchFamily="18" charset="0"/>
                        </a:rPr>
                        <a:t>Оилавий ва ижтимоий ахволи:</a:t>
                      </a:r>
                      <a:endParaRPr lang="uz-Cyrl-UZ" sz="900" b="1" dirty="0">
                        <a:solidFill>
                          <a:schemeClr val="bg1"/>
                        </a:solidFill>
                        <a:latin typeface="+mn-lt"/>
                        <a:cs typeface="Times New Roman" panose="02020603050405020304" pitchFamily="18"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algn="ctr"/>
                      <a:r>
                        <a:rPr lang="uz-Cyrl-UZ" sz="900" b="0" kern="1200" noProof="0" dirty="0" smtClean="0">
                          <a:solidFill>
                            <a:schemeClr val="tx1"/>
                          </a:solidFill>
                          <a:latin typeface="+mn-lt"/>
                          <a:ea typeface="+mn-ea"/>
                          <a:cs typeface="Times New Roman" panose="02020603050405020304" pitchFamily="18" charset="0"/>
                        </a:rPr>
                        <a:t>буйдоқ</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169308">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5063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ru-RU" sz="900" kern="1200" dirty="0" err="1">
                          <a:solidFill>
                            <a:schemeClr val="tx1"/>
                          </a:solidFill>
                          <a:effectLst/>
                          <a:latin typeface="+mn-lt"/>
                          <a:ea typeface="+mn-ea"/>
                          <a:cs typeface="Times New Roman" panose="02020603050405020304" pitchFamily="18" charset="0"/>
                        </a:rPr>
                        <a:t>Хуррамов</a:t>
                      </a:r>
                      <a:endParaRPr lang="ru-RU" sz="900" kern="1200" dirty="0">
                        <a:solidFill>
                          <a:schemeClr val="tx1"/>
                        </a:solidFill>
                        <a:effectLst/>
                        <a:latin typeface="+mn-lt"/>
                        <a:ea typeface="+mn-ea"/>
                        <a:cs typeface="Times New Roman" panose="02020603050405020304" pitchFamily="18" charset="0"/>
                      </a:endParaRPr>
                    </a:p>
                    <a:p>
                      <a:r>
                        <a:rPr lang="ru-RU" sz="900" kern="1200" dirty="0">
                          <a:solidFill>
                            <a:schemeClr val="tx1"/>
                          </a:solidFill>
                          <a:effectLst/>
                          <a:latin typeface="+mn-lt"/>
                          <a:ea typeface="+mn-ea"/>
                          <a:cs typeface="Times New Roman" panose="02020603050405020304" pitchFamily="18" charset="0"/>
                        </a:rPr>
                        <a:t>Расул 1922 й</a:t>
                      </a:r>
                      <a:r>
                        <a:rPr lang="uz-Cyrl-UZ" sz="900" kern="1200" dirty="0">
                          <a:solidFill>
                            <a:schemeClr val="tx1"/>
                          </a:solidFill>
                          <a:effectLst/>
                          <a:latin typeface="+mn-lt"/>
                          <a:ea typeface="+mn-ea"/>
                          <a:cs typeface="Times New Roman" panose="02020603050405020304" pitchFamily="18" charset="0"/>
                        </a:rPr>
                        <a:t>ил,</a:t>
                      </a:r>
                      <a:endParaRPr lang="ru-RU" sz="900" kern="1200" dirty="0">
                        <a:solidFill>
                          <a:schemeClr val="tx1"/>
                        </a:solidFill>
                        <a:effectLst/>
                        <a:latin typeface="+mn-lt"/>
                        <a:ea typeface="+mn-ea"/>
                        <a:cs typeface="Times New Roman" panose="02020603050405020304" pitchFamily="18" charset="0"/>
                      </a:endParaRPr>
                    </a:p>
                    <a:p>
                      <a:r>
                        <a:rPr lang="uz-Cyrl-UZ" sz="900" kern="1200" dirty="0">
                          <a:solidFill>
                            <a:schemeClr val="tx1"/>
                          </a:solidFill>
                          <a:effectLst/>
                          <a:latin typeface="+mn-lt"/>
                          <a:ea typeface="+mn-ea"/>
                          <a:cs typeface="Times New Roman" panose="02020603050405020304" pitchFamily="18" charset="0"/>
                        </a:rPr>
                        <a:t>Қашқадарё вилояти</a:t>
                      </a:r>
                      <a:endParaRPr lang="uz-Cyrl-UZ" sz="900" b="0" kern="1200" noProof="0" dirty="0">
                        <a:solidFill>
                          <a:schemeClr val="tx1"/>
                        </a:solidFill>
                        <a:latin typeface="+mn-lt"/>
                        <a:ea typeface="+mn-ea"/>
                        <a:cs typeface="Times New Roman" panose="02020603050405020304" pitchFamily="18" charset="0"/>
                      </a:endParaRPr>
                    </a:p>
                    <a:p>
                      <a:pPr algn="l">
                        <a:lnSpc>
                          <a:spcPct val="85000"/>
                        </a:lnSpc>
                      </a:pP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a:solidFill>
                            <a:schemeClr val="tx1"/>
                          </a:solidFill>
                          <a:effectLst/>
                          <a:latin typeface="+mn-lt"/>
                          <a:ea typeface="+mn-ea"/>
                          <a:cs typeface="Times New Roman" panose="02020603050405020304" pitchFamily="18" charset="0"/>
                        </a:rPr>
                        <a:t>Вафот этган</a:t>
                      </a:r>
                      <a:endParaRPr lang="ru-RU" sz="900" kern="1200" dirty="0">
                        <a:solidFill>
                          <a:schemeClr val="tx1"/>
                        </a:solidFill>
                        <a:effectLst/>
                        <a:latin typeface="+mn-lt"/>
                        <a:ea typeface="+mn-ea"/>
                        <a:cs typeface="Times New Roman" panose="02020603050405020304" pitchFamily="18" charset="0"/>
                      </a:endParaRPr>
                    </a:p>
                    <a:p>
                      <a:r>
                        <a:rPr lang="uz-Cyrl-UZ" sz="900" kern="1200" dirty="0">
                          <a:solidFill>
                            <a:schemeClr val="tx1"/>
                          </a:solidFill>
                          <a:effectLst/>
                          <a:latin typeface="+mn-lt"/>
                          <a:ea typeface="+mn-ea"/>
                          <a:cs typeface="Times New Roman" panose="02020603050405020304" pitchFamily="18" charset="0"/>
                        </a:rPr>
                        <a:t>(совхоз бригадири)</a:t>
                      </a:r>
                      <a:endParaRPr lang="ru-RU"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67679">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uz-Cyrl-UZ" sz="900" kern="1200" dirty="0" smtClean="0">
                          <a:solidFill>
                            <a:schemeClr val="tx1"/>
                          </a:solidFill>
                          <a:effectLst/>
                          <a:latin typeface="+mn-lt"/>
                          <a:ea typeface="+mn-ea"/>
                          <a:cs typeface="Times New Roman" panose="02020603050405020304" pitchFamily="18" charset="0"/>
                        </a:rPr>
                        <a:t>Хуррамова Тути</a:t>
                      </a:r>
                      <a:endParaRPr lang="ru-RU" sz="900" kern="1200" dirty="0">
                        <a:solidFill>
                          <a:schemeClr val="tx1"/>
                        </a:solidFill>
                        <a:effectLst/>
                        <a:latin typeface="+mn-lt"/>
                        <a:ea typeface="+mn-ea"/>
                        <a:cs typeface="Times New Roman" panose="02020603050405020304" pitchFamily="18" charset="0"/>
                      </a:endParaRPr>
                    </a:p>
                    <a:p>
                      <a:r>
                        <a:rPr lang="uz-Cyrl-UZ" sz="900" kern="1200" dirty="0">
                          <a:solidFill>
                            <a:schemeClr val="tx1"/>
                          </a:solidFill>
                          <a:effectLst/>
                          <a:latin typeface="+mn-lt"/>
                          <a:ea typeface="+mn-ea"/>
                          <a:cs typeface="Times New Roman" panose="02020603050405020304" pitchFamily="18" charset="0"/>
                        </a:rPr>
                        <a:t>Худойбердиевна,</a:t>
                      </a:r>
                    </a:p>
                    <a:p>
                      <a:r>
                        <a:rPr lang="uz-Cyrl-UZ" sz="900" kern="1200" dirty="0">
                          <a:solidFill>
                            <a:schemeClr val="tx1"/>
                          </a:solidFill>
                          <a:effectLst/>
                          <a:latin typeface="+mn-lt"/>
                          <a:ea typeface="+mn-ea"/>
                          <a:cs typeface="Times New Roman" panose="02020603050405020304" pitchFamily="18" charset="0"/>
                        </a:rPr>
                        <a:t>1930 </a:t>
                      </a:r>
                      <a:r>
                        <a:rPr lang="ru-RU" sz="900" kern="1200" dirty="0">
                          <a:solidFill>
                            <a:schemeClr val="tx1"/>
                          </a:solidFill>
                          <a:effectLst/>
                          <a:latin typeface="+mn-lt"/>
                          <a:ea typeface="+mn-ea"/>
                          <a:cs typeface="Times New Roman" panose="02020603050405020304" pitchFamily="18" charset="0"/>
                        </a:rPr>
                        <a:t>й</a:t>
                      </a:r>
                      <a:r>
                        <a:rPr lang="uz-Cyrl-UZ" sz="900" kern="1200" dirty="0">
                          <a:solidFill>
                            <a:schemeClr val="tx1"/>
                          </a:solidFill>
                          <a:effectLst/>
                          <a:latin typeface="+mn-lt"/>
                          <a:ea typeface="+mn-ea"/>
                          <a:cs typeface="Times New Roman" panose="02020603050405020304" pitchFamily="18" charset="0"/>
                        </a:rPr>
                        <a:t>ил,</a:t>
                      </a:r>
                      <a:endParaRPr lang="ru-RU" sz="900" kern="1200" dirty="0">
                        <a:solidFill>
                          <a:schemeClr val="tx1"/>
                        </a:solidFill>
                        <a:effectLst/>
                        <a:latin typeface="+mn-lt"/>
                        <a:ea typeface="+mn-ea"/>
                        <a:cs typeface="Times New Roman" panose="02020603050405020304" pitchFamily="18" charset="0"/>
                      </a:endParaRPr>
                    </a:p>
                    <a:p>
                      <a:r>
                        <a:rPr lang="uz-Cyrl-UZ" sz="900" kern="1200" dirty="0">
                          <a:solidFill>
                            <a:schemeClr val="tx1"/>
                          </a:solidFill>
                          <a:effectLst/>
                          <a:latin typeface="+mn-lt"/>
                          <a:ea typeface="+mn-ea"/>
                          <a:cs typeface="Times New Roman" panose="02020603050405020304" pitchFamily="18" charset="0"/>
                        </a:rPr>
                        <a:t>Қашқадарё вилояти</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a:solidFill>
                            <a:schemeClr val="tx1"/>
                          </a:solidFill>
                          <a:effectLst/>
                          <a:latin typeface="+mn-lt"/>
                          <a:ea typeface="+mn-ea"/>
                          <a:cs typeface="Times New Roman" panose="02020603050405020304" pitchFamily="18" charset="0"/>
                        </a:rPr>
                        <a:t>Уй бекаси</a:t>
                      </a:r>
                      <a:endParaRPr lang="ru-RU"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317464">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52235">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26036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Times New Roman" panose="02020603050405020304" pitchFamily="18" charset="0"/>
                        </a:rPr>
                        <a:t>1983 й., </a:t>
                      </a:r>
                      <a:r>
                        <a:rPr lang="ru-RU" sz="900" kern="1200" dirty="0" err="1">
                          <a:solidFill>
                            <a:schemeClr val="tx1"/>
                          </a:solidFill>
                          <a:effectLst/>
                          <a:latin typeface="+mn-lt"/>
                          <a:ea typeface="+mn-ea"/>
                          <a:cs typeface="Times New Roman" panose="02020603050405020304" pitchFamily="18" charset="0"/>
                        </a:rPr>
                        <a:t>Тошкент</a:t>
                      </a:r>
                      <a:r>
                        <a:rPr lang="uz-Cyrl-UZ" sz="900" kern="1200" dirty="0">
                          <a:solidFill>
                            <a:schemeClr val="tx1"/>
                          </a:solidFill>
                          <a:effectLst/>
                          <a:latin typeface="+mn-lt"/>
                          <a:ea typeface="+mn-ea"/>
                          <a:cs typeface="Times New Roman" panose="02020603050405020304" pitchFamily="18" charset="0"/>
                        </a:rPr>
                        <a:t> давлат консерваторияси </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кундузги</a:t>
                      </a:r>
                      <a:r>
                        <a:rPr lang="ru-RU" sz="900" kern="1200" dirty="0" smtClean="0">
                          <a:solidFill>
                            <a:schemeClr val="tx1"/>
                          </a:solidFill>
                          <a:effectLst/>
                          <a:latin typeface="+mn-lt"/>
                          <a:ea typeface="+mn-ea"/>
                          <a:cs typeface="Times New Roman" panose="02020603050405020304" pitchFamily="18" charset="0"/>
                        </a:rPr>
                        <a:t>)</a:t>
                      </a:r>
                      <a:r>
                        <a:rPr lang="uz-Cyrl-UZ" sz="900" kern="1200" dirty="0" smtClean="0">
                          <a:solidFill>
                            <a:schemeClr val="tx1"/>
                          </a:solidFill>
                          <a:effectLst/>
                          <a:latin typeface="+mn-lt"/>
                          <a:ea typeface="+mn-ea"/>
                          <a:cs typeface="Times New Roman" panose="02020603050405020304" pitchFamily="18" charset="0"/>
                        </a:rPr>
                        <a:t>                                                                               </a:t>
                      </a:r>
                      <a:endParaRPr lang="ru-RU" sz="900" kern="1200" dirty="0">
                        <a:solidFill>
                          <a:schemeClr val="tx1"/>
                        </a:solidFill>
                        <a:effectLst/>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60364">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uz-Cyrl-UZ" sz="900" kern="1200" dirty="0">
                          <a:solidFill>
                            <a:schemeClr val="tx1"/>
                          </a:solidFill>
                          <a:effectLst/>
                          <a:latin typeface="+mn-lt"/>
                          <a:ea typeface="+mn-ea"/>
                          <a:cs typeface="Times New Roman" panose="02020603050405020304" pitchFamily="18" charset="0"/>
                        </a:rPr>
                        <a:t>опера  хонандаси, вокал  бўйича педагог</a:t>
                      </a:r>
                      <a:endParaRPr lang="ru-RU" sz="900" dirty="0">
                        <a:latin typeface="+mn-lt"/>
                        <a:cs typeface="Times New Roman" panose="02020603050405020304" pitchFamily="18" charset="0"/>
                      </a:endParaRPr>
                    </a:p>
                    <a:p>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30392">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endParaRPr lang="ru-RU" sz="9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30392">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Times New Roman" panose="02020603050405020304" pitchFamily="18" charset="0"/>
                        </a:rPr>
                        <a:t>рус</a:t>
                      </a:r>
                      <a:r>
                        <a:rPr lang="en-US"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тили </a:t>
                      </a:r>
                      <a:endParaRPr lang="ru-RU" sz="900" dirty="0">
                        <a:latin typeface="+mn-lt"/>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17464">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Times New Roman" panose="02020603050405020304" pitchFamily="18" charset="0"/>
                        </a:rPr>
                        <a:t>Йўқ</a:t>
                      </a:r>
                      <a:endParaRPr lang="ru-RU" sz="900" b="0" kern="1200" noProof="0" dirty="0">
                        <a:solidFill>
                          <a:schemeClr val="tx1"/>
                        </a:solidFill>
                        <a:latin typeface="+mn-lt"/>
                        <a:ea typeface="+mn-ea"/>
                        <a:cs typeface="Times New Roman" panose="02020603050405020304"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67777" y="865690"/>
          <a:ext cx="3096634" cy="5924024"/>
        </p:xfrm>
        <a:graphic>
          <a:graphicData uri="http://schemas.openxmlformats.org/drawingml/2006/table">
            <a:tbl>
              <a:tblPr firstRow="1" bandRow="1">
                <a:tableStyleId>{C083E6E3-FA7D-4D7B-A595-EF9225AFEA82}</a:tableStyleId>
              </a:tblPr>
              <a:tblGrid>
                <a:gridCol w="1421035">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13486">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96038">
                <a:tc>
                  <a:txBody>
                    <a:bodyPr/>
                    <a:lstStyle/>
                    <a:p>
                      <a:pPr algn="l">
                        <a:lnSpc>
                          <a:spcPct val="85000"/>
                        </a:lnSpc>
                      </a:pPr>
                      <a:r>
                        <a:rPr lang="uz-Cyrl-UZ" sz="900" b="1" i="0" noProof="0" dirty="0">
                          <a:solidFill>
                            <a:schemeClr val="tx1"/>
                          </a:solidFill>
                          <a:latin typeface="+mn-lt"/>
                          <a:cs typeface="Times New Roman" panose="02020603050405020304" pitchFamily="18" charset="0"/>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just"/>
                      <a:r>
                        <a:rPr lang="uz-Cyrl-UZ" sz="900" b="0" kern="1200" smtClean="0">
                          <a:solidFill>
                            <a:schemeClr val="tx1"/>
                          </a:solidFill>
                          <a:effectLst/>
                          <a:latin typeface="+mn-lt"/>
                          <a:ea typeface="+mn-ea"/>
                          <a:cs typeface="Times New Roman" panose="02020603050405020304" pitchFamily="18" charset="0"/>
                        </a:rPr>
                        <a:t>Алишер </a:t>
                      </a:r>
                      <a:r>
                        <a:rPr lang="uz-Cyrl-UZ" sz="900" b="0" kern="1200" dirty="0">
                          <a:solidFill>
                            <a:schemeClr val="tx1"/>
                          </a:solidFill>
                          <a:effectLst/>
                          <a:latin typeface="+mn-lt"/>
                          <a:ea typeface="+mn-ea"/>
                          <a:cs typeface="Times New Roman" panose="02020603050405020304" pitchFamily="18" charset="0"/>
                        </a:rPr>
                        <a:t>Навоий номидаги </a:t>
                      </a:r>
                      <a:r>
                        <a:rPr lang="uz-Cyrl-UZ" sz="900" b="0" kern="1200">
                          <a:solidFill>
                            <a:schemeClr val="tx1"/>
                          </a:solidFill>
                          <a:effectLst/>
                          <a:latin typeface="+mn-lt"/>
                          <a:ea typeface="+mn-ea"/>
                          <a:cs typeface="Times New Roman" panose="02020603050405020304" pitchFamily="18" charset="0"/>
                        </a:rPr>
                        <a:t>Ўзбекистон </a:t>
                      </a:r>
                      <a:r>
                        <a:rPr lang="uz-Cyrl-UZ" sz="900" b="0" kern="1200" smtClean="0">
                          <a:solidFill>
                            <a:schemeClr val="tx1"/>
                          </a:solidFill>
                          <a:effectLst/>
                          <a:latin typeface="+mn-lt"/>
                          <a:ea typeface="+mn-ea"/>
                          <a:cs typeface="Times New Roman" panose="02020603050405020304" pitchFamily="18" charset="0"/>
                        </a:rPr>
                        <a:t>давлат академик </a:t>
                      </a:r>
                      <a:r>
                        <a:rPr lang="uz-Cyrl-UZ" sz="900" b="0" kern="1200" dirty="0">
                          <a:solidFill>
                            <a:schemeClr val="tx1"/>
                          </a:solidFill>
                          <a:effectLst/>
                          <a:latin typeface="+mn-lt"/>
                          <a:ea typeface="+mn-ea"/>
                          <a:cs typeface="Times New Roman" panose="02020603050405020304" pitchFamily="18" charset="0"/>
                        </a:rPr>
                        <a:t>к</a:t>
                      </a:r>
                      <a:r>
                        <a:rPr lang="uz-Cyrl-UZ" sz="900" b="0" kern="1200" smtClean="0">
                          <a:solidFill>
                            <a:schemeClr val="tx1"/>
                          </a:solidFill>
                          <a:effectLst/>
                          <a:latin typeface="+mn-lt"/>
                          <a:ea typeface="+mn-ea"/>
                          <a:cs typeface="Times New Roman" panose="02020603050405020304" pitchFamily="18" charset="0"/>
                        </a:rPr>
                        <a:t>атта </a:t>
                      </a:r>
                      <a:r>
                        <a:rPr lang="uz-Cyrl-UZ" sz="900" b="0" kern="1200">
                          <a:solidFill>
                            <a:schemeClr val="tx1"/>
                          </a:solidFill>
                          <a:effectLst/>
                          <a:latin typeface="+mn-lt"/>
                          <a:ea typeface="+mn-ea"/>
                          <a:cs typeface="Times New Roman" panose="02020603050405020304" pitchFamily="18" charset="0"/>
                        </a:rPr>
                        <a:t>театри </a:t>
                      </a:r>
                      <a:r>
                        <a:rPr lang="uz-Cyrl-UZ" sz="900" b="0" kern="1200" smtClean="0">
                          <a:solidFill>
                            <a:schemeClr val="tx1"/>
                          </a:solidFill>
                          <a:effectLst/>
                          <a:latin typeface="+mn-lt"/>
                          <a:ea typeface="+mn-ea"/>
                          <a:cs typeface="Times New Roman" panose="02020603050405020304" pitchFamily="18" charset="0"/>
                        </a:rPr>
                        <a:t>миманс </a:t>
                      </a:r>
                      <a:r>
                        <a:rPr lang="uz-Cyrl-UZ" sz="900" b="0" kern="1200" dirty="0">
                          <a:solidFill>
                            <a:schemeClr val="tx1"/>
                          </a:solidFill>
                          <a:effectLst/>
                          <a:latin typeface="+mn-lt"/>
                          <a:ea typeface="+mn-ea"/>
                          <a:cs typeface="Times New Roman" panose="02020603050405020304" pitchFamily="18" charset="0"/>
                        </a:rPr>
                        <a:t>артисти</a:t>
                      </a:r>
                      <a:endParaRPr lang="ru-RU" sz="900" b="0" kern="1200" dirty="0">
                        <a:solidFill>
                          <a:schemeClr val="tx1"/>
                        </a:solidFill>
                        <a:effectLst/>
                        <a:latin typeface="+mn-lt"/>
                        <a:ea typeface="+mn-ea"/>
                        <a:cs typeface="Times New Roman" panose="02020603050405020304" pitchFamily="18" charset="0"/>
                      </a:endParaRPr>
                    </a:p>
                    <a:p>
                      <a:pPr marL="0" indent="0" algn="l">
                        <a:lnSpc>
                          <a:spcPct val="85000"/>
                        </a:lnSpc>
                      </a:pPr>
                      <a:r>
                        <a:rPr lang="uz-Cyrl-UZ" sz="900" b="0" kern="1200" dirty="0">
                          <a:solidFill>
                            <a:schemeClr val="tx1"/>
                          </a:solidFill>
                          <a:effectLst/>
                          <a:latin typeface="+mn-lt"/>
                          <a:ea typeface="+mn-ea"/>
                          <a:cs typeface="Times New Roman" panose="02020603050405020304" pitchFamily="18" charset="0"/>
                        </a:rPr>
                        <a:t> </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3916">
                <a:tc>
                  <a:txBody>
                    <a:bodyPr/>
                    <a:lstStyle/>
                    <a:p>
                      <a:pPr algn="l">
                        <a:lnSpc>
                          <a:spcPct val="85000"/>
                        </a:lnSpc>
                      </a:pPr>
                      <a:r>
                        <a:rPr lang="uz-Cyrl-UZ" sz="900" b="1" i="0" noProof="0" dirty="0">
                          <a:solidFill>
                            <a:schemeClr val="tx1"/>
                          </a:solidFill>
                          <a:latin typeface="+mn-lt"/>
                          <a:cs typeface="Times New Roman" panose="02020603050405020304" pitchFamily="18" charset="0"/>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Times New Roman" panose="02020603050405020304" pitchFamily="18" charset="0"/>
                        </a:rPr>
                        <a:t>Й</a:t>
                      </a:r>
                      <a:r>
                        <a:rPr lang="ru-RU" sz="900" b="0" kern="1200" noProof="0" dirty="0" err="1">
                          <a:solidFill>
                            <a:schemeClr val="tx1"/>
                          </a:solidFill>
                          <a:latin typeface="+mn-lt"/>
                          <a:ea typeface="+mn-ea"/>
                          <a:cs typeface="Times New Roman" panose="02020603050405020304" pitchFamily="18" charset="0"/>
                        </a:rPr>
                        <a:t>ўқ</a:t>
                      </a:r>
                      <a:endParaRPr lang="uz-Cyrl-UZ" sz="900" b="0" kern="1200" noProof="0" dirty="0">
                        <a:solidFill>
                          <a:schemeClr val="tx1"/>
                        </a:solidFill>
                        <a:latin typeface="+mn-lt"/>
                        <a:ea typeface="+mn-ea"/>
                        <a:cs typeface="Times New Roman" panose="02020603050405020304"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136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en-US" sz="900" b="0" noProof="0" dirty="0">
                          <a:effectLst/>
                          <a:latin typeface="+mn-lt"/>
                          <a:ea typeface="Calibri" panose="020F0502020204030204" pitchFamily="34" charset="0"/>
                          <a:cs typeface="Times New Roman" panose="02020603050405020304" pitchFamily="18" charset="0"/>
                        </a:rPr>
                        <a:t>42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753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3471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76808">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10968">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7184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10968">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6956">
                <a:tc gridSpan="2">
                  <a:txBody>
                    <a:bodyPr/>
                    <a:lstStyle/>
                    <a:p>
                      <a:pPr algn="ctr"/>
                      <a:r>
                        <a:rPr lang="uz-Cyrl-UZ" sz="9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946416">
                <a:tc gridSpan="2">
                  <a:txBody>
                    <a:bodyPr/>
                    <a:lstStyle/>
                    <a:p>
                      <a:pPr algn="just"/>
                      <a:r>
                        <a:rPr lang="uz-Cyrl-UZ" sz="900" kern="1200" dirty="0">
                          <a:solidFill>
                            <a:schemeClr val="tx1"/>
                          </a:solidFill>
                          <a:effectLst/>
                          <a:latin typeface="+mn-lt"/>
                          <a:ea typeface="+mn-ea"/>
                          <a:cs typeface="Times New Roman" panose="02020603050405020304" pitchFamily="18" charset="0"/>
                        </a:rPr>
                        <a:t>2001 </a:t>
                      </a:r>
                      <a:r>
                        <a:rPr lang="ru-RU" sz="900" kern="1200" dirty="0">
                          <a:solidFill>
                            <a:schemeClr val="tx1"/>
                          </a:solidFill>
                          <a:effectLst/>
                          <a:latin typeface="+mn-lt"/>
                          <a:ea typeface="+mn-ea"/>
                          <a:cs typeface="Times New Roman" panose="02020603050405020304" pitchFamily="18" charset="0"/>
                        </a:rPr>
                        <a:t>й</a:t>
                      </a:r>
                      <a:r>
                        <a:rPr lang="uz-Cyrl-UZ" sz="900" kern="1200" dirty="0">
                          <a:solidFill>
                            <a:schemeClr val="tx1"/>
                          </a:solidFill>
                          <a:effectLst/>
                          <a:latin typeface="+mn-lt"/>
                          <a:ea typeface="+mn-ea"/>
                          <a:cs typeface="Times New Roman" panose="02020603050405020304" pitchFamily="18" charset="0"/>
                        </a:rPr>
                        <a:t>. </a:t>
                      </a:r>
                      <a:r>
                        <a:rPr lang="uz-Cyrl-UZ" sz="900" b="1" kern="1200" dirty="0">
                          <a:solidFill>
                            <a:schemeClr val="tx1"/>
                          </a:solidFill>
                          <a:effectLst/>
                          <a:latin typeface="+mn-lt"/>
                          <a:ea typeface="+mn-ea"/>
                          <a:cs typeface="Times New Roman" panose="02020603050405020304" pitchFamily="18" charset="0"/>
                        </a:rPr>
                        <a:t>“</a:t>
                      </a:r>
                      <a:r>
                        <a:rPr lang="uz-Cyrl-UZ" sz="900" kern="1200" dirty="0">
                          <a:solidFill>
                            <a:schemeClr val="tx1"/>
                          </a:solidFill>
                          <a:effectLst/>
                          <a:latin typeface="+mn-lt"/>
                          <a:ea typeface="+mn-ea"/>
                          <a:cs typeface="Times New Roman" panose="02020603050405020304" pitchFamily="18" charset="0"/>
                        </a:rPr>
                        <a:t>Ўзбекистон Республикасида хизмат кўрсатган артист” унвони</a:t>
                      </a:r>
                      <a:endParaRPr lang="ru-RU" sz="900" kern="1200" dirty="0">
                        <a:solidFill>
                          <a:schemeClr val="tx1"/>
                        </a:solidFill>
                        <a:effectLst/>
                        <a:latin typeface="+mn-lt"/>
                        <a:ea typeface="+mn-ea"/>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5"/>
          <a:ext cx="2817247" cy="5897415"/>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8203">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0199">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78888">
                <a:tc>
                  <a:txBody>
                    <a:bodyPr/>
                    <a:lstStyle/>
                    <a:p>
                      <a:pPr marL="0" indent="179388" algn="just"/>
                      <a:r>
                        <a:rPr lang="uz-Cyrl-UZ" sz="900" kern="1200" dirty="0" smtClean="0">
                          <a:solidFill>
                            <a:schemeClr val="tx1"/>
                          </a:solidFill>
                          <a:effectLst/>
                          <a:latin typeface="+mn-lt"/>
                          <a:ea typeface="+mn-ea"/>
                          <a:cs typeface="Times New Roman" panose="02020603050405020304" pitchFamily="18" charset="0"/>
                        </a:rPr>
                        <a:t>2001 </a:t>
                      </a:r>
                      <a:r>
                        <a:rPr lang="uz-Cyrl-UZ" sz="900" kern="1200" dirty="0">
                          <a:solidFill>
                            <a:schemeClr val="tx1"/>
                          </a:solidFill>
                          <a:effectLst/>
                          <a:latin typeface="+mn-lt"/>
                          <a:ea typeface="+mn-ea"/>
                          <a:cs typeface="Times New Roman" panose="02020603050405020304" pitchFamily="18" charset="0"/>
                        </a:rPr>
                        <a:t>йили </a:t>
                      </a:r>
                      <a:r>
                        <a:rPr lang="uz-Cyrl-UZ" sz="900" b="1" kern="1200" dirty="0">
                          <a:solidFill>
                            <a:schemeClr val="tx1"/>
                          </a:solidFill>
                          <a:effectLst/>
                          <a:latin typeface="+mn-lt"/>
                          <a:ea typeface="+mn-ea"/>
                          <a:cs typeface="Times New Roman" panose="02020603050405020304" pitchFamily="18" charset="0"/>
                        </a:rPr>
                        <a:t>“</a:t>
                      </a:r>
                      <a:r>
                        <a:rPr lang="uz-Cyrl-UZ" sz="900" kern="1200" dirty="0">
                          <a:solidFill>
                            <a:schemeClr val="tx1"/>
                          </a:solidFill>
                          <a:effectLst/>
                          <a:latin typeface="+mn-lt"/>
                          <a:ea typeface="+mn-ea"/>
                          <a:cs typeface="Times New Roman" panose="02020603050405020304" pitchFamily="18" charset="0"/>
                        </a:rPr>
                        <a:t>Ўзбекистон Республикасида хизмат кўрсатган артист” унвони билан та</a:t>
                      </a:r>
                      <a:r>
                        <a:rPr lang="uz-Latn-UZ" sz="900" kern="1200" dirty="0" err="1">
                          <a:solidFill>
                            <a:schemeClr val="tx1"/>
                          </a:solidFill>
                          <a:effectLst/>
                          <a:latin typeface="+mn-lt"/>
                          <a:ea typeface="+mn-ea"/>
                          <a:cs typeface="Times New Roman" panose="02020603050405020304" pitchFamily="18" charset="0"/>
                        </a:rPr>
                        <a:t>қдирланган</a:t>
                      </a:r>
                      <a:r>
                        <a:rPr lang="uz-Latn-UZ"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   Умумий  иш  стажи  43 йил.  </a:t>
                      </a:r>
                      <a:endParaRPr lang="ru-RU" sz="900" kern="1200" dirty="0">
                        <a:solidFill>
                          <a:schemeClr val="tx1"/>
                        </a:solidFill>
                        <a:effectLst/>
                        <a:latin typeface="+mn-lt"/>
                        <a:ea typeface="+mn-ea"/>
                        <a:cs typeface="Times New Roman" panose="02020603050405020304" pitchFamily="18" charset="0"/>
                      </a:endParaRPr>
                    </a:p>
                    <a:p>
                      <a:pPr marL="0" indent="179388" algn="just"/>
                      <a:r>
                        <a:rPr lang="uz-Cyrl-UZ" sz="900" kern="1200" dirty="0">
                          <a:solidFill>
                            <a:schemeClr val="tx1"/>
                          </a:solidFill>
                          <a:effectLst/>
                          <a:latin typeface="+mn-lt"/>
                          <a:ea typeface="+mn-ea"/>
                          <a:cs typeface="Times New Roman" panose="02020603050405020304" pitchFamily="18" charset="0"/>
                        </a:rPr>
                        <a:t>1977 -1983  йилларда  Ўзбекистон давлат  консерваториясининг  “академик  хонандалик”  факультетида  таҳсил  олган.  1983  йилдан  буён  А</a:t>
                      </a:r>
                      <a:r>
                        <a:rPr lang="uz-Latn-UZ" sz="900" kern="1200" dirty="0" err="1">
                          <a:solidFill>
                            <a:schemeClr val="tx1"/>
                          </a:solidFill>
                          <a:effectLst/>
                          <a:latin typeface="+mn-lt"/>
                          <a:ea typeface="+mn-ea"/>
                          <a:cs typeface="Times New Roman" panose="02020603050405020304" pitchFamily="18" charset="0"/>
                        </a:rPr>
                        <a:t>лишер</a:t>
                      </a:r>
                      <a:r>
                        <a:rPr lang="uz-Latn-UZ"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Навоий  номидаги  д</a:t>
                      </a:r>
                      <a:r>
                        <a:rPr lang="uz-Latn-UZ" sz="900" kern="1200" dirty="0" err="1">
                          <a:solidFill>
                            <a:schemeClr val="tx1"/>
                          </a:solidFill>
                          <a:effectLst/>
                          <a:latin typeface="+mn-lt"/>
                          <a:ea typeface="+mn-ea"/>
                          <a:cs typeface="Times New Roman" panose="02020603050405020304" pitchFamily="18" charset="0"/>
                        </a:rPr>
                        <a:t>авлат</a:t>
                      </a:r>
                      <a:r>
                        <a:rPr lang="uz-Latn-UZ" sz="900" kern="1200" dirty="0">
                          <a:solidFill>
                            <a:schemeClr val="tx1"/>
                          </a:solidFill>
                          <a:effectLst/>
                          <a:latin typeface="+mn-lt"/>
                          <a:ea typeface="+mn-ea"/>
                          <a:cs typeface="Times New Roman" panose="02020603050405020304" pitchFamily="18" charset="0"/>
                        </a:rPr>
                        <a:t> </a:t>
                      </a:r>
                      <a:r>
                        <a:rPr lang="ru-RU" sz="900" kern="1200" dirty="0">
                          <a:solidFill>
                            <a:schemeClr val="tx1"/>
                          </a:solidFill>
                          <a:effectLst/>
                          <a:latin typeface="+mn-lt"/>
                          <a:ea typeface="+mn-ea"/>
                          <a:cs typeface="Times New Roman" panose="02020603050405020304" pitchFamily="18" charset="0"/>
                        </a:rPr>
                        <a:t>а</a:t>
                      </a:r>
                      <a:r>
                        <a:rPr lang="uz-Latn-UZ" sz="900" kern="1200" dirty="0" err="1">
                          <a:solidFill>
                            <a:schemeClr val="tx1"/>
                          </a:solidFill>
                          <a:effectLst/>
                          <a:latin typeface="+mn-lt"/>
                          <a:ea typeface="+mn-ea"/>
                          <a:cs typeface="Times New Roman" panose="02020603050405020304" pitchFamily="18" charset="0"/>
                        </a:rPr>
                        <a:t>кадемик</a:t>
                      </a:r>
                      <a:r>
                        <a:rPr lang="uz-Latn-UZ"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к</a:t>
                      </a:r>
                      <a:r>
                        <a:rPr lang="uz-Latn-UZ" sz="900" kern="1200" dirty="0" err="1">
                          <a:solidFill>
                            <a:schemeClr val="tx1"/>
                          </a:solidFill>
                          <a:effectLst/>
                          <a:latin typeface="+mn-lt"/>
                          <a:ea typeface="+mn-ea"/>
                          <a:cs typeface="Times New Roman" panose="02020603050405020304" pitchFamily="18" charset="0"/>
                        </a:rPr>
                        <a:t>атта</a:t>
                      </a:r>
                      <a:r>
                        <a:rPr lang="uz-Latn-UZ" sz="900" kern="1200" dirty="0">
                          <a:solidFill>
                            <a:schemeClr val="tx1"/>
                          </a:solidFill>
                          <a:effectLst/>
                          <a:latin typeface="+mn-lt"/>
                          <a:ea typeface="+mn-ea"/>
                          <a:cs typeface="Times New Roman" panose="02020603050405020304" pitchFamily="18" charset="0"/>
                        </a:rPr>
                        <a:t> </a:t>
                      </a:r>
                      <a:r>
                        <a:rPr lang="ru-RU" sz="900" kern="1200" dirty="0">
                          <a:solidFill>
                            <a:schemeClr val="tx1"/>
                          </a:solidFill>
                          <a:effectLst/>
                          <a:latin typeface="+mn-lt"/>
                          <a:ea typeface="+mn-ea"/>
                          <a:cs typeface="Times New Roman" panose="02020603050405020304" pitchFamily="18" charset="0"/>
                        </a:rPr>
                        <a:t>т</a:t>
                      </a:r>
                      <a:r>
                        <a:rPr lang="uz-Latn-UZ" sz="900" kern="1200" dirty="0" err="1">
                          <a:solidFill>
                            <a:schemeClr val="tx1"/>
                          </a:solidFill>
                          <a:effectLst/>
                          <a:latin typeface="+mn-lt"/>
                          <a:ea typeface="+mn-ea"/>
                          <a:cs typeface="Times New Roman" panose="02020603050405020304" pitchFamily="18" charset="0"/>
                        </a:rPr>
                        <a:t>еатри</a:t>
                      </a:r>
                      <a:r>
                        <a:rPr lang="uz-Cyrl-UZ" sz="900" kern="1200" dirty="0">
                          <a:solidFill>
                            <a:schemeClr val="tx1"/>
                          </a:solidFill>
                          <a:effectLst/>
                          <a:latin typeface="+mn-lt"/>
                          <a:ea typeface="+mn-ea"/>
                          <a:cs typeface="Times New Roman" panose="02020603050405020304" pitchFamily="18" charset="0"/>
                        </a:rPr>
                        <a:t>да  опера  хонандаси  сифатида  ижод  қилиб  келмоқда.       </a:t>
                      </a:r>
                      <a:endParaRPr lang="ru-RU" sz="900" kern="1200" dirty="0">
                        <a:solidFill>
                          <a:schemeClr val="tx1"/>
                        </a:solidFill>
                        <a:effectLst/>
                        <a:latin typeface="+mn-lt"/>
                        <a:ea typeface="+mn-ea"/>
                        <a:cs typeface="Times New Roman" panose="02020603050405020304" pitchFamily="18" charset="0"/>
                      </a:endParaRPr>
                    </a:p>
                    <a:p>
                      <a:pPr marL="0" indent="179388" algn="just"/>
                      <a:r>
                        <a:rPr lang="uz-Cyrl-UZ" sz="900" kern="1200" dirty="0">
                          <a:solidFill>
                            <a:schemeClr val="tx1"/>
                          </a:solidFill>
                          <a:effectLst/>
                          <a:latin typeface="+mn-lt"/>
                          <a:ea typeface="+mn-ea"/>
                          <a:cs typeface="Times New Roman" panose="02020603050405020304" pitchFamily="18" charset="0"/>
                        </a:rPr>
                        <a:t>Театр  ижодий  жамоаси  сафида  кўплаб  давлат  тадбирларида, чет  элларда  гастроль  сафарларида  бўлган. Талабалик  йилларидаёқ  Республика  вокалистлар  танловида  ғолиб  бўлган. Ўзбек  ва  Европа  композиторларининг  бир  қатор  мураккаб  опера  асарларидаги  бош ва  характерли   партияларни  ижро  этиб  келган.</a:t>
                      </a:r>
                      <a:endParaRPr lang="ru-RU" sz="900" kern="1200" dirty="0">
                        <a:solidFill>
                          <a:schemeClr val="tx1"/>
                        </a:solidFill>
                        <a:effectLst/>
                        <a:latin typeface="+mn-lt"/>
                        <a:ea typeface="+mn-ea"/>
                        <a:cs typeface="Times New Roman" panose="02020603050405020304" pitchFamily="18" charset="0"/>
                      </a:endParaRPr>
                    </a:p>
                    <a:p>
                      <a:pPr marL="0" indent="179388" algn="just"/>
                      <a:r>
                        <a:rPr lang="uz-Cyrl-UZ" sz="900" kern="1200" dirty="0" smtClean="0">
                          <a:solidFill>
                            <a:schemeClr val="tx1"/>
                          </a:solidFill>
                          <a:effectLst/>
                          <a:latin typeface="+mn-lt"/>
                          <a:ea typeface="+mn-ea"/>
                          <a:cs typeface="Times New Roman" panose="02020603050405020304" pitchFamily="18" charset="0"/>
                        </a:rPr>
                        <a:t>М.Хуррамов </a:t>
                      </a:r>
                      <a:r>
                        <a:rPr lang="uz-Cyrl-UZ" sz="900" kern="1200" dirty="0">
                          <a:solidFill>
                            <a:schemeClr val="tx1"/>
                          </a:solidFill>
                          <a:effectLst/>
                          <a:latin typeface="+mn-lt"/>
                          <a:ea typeface="+mn-ea"/>
                          <a:cs typeface="Times New Roman" panose="02020603050405020304" pitchFamily="18" charset="0"/>
                        </a:rPr>
                        <a:t>ҳозирда ёрдамчи артисти миманс лавозимида ишлаб келмоқда.     </a:t>
                      </a:r>
                      <a:endParaRPr lang="ru-RU" sz="900" kern="1200" dirty="0">
                        <a:solidFill>
                          <a:schemeClr val="tx1"/>
                        </a:solidFill>
                        <a:effectLst/>
                        <a:latin typeface="+mn-lt"/>
                        <a:ea typeface="+mn-ea"/>
                        <a:cs typeface="Times New Roman" panose="02020603050405020304" pitchFamily="18" charset="0"/>
                      </a:endParaRPr>
                    </a:p>
                    <a:p>
                      <a:pPr marL="0" indent="179388"/>
                      <a:r>
                        <a:rPr lang="uz-Cyrl-UZ" sz="900" kern="1200" dirty="0">
                          <a:solidFill>
                            <a:schemeClr val="tx1"/>
                          </a:solidFill>
                          <a:effectLst/>
                          <a:latin typeface="+mn-lt"/>
                          <a:ea typeface="+mn-ea"/>
                          <a:cs typeface="+mn-cs"/>
                        </a:rPr>
                        <a:t> </a:t>
                      </a:r>
                      <a:endParaRPr lang="ru-RU" sz="9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2844">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17281">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a:extLst>
              <a:ext uri="{FF2B5EF4-FFF2-40B4-BE49-F238E27FC236}">
                <a16:creationId xmlns:a16="http://schemas.microsoft.com/office/drawing/2014/main" id="{47C82164-A45F-6DFE-619D-B24CAD26EA0D}"/>
              </a:ext>
            </a:extLst>
          </p:cNvPr>
          <p:cNvPicPr>
            <a:picLocks noChangeAspect="1"/>
          </p:cNvPicPr>
          <p:nvPr/>
        </p:nvPicPr>
        <p:blipFill>
          <a:blip r:embed="rId2"/>
          <a:stretch>
            <a:fillRect/>
          </a:stretch>
        </p:blipFill>
        <p:spPr>
          <a:xfrm>
            <a:off x="208509" y="1130390"/>
            <a:ext cx="883973" cy="1054010"/>
          </a:xfrm>
          <a:prstGeom prst="rect">
            <a:avLst/>
          </a:prstGeom>
        </p:spPr>
      </p:pic>
    </p:spTree>
    <p:extLst>
      <p:ext uri="{BB962C8B-B14F-4D97-AF65-F5344CB8AC3E}">
        <p14:creationId xmlns:p14="http://schemas.microsoft.com/office/powerpoint/2010/main" val="2780535589"/>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3"/>
          <a:ext cx="3342196" cy="5940190"/>
        </p:xfrm>
        <a:graphic>
          <a:graphicData uri="http://schemas.openxmlformats.org/drawingml/2006/table">
            <a:tbl>
              <a:tblPr firstRow="1" bandRow="1">
                <a:tableStyleId>{C083E6E3-FA7D-4D7B-A595-EF9225AFEA82}</a:tableStyleId>
              </a:tblPr>
              <a:tblGrid>
                <a:gridCol w="580369">
                  <a:extLst>
                    <a:ext uri="{9D8B030D-6E8A-4147-A177-3AD203B41FA5}">
                      <a16:colId xmlns:a16="http://schemas.microsoft.com/office/drawing/2014/main" val="2288412290"/>
                    </a:ext>
                  </a:extLst>
                </a:gridCol>
                <a:gridCol w="491004">
                  <a:extLst>
                    <a:ext uri="{9D8B030D-6E8A-4147-A177-3AD203B41FA5}">
                      <a16:colId xmlns:a16="http://schemas.microsoft.com/office/drawing/2014/main" val="1678982439"/>
                    </a:ext>
                  </a:extLst>
                </a:gridCol>
                <a:gridCol w="149676">
                  <a:extLst>
                    <a:ext uri="{9D8B030D-6E8A-4147-A177-3AD203B41FA5}">
                      <a16:colId xmlns:a16="http://schemas.microsoft.com/office/drawing/2014/main" val="2721661767"/>
                    </a:ext>
                  </a:extLst>
                </a:gridCol>
                <a:gridCol w="887548">
                  <a:extLst>
                    <a:ext uri="{9D8B030D-6E8A-4147-A177-3AD203B41FA5}">
                      <a16:colId xmlns:a16="http://schemas.microsoft.com/office/drawing/2014/main" val="546773760"/>
                    </a:ext>
                  </a:extLst>
                </a:gridCol>
                <a:gridCol w="1233599">
                  <a:extLst>
                    <a:ext uri="{9D8B030D-6E8A-4147-A177-3AD203B41FA5}">
                      <a16:colId xmlns:a16="http://schemas.microsoft.com/office/drawing/2014/main" val="546443978"/>
                    </a:ext>
                  </a:extLst>
                </a:gridCol>
              </a:tblGrid>
              <a:tr h="181629">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41992">
                <a:tc rowSpan="6" gridSpan="2">
                  <a:txBody>
                    <a:bodyPr/>
                    <a:lstStyle/>
                    <a:p>
                      <a:pPr algn="l">
                        <a:lnSpc>
                          <a:spcPct val="90000"/>
                        </a:lnSpc>
                        <a:buFont typeface="Arial" pitchFamily="34" charset="0"/>
                        <a:buChar char="•"/>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1" kern="1200" dirty="0" smtClean="0">
                          <a:solidFill>
                            <a:schemeClr val="tx1"/>
                          </a:solidFill>
                          <a:latin typeface="+mn-lt"/>
                          <a:ea typeface="+mn-ea"/>
                          <a:cs typeface="Times New Roman" pitchFamily="18" charset="0"/>
                        </a:rPr>
                        <a:t>ШАДМАНОВ</a:t>
                      </a:r>
                      <a:endParaRPr lang="ru-RU"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5034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1" kern="1200" dirty="0">
                          <a:solidFill>
                            <a:schemeClr val="tx1"/>
                          </a:solidFill>
                          <a:latin typeface="+mn-lt"/>
                          <a:ea typeface="+mn-ea"/>
                          <a:cs typeface="Times New Roman" pitchFamily="18" charset="0"/>
                        </a:rPr>
                        <a:t>Сулейман </a:t>
                      </a:r>
                      <a:endParaRPr lang="uz-Cyrl-UZ"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6077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uz-Cyrl-UZ" sz="900" b="1" kern="1200" dirty="0">
                          <a:solidFill>
                            <a:schemeClr val="tx1"/>
                          </a:solidFill>
                          <a:latin typeface="+mn-lt"/>
                          <a:ea typeface="+mn-ea"/>
                          <a:cs typeface="Times New Roman" pitchFamily="18" charset="0"/>
                        </a:rPr>
                        <a:t>Нуруллаевич</a:t>
                      </a:r>
                      <a:endParaRPr lang="ru-RU" sz="90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4199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latin typeface="+mn-lt"/>
                      </a:endParaRPr>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5034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a:solidFill>
                            <a:schemeClr val="tx1"/>
                          </a:solidFill>
                          <a:latin typeface="+mn-lt"/>
                          <a:ea typeface="+mn-ea"/>
                          <a:cs typeface="Times New Roman" pitchFamily="18" charset="0"/>
                        </a:rPr>
                        <a:t>15.09.1938</a:t>
                      </a:r>
                      <a:endParaRPr lang="ru-RU"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5034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a:solidFill>
                            <a:schemeClr val="tx1"/>
                          </a:solidFill>
                          <a:latin typeface="+mn-lt"/>
                          <a:ea typeface="+mn-ea"/>
                          <a:cs typeface="Times New Roman" pitchFamily="18" charset="0"/>
                        </a:rPr>
                        <a:t>Бухоро вилояти</a:t>
                      </a:r>
                      <a:endParaRPr lang="uz-Cyrl-UZ"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172359">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1642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қиз фарзанди бор,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172359">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369340">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a:solidFill>
                            <a:schemeClr val="tx1"/>
                          </a:solidFill>
                          <a:latin typeface="+mn-lt"/>
                          <a:ea typeface="+mn-ea"/>
                          <a:cs typeface="Times New Roman" pitchFamily="18" charset="0"/>
                        </a:rPr>
                        <a:t>Шадманов Нурулло</a:t>
                      </a:r>
                    </a:p>
                    <a:p>
                      <a:r>
                        <a:rPr lang="uz-Cyrl-UZ" sz="900" kern="1200" dirty="0">
                          <a:solidFill>
                            <a:schemeClr val="tx1"/>
                          </a:solidFill>
                          <a:latin typeface="+mn-lt"/>
                          <a:ea typeface="+mn-ea"/>
                          <a:cs typeface="Times New Roman" pitchFamily="18" charset="0"/>
                        </a:rPr>
                        <a:t>1912 йил,</a:t>
                      </a:r>
                      <a:endParaRPr lang="ru-RU" sz="900" kern="1200" dirty="0">
                        <a:solidFill>
                          <a:schemeClr val="tx1"/>
                        </a:solidFill>
                        <a:latin typeface="+mn-lt"/>
                        <a:ea typeface="+mn-ea"/>
                        <a:cs typeface="Times New Roman" pitchFamily="18" charset="0"/>
                      </a:endParaRPr>
                    </a:p>
                    <a:p>
                      <a:r>
                        <a:rPr lang="uz-Cyrl-UZ" sz="900" kern="1200" dirty="0">
                          <a:solidFill>
                            <a:schemeClr val="tx1"/>
                          </a:solidFill>
                          <a:latin typeface="+mn-lt"/>
                          <a:ea typeface="+mn-ea"/>
                          <a:cs typeface="Times New Roman" pitchFamily="18" charset="0"/>
                        </a:rPr>
                        <a:t>Бухоро шаҳри</a:t>
                      </a:r>
                      <a:endParaRPr lang="uz-Cyrl-UZ"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a:solidFill>
                            <a:schemeClr val="tx1"/>
                          </a:solidFill>
                          <a:latin typeface="+mn-lt"/>
                          <a:ea typeface="+mn-ea"/>
                          <a:cs typeface="Times New Roman" pitchFamily="18" charset="0"/>
                        </a:rPr>
                        <a:t>1991 йил вафот этган</a:t>
                      </a:r>
                      <a:endParaRPr lang="ru-RU" sz="900" kern="1200" dirty="0">
                        <a:solidFill>
                          <a:schemeClr val="tx1"/>
                        </a:solidFill>
                        <a:latin typeface="+mn-lt"/>
                        <a:ea typeface="+mn-ea"/>
                        <a:cs typeface="Times New Roman" pitchFamily="18" charset="0"/>
                      </a:endParaRPr>
                    </a:p>
                    <a:p>
                      <a:r>
                        <a:rPr lang="uz-Cyrl-UZ" sz="900" kern="1200" dirty="0">
                          <a:solidFill>
                            <a:schemeClr val="tx1"/>
                          </a:solidFill>
                          <a:latin typeface="+mn-lt"/>
                          <a:ea typeface="+mn-ea"/>
                          <a:cs typeface="Times New Roman" pitchFamily="18" charset="0"/>
                        </a:rPr>
                        <a:t>(Бухоро шаҳар пахта заводи ишчиси)</a:t>
                      </a:r>
                      <a:endParaRPr lang="ru-RU"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53697">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a:solidFill>
                            <a:schemeClr val="tx1"/>
                          </a:solidFill>
                          <a:latin typeface="+mn-lt"/>
                          <a:ea typeface="+mn-ea"/>
                          <a:cs typeface="Times New Roman" pitchFamily="18" charset="0"/>
                        </a:rPr>
                        <a:t>Шадманова Бодомхон</a:t>
                      </a:r>
                    </a:p>
                    <a:p>
                      <a:r>
                        <a:rPr lang="uz-Cyrl-UZ" sz="900" kern="1200" dirty="0">
                          <a:solidFill>
                            <a:schemeClr val="tx1"/>
                          </a:solidFill>
                          <a:latin typeface="+mn-lt"/>
                          <a:ea typeface="+mn-ea"/>
                          <a:cs typeface="Times New Roman" pitchFamily="18" charset="0"/>
                        </a:rPr>
                        <a:t>1916 йил,</a:t>
                      </a:r>
                      <a:endParaRPr lang="ru-RU" sz="900" kern="1200" dirty="0">
                        <a:solidFill>
                          <a:schemeClr val="tx1"/>
                        </a:solidFill>
                        <a:latin typeface="+mn-lt"/>
                        <a:ea typeface="+mn-ea"/>
                        <a:cs typeface="Times New Roman" pitchFamily="18" charset="0"/>
                      </a:endParaRPr>
                    </a:p>
                    <a:p>
                      <a:r>
                        <a:rPr lang="uz-Cyrl-UZ" sz="900" kern="1200" dirty="0">
                          <a:solidFill>
                            <a:schemeClr val="tx1"/>
                          </a:solidFill>
                          <a:latin typeface="+mn-lt"/>
                          <a:ea typeface="+mn-ea"/>
                          <a:cs typeface="Times New Roman" pitchFamily="18" charset="0"/>
                        </a:rPr>
                        <a:t>Бухоро шаҳри</a:t>
                      </a:r>
                      <a:endParaRPr lang="uz-Cyrl-UZ"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a:solidFill>
                            <a:schemeClr val="tx1"/>
                          </a:solidFill>
                          <a:latin typeface="+mn-lt"/>
                          <a:ea typeface="+mn-ea"/>
                          <a:cs typeface="Times New Roman" pitchFamily="18" charset="0"/>
                        </a:rPr>
                        <a:t>1943 йил вафот этган</a:t>
                      </a:r>
                      <a:endParaRPr lang="ru-RU" sz="900" kern="1200" dirty="0">
                        <a:solidFill>
                          <a:schemeClr val="tx1"/>
                        </a:solidFill>
                        <a:latin typeface="+mn-lt"/>
                        <a:ea typeface="+mn-ea"/>
                        <a:cs typeface="Times New Roman" pitchFamily="18" charset="0"/>
                      </a:endParaRPr>
                    </a:p>
                    <a:p>
                      <a:r>
                        <a:rPr lang="uz-Cyrl-UZ" sz="900" kern="1200" dirty="0">
                          <a:solidFill>
                            <a:schemeClr val="tx1"/>
                          </a:solidFill>
                          <a:latin typeface="+mn-lt"/>
                          <a:ea typeface="+mn-ea"/>
                          <a:cs typeface="Times New Roman" pitchFamily="18" charset="0"/>
                        </a:rPr>
                        <a:t>(Уй бекаси)</a:t>
                      </a:r>
                      <a:endParaRPr lang="ru-RU"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77908">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smtClean="0">
                          <a:solidFill>
                            <a:schemeClr val="tx1"/>
                          </a:solidFill>
                          <a:latin typeface="+mn-lt"/>
                          <a:ea typeface="+mn-ea"/>
                          <a:cs typeface="Times New Roman" pitchFamily="18" charset="0"/>
                        </a:rPr>
                        <a:t>Шадманова</a:t>
                      </a:r>
                    </a:p>
                    <a:p>
                      <a:pPr algn="l">
                        <a:lnSpc>
                          <a:spcPct val="85000"/>
                        </a:lnSpc>
                      </a:pPr>
                      <a:r>
                        <a:rPr lang="uz-Cyrl-UZ" sz="900" kern="1200" dirty="0" smtClean="0">
                          <a:solidFill>
                            <a:schemeClr val="tx1"/>
                          </a:solidFill>
                          <a:latin typeface="+mn-lt"/>
                          <a:ea typeface="+mn-ea"/>
                          <a:cs typeface="Times New Roman" pitchFamily="18" charset="0"/>
                        </a:rPr>
                        <a:t> </a:t>
                      </a:r>
                      <a:r>
                        <a:rPr lang="uz-Cyrl-UZ" sz="900" kern="1200" dirty="0">
                          <a:solidFill>
                            <a:schemeClr val="tx1"/>
                          </a:solidFill>
                          <a:latin typeface="+mn-lt"/>
                          <a:ea typeface="+mn-ea"/>
                          <a:cs typeface="Times New Roman" pitchFamily="18" charset="0"/>
                        </a:rPr>
                        <a:t>(Рахматулина) Клара </a:t>
                      </a:r>
                      <a:r>
                        <a:rPr lang="uz-Cyrl-UZ" sz="900" kern="1200" dirty="0" smtClean="0">
                          <a:solidFill>
                            <a:schemeClr val="tx1"/>
                          </a:solidFill>
                          <a:latin typeface="+mn-lt"/>
                          <a:ea typeface="+mn-ea"/>
                          <a:cs typeface="Times New Roman" pitchFamily="18" charset="0"/>
                        </a:rPr>
                        <a:t>Аҳмедовна</a:t>
                      </a:r>
                    </a:p>
                    <a:p>
                      <a:pPr algn="l">
                        <a:lnSpc>
                          <a:spcPct val="85000"/>
                        </a:lnSpc>
                      </a:pPr>
                      <a:r>
                        <a:rPr lang="uz-Cyrl-UZ" sz="900" b="0" kern="1200" noProof="0" dirty="0" smtClean="0">
                          <a:solidFill>
                            <a:schemeClr val="tx1"/>
                          </a:solidFill>
                          <a:latin typeface="+mn-lt"/>
                          <a:ea typeface="+mn-ea"/>
                          <a:cs typeface="Times New Roman" pitchFamily="18" charset="0"/>
                        </a:rPr>
                        <a:t>1938 йил, </a:t>
                      </a:r>
                    </a:p>
                    <a:p>
                      <a:pPr algn="l">
                        <a:lnSpc>
                          <a:spcPct val="85000"/>
                        </a:lnSpc>
                      </a:pPr>
                      <a:r>
                        <a:rPr lang="uz-Cyrl-UZ" sz="900" b="0" kern="1200" noProof="0" dirty="0" smtClean="0">
                          <a:solidFill>
                            <a:schemeClr val="tx1"/>
                          </a:solidFill>
                          <a:latin typeface="+mn-lt"/>
                          <a:ea typeface="+mn-ea"/>
                          <a:cs typeface="Times New Roman" pitchFamily="18" charset="0"/>
                        </a:rPr>
                        <a:t>Тошкент шаҳри</a:t>
                      </a:r>
                      <a:endParaRPr lang="uz-Cyrl-UZ"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latin typeface="+mn-lt"/>
                          <a:ea typeface="+mn-ea"/>
                          <a:cs typeface="Times New Roman" pitchFamily="18" charset="0"/>
                        </a:rPr>
                        <a:t>Пенсияда</a:t>
                      </a:r>
                      <a:r>
                        <a:rPr lang="ru-RU" sz="900" kern="1200" dirty="0">
                          <a:solidFill>
                            <a:schemeClr val="tx1"/>
                          </a:solidFill>
                          <a:latin typeface="+mn-lt"/>
                          <a:ea typeface="+mn-ea"/>
                          <a:cs typeface="Times New Roman" pitchFamily="18" charset="0"/>
                        </a:rPr>
                        <a:t>,</a:t>
                      </a:r>
                    </a:p>
                    <a:p>
                      <a:r>
                        <a:rPr lang="uz-Cyrl-UZ" sz="900" kern="1200" dirty="0">
                          <a:solidFill>
                            <a:schemeClr val="tx1"/>
                          </a:solidFill>
                          <a:latin typeface="+mn-lt"/>
                          <a:ea typeface="+mn-ea"/>
                          <a:cs typeface="Times New Roman" pitchFamily="18" charset="0"/>
                        </a:rPr>
                        <a:t>(А.Навоий номидаги Ўзбекистон давлат академик катта театри хор артисти)</a:t>
                      </a:r>
                      <a:endParaRPr lang="uz-Cyrl-UZ"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54978">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07278">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latin typeface="+mn-lt"/>
                          <a:ea typeface="+mn-ea"/>
                          <a:cs typeface="Times New Roman" pitchFamily="18" charset="0"/>
                        </a:rPr>
                        <a:t>1960 й. Ўзбекистон давлат консерваторияси (кундузги)</a:t>
                      </a:r>
                      <a:endParaRPr lang="ru-RU" sz="90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65056">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latin typeface="+mn-lt"/>
                          <a:ea typeface="+mn-ea"/>
                          <a:cs typeface="Times New Roman" pitchFamily="18" charset="0"/>
                        </a:rPr>
                        <a:t>симфоник оркестр дирижёри, ўқитувчи, хормейстер</a:t>
                      </a:r>
                      <a:endParaRPr lang="uz-Cyrl-UZ"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34543">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34543">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16428">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554885" y="865689"/>
          <a:ext cx="3172841" cy="5949730"/>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1548">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491432">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smtClean="0">
                          <a:solidFill>
                            <a:schemeClr val="tx1"/>
                          </a:solidFill>
                          <a:latin typeface="+mn-lt"/>
                          <a:ea typeface="+mn-ea"/>
                          <a:cs typeface="Times New Roman" pitchFamily="18" charset="0"/>
                        </a:rPr>
                        <a:t>А.Навоий </a:t>
                      </a:r>
                      <a:r>
                        <a:rPr lang="uz-Cyrl-UZ" sz="900" kern="1200" dirty="0">
                          <a:solidFill>
                            <a:schemeClr val="tx1"/>
                          </a:solidFill>
                          <a:latin typeface="+mn-lt"/>
                          <a:ea typeface="+mn-ea"/>
                          <a:cs typeface="Times New Roman" pitchFamily="18" charset="0"/>
                        </a:rPr>
                        <a:t>номидаги Ўзбекистон давлат академик катта театри бош хормейстери</a:t>
                      </a:r>
                      <a:endParaRPr lang="ru-RU" sz="900" kern="1200" dirty="0">
                        <a:solidFill>
                          <a:schemeClr val="tx1"/>
                        </a:solidFill>
                        <a:latin typeface="+mn-lt"/>
                        <a:ea typeface="+mn-ea"/>
                        <a:cs typeface="Times New Roman"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4855">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938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68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432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35</a:t>
                      </a:r>
                      <a:r>
                        <a:rPr lang="uz-Cyrl-UZ" sz="900" b="0" baseline="0" noProof="0" dirty="0">
                          <a:effectLst/>
                          <a:latin typeface="+mn-lt"/>
                          <a:ea typeface="Calibri" panose="020F0502020204030204" pitchFamily="34" charset="0"/>
                          <a:cs typeface="Times New Roman" panose="02020603050405020304" pitchFamily="18" charset="0"/>
                        </a:rPr>
                        <a:t>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0943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a:solidFill>
                            <a:schemeClr val="tx1"/>
                          </a:solidFill>
                          <a:latin typeface="+mn-lt"/>
                          <a:ea typeface="+mn-ea"/>
                          <a:cs typeface="Times New Roman" pitchFamily="18" charset="0"/>
                        </a:rPr>
                        <a:t>1991 й. - ҳ.в.   - А.Навоий номидаги Ўзбекистон давлат академик катта театри бош хормейстери</a:t>
                      </a:r>
                      <a:endParaRPr lang="ru-RU" sz="900" kern="1200" dirty="0">
                        <a:solidFill>
                          <a:schemeClr val="tx1"/>
                        </a:solidFill>
                        <a:latin typeface="+mn-lt"/>
                        <a:ea typeface="+mn-ea"/>
                        <a:cs typeface="Times New Roman"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1587">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158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969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8858">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6378">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20650">
                <a:tc gridSpan="2">
                  <a:txBody>
                    <a:bodyPr/>
                    <a:lstStyle/>
                    <a:p>
                      <a:r>
                        <a:rPr lang="uz-Cyrl-UZ" sz="900" kern="1200" dirty="0">
                          <a:solidFill>
                            <a:schemeClr val="tx1"/>
                          </a:solidFill>
                          <a:latin typeface="+mn-lt"/>
                          <a:ea typeface="+mn-ea"/>
                          <a:cs typeface="Times New Roman" pitchFamily="18" charset="0"/>
                        </a:rPr>
                        <a:t>1978 й. “Ўзбекистонда ҳизмат кўрсатган санъат арбоби” унвони</a:t>
                      </a:r>
                      <a:endParaRPr lang="ru-RU" sz="900" kern="1200" dirty="0">
                        <a:solidFill>
                          <a:schemeClr val="tx1"/>
                        </a:solidFill>
                        <a:latin typeface="+mn-lt"/>
                        <a:ea typeface="+mn-ea"/>
                        <a:cs typeface="Times New Roman" pitchFamily="18" charset="0"/>
                      </a:endParaRPr>
                    </a:p>
                    <a:p>
                      <a:r>
                        <a:rPr lang="uz-Cyrl-UZ" sz="900" kern="1200" dirty="0">
                          <a:solidFill>
                            <a:schemeClr val="tx1"/>
                          </a:solidFill>
                          <a:latin typeface="+mn-lt"/>
                          <a:ea typeface="+mn-ea"/>
                          <a:cs typeface="Times New Roman" pitchFamily="18" charset="0"/>
                        </a:rPr>
                        <a:t>2000 й. “Ўзбекистон ҳалқ артисти” унвони</a:t>
                      </a:r>
                      <a:endParaRPr lang="ru-RU" sz="900" kern="1200" dirty="0">
                        <a:solidFill>
                          <a:schemeClr val="tx1"/>
                        </a:solidFill>
                        <a:latin typeface="+mn-lt"/>
                        <a:ea typeface="+mn-ea"/>
                        <a:cs typeface="Times New Roman"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795927" y="869287"/>
          <a:ext cx="2971178" cy="5960217"/>
        </p:xfrm>
        <a:graphic>
          <a:graphicData uri="http://schemas.openxmlformats.org/drawingml/2006/table">
            <a:tbl>
              <a:tblPr firstRow="1" bandRow="1">
                <a:tableStyleId>{C083E6E3-FA7D-4D7B-A595-EF9225AFEA82}</a:tableStyleId>
              </a:tblPr>
              <a:tblGrid>
                <a:gridCol w="2971178">
                  <a:extLst>
                    <a:ext uri="{9D8B030D-6E8A-4147-A177-3AD203B41FA5}">
                      <a16:colId xmlns:a16="http://schemas.microsoft.com/office/drawing/2014/main" val="2715609854"/>
                    </a:ext>
                  </a:extLst>
                </a:gridCol>
              </a:tblGrid>
              <a:tr h="230549">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43648">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754336">
                <a:tc>
                  <a:txBody>
                    <a:bodyPr/>
                    <a:lstStyle/>
                    <a:p>
                      <a:pPr marL="0" indent="179388" algn="just"/>
                      <a:r>
                        <a:rPr lang="uz-Cyrl-UZ" sz="900" b="0" kern="1200" dirty="0" smtClean="0">
                          <a:solidFill>
                            <a:schemeClr val="tx1"/>
                          </a:solidFill>
                          <a:latin typeface="+mn-lt"/>
                          <a:ea typeface="+mn-ea"/>
                          <a:cs typeface="Times New Roman" pitchFamily="18" charset="0"/>
                        </a:rPr>
                        <a:t>С.Шадманов </a:t>
                      </a:r>
                      <a:r>
                        <a:rPr lang="uz-Cyrl-UZ" sz="900" b="0" kern="1200" dirty="0">
                          <a:solidFill>
                            <a:schemeClr val="tx1"/>
                          </a:solidFill>
                          <a:latin typeface="+mn-lt"/>
                          <a:ea typeface="+mn-ea"/>
                          <a:cs typeface="Times New Roman" pitchFamily="18" charset="0"/>
                        </a:rPr>
                        <a:t>А.Навои номидаги давлат академик катта театрда саҳналаштирилган 60 дан зиёд спектаклларда хор жамоасини бошқариб, опера ва балет санъати ривожига ўз ҳиссасини қўшиб келмоқда. Театрдаги ижодий фаолияти билан бир қаторда 20 йил давомида Тошкент </a:t>
                      </a:r>
                      <a:r>
                        <a:rPr lang="uz-Cyrl-UZ" sz="900" b="0" kern="1200" dirty="0" smtClean="0">
                          <a:solidFill>
                            <a:schemeClr val="tx1"/>
                          </a:solidFill>
                          <a:latin typeface="+mn-lt"/>
                          <a:ea typeface="+mn-ea"/>
                          <a:cs typeface="Times New Roman" pitchFamily="18" charset="0"/>
                        </a:rPr>
                        <a:t>давлат </a:t>
                      </a:r>
                      <a:r>
                        <a:rPr lang="uz-Cyrl-UZ" sz="900" b="0" kern="1200" dirty="0">
                          <a:solidFill>
                            <a:schemeClr val="tx1"/>
                          </a:solidFill>
                          <a:latin typeface="+mn-lt"/>
                          <a:ea typeface="+mn-ea"/>
                          <a:cs typeface="Times New Roman" pitchFamily="18" charset="0"/>
                        </a:rPr>
                        <a:t>консерваторияси хор дирижёрлиги кафедрасида устозлик фаолиятини олиб боради ва Республика “Ашула байрами” да бош хормейстер вазифасида ҳам фаолият юритди. </a:t>
                      </a:r>
                      <a:endParaRPr lang="ru-RU" sz="900" b="0" kern="1200" dirty="0">
                        <a:solidFill>
                          <a:schemeClr val="tx1"/>
                        </a:solidFill>
                        <a:latin typeface="+mn-lt"/>
                        <a:ea typeface="+mn-ea"/>
                        <a:cs typeface="Times New Roman" pitchFamily="18" charset="0"/>
                      </a:endParaRPr>
                    </a:p>
                    <a:p>
                      <a:pPr marL="0" indent="179388" algn="just"/>
                      <a:r>
                        <a:rPr lang="uz-Cyrl-UZ" sz="900" b="0" kern="1200" dirty="0">
                          <a:solidFill>
                            <a:schemeClr val="tx1"/>
                          </a:solidFill>
                          <a:latin typeface="+mn-lt"/>
                          <a:ea typeface="+mn-ea"/>
                          <a:cs typeface="Times New Roman" pitchFamily="18" charset="0"/>
                        </a:rPr>
                        <a:t>У 1982 йили Санкт-Петербургдаги Мариинский театрида стажёр дирижёр бўлиб таҳсил олиб, Тошкентга қайтди ва Тошкент давлат мусиқали комедия (оперетта) театрида саҳналаштирувчи дирижёр сифатида фаолиятини давом эттирди. Бу даврда у “Боядера”, “Гусарнинг уйланиши”, “Хонимлар ва гусарлар”, “Менинг баҳорим қалдирғочи” ва бошқа кўпгина спектаклларда дирижёрлик қилади.</a:t>
                      </a:r>
                      <a:endParaRPr lang="ru-RU" sz="900" b="0" kern="1200" dirty="0">
                        <a:solidFill>
                          <a:schemeClr val="tx1"/>
                        </a:solidFill>
                        <a:latin typeface="+mn-lt"/>
                        <a:ea typeface="+mn-ea"/>
                        <a:cs typeface="Times New Roman" pitchFamily="18" charset="0"/>
                      </a:endParaRPr>
                    </a:p>
                    <a:p>
                      <a:pPr marL="0" indent="179388" algn="just"/>
                      <a:r>
                        <a:rPr lang="uz-Cyrl-UZ" sz="900" b="0" kern="1200" dirty="0">
                          <a:solidFill>
                            <a:schemeClr val="tx1"/>
                          </a:solidFill>
                          <a:latin typeface="+mn-lt"/>
                          <a:ea typeface="+mn-ea"/>
                          <a:cs typeface="Times New Roman" pitchFamily="18" charset="0"/>
                        </a:rPr>
                        <a:t>С.Шадманов 1982 йили Ўзбекистон Давлат Академик Катта театрига ишга қайтади ва саҳналаштирувчи дирижёр сифатида кўпгина опера спектаклларини саҳналаштирди. Улар орасида “Лючия де Ламмермур”, ”Тунгги қўнғироқ”, “Буюк Темур”, “Ал Фарғоний”, “Сўғд элининг қоплони”, “Евгений Онегин”, “Театр директори”, “Тоҳир ва Зуҳра”, “Севгим самоси” каби салмоқли саҳна асарлари ўрин олган.</a:t>
                      </a:r>
                      <a:endParaRPr lang="ru-RU" sz="900" b="0" kern="1200" dirty="0">
                        <a:solidFill>
                          <a:schemeClr val="tx1"/>
                        </a:solidFill>
                        <a:latin typeface="+mn-lt"/>
                        <a:ea typeface="+mn-ea"/>
                        <a:cs typeface="Times New Roman" pitchFamily="18" charset="0"/>
                      </a:endParaRPr>
                    </a:p>
                    <a:p>
                      <a:pPr marL="0" indent="179388" algn="just"/>
                      <a:r>
                        <a:rPr lang="uz-Cyrl-UZ" sz="900" b="0" kern="1200" dirty="0">
                          <a:solidFill>
                            <a:schemeClr val="tx1"/>
                          </a:solidFill>
                          <a:latin typeface="+mn-lt"/>
                          <a:ea typeface="+mn-ea"/>
                          <a:cs typeface="Times New Roman" pitchFamily="18" charset="0"/>
                        </a:rPr>
                        <a:t>С.Шадманов жаҳон профессионал мусиқа санъатини ҳар томонлама кенг ва чуқур биладиган, узоқ йиллар давомида ўз мутахассислиги бўйича ишлаб, катта ижодий тажрибага эга бўлган истеъдодли </a:t>
                      </a:r>
                      <a:r>
                        <a:rPr lang="uz-Cyrl-UZ" sz="900" b="0" kern="1200" dirty="0" smtClean="0">
                          <a:solidFill>
                            <a:schemeClr val="tx1"/>
                          </a:solidFill>
                          <a:latin typeface="+mn-lt"/>
                          <a:ea typeface="+mn-ea"/>
                          <a:cs typeface="Times New Roman" pitchFamily="18" charset="0"/>
                        </a:rPr>
                        <a:t>хормейстерлардан </a:t>
                      </a:r>
                      <a:r>
                        <a:rPr lang="uz-Cyrl-UZ" sz="900" b="0" kern="1200" dirty="0">
                          <a:solidFill>
                            <a:schemeClr val="tx1"/>
                          </a:solidFill>
                          <a:latin typeface="+mn-lt"/>
                          <a:ea typeface="+mn-ea"/>
                          <a:cs typeface="Times New Roman" pitchFamily="18" charset="0"/>
                        </a:rPr>
                        <a:t>биридир. У театрнинг хор жамоасига кўп йиллардан буён раҳбарлик қилиб, театр репертуаридан ўрин олган барча спектаклларнинг муваффақиятини таъминлаб келаётган маҳоратли санъат усталаридан </a:t>
                      </a:r>
                      <a:r>
                        <a:rPr lang="uz-Cyrl-UZ" sz="900" b="0" kern="1200" dirty="0" smtClean="0">
                          <a:solidFill>
                            <a:schemeClr val="tx1"/>
                          </a:solidFill>
                          <a:latin typeface="+mn-lt"/>
                          <a:ea typeface="+mn-ea"/>
                          <a:cs typeface="Times New Roman" pitchFamily="18" charset="0"/>
                        </a:rPr>
                        <a:t>бири.</a:t>
                      </a:r>
                      <a:endParaRPr lang="ru-RU" sz="900" b="0" kern="1200" dirty="0">
                        <a:solidFill>
                          <a:schemeClr val="tx1"/>
                        </a:solidFill>
                        <a:latin typeface="+mn-lt"/>
                        <a:ea typeface="+mn-ea"/>
                        <a:cs typeface="Times New Roman" pitchFamily="18" charset="0"/>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8983">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0"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0"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68616">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Picture 2">
            <a:extLst>
              <a:ext uri="{FF2B5EF4-FFF2-40B4-BE49-F238E27FC236}">
                <a16:creationId xmlns:a16="http://schemas.microsoft.com/office/drawing/2014/main" id="{482EBA32-F8B1-F68E-A0CB-32197B9C52AC}"/>
              </a:ext>
            </a:extLst>
          </p:cNvPr>
          <p:cNvPicPr preferRelativeResize="0">
            <a:picLocks noChangeArrowheads="1"/>
          </p:cNvPicPr>
          <p:nvPr/>
        </p:nvPicPr>
        <p:blipFill>
          <a:blip r:embed="rId2" cstate="print">
            <a:extLst>
              <a:ext uri="{28A0092B-C50C-407E-A947-70E740481C1C}">
                <a14:useLocalDpi xmlns:a14="http://schemas.microsoft.com/office/drawing/2010/main" val="0"/>
              </a:ext>
            </a:extLst>
          </a:blip>
          <a:srcRect l="1700" t="1324" r="1982" b="1103"/>
          <a:stretch>
            <a:fillRect/>
          </a:stretch>
        </p:blipFill>
        <p:spPr bwMode="auto">
          <a:xfrm>
            <a:off x="287867" y="1162923"/>
            <a:ext cx="872066" cy="1097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Прямоугольник 7">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spTree>
    <p:extLst>
      <p:ext uri="{BB962C8B-B14F-4D97-AF65-F5344CB8AC3E}">
        <p14:creationId xmlns:p14="http://schemas.microsoft.com/office/powerpoint/2010/main" val="61505165"/>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848618"/>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181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044">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ЮЛДАШЕВ</a:t>
                      </a:r>
                      <a:r>
                        <a:rPr lang="uz-Cyrl-UZ" sz="900" b="0" kern="1200" baseline="0" dirty="0" smtClean="0">
                          <a:solidFill>
                            <a:schemeClr val="tx1"/>
                          </a:solidFill>
                          <a:latin typeface="+mn-lt"/>
                          <a:ea typeface="+mn-ea"/>
                          <a:cs typeface="+mn-cs"/>
                        </a:rPr>
                        <a:t>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04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smtClean="0">
                          <a:solidFill>
                            <a:schemeClr val="tx1"/>
                          </a:solidFill>
                          <a:latin typeface="+mn-lt"/>
                          <a:ea typeface="+mn-ea"/>
                          <a:cs typeface="+mn-cs"/>
                        </a:rPr>
                        <a:t>Хотамжон</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04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smtClean="0">
                          <a:solidFill>
                            <a:schemeClr val="tx1"/>
                          </a:solidFill>
                          <a:latin typeface="+mn-lt"/>
                          <a:ea typeface="+mn-ea"/>
                          <a:cs typeface="+mn-cs"/>
                        </a:rPr>
                        <a:t>Алижонович</a:t>
                      </a:r>
                      <a:r>
                        <a:rPr lang="uz-Cyrl-UZ" sz="900" b="0" kern="1200" baseline="0" dirty="0" smtClean="0">
                          <a:solidFill>
                            <a:schemeClr val="tx1"/>
                          </a:solidFill>
                          <a:latin typeface="+mn-lt"/>
                          <a:ea typeface="+mn-ea"/>
                          <a:cs typeface="+mn-cs"/>
                        </a:rPr>
                        <a:t> </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044">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sz="900" dirty="0">
                        <a:latin typeface="+mn-lt"/>
                      </a:endParaRPr>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20016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smtClean="0">
                          <a:solidFill>
                            <a:schemeClr val="tx1"/>
                          </a:solidFill>
                          <a:latin typeface="+mn-lt"/>
                          <a:ea typeface="+mn-ea"/>
                          <a:cs typeface="Times New Roman" pitchFamily="18" charset="0"/>
                        </a:rPr>
                        <a:t>04.04.1972</a:t>
                      </a:r>
                      <a:endParaRPr lang="ru-RU"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0016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smtClean="0">
                          <a:solidFill>
                            <a:schemeClr val="tx1"/>
                          </a:solidFill>
                          <a:latin typeface="+mn-lt"/>
                          <a:ea typeface="+mn-ea"/>
                          <a:cs typeface="Times New Roman" pitchFamily="18" charset="0"/>
                        </a:rPr>
                        <a:t>Фарғона вилояти</a:t>
                      </a:r>
                      <a:endParaRPr lang="uz-Cyrl-UZ"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14048">
                <a:tc gridSpan="5">
                  <a:txBody>
                    <a:bodyPr/>
                    <a:lstStyle/>
                    <a:p>
                      <a:pPr algn="ctr"/>
                      <a:r>
                        <a:rPr lang="uz-Cyrl-UZ" sz="900" b="1" noProof="0" dirty="0">
                          <a:solidFill>
                            <a:schemeClr val="bg1"/>
                          </a:solidFill>
                          <a:latin typeface="Times New Roman" pitchFamily="18" charset="0"/>
                          <a:cs typeface="Times New Roman" pitchFamily="18"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52889">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бор,3 нафар</a:t>
                      </a:r>
                      <a:r>
                        <a:rPr lang="uz-Cyrl-UZ" sz="900" b="0" kern="1200" baseline="0" noProof="0" dirty="0" smtClean="0">
                          <a:solidFill>
                            <a:schemeClr val="tx1"/>
                          </a:solidFill>
                          <a:latin typeface="+mn-lt"/>
                          <a:ea typeface="+mn-ea"/>
                          <a:cs typeface="+mn-cs"/>
                        </a:rPr>
                        <a:t> қиз фарзандлари бор</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9475">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30572">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smtClean="0">
                          <a:solidFill>
                            <a:schemeClr val="tx1"/>
                          </a:solidFill>
                          <a:latin typeface="+mn-lt"/>
                          <a:ea typeface="+mn-ea"/>
                          <a:cs typeface="Times New Roman" pitchFamily="18" charset="0"/>
                        </a:rPr>
                        <a:t>Юлдашев Алижон</a:t>
                      </a:r>
                    </a:p>
                    <a:p>
                      <a:r>
                        <a:rPr lang="ru-RU" sz="900" kern="1200" dirty="0" smtClean="0">
                          <a:solidFill>
                            <a:schemeClr val="tx1"/>
                          </a:solidFill>
                          <a:latin typeface="+mn-lt"/>
                          <a:ea typeface="+mn-ea"/>
                          <a:cs typeface="Times New Roman" pitchFamily="18" charset="0"/>
                        </a:rPr>
                        <a:t>19</a:t>
                      </a:r>
                      <a:r>
                        <a:rPr lang="uz-Cyrl-UZ" sz="900" kern="1200" dirty="0" smtClean="0">
                          <a:solidFill>
                            <a:schemeClr val="tx1"/>
                          </a:solidFill>
                          <a:latin typeface="+mn-lt"/>
                          <a:ea typeface="+mn-ea"/>
                          <a:cs typeface="Times New Roman" pitchFamily="18" charset="0"/>
                        </a:rPr>
                        <a:t>29</a:t>
                      </a:r>
                      <a:r>
                        <a:rPr lang="ru-RU" sz="900" kern="1200" dirty="0" smtClean="0">
                          <a:solidFill>
                            <a:schemeClr val="tx1"/>
                          </a:solidFill>
                          <a:latin typeface="+mn-lt"/>
                          <a:ea typeface="+mn-ea"/>
                          <a:cs typeface="Times New Roman" pitchFamily="18" charset="0"/>
                        </a:rPr>
                        <a:t> </a:t>
                      </a:r>
                      <a:r>
                        <a:rPr lang="ru-RU" sz="900" kern="1200" dirty="0" err="1" smtClean="0">
                          <a:solidFill>
                            <a:schemeClr val="tx1"/>
                          </a:solidFill>
                          <a:latin typeface="+mn-lt"/>
                          <a:ea typeface="+mn-ea"/>
                          <a:cs typeface="Times New Roman" pitchFamily="18" charset="0"/>
                        </a:rPr>
                        <a:t>й</a:t>
                      </a:r>
                      <a:r>
                        <a:rPr lang="uz-Cyrl-UZ" sz="900" kern="1200" dirty="0" smtClean="0">
                          <a:solidFill>
                            <a:schemeClr val="tx1"/>
                          </a:solidFill>
                          <a:latin typeface="+mn-lt"/>
                          <a:ea typeface="+mn-ea"/>
                          <a:cs typeface="Times New Roman" pitchFamily="18" charset="0"/>
                        </a:rPr>
                        <a:t>ил,</a:t>
                      </a:r>
                      <a:endParaRPr lang="ru-RU" sz="900" kern="1200" dirty="0" smtClean="0">
                        <a:solidFill>
                          <a:schemeClr val="tx1"/>
                        </a:solidFill>
                        <a:latin typeface="+mn-lt"/>
                        <a:ea typeface="+mn-ea"/>
                        <a:cs typeface="Times New Roman" pitchFamily="18" charset="0"/>
                      </a:endParaRPr>
                    </a:p>
                    <a:p>
                      <a:r>
                        <a:rPr lang="uz-Cyrl-UZ" sz="900" kern="1200" dirty="0" smtClean="0">
                          <a:solidFill>
                            <a:schemeClr val="tx1"/>
                          </a:solidFill>
                          <a:latin typeface="+mn-lt"/>
                          <a:ea typeface="+mn-ea"/>
                          <a:cs typeface="Times New Roman" pitchFamily="18" charset="0"/>
                        </a:rPr>
                        <a:t>Марғилон шахри</a:t>
                      </a:r>
                    </a:p>
                    <a:p>
                      <a:pPr algn="l">
                        <a:lnSpc>
                          <a:spcPct val="85000"/>
                        </a:lnSpc>
                      </a:pPr>
                      <a:endParaRPr lang="uz-Cyrl-UZ"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latin typeface="+mn-lt"/>
                          <a:ea typeface="+mn-ea"/>
                          <a:cs typeface="Times New Roman" pitchFamily="18" charset="0"/>
                        </a:rPr>
                        <a:t>2015 йил вафот этган</a:t>
                      </a:r>
                    </a:p>
                    <a:p>
                      <a:r>
                        <a:rPr lang="uz-Cyrl-UZ" sz="900" kern="1200" dirty="0" smtClean="0">
                          <a:solidFill>
                            <a:schemeClr val="tx1"/>
                          </a:solidFill>
                          <a:latin typeface="+mn-lt"/>
                          <a:ea typeface="+mn-ea"/>
                          <a:cs typeface="Times New Roman" pitchFamily="18" charset="0"/>
                        </a:rPr>
                        <a:t>(Ўзбекистонда хизмат кўрсатган жамоа хўжалиги ходими)</a:t>
                      </a:r>
                      <a:endParaRPr lang="ru-RU" sz="90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88920">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smtClean="0">
                          <a:solidFill>
                            <a:schemeClr val="tx1"/>
                          </a:solidFill>
                          <a:latin typeface="+mn-lt"/>
                          <a:ea typeface="+mn-ea"/>
                          <a:cs typeface="Times New Roman" pitchFamily="18" charset="0"/>
                        </a:rPr>
                        <a:t>Бўрибоева Сорахон</a:t>
                      </a:r>
                    </a:p>
                    <a:p>
                      <a:r>
                        <a:rPr lang="ru-RU" sz="900" kern="1200" dirty="0" smtClean="0">
                          <a:solidFill>
                            <a:schemeClr val="tx1"/>
                          </a:solidFill>
                          <a:latin typeface="+mn-lt"/>
                          <a:ea typeface="+mn-ea"/>
                          <a:cs typeface="Times New Roman" pitchFamily="18" charset="0"/>
                        </a:rPr>
                        <a:t>19</a:t>
                      </a:r>
                      <a:r>
                        <a:rPr lang="uz-Cyrl-UZ" sz="900" kern="1200" dirty="0" smtClean="0">
                          <a:solidFill>
                            <a:schemeClr val="tx1"/>
                          </a:solidFill>
                          <a:latin typeface="+mn-lt"/>
                          <a:ea typeface="+mn-ea"/>
                          <a:cs typeface="Times New Roman" pitchFamily="18" charset="0"/>
                        </a:rPr>
                        <a:t>33</a:t>
                      </a:r>
                      <a:r>
                        <a:rPr lang="ru-RU" sz="900" kern="1200" dirty="0" smtClean="0">
                          <a:solidFill>
                            <a:schemeClr val="tx1"/>
                          </a:solidFill>
                          <a:latin typeface="+mn-lt"/>
                          <a:ea typeface="+mn-ea"/>
                          <a:cs typeface="Times New Roman" pitchFamily="18" charset="0"/>
                        </a:rPr>
                        <a:t> </a:t>
                      </a:r>
                      <a:r>
                        <a:rPr lang="ru-RU" sz="900" kern="1200" dirty="0" err="1" smtClean="0">
                          <a:solidFill>
                            <a:schemeClr val="tx1"/>
                          </a:solidFill>
                          <a:latin typeface="+mn-lt"/>
                          <a:ea typeface="+mn-ea"/>
                          <a:cs typeface="Times New Roman" pitchFamily="18" charset="0"/>
                        </a:rPr>
                        <a:t>й</a:t>
                      </a:r>
                      <a:r>
                        <a:rPr lang="uz-Cyrl-UZ" sz="900" kern="1200" dirty="0" smtClean="0">
                          <a:solidFill>
                            <a:schemeClr val="tx1"/>
                          </a:solidFill>
                          <a:latin typeface="+mn-lt"/>
                          <a:ea typeface="+mn-ea"/>
                          <a:cs typeface="Times New Roman" pitchFamily="18" charset="0"/>
                        </a:rPr>
                        <a:t>ил,</a:t>
                      </a:r>
                      <a:endParaRPr lang="ru-RU" sz="900" kern="1200" dirty="0" smtClean="0">
                        <a:solidFill>
                          <a:schemeClr val="tx1"/>
                        </a:solidFill>
                        <a:latin typeface="+mn-lt"/>
                        <a:ea typeface="+mn-ea"/>
                        <a:cs typeface="Times New Roman" pitchFamily="18" charset="0"/>
                      </a:endParaRPr>
                    </a:p>
                    <a:p>
                      <a:r>
                        <a:rPr lang="uz-Cyrl-UZ" sz="900" kern="1200" dirty="0" smtClean="0">
                          <a:solidFill>
                            <a:schemeClr val="tx1"/>
                          </a:solidFill>
                          <a:latin typeface="+mn-lt"/>
                          <a:ea typeface="+mn-ea"/>
                          <a:cs typeface="Times New Roman" pitchFamily="18" charset="0"/>
                        </a:rPr>
                        <a:t>Марғилон шахри</a:t>
                      </a:r>
                    </a:p>
                    <a:p>
                      <a:pPr algn="l">
                        <a:lnSpc>
                          <a:spcPct val="85000"/>
                        </a:lnSpc>
                      </a:pPr>
                      <a:endParaRPr lang="uz-Cyrl-UZ" sz="900" b="0" kern="1200" noProof="0" dirty="0" smtClean="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latin typeface="+mn-lt"/>
                          <a:ea typeface="+mn-ea"/>
                          <a:cs typeface="Times New Roman" pitchFamily="18" charset="0"/>
                        </a:rPr>
                        <a:t>2009 йил вафот этган</a:t>
                      </a:r>
                      <a:endParaRPr lang="ru-RU" sz="900" kern="1200" dirty="0" smtClean="0">
                        <a:solidFill>
                          <a:schemeClr val="tx1"/>
                        </a:solidFill>
                        <a:latin typeface="+mn-lt"/>
                        <a:ea typeface="+mn-ea"/>
                        <a:cs typeface="Times New Roman" pitchFamily="18" charset="0"/>
                      </a:endParaRPr>
                    </a:p>
                    <a:p>
                      <a:r>
                        <a:rPr lang="uz-Cyrl-UZ" sz="900" kern="1200" dirty="0" smtClean="0">
                          <a:solidFill>
                            <a:schemeClr val="tx1"/>
                          </a:solidFill>
                          <a:latin typeface="+mn-lt"/>
                          <a:ea typeface="+mn-ea"/>
                          <a:cs typeface="Times New Roman" pitchFamily="18" charset="0"/>
                        </a:rPr>
                        <a:t>(жамоа хўжалигида ишчи)</a:t>
                      </a:r>
                      <a:endParaRPr lang="ru-RU"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706935">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smtClean="0">
                          <a:solidFill>
                            <a:schemeClr val="tx1"/>
                          </a:solidFill>
                          <a:latin typeface="+mn-lt"/>
                          <a:ea typeface="+mn-ea"/>
                          <a:cs typeface="Times New Roman" pitchFamily="18" charset="0"/>
                        </a:rPr>
                        <a:t>Юлдашева Наргиза Тохировна</a:t>
                      </a:r>
                    </a:p>
                    <a:p>
                      <a:r>
                        <a:rPr lang="ru-RU" sz="900" kern="1200" dirty="0" smtClean="0">
                          <a:solidFill>
                            <a:schemeClr val="tx1"/>
                          </a:solidFill>
                          <a:latin typeface="+mn-lt"/>
                          <a:ea typeface="+mn-ea"/>
                          <a:cs typeface="Times New Roman" pitchFamily="18" charset="0"/>
                        </a:rPr>
                        <a:t>19</a:t>
                      </a:r>
                      <a:r>
                        <a:rPr lang="uz-Cyrl-UZ" sz="900" kern="1200" dirty="0" smtClean="0">
                          <a:solidFill>
                            <a:schemeClr val="tx1"/>
                          </a:solidFill>
                          <a:latin typeface="+mn-lt"/>
                          <a:ea typeface="+mn-ea"/>
                          <a:cs typeface="Times New Roman" pitchFamily="18" charset="0"/>
                        </a:rPr>
                        <a:t>77</a:t>
                      </a:r>
                      <a:r>
                        <a:rPr lang="ru-RU" sz="900" kern="1200" dirty="0" smtClean="0">
                          <a:solidFill>
                            <a:schemeClr val="tx1"/>
                          </a:solidFill>
                          <a:latin typeface="+mn-lt"/>
                          <a:ea typeface="+mn-ea"/>
                          <a:cs typeface="Times New Roman" pitchFamily="18" charset="0"/>
                        </a:rPr>
                        <a:t> </a:t>
                      </a:r>
                      <a:r>
                        <a:rPr lang="ru-RU" sz="900" kern="1200" dirty="0" err="1" smtClean="0">
                          <a:solidFill>
                            <a:schemeClr val="tx1"/>
                          </a:solidFill>
                          <a:latin typeface="+mn-lt"/>
                          <a:ea typeface="+mn-ea"/>
                          <a:cs typeface="Times New Roman" pitchFamily="18" charset="0"/>
                        </a:rPr>
                        <a:t>й</a:t>
                      </a:r>
                      <a:r>
                        <a:rPr lang="uz-Cyrl-UZ" sz="900" kern="1200" dirty="0" smtClean="0">
                          <a:solidFill>
                            <a:schemeClr val="tx1"/>
                          </a:solidFill>
                          <a:latin typeface="+mn-lt"/>
                          <a:ea typeface="+mn-ea"/>
                          <a:cs typeface="Times New Roman" pitchFamily="18" charset="0"/>
                        </a:rPr>
                        <a:t>ил,</a:t>
                      </a:r>
                      <a:endParaRPr lang="ru-RU" sz="900" kern="1200" dirty="0" smtClean="0">
                        <a:solidFill>
                          <a:schemeClr val="tx1"/>
                        </a:solidFill>
                        <a:latin typeface="+mn-lt"/>
                        <a:ea typeface="+mn-ea"/>
                        <a:cs typeface="Times New Roman" pitchFamily="18" charset="0"/>
                      </a:endParaRPr>
                    </a:p>
                    <a:p>
                      <a:r>
                        <a:rPr lang="uz-Cyrl-UZ" sz="900" kern="1200" dirty="0" smtClean="0">
                          <a:solidFill>
                            <a:schemeClr val="tx1"/>
                          </a:solidFill>
                          <a:latin typeface="+mn-lt"/>
                          <a:ea typeface="+mn-ea"/>
                          <a:cs typeface="Times New Roman" pitchFamily="18" charset="0"/>
                        </a:rPr>
                        <a:t>Марғилон шахри</a:t>
                      </a:r>
                    </a:p>
                    <a:p>
                      <a:pPr algn="l">
                        <a:lnSpc>
                          <a:spcPct val="85000"/>
                        </a:lnSpc>
                      </a:pPr>
                      <a:endParaRPr lang="uz-Cyrl-UZ" sz="900" b="0" kern="1200" noProof="0" dirty="0" smtClean="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Уй бекаси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6335">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52889">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latin typeface="+mn-lt"/>
                          <a:ea typeface="+mn-ea"/>
                          <a:cs typeface="Times New Roman" pitchFamily="18" charset="0"/>
                        </a:rPr>
                        <a:t>1995 й. М.Ашрафий номидаги Тошкент давлат консерваторияси (кундузги)</a:t>
                      </a:r>
                      <a:endParaRPr lang="ru-RU" sz="90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4048">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latin typeface="+mn-lt"/>
                          <a:ea typeface="+mn-ea"/>
                          <a:cs typeface="Times New Roman" pitchFamily="18" charset="0"/>
                        </a:rPr>
                        <a:t>опера  хонандаси, ўқитувчи</a:t>
                      </a:r>
                      <a:endParaRPr lang="ru-RU" sz="90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2265">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2265">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12265">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90"/>
          <a:ext cx="3172841" cy="583124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295274">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1187654">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dirty="0" smtClean="0">
                          <a:latin typeface="+mn-lt"/>
                          <a:cs typeface="Times New Roman" pitchFamily="18" charset="0"/>
                        </a:rPr>
                        <a:t>Алишер</a:t>
                      </a:r>
                      <a:r>
                        <a:rPr lang="uz-Cyrl-UZ" sz="900" b="1" dirty="0" smtClean="0">
                          <a:latin typeface="+mn-lt"/>
                          <a:cs typeface="Times New Roman" pitchFamily="18" charset="0"/>
                        </a:rPr>
                        <a:t> </a:t>
                      </a:r>
                      <a:r>
                        <a:rPr lang="uz-Cyrl-UZ" sz="900" dirty="0" smtClean="0">
                          <a:latin typeface="+mn-lt"/>
                          <a:cs typeface="Times New Roman" pitchFamily="18" charset="0"/>
                        </a:rPr>
                        <a:t>Навоий номидаги Ўзбекистон Давлат академик катта театри  опера солисти</a:t>
                      </a:r>
                      <a:endParaRPr lang="ru-RU" sz="900" dirty="0" smtClean="0">
                        <a:latin typeface="+mn-lt"/>
                        <a:cs typeface="Times New Roman" pitchFamily="18" charset="0"/>
                      </a:endParaRPr>
                    </a:p>
                    <a:p>
                      <a:r>
                        <a:rPr lang="uz-Cyrl-UZ" sz="900" dirty="0" smtClean="0">
                          <a:latin typeface="+mn-lt"/>
                        </a:rPr>
                        <a:t>                             </a:t>
                      </a:r>
                      <a:endParaRPr lang="ru-RU" sz="900" dirty="0" smtClean="0">
                        <a:latin typeface="+mn-lt"/>
                        <a:cs typeface="Times New Roman" pitchFamily="18" charset="0"/>
                      </a:endParaRPr>
                    </a:p>
                    <a:p>
                      <a:r>
                        <a:rPr lang="uz-Cyrl-UZ" sz="900" b="1" kern="1200" dirty="0" smtClean="0">
                          <a:solidFill>
                            <a:schemeClr val="tx1"/>
                          </a:solidFill>
                          <a:latin typeface="+mn-lt"/>
                          <a:ea typeface="+mn-ea"/>
                          <a:cs typeface="+mn-cs"/>
                        </a:rPr>
                        <a:t> </a:t>
                      </a:r>
                      <a:endParaRPr lang="ru-RU" sz="900" kern="120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20326">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7396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30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6202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72115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dirty="0" smtClean="0">
                          <a:latin typeface="+mn-lt"/>
                        </a:rPr>
                        <a:t> </a:t>
                      </a: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29539">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2953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2953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1319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87439">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681600">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kern="1200" dirty="0" smtClean="0">
                          <a:solidFill>
                            <a:schemeClr val="tx1"/>
                          </a:solidFill>
                          <a:latin typeface="+mn-lt"/>
                          <a:ea typeface="+mn-ea"/>
                          <a:cs typeface="Times New Roman" pitchFamily="18" charset="0"/>
                        </a:rPr>
                        <a:t>2007 й. “Ўзбекистон Республикасида хизмат кўрсатган артист”</a:t>
                      </a:r>
                      <a:endParaRPr lang="ru-RU" sz="900" kern="1200" dirty="0" smtClean="0">
                        <a:solidFill>
                          <a:schemeClr val="tx1"/>
                        </a:solidFill>
                        <a:latin typeface="+mn-lt"/>
                        <a:ea typeface="+mn-ea"/>
                        <a:cs typeface="Times New Roman"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6"/>
          <a:ext cx="2817247" cy="5827644"/>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marL="0" indent="179388" algn="just"/>
                      <a:r>
                        <a:rPr lang="uz-Cyrl-UZ" sz="900" kern="1200" dirty="0" smtClean="0">
                          <a:solidFill>
                            <a:schemeClr val="tx1"/>
                          </a:solidFill>
                          <a:latin typeface="+mn-lt"/>
                          <a:ea typeface="+mn-ea"/>
                          <a:cs typeface="Times New Roman" pitchFamily="18" charset="0"/>
                        </a:rPr>
                        <a:t>Ҳ.Йўлдошев  театр  репертуаридаги  бир  қатор  ўзбек  ва  Европа  композиторларининг  опера  асарларидаги  бош  партияларни  мувоффақиятли  ижро  этиб  келмоқда.  </a:t>
                      </a:r>
                      <a:endParaRPr lang="ru-RU" sz="900" kern="1200" dirty="0" smtClean="0">
                        <a:solidFill>
                          <a:schemeClr val="tx1"/>
                        </a:solidFill>
                        <a:latin typeface="+mn-lt"/>
                        <a:ea typeface="+mn-ea"/>
                        <a:cs typeface="Times New Roman" pitchFamily="18" charset="0"/>
                      </a:endParaRPr>
                    </a:p>
                    <a:p>
                      <a:pPr marL="0" indent="179388" algn="just"/>
                      <a:r>
                        <a:rPr lang="uz-Cyrl-UZ" sz="900" kern="1200" dirty="0" smtClean="0">
                          <a:solidFill>
                            <a:schemeClr val="tx1"/>
                          </a:solidFill>
                          <a:latin typeface="+mn-lt"/>
                          <a:ea typeface="+mn-ea"/>
                          <a:cs typeface="Times New Roman" pitchFamily="18" charset="0"/>
                        </a:rPr>
                        <a:t>Жумладан; А.Икромов </a:t>
                      </a:r>
                      <a:r>
                        <a:rPr lang="uz-Cyrl-UZ" sz="900" b="0" kern="1200" dirty="0" smtClean="0">
                          <a:solidFill>
                            <a:schemeClr val="tx1"/>
                          </a:solidFill>
                          <a:latin typeface="+mn-lt"/>
                          <a:ea typeface="+mn-ea"/>
                          <a:cs typeface="Times New Roman" pitchFamily="18" charset="0"/>
                        </a:rPr>
                        <a:t>“Буюк  Темур”да –</a:t>
                      </a:r>
                      <a:r>
                        <a:rPr lang="uz-Latn-UZ" sz="900" b="0" kern="1200" dirty="0" smtClean="0">
                          <a:solidFill>
                            <a:schemeClr val="tx1"/>
                          </a:solidFill>
                          <a:latin typeface="+mn-lt"/>
                          <a:ea typeface="+mn-ea"/>
                          <a:cs typeface="Times New Roman" pitchFamily="18" charset="0"/>
                        </a:rPr>
                        <a:t> А</a:t>
                      </a:r>
                      <a:r>
                        <a:rPr lang="uz-Cyrl-UZ" sz="900" b="0" kern="1200" dirty="0" smtClean="0">
                          <a:solidFill>
                            <a:schemeClr val="tx1"/>
                          </a:solidFill>
                          <a:latin typeface="+mn-lt"/>
                          <a:ea typeface="+mn-ea"/>
                          <a:cs typeface="Times New Roman" pitchFamily="18" charset="0"/>
                        </a:rPr>
                        <a:t>мир Темур, Т.Жалилов       “Тоҳир  ва Зуҳра”да – хон Бобохон, И.Акбаров “Сўғд  эли  қоплони”да – Перменион, М.Бафоев “Севгим  самоси”да -  шоҳ  Маъмун, Т.Содиқов  “Лайли  ва  Мажнун”да</a:t>
                      </a:r>
                      <a:r>
                        <a:rPr lang="uz-Latn-UZ" sz="900" b="0" kern="1200" dirty="0" smtClean="0">
                          <a:solidFill>
                            <a:schemeClr val="tx1"/>
                          </a:solidFill>
                          <a:latin typeface="+mn-lt"/>
                          <a:ea typeface="+mn-ea"/>
                          <a:cs typeface="Times New Roman" pitchFamily="18" charset="0"/>
                        </a:rPr>
                        <a:t> – </a:t>
                      </a:r>
                      <a:r>
                        <a:rPr lang="uz-Cyrl-UZ" sz="900" b="0" kern="1200" dirty="0" smtClean="0">
                          <a:solidFill>
                            <a:schemeClr val="tx1"/>
                          </a:solidFill>
                          <a:latin typeface="+mn-lt"/>
                          <a:ea typeface="+mn-ea"/>
                          <a:cs typeface="Times New Roman" pitchFamily="18" charset="0"/>
                        </a:rPr>
                        <a:t>Домла</a:t>
                      </a:r>
                      <a:r>
                        <a:rPr lang="uz-Latn-UZ" sz="900" b="0" kern="1200" dirty="0" smtClean="0">
                          <a:solidFill>
                            <a:schemeClr val="tx1"/>
                          </a:solidFill>
                          <a:latin typeface="+mn-lt"/>
                          <a:ea typeface="+mn-ea"/>
                          <a:cs typeface="Times New Roman" pitchFamily="18" charset="0"/>
                        </a:rPr>
                        <a:t>, </a:t>
                      </a:r>
                      <a:r>
                        <a:rPr lang="uz-Cyrl-UZ" sz="900" b="0" kern="1200" dirty="0" smtClean="0">
                          <a:solidFill>
                            <a:schemeClr val="tx1"/>
                          </a:solidFill>
                          <a:latin typeface="+mn-lt"/>
                          <a:ea typeface="+mn-ea"/>
                          <a:cs typeface="Times New Roman" pitchFamily="18" charset="0"/>
                        </a:rPr>
                        <a:t>С.Бородин “Княз  Игорь”да - хон Кончак, Д.Верди “Аида”да – Миср шоҳи, “Риголетто”да – Спарафучил, </a:t>
                      </a:r>
                      <a:r>
                        <a:rPr lang="uz-Latn-UZ" sz="900" b="0" kern="1200" dirty="0" smtClean="0">
                          <a:solidFill>
                            <a:schemeClr val="tx1"/>
                          </a:solidFill>
                          <a:latin typeface="+mn-lt"/>
                          <a:ea typeface="+mn-ea"/>
                          <a:cs typeface="Times New Roman" pitchFamily="18" charset="0"/>
                        </a:rPr>
                        <a:t>“</a:t>
                      </a:r>
                      <a:r>
                        <a:rPr lang="uz-Cyrl-UZ" sz="900" b="0" kern="1200" dirty="0" smtClean="0">
                          <a:solidFill>
                            <a:schemeClr val="tx1"/>
                          </a:solidFill>
                          <a:latin typeface="+mn-lt"/>
                          <a:ea typeface="+mn-ea"/>
                          <a:cs typeface="Times New Roman" pitchFamily="18" charset="0"/>
                        </a:rPr>
                        <a:t>Отелло”да – Герольд,  “Травиата”да – Маркиз, Ш.Гуно “Фауст”да – Вагнер, Д.Пуччини “Богема”да – Альциндор, “Чио чио сан”да – Бонза, П.Чайковский  “Евгений  Онегин”да – Гремин, С.Юдаков “Майсаранинг иши” - Қози   ва  бошқалар.         </a:t>
                      </a:r>
                      <a:endParaRPr lang="ru-RU" sz="900" b="0" kern="1200" dirty="0" smtClean="0">
                        <a:solidFill>
                          <a:schemeClr val="tx1"/>
                        </a:solidFill>
                        <a:latin typeface="+mn-lt"/>
                        <a:ea typeface="+mn-ea"/>
                        <a:cs typeface="Times New Roman" pitchFamily="18" charset="0"/>
                      </a:endParaRPr>
                    </a:p>
                    <a:p>
                      <a:pPr marL="0" indent="179388" algn="just"/>
                      <a:r>
                        <a:rPr lang="uz-Cyrl-UZ" sz="900" b="0" kern="1200" dirty="0" smtClean="0">
                          <a:solidFill>
                            <a:schemeClr val="tx1"/>
                          </a:solidFill>
                          <a:latin typeface="+mn-lt"/>
                          <a:ea typeface="+mn-ea"/>
                          <a:cs typeface="Times New Roman" pitchFamily="18" charset="0"/>
                        </a:rPr>
                        <a:t>Ҳ.Йўлдошев  театрдаги  ижодий  фаолиятидан  ташқари  Давлат  аҳамиятига  молик  кўплаб  тадбирларда  ва  концерт  дастурларида, жумладан; “Мустақиллик”  ва  “Наврўз”  байрам  тантаналарида, чет  эллик  ижодкорлар  билан  ҳамкорликда  ўтадиган  турли  тадбирларда ҳам  фаол  иштирок  этиб  келмоқда.</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Picture 2" descr="Юлдашев Хотам"/>
          <p:cNvPicPr>
            <a:picLocks noChangeAspect="1" noChangeArrowheads="1"/>
          </p:cNvPicPr>
          <p:nvPr/>
        </p:nvPicPr>
        <p:blipFill>
          <a:blip r:embed="rId2" cstate="print"/>
          <a:srcRect/>
          <a:stretch>
            <a:fillRect/>
          </a:stretch>
        </p:blipFill>
        <p:spPr bwMode="auto">
          <a:xfrm>
            <a:off x="251369" y="1119104"/>
            <a:ext cx="889686" cy="1118462"/>
          </a:xfrm>
          <a:prstGeom prst="rect">
            <a:avLst/>
          </a:prstGeom>
          <a:noFill/>
          <a:ln w="9525">
            <a:noFill/>
            <a:miter lim="800000"/>
            <a:headEnd/>
            <a:tailEnd/>
          </a:ln>
        </p:spPr>
      </p:pic>
      <p:sp>
        <p:nvSpPr>
          <p:cNvPr id="8" name="Прямоугольник 7">
            <a:extLst>
              <a:ext uri="{FF2B5EF4-FFF2-40B4-BE49-F238E27FC236}">
                <a16:creationId xmlns:a16="http://schemas.microsoft.com/office/drawing/2014/main" id="{5A9AA459-1519-4154-AF5D-18C6732B0658}"/>
              </a:ext>
            </a:extLst>
          </p:cNvPr>
          <p:cNvSpPr/>
          <p:nvPr/>
        </p:nvSpPr>
        <p:spPr>
          <a:xfrm>
            <a:off x="138896" y="557937"/>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spTree>
    <p:extLst>
      <p:ext uri="{BB962C8B-B14F-4D97-AF65-F5344CB8AC3E}">
        <p14:creationId xmlns:p14="http://schemas.microsoft.com/office/powerpoint/2010/main" val="2912904576"/>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918141"/>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2978">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95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Якубджанов</a:t>
                      </a:r>
                      <a:r>
                        <a:rPr lang="uz-Cyrl-UZ" sz="900" b="0" kern="1200" baseline="0" dirty="0">
                          <a:solidFill>
                            <a:schemeClr val="tx1"/>
                          </a:solidFill>
                          <a:latin typeface="+mn-lt"/>
                          <a:ea typeface="+mn-ea"/>
                          <a:cs typeface="+mn-cs"/>
                        </a:rPr>
                        <a:t>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9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a:solidFill>
                            <a:schemeClr val="tx1"/>
                          </a:solidFill>
                          <a:latin typeface="+mn-lt"/>
                          <a:ea typeface="+mn-ea"/>
                          <a:cs typeface="+mn-cs"/>
                        </a:rPr>
                        <a:t>Фазлиддин</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9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smtClean="0">
                          <a:solidFill>
                            <a:schemeClr val="tx1"/>
                          </a:solidFill>
                          <a:latin typeface="+mn-lt"/>
                          <a:ea typeface="+mn-ea"/>
                          <a:cs typeface="+mn-cs"/>
                        </a:rPr>
                        <a:t>ХХХ</a:t>
                      </a:r>
                      <a:endParaRPr lang="uz-Cyrl-UZ"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9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sz="900" dirty="0">
                        <a:latin typeface="+mn-lt"/>
                      </a:endParaRPr>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20112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kern="1200" dirty="0">
                          <a:solidFill>
                            <a:schemeClr val="tx1"/>
                          </a:solidFill>
                          <a:latin typeface="+mn-lt"/>
                          <a:ea typeface="+mn-ea"/>
                          <a:cs typeface="Times New Roman" pitchFamily="18" charset="0"/>
                        </a:rPr>
                        <a:t>18.10.1945</a:t>
                      </a:r>
                      <a:endParaRPr lang="ru-RU" sz="900" b="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1507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r>
                        <a:rPr lang="uz-Cyrl-UZ" sz="900" kern="1200" dirty="0">
                          <a:solidFill>
                            <a:schemeClr val="tx1"/>
                          </a:solidFill>
                          <a:latin typeface="+mn-lt"/>
                          <a:ea typeface="+mn-ea"/>
                          <a:cs typeface="Times New Roman" pitchFamily="18" charset="0"/>
                        </a:rPr>
                        <a:t>Самарқанд шаҳри</a:t>
                      </a:r>
                      <a:endParaRPr lang="ru-RU" sz="90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0577">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54585">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ўғил фарзанди бор,1 нафар қиз фарзанди бор.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0577">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33601">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kern="1200" dirty="0">
                          <a:solidFill>
                            <a:schemeClr val="tx1"/>
                          </a:solidFill>
                          <a:latin typeface="+mn-lt"/>
                          <a:ea typeface="+mn-ea"/>
                          <a:cs typeface="Times New Roman" pitchFamily="18" charset="0"/>
                        </a:rPr>
                        <a:t>Якубжанов Шамсиддин</a:t>
                      </a:r>
                    </a:p>
                    <a:p>
                      <a:r>
                        <a:rPr lang="uz-Cyrl-UZ" sz="900" kern="1200" dirty="0">
                          <a:solidFill>
                            <a:schemeClr val="tx1"/>
                          </a:solidFill>
                          <a:latin typeface="+mn-lt"/>
                          <a:ea typeface="+mn-ea"/>
                          <a:cs typeface="Times New Roman" pitchFamily="18" charset="0"/>
                        </a:rPr>
                        <a:t>1905 йил,</a:t>
                      </a:r>
                      <a:endParaRPr lang="ru-RU" sz="900" kern="1200" dirty="0">
                        <a:solidFill>
                          <a:schemeClr val="tx1"/>
                        </a:solidFill>
                        <a:latin typeface="+mn-lt"/>
                        <a:ea typeface="+mn-ea"/>
                        <a:cs typeface="Times New Roman" pitchFamily="18" charset="0"/>
                      </a:endParaRPr>
                    </a:p>
                    <a:p>
                      <a:r>
                        <a:rPr lang="uz-Cyrl-UZ" sz="900" kern="1200" dirty="0">
                          <a:solidFill>
                            <a:schemeClr val="tx1"/>
                          </a:solidFill>
                          <a:latin typeface="+mn-lt"/>
                          <a:ea typeface="+mn-ea"/>
                          <a:cs typeface="Times New Roman" pitchFamily="18" charset="0"/>
                        </a:rPr>
                        <a:t>Самарқанд шаҳри</a:t>
                      </a:r>
                      <a:endParaRPr lang="uz-Cyrl-UZ"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a:solidFill>
                            <a:schemeClr val="tx1"/>
                          </a:solidFill>
                          <a:latin typeface="+mn-lt"/>
                          <a:ea typeface="+mn-ea"/>
                          <a:cs typeface="Times New Roman" pitchFamily="18" charset="0"/>
                        </a:rPr>
                        <a:t>1950 </a:t>
                      </a:r>
                      <a:r>
                        <a:rPr lang="ru-RU" sz="900" kern="1200" dirty="0" err="1">
                          <a:solidFill>
                            <a:schemeClr val="tx1"/>
                          </a:solidFill>
                          <a:latin typeface="+mn-lt"/>
                          <a:ea typeface="+mn-ea"/>
                          <a:cs typeface="Times New Roman" pitchFamily="18" charset="0"/>
                        </a:rPr>
                        <a:t>й</a:t>
                      </a:r>
                      <a:r>
                        <a:rPr lang="uz-Cyrl-UZ" sz="900" kern="1200" dirty="0">
                          <a:solidFill>
                            <a:schemeClr val="tx1"/>
                          </a:solidFill>
                          <a:latin typeface="+mn-lt"/>
                          <a:ea typeface="+mn-ea"/>
                          <a:cs typeface="Times New Roman" pitchFamily="18" charset="0"/>
                        </a:rPr>
                        <a:t>ил</a:t>
                      </a:r>
                      <a:r>
                        <a:rPr lang="ru-RU" sz="900" kern="1200" dirty="0">
                          <a:solidFill>
                            <a:schemeClr val="tx1"/>
                          </a:solidFill>
                          <a:latin typeface="+mn-lt"/>
                          <a:ea typeface="+mn-ea"/>
                          <a:cs typeface="Times New Roman" pitchFamily="18" charset="0"/>
                        </a:rPr>
                        <a:t> </a:t>
                      </a:r>
                      <a:r>
                        <a:rPr lang="ru-RU" sz="900" kern="1200" dirty="0" err="1">
                          <a:solidFill>
                            <a:schemeClr val="tx1"/>
                          </a:solidFill>
                          <a:latin typeface="+mn-lt"/>
                          <a:ea typeface="+mn-ea"/>
                          <a:cs typeface="Times New Roman" pitchFamily="18" charset="0"/>
                        </a:rPr>
                        <a:t>вафот</a:t>
                      </a:r>
                      <a:r>
                        <a:rPr lang="ru-RU" sz="900" kern="1200" dirty="0">
                          <a:solidFill>
                            <a:schemeClr val="tx1"/>
                          </a:solidFill>
                          <a:latin typeface="+mn-lt"/>
                          <a:ea typeface="+mn-ea"/>
                          <a:cs typeface="Times New Roman" pitchFamily="18" charset="0"/>
                        </a:rPr>
                        <a:t> </a:t>
                      </a:r>
                      <a:r>
                        <a:rPr lang="ru-RU" sz="900" kern="1200" dirty="0" err="1">
                          <a:solidFill>
                            <a:schemeClr val="tx1"/>
                          </a:solidFill>
                          <a:latin typeface="+mn-lt"/>
                          <a:ea typeface="+mn-ea"/>
                          <a:cs typeface="Times New Roman" pitchFamily="18" charset="0"/>
                        </a:rPr>
                        <a:t>этган</a:t>
                      </a:r>
                      <a:r>
                        <a:rPr lang="uz-Cyrl-UZ" sz="900" kern="1200" dirty="0">
                          <a:solidFill>
                            <a:schemeClr val="tx1"/>
                          </a:solidFill>
                          <a:latin typeface="+mn-lt"/>
                          <a:ea typeface="+mn-ea"/>
                          <a:cs typeface="Times New Roman" pitchFamily="18" charset="0"/>
                        </a:rPr>
                        <a:t>,</a:t>
                      </a:r>
                      <a:endParaRPr lang="ru-RU" sz="900" kern="1200" dirty="0">
                        <a:solidFill>
                          <a:schemeClr val="tx1"/>
                        </a:solidFill>
                        <a:latin typeface="+mn-lt"/>
                        <a:ea typeface="+mn-ea"/>
                        <a:cs typeface="Times New Roman" pitchFamily="18" charset="0"/>
                      </a:endParaRPr>
                    </a:p>
                    <a:p>
                      <a:r>
                        <a:rPr lang="uz-Cyrl-UZ" sz="900" kern="1200" dirty="0">
                          <a:solidFill>
                            <a:schemeClr val="tx1"/>
                          </a:solidFill>
                          <a:latin typeface="+mn-lt"/>
                          <a:ea typeface="+mn-ea"/>
                          <a:cs typeface="Times New Roman" pitchFamily="18" charset="0"/>
                        </a:rPr>
                        <a:t>(Тошкент-Самарқанд темир йўли машинисти)</a:t>
                      </a:r>
                      <a:endParaRPr lang="ru-RU"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633601">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uz-Cyrl-UZ" sz="900" kern="1200" dirty="0">
                          <a:solidFill>
                            <a:schemeClr val="tx1"/>
                          </a:solidFill>
                          <a:latin typeface="+mn-lt"/>
                          <a:ea typeface="+mn-ea"/>
                          <a:cs typeface="Times New Roman" pitchFamily="18" charset="0"/>
                        </a:rPr>
                        <a:t>Аликулова </a:t>
                      </a:r>
                      <a:endParaRPr lang="ru-RU" sz="900" kern="1200" dirty="0">
                        <a:solidFill>
                          <a:schemeClr val="tx1"/>
                        </a:solidFill>
                        <a:latin typeface="+mn-lt"/>
                        <a:ea typeface="+mn-ea"/>
                        <a:cs typeface="Times New Roman" pitchFamily="18" charset="0"/>
                      </a:endParaRPr>
                    </a:p>
                    <a:p>
                      <a:r>
                        <a:rPr lang="uz-Cyrl-UZ" sz="900" kern="1200" dirty="0">
                          <a:solidFill>
                            <a:schemeClr val="tx1"/>
                          </a:solidFill>
                          <a:latin typeface="+mn-lt"/>
                          <a:ea typeface="+mn-ea"/>
                          <a:cs typeface="Times New Roman" pitchFamily="18" charset="0"/>
                        </a:rPr>
                        <a:t>Хабиба </a:t>
                      </a:r>
                    </a:p>
                    <a:p>
                      <a:r>
                        <a:rPr lang="uz-Cyrl-UZ" sz="900" kern="1200" dirty="0">
                          <a:solidFill>
                            <a:schemeClr val="tx1"/>
                          </a:solidFill>
                          <a:latin typeface="+mn-lt"/>
                          <a:ea typeface="+mn-ea"/>
                          <a:cs typeface="Times New Roman" pitchFamily="18" charset="0"/>
                        </a:rPr>
                        <a:t>1925 йил,</a:t>
                      </a:r>
                      <a:endParaRPr lang="ru-RU" sz="900" kern="1200" dirty="0">
                        <a:solidFill>
                          <a:schemeClr val="tx1"/>
                        </a:solidFill>
                        <a:latin typeface="+mn-lt"/>
                        <a:ea typeface="+mn-ea"/>
                        <a:cs typeface="Times New Roman" pitchFamily="18" charset="0"/>
                      </a:endParaRPr>
                    </a:p>
                    <a:p>
                      <a:r>
                        <a:rPr lang="uz-Cyrl-UZ" sz="900" kern="1200" dirty="0">
                          <a:solidFill>
                            <a:schemeClr val="tx1"/>
                          </a:solidFill>
                          <a:latin typeface="+mn-lt"/>
                          <a:ea typeface="+mn-ea"/>
                          <a:cs typeface="Times New Roman" pitchFamily="18" charset="0"/>
                        </a:rPr>
                        <a:t>Самарқанд шаҳри</a:t>
                      </a:r>
                      <a:endParaRPr lang="uz-Cyrl-UZ"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ru-RU" sz="900" kern="1200" dirty="0">
                          <a:solidFill>
                            <a:schemeClr val="tx1"/>
                          </a:solidFill>
                          <a:latin typeface="+mn-lt"/>
                          <a:ea typeface="+mn-ea"/>
                          <a:cs typeface="Times New Roman" pitchFamily="18" charset="0"/>
                        </a:rPr>
                        <a:t>2008 </a:t>
                      </a:r>
                      <a:r>
                        <a:rPr lang="ru-RU" sz="900" kern="1200" dirty="0" err="1">
                          <a:solidFill>
                            <a:schemeClr val="tx1"/>
                          </a:solidFill>
                          <a:latin typeface="+mn-lt"/>
                          <a:ea typeface="+mn-ea"/>
                          <a:cs typeface="Times New Roman" pitchFamily="18" charset="0"/>
                        </a:rPr>
                        <a:t>й</a:t>
                      </a:r>
                      <a:r>
                        <a:rPr lang="uz-Cyrl-UZ" sz="900" kern="1200" dirty="0">
                          <a:solidFill>
                            <a:schemeClr val="tx1"/>
                          </a:solidFill>
                          <a:latin typeface="+mn-lt"/>
                          <a:ea typeface="+mn-ea"/>
                          <a:cs typeface="Times New Roman" pitchFamily="18" charset="0"/>
                        </a:rPr>
                        <a:t>ил</a:t>
                      </a:r>
                      <a:r>
                        <a:rPr lang="ru-RU" sz="900" kern="1200" dirty="0">
                          <a:solidFill>
                            <a:schemeClr val="tx1"/>
                          </a:solidFill>
                          <a:latin typeface="+mn-lt"/>
                          <a:ea typeface="+mn-ea"/>
                          <a:cs typeface="Times New Roman" pitchFamily="18" charset="0"/>
                        </a:rPr>
                        <a:t> </a:t>
                      </a:r>
                      <a:r>
                        <a:rPr lang="ru-RU" sz="900" kern="1200" dirty="0" err="1">
                          <a:solidFill>
                            <a:schemeClr val="tx1"/>
                          </a:solidFill>
                          <a:latin typeface="+mn-lt"/>
                          <a:ea typeface="+mn-ea"/>
                          <a:cs typeface="Times New Roman" pitchFamily="18" charset="0"/>
                        </a:rPr>
                        <a:t>вафот</a:t>
                      </a:r>
                      <a:r>
                        <a:rPr lang="ru-RU" sz="900" kern="1200" dirty="0">
                          <a:solidFill>
                            <a:schemeClr val="tx1"/>
                          </a:solidFill>
                          <a:latin typeface="+mn-lt"/>
                          <a:ea typeface="+mn-ea"/>
                          <a:cs typeface="Times New Roman" pitchFamily="18" charset="0"/>
                        </a:rPr>
                        <a:t> </a:t>
                      </a:r>
                      <a:r>
                        <a:rPr lang="ru-RU" sz="900" kern="1200" dirty="0" err="1">
                          <a:solidFill>
                            <a:schemeClr val="tx1"/>
                          </a:solidFill>
                          <a:latin typeface="+mn-lt"/>
                          <a:ea typeface="+mn-ea"/>
                          <a:cs typeface="Times New Roman" pitchFamily="18" charset="0"/>
                        </a:rPr>
                        <a:t>этган</a:t>
                      </a:r>
                      <a:endParaRPr lang="ru-RU" sz="900" kern="1200" dirty="0">
                        <a:solidFill>
                          <a:schemeClr val="tx1"/>
                        </a:solidFill>
                        <a:latin typeface="+mn-lt"/>
                        <a:ea typeface="+mn-ea"/>
                        <a:cs typeface="Times New Roman" pitchFamily="18" charset="0"/>
                      </a:endParaRPr>
                    </a:p>
                    <a:p>
                      <a:r>
                        <a:rPr lang="uz-Cyrl-UZ" sz="900" kern="1200" dirty="0">
                          <a:solidFill>
                            <a:schemeClr val="tx1"/>
                          </a:solidFill>
                          <a:latin typeface="+mn-lt"/>
                          <a:ea typeface="+mn-ea"/>
                          <a:cs typeface="Times New Roman" pitchFamily="18" charset="0"/>
                        </a:rPr>
                        <a:t>(Самарқанд шаҳри</a:t>
                      </a:r>
                      <a:r>
                        <a:rPr lang="uz-Cyrl-UZ" sz="900" kern="1200" dirty="0" smtClean="0">
                          <a:solidFill>
                            <a:schemeClr val="tx1"/>
                          </a:solidFill>
                          <a:latin typeface="+mn-lt"/>
                          <a:ea typeface="+mn-ea"/>
                          <a:cs typeface="Times New Roman" pitchFamily="18" charset="0"/>
                        </a:rPr>
                        <a:t>,              </a:t>
                      </a:r>
                      <a:r>
                        <a:rPr lang="ru-RU" sz="900" kern="1200" dirty="0">
                          <a:solidFill>
                            <a:schemeClr val="tx1"/>
                          </a:solidFill>
                          <a:latin typeface="+mn-lt"/>
                          <a:ea typeface="+mn-ea"/>
                          <a:cs typeface="Times New Roman" pitchFamily="18" charset="0"/>
                        </a:rPr>
                        <a:t>8-март </a:t>
                      </a:r>
                      <a:r>
                        <a:rPr lang="ru-RU" sz="900" kern="1200" dirty="0" err="1">
                          <a:solidFill>
                            <a:schemeClr val="tx1"/>
                          </a:solidFill>
                          <a:latin typeface="+mn-lt"/>
                          <a:ea typeface="+mn-ea"/>
                          <a:cs typeface="Times New Roman" pitchFamily="18" charset="0"/>
                        </a:rPr>
                        <a:t>фабрикаси</a:t>
                      </a:r>
                      <a:r>
                        <a:rPr lang="ru-RU" sz="900" kern="1200" dirty="0">
                          <a:solidFill>
                            <a:schemeClr val="tx1"/>
                          </a:solidFill>
                          <a:latin typeface="+mn-lt"/>
                          <a:ea typeface="+mn-ea"/>
                          <a:cs typeface="Times New Roman" pitchFamily="18" charset="0"/>
                        </a:rPr>
                        <a:t> </a:t>
                      </a:r>
                      <a:r>
                        <a:rPr lang="ru-RU" sz="900" kern="1200" dirty="0" err="1">
                          <a:solidFill>
                            <a:schemeClr val="tx1"/>
                          </a:solidFill>
                          <a:latin typeface="+mn-lt"/>
                          <a:ea typeface="+mn-ea"/>
                          <a:cs typeface="Times New Roman" pitchFamily="18" charset="0"/>
                        </a:rPr>
                        <a:t>ходими</a:t>
                      </a:r>
                      <a:r>
                        <a:rPr lang="uz-Cyrl-UZ" sz="900" kern="1200" dirty="0">
                          <a:solidFill>
                            <a:schemeClr val="tx1"/>
                          </a:solidFill>
                          <a:latin typeface="+mn-lt"/>
                          <a:ea typeface="+mn-ea"/>
                          <a:cs typeface="Times New Roman" pitchFamily="18" charset="0"/>
                        </a:rPr>
                        <a:t>)</a:t>
                      </a:r>
                      <a:endParaRPr lang="ru-RU"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633601">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r>
                        <a:rPr lang="uz-Cyrl-UZ" sz="900" kern="1200" dirty="0">
                          <a:solidFill>
                            <a:schemeClr val="tx1"/>
                          </a:solidFill>
                          <a:latin typeface="+mn-lt"/>
                          <a:ea typeface="+mn-ea"/>
                          <a:cs typeface="Times New Roman" pitchFamily="18" charset="0"/>
                        </a:rPr>
                        <a:t>Марупова </a:t>
                      </a:r>
                      <a:endParaRPr lang="ru-RU" sz="900" kern="1200" dirty="0">
                        <a:solidFill>
                          <a:schemeClr val="tx1"/>
                        </a:solidFill>
                        <a:latin typeface="+mn-lt"/>
                        <a:ea typeface="+mn-ea"/>
                        <a:cs typeface="Times New Roman" pitchFamily="18" charset="0"/>
                      </a:endParaRPr>
                    </a:p>
                    <a:p>
                      <a:r>
                        <a:rPr lang="uz-Cyrl-UZ" sz="900" kern="1200" dirty="0">
                          <a:solidFill>
                            <a:schemeClr val="tx1"/>
                          </a:solidFill>
                          <a:latin typeface="+mn-lt"/>
                          <a:ea typeface="+mn-ea"/>
                          <a:cs typeface="Times New Roman" pitchFamily="18" charset="0"/>
                        </a:rPr>
                        <a:t>Халима                                         1948 йил,</a:t>
                      </a:r>
                      <a:endParaRPr lang="ru-RU" sz="900" kern="1200" dirty="0">
                        <a:solidFill>
                          <a:schemeClr val="tx1"/>
                        </a:solidFill>
                        <a:latin typeface="+mn-lt"/>
                        <a:ea typeface="+mn-ea"/>
                        <a:cs typeface="Times New Roman" pitchFamily="18" charset="0"/>
                      </a:endParaRPr>
                    </a:p>
                    <a:p>
                      <a:r>
                        <a:rPr lang="uz-Cyrl-UZ" sz="900" kern="1200" dirty="0">
                          <a:solidFill>
                            <a:schemeClr val="tx1"/>
                          </a:solidFill>
                          <a:latin typeface="+mn-lt"/>
                          <a:ea typeface="+mn-ea"/>
                          <a:cs typeface="Times New Roman" pitchFamily="18" charset="0"/>
                        </a:rPr>
                        <a:t>Самарқанд шаҳри</a:t>
                      </a:r>
                      <a:endParaRPr lang="uz-Cyrl-UZ"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kern="1200" dirty="0" smtClean="0">
                          <a:solidFill>
                            <a:schemeClr val="tx1"/>
                          </a:solidFill>
                          <a:latin typeface="+mn-lt"/>
                          <a:ea typeface="+mn-ea"/>
                          <a:cs typeface="Times New Roman" pitchFamily="18" charset="0"/>
                        </a:rPr>
                        <a:t>Пенсияда</a:t>
                      </a:r>
                      <a:r>
                        <a:rPr lang="uz-Cyrl-UZ" sz="900" kern="1200" dirty="0">
                          <a:solidFill>
                            <a:schemeClr val="tx1"/>
                          </a:solidFill>
                          <a:latin typeface="+mn-lt"/>
                          <a:ea typeface="+mn-ea"/>
                          <a:cs typeface="Times New Roman" pitchFamily="18" charset="0"/>
                        </a:rPr>
                        <a:t>,</a:t>
                      </a:r>
                      <a:endParaRPr lang="ru-RU" sz="900" kern="1200" dirty="0">
                        <a:solidFill>
                          <a:schemeClr val="tx1"/>
                        </a:solidFill>
                        <a:latin typeface="+mn-lt"/>
                        <a:ea typeface="+mn-ea"/>
                        <a:cs typeface="Times New Roman" pitchFamily="18" charset="0"/>
                      </a:endParaRPr>
                    </a:p>
                    <a:p>
                      <a:r>
                        <a:rPr lang="uz-Cyrl-UZ" sz="900" kern="1200" dirty="0">
                          <a:solidFill>
                            <a:schemeClr val="tx1"/>
                          </a:solidFill>
                          <a:latin typeface="+mn-lt"/>
                          <a:ea typeface="+mn-ea"/>
                          <a:cs typeface="Times New Roman" pitchFamily="18" charset="0"/>
                        </a:rPr>
                        <a:t>(Самарқанд шаҳар шифохонаси шифокори)</a:t>
                      </a:r>
                      <a:endParaRPr lang="uz-Cyrl-UZ"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326">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403336">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latin typeface="+mn-lt"/>
                          <a:ea typeface="+mn-ea"/>
                          <a:cs typeface="Times New Roman" pitchFamily="18" charset="0"/>
                        </a:rPr>
                        <a:t>1976 й. Тошкент давлат консерваторияси (кундузги)</a:t>
                      </a:r>
                      <a:endParaRPr lang="ru-RU" sz="900" kern="120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15076">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latin typeface="+mn-lt"/>
                          <a:ea typeface="+mn-ea"/>
                          <a:cs typeface="Times New Roman" pitchFamily="18" charset="0"/>
                        </a:rPr>
                        <a:t>опера ва симфоник оркестри дирижёри</a:t>
                      </a:r>
                      <a:endParaRPr lang="uz-Cyrl-UZ" sz="900" b="0" kern="1200" noProof="0" dirty="0">
                        <a:solidFill>
                          <a:schemeClr val="tx1"/>
                        </a:solidFill>
                        <a:latin typeface="+mn-lt"/>
                        <a:ea typeface="+mn-ea"/>
                        <a:cs typeface="Times New Roman" pitchFamily="18"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76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76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13766">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89"/>
          <a:ext cx="3172841" cy="5902580"/>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26944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652658">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smtClean="0">
                          <a:solidFill>
                            <a:schemeClr val="tx1"/>
                          </a:solidFill>
                          <a:latin typeface="+mn-lt"/>
                          <a:ea typeface="+mn-ea"/>
                          <a:cs typeface="Times New Roman" pitchFamily="18" charset="0"/>
                        </a:rPr>
                        <a:t>Алишер </a:t>
                      </a:r>
                      <a:r>
                        <a:rPr lang="uz-Cyrl-UZ" sz="900" kern="1200" dirty="0">
                          <a:solidFill>
                            <a:schemeClr val="tx1"/>
                          </a:solidFill>
                          <a:latin typeface="+mn-lt"/>
                          <a:ea typeface="+mn-ea"/>
                          <a:cs typeface="Times New Roman" pitchFamily="18" charset="0"/>
                        </a:rPr>
                        <a:t>Навоий номидаги Ўзбекистон давлат академик катта театри  Фахрийлар оркестри дирижёри</a:t>
                      </a:r>
                      <a:endParaRPr lang="ru-RU" sz="900" kern="1200" dirty="0">
                        <a:solidFill>
                          <a:schemeClr val="tx1"/>
                        </a:solidFill>
                        <a:latin typeface="+mn-lt"/>
                        <a:ea typeface="+mn-ea"/>
                        <a:cs typeface="Times New Roman" pitchFamily="18" charset="0"/>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01054">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4696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73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4696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a:effectLst/>
                          <a:latin typeface="+mn-lt"/>
                          <a:ea typeface="Calibri" panose="020F0502020204030204" pitchFamily="34" charset="0"/>
                          <a:cs typeface="Times New Roman" panose="02020603050405020304" pitchFamily="18" charset="0"/>
                        </a:rPr>
                        <a:t>25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6815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a:solidFill>
                            <a:schemeClr val="tx1"/>
                          </a:solidFill>
                          <a:latin typeface="+mn-lt"/>
                          <a:ea typeface="+mn-ea"/>
                          <a:cs typeface="Times New Roman" pitchFamily="18" charset="0"/>
                        </a:rPr>
                        <a:t>2001-2021 йй. -  Алишер Навоий номидаги Ўзбекистон давлат академик катта театри бош дирижёри</a:t>
                      </a:r>
                      <a:endParaRPr lang="ru-RU" sz="900" kern="1200" dirty="0">
                        <a:solidFill>
                          <a:schemeClr val="tx1"/>
                        </a:solidFill>
                        <a:latin typeface="+mn-lt"/>
                        <a:ea typeface="+mn-ea"/>
                        <a:cs typeface="Times New Roman" pitchFamily="18" charset="0"/>
                      </a:endParaRPr>
                    </a:p>
                    <a:p>
                      <a:r>
                        <a:rPr lang="uz-Cyrl-UZ" sz="900" kern="1200" dirty="0">
                          <a:solidFill>
                            <a:schemeClr val="tx1"/>
                          </a:solidFill>
                          <a:latin typeface="+mn-lt"/>
                          <a:ea typeface="+mn-ea"/>
                          <a:cs typeface="Times New Roman" pitchFamily="18" charset="0"/>
                        </a:rPr>
                        <a:t>2021- 2023 йй. - Алишер Навоий номидаги Ўзбекистон давлат академик катта театри оркестр дирижёри</a:t>
                      </a:r>
                      <a:endParaRPr lang="ru-RU" sz="900" kern="1200" dirty="0">
                        <a:solidFill>
                          <a:schemeClr val="tx1"/>
                        </a:solidFill>
                        <a:latin typeface="+mn-lt"/>
                        <a:ea typeface="+mn-ea"/>
                        <a:cs typeface="Times New Roman" pitchFamily="18" charset="0"/>
                      </a:endParaRPr>
                    </a:p>
                    <a:p>
                      <a:r>
                        <a:rPr lang="uz-Cyrl-UZ" sz="900" kern="1200" dirty="0">
                          <a:solidFill>
                            <a:schemeClr val="tx1"/>
                          </a:solidFill>
                          <a:latin typeface="+mn-lt"/>
                          <a:ea typeface="+mn-ea"/>
                          <a:cs typeface="Times New Roman" pitchFamily="18" charset="0"/>
                        </a:rPr>
                        <a:t>2023 й. ҳ.в. қ.   - Алишер Навоий номидаги Ўзбекистон давлат академик катта театри  Фахрийлар оркестри дирижёри</a:t>
                      </a:r>
                      <a:endParaRPr lang="ru-RU" sz="900" kern="1200" dirty="0">
                        <a:solidFill>
                          <a:schemeClr val="tx1"/>
                        </a:solidFill>
                        <a:latin typeface="+mn-lt"/>
                        <a:ea typeface="+mn-ea"/>
                        <a:cs typeface="Times New Roman" pitchFamily="18" charset="0"/>
                      </a:endParaRPr>
                    </a:p>
                    <a:p>
                      <a:r>
                        <a:rPr lang="uz-Cyrl-UZ" sz="900" b="1" kern="1200" dirty="0">
                          <a:solidFill>
                            <a:schemeClr val="tx1"/>
                          </a:solidFill>
                          <a:latin typeface="+mn-lt"/>
                          <a:ea typeface="+mn-ea"/>
                          <a:cs typeface="Times New Roman" pitchFamily="18" charset="0"/>
                        </a:rPr>
                        <a:t> </a:t>
                      </a:r>
                      <a:endParaRPr lang="ru-RU" sz="900" kern="1200" dirty="0">
                        <a:solidFill>
                          <a:schemeClr val="tx1"/>
                        </a:solidFill>
                        <a:latin typeface="+mn-lt"/>
                        <a:ea typeface="+mn-ea"/>
                        <a:cs typeface="Times New Roman"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0715">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071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071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175022">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159671">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380497">
                <a:tc gridSpan="2">
                  <a:txBody>
                    <a:bodyPr/>
                    <a:lstStyle/>
                    <a:p>
                      <a:r>
                        <a:rPr lang="uz-Cyrl-UZ" sz="900" kern="1200" dirty="0">
                          <a:solidFill>
                            <a:schemeClr val="tx1"/>
                          </a:solidFill>
                          <a:latin typeface="+mn-lt"/>
                          <a:ea typeface="+mn-ea"/>
                          <a:cs typeface="Times New Roman" pitchFamily="18" charset="0"/>
                        </a:rPr>
                        <a:t>1992 й. “Ўзбекистонда хизмат кўрсатган санъат арбоби” унвони</a:t>
                      </a:r>
                      <a:endParaRPr lang="ru-RU" sz="900" kern="1200" dirty="0">
                        <a:solidFill>
                          <a:schemeClr val="tx1"/>
                        </a:solidFill>
                        <a:latin typeface="+mn-lt"/>
                        <a:ea typeface="+mn-ea"/>
                        <a:cs typeface="Times New Roman" pitchFamily="18" charset="0"/>
                      </a:endParaRPr>
                    </a:p>
                    <a:p>
                      <a:r>
                        <a:rPr lang="uz-Cyrl-UZ" sz="900" kern="1200" dirty="0">
                          <a:solidFill>
                            <a:schemeClr val="tx1"/>
                          </a:solidFill>
                          <a:latin typeface="+mn-lt"/>
                          <a:ea typeface="+mn-ea"/>
                          <a:cs typeface="Times New Roman" pitchFamily="18" charset="0"/>
                        </a:rPr>
                        <a:t>2016 й. “Меҳнат шухрати” ордени</a:t>
                      </a:r>
                      <a:endParaRPr lang="ru-RU" sz="900" kern="1200" dirty="0">
                        <a:solidFill>
                          <a:schemeClr val="tx1"/>
                        </a:solidFill>
                        <a:latin typeface="+mn-lt"/>
                        <a:ea typeface="+mn-ea"/>
                        <a:cs typeface="Times New Roman"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4264" y="865689"/>
          <a:ext cx="2817247" cy="5902579"/>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8447">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0506">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82634">
                <a:tc>
                  <a:txBody>
                    <a:bodyPr/>
                    <a:lstStyle/>
                    <a:p>
                      <a:pPr marL="0" indent="179388" algn="just"/>
                      <a:r>
                        <a:rPr lang="uz-Cyrl-UZ" sz="900" b="0" kern="1200" dirty="0" smtClean="0">
                          <a:solidFill>
                            <a:schemeClr val="tx1"/>
                          </a:solidFill>
                          <a:latin typeface="+mn-lt"/>
                          <a:ea typeface="+mn-ea"/>
                          <a:cs typeface="Times New Roman" pitchFamily="18" charset="0"/>
                        </a:rPr>
                        <a:t>2001-2021 йилларда </a:t>
                      </a:r>
                      <a:r>
                        <a:rPr lang="uz-Cyrl-UZ" sz="900" b="0" kern="1200" dirty="0">
                          <a:solidFill>
                            <a:schemeClr val="tx1"/>
                          </a:solidFill>
                          <a:latin typeface="+mn-lt"/>
                          <a:ea typeface="+mn-ea"/>
                          <a:cs typeface="Times New Roman" pitchFamily="18" charset="0"/>
                        </a:rPr>
                        <a:t>Алишер Навоий номидаги Ўзбекистон давлат академик катта театри бош дирижёри </a:t>
                      </a:r>
                      <a:r>
                        <a:rPr lang="uz-Cyrl-UZ" sz="900" b="0" kern="1200" dirty="0" smtClean="0">
                          <a:solidFill>
                            <a:schemeClr val="tx1"/>
                          </a:solidFill>
                          <a:latin typeface="+mn-lt"/>
                          <a:ea typeface="+mn-ea"/>
                          <a:cs typeface="Times New Roman" pitchFamily="18" charset="0"/>
                        </a:rPr>
                        <a:t>лавозимида фаолият юритди.</a:t>
                      </a:r>
                      <a:endParaRPr lang="ru-RU" sz="900" b="0" kern="1200" dirty="0">
                        <a:solidFill>
                          <a:schemeClr val="tx1"/>
                        </a:solidFill>
                        <a:latin typeface="+mn-lt"/>
                        <a:ea typeface="+mn-ea"/>
                        <a:cs typeface="Times New Roman" pitchFamily="18" charset="0"/>
                      </a:endParaRPr>
                    </a:p>
                    <a:p>
                      <a:pPr marL="0" indent="179388" algn="just"/>
                      <a:r>
                        <a:rPr lang="uz-Cyrl-UZ" sz="900" b="0" kern="1200" dirty="0">
                          <a:solidFill>
                            <a:schemeClr val="tx1"/>
                          </a:solidFill>
                          <a:latin typeface="+mn-lt"/>
                          <a:ea typeface="+mn-ea"/>
                          <a:cs typeface="Times New Roman" pitchFamily="18" charset="0"/>
                        </a:rPr>
                        <a:t>Ўзининг </a:t>
                      </a:r>
                      <a:r>
                        <a:rPr lang="ru-RU" sz="900" b="0" kern="1200" dirty="0" err="1">
                          <a:solidFill>
                            <a:schemeClr val="tx1"/>
                          </a:solidFill>
                          <a:latin typeface="+mn-lt"/>
                          <a:ea typeface="+mn-ea"/>
                          <a:cs typeface="Times New Roman" pitchFamily="18" charset="0"/>
                        </a:rPr>
                        <a:t>ижодий</a:t>
                      </a:r>
                      <a:r>
                        <a:rPr lang="ru-RU" sz="900" b="0" kern="1200" dirty="0">
                          <a:solidFill>
                            <a:schemeClr val="tx1"/>
                          </a:solidFill>
                          <a:latin typeface="+mn-lt"/>
                          <a:ea typeface="+mn-ea"/>
                          <a:cs typeface="Times New Roman" pitchFamily="18" charset="0"/>
                        </a:rPr>
                        <a:t> </a:t>
                      </a:r>
                      <a:r>
                        <a:rPr lang="ru-RU" sz="900" b="0" kern="1200" dirty="0" err="1">
                          <a:solidFill>
                            <a:schemeClr val="tx1"/>
                          </a:solidFill>
                          <a:latin typeface="+mn-lt"/>
                          <a:ea typeface="+mn-ea"/>
                          <a:cs typeface="Times New Roman" pitchFamily="18" charset="0"/>
                        </a:rPr>
                        <a:t>фаолият</a:t>
                      </a:r>
                      <a:r>
                        <a:rPr lang="uz-Cyrl-UZ" sz="900" b="0" kern="1200" dirty="0">
                          <a:solidFill>
                            <a:schemeClr val="tx1"/>
                          </a:solidFill>
                          <a:latin typeface="+mn-lt"/>
                          <a:ea typeface="+mn-ea"/>
                          <a:cs typeface="Times New Roman" pitchFamily="18" charset="0"/>
                        </a:rPr>
                        <a:t>и </a:t>
                      </a:r>
                      <a:r>
                        <a:rPr lang="ru-RU" sz="900" b="0" kern="1200" dirty="0" err="1">
                          <a:solidFill>
                            <a:schemeClr val="tx1"/>
                          </a:solidFill>
                          <a:latin typeface="+mn-lt"/>
                          <a:ea typeface="+mn-ea"/>
                          <a:cs typeface="Times New Roman" pitchFamily="18" charset="0"/>
                        </a:rPr>
                        <a:t>давомида</a:t>
                      </a:r>
                      <a:r>
                        <a:rPr lang="ru-RU" sz="900" b="0" kern="1200" dirty="0">
                          <a:solidFill>
                            <a:schemeClr val="tx1"/>
                          </a:solidFill>
                          <a:latin typeface="+mn-lt"/>
                          <a:ea typeface="+mn-ea"/>
                          <a:cs typeface="Times New Roman" pitchFamily="18" charset="0"/>
                        </a:rPr>
                        <a:t> 40</a:t>
                      </a:r>
                      <a:r>
                        <a:rPr lang="uz-Cyrl-UZ" sz="900" b="0" kern="1200" dirty="0">
                          <a:solidFill>
                            <a:schemeClr val="tx1"/>
                          </a:solidFill>
                          <a:latin typeface="+mn-lt"/>
                          <a:ea typeface="+mn-ea"/>
                          <a:cs typeface="Times New Roman" pitchFamily="18" charset="0"/>
                        </a:rPr>
                        <a:t> дан ортиқ опера ва балет асарлари дирижёри сифатида элга танилган. Унинг дирижёрлигидаги С.Юдаков "Майсаранинг иши", М.Ашрафий "Дилором", "Шоир қалби" С.Бобоев"Ҳамза", "Ёрил тош", "Фидойилар", И.Акбаров "Сўғд элининг қоплони", Дж.Бизе "Марварид қидирувчилар", Дж.Верди "Трубадур", "Травиата", Г.Доницетти "Севги шароби", "Тунги қўнғироқ" опералари Балет спектакклларидан: П.Чайковскийнинг "Оқ қуш кўли", "Уйқудаги гўзал", "Шелкунчик", Минкус "Дон Кихот", Адан "Жизель"ва "Корсар", Ф.Амиров "1001 кеча" каби кўплаб   асарлар томошабинлар олқиши ва мутахассислар эътирофига сазовор бўлди.</a:t>
                      </a:r>
                      <a:endParaRPr lang="ru-RU" sz="900" b="0" kern="1200" dirty="0">
                        <a:solidFill>
                          <a:schemeClr val="tx1"/>
                        </a:solidFill>
                        <a:latin typeface="+mn-lt"/>
                        <a:ea typeface="+mn-ea"/>
                        <a:cs typeface="Times New Roman" pitchFamily="18" charset="0"/>
                      </a:endParaRPr>
                    </a:p>
                    <a:p>
                      <a:pPr marL="0" indent="179388" algn="just"/>
                      <a:r>
                        <a:rPr lang="uz-Cyrl-UZ" sz="900" b="0" kern="1200" dirty="0">
                          <a:solidFill>
                            <a:schemeClr val="tx1"/>
                          </a:solidFill>
                          <a:latin typeface="+mn-lt"/>
                          <a:ea typeface="+mn-ea"/>
                          <a:cs typeface="Times New Roman" pitchFamily="18" charset="0"/>
                        </a:rPr>
                        <a:t>Ф.Якубжанов 2008 йили Т.Жалилов мусиқаси, С.Абдулла либреттоси билан  яратилган “Тоҳир ва Зуҳра” операсининг саҳналаштирувчи дирижёри ва мусиқа  раҳбари сифатида яна бир ижодий муваффақиятга эришди.</a:t>
                      </a:r>
                      <a:endParaRPr lang="ru-RU" sz="900" b="0" kern="1200" dirty="0">
                        <a:solidFill>
                          <a:schemeClr val="tx1"/>
                        </a:solidFill>
                        <a:latin typeface="+mn-lt"/>
                        <a:ea typeface="+mn-ea"/>
                        <a:cs typeface="Times New Roman" pitchFamily="18" charset="0"/>
                      </a:endParaRPr>
                    </a:p>
                    <a:p>
                      <a:pPr marL="0" indent="179388" algn="just"/>
                      <a:r>
                        <a:rPr lang="uz-Cyrl-UZ" sz="900" b="0" kern="1200" dirty="0">
                          <a:solidFill>
                            <a:schemeClr val="tx1"/>
                          </a:solidFill>
                          <a:latin typeface="+mn-lt"/>
                          <a:ea typeface="+mn-ea"/>
                          <a:cs typeface="Times New Roman" pitchFamily="18" charset="0"/>
                        </a:rPr>
                        <a:t>У ўзининг хизмат вазифасига масъулият билан ёндошади, берилган топшириқларни ўз вақтида пишиқ ва пухта бажаради. Меҳнаткаш, камтар ва тўғрисўз инсон.</a:t>
                      </a:r>
                      <a:endParaRPr lang="ru-RU" sz="900" b="0" kern="1200" dirty="0">
                        <a:solidFill>
                          <a:schemeClr val="tx1"/>
                        </a:solidFill>
                        <a:latin typeface="+mn-lt"/>
                        <a:ea typeface="+mn-ea"/>
                        <a:cs typeface="Times New Roman" pitchFamily="18" charset="0"/>
                      </a:endParaRPr>
                    </a:p>
                    <a:p>
                      <a:pPr marL="0" indent="179388" algn="just"/>
                      <a:r>
                        <a:rPr lang="uz-Cyrl-UZ" sz="900" b="0" kern="1200" dirty="0">
                          <a:solidFill>
                            <a:schemeClr val="tx1"/>
                          </a:solidFill>
                          <a:latin typeface="+mn-lt"/>
                          <a:ea typeface="+mn-ea"/>
                          <a:cs typeface="Times New Roman" pitchFamily="18" charset="0"/>
                        </a:rPr>
                        <a:t>Ҳозирги кунда  театрнинг Фахрийлар оркестрига раҳбарлик қилишда  жонбозлик  кўрсатиб  </a:t>
                      </a:r>
                      <a:r>
                        <a:rPr lang="uz-Cyrl-UZ" sz="900" b="0" kern="1200">
                          <a:solidFill>
                            <a:schemeClr val="tx1"/>
                          </a:solidFill>
                          <a:latin typeface="+mn-lt"/>
                          <a:ea typeface="+mn-ea"/>
                          <a:cs typeface="Times New Roman" pitchFamily="18" charset="0"/>
                        </a:rPr>
                        <a:t>келмоқда</a:t>
                      </a:r>
                      <a:r>
                        <a:rPr lang="uz-Cyrl-UZ" sz="900" b="0" kern="1200" smtClean="0">
                          <a:solidFill>
                            <a:schemeClr val="tx1"/>
                          </a:solidFill>
                          <a:latin typeface="+mn-lt"/>
                          <a:ea typeface="+mn-ea"/>
                          <a:cs typeface="Times New Roman" pitchFamily="18" charset="0"/>
                        </a:rPr>
                        <a:t>.</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2995">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0"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0"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17997">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uz-Cyrl-UZ"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a:extLst>
              <a:ext uri="{FF2B5EF4-FFF2-40B4-BE49-F238E27FC236}">
                <a16:creationId xmlns:a16="http://schemas.microsoft.com/office/drawing/2014/main" id="{7D0FC531-5007-04E9-49C7-669995B82E5D}"/>
              </a:ext>
            </a:extLst>
          </p:cNvPr>
          <p:cNvPicPr>
            <a:picLocks noChangeAspect="1"/>
          </p:cNvPicPr>
          <p:nvPr/>
        </p:nvPicPr>
        <p:blipFill>
          <a:blip r:embed="rId2"/>
          <a:stretch>
            <a:fillRect/>
          </a:stretch>
        </p:blipFill>
        <p:spPr>
          <a:xfrm>
            <a:off x="262705" y="1162769"/>
            <a:ext cx="831157" cy="1063599"/>
          </a:xfrm>
          <a:prstGeom prst="rect">
            <a:avLst/>
          </a:prstGeom>
        </p:spPr>
      </p:pic>
      <p:sp>
        <p:nvSpPr>
          <p:cNvPr id="9" name="Прямоугольник 8">
            <a:extLst>
              <a:ext uri="{FF2B5EF4-FFF2-40B4-BE49-F238E27FC236}">
                <a16:creationId xmlns:a16="http://schemas.microsoft.com/office/drawing/2014/main" id="{5A9AA459-1519-4154-AF5D-18C6732B0658}"/>
              </a:ext>
            </a:extLst>
          </p:cNvPr>
          <p:cNvSpPr/>
          <p:nvPr/>
        </p:nvSpPr>
        <p:spPr>
          <a:xfrm>
            <a:off x="138896" y="557937"/>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spTree>
    <p:extLst>
      <p:ext uri="{BB962C8B-B14F-4D97-AF65-F5344CB8AC3E}">
        <p14:creationId xmlns:p14="http://schemas.microsoft.com/office/powerpoint/2010/main" val="1131468307"/>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052085519"/>
              </p:ext>
            </p:extLst>
          </p:nvPr>
        </p:nvGraphicFramePr>
        <p:xfrm>
          <a:off x="144489" y="865703"/>
          <a:ext cx="3427547" cy="5831227"/>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1611">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8884">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РАВШАНОВА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888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Гулнора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888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Хасановна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8884">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888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26.05.1946</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888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Термиз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928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1314">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a:solidFill>
                            <a:schemeClr val="tx1"/>
                          </a:solidFill>
                          <a:latin typeface="+mn-lt"/>
                          <a:ea typeface="+mn-ea"/>
                          <a:cs typeface="+mn-cs"/>
                        </a:rPr>
                        <a:t> </a:t>
                      </a:r>
                      <a:r>
                        <a:rPr lang="uz-Cyrl-UZ" sz="900" b="0" kern="1200" noProof="0" dirty="0">
                          <a:solidFill>
                            <a:schemeClr val="tx1"/>
                          </a:solidFill>
                          <a:latin typeface="+mn-lt"/>
                          <a:ea typeface="+mn-ea"/>
                          <a:cs typeface="+mn-cs"/>
                        </a:rPr>
                        <a:t>2 нафар ўғил ва 1 нафар қиз фарзанди бор, ҳозирда Сурхондарё вилояти мусиқали драма театри актрисаси</a:t>
                      </a:r>
                    </a:p>
                  </a:txBody>
                  <a:tcPr marL="74295" marR="74295" marT="37148" marB="37148" anchor="ctr">
                    <a:lnL>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no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928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373698">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МУХИТДИНОВ Хасан</a:t>
                      </a:r>
                    </a:p>
                    <a:p>
                      <a:pPr algn="l">
                        <a:lnSpc>
                          <a:spcPct val="85000"/>
                        </a:lnSpc>
                      </a:pPr>
                      <a:r>
                        <a:rPr lang="uz-Cyrl-UZ" sz="900" b="0" kern="1200" noProof="0" dirty="0">
                          <a:solidFill>
                            <a:schemeClr val="tx1"/>
                          </a:solidFill>
                          <a:latin typeface="+mn-lt"/>
                          <a:ea typeface="+mn-ea"/>
                          <a:cs typeface="Arial" panose="020B0604020202020204" pitchFamily="34" charset="0"/>
                        </a:rPr>
                        <a:t>1914 йил, Бухоро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1987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(Актёр)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29916">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БАБАХАНОВА Хадича Абдурасуловна</a:t>
                      </a:r>
                    </a:p>
                    <a:p>
                      <a:pPr algn="l">
                        <a:lnSpc>
                          <a:spcPct val="85000"/>
                        </a:lnSpc>
                      </a:pPr>
                      <a:r>
                        <a:rPr lang="uz-Cyrl-UZ" sz="900" b="0" kern="1200" noProof="0" dirty="0">
                          <a:solidFill>
                            <a:schemeClr val="tx1"/>
                          </a:solidFill>
                          <a:latin typeface="+mn-lt"/>
                          <a:ea typeface="+mn-ea"/>
                          <a:cs typeface="Arial" panose="020B0604020202020204" pitchFamily="34" charset="0"/>
                        </a:rPr>
                        <a:t>1923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2013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(Актриса)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47831">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РАВШАНОВ Мансур Темирович</a:t>
                      </a:r>
                    </a:p>
                    <a:p>
                      <a:pPr algn="l">
                        <a:lnSpc>
                          <a:spcPct val="85000"/>
                        </a:lnSpc>
                      </a:pPr>
                      <a:r>
                        <a:rPr lang="uz-Cyrl-UZ" sz="900" b="0" kern="1200" noProof="0" dirty="0">
                          <a:solidFill>
                            <a:schemeClr val="tx1"/>
                          </a:solidFill>
                          <a:latin typeface="+mn-lt"/>
                          <a:ea typeface="+mn-ea"/>
                          <a:cs typeface="Arial" panose="020B0604020202020204" pitchFamily="34" charset="0"/>
                        </a:rPr>
                        <a:t>1937 йил, Қарши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2025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Ўзбекистон</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санъат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арбоби</a:t>
                      </a:r>
                      <a:r>
                        <a:rPr lang="ru-RU" sz="900" b="0" kern="1200" noProof="0" dirty="0">
                          <a:solidFill>
                            <a:schemeClr val="tx1"/>
                          </a:solidFill>
                          <a:latin typeface="+mn-lt"/>
                          <a:ea typeface="+mn-ea"/>
                          <a:cs typeface="Arial" panose="020B0604020202020204" pitchFamily="34" charset="0"/>
                        </a:rPr>
                        <a:t>, режиссёр)</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6160">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30038">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1975 й. </a:t>
                      </a:r>
                      <a:r>
                        <a:rPr lang="ru-RU" sz="900" b="0" kern="1200" noProof="0" dirty="0" err="1">
                          <a:solidFill>
                            <a:schemeClr val="tx1"/>
                          </a:solidFill>
                          <a:latin typeface="+mn-lt"/>
                          <a:ea typeface="+mn-ea"/>
                          <a:cs typeface="+mn-cs"/>
                        </a:rPr>
                        <a:t>Термиз</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педагогика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2575324793"/>
                  </a:ext>
                </a:extLst>
              </a:tr>
              <a:tr h="269236">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kern="1200" dirty="0">
                          <a:solidFill>
                            <a:schemeClr val="tx1"/>
                          </a:solidFill>
                          <a:effectLst/>
                          <a:latin typeface="+mn-lt"/>
                          <a:ea typeface="+mn-ea"/>
                          <a:cs typeface="+mn-cs"/>
                        </a:rPr>
                        <a:t>рус тили </a:t>
                      </a:r>
                      <a:r>
                        <a:rPr lang="ru-RU" sz="900" kern="1200" dirty="0" err="1">
                          <a:solidFill>
                            <a:schemeClr val="tx1"/>
                          </a:solidFill>
                          <a:effectLst/>
                          <a:latin typeface="+mn-lt"/>
                          <a:ea typeface="+mn-ea"/>
                          <a:cs typeface="+mn-cs"/>
                        </a:rPr>
                        <a:t>ва</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адабиёт</a:t>
                      </a:r>
                      <a:r>
                        <a:rPr lang="ru-RU" sz="900" kern="1200" dirty="0">
                          <a:solidFill>
                            <a:schemeClr val="tx1"/>
                          </a:solidFill>
                          <a:effectLst/>
                          <a:latin typeface="+mn-lt"/>
                          <a:ea typeface="+mn-ea"/>
                          <a:cs typeface="+mn-cs"/>
                        </a:rPr>
                        <a:t> </a:t>
                      </a:r>
                      <a:r>
                        <a:rPr lang="ru-RU" sz="900" kern="1200" dirty="0" err="1">
                          <a:solidFill>
                            <a:schemeClr val="tx1"/>
                          </a:solidFill>
                          <a:effectLst/>
                          <a:latin typeface="+mn-lt"/>
                          <a:ea typeface="+mn-ea"/>
                          <a:cs typeface="+mn-cs"/>
                        </a:rPr>
                        <a:t>ўқитувчиси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3581415073"/>
                  </a:ext>
                </a:extLst>
              </a:tr>
              <a:tr h="312001">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1062673456"/>
                  </a:ext>
                </a:extLst>
              </a:tr>
              <a:tr h="312001">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1498889981"/>
                  </a:ext>
                </a:extLst>
              </a:tr>
              <a:tr h="425557">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780038796"/>
              </p:ext>
            </p:extLst>
          </p:nvPr>
        </p:nvGraphicFramePr>
        <p:xfrm>
          <a:off x="3674526" y="865703"/>
          <a:ext cx="3172841" cy="5829219"/>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2880">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34017">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0" kern="1200" noProof="0" dirty="0">
                          <a:solidFill>
                            <a:schemeClr val="tx1"/>
                          </a:solidFill>
                          <a:latin typeface="+mn-lt"/>
                          <a:ea typeface="+mn-ea"/>
                          <a:cs typeface="+mn-cs"/>
                        </a:rPr>
                        <a:t>Сурхондарё вилояти мусиқали драма театри етакчи саҳна устаси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3311">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666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63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1110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35048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4148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қониқарли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89282">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4247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8229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422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91010">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ru-RU" sz="900" noProof="0" dirty="0">
                          <a:effectLst/>
                          <a:latin typeface="+mn-lt"/>
                          <a:ea typeface="Calibri" panose="020F0502020204030204" pitchFamily="34" charset="0"/>
                          <a:cs typeface="Times New Roman" panose="02020603050405020304" pitchFamily="18" charset="0"/>
                        </a:rPr>
                        <a:t>1987 й. “</a:t>
                      </a:r>
                      <a:r>
                        <a:rPr lang="ru-RU" sz="900" noProof="0" dirty="0" err="1">
                          <a:effectLst/>
                          <a:latin typeface="+mn-lt"/>
                          <a:ea typeface="Calibri" panose="020F0502020204030204" pitchFamily="34" charset="0"/>
                          <a:cs typeface="Times New Roman" panose="02020603050405020304" pitchFamily="18" charset="0"/>
                        </a:rPr>
                        <a:t>Ўзбекистонда</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хизмат</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кўрсатган</a:t>
                      </a:r>
                      <a:r>
                        <a:rPr lang="ru-RU" sz="900" noProof="0" dirty="0">
                          <a:effectLst/>
                          <a:latin typeface="+mn-lt"/>
                          <a:ea typeface="Calibri" panose="020F0502020204030204" pitchFamily="34" charset="0"/>
                          <a:cs typeface="Times New Roman" panose="02020603050405020304" pitchFamily="18" charset="0"/>
                        </a:rPr>
                        <a:t> артист” </a:t>
                      </a:r>
                      <a:r>
                        <a:rPr lang="ru-RU" sz="900" noProof="0" dirty="0" err="1">
                          <a:effectLst/>
                          <a:latin typeface="+mn-lt"/>
                          <a:ea typeface="Calibri" panose="020F0502020204030204" pitchFamily="34" charset="0"/>
                          <a:cs typeface="Times New Roman" panose="02020603050405020304" pitchFamily="18" charset="0"/>
                        </a:rPr>
                        <a:t>фахрий</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унвони</a:t>
                      </a:r>
                      <a:endParaRPr lang="ru-RU" sz="900" noProof="0" dirty="0">
                        <a:effectLst/>
                        <a:latin typeface="+mn-lt"/>
                        <a:ea typeface="Calibri" panose="020F0502020204030204" pitchFamily="34" charset="0"/>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r>
                        <a:rPr lang="ru-RU" sz="900" noProof="0" dirty="0">
                          <a:effectLst/>
                          <a:latin typeface="+mn-lt"/>
                          <a:ea typeface="Calibri" panose="020F0502020204030204" pitchFamily="34" charset="0"/>
                          <a:cs typeface="Times New Roman" panose="02020603050405020304" pitchFamily="18" charset="0"/>
                        </a:rPr>
                        <a:t>2004 й. “</a:t>
                      </a:r>
                      <a:r>
                        <a:rPr lang="ru-RU" sz="900" noProof="0" dirty="0" err="1">
                          <a:effectLst/>
                          <a:latin typeface="+mn-lt"/>
                          <a:ea typeface="Calibri" panose="020F0502020204030204" pitchFamily="34" charset="0"/>
                          <a:cs typeface="Times New Roman" panose="02020603050405020304" pitchFamily="18" charset="0"/>
                        </a:rPr>
                        <a:t>Ўзбекистон</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Республикаси</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халқ</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артисти</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фахрий</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унвони</a:t>
                      </a:r>
                      <a:endParaRPr lang="ru-RU"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986286413"/>
              </p:ext>
            </p:extLst>
          </p:nvPr>
        </p:nvGraphicFramePr>
        <p:xfrm>
          <a:off x="6949857" y="869286"/>
          <a:ext cx="2817247" cy="5827644"/>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marL="0" indent="179388" algn="just">
                        <a:lnSpc>
                          <a:spcPct val="85000"/>
                        </a:lnSpc>
                      </a:pPr>
                      <a:r>
                        <a:rPr lang="uz-Cyrl-UZ" sz="900" b="0" noProof="0" smtClean="0">
                          <a:solidFill>
                            <a:schemeClr val="tx1"/>
                          </a:solidFill>
                          <a:latin typeface="+mn-lt"/>
                        </a:rPr>
                        <a:t>Г.Равшанова </a:t>
                      </a:r>
                      <a:r>
                        <a:rPr lang="uz-Cyrl-UZ" sz="900" b="0" noProof="0" dirty="0">
                          <a:solidFill>
                            <a:schemeClr val="tx1"/>
                          </a:solidFill>
                          <a:latin typeface="+mn-lt"/>
                        </a:rPr>
                        <a:t>театр саҳнасида бир-биридан ажойиб турли жанрдаги образларни яратиб, ўз мухлисларини топган иқтидорли актрисадир. Шулардан, “Амир Темур ва Йилдирим Боязид” спектаклида Бибихоним ва Она Турк, “Алпомишнинг қайтиши”да Кунтуғмишбека, “Келинлар қўзғолони”да Сотти, “Майсаранинг иши”да Майсара, “Она”да Она, “Макр ва Муҳаббат”да Леди Мильфрод, “Тақдир эшиги”да Аёл, “Осмонсиз уй”да Биби, “Момо ер”да Тўлғаной, “Фаришта”да Хурия ая, “Қайсар чолнинг қилиғи”да Марсиячи аёл, “Муҳаббатим қисматим менинг”да Малика, “Судхўрнинг пари қизи”да Хумор, “Хазон бўлган умрлар”да Она, “Интизор”да Саодат ая, “Қўнғироқлар садоси”да Кампир, “Ғариблар”да Она, “Алла”да Норгул момо ва бошқа бир қатор саҳна асарларида яратган образлари ўзининг ёрқин талқини ва бадиий етуклиги билан томошабинлар эътиборини қозонган. 2006 йил Тошкент шаҳрида бўлиб ўтган театрнинг ижодий гастроль сафарида намойиш этилган спектаклларда Г.Равшанова ижро этган “Кампир топайми, дадажон” спектаклидаги Кампир, “Қайсар чолнинг қилиғи”даги Марсиячи аёл образлари ўзига хос характери ва ижроси билан театршунос олимлар, профессор-ўқитувчилар ва томошабинларнинг эътирофига сазовор бўлган.</a:t>
                      </a:r>
                    </a:p>
                    <a:p>
                      <a:pPr marL="0" indent="179388" algn="just">
                        <a:lnSpc>
                          <a:spcPct val="85000"/>
                        </a:lnSpc>
                      </a:pPr>
                      <a:r>
                        <a:rPr lang="uz-Cyrl-UZ" sz="900" b="0" noProof="0" dirty="0">
                          <a:solidFill>
                            <a:schemeClr val="tx1"/>
                          </a:solidFill>
                          <a:latin typeface="+mn-lt"/>
                        </a:rPr>
                        <a:t>2010 йил Қозоғистон Республикасининг Олмота шаҳрида бўлиб ўтган Халқаро театр фестивалида “Қайсар чол” спектаклидаги Марсиячи аёл образи учун Г.Равшанова фестивалнинг “Энг яхши аёл роли” номинациясига сазовор бўлган.</a:t>
                      </a:r>
                    </a:p>
                    <a:p>
                      <a:pPr marL="0" indent="179388" algn="just">
                        <a:lnSpc>
                          <a:spcPct val="85000"/>
                        </a:lnSpc>
                      </a:pPr>
                      <a:r>
                        <a:rPr lang="uz-Cyrl-UZ" sz="900" b="0" noProof="0" dirty="0">
                          <a:solidFill>
                            <a:schemeClr val="tx1"/>
                          </a:solidFill>
                          <a:latin typeface="+mn-lt"/>
                        </a:rPr>
                        <a:t>2013 йил Тошкент шаҳрида ўтказилган “Сени куйлаймиз, замондош!” Республика театрлари кўрик-фестивалида “Алла” спектаклидаги образи учун фестивалнинг “Энг яхши аёл роли” номинацияси бўйича ғолибликни қўлга киритган.</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a:effectLst/>
                          <a:latin typeface="+mn-lt"/>
                          <a:ea typeface="Calibri" panose="020F0502020204030204" pitchFamily="34" charset="0"/>
                          <a:cs typeface="Times New Roman" panose="02020603050405020304" pitchFamily="18" charset="0"/>
                        </a:rPr>
                        <a:t>Вилоятда</a:t>
                      </a:r>
                      <a:r>
                        <a:rPr lang="uz-Cyrl-UZ" sz="900" b="0" baseline="0" dirty="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r>
                        <a:rPr lang="uz-Cyrl-UZ" sz="800" b="0" baseline="0" dirty="0">
                          <a:effectLst/>
                          <a:latin typeface="+mn-lt"/>
                          <a:ea typeface="Calibri" panose="020F0502020204030204" pitchFamily="34" charset="0"/>
                          <a:cs typeface="Times New Roman" panose="02020603050405020304" pitchFamily="18" charset="0"/>
                        </a:rPr>
                        <a:t>.</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Picture 2">
            <a:extLst>
              <a:ext uri="{FF2B5EF4-FFF2-40B4-BE49-F238E27FC236}">
                <a16:creationId xmlns:a16="http://schemas.microsoft.com/office/drawing/2014/main" id="{53E54326-E4B9-F331-0FDF-DBE9F2AC7148}"/>
              </a:ext>
            </a:extLst>
          </p:cNvPr>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80536" y="1132114"/>
            <a:ext cx="815464" cy="1092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53175644"/>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775373"/>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632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257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БОЗОРОВ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257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Зиёдулло</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257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Назарович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257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257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17.02.1958</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9948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Бойсун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3754">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500902">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ўғил ва 2 нафар қиз фарзандлари бор, ҳозирда Сурхондарё вилояти мусиқали драма театри бош дирижёри</a:t>
                      </a:r>
                    </a:p>
                  </a:txBody>
                  <a:tcPr marL="74295" marR="74295" marT="37148" marB="37148" anchor="ctr">
                    <a:lnL>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no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3754">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33365">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БОЗОРОВ Назар</a:t>
                      </a:r>
                    </a:p>
                    <a:p>
                      <a:pPr algn="l">
                        <a:lnSpc>
                          <a:spcPct val="85000"/>
                        </a:lnSpc>
                      </a:pPr>
                      <a:r>
                        <a:rPr lang="uz-Cyrl-UZ" sz="900" b="0" kern="1200" noProof="0" dirty="0">
                          <a:solidFill>
                            <a:schemeClr val="tx1"/>
                          </a:solidFill>
                          <a:latin typeface="+mn-lt"/>
                          <a:ea typeface="+mn-ea"/>
                          <a:cs typeface="Arial" panose="020B0604020202020204" pitchFamily="34" charset="0"/>
                        </a:rPr>
                        <a:t>1912 йил, Бойсун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1963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Тадбиркор</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11879">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АЛЛАНАЗАРОВА Робия</a:t>
                      </a:r>
                    </a:p>
                    <a:p>
                      <a:pPr algn="l">
                        <a:lnSpc>
                          <a:spcPct val="85000"/>
                        </a:lnSpc>
                      </a:pPr>
                      <a:r>
                        <a:rPr lang="uz-Cyrl-UZ" sz="900" b="0" kern="1200" noProof="0" dirty="0">
                          <a:solidFill>
                            <a:schemeClr val="tx1"/>
                          </a:solidFill>
                          <a:latin typeface="+mn-lt"/>
                          <a:ea typeface="+mn-ea"/>
                          <a:cs typeface="Arial" panose="020B0604020202020204" pitchFamily="34" charset="0"/>
                        </a:rPr>
                        <a:t>1918 йил, Бойсун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1997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(уй </a:t>
                      </a:r>
                      <a:r>
                        <a:rPr lang="ru-RU" sz="900" b="0" kern="1200" noProof="0" dirty="0" err="1">
                          <a:solidFill>
                            <a:schemeClr val="tx1"/>
                          </a:solidFill>
                          <a:latin typeface="+mn-lt"/>
                          <a:ea typeface="+mn-ea"/>
                          <a:cs typeface="Arial" panose="020B0604020202020204" pitchFamily="34" charset="0"/>
                        </a:rPr>
                        <a:t>бекаси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83174">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ИСМОИЛОВА Мастура Ахмадовна</a:t>
                      </a:r>
                    </a:p>
                    <a:p>
                      <a:pPr algn="l">
                        <a:lnSpc>
                          <a:spcPct val="85000"/>
                        </a:lnSpc>
                      </a:pPr>
                      <a:r>
                        <a:rPr lang="uz-Cyrl-UZ" sz="900" b="0" kern="1200" noProof="0" dirty="0">
                          <a:solidFill>
                            <a:schemeClr val="tx1"/>
                          </a:solidFill>
                          <a:latin typeface="+mn-lt"/>
                          <a:ea typeface="+mn-ea"/>
                          <a:cs typeface="Arial" panose="020B0604020202020204" pitchFamily="34" charset="0"/>
                        </a:rPr>
                        <a:t>1961 йил, Шўрчи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err="1">
                          <a:solidFill>
                            <a:schemeClr val="tx1"/>
                          </a:solidFill>
                          <a:latin typeface="+mn-lt"/>
                          <a:ea typeface="+mn-ea"/>
                          <a:cs typeface="Arial" panose="020B0604020202020204" pitchFamily="34" charset="0"/>
                        </a:rPr>
                        <a:t>Нафақада</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Ўқитувчи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0183">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438370">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1979 </a:t>
                      </a:r>
                      <a:r>
                        <a:rPr lang="ru-RU" sz="900" b="0" kern="1200" noProof="0" dirty="0" err="1">
                          <a:solidFill>
                            <a:schemeClr val="tx1"/>
                          </a:solidFill>
                          <a:latin typeface="+mn-lt"/>
                          <a:ea typeface="+mn-ea"/>
                          <a:cs typeface="+mn-cs"/>
                        </a:rPr>
                        <a:t>й.Тошкент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маданият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2575324793"/>
                  </a:ext>
                </a:extLst>
              </a:tr>
              <a:tr h="274490">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Маданий</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оқартув</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ходими</a:t>
                      </a:r>
                      <a:r>
                        <a:rPr lang="ru-RU" sz="900" b="0" kern="1200" noProof="0" dirty="0">
                          <a:solidFill>
                            <a:schemeClr val="tx1"/>
                          </a:solidFill>
                          <a:latin typeface="+mn-lt"/>
                          <a:ea typeface="+mn-ea"/>
                          <a:cs typeface="+mn-cs"/>
                        </a:rPr>
                        <a:t>, оркестр </a:t>
                      </a:r>
                      <a:r>
                        <a:rPr lang="ru-RU" sz="900" b="0" kern="1200" noProof="0" dirty="0" err="1">
                          <a:solidFill>
                            <a:schemeClr val="tx1"/>
                          </a:solidFill>
                          <a:latin typeface="+mn-lt"/>
                          <a:ea typeface="+mn-ea"/>
                          <a:cs typeface="+mn-cs"/>
                        </a:rPr>
                        <a:t>дирижёри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3581415073"/>
                  </a:ext>
                </a:extLst>
              </a:tr>
              <a:tr h="318089">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1062673456"/>
                  </a:ext>
                </a:extLst>
              </a:tr>
              <a:tr h="318089">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1498889981"/>
                  </a:ext>
                </a:extLst>
              </a:tr>
              <a:tr h="314504">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703"/>
          <a:ext cx="3172841" cy="5829219"/>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2880">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34017">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0" kern="1200" noProof="0" dirty="0">
                          <a:solidFill>
                            <a:schemeClr val="tx1"/>
                          </a:solidFill>
                          <a:latin typeface="+mn-lt"/>
                          <a:ea typeface="+mn-ea"/>
                          <a:cs typeface="+mn-cs"/>
                        </a:rPr>
                        <a:t>Сурхондарё вилояти мусиқали драма театри бош дирижёри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3311">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666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44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1110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35048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kern="1200" noProof="0" dirty="0">
                          <a:solidFill>
                            <a:schemeClr val="tx1"/>
                          </a:solidFill>
                          <a:latin typeface="+mn-lt"/>
                          <a:ea typeface="+mn-ea"/>
                          <a:cs typeface="+mn-cs"/>
                        </a:rPr>
                        <a:t>-</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4148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89282">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4247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8229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422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91010">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ru-RU" sz="900" noProof="0" dirty="0">
                          <a:effectLst/>
                          <a:latin typeface="+mn-lt"/>
                          <a:ea typeface="Calibri" panose="020F0502020204030204" pitchFamily="34" charset="0"/>
                          <a:cs typeface="Times New Roman" panose="02020603050405020304" pitchFamily="18" charset="0"/>
                        </a:rPr>
                        <a:t>2020 й. “</a:t>
                      </a:r>
                      <a:r>
                        <a:rPr lang="ru-RU" sz="900" noProof="0" dirty="0" err="1">
                          <a:effectLst/>
                          <a:latin typeface="+mn-lt"/>
                          <a:ea typeface="Calibri" panose="020F0502020204030204" pitchFamily="34" charset="0"/>
                          <a:cs typeface="Times New Roman" panose="02020603050405020304" pitchFamily="18" charset="0"/>
                        </a:rPr>
                        <a:t>Шуҳрат</a:t>
                      </a:r>
                      <a:r>
                        <a:rPr lang="ru-RU" sz="900" noProof="0" dirty="0">
                          <a:effectLst/>
                          <a:latin typeface="+mn-lt"/>
                          <a:ea typeface="Calibri" panose="020F0502020204030204" pitchFamily="34" charset="0"/>
                          <a:cs typeface="Times New Roman" panose="02020603050405020304" pitchFamily="18" charset="0"/>
                        </a:rPr>
                        <a:t>” медали</a:t>
                      </a:r>
                    </a:p>
                    <a:p>
                      <a:pPr marL="0" marR="0" indent="0" algn="just" defTabSz="914400" rtl="0" eaLnBrk="1" fontAlgn="auto" latinLnBrk="0" hangingPunct="1">
                        <a:lnSpc>
                          <a:spcPct val="107000"/>
                        </a:lnSpc>
                        <a:spcBef>
                          <a:spcPts val="0"/>
                        </a:spcBef>
                        <a:spcAft>
                          <a:spcPts val="0"/>
                        </a:spcAft>
                        <a:buClrTx/>
                        <a:buSzTx/>
                        <a:buFontTx/>
                        <a:buNone/>
                        <a:tabLst/>
                        <a:defRPr/>
                      </a:pPr>
                      <a:endParaRPr lang="ru-RU"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7"/>
          <a:ext cx="2817247" cy="5843539"/>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33688">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7554">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426900">
                <a:tc>
                  <a:txBody>
                    <a:bodyPr/>
                    <a:lstStyle/>
                    <a:p>
                      <a:pPr marL="0" indent="179388" algn="just">
                        <a:lnSpc>
                          <a:spcPct val="85000"/>
                        </a:lnSpc>
                      </a:pPr>
                      <a:r>
                        <a:rPr lang="uz-Cyrl-UZ" sz="900" b="0" noProof="0" dirty="0" smtClean="0">
                          <a:solidFill>
                            <a:schemeClr val="tx1"/>
                          </a:solidFill>
                          <a:latin typeface="+mn-lt"/>
                        </a:rPr>
                        <a:t>З.Бозоров </a:t>
                      </a:r>
                      <a:r>
                        <a:rPr lang="uz-Cyrl-UZ" sz="900" b="0" noProof="0" dirty="0">
                          <a:solidFill>
                            <a:schemeClr val="tx1"/>
                          </a:solidFill>
                          <a:latin typeface="+mn-lt"/>
                        </a:rPr>
                        <a:t>1988 йилдан буён театрда 100 га яқин спектакллар ва концерт дастурларини саҳналаштирилишида ўзининг юксак дирижорлик маҳорати билан салмоқли ҳисса қўшиб келаётган ижодкорлардан биридир. З.Бозоровнинг “Кампир топайми дадажон?”, “Давлат болалари” спектаклларида намойиш этган услуби мусиқашунослар томонидан юқори баҳоланган. У мусиқали спектакллар ва концерт дастурларини саҳналаштиришда, аввало, уларнинг бадиий жиҳатдан етук бўлишига эътибор қаратиб, театрдаги созанда ва хонандаларнинг истеъдодларини янада ривожлантиришга кўмаклашиб келмоқда.</a:t>
                      </a:r>
                    </a:p>
                    <a:p>
                      <a:pPr marL="0" indent="179388" algn="just">
                        <a:lnSpc>
                          <a:spcPct val="85000"/>
                        </a:lnSpc>
                      </a:pPr>
                      <a:r>
                        <a:rPr lang="uz-Cyrl-UZ" sz="900" b="0" noProof="0" dirty="0">
                          <a:solidFill>
                            <a:schemeClr val="tx1"/>
                          </a:solidFill>
                          <a:latin typeface="+mn-lt"/>
                        </a:rPr>
                        <a:t>З.Бозоров асосий вазифаси билан биргаликда узининг актёрлик маҳорати билан ҳам мухлислар назарига ва олқишларига сазовор бўлиб келмоқда. Театрда саҳналаштирилган “Оқ ёмғир” спектаклида Шогирд, “Алишер Навоий” спектаклида Музаффархон, “Амир Темур” спектаклида Саркарда, “Алпомиш” спектаклида Ултонтоз, “Собир Термизий” спектаклида Эшик оғаси, “Қўнғироқлар садоси” спектаклида Така соқол, “Погон таққан одамлар” спектаклида Жўравой, “Она” спектаклида  Эшик оғаси, “Хазон бўлган умрлар” спектаклида Бек каби бир нечта спектаклларда роллар ижро этган. </a:t>
                      </a:r>
                    </a:p>
                    <a:p>
                      <a:pPr marL="0" indent="179388" algn="just">
                        <a:lnSpc>
                          <a:spcPct val="85000"/>
                        </a:lnSpc>
                      </a:pPr>
                      <a:r>
                        <a:rPr lang="uz-Cyrl-UZ" sz="900" b="0" noProof="0" dirty="0">
                          <a:solidFill>
                            <a:schemeClr val="tx1"/>
                          </a:solidFill>
                          <a:latin typeface="+mn-lt"/>
                        </a:rPr>
                        <a:t>З.Бозоров бошчилигида театрнинг бир гуруҳ санъаткор ва бадиий техник ходимлардан ташкил топган концерт гуруҳи билан театрнинг вилоятимиз бўйлаб ўтказадиган гастроль сафарларида қатнашиб тарғибот ташвиқот ишларини олиб бормоқда. </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0986">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86507">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a:effectLst/>
                          <a:latin typeface="+mn-lt"/>
                          <a:ea typeface="Calibri" panose="020F0502020204030204" pitchFamily="34" charset="0"/>
                          <a:cs typeface="Times New Roman" panose="02020603050405020304" pitchFamily="18" charset="0"/>
                        </a:rPr>
                        <a:t>Вилоятда</a:t>
                      </a:r>
                      <a:r>
                        <a:rPr lang="uz-Cyrl-UZ" sz="900" b="0" baseline="0" dirty="0">
                          <a:effectLst/>
                          <a:latin typeface="+mn-lt"/>
                          <a:ea typeface="Calibri" panose="020F0502020204030204" pitchFamily="34" charset="0"/>
                          <a:cs typeface="Times New Roman" panose="02020603050405020304" pitchFamily="18" charset="0"/>
                        </a:rPr>
                        <a:t> ўтказилиб келинадиган барча оммавий мадаий тадбирлар ва давлат тадбирлари, шунингдек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descr="10x15">
            <a:extLst>
              <a:ext uri="{FF2B5EF4-FFF2-40B4-BE49-F238E27FC236}">
                <a16:creationId xmlns:a16="http://schemas.microsoft.com/office/drawing/2014/main" id="{A0254C41-FF15-FE85-5B9C-4F918D172002}"/>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05078" y="1171210"/>
            <a:ext cx="810758" cy="1145669"/>
          </a:xfrm>
          <a:prstGeom prst="rect">
            <a:avLst/>
          </a:prstGeom>
          <a:noFill/>
          <a:ln>
            <a:noFill/>
          </a:ln>
        </p:spPr>
      </p:pic>
    </p:spTree>
    <p:extLst>
      <p:ext uri="{BB962C8B-B14F-4D97-AF65-F5344CB8AC3E}">
        <p14:creationId xmlns:p14="http://schemas.microsoft.com/office/powerpoint/2010/main" val="4009619186"/>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829218"/>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632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257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БУРХАНОВ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257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Кудратилло</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257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ХХ</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257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257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30.05.1952</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9948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Самарқанд вилояти, Пайариқ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3754">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500902">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2 нафар ўғил ва 1 нафар қиз фарзандлари бор, ҳозирда Сурхондарё вилояти мусиқали драма театри актёри</a:t>
                      </a:r>
                    </a:p>
                  </a:txBody>
                  <a:tcPr marL="74295" marR="74295" marT="37148" marB="37148" anchor="ctr">
                    <a:lnL>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no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3754">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33365">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АБДУРАҲИМОВ Бурхон Абдураҳимович</a:t>
                      </a:r>
                    </a:p>
                    <a:p>
                      <a:pPr algn="l">
                        <a:lnSpc>
                          <a:spcPct val="85000"/>
                        </a:lnSpc>
                      </a:pPr>
                      <a:r>
                        <a:rPr lang="uz-Cyrl-UZ" sz="900" b="0" kern="1200" noProof="0" dirty="0">
                          <a:solidFill>
                            <a:schemeClr val="tx1"/>
                          </a:solidFill>
                          <a:latin typeface="+mn-lt"/>
                          <a:ea typeface="+mn-ea"/>
                          <a:cs typeface="Arial" panose="020B0604020202020204" pitchFamily="34" charset="0"/>
                        </a:rPr>
                        <a:t>1901 йил, Пайариқ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1963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Дурадгор</a:t>
                      </a:r>
                      <a:r>
                        <a:rPr lang="ru-RU" sz="900" b="0" kern="1200" noProof="0" dirty="0">
                          <a:solidFill>
                            <a:schemeClr val="tx1"/>
                          </a:solidFill>
                          <a:latin typeface="+mn-lt"/>
                          <a:ea typeface="+mn-ea"/>
                          <a:cs typeface="Arial" panose="020B0604020202020204" pitchFamily="34" charset="0"/>
                        </a:rPr>
                        <a:t>-уста)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8305">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КАРИМОВА Сора</a:t>
                      </a:r>
                    </a:p>
                    <a:p>
                      <a:pPr algn="l">
                        <a:lnSpc>
                          <a:spcPct val="85000"/>
                        </a:lnSpc>
                      </a:pPr>
                      <a:r>
                        <a:rPr lang="uz-Cyrl-UZ" sz="900" b="0" kern="1200" noProof="0" dirty="0">
                          <a:solidFill>
                            <a:schemeClr val="tx1"/>
                          </a:solidFill>
                          <a:latin typeface="+mn-lt"/>
                          <a:ea typeface="+mn-ea"/>
                          <a:cs typeface="Arial" panose="020B0604020202020204" pitchFamily="34" charset="0"/>
                        </a:rPr>
                        <a:t>1907 йил, Пайариқ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1981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Мактабгача</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таътим</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муассасаси</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мудираси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58521">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БУРХОНОВА </a:t>
                      </a:r>
                    </a:p>
                    <a:p>
                      <a:pPr algn="l">
                        <a:lnSpc>
                          <a:spcPct val="85000"/>
                        </a:lnSpc>
                      </a:pPr>
                      <a:r>
                        <a:rPr lang="uz-Cyrl-UZ" sz="900" b="1" kern="1200" noProof="0" dirty="0">
                          <a:solidFill>
                            <a:schemeClr val="tx1"/>
                          </a:solidFill>
                          <a:latin typeface="+mn-lt"/>
                          <a:ea typeface="+mn-ea"/>
                          <a:cs typeface="Arial" panose="020B0604020202020204" pitchFamily="34" charset="0"/>
                        </a:rPr>
                        <a:t>(КУЧАРОВА)</a:t>
                      </a:r>
                    </a:p>
                    <a:p>
                      <a:pPr algn="l">
                        <a:lnSpc>
                          <a:spcPct val="85000"/>
                        </a:lnSpc>
                      </a:pPr>
                      <a:r>
                        <a:rPr lang="uz-Cyrl-UZ" sz="900" b="1" kern="1200" noProof="0" dirty="0">
                          <a:solidFill>
                            <a:schemeClr val="tx1"/>
                          </a:solidFill>
                          <a:latin typeface="+mn-lt"/>
                          <a:ea typeface="+mn-ea"/>
                          <a:cs typeface="Arial" panose="020B0604020202020204" pitchFamily="34" charset="0"/>
                        </a:rPr>
                        <a:t>Зархол Холбоевна</a:t>
                      </a:r>
                    </a:p>
                    <a:p>
                      <a:pPr algn="l">
                        <a:lnSpc>
                          <a:spcPct val="85000"/>
                        </a:lnSpc>
                      </a:pPr>
                      <a:r>
                        <a:rPr lang="uz-Cyrl-UZ" sz="900" b="0" kern="1200" noProof="0" dirty="0">
                          <a:solidFill>
                            <a:schemeClr val="tx1"/>
                          </a:solidFill>
                          <a:latin typeface="+mn-lt"/>
                          <a:ea typeface="+mn-ea"/>
                          <a:cs typeface="Arial" panose="020B0604020202020204" pitchFamily="34" charset="0"/>
                        </a:rPr>
                        <a:t>1955 йил, Термиз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err="1">
                          <a:solidFill>
                            <a:schemeClr val="tx1"/>
                          </a:solidFill>
                          <a:latin typeface="+mn-lt"/>
                          <a:ea typeface="+mn-ea"/>
                          <a:cs typeface="Arial" panose="020B0604020202020204" pitchFamily="34" charset="0"/>
                        </a:rPr>
                        <a:t>Нафақада</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(Гид)</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0183">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486602">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1974 </a:t>
                      </a:r>
                      <a:r>
                        <a:rPr lang="ru-RU" sz="900" b="0" kern="1200" noProof="0" dirty="0" err="1">
                          <a:solidFill>
                            <a:schemeClr val="tx1"/>
                          </a:solidFill>
                          <a:latin typeface="+mn-lt"/>
                          <a:ea typeface="+mn-ea"/>
                          <a:cs typeface="+mn-cs"/>
                        </a:rPr>
                        <a:t>й.Тошкент</a:t>
                      </a:r>
                      <a:r>
                        <a:rPr lang="ru-RU" sz="900" b="0" kern="1200" noProof="0" dirty="0">
                          <a:solidFill>
                            <a:schemeClr val="tx1"/>
                          </a:solidFill>
                          <a:latin typeface="+mn-lt"/>
                          <a:ea typeface="+mn-ea"/>
                          <a:cs typeface="+mn-cs"/>
                        </a:rPr>
                        <a:t> театр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рассомчилик</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санъати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2575324793"/>
                  </a:ext>
                </a:extLst>
              </a:tr>
              <a:tr h="274490">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драма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кино </a:t>
                      </a:r>
                      <a:r>
                        <a:rPr lang="ru-RU" sz="900" b="0" kern="1200" noProof="0" dirty="0" err="1">
                          <a:solidFill>
                            <a:schemeClr val="tx1"/>
                          </a:solidFill>
                          <a:latin typeface="+mn-lt"/>
                          <a:ea typeface="+mn-ea"/>
                          <a:cs typeface="+mn-cs"/>
                        </a:rPr>
                        <a:t>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3581415073"/>
                  </a:ext>
                </a:extLst>
              </a:tr>
              <a:tr h="318089">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1062673456"/>
                  </a:ext>
                </a:extLst>
              </a:tr>
              <a:tr h="318089">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1498889981"/>
                  </a:ext>
                </a:extLst>
              </a:tr>
              <a:tr h="314504">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703"/>
          <a:ext cx="3172841" cy="5829219"/>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2880">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34017">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0" kern="1200" noProof="0" dirty="0">
                          <a:solidFill>
                            <a:schemeClr val="tx1"/>
                          </a:solidFill>
                          <a:latin typeface="+mn-lt"/>
                          <a:ea typeface="+mn-ea"/>
                          <a:cs typeface="+mn-cs"/>
                        </a:rPr>
                        <a:t>Сурхондарё вилояти мусиқали драма театри етакчи саҳна устаси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3311">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666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43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1110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35048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kern="1200" noProof="0" dirty="0">
                          <a:solidFill>
                            <a:schemeClr val="tx1"/>
                          </a:solidFill>
                          <a:latin typeface="+mn-lt"/>
                          <a:ea typeface="+mn-ea"/>
                          <a:cs typeface="+mn-cs"/>
                        </a:rPr>
                        <a:t>-</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4148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89282">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4247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8229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422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91010">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ru-RU" sz="900" noProof="0" dirty="0">
                          <a:effectLst/>
                          <a:latin typeface="+mn-lt"/>
                          <a:ea typeface="Calibri" panose="020F0502020204030204" pitchFamily="34" charset="0"/>
                          <a:cs typeface="Times New Roman" panose="02020603050405020304" pitchFamily="18" charset="0"/>
                        </a:rPr>
                        <a:t>1998 й. “</a:t>
                      </a:r>
                      <a:r>
                        <a:rPr lang="ru-RU" sz="900" noProof="0" dirty="0" err="1">
                          <a:effectLst/>
                          <a:latin typeface="+mn-lt"/>
                          <a:ea typeface="Calibri" panose="020F0502020204030204" pitchFamily="34" charset="0"/>
                          <a:cs typeface="Times New Roman" panose="02020603050405020304" pitchFamily="18" charset="0"/>
                        </a:rPr>
                        <a:t>Ўзбекистонда</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хизмат</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кўрсатган</a:t>
                      </a:r>
                      <a:r>
                        <a:rPr lang="ru-RU" sz="900" noProof="0" dirty="0">
                          <a:effectLst/>
                          <a:latin typeface="+mn-lt"/>
                          <a:ea typeface="Calibri" panose="020F0502020204030204" pitchFamily="34" charset="0"/>
                          <a:cs typeface="Times New Roman" panose="02020603050405020304" pitchFamily="18" charset="0"/>
                        </a:rPr>
                        <a:t> артист” </a:t>
                      </a:r>
                      <a:r>
                        <a:rPr lang="ru-RU" sz="900" noProof="0" dirty="0" err="1">
                          <a:effectLst/>
                          <a:latin typeface="+mn-lt"/>
                          <a:ea typeface="Calibri" panose="020F0502020204030204" pitchFamily="34" charset="0"/>
                          <a:cs typeface="Times New Roman" panose="02020603050405020304" pitchFamily="18" charset="0"/>
                        </a:rPr>
                        <a:t>фахрий</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унвони</a:t>
                      </a:r>
                      <a:endParaRPr lang="ru-RU" sz="900" noProof="0" dirty="0">
                        <a:effectLst/>
                        <a:latin typeface="+mn-lt"/>
                        <a:ea typeface="Calibri" panose="020F0502020204030204" pitchFamily="34" charset="0"/>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ru-RU"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7"/>
          <a:ext cx="2817247" cy="5843539"/>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33688">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7554">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426900">
                <a:tc>
                  <a:txBody>
                    <a:bodyPr/>
                    <a:lstStyle/>
                    <a:p>
                      <a:pPr marL="0" indent="179388" algn="just">
                        <a:lnSpc>
                          <a:spcPct val="85000"/>
                        </a:lnSpc>
                      </a:pPr>
                      <a:r>
                        <a:rPr lang="uz-Cyrl-UZ" sz="900" b="0" noProof="0" dirty="0" smtClean="0">
                          <a:solidFill>
                            <a:schemeClr val="tx1"/>
                          </a:solidFill>
                          <a:latin typeface="+mn-lt"/>
                        </a:rPr>
                        <a:t>К.Бурхонов </a:t>
                      </a:r>
                      <a:r>
                        <a:rPr lang="uz-Cyrl-UZ" sz="900" b="0" noProof="0" dirty="0">
                          <a:solidFill>
                            <a:schemeClr val="tx1"/>
                          </a:solidFill>
                          <a:latin typeface="+mn-lt"/>
                        </a:rPr>
                        <a:t>кинематография агентлиги буюртмаси билан Ҳужжатли ва хроникал фильмлар киностудияси томонидан суратга олиш ишлари АҚШнинг Хьюстон, Лос-Анжелес ва Нью-Йорк шаҳарларида олиб борилган Ўзбекистон Қаҳрамони, Ўзбекистон халқ шоири Абдулла Орипов ҳаёти ва ижодий фаолиятига бағишланган фильмда Абдулла Ориповнинг кексалик даврини маромига етказиб ижро этди.</a:t>
                      </a:r>
                    </a:p>
                    <a:p>
                      <a:pPr marL="0" indent="179388" algn="just">
                        <a:lnSpc>
                          <a:spcPct val="85000"/>
                        </a:lnSpc>
                      </a:pPr>
                      <a:r>
                        <a:rPr lang="uz-Cyrl-UZ" sz="900" b="0" noProof="0" dirty="0">
                          <a:solidFill>
                            <a:schemeClr val="tx1"/>
                          </a:solidFill>
                          <a:latin typeface="+mn-lt"/>
                        </a:rPr>
                        <a:t>К.Бурхонов ижодий жамоа орасида истеъдодли актёрлардан. У ижодий фаолияти давомида бир қатор ранг-баранг образлар яратди. Жумладан, “Ўжарлар”да Келдиёр, “Темир хотин”да Қўчқор ака, “Алпомиш”да Қоражон, “Ватан ишқида”да Азим Бойвачча,  “Жаннат излаб”да Комил, “Жон қизлар”да Доцент, “Ўн саккиз ёшлигимда”да Жўжа Хўроз, “Меҳрибонлар”да Бўри, “Кавказли жиянча” да Бибирли, “Келинлар қўзғолони”да Комил, “Момо ер”да Бектош, “Бир ўликка бир тирик”да Нагасаки, “Аршин мол олон”да Вали, “Скапеннинг найранглари”да Скапен, “Хотинлар хазили”да Эр, “Алишер Навоий”да Абумалик, Турдибой “Жононга бордим бир кеча”да Ҳайдар, “Собир Термизий”да Сарой аъёни, “Чимилдиқ”да Куёв, “Фаришта”да Чол, “Ўлдинг азиз бўлдинг”да Бўстоний, “Туғилган кун” да Чаман, “Она”да Қароқчилар бошлиғи, “Мунажжим”да Мунажжим, “Алла”да Комил “Аёл ҳақида қасида”да Ака, “Шох ва шоир”да Чингизхон, “Заминдан олис кетма”да фермер каби бир қатор образларини юксак бадиий савияда яратиб томошабинлар кўнглидан жой олиб мутахассислар эътиборига тушди.</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0986">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86507">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a:effectLst/>
                          <a:latin typeface="+mn-lt"/>
                          <a:ea typeface="Calibri" panose="020F0502020204030204" pitchFamily="34" charset="0"/>
                          <a:cs typeface="Times New Roman" panose="02020603050405020304" pitchFamily="18" charset="0"/>
                        </a:rPr>
                        <a:t>Вилоятда</a:t>
                      </a:r>
                      <a:r>
                        <a:rPr lang="uz-Cyrl-UZ" sz="900" b="0" baseline="0" dirty="0">
                          <a:effectLst/>
                          <a:latin typeface="+mn-lt"/>
                          <a:ea typeface="Calibri" panose="020F0502020204030204" pitchFamily="34" charset="0"/>
                          <a:cs typeface="Times New Roman" panose="02020603050405020304" pitchFamily="18" charset="0"/>
                        </a:rPr>
                        <a:t> ўтказилиб келинадиган барча оммавий мадаий тадбирлар ва давлат тадбирлари, шунингдек доимий иштирок этиб келади</a:t>
                      </a:r>
                      <a:r>
                        <a:rPr lang="uz-Cyrl-UZ" sz="800" b="0" baseline="0" dirty="0">
                          <a:effectLst/>
                          <a:latin typeface="+mn-lt"/>
                          <a:ea typeface="Calibri" panose="020F0502020204030204" pitchFamily="34" charset="0"/>
                          <a:cs typeface="Times New Roman" panose="02020603050405020304" pitchFamily="18" charset="0"/>
                        </a:rPr>
                        <a:t>.</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descr="485A2867">
            <a:extLst>
              <a:ext uri="{FF2B5EF4-FFF2-40B4-BE49-F238E27FC236}">
                <a16:creationId xmlns:a16="http://schemas.microsoft.com/office/drawing/2014/main" id="{489E2552-B509-D741-14B4-93F67CC5E4D4}"/>
              </a:ext>
            </a:extLst>
          </p:cNvPr>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52414" y="1142999"/>
            <a:ext cx="864950" cy="1155819"/>
          </a:xfrm>
          <a:prstGeom prst="rect">
            <a:avLst/>
          </a:prstGeom>
          <a:noFill/>
          <a:ln>
            <a:noFill/>
          </a:ln>
        </p:spPr>
      </p:pic>
    </p:spTree>
    <p:extLst>
      <p:ext uri="{BB962C8B-B14F-4D97-AF65-F5344CB8AC3E}">
        <p14:creationId xmlns:p14="http://schemas.microsoft.com/office/powerpoint/2010/main" val="2144432171"/>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829220"/>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57364">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201199">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ШАРИПОВ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19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Марат</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20119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Мустафаевич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201199">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20119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12.07.1955</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31290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Бухоро вилояти, Бухоро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44229">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523348">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4 нафар ўғил фарзандлари бор, ҳозирда Сурхондарё вилояти мусиқали драма театри етакчи саҳна устаси</a:t>
                      </a:r>
                    </a:p>
                  </a:txBody>
                  <a:tcPr marL="74295" marR="74295" marT="37148" marB="37148" anchor="ctr">
                    <a:lnL>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no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44229">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5278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ШАРИПОВ Мустафо</a:t>
                      </a:r>
                    </a:p>
                    <a:p>
                      <a:pPr algn="l">
                        <a:lnSpc>
                          <a:spcPct val="85000"/>
                        </a:lnSpc>
                      </a:pPr>
                      <a:r>
                        <a:rPr lang="uz-Cyrl-UZ" sz="900" b="0" kern="1200" noProof="0" dirty="0">
                          <a:solidFill>
                            <a:schemeClr val="tx1"/>
                          </a:solidFill>
                          <a:latin typeface="+mn-lt"/>
                          <a:ea typeface="+mn-ea"/>
                          <a:cs typeface="Arial" panose="020B0604020202020204" pitchFamily="34" charset="0"/>
                        </a:rPr>
                        <a:t>1923 йил, Бухоро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1963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Ўқитувчи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325854">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ШАРИПОВА Гулистон</a:t>
                      </a:r>
                    </a:p>
                    <a:p>
                      <a:pPr algn="l">
                        <a:lnSpc>
                          <a:spcPct val="85000"/>
                        </a:lnSpc>
                      </a:pPr>
                      <a:r>
                        <a:rPr lang="uz-Cyrl-UZ" sz="900" b="0" kern="1200" noProof="0" dirty="0">
                          <a:solidFill>
                            <a:schemeClr val="tx1"/>
                          </a:solidFill>
                          <a:latin typeface="+mn-lt"/>
                          <a:ea typeface="+mn-ea"/>
                          <a:cs typeface="Arial" panose="020B0604020202020204" pitchFamily="34" charset="0"/>
                        </a:rPr>
                        <a:t>1927 йил, Бухоро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1973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(уй </a:t>
                      </a:r>
                      <a:r>
                        <a:rPr lang="ru-RU" sz="900" b="0" kern="1200" noProof="0" dirty="0" err="1">
                          <a:solidFill>
                            <a:schemeClr val="tx1"/>
                          </a:solidFill>
                          <a:latin typeface="+mn-lt"/>
                          <a:ea typeface="+mn-ea"/>
                          <a:cs typeface="Arial" panose="020B0604020202020204" pitchFamily="34" charset="0"/>
                        </a:rPr>
                        <a:t>бекаси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04825">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ЖУМАЕВА Зайнаб Абдуллаевна</a:t>
                      </a:r>
                    </a:p>
                    <a:p>
                      <a:pPr algn="l">
                        <a:lnSpc>
                          <a:spcPct val="85000"/>
                        </a:lnSpc>
                      </a:pPr>
                      <a:r>
                        <a:rPr lang="uz-Cyrl-UZ" sz="900" b="0" kern="1200" noProof="0" dirty="0">
                          <a:solidFill>
                            <a:schemeClr val="tx1"/>
                          </a:solidFill>
                          <a:latin typeface="+mn-lt"/>
                          <a:ea typeface="+mn-ea"/>
                          <a:cs typeface="Arial" panose="020B0604020202020204" pitchFamily="34" charset="0"/>
                        </a:rPr>
                        <a:t>1956 йил, Бойсун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err="1">
                          <a:solidFill>
                            <a:schemeClr val="tx1"/>
                          </a:solidFill>
                          <a:latin typeface="+mn-lt"/>
                          <a:ea typeface="+mn-ea"/>
                          <a:cs typeface="Arial" panose="020B0604020202020204" pitchFamily="34" charset="0"/>
                        </a:rPr>
                        <a:t>Нафақада</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Ўқитувчи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9601">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45801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1977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театр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рассомчилик</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2575324793"/>
                  </a:ext>
                </a:extLst>
              </a:tr>
              <a:tr h="286790">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Драма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кино </a:t>
                      </a:r>
                      <a:r>
                        <a:rPr lang="ru-RU" sz="900" b="0" kern="1200" noProof="0" dirty="0" err="1">
                          <a:solidFill>
                            <a:schemeClr val="tx1"/>
                          </a:solidFill>
                          <a:latin typeface="+mn-lt"/>
                          <a:ea typeface="+mn-ea"/>
                          <a:cs typeface="+mn-cs"/>
                        </a:rPr>
                        <a:t>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3581415073"/>
                  </a:ext>
                </a:extLst>
              </a:tr>
              <a:tr h="332343">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1062673456"/>
                  </a:ext>
                </a:extLst>
              </a:tr>
              <a:tr h="332343">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1498889981"/>
                  </a:ext>
                </a:extLst>
              </a:tr>
              <a:tr h="328597">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703"/>
          <a:ext cx="3172841" cy="5829219"/>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2880">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34017">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0" kern="1200" noProof="0" dirty="0">
                          <a:solidFill>
                            <a:schemeClr val="tx1"/>
                          </a:solidFill>
                          <a:latin typeface="+mn-lt"/>
                          <a:ea typeface="+mn-ea"/>
                          <a:cs typeface="+mn-cs"/>
                        </a:rPr>
                        <a:t>Сурхондарё вилояти мусиқали драма театри етакчи саҳна устаси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3311">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666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50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1110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35048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kern="1200" noProof="0" dirty="0">
                          <a:solidFill>
                            <a:schemeClr val="tx1"/>
                          </a:solidFill>
                          <a:latin typeface="+mn-lt"/>
                          <a:ea typeface="+mn-ea"/>
                          <a:cs typeface="+mn-cs"/>
                        </a:rPr>
                        <a:t>-</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4148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89282">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4247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8229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422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91010">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ru-RU" sz="900" noProof="0" dirty="0">
                          <a:effectLst/>
                          <a:latin typeface="+mn-lt"/>
                          <a:ea typeface="Calibri" panose="020F0502020204030204" pitchFamily="34" charset="0"/>
                          <a:cs typeface="Times New Roman" panose="02020603050405020304" pitchFamily="18" charset="0"/>
                        </a:rPr>
                        <a:t>2021 й. “</a:t>
                      </a:r>
                      <a:r>
                        <a:rPr lang="ru-RU" sz="900" noProof="0" dirty="0" err="1">
                          <a:effectLst/>
                          <a:latin typeface="+mn-lt"/>
                          <a:ea typeface="Calibri" panose="020F0502020204030204" pitchFamily="34" charset="0"/>
                          <a:cs typeface="Times New Roman" panose="02020603050405020304" pitchFamily="18" charset="0"/>
                        </a:rPr>
                        <a:t>Шуҳрат</a:t>
                      </a:r>
                      <a:r>
                        <a:rPr lang="ru-RU" sz="900" noProof="0" dirty="0">
                          <a:effectLst/>
                          <a:latin typeface="+mn-lt"/>
                          <a:ea typeface="Calibri" panose="020F0502020204030204" pitchFamily="34" charset="0"/>
                          <a:cs typeface="Times New Roman" panose="02020603050405020304" pitchFamily="18" charset="0"/>
                        </a:rPr>
                        <a:t>” медали</a:t>
                      </a:r>
                    </a:p>
                    <a:p>
                      <a:pPr marL="0" marR="0" indent="0" algn="just" defTabSz="914400" rtl="0" eaLnBrk="1" fontAlgn="auto" latinLnBrk="0" hangingPunct="1">
                        <a:lnSpc>
                          <a:spcPct val="107000"/>
                        </a:lnSpc>
                        <a:spcBef>
                          <a:spcPts val="0"/>
                        </a:spcBef>
                        <a:spcAft>
                          <a:spcPts val="0"/>
                        </a:spcAft>
                        <a:buClrTx/>
                        <a:buSzTx/>
                        <a:buFontTx/>
                        <a:buNone/>
                        <a:tabLst/>
                        <a:defRPr/>
                      </a:pPr>
                      <a:endParaRPr lang="ru-RU"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7"/>
          <a:ext cx="2817247" cy="5843539"/>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33688">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7554">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426900">
                <a:tc>
                  <a:txBody>
                    <a:bodyPr/>
                    <a:lstStyle/>
                    <a:p>
                      <a:pPr marL="0" indent="179388" algn="just">
                        <a:lnSpc>
                          <a:spcPct val="85000"/>
                        </a:lnSpc>
                      </a:pPr>
                      <a:r>
                        <a:rPr lang="uz-Cyrl-UZ" sz="900" b="0" noProof="0" dirty="0">
                          <a:solidFill>
                            <a:schemeClr val="tx1"/>
                          </a:solidFill>
                          <a:latin typeface="+mn-lt"/>
                        </a:rPr>
                        <a:t>М.Шарипов фаолияти давомида 60 дан ортиқ турли характердаги ранг-баранг образлар яратган. Жумладан, Болалар учун саҳналаштирилган Янги йил эртак спектаклларидан “Сеҳрли ҳасса” ва “Янги йил саргузаштлари” спектаклларида Қорбобо, “Олам сеники” спектаклида Шеър, “Сеҳрли узук” спектаклида Яхши бола, “Келинлар кўзғолони” спектаклида Уста Боқи, “Амир Темур ва Йилдирм Боязид” спектаклида Вазир, “Адиб Собир Термизий” спектаклида Вазир, “Оқ кема” спектаклида Сотувчи, “Қамашган кўзлар” спектаклида Темир, “Бир қадам йўл” спектаклида Шокир, “Истамбул фожиаси” спектаклида Лейтенант Қосимов, “Муҳаббатим-қисматим менинг” спектаклида Мўмин, “Хазон бўлган умрлар” спектаклида Ака, “Шоҳ ва Шоир” спектаклида Ҳазрат, “Дард кўрмаган эрка болам” спектаклида Прокурор, “Она” спектаклида Ровий, “Қўнғироқлар садоси” спектаклида Бек, Аскар, “Алла” спектаклида Жалил, “Алишер Навоий” спектаклида Мунажжим, “Кампир топайми дадажон?” спектаклида Амиров, “Ризқи бутун одамлар” спекетаклида Илҳом, “Пагон таққан одамлар” спектаклида Ёдгор, “Зиё қалъаси” спектаклида Табиб, “Алпомишнинг қайтиши” спектаклида Амир Ҳожи Мулла, “Шунқор” спектаклида Эмрайн, “Алломаи замон” спектаклида Доруға, “Виждон” спектаклида Содиқ Сарварович,  “Момо ер” спектаклида Тумирйўлчи, “Тўмарис” спектаклида Могур, “Уйдаги гап кўчада...” спектаклида Али муаллим, “Тахти сулаймон” спектаклида Хумор Тегин, “Тоғ булбулининг сўнги хониши” спектаклида Деҳқон, “Макр ва Муҳаббат” спектаклида Миллер каби образлари ўзининг бетакрорлиги ва мукаммал ижроси билан ажралиб туради. Актёр ижросидаги бу образлар талқини ҳамиша мухлисларни тўлқинлантириб келган.</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0986">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86507">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a:effectLst/>
                          <a:latin typeface="+mn-lt"/>
                          <a:ea typeface="Calibri" panose="020F0502020204030204" pitchFamily="34" charset="0"/>
                          <a:cs typeface="Times New Roman" panose="02020603050405020304" pitchFamily="18" charset="0"/>
                        </a:rPr>
                        <a:t>Вилоятда</a:t>
                      </a:r>
                      <a:r>
                        <a:rPr lang="uz-Cyrl-UZ" sz="900" b="0" baseline="0" dirty="0">
                          <a:effectLst/>
                          <a:latin typeface="+mn-lt"/>
                          <a:ea typeface="Calibri" panose="020F0502020204030204" pitchFamily="34" charset="0"/>
                          <a:cs typeface="Times New Roman" panose="02020603050405020304" pitchFamily="18" charset="0"/>
                        </a:rPr>
                        <a:t> ўтказилиб келинадиган барча оммавий мадаий тадбирлар ва давлат тадбирлари, шунингдек доимий иштирок этиб келади</a:t>
                      </a:r>
                      <a:r>
                        <a:rPr lang="uz-Cyrl-UZ" sz="800" b="0" baseline="0" dirty="0">
                          <a:effectLst/>
                          <a:latin typeface="+mn-lt"/>
                          <a:ea typeface="Calibri" panose="020F0502020204030204" pitchFamily="34" charset="0"/>
                          <a:cs typeface="Times New Roman" panose="02020603050405020304" pitchFamily="18" charset="0"/>
                        </a:rPr>
                        <a:t>.</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descr="М">
            <a:extLst>
              <a:ext uri="{FF2B5EF4-FFF2-40B4-BE49-F238E27FC236}">
                <a16:creationId xmlns:a16="http://schemas.microsoft.com/office/drawing/2014/main" id="{25D61318-E94B-D470-98A0-E69A88198A0B}"/>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5823" y="1189432"/>
            <a:ext cx="927405" cy="1242061"/>
          </a:xfrm>
          <a:prstGeom prst="rect">
            <a:avLst/>
          </a:prstGeom>
          <a:noFill/>
          <a:ln>
            <a:noFill/>
          </a:ln>
        </p:spPr>
      </p:pic>
    </p:spTree>
    <p:extLst>
      <p:ext uri="{BB962C8B-B14F-4D97-AF65-F5344CB8AC3E}">
        <p14:creationId xmlns:p14="http://schemas.microsoft.com/office/powerpoint/2010/main" val="2849817632"/>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3"/>
          <a:ext cx="3427547" cy="5875372"/>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440">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0314">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a:solidFill>
                            <a:schemeClr val="tx1"/>
                          </a:solidFill>
                          <a:latin typeface="+mn-lt"/>
                          <a:ea typeface="+mn-ea"/>
                          <a:cs typeface="+mn-cs"/>
                        </a:rPr>
                        <a:t>БОЛТАЕВ</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031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Фарход</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031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Назарович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0314">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031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05.01.1975</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031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Денов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016">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5033">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4 нафар ўғил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Сурхондарё вилояти мусиқали драма театри бош режиссёри</a:t>
                      </a:r>
                    </a:p>
                  </a:txBody>
                  <a:tcPr marL="74295" marR="74295" marT="37148" marB="37148" anchor="ctr">
                    <a:lnL>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no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016">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376527">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БОЛТАЕВ Назар Саидович</a:t>
                      </a:r>
                    </a:p>
                    <a:p>
                      <a:pPr algn="l">
                        <a:lnSpc>
                          <a:spcPct val="85000"/>
                        </a:lnSpc>
                      </a:pPr>
                      <a:r>
                        <a:rPr lang="uz-Cyrl-UZ" sz="900" b="0" kern="1200" noProof="0" dirty="0">
                          <a:solidFill>
                            <a:schemeClr val="tx1"/>
                          </a:solidFill>
                          <a:latin typeface="+mn-lt"/>
                          <a:ea typeface="+mn-ea"/>
                          <a:cs typeface="Arial" panose="020B0604020202020204" pitchFamily="34" charset="0"/>
                        </a:rPr>
                        <a:t>1949 йил, Денов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2022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Шифокор</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3171">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БОЛТАЕВА Гулсум Мамасаидовна</a:t>
                      </a:r>
                    </a:p>
                    <a:p>
                      <a:pPr algn="l">
                        <a:lnSpc>
                          <a:spcPct val="85000"/>
                        </a:lnSpc>
                      </a:pPr>
                      <a:r>
                        <a:rPr lang="uz-Cyrl-UZ" sz="900" b="0" kern="1200" noProof="0" dirty="0">
                          <a:solidFill>
                            <a:schemeClr val="tx1"/>
                          </a:solidFill>
                          <a:latin typeface="+mn-lt"/>
                          <a:ea typeface="+mn-ea"/>
                          <a:cs typeface="Arial" panose="020B0604020202020204" pitchFamily="34" charset="0"/>
                        </a:rPr>
                        <a:t>1954 йил, Узун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err="1">
                          <a:solidFill>
                            <a:schemeClr val="tx1"/>
                          </a:solidFill>
                          <a:latin typeface="+mn-lt"/>
                          <a:ea typeface="+mn-ea"/>
                          <a:cs typeface="Arial" panose="020B0604020202020204" pitchFamily="34" charset="0"/>
                        </a:rPr>
                        <a:t>Нафақада</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Тарбиячи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51978">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АХМЕДОВА Нигора Йигиталиевна</a:t>
                      </a:r>
                    </a:p>
                    <a:p>
                      <a:pPr algn="l">
                        <a:lnSpc>
                          <a:spcPct val="85000"/>
                        </a:lnSpc>
                      </a:pPr>
                      <a:r>
                        <a:rPr lang="uz-Cyrl-UZ" sz="900" b="0" kern="1200" noProof="0" dirty="0">
                          <a:solidFill>
                            <a:schemeClr val="tx1"/>
                          </a:solidFill>
                          <a:latin typeface="+mn-lt"/>
                          <a:ea typeface="+mn-ea"/>
                          <a:cs typeface="Arial" panose="020B0604020202020204" pitchFamily="34" charset="0"/>
                        </a:rPr>
                        <a:t>1980 йил, Фарғона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mn-cs"/>
                        </a:rPr>
                        <a:t>Сурхондарё вилояти мусиқали драма театри етакчи саҳна устаси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721">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34807">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2001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Давлат </a:t>
                      </a:r>
                      <a:r>
                        <a:rPr lang="ru-RU" sz="900" b="0" kern="1200" noProof="0" dirty="0" err="1">
                          <a:solidFill>
                            <a:schemeClr val="tx1"/>
                          </a:solidFill>
                          <a:latin typeface="+mn-lt"/>
                          <a:ea typeface="+mn-ea"/>
                          <a:cs typeface="+mn-cs"/>
                        </a:rPr>
                        <a:t>санъат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p>
                      <a:r>
                        <a:rPr lang="ru-RU" sz="900" b="0" kern="1200" noProof="0" dirty="0">
                          <a:solidFill>
                            <a:schemeClr val="tx1"/>
                          </a:solidFill>
                          <a:latin typeface="+mn-lt"/>
                          <a:ea typeface="+mn-ea"/>
                          <a:cs typeface="+mn-cs"/>
                        </a:rPr>
                        <a:t>2004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санъати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магистратураси</a:t>
                      </a:r>
                      <a:r>
                        <a:rPr lang="ru-RU" sz="900" b="0" kern="1200" noProof="0" dirty="0">
                          <a:solidFill>
                            <a:schemeClr val="tx1"/>
                          </a:solidFill>
                          <a:latin typeface="+mn-lt"/>
                          <a:ea typeface="+mn-ea"/>
                          <a:cs typeface="+mn-cs"/>
                        </a:rPr>
                        <a:t>(</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2575324793"/>
                  </a:ext>
                </a:extLst>
              </a:tr>
              <a:tr h="271274">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a:solidFill>
                            <a:schemeClr val="tx1"/>
                          </a:solidFill>
                          <a:effectLst/>
                          <a:latin typeface="+mn-lt"/>
                          <a:ea typeface="+mn-ea"/>
                          <a:cs typeface="+mn-cs"/>
                        </a:rPr>
                        <a:t>драматик йўналишдаги актёрлик санъати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3581415073"/>
                  </a:ext>
                </a:extLst>
              </a:tr>
              <a:tr h="314363">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1062673456"/>
                  </a:ext>
                </a:extLst>
              </a:tr>
              <a:tr h="314363">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1498889981"/>
                  </a:ext>
                </a:extLst>
              </a:tr>
              <a:tr h="428779">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703"/>
          <a:ext cx="3172841" cy="587537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5551">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69829">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0" kern="1200" noProof="0" dirty="0">
                          <a:solidFill>
                            <a:schemeClr val="tx1"/>
                          </a:solidFill>
                          <a:latin typeface="+mn-lt"/>
                          <a:ea typeface="+mn-ea"/>
                          <a:cs typeface="+mn-cs"/>
                        </a:rPr>
                        <a:t>Сурхондарё вилояти мусиқали драма театри бош режиссёри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5304">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837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33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1270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6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55350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2020 йилдан буён </a:t>
                      </a:r>
                      <a:r>
                        <a:rPr lang="uz-Cyrl-UZ" sz="900" b="0" kern="1200" noProof="0" dirty="0">
                          <a:solidFill>
                            <a:schemeClr val="tx1"/>
                          </a:solidFill>
                          <a:latin typeface="+mn-lt"/>
                          <a:ea typeface="+mn-ea"/>
                          <a:cs typeface="+mn-cs"/>
                        </a:rPr>
                        <a:t>Сурхондарё вилояти мусиқали драма театри бош режиссёри</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1395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қониқарли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92229">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2026 й. Худудий шифохонада даволанган</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4506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85189">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6069">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207596">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a:effectLst/>
                          <a:latin typeface="+mn-lt"/>
                          <a:ea typeface="Calibri" panose="020F0502020204030204" pitchFamily="34" charset="0"/>
                          <a:cs typeface="Times New Roman" panose="02020603050405020304" pitchFamily="18" charset="0"/>
                        </a:rPr>
                        <a:t>2018 й. “Шуҳрат” медали</a:t>
                      </a:r>
                    </a:p>
                    <a:p>
                      <a:pPr marL="0" marR="0" indent="0" algn="just" defTabSz="914400" rtl="0" eaLnBrk="1" fontAlgn="auto" latinLnBrk="0" hangingPunct="1">
                        <a:lnSpc>
                          <a:spcPct val="107000"/>
                        </a:lnSpc>
                        <a:spcBef>
                          <a:spcPts val="0"/>
                        </a:spcBef>
                        <a:spcAft>
                          <a:spcPts val="0"/>
                        </a:spcAft>
                        <a:buClrTx/>
                        <a:buSzTx/>
                        <a:buFontTx/>
                        <a:buNone/>
                        <a:tabLst/>
                        <a:defRPr/>
                      </a:pPr>
                      <a:r>
                        <a:rPr lang="ru-RU" sz="900" noProof="0" dirty="0">
                          <a:effectLst/>
                          <a:latin typeface="+mn-lt"/>
                          <a:ea typeface="Calibri" panose="020F0502020204030204" pitchFamily="34" charset="0"/>
                          <a:cs typeface="Times New Roman" panose="02020603050405020304" pitchFamily="18" charset="0"/>
                        </a:rPr>
                        <a:t>2023 й. “Маданият </a:t>
                      </a:r>
                      <a:r>
                        <a:rPr lang="ru-RU" sz="900" noProof="0" dirty="0" err="1">
                          <a:effectLst/>
                          <a:latin typeface="+mn-lt"/>
                          <a:ea typeface="Calibri" panose="020F0502020204030204" pitchFamily="34" charset="0"/>
                          <a:cs typeface="Times New Roman" panose="02020603050405020304" pitchFamily="18" charset="0"/>
                        </a:rPr>
                        <a:t>ва</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санъат</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фидокори</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кўкрак</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нишони</a:t>
                      </a:r>
                      <a:r>
                        <a:rPr lang="ru-RU" sz="900" noProof="0" dirty="0">
                          <a:effectLst/>
                          <a:latin typeface="+mn-lt"/>
                          <a:ea typeface="Calibri" panose="020F0502020204030204" pitchFamily="34" charset="0"/>
                          <a:cs typeface="Times New Roman" panose="02020603050405020304" pitchFamily="18" charset="0"/>
                        </a:rPr>
                        <a:t> </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6"/>
          <a:ext cx="2817247" cy="5870771"/>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marL="0" indent="179388" algn="just">
                        <a:lnSpc>
                          <a:spcPct val="85000"/>
                        </a:lnSpc>
                      </a:pPr>
                      <a:r>
                        <a:rPr lang="uz-Cyrl-UZ" sz="900" b="0" noProof="0" dirty="0" smtClean="0">
                          <a:solidFill>
                            <a:schemeClr val="tx1"/>
                          </a:solidFill>
                          <a:latin typeface="+mn-lt"/>
                        </a:rPr>
                        <a:t>Ф.Болтаев </a:t>
                      </a:r>
                      <a:r>
                        <a:rPr lang="uz-Cyrl-UZ" sz="900" b="0" noProof="0" dirty="0">
                          <a:solidFill>
                            <a:schemeClr val="tx1"/>
                          </a:solidFill>
                          <a:latin typeface="+mn-lt"/>
                        </a:rPr>
                        <a:t>2000 йил Қозоғистон Республикасининг Алмата шаҳрида бўлиб ўтган Халқаро ёш кино режиссёрлар фестивалида “От эгаси”даги Инот образи, 2005 йилда Тошкент шахрида бўлиб ўтган ёш режиссёрларнинг Дебют-1 фестивалида “Хазон бўлган  умрлар” спектаклидаги Назиржон образи талқини учун “Энг яхши драматик актёр” номинацияси бўйича ғолибликни қўлга киритиб, лауриат бўлган. 2011 йилнинг Тошкент шаҳрида бўлиб ўтган </a:t>
                      </a:r>
                      <a:r>
                        <a:rPr lang="en-US" sz="900" b="0" noProof="0" dirty="0">
                          <a:solidFill>
                            <a:schemeClr val="tx1"/>
                          </a:solidFill>
                          <a:latin typeface="+mn-lt"/>
                        </a:rPr>
                        <a:t>II-</a:t>
                      </a:r>
                      <a:r>
                        <a:rPr lang="uz-Cyrl-UZ" sz="900" b="0" noProof="0" dirty="0">
                          <a:solidFill>
                            <a:schemeClr val="tx1"/>
                          </a:solidFill>
                          <a:latin typeface="+mn-lt"/>
                        </a:rPr>
                        <a:t>Халқаро театр санъати фестивалида Ф.Болтаевнинг “Она” спектаклидаги бош рол “Ўғил” образи ижроси фестивалнинг “Эркак ролининг энг яхши ижрочиси” номинациясига лойиқ топилган. </a:t>
                      </a:r>
                    </a:p>
                    <a:p>
                      <a:pPr marL="0" indent="179388" algn="just">
                        <a:lnSpc>
                          <a:spcPct val="85000"/>
                        </a:lnSpc>
                      </a:pPr>
                      <a:r>
                        <a:rPr lang="uz-Cyrl-UZ" sz="900" b="0" noProof="0" dirty="0">
                          <a:solidFill>
                            <a:schemeClr val="tx1"/>
                          </a:solidFill>
                          <a:latin typeface="+mn-lt"/>
                        </a:rPr>
                        <a:t>У ижодий фаолияти давомида 70 га яқин образлар яратган. Жумладан  “Кампир топайму дадажон”да Собир, “Шоҳ ва шоир”да Ёш Темур, “Она”да Ўғил, “Алла”да Сафар, “Қотил юраги”да Луижи Ламбарде, “Чегарачи”да Холбек, “Алишер Навоий”да Ҳусайин Бойқаро, “Алпомишнинг қайтиши”да Алпомиш, “Алломаи замон”да Ал-Ҳаким ат-Термизий, “Адолат фасли”да Амир Темур каби образлари мутахассислар ва мухлислар томонидан юксак баҳоланган.</a:t>
                      </a:r>
                    </a:p>
                    <a:p>
                      <a:pPr marL="0" indent="179388" algn="just">
                        <a:lnSpc>
                          <a:spcPct val="85000"/>
                        </a:lnSpc>
                      </a:pPr>
                      <a:r>
                        <a:rPr lang="uz-Cyrl-UZ" sz="900" b="0" noProof="0" dirty="0">
                          <a:solidFill>
                            <a:schemeClr val="tx1"/>
                          </a:solidFill>
                          <a:latin typeface="+mn-lt"/>
                        </a:rPr>
                        <a:t>Ф.Болтаев режиссёр сифатида “Сеҳрли ҳасса”, “Сен гулсан..”, “Ўрмон ғаройиботлари”, “Хазон бўлган умрлар”, “Жаннатга биз билан кир”, “Денгиз ғаройиботлари”, “Чегарачи”, “Оппоғойим”, “Хазина”, “Олтин сочли Малика”, “Зиё қалъаси”, “Сеҳрли ўрмон”, “Адолат фасли”, “Муҳаббатим-қисматим менинг”, “Момо ер”, “Тўмарис” каби бир нечта спектаклларни саҳналаштирди. </a:t>
                      </a:r>
                    </a:p>
                    <a:p>
                      <a:pPr marL="0" indent="179388" algn="just">
                        <a:lnSpc>
                          <a:spcPct val="85000"/>
                        </a:lnSpc>
                      </a:pPr>
                      <a:r>
                        <a:rPr lang="uz-Cyrl-UZ" sz="900" b="0" noProof="0" dirty="0">
                          <a:solidFill>
                            <a:schemeClr val="tx1"/>
                          </a:solidFill>
                          <a:latin typeface="+mn-lt"/>
                        </a:rPr>
                        <a:t>Фарход Болтаев 2026 йил 11-13 апрел кунлари Соҳибқирон Амир Темур таваллудининг</a:t>
                      </a:r>
                      <a:r>
                        <a:rPr lang="en-US" sz="900" b="0" noProof="0" dirty="0">
                          <a:solidFill>
                            <a:schemeClr val="tx1"/>
                          </a:solidFill>
                          <a:latin typeface="+mn-lt"/>
                        </a:rPr>
                        <a:t> 690 </a:t>
                      </a:r>
                      <a:r>
                        <a:rPr lang="uz-Cyrl-UZ" sz="900" b="0" noProof="0" dirty="0">
                          <a:solidFill>
                            <a:schemeClr val="tx1"/>
                          </a:solidFill>
                          <a:latin typeface="+mn-lt"/>
                        </a:rPr>
                        <a:t>йиллиги</a:t>
                      </a:r>
                      <a:r>
                        <a:rPr lang="en-US" sz="900" b="0" noProof="0" dirty="0">
                          <a:solidFill>
                            <a:schemeClr val="tx1"/>
                          </a:solidFill>
                          <a:latin typeface="+mn-lt"/>
                        </a:rPr>
                        <a:t> </a:t>
                      </a:r>
                      <a:r>
                        <a:rPr lang="uz-Cyrl-UZ" sz="900" b="0" noProof="0" dirty="0">
                          <a:solidFill>
                            <a:schemeClr val="tx1"/>
                          </a:solidFill>
                          <a:latin typeface="+mn-lt"/>
                        </a:rPr>
                        <a:t>муносабати билан Самарқанд шаҳрида</a:t>
                      </a:r>
                      <a:r>
                        <a:rPr lang="en-US" sz="900" b="0" noProof="0" dirty="0">
                          <a:solidFill>
                            <a:schemeClr val="tx1"/>
                          </a:solidFill>
                          <a:latin typeface="+mn-lt"/>
                        </a:rPr>
                        <a:t> </a:t>
                      </a:r>
                      <a:r>
                        <a:rPr lang="uz-Cyrl-UZ" sz="900" b="0" noProof="0" dirty="0">
                          <a:solidFill>
                            <a:schemeClr val="tx1"/>
                          </a:solidFill>
                          <a:latin typeface="+mn-lt"/>
                        </a:rPr>
                        <a:t>бўлиб ўтган </a:t>
                      </a:r>
                      <a:r>
                        <a:rPr lang="en-US" sz="900" b="0" noProof="0" dirty="0">
                          <a:solidFill>
                            <a:schemeClr val="tx1"/>
                          </a:solidFill>
                          <a:latin typeface="+mn-lt"/>
                        </a:rPr>
                        <a:t>“</a:t>
                      </a:r>
                      <a:r>
                        <a:rPr lang="uz-Cyrl-UZ" sz="900" b="0" noProof="0" dirty="0">
                          <a:solidFill>
                            <a:schemeClr val="tx1"/>
                          </a:solidFill>
                          <a:latin typeface="+mn-lt"/>
                        </a:rPr>
                        <a:t>Амир Темур сиймоси саҳнада</a:t>
                      </a:r>
                      <a:r>
                        <a:rPr lang="en-US" sz="900" b="0" noProof="0" dirty="0">
                          <a:solidFill>
                            <a:schemeClr val="tx1"/>
                          </a:solidFill>
                          <a:latin typeface="+mn-lt"/>
                        </a:rPr>
                        <a:t>” </a:t>
                      </a:r>
                      <a:r>
                        <a:rPr lang="uz-Cyrl-UZ" sz="900" b="0" noProof="0" dirty="0">
                          <a:solidFill>
                            <a:schemeClr val="tx1"/>
                          </a:solidFill>
                          <a:latin typeface="+mn-lt"/>
                        </a:rPr>
                        <a:t>номли республика театрлар фестивалининг енг яхши Амир Темур образи номинацияси ғолиби бўлди.</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800" b="0" dirty="0">
                          <a:effectLst/>
                          <a:latin typeface="+mn-lt"/>
                          <a:ea typeface="Calibri" panose="020F0502020204030204" pitchFamily="34" charset="0"/>
                          <a:cs typeface="Times New Roman" panose="02020603050405020304" pitchFamily="18" charset="0"/>
                        </a:rPr>
                        <a:t>Вилоятда</a:t>
                      </a:r>
                      <a:r>
                        <a:rPr lang="uz-Cyrl-UZ" sz="800" b="0" baseline="0" dirty="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descr="Ф">
            <a:extLst>
              <a:ext uri="{FF2B5EF4-FFF2-40B4-BE49-F238E27FC236}">
                <a16:creationId xmlns:a16="http://schemas.microsoft.com/office/drawing/2014/main" id="{04727156-6610-972E-C473-8BD625978F5C}"/>
              </a:ext>
            </a:extLst>
          </p:cNvPr>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7179" y="1140142"/>
            <a:ext cx="791045" cy="1057061"/>
          </a:xfrm>
          <a:prstGeom prst="rect">
            <a:avLst/>
          </a:prstGeom>
          <a:noFill/>
          <a:ln>
            <a:noFill/>
          </a:ln>
        </p:spPr>
      </p:pic>
    </p:spTree>
    <p:extLst>
      <p:ext uri="{BB962C8B-B14F-4D97-AF65-F5344CB8AC3E}">
        <p14:creationId xmlns:p14="http://schemas.microsoft.com/office/powerpoint/2010/main" val="1168067772"/>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3"/>
          <a:ext cx="3427547" cy="5831227"/>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1611">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8884">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ОРИПОВ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888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Хомит</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888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Шаймарданович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8884">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888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20.07.1956</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888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err="1">
                          <a:solidFill>
                            <a:schemeClr val="tx1"/>
                          </a:solidFill>
                          <a:latin typeface="+mn-lt"/>
                          <a:ea typeface="+mn-ea"/>
                          <a:cs typeface="+mn-cs"/>
                        </a:rPr>
                        <a:t>Бойсун</a:t>
                      </a:r>
                      <a:r>
                        <a:rPr lang="ru-RU" sz="800" b="0" kern="1200" dirty="0">
                          <a:solidFill>
                            <a:schemeClr val="tx1"/>
                          </a:solidFill>
                          <a:latin typeface="+mn-lt"/>
                          <a:ea typeface="+mn-ea"/>
                          <a:cs typeface="+mn-cs"/>
                        </a:rPr>
                        <a:t> </a:t>
                      </a:r>
                      <a:r>
                        <a:rPr lang="ru-RU" sz="800" b="0" kern="1200" dirty="0" err="1">
                          <a:solidFill>
                            <a:schemeClr val="tx1"/>
                          </a:solidFill>
                          <a:latin typeface="+mn-lt"/>
                          <a:ea typeface="+mn-ea"/>
                          <a:cs typeface="+mn-cs"/>
                        </a:rPr>
                        <a:t>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928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1314">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1 нафар ўғил ва 2 қиз фарзанди бор, ҳозирда Сурхондарё вилояти мусиқали драма театри актёри</a:t>
                      </a:r>
                    </a:p>
                  </a:txBody>
                  <a:tcPr marL="74295" marR="74295" marT="37148" marB="37148" anchor="ctr">
                    <a:lnL>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no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928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373698">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ОРИПОВ Шоймардон</a:t>
                      </a:r>
                    </a:p>
                    <a:p>
                      <a:pPr algn="l">
                        <a:lnSpc>
                          <a:spcPct val="85000"/>
                        </a:lnSpc>
                      </a:pPr>
                      <a:r>
                        <a:rPr lang="uz-Cyrl-UZ" sz="900" b="0" kern="1200" noProof="0" dirty="0">
                          <a:solidFill>
                            <a:schemeClr val="tx1"/>
                          </a:solidFill>
                          <a:latin typeface="+mn-lt"/>
                          <a:ea typeface="+mn-ea"/>
                          <a:cs typeface="Arial" panose="020B0604020202020204" pitchFamily="34" charset="0"/>
                        </a:rPr>
                        <a:t>1920 йил, Бойсун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1961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(Колхоз </a:t>
                      </a:r>
                      <a:r>
                        <a:rPr lang="ru-RU" sz="900" b="0" kern="1200" noProof="0" dirty="0" err="1">
                          <a:solidFill>
                            <a:schemeClr val="tx1"/>
                          </a:solidFill>
                          <a:latin typeface="+mn-lt"/>
                          <a:ea typeface="+mn-ea"/>
                          <a:cs typeface="Arial" panose="020B0604020202020204" pitchFamily="34" charset="0"/>
                        </a:rPr>
                        <a:t>ишчиси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29916">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(ШАЙМАРДАНОВА) ОРИПОВА Тўти</a:t>
                      </a:r>
                    </a:p>
                    <a:p>
                      <a:pPr algn="l">
                        <a:lnSpc>
                          <a:spcPct val="85000"/>
                        </a:lnSpc>
                      </a:pPr>
                      <a:r>
                        <a:rPr lang="uz-Cyrl-UZ" sz="900" b="0" kern="1200" noProof="0" dirty="0">
                          <a:solidFill>
                            <a:schemeClr val="tx1"/>
                          </a:solidFill>
                          <a:latin typeface="+mn-lt"/>
                          <a:ea typeface="+mn-ea"/>
                          <a:cs typeface="Arial" panose="020B0604020202020204" pitchFamily="34" charset="0"/>
                        </a:rPr>
                        <a:t>1925 йил, Бойсун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2011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(Колхоз </a:t>
                      </a:r>
                      <a:r>
                        <a:rPr lang="ru-RU" sz="900" b="0" kern="1200" noProof="0" dirty="0" err="1">
                          <a:solidFill>
                            <a:schemeClr val="tx1"/>
                          </a:solidFill>
                          <a:latin typeface="+mn-lt"/>
                          <a:ea typeface="+mn-ea"/>
                          <a:cs typeface="Arial" panose="020B0604020202020204" pitchFamily="34" charset="0"/>
                        </a:rPr>
                        <a:t>ишчиси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47831">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РЎЗИ-АХУНОВА Муборак Тургуновна</a:t>
                      </a:r>
                    </a:p>
                    <a:p>
                      <a:pPr algn="l">
                        <a:lnSpc>
                          <a:spcPct val="85000"/>
                        </a:lnSpc>
                      </a:pPr>
                      <a:r>
                        <a:rPr lang="uz-Cyrl-UZ" sz="900" b="0" kern="1200" noProof="0" dirty="0">
                          <a:solidFill>
                            <a:schemeClr val="tx1"/>
                          </a:solidFill>
                          <a:latin typeface="+mn-lt"/>
                          <a:ea typeface="+mn-ea"/>
                          <a:cs typeface="Arial" panose="020B0604020202020204" pitchFamily="34" charset="0"/>
                        </a:rPr>
                        <a:t>1957 йил, Сирдарё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err="1">
                          <a:solidFill>
                            <a:schemeClr val="tx1"/>
                          </a:solidFill>
                          <a:latin typeface="+mn-lt"/>
                          <a:ea typeface="+mn-ea"/>
                          <a:cs typeface="Arial" panose="020B0604020202020204" pitchFamily="34" charset="0"/>
                        </a:rPr>
                        <a:t>Нафақада</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Тв</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сухандон</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6160">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30038">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1977 </a:t>
                      </a:r>
                      <a:r>
                        <a:rPr lang="ru-RU" sz="900" b="0" kern="1200" noProof="0" dirty="0" err="1">
                          <a:solidFill>
                            <a:schemeClr val="tx1"/>
                          </a:solidFill>
                          <a:latin typeface="+mn-lt"/>
                          <a:ea typeface="+mn-ea"/>
                          <a:cs typeface="+mn-cs"/>
                        </a:rPr>
                        <a:t>й.Тошкент</a:t>
                      </a:r>
                      <a:r>
                        <a:rPr lang="ru-RU" sz="900" b="0" kern="1200" noProof="0" dirty="0">
                          <a:solidFill>
                            <a:schemeClr val="tx1"/>
                          </a:solidFill>
                          <a:latin typeface="+mn-lt"/>
                          <a:ea typeface="+mn-ea"/>
                          <a:cs typeface="+mn-cs"/>
                        </a:rPr>
                        <a:t> театр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рассомчилик</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санъати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2575324793"/>
                  </a:ext>
                </a:extLst>
              </a:tr>
              <a:tr h="269236">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драма ва кино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3581415073"/>
                  </a:ext>
                </a:extLst>
              </a:tr>
              <a:tr h="312001">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1062673456"/>
                  </a:ext>
                </a:extLst>
              </a:tr>
              <a:tr h="312001">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1498889981"/>
                  </a:ext>
                </a:extLst>
              </a:tr>
              <a:tr h="425557">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703"/>
          <a:ext cx="3172841" cy="5829219"/>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2880">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34017">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0" kern="1200" noProof="0" dirty="0">
                          <a:solidFill>
                            <a:schemeClr val="tx1"/>
                          </a:solidFill>
                          <a:latin typeface="+mn-lt"/>
                          <a:ea typeface="+mn-ea"/>
                          <a:cs typeface="+mn-cs"/>
                        </a:rPr>
                        <a:t>Сурхондарё вилояти мусиқали драма театри етакчи саҳна устаси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3311">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666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44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1110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a:effectLst/>
                          <a:latin typeface="+mn-lt"/>
                          <a:ea typeface="Calibri" panose="020F0502020204030204" pitchFamily="34" charset="0"/>
                          <a:cs typeface="Times New Roman" panose="02020603050405020304" pitchFamily="18" charset="0"/>
                        </a:rPr>
                        <a:t>7 йи</a:t>
                      </a:r>
                      <a:r>
                        <a:rPr lang="uz-Cyrl-UZ" sz="900" b="0" noProof="0" dirty="0">
                          <a:effectLst/>
                          <a:latin typeface="+mn-lt"/>
                          <a:ea typeface="Calibri" panose="020F0502020204030204" pitchFamily="34" charset="0"/>
                          <a:cs typeface="Times New Roman" panose="02020603050405020304" pitchFamily="18" charset="0"/>
                        </a:rPr>
                        <a:t>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35048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kern="1200" noProof="0" dirty="0">
                          <a:solidFill>
                            <a:schemeClr val="tx1"/>
                          </a:solidFill>
                          <a:latin typeface="+mn-lt"/>
                          <a:ea typeface="+mn-ea"/>
                          <a:cs typeface="+mn-cs"/>
                        </a:rPr>
                        <a:t>Сурхондарё вилояти мусиқали драма театри директори</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4148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89282">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4247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82295">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422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91010">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ru-RU" sz="900" noProof="0" dirty="0">
                          <a:effectLst/>
                          <a:latin typeface="+mn-lt"/>
                          <a:ea typeface="Calibri" panose="020F0502020204030204" pitchFamily="34" charset="0"/>
                          <a:cs typeface="Times New Roman" panose="02020603050405020304" pitchFamily="18" charset="0"/>
                        </a:rPr>
                        <a:t>1999 й. “</a:t>
                      </a:r>
                      <a:r>
                        <a:rPr lang="ru-RU" sz="900" noProof="0" dirty="0" err="1">
                          <a:effectLst/>
                          <a:latin typeface="+mn-lt"/>
                          <a:ea typeface="Calibri" panose="020F0502020204030204" pitchFamily="34" charset="0"/>
                          <a:cs typeface="Times New Roman" panose="02020603050405020304" pitchFamily="18" charset="0"/>
                        </a:rPr>
                        <a:t>Ўзбекистонда</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хизмат</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кўрсатган</a:t>
                      </a:r>
                      <a:r>
                        <a:rPr lang="ru-RU" sz="900" noProof="0" dirty="0">
                          <a:effectLst/>
                          <a:latin typeface="+mn-lt"/>
                          <a:ea typeface="Calibri" panose="020F0502020204030204" pitchFamily="34" charset="0"/>
                          <a:cs typeface="Times New Roman" panose="02020603050405020304" pitchFamily="18" charset="0"/>
                        </a:rPr>
                        <a:t> артист” </a:t>
                      </a:r>
                      <a:r>
                        <a:rPr lang="ru-RU" sz="900" noProof="0" dirty="0" err="1">
                          <a:effectLst/>
                          <a:latin typeface="+mn-lt"/>
                          <a:ea typeface="Calibri" panose="020F0502020204030204" pitchFamily="34" charset="0"/>
                          <a:cs typeface="Times New Roman" panose="02020603050405020304" pitchFamily="18" charset="0"/>
                        </a:rPr>
                        <a:t>фахрий</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унвони</a:t>
                      </a:r>
                      <a:endParaRPr lang="ru-RU" sz="900" noProof="0" dirty="0">
                        <a:effectLst/>
                        <a:latin typeface="+mn-lt"/>
                        <a:ea typeface="Calibri" panose="020F0502020204030204" pitchFamily="34" charset="0"/>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ru-RU"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7"/>
          <a:ext cx="2817247" cy="5836231"/>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49086">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1095">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358959">
                <a:tc>
                  <a:txBody>
                    <a:bodyPr/>
                    <a:lstStyle/>
                    <a:p>
                      <a:pPr marL="0" indent="179388" algn="just">
                        <a:lnSpc>
                          <a:spcPct val="85000"/>
                        </a:lnSpc>
                      </a:pPr>
                      <a:r>
                        <a:rPr lang="uz-Cyrl-UZ" sz="900" b="0" noProof="0" dirty="0" smtClean="0">
                          <a:solidFill>
                            <a:schemeClr val="tx1"/>
                          </a:solidFill>
                          <a:latin typeface="+mn-lt"/>
                        </a:rPr>
                        <a:t>Х.Орипов </a:t>
                      </a:r>
                      <a:r>
                        <a:rPr lang="uz-Cyrl-UZ" sz="900" b="0" noProof="0" dirty="0">
                          <a:solidFill>
                            <a:schemeClr val="tx1"/>
                          </a:solidFill>
                          <a:latin typeface="+mn-lt"/>
                        </a:rPr>
                        <a:t>Ўзбекистон Республикаси “Маърифат” тарғиботчилари аъзоси. </a:t>
                      </a:r>
                    </a:p>
                    <a:p>
                      <a:pPr marL="0" indent="179388" algn="just">
                        <a:lnSpc>
                          <a:spcPct val="85000"/>
                        </a:lnSpc>
                      </a:pPr>
                      <a:r>
                        <a:rPr lang="uz-Cyrl-UZ" sz="900" b="0" noProof="0" dirty="0">
                          <a:solidFill>
                            <a:schemeClr val="tx1"/>
                          </a:solidFill>
                          <a:latin typeface="+mn-lt"/>
                        </a:rPr>
                        <a:t>Х.Орипов ўз фаолияти даврида турли жанрлардаги образларни яратиб, иқтидорли актёр сифатида томошабинлар қалбидан жой олди. Шулардан “Алишер Навоий”да-Навоий, “Собир Термизий”да-Термизий, “Алпомишнинг қайтиши”да - Алпомиш, Бойбўри, “Амир Темур ва Йилдирм Боязид” да - Амир Темур, “Сепсиз қиз”да - Паратов, “Қирра бобо қиссаси”да-Асрор, “Ўлдинг азиз бўлдинг”да - Султон, “Муҳаббатим қисматим менинг”да-Норбек, “Кампир топайми, дадажон”да-Ашур, “Шоҳ ва шоир” да - Шоҳ, “Погон таққан одамлар” -Тўраев, “Қайсар чолнинг қилиғи”-Султон, “Қотил юраги”да-Харбий, “Ғариблар”да - Катта ўғил “Чегарчи”да Сардор, “Зиё қалъаси”да - Аҳмад Устурлобий ас-Сағоний ат-Термизий, “Шунқор”да Бошловчи,  “Алломаи замон”да Яёҳ ибн Муоз ар-Розий, Исмоил Сомоний, “Лайли ва Мажнун”да Маҳди, “Тўмарис”да Моен Гул, “Уйдаги гап кўчада...”да Тоҳир, “Тахти сулаймон”да Нажмиддин Кубро каби бир қатор ролларни ижро этган. </a:t>
                      </a:r>
                    </a:p>
                    <a:p>
                      <a:pPr marL="0" indent="179388" algn="just">
                        <a:lnSpc>
                          <a:spcPct val="85000"/>
                        </a:lnSpc>
                      </a:pPr>
                      <a:r>
                        <a:rPr lang="uz-Cyrl-UZ" sz="900" b="0" noProof="0" dirty="0">
                          <a:solidFill>
                            <a:schemeClr val="tx1"/>
                          </a:solidFill>
                          <a:latin typeface="+mn-lt"/>
                        </a:rPr>
                        <a:t> 2021 йилда бўлиб ўтган “Российский берег” Осенняя феерия ОНЛИНЕ” </a:t>
                      </a:r>
                      <a:r>
                        <a:rPr lang="en-US" sz="900" b="0" noProof="0" dirty="0">
                          <a:solidFill>
                            <a:schemeClr val="tx1"/>
                          </a:solidFill>
                          <a:latin typeface="+mn-lt"/>
                        </a:rPr>
                        <a:t>XII </a:t>
                      </a:r>
                      <a:r>
                        <a:rPr lang="uz-Cyrl-UZ" sz="900" b="0" noProof="0" dirty="0">
                          <a:solidFill>
                            <a:schemeClr val="tx1"/>
                          </a:solidFill>
                          <a:latin typeface="+mn-lt"/>
                        </a:rPr>
                        <a:t>Халқаро санъат фестивалида иштирок этган “Муҳаббатим-қисматим менинг” спектакли фестивалнинг </a:t>
                      </a:r>
                      <a:r>
                        <a:rPr lang="en-US" sz="900" b="0" noProof="0" dirty="0">
                          <a:solidFill>
                            <a:schemeClr val="tx1"/>
                          </a:solidFill>
                          <a:latin typeface="+mn-lt"/>
                        </a:rPr>
                        <a:t>II-</a:t>
                      </a:r>
                      <a:r>
                        <a:rPr lang="uz-Cyrl-UZ" sz="900" b="0" noProof="0" dirty="0">
                          <a:solidFill>
                            <a:schemeClr val="tx1"/>
                          </a:solidFill>
                          <a:latin typeface="+mn-lt"/>
                        </a:rPr>
                        <a:t>даражали лауреати бўлди. Х.Орипов образи учун диплом билан тақдирланди.</a:t>
                      </a:r>
                    </a:p>
                    <a:p>
                      <a:pPr marL="0" indent="179388" algn="just">
                        <a:lnSpc>
                          <a:spcPct val="85000"/>
                        </a:lnSpc>
                      </a:pPr>
                      <a:r>
                        <a:rPr lang="uz-Cyrl-UZ" sz="900" b="0" noProof="0" dirty="0">
                          <a:solidFill>
                            <a:schemeClr val="tx1"/>
                          </a:solidFill>
                          <a:latin typeface="+mn-lt"/>
                        </a:rPr>
                        <a:t>Х.Ориповнинг 2022 йилда театр жамоасининг Россия Федерациясининг Новосибирск ва Томск вилоятларига ҳамда Тожикистон Республикасининг Душанбе шаҳарларидаги гастрол сафарида “Муҳаббатим-қисматим менинг” спектаклидаги Норбек образи томошабинлар олқиш ва эътирофларига сазовор бўлди. </a:t>
                      </a:r>
                    </a:p>
                    <a:p>
                      <a:pPr algn="just">
                        <a:lnSpc>
                          <a:spcPct val="85000"/>
                        </a:lnSpc>
                      </a:pP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4754">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731742">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a:effectLst/>
                          <a:latin typeface="+mn-lt"/>
                          <a:ea typeface="Calibri" panose="020F0502020204030204" pitchFamily="34" charset="0"/>
                          <a:cs typeface="Times New Roman" panose="02020603050405020304" pitchFamily="18" charset="0"/>
                        </a:rPr>
                        <a:t>Вилоятда</a:t>
                      </a:r>
                      <a:r>
                        <a:rPr lang="uz-Cyrl-UZ" sz="900" b="0" baseline="0" dirty="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r>
                        <a:rPr lang="uz-Cyrl-UZ" sz="800" b="0" baseline="0" dirty="0">
                          <a:effectLst/>
                          <a:latin typeface="+mn-lt"/>
                          <a:ea typeface="Calibri" panose="020F0502020204030204" pitchFamily="34" charset="0"/>
                          <a:cs typeface="Times New Roman" panose="02020603050405020304" pitchFamily="18" charset="0"/>
                        </a:rPr>
                        <a:t>.</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descr="Новый рисунок (6)">
            <a:extLst>
              <a:ext uri="{FF2B5EF4-FFF2-40B4-BE49-F238E27FC236}">
                <a16:creationId xmlns:a16="http://schemas.microsoft.com/office/drawing/2014/main" id="{48CF431F-9067-1FBE-5FEB-218BAF48D742}"/>
              </a:ext>
            </a:extLst>
          </p:cNvPr>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6226" y="1170774"/>
            <a:ext cx="785620" cy="1047493"/>
          </a:xfrm>
          <a:prstGeom prst="rect">
            <a:avLst/>
          </a:prstGeom>
          <a:noFill/>
          <a:ln>
            <a:noFill/>
          </a:ln>
        </p:spPr>
      </p:pic>
    </p:spTree>
    <p:extLst>
      <p:ext uri="{BB962C8B-B14F-4D97-AF65-F5344CB8AC3E}">
        <p14:creationId xmlns:p14="http://schemas.microsoft.com/office/powerpoint/2010/main" val="401739346"/>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3"/>
          <a:ext cx="3427547" cy="5913721"/>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5029">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1556">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ЧОРИЕВ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155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Чоршанби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155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ХХХ</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1556">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155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28.03.1952</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1556">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err="1">
                          <a:solidFill>
                            <a:schemeClr val="tx1"/>
                          </a:solidFill>
                          <a:latin typeface="+mn-lt"/>
                          <a:ea typeface="+mn-ea"/>
                          <a:cs typeface="+mn-cs"/>
                        </a:rPr>
                        <a:t>Бойсун</a:t>
                      </a:r>
                      <a:r>
                        <a:rPr lang="ru-RU" sz="800" b="0" kern="1200" dirty="0">
                          <a:solidFill>
                            <a:schemeClr val="tx1"/>
                          </a:solidFill>
                          <a:latin typeface="+mn-lt"/>
                          <a:ea typeface="+mn-ea"/>
                          <a:cs typeface="+mn-cs"/>
                        </a:rPr>
                        <a:t> </a:t>
                      </a:r>
                      <a:r>
                        <a:rPr lang="ru-RU" sz="800" b="0" kern="1200" dirty="0" err="1">
                          <a:solidFill>
                            <a:schemeClr val="tx1"/>
                          </a:solidFill>
                          <a:latin typeface="+mn-lt"/>
                          <a:ea typeface="+mn-ea"/>
                          <a:cs typeface="+mn-cs"/>
                        </a:rPr>
                        <a:t>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2524">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98265">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2 нафар ўғил ва 3 қиз фарзанди бор, ҳозирда Сурхондарё вилояти мусиқали драма театри актёри</a:t>
                      </a:r>
                    </a:p>
                  </a:txBody>
                  <a:tcPr marL="74295" marR="74295" marT="37148" marB="37148" anchor="ctr">
                    <a:lnL>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no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2524">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378985">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ЖЎРАЕВ Чори</a:t>
                      </a:r>
                    </a:p>
                    <a:p>
                      <a:pPr algn="l">
                        <a:lnSpc>
                          <a:spcPct val="85000"/>
                        </a:lnSpc>
                      </a:pPr>
                      <a:r>
                        <a:rPr lang="uz-Cyrl-UZ" sz="900" b="0" kern="1200" noProof="0" dirty="0">
                          <a:solidFill>
                            <a:schemeClr val="tx1"/>
                          </a:solidFill>
                          <a:latin typeface="+mn-lt"/>
                          <a:ea typeface="+mn-ea"/>
                          <a:cs typeface="Arial" panose="020B0604020202020204" pitchFamily="34" charset="0"/>
                        </a:rPr>
                        <a:t>1905 йил, Бойсун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1991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(Колхоз </a:t>
                      </a:r>
                      <a:r>
                        <a:rPr lang="ru-RU" sz="900" b="0" kern="1200" noProof="0" dirty="0" err="1">
                          <a:solidFill>
                            <a:schemeClr val="tx1"/>
                          </a:solidFill>
                          <a:latin typeface="+mn-lt"/>
                          <a:ea typeface="+mn-ea"/>
                          <a:cs typeface="Arial" panose="020B0604020202020204" pitchFamily="34" charset="0"/>
                        </a:rPr>
                        <a:t>ишчиси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5998">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САРИЕВА Турсунов</a:t>
                      </a:r>
                    </a:p>
                    <a:p>
                      <a:pPr algn="l">
                        <a:lnSpc>
                          <a:spcPct val="85000"/>
                        </a:lnSpc>
                      </a:pPr>
                      <a:r>
                        <a:rPr lang="uz-Cyrl-UZ" sz="900" b="0" kern="1200" noProof="0" dirty="0">
                          <a:solidFill>
                            <a:schemeClr val="tx1"/>
                          </a:solidFill>
                          <a:latin typeface="+mn-lt"/>
                          <a:ea typeface="+mn-ea"/>
                          <a:cs typeface="Arial" panose="020B0604020202020204" pitchFamily="34" charset="0"/>
                        </a:rPr>
                        <a:t>1924 йил, Бойсун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2002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(уй </a:t>
                      </a:r>
                      <a:r>
                        <a:rPr lang="ru-RU" sz="900" b="0" kern="1200" noProof="0" dirty="0" err="1">
                          <a:solidFill>
                            <a:schemeClr val="tx1"/>
                          </a:solidFill>
                          <a:latin typeface="+mn-lt"/>
                          <a:ea typeface="+mn-ea"/>
                          <a:cs typeface="Arial" panose="020B0604020202020204" pitchFamily="34" charset="0"/>
                        </a:rPr>
                        <a:t>бекаси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55581">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АБДУРАХМОНОВА Мухаббат</a:t>
                      </a:r>
                    </a:p>
                    <a:p>
                      <a:pPr algn="l">
                        <a:lnSpc>
                          <a:spcPct val="85000"/>
                        </a:lnSpc>
                      </a:pPr>
                      <a:r>
                        <a:rPr lang="uz-Cyrl-UZ" sz="900" b="0" kern="1200" noProof="0" dirty="0">
                          <a:solidFill>
                            <a:schemeClr val="tx1"/>
                          </a:solidFill>
                          <a:latin typeface="+mn-lt"/>
                          <a:ea typeface="+mn-ea"/>
                          <a:cs typeface="Arial" panose="020B0604020202020204" pitchFamily="34" charset="0"/>
                        </a:rPr>
                        <a:t>1958 йил, Бойсун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2011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(Колхоз </a:t>
                      </a:r>
                      <a:r>
                        <a:rPr lang="ru-RU" sz="900" b="0" kern="1200" noProof="0" dirty="0" err="1">
                          <a:solidFill>
                            <a:schemeClr val="tx1"/>
                          </a:solidFill>
                          <a:latin typeface="+mn-lt"/>
                          <a:ea typeface="+mn-ea"/>
                          <a:cs typeface="Arial" panose="020B0604020202020204" pitchFamily="34" charset="0"/>
                        </a:rPr>
                        <a:t>ишчиси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9076">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38951">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1978 </a:t>
                      </a:r>
                      <a:r>
                        <a:rPr lang="ru-RU" sz="900" b="0" kern="1200" noProof="0" dirty="0" err="1">
                          <a:solidFill>
                            <a:schemeClr val="tx1"/>
                          </a:solidFill>
                          <a:latin typeface="+mn-lt"/>
                          <a:ea typeface="+mn-ea"/>
                          <a:cs typeface="+mn-cs"/>
                        </a:rPr>
                        <a:t>й.Тошкент</a:t>
                      </a:r>
                      <a:r>
                        <a:rPr lang="ru-RU" sz="900" b="0" kern="1200" noProof="0" dirty="0">
                          <a:solidFill>
                            <a:schemeClr val="tx1"/>
                          </a:solidFill>
                          <a:latin typeface="+mn-lt"/>
                          <a:ea typeface="+mn-ea"/>
                          <a:cs typeface="+mn-cs"/>
                        </a:rPr>
                        <a:t> театр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рассомчилик</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санъати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2575324793"/>
                  </a:ext>
                </a:extLst>
              </a:tr>
              <a:tr h="273045">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мусиқали</a:t>
                      </a:r>
                      <a:r>
                        <a:rPr lang="ru-RU" sz="900" b="0" kern="1200" noProof="0" dirty="0">
                          <a:solidFill>
                            <a:schemeClr val="tx1"/>
                          </a:solidFill>
                          <a:latin typeface="+mn-lt"/>
                          <a:ea typeface="+mn-ea"/>
                          <a:cs typeface="+mn-cs"/>
                        </a:rPr>
                        <a:t> драма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комедия </a:t>
                      </a:r>
                      <a:r>
                        <a:rPr lang="ru-RU" sz="900" b="0" kern="1200" noProof="0" dirty="0" err="1">
                          <a:solidFill>
                            <a:schemeClr val="tx1"/>
                          </a:solidFill>
                          <a:latin typeface="+mn-lt"/>
                          <a:ea typeface="+mn-ea"/>
                          <a:cs typeface="+mn-cs"/>
                        </a:rPr>
                        <a:t>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3581415073"/>
                  </a:ext>
                </a:extLst>
              </a:tr>
              <a:tr h="316415">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1062673456"/>
                  </a:ext>
                </a:extLst>
              </a:tr>
              <a:tr h="316415">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1498889981"/>
                  </a:ext>
                </a:extLst>
              </a:tr>
              <a:tr h="431577">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701"/>
          <a:ext cx="3172841" cy="5913722"/>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7816">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41487">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0" kern="1200" noProof="0" dirty="0">
                          <a:solidFill>
                            <a:schemeClr val="tx1"/>
                          </a:solidFill>
                          <a:latin typeface="+mn-lt"/>
                          <a:ea typeface="+mn-ea"/>
                          <a:cs typeface="+mn-cs"/>
                        </a:rPr>
                        <a:t>Сурхондарё вилояти мусиқали драма театри етакчи саҳна устаси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6994">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983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57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1701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35538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kern="1200" noProof="0">
                          <a:solidFill>
                            <a:schemeClr val="tx1"/>
                          </a:solidFill>
                          <a:latin typeface="+mn-lt"/>
                          <a:ea typeface="+mn-ea"/>
                          <a:cs typeface="+mn-cs"/>
                        </a:rPr>
                        <a:t>-</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46259">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9472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4726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87643">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7636">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221658">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ru-RU" sz="900" noProof="0" dirty="0">
                          <a:effectLst/>
                          <a:latin typeface="+mn-lt"/>
                          <a:ea typeface="Calibri" panose="020F0502020204030204" pitchFamily="34" charset="0"/>
                          <a:cs typeface="Times New Roman" panose="02020603050405020304" pitchFamily="18" charset="0"/>
                        </a:rPr>
                        <a:t>2006 й. “</a:t>
                      </a:r>
                      <a:r>
                        <a:rPr lang="ru-RU" sz="900" noProof="0" dirty="0" err="1">
                          <a:effectLst/>
                          <a:latin typeface="+mn-lt"/>
                          <a:ea typeface="Calibri" panose="020F0502020204030204" pitchFamily="34" charset="0"/>
                          <a:cs typeface="Times New Roman" panose="02020603050405020304" pitchFamily="18" charset="0"/>
                        </a:rPr>
                        <a:t>Ўзбекистонда</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хизмат</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кўрсатган</a:t>
                      </a:r>
                      <a:r>
                        <a:rPr lang="ru-RU" sz="900" noProof="0" dirty="0">
                          <a:effectLst/>
                          <a:latin typeface="+mn-lt"/>
                          <a:ea typeface="Calibri" panose="020F0502020204030204" pitchFamily="34" charset="0"/>
                          <a:cs typeface="Times New Roman" panose="02020603050405020304" pitchFamily="18" charset="0"/>
                        </a:rPr>
                        <a:t> артист” </a:t>
                      </a:r>
                      <a:r>
                        <a:rPr lang="ru-RU" sz="900" noProof="0" dirty="0" err="1">
                          <a:effectLst/>
                          <a:latin typeface="+mn-lt"/>
                          <a:ea typeface="Calibri" panose="020F0502020204030204" pitchFamily="34" charset="0"/>
                          <a:cs typeface="Times New Roman" panose="02020603050405020304" pitchFamily="18" charset="0"/>
                        </a:rPr>
                        <a:t>фахрий</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smtClean="0">
                          <a:effectLst/>
                          <a:latin typeface="+mn-lt"/>
                          <a:ea typeface="Calibri" panose="020F0502020204030204" pitchFamily="34" charset="0"/>
                          <a:cs typeface="Times New Roman" panose="02020603050405020304" pitchFamily="18" charset="0"/>
                        </a:rPr>
                        <a:t>унвони</a:t>
                      </a:r>
                      <a:endParaRPr lang="ru-RU"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7"/>
          <a:ext cx="2817247" cy="5921203"/>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33688">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7554">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426900">
                <a:tc>
                  <a:txBody>
                    <a:bodyPr/>
                    <a:lstStyle/>
                    <a:p>
                      <a:pPr marL="0" indent="179388" algn="just">
                        <a:lnSpc>
                          <a:spcPct val="85000"/>
                        </a:lnSpc>
                      </a:pPr>
                      <a:r>
                        <a:rPr lang="uz-Cyrl-UZ" sz="900" b="0" noProof="0" dirty="0" smtClean="0">
                          <a:solidFill>
                            <a:schemeClr val="tx1"/>
                          </a:solidFill>
                          <a:latin typeface="+mn-lt"/>
                        </a:rPr>
                        <a:t>Ч.Чориев </a:t>
                      </a:r>
                      <a:r>
                        <a:rPr lang="uz-Cyrl-UZ" sz="900" b="0" noProof="0" dirty="0">
                          <a:solidFill>
                            <a:schemeClr val="tx1"/>
                          </a:solidFill>
                          <a:latin typeface="+mn-lt"/>
                        </a:rPr>
                        <a:t>мусиқали саҳна асарларининг моҳир ижрочиси, устоз санъаткор. У овоз диапозони, актёрлик маҳоратининг юксаклиги боис кўплаб мусиқали  драмаларида бош ролларни бетакрор ижро этган. Хусусан унинг “Адиб Собир Тремизий”да Хоразм шоҳ, “Нурхон”да Ҳайдар, “Ватан ишқи”да Олимжон, “Гулсара”да Қодиржон, “Аршин мол олон”да Аскар, “Алишер Навоий”да Мажиддин, “Кампир топайми, дадажон”да Жума бобо, “Алпомиш”да Қоражон, “Қайсар чолнинг қилиғи”да Маҳалла раиси, “Муҳаббатим қисматим”да Мўмин, “Бир қадам йўл”да Жўра, “Судхўрнинг пари қизи”да Чол, “Давлат болалари”да Бутур, “Шох ва шоир”да Саид Барака, “Оқ ёмғир”да Ҳожаи Ориф Ревгарий, “Алла”да Икром, “Амир Темур ва Йилдирим Боязид”да Шайх Нуриддин, “Қўнғироқлар садоси”да Бек, “Қирра бобо қиссаси”да Чори, “Алла”да Сафар “Она”да Шоир, “Шоҳ ва шоир”да Ҳазрат, “Алпомишнинг қайтиши”да Ултонтоз, “Зиё қалъаси”да Халифа, “Лайли ва Мажнун”да Омир, “Ўлдинг, азаз бўлдинг”да Раис,  “Алломаи замон”да Вазир, “Адолат фасли”да Саид Барака, “Қуршов”да Бобо, “Момо ер”да Оқсоқол, “Тўмарис”да Гўйлихон, “Тахти сулаймон”да Шахобиддин Хевақий каби 50 дан ортиқ турли жанрдаги образларни бетакрор маҳорат билан ижро этиб, мутахасислар ва томошабинлар эътиборини қозониб келмоқда. </a:t>
                      </a:r>
                    </a:p>
                    <a:p>
                      <a:pPr marL="0" indent="179388" algn="just">
                        <a:lnSpc>
                          <a:spcPct val="85000"/>
                        </a:lnSpc>
                      </a:pPr>
                      <a:r>
                        <a:rPr lang="uz-Cyrl-UZ" sz="900" b="0" noProof="0" dirty="0">
                          <a:solidFill>
                            <a:schemeClr val="tx1"/>
                          </a:solidFill>
                          <a:latin typeface="+mn-lt"/>
                        </a:rPr>
                        <a:t>Ч.Чориев миллий маданиятимиз ва санъатимизни тағиб қилишдаги хизматлари ҳам таҳсинга сазовор. 2007 йил Тожикистон Республикаси Душанбе шаҳрида бўлиб ўтган “Наврўз-2007” халқаро Академик театрлар фестивалида, 2008 йил октябр ойида Қоҳира шаҳрида бўлиб ўтган Халқаро эксприментал театрлар фестивалида ва 2010 йил Қозоғистон Республикаси Олмота шаҳрида бўлиб ўтган Халқаро театр фестивалларидаги иштироки, томошабинлар, экспертлар ва театршуносларнинг олқишлари, эътирофларига сазовор бўлган. </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0986">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86507">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a:effectLst/>
                          <a:latin typeface="+mn-lt"/>
                          <a:ea typeface="Calibri" panose="020F0502020204030204" pitchFamily="34" charset="0"/>
                          <a:cs typeface="Times New Roman" panose="02020603050405020304" pitchFamily="18" charset="0"/>
                        </a:rPr>
                        <a:t>Вилоятда</a:t>
                      </a:r>
                      <a:r>
                        <a:rPr lang="uz-Cyrl-UZ" sz="900" b="0" baseline="0" dirty="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r>
                        <a:rPr lang="uz-Cyrl-UZ" sz="800" b="0" baseline="0" dirty="0">
                          <a:effectLst/>
                          <a:latin typeface="+mn-lt"/>
                          <a:ea typeface="Calibri" panose="020F0502020204030204" pitchFamily="34" charset="0"/>
                          <a:cs typeface="Times New Roman" panose="02020603050405020304" pitchFamily="18" charset="0"/>
                        </a:rPr>
                        <a:t>.</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descr="485A2860">
            <a:extLst>
              <a:ext uri="{FF2B5EF4-FFF2-40B4-BE49-F238E27FC236}">
                <a16:creationId xmlns:a16="http://schemas.microsoft.com/office/drawing/2014/main" id="{19F110D8-AE77-03E3-BE5E-8AC06FF271F4}"/>
              </a:ext>
            </a:extLst>
          </p:cNvPr>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9103" y="1125700"/>
            <a:ext cx="813418" cy="1086957"/>
          </a:xfrm>
          <a:prstGeom prst="rect">
            <a:avLst/>
          </a:prstGeom>
          <a:noFill/>
          <a:ln>
            <a:noFill/>
          </a:ln>
        </p:spPr>
      </p:pic>
    </p:spTree>
    <p:extLst>
      <p:ext uri="{BB962C8B-B14F-4D97-AF65-F5344CB8AC3E}">
        <p14:creationId xmlns:p14="http://schemas.microsoft.com/office/powerpoint/2010/main" val="1587423146"/>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3"/>
          <a:ext cx="3427547" cy="5861534"/>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989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5361">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МИРКУРБАНОВ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536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Юлдаш</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536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Миркурбанович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5361">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536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a:solidFill>
                            <a:schemeClr val="tx1"/>
                          </a:solidFill>
                          <a:latin typeface="+mn-lt"/>
                          <a:ea typeface="+mn-ea"/>
                          <a:cs typeface="+mn-cs"/>
                        </a:rPr>
                        <a:t>15.06.1948</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30728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err="1">
                          <a:solidFill>
                            <a:schemeClr val="tx1"/>
                          </a:solidFill>
                          <a:latin typeface="+mn-lt"/>
                          <a:ea typeface="+mn-ea"/>
                          <a:cs typeface="+mn-cs"/>
                        </a:rPr>
                        <a:t>Тошкент</a:t>
                      </a:r>
                      <a:r>
                        <a:rPr lang="ru-RU" sz="800" b="0" kern="1200" dirty="0">
                          <a:solidFill>
                            <a:schemeClr val="tx1"/>
                          </a:solidFill>
                          <a:latin typeface="+mn-lt"/>
                          <a:ea typeface="+mn-ea"/>
                          <a:cs typeface="+mn-cs"/>
                        </a:rPr>
                        <a:t> </a:t>
                      </a:r>
                      <a:r>
                        <a:rPr lang="ru-RU" sz="800" b="0" kern="1200" dirty="0" err="1">
                          <a:solidFill>
                            <a:schemeClr val="tx1"/>
                          </a:solidFill>
                          <a:latin typeface="+mn-lt"/>
                          <a:ea typeface="+mn-ea"/>
                          <a:cs typeface="+mn-cs"/>
                        </a:rPr>
                        <a:t>вилояти</a:t>
                      </a:r>
                      <a:r>
                        <a:rPr lang="ru-RU" sz="800" b="0" kern="1200" dirty="0">
                          <a:solidFill>
                            <a:schemeClr val="tx1"/>
                          </a:solidFill>
                          <a:latin typeface="+mn-lt"/>
                          <a:ea typeface="+mn-ea"/>
                          <a:cs typeface="+mn-cs"/>
                        </a:rPr>
                        <a:t>, </a:t>
                      </a:r>
                    </a:p>
                    <a:p>
                      <a:pPr algn="l">
                        <a:lnSpc>
                          <a:spcPct val="90000"/>
                        </a:lnSpc>
                      </a:pPr>
                      <a:r>
                        <a:rPr lang="ru-RU" sz="800" b="0" kern="1200" dirty="0" err="1">
                          <a:solidFill>
                            <a:schemeClr val="tx1"/>
                          </a:solidFill>
                          <a:latin typeface="+mn-lt"/>
                          <a:ea typeface="+mn-ea"/>
                          <a:cs typeface="+mn-cs"/>
                        </a:rPr>
                        <a:t>Юқори</a:t>
                      </a:r>
                      <a:r>
                        <a:rPr lang="ru-RU" sz="800" b="0" kern="1200" dirty="0">
                          <a:solidFill>
                            <a:schemeClr val="tx1"/>
                          </a:solidFill>
                          <a:latin typeface="+mn-lt"/>
                          <a:ea typeface="+mn-ea"/>
                          <a:cs typeface="+mn-cs"/>
                        </a:rPr>
                        <a:t> </a:t>
                      </a:r>
                      <a:r>
                        <a:rPr lang="ru-RU" sz="800" b="0" kern="1200" dirty="0" err="1">
                          <a:solidFill>
                            <a:schemeClr val="tx1"/>
                          </a:solidFill>
                          <a:latin typeface="+mn-lt"/>
                          <a:ea typeface="+mn-ea"/>
                          <a:cs typeface="+mn-cs"/>
                        </a:rPr>
                        <a:t>Чирчиқ</a:t>
                      </a:r>
                      <a:r>
                        <a:rPr lang="ru-RU" sz="800" b="0" kern="1200" dirty="0">
                          <a:solidFill>
                            <a:schemeClr val="tx1"/>
                          </a:solidFill>
                          <a:latin typeface="+mn-lt"/>
                          <a:ea typeface="+mn-ea"/>
                          <a:cs typeface="+mn-cs"/>
                        </a:rPr>
                        <a:t> </a:t>
                      </a:r>
                      <a:r>
                        <a:rPr lang="ru-RU" sz="800" b="0" kern="1200" dirty="0" err="1">
                          <a:solidFill>
                            <a:schemeClr val="tx1"/>
                          </a:solidFill>
                          <a:latin typeface="+mn-lt"/>
                          <a:ea typeface="+mn-ea"/>
                          <a:cs typeface="+mn-cs"/>
                        </a:rPr>
                        <a:t>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7143">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508161">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1 нафар ўғил фарзанди бор, ҳозирда Сурхондарё вилояти мусиқали драма театри актёри</a:t>
                      </a:r>
                    </a:p>
                  </a:txBody>
                  <a:tcPr marL="74295" marR="74295" marT="37148" marB="37148" anchor="ctr">
                    <a:lnL>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no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7143">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322699">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МИРМУСАЕВ Мирқурбон</a:t>
                      </a:r>
                    </a:p>
                    <a:p>
                      <a:pPr algn="l">
                        <a:lnSpc>
                          <a:spcPct val="85000"/>
                        </a:lnSpc>
                      </a:pPr>
                      <a:r>
                        <a:rPr lang="uz-Cyrl-UZ" sz="900" b="0" kern="1200" noProof="0" dirty="0">
                          <a:solidFill>
                            <a:schemeClr val="tx1"/>
                          </a:solidFill>
                          <a:latin typeface="+mn-lt"/>
                          <a:ea typeface="+mn-ea"/>
                          <a:cs typeface="Arial" panose="020B0604020202020204" pitchFamily="34" charset="0"/>
                        </a:rPr>
                        <a:t>1878 йил, Чирчик тумани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1956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(Колхоз </a:t>
                      </a:r>
                      <a:r>
                        <a:rPr lang="ru-RU" sz="900" b="0" kern="1200" noProof="0" dirty="0" err="1">
                          <a:solidFill>
                            <a:schemeClr val="tx1"/>
                          </a:solidFill>
                          <a:latin typeface="+mn-lt"/>
                          <a:ea typeface="+mn-ea"/>
                          <a:cs typeface="Arial" panose="020B0604020202020204" pitchFamily="34" charset="0"/>
                        </a:rPr>
                        <a:t>ишчиси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44658">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ҚОЗОҚБОЕВА Зиёда</a:t>
                      </a:r>
                    </a:p>
                    <a:p>
                      <a:pPr algn="l">
                        <a:lnSpc>
                          <a:spcPct val="85000"/>
                        </a:lnSpc>
                      </a:pPr>
                      <a:r>
                        <a:rPr lang="uz-Cyrl-UZ" sz="900" b="0" kern="1200" noProof="0" dirty="0">
                          <a:solidFill>
                            <a:schemeClr val="tx1"/>
                          </a:solidFill>
                          <a:latin typeface="+mn-lt"/>
                          <a:ea typeface="+mn-ea"/>
                          <a:cs typeface="Arial" panose="020B0604020202020204" pitchFamily="34" charset="0"/>
                        </a:rPr>
                        <a:t>1900 йил, Қозоғистон республикаси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1994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(Колхоз </a:t>
                      </a:r>
                      <a:r>
                        <a:rPr lang="ru-RU" sz="900" b="0" kern="1200" noProof="0" dirty="0" err="1">
                          <a:solidFill>
                            <a:schemeClr val="tx1"/>
                          </a:solidFill>
                          <a:latin typeface="+mn-lt"/>
                          <a:ea typeface="+mn-ea"/>
                          <a:cs typeface="Arial" panose="020B0604020202020204" pitchFamily="34" charset="0"/>
                        </a:rPr>
                        <a:t>ишчиси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81053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(САКУРОВА) МИРҚУРБОНОВА Светлана Мусарибиевна</a:t>
                      </a:r>
                    </a:p>
                    <a:p>
                      <a:pPr algn="l">
                        <a:lnSpc>
                          <a:spcPct val="85000"/>
                        </a:lnSpc>
                      </a:pPr>
                      <a:r>
                        <a:rPr lang="uz-Cyrl-UZ" sz="900" b="0" kern="1200" noProof="0" dirty="0">
                          <a:solidFill>
                            <a:schemeClr val="tx1"/>
                          </a:solidFill>
                          <a:latin typeface="+mn-lt"/>
                          <a:ea typeface="+mn-ea"/>
                          <a:cs typeface="Arial" panose="020B0604020202020204" pitchFamily="34" charset="0"/>
                        </a:rPr>
                        <a:t>1953 йил, Россия федерацияси, </a:t>
                      </a:r>
                    </a:p>
                    <a:p>
                      <a:pPr algn="l">
                        <a:lnSpc>
                          <a:spcPct val="85000"/>
                        </a:lnSpc>
                      </a:pPr>
                      <a:r>
                        <a:rPr lang="uz-Cyrl-UZ" sz="900" b="0" kern="1200" noProof="0" dirty="0">
                          <a:solidFill>
                            <a:schemeClr val="tx1"/>
                          </a:solidFill>
                          <a:latin typeface="+mn-lt"/>
                          <a:ea typeface="+mn-ea"/>
                          <a:cs typeface="Arial" panose="020B0604020202020204" pitchFamily="34" charset="0"/>
                        </a:rPr>
                        <a:t>Нальчик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a:solidFill>
                            <a:schemeClr val="tx1"/>
                          </a:solidFill>
                          <a:latin typeface="+mn-lt"/>
                          <a:ea typeface="+mn-ea"/>
                          <a:cs typeface="Arial" panose="020B0604020202020204" pitchFamily="34" charset="0"/>
                        </a:rPr>
                        <a:t>Нафақада</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Ўқитувчи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322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364681">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1975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театр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рассомчилик</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санъати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2575324793"/>
                  </a:ext>
                </a:extLst>
              </a:tr>
              <a:tr h="221200">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драма ва кино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3581415073"/>
                  </a:ext>
                </a:extLst>
              </a:tr>
              <a:tr h="322699">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1062673456"/>
                  </a:ext>
                </a:extLst>
              </a:tr>
              <a:tr h="322699">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1498889981"/>
                  </a:ext>
                </a:extLst>
              </a:tr>
              <a:tr h="322699">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no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703"/>
          <a:ext cx="3172841" cy="5861536"/>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54836">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536978">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0" kern="1200" noProof="0" dirty="0">
                          <a:solidFill>
                            <a:schemeClr val="tx1"/>
                          </a:solidFill>
                          <a:latin typeface="+mn-lt"/>
                          <a:ea typeface="+mn-ea"/>
                          <a:cs typeface="+mn-cs"/>
                        </a:rPr>
                        <a:t>Сурхондарё вилояти мусиқали драма театри етакчи саҳна устаси</a:t>
                      </a: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64771">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792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59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1227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35242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43375">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91440">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44372">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38441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45574">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203157">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ru-RU" sz="900" noProof="0" dirty="0">
                          <a:effectLst/>
                          <a:latin typeface="+mn-lt"/>
                          <a:ea typeface="Calibri" panose="020F0502020204030204" pitchFamily="34" charset="0"/>
                          <a:cs typeface="Times New Roman" panose="02020603050405020304" pitchFamily="18" charset="0"/>
                        </a:rPr>
                        <a:t>2001 й. “</a:t>
                      </a:r>
                      <a:r>
                        <a:rPr lang="ru-RU" sz="900" noProof="0" dirty="0" err="1">
                          <a:effectLst/>
                          <a:latin typeface="+mn-lt"/>
                          <a:ea typeface="Calibri" panose="020F0502020204030204" pitchFamily="34" charset="0"/>
                          <a:cs typeface="Times New Roman" panose="02020603050405020304" pitchFamily="18" charset="0"/>
                        </a:rPr>
                        <a:t>Ўзбекистонда</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хизмат</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кўрсатган</a:t>
                      </a:r>
                      <a:r>
                        <a:rPr lang="ru-RU" sz="900" noProof="0" dirty="0">
                          <a:effectLst/>
                          <a:latin typeface="+mn-lt"/>
                          <a:ea typeface="Calibri" panose="020F0502020204030204" pitchFamily="34" charset="0"/>
                          <a:cs typeface="Times New Roman" panose="02020603050405020304" pitchFamily="18" charset="0"/>
                        </a:rPr>
                        <a:t> артист” </a:t>
                      </a:r>
                      <a:r>
                        <a:rPr lang="ru-RU" sz="900" noProof="0" dirty="0" err="1">
                          <a:effectLst/>
                          <a:latin typeface="+mn-lt"/>
                          <a:ea typeface="Calibri" panose="020F0502020204030204" pitchFamily="34" charset="0"/>
                          <a:cs typeface="Times New Roman" panose="02020603050405020304" pitchFamily="18" charset="0"/>
                        </a:rPr>
                        <a:t>фахрий</a:t>
                      </a:r>
                      <a:r>
                        <a:rPr lang="ru-RU" sz="900" noProof="0" dirty="0">
                          <a:effectLst/>
                          <a:latin typeface="+mn-lt"/>
                          <a:ea typeface="Calibri" panose="020F0502020204030204" pitchFamily="34" charset="0"/>
                          <a:cs typeface="Times New Roman" panose="02020603050405020304" pitchFamily="18" charset="0"/>
                        </a:rPr>
                        <a:t> </a:t>
                      </a:r>
                      <a:r>
                        <a:rPr lang="ru-RU" sz="900" noProof="0" dirty="0" err="1">
                          <a:effectLst/>
                          <a:latin typeface="+mn-lt"/>
                          <a:ea typeface="Calibri" panose="020F0502020204030204" pitchFamily="34" charset="0"/>
                          <a:cs typeface="Times New Roman" panose="02020603050405020304" pitchFamily="18" charset="0"/>
                        </a:rPr>
                        <a:t>унвони</a:t>
                      </a:r>
                      <a:endParaRPr lang="ru-RU" sz="900" noProof="0" dirty="0">
                        <a:effectLst/>
                        <a:latin typeface="+mn-lt"/>
                        <a:ea typeface="Calibri" panose="020F0502020204030204" pitchFamily="34" charset="0"/>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ru-RU"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7"/>
          <a:ext cx="2817247" cy="5865250"/>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49086">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31095">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358959">
                <a:tc>
                  <a:txBody>
                    <a:bodyPr/>
                    <a:lstStyle/>
                    <a:p>
                      <a:pPr marL="0" indent="179388" algn="just">
                        <a:lnSpc>
                          <a:spcPct val="85000"/>
                        </a:lnSpc>
                      </a:pPr>
                      <a:r>
                        <a:rPr lang="uz-Cyrl-UZ" sz="900" b="0" noProof="0" dirty="0" smtClean="0">
                          <a:solidFill>
                            <a:schemeClr val="tx1"/>
                          </a:solidFill>
                          <a:latin typeface="+mn-lt"/>
                        </a:rPr>
                        <a:t>Ю.Миркурбанов </a:t>
                      </a:r>
                      <a:r>
                        <a:rPr lang="uz-Cyrl-UZ" sz="900" b="0" noProof="0" dirty="0">
                          <a:solidFill>
                            <a:schemeClr val="tx1"/>
                          </a:solidFill>
                          <a:latin typeface="+mn-lt"/>
                        </a:rPr>
                        <a:t>ижодий жамоа орасида ўзининг юксак маҳорати, бетакрор образлари талқини билан катта обрў эътибор қозонган. У ижодий фаолияти давомида 100 дан ортиқ ранг-баранг образлар яратган. Жумладан, “Алпомиш”да Бойбўри, “Майсаранинг иши”да Ҳидоятхон, “Ўжарлар”да Фарход, “Кампир топайми дадажон”да Ҳомит бобо, “Жаннат излаб”да Санжар, “Шижоат”да Мавзур Раҳимов, “Қайсар чолнинг қилиғи”да Мавлон ота, “Хотинимнинг уч ошиғи”да Профессор, “Макр ва муҳаббат”да Гоф Маршал, “Уфқ”да Ота, “Адиб Собир Термизий”да Низомулмулк, “Аяжонларим”да Ашуралиев, “Ўлим ҳалқаси”да Майор, “Келинлар қўзғолонида”да Мухбир, “Она”да Ровий, “Қотил юраги”да Адвокат, “Жаннатга биз билан кир”да  Адмс Жеймс, “Оқ ёмғир”да Ҳазрат Сайид Мир Кулол, “Алишер Навоий”да Шайхулислом, “Хазон бўлган умрлар”да Чол,  “Алломаи замон”да Франциско Кастильо, “Шунқор”да Урхон бобо, “Зиё қалъаси”да Ҳазрат, “Алпомишнинг қайтиши”да Сайид Маҳрам каби бир қатор образларини юксак маҳорат билан талқин этиб томошабинлар эътиборини қозониб келмоқда. Хусусан, театр жамоасининг 2001 йил Андижон вилоятида ўтказилган Осиё давлатлари Академик театрлари фестивали, 2007 йил Тожикистон Республикаси Душанбе шаҳрида бўлиб ўтган “Наврўз-2007”, Ўрта Осиё давлатлари Академик театрлари фестивали, 2008 йил Миср Араб Республикасининг Қоҳира ва 2010 йил Қозоғистон Республикасининг Алмата шаҳарлида ўтказилган Академик театрларнинг </a:t>
                      </a:r>
                      <a:r>
                        <a:rPr lang="en-US" sz="900" b="0" noProof="0" dirty="0">
                          <a:solidFill>
                            <a:schemeClr val="tx1"/>
                          </a:solidFill>
                          <a:latin typeface="+mn-lt"/>
                        </a:rPr>
                        <a:t>III-</a:t>
                      </a:r>
                      <a:r>
                        <a:rPr lang="uz-Cyrl-UZ" sz="900" b="0" noProof="0" dirty="0">
                          <a:solidFill>
                            <a:schemeClr val="tx1"/>
                          </a:solidFill>
                          <a:latin typeface="+mn-lt"/>
                        </a:rPr>
                        <a:t>Халқаро Марказий Осиё давлатлари театр санъати фестивалларидаги фаол иштироки, асарнинг муваффақиятли чиқишини таъминлаши баробарида, миллий қадриятларимизни намоён этган. </a:t>
                      </a:r>
                    </a:p>
                    <a:p>
                      <a:pPr marL="0" indent="179388" algn="just">
                        <a:lnSpc>
                          <a:spcPct val="85000"/>
                        </a:lnSpc>
                      </a:pPr>
                      <a:r>
                        <a:rPr lang="uz-Cyrl-UZ" sz="900" b="0" noProof="0" dirty="0">
                          <a:solidFill>
                            <a:schemeClr val="tx1"/>
                          </a:solidFill>
                          <a:latin typeface="+mn-lt"/>
                        </a:rPr>
                        <a:t>Унинг “Қайсар чол” спектаклидаги бош қаҳрамон Мавлон ота образи талқини Олмата фестивалида “Энг яхши эркак роли” номинациясига сазавор бўлган. </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4754">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731742">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a:effectLst/>
                          <a:latin typeface="+mn-lt"/>
                          <a:ea typeface="Calibri" panose="020F0502020204030204" pitchFamily="34" charset="0"/>
                          <a:cs typeface="Times New Roman" panose="02020603050405020304" pitchFamily="18" charset="0"/>
                        </a:rPr>
                        <a:t>Вилоятда</a:t>
                      </a:r>
                      <a:r>
                        <a:rPr lang="uz-Cyrl-UZ" sz="900" b="0" baseline="0" dirty="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1" descr="D:\Резерв\KADROVIY\ЯНГИ РАСМ\4.Ижодий ходимлар\Драма актёрлари\Ю.Мирқурбонов\ФОТО 2Х4, 9Х12 ОК-КУК ФОНДА\миркурбанов.JPG">
            <a:extLst>
              <a:ext uri="{FF2B5EF4-FFF2-40B4-BE49-F238E27FC236}">
                <a16:creationId xmlns:a16="http://schemas.microsoft.com/office/drawing/2014/main" id="{D796CD52-10B9-27BD-9A64-1CC84F13EA1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6477" t="11497" r="6477" b="11845"/>
          <a:stretch>
            <a:fillRect/>
          </a:stretch>
        </p:blipFill>
        <p:spPr bwMode="auto">
          <a:xfrm>
            <a:off x="271938" y="1205422"/>
            <a:ext cx="846137" cy="11086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16136330"/>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803107974"/>
              </p:ext>
            </p:extLst>
          </p:nvPr>
        </p:nvGraphicFramePr>
        <p:xfrm>
          <a:off x="144489" y="865702"/>
          <a:ext cx="3427547" cy="5831226"/>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2551">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618">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err="1" smtClean="0">
                          <a:solidFill>
                            <a:schemeClr val="tx1"/>
                          </a:solidFill>
                          <a:latin typeface="+mn-lt"/>
                          <a:ea typeface="+mn-ea"/>
                          <a:cs typeface="+mn-cs"/>
                        </a:rPr>
                        <a:t>Мирходиева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61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Сайёра </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61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Усмоновна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618">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61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06.11.1961</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61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0172">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75583">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ru-RU" sz="900" b="0" kern="1200" noProof="0" dirty="0" err="1" smtClean="0">
                          <a:solidFill>
                            <a:schemeClr val="tx1"/>
                          </a:solidFill>
                          <a:latin typeface="+mn-lt"/>
                          <a:ea typeface="+mn-ea"/>
                          <a:cs typeface="+mn-cs"/>
                        </a:rPr>
                        <a:t>Турмуш</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қурган</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Ўғли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қизи</a:t>
                      </a:r>
                      <a:r>
                        <a:rPr lang="ru-RU" sz="900" b="0" kern="1200" noProof="0" dirty="0" smtClean="0">
                          <a:solidFill>
                            <a:schemeClr val="tx1"/>
                          </a:solidFill>
                          <a:latin typeface="+mn-lt"/>
                          <a:ea typeface="+mn-ea"/>
                          <a:cs typeface="+mn-cs"/>
                        </a:rPr>
                        <a:t> бор</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0172">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75622">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Азимов Усмон Азимович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1914 йил, Тошкент шаҳри</a:t>
                      </a:r>
                    </a:p>
                    <a:p>
                      <a:pPr algn="l">
                        <a:lnSpc>
                          <a:spcPct val="85000"/>
                        </a:lnSpc>
                      </a:pPr>
                      <a:endParaRPr lang="uz-Cyrl-UZ" sz="900" b="1"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1996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ЎзЛойиҳа</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муҳандиси</a:t>
                      </a:r>
                      <a:r>
                        <a:rPr lang="ru-RU" sz="900" b="0" kern="1200" noProof="0" dirty="0" smtClean="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549960">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Азимова Мадина Ҳабибраҳмоновна </a:t>
                      </a:r>
                    </a:p>
                    <a:p>
                      <a:pPr algn="l">
                        <a:lnSpc>
                          <a:spcPct val="85000"/>
                        </a:lnSpc>
                      </a:pPr>
                      <a:r>
                        <a:rPr lang="uz-Cyrl-UZ" sz="900" b="0" kern="1200" noProof="0" dirty="0" smtClean="0">
                          <a:solidFill>
                            <a:schemeClr val="tx1"/>
                          </a:solidFill>
                          <a:latin typeface="+mn-lt"/>
                          <a:ea typeface="+mn-ea"/>
                          <a:cs typeface="Arial" panose="020B0604020202020204" pitchFamily="34" charset="0"/>
                        </a:rPr>
                        <a:t>1921 йил,  Тошкент шаҳри</a:t>
                      </a:r>
                    </a:p>
                    <a:p>
                      <a:pPr algn="l">
                        <a:lnSpc>
                          <a:spcPct val="85000"/>
                        </a:lnSpc>
                      </a:pPr>
                      <a:endParaRPr lang="uz-Cyrl-UZ" sz="900" b="1"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2012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уй</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бекаси</a:t>
                      </a:r>
                      <a:r>
                        <a:rPr lang="ru-RU" sz="900" b="0" kern="1200" noProof="0" dirty="0" smtClean="0">
                          <a:solidFill>
                            <a:schemeClr val="tx1"/>
                          </a:solidFill>
                          <a:latin typeface="+mn-lt"/>
                          <a:ea typeface="+mn-ea"/>
                          <a:cs typeface="Arial" panose="020B0604020202020204" pitchFamily="34" charset="0"/>
                        </a:rPr>
                        <a:t>)</a:t>
                      </a:r>
                    </a:p>
                    <a:p>
                      <a:pPr algn="l">
                        <a:lnSpc>
                          <a:spcPct val="85000"/>
                        </a:lnSpc>
                      </a:pP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49960">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Мирходиев  Карим   </a:t>
                      </a:r>
                    </a:p>
                    <a:p>
                      <a:pPr algn="l">
                        <a:lnSpc>
                          <a:spcPct val="85000"/>
                        </a:lnSpc>
                      </a:pPr>
                      <a:r>
                        <a:rPr lang="uz-Cyrl-UZ" sz="900" b="1" kern="1200" noProof="0" dirty="0" smtClean="0">
                          <a:solidFill>
                            <a:schemeClr val="tx1"/>
                          </a:solidFill>
                          <a:latin typeface="+mn-lt"/>
                          <a:ea typeface="+mn-ea"/>
                          <a:cs typeface="Arial" panose="020B0604020202020204" pitchFamily="34" charset="0"/>
                        </a:rPr>
                        <a:t>Хусанович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1954 йил, Бухоро вилояти</a:t>
                      </a:r>
                    </a:p>
                    <a:p>
                      <a:pPr algn="l">
                        <a:lnSpc>
                          <a:spcPct val="85000"/>
                        </a:lnSpc>
                      </a:pPr>
                      <a:endParaRPr lang="uz-Cyrl-UZ" sz="900" b="1"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Дийдор театр студияси актёри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6961">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65055">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1983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рассомлик</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4841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ва кино актёрлиги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214">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214">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92642">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3127510260"/>
              </p:ext>
            </p:extLst>
          </p:nvPr>
        </p:nvGraphicFramePr>
        <p:xfrm>
          <a:off x="3674526" y="865689"/>
          <a:ext cx="3172841" cy="5831240"/>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258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6343">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2009 йилдан буён</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5630">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олий тоифали драма артисти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005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36 йил 11 ой</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494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йўқ</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1220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2504">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250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0605">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967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7096">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27099">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57681403"/>
              </p:ext>
            </p:extLst>
          </p:nvPr>
        </p:nvGraphicFramePr>
        <p:xfrm>
          <a:off x="6949857" y="869286"/>
          <a:ext cx="2817247" cy="5827644"/>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marL="0" indent="179388" algn="just">
                        <a:lnSpc>
                          <a:spcPct val="85000"/>
                        </a:lnSpc>
                      </a:pPr>
                      <a:r>
                        <a:rPr lang="uz-Cyrl-UZ" sz="900" b="0" noProof="0" dirty="0" smtClean="0">
                          <a:solidFill>
                            <a:schemeClr val="tx1"/>
                          </a:solidFill>
                          <a:latin typeface="+mn-lt"/>
                        </a:rPr>
                        <a:t>Меҳнат стажи 33 йил бўлиб, 2009 йилдан мазкур вазифада ишлаб келмоқда. С.Мирходиева театр ва кино санъатида серқирра ижоди билан томошабинлар меҳрини қозонган иқтидорли актрисалардан бири ҳисобланади. У қизиқиш доираси кенг, изланувчан ва талабчан санъаткор сифатида эътироф этилган.</a:t>
                      </a:r>
                    </a:p>
                    <a:p>
                      <a:pPr marL="0" indent="179388" algn="just">
                        <a:lnSpc>
                          <a:spcPct val="85000"/>
                        </a:lnSpc>
                      </a:pPr>
                      <a:r>
                        <a:rPr lang="uz-Cyrl-UZ" sz="900" b="0" noProof="0" dirty="0" smtClean="0">
                          <a:solidFill>
                            <a:schemeClr val="tx1"/>
                          </a:solidFill>
                          <a:latin typeface="+mn-lt"/>
                        </a:rPr>
                        <a:t>Ўзбекистон давлат сатира театри саҳнасида актриса ижро этган “Бугуннинг шум боласи”да Она, “Эрингни бериб тур”да Қўшни хотин, “Бувам уйланармиш”да Кампир, “Насриддиннинг ёшлиги”да Тўкисхон, “Жумбоқ” ва “Чиғириқ” спектаклларида Буви, “Садоқат” драмасида Котиба каби образлари ҳаётийлиги ва жозибаси билан мухлислар эътирофига сазовор бўлган.С.Мирходиева кўплаб бадиий ва видеофильмларда ҳам суратга тушиб, замонавий ўзбек аёллари образини ёрқин ифода этган. Айниқса, Она образларини талқин этишда қаҳрамонларнинг ички кечинмалари ва характерини маҳорат билан очиб беради.Актриса жамоат ишларида ҳам фаол иштирок этиб, республика миқёсидаги маданий-маърифий тадбирлар ва ижодий учрашувларда мунтазам қатнашиб келмоқда.</a:t>
                      </a:r>
                    </a:p>
                    <a:p>
                      <a:pPr marL="0" indent="179388" algn="just">
                        <a:lnSpc>
                          <a:spcPct val="85000"/>
                        </a:lnSpc>
                      </a:pPr>
                      <a:r>
                        <a:rPr lang="uz-Cyrl-UZ" sz="900" b="0" noProof="0" dirty="0" smtClean="0">
                          <a:solidFill>
                            <a:schemeClr val="tx1"/>
                          </a:solidFill>
                          <a:latin typeface="+mn-lt"/>
                        </a:rPr>
                        <a:t>Ёш актёрларга ўз тажрибасини ўргатиб, саҳна маҳорати сирлари билан ўртоқлашади. Таниқли санъаткорлар билан ҳамкорликда ишлаши унинг театр санъатида муносиб ўрин эгаллашида муҳим аҳамият касб этган.</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p:cNvPicPr>
            <a:picLocks noChangeAspect="1"/>
          </p:cNvPicPr>
          <p:nvPr/>
        </p:nvPicPr>
        <p:blipFill>
          <a:blip r:embed="rId2"/>
          <a:stretch>
            <a:fillRect/>
          </a:stretch>
        </p:blipFill>
        <p:spPr>
          <a:xfrm>
            <a:off x="325709" y="1126960"/>
            <a:ext cx="814833" cy="1088848"/>
          </a:xfrm>
          <a:prstGeom prst="rect">
            <a:avLst/>
          </a:prstGeom>
        </p:spPr>
      </p:pic>
      <p:pic>
        <p:nvPicPr>
          <p:cNvPr id="8" name="Рисунок 7"/>
          <p:cNvPicPr>
            <a:picLocks noChangeAspect="1"/>
          </p:cNvPicPr>
          <p:nvPr/>
        </p:nvPicPr>
        <p:blipFill>
          <a:blip r:embed="rId3"/>
          <a:stretch>
            <a:fillRect/>
          </a:stretch>
        </p:blipFill>
        <p:spPr>
          <a:xfrm>
            <a:off x="190124" y="1126961"/>
            <a:ext cx="950418" cy="1088848"/>
          </a:xfrm>
          <a:prstGeom prst="rect">
            <a:avLst/>
          </a:prstGeom>
        </p:spPr>
      </p:pic>
    </p:spTree>
    <p:extLst>
      <p:ext uri="{BB962C8B-B14F-4D97-AF65-F5344CB8AC3E}">
        <p14:creationId xmlns:p14="http://schemas.microsoft.com/office/powerpoint/2010/main" val="844657190"/>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ru-RU" sz="16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504444880"/>
              </p:ext>
            </p:extLst>
          </p:nvPr>
        </p:nvGraphicFramePr>
        <p:xfrm>
          <a:off x="144489" y="865705"/>
          <a:ext cx="3427547" cy="5921694"/>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30630">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77960">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ИБАТУЛИНА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7796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Амина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7796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Афраимовна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77960">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ТАТАР</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77960">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26.08.1953</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28359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Сирдарё вилояти, Сирдарё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1886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54991">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Турмуш қурмаган, Ўғли бор</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1886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34508">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Ибатулин Афраим</a:t>
                      </a:r>
                    </a:p>
                    <a:p>
                      <a:pPr algn="l">
                        <a:lnSpc>
                          <a:spcPct val="85000"/>
                        </a:lnSpc>
                      </a:pPr>
                      <a:r>
                        <a:rPr lang="uz-Cyrl-UZ" sz="900" b="1" kern="1200" noProof="0" dirty="0" smtClean="0">
                          <a:solidFill>
                            <a:schemeClr val="tx1"/>
                          </a:solidFill>
                          <a:latin typeface="+mn-lt"/>
                          <a:ea typeface="+mn-ea"/>
                          <a:cs typeface="Arial" panose="020B0604020202020204" pitchFamily="34" charset="0"/>
                        </a:rPr>
                        <a:t>Давлатёрович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1924 йил, Тошкент шаҳри</a:t>
                      </a:r>
                    </a:p>
                    <a:p>
                      <a:pPr algn="l">
                        <a:lnSpc>
                          <a:spcPct val="85000"/>
                        </a:lnSpc>
                      </a:pPr>
                      <a:endParaRPr lang="uz-Cyrl-UZ"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1987 </a:t>
                      </a:r>
                      <a:r>
                        <a:rPr lang="ru-RU" sz="900" b="0" kern="1200" noProof="0" dirty="0" err="1" smtClean="0">
                          <a:solidFill>
                            <a:schemeClr val="tx1"/>
                          </a:solidFill>
                          <a:latin typeface="+mn-lt"/>
                          <a:ea typeface="+mn-ea"/>
                          <a:cs typeface="Arial" panose="020B0604020202020204" pitchFamily="34" charset="0"/>
                        </a:rPr>
                        <a:t>йилда</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Бўка</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тумани</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Таъмирлаш-қурилиш</a:t>
                      </a:r>
                      <a:r>
                        <a:rPr lang="ru-RU" sz="900" b="0" kern="1200" noProof="0" dirty="0" smtClean="0">
                          <a:solidFill>
                            <a:schemeClr val="tx1"/>
                          </a:solidFill>
                          <a:latin typeface="+mn-lt"/>
                          <a:ea typeface="+mn-ea"/>
                          <a:cs typeface="Arial" panose="020B0604020202020204" pitchFamily="34" charset="0"/>
                        </a:rPr>
                        <a:t> </a:t>
                      </a:r>
                    </a:p>
                    <a:p>
                      <a:pPr algn="l">
                        <a:lnSpc>
                          <a:spcPct val="85000"/>
                        </a:lnSpc>
                      </a:pPr>
                      <a:r>
                        <a:rPr lang="ru-RU" sz="900" b="0" kern="1200" noProof="0" dirty="0" err="1" smtClean="0">
                          <a:solidFill>
                            <a:schemeClr val="tx1"/>
                          </a:solidFill>
                          <a:latin typeface="+mn-lt"/>
                          <a:ea typeface="+mn-ea"/>
                          <a:cs typeface="Arial" panose="020B0604020202020204" pitchFamily="34" charset="0"/>
                        </a:rPr>
                        <a:t>бошқармаси</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прораби</a:t>
                      </a:r>
                      <a:r>
                        <a:rPr lang="ru-RU" sz="900" b="0" kern="1200" noProof="0" dirty="0" smtClean="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634508">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Ибатулина (Исламуратова)</a:t>
                      </a:r>
                    </a:p>
                    <a:p>
                      <a:pPr algn="l">
                        <a:lnSpc>
                          <a:spcPct val="85000"/>
                        </a:lnSpc>
                      </a:pPr>
                      <a:r>
                        <a:rPr lang="uz-Cyrl-UZ" sz="900" b="1" kern="1200" noProof="0" dirty="0" smtClean="0">
                          <a:solidFill>
                            <a:schemeClr val="tx1"/>
                          </a:solidFill>
                          <a:latin typeface="+mn-lt"/>
                          <a:ea typeface="+mn-ea"/>
                          <a:cs typeface="Arial" panose="020B0604020202020204" pitchFamily="34" charset="0"/>
                        </a:rPr>
                        <a:t>Мафтуҳа Лутфираҳмоновна</a:t>
                      </a:r>
                    </a:p>
                    <a:p>
                      <a:pPr algn="l">
                        <a:lnSpc>
                          <a:spcPct val="85000"/>
                        </a:lnSpc>
                      </a:pPr>
                      <a:r>
                        <a:rPr lang="ru-RU" sz="900" b="0" kern="1200" noProof="0" dirty="0" smtClean="0">
                          <a:solidFill>
                            <a:schemeClr val="tx1"/>
                          </a:solidFill>
                          <a:latin typeface="+mn-lt"/>
                          <a:ea typeface="+mn-ea"/>
                          <a:cs typeface="Arial" panose="020B0604020202020204" pitchFamily="34" charset="0"/>
                        </a:rPr>
                        <a:t>1926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Бошқирдистон</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Нурғози</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тумани</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uz-Cyrl-UZ" sz="900" b="0" kern="1200" dirty="0" smtClean="0">
                          <a:solidFill>
                            <a:schemeClr val="tx1"/>
                          </a:solidFill>
                          <a:latin typeface="+mn-lt"/>
                          <a:ea typeface="+mn-ea"/>
                          <a:cs typeface="Arial" panose="020B0604020202020204" pitchFamily="34" charset="0"/>
                        </a:rPr>
                        <a:t>2008 йилда вафот этган</a:t>
                      </a:r>
                      <a:endParaRPr lang="ru-RU" sz="900" b="0" kern="1200" dirty="0" smtClean="0">
                        <a:solidFill>
                          <a:schemeClr val="tx1"/>
                        </a:solidFill>
                        <a:latin typeface="+mn-lt"/>
                        <a:ea typeface="+mn-ea"/>
                        <a:cs typeface="Arial" panose="020B0604020202020204" pitchFamily="34" charset="0"/>
                      </a:endParaRPr>
                    </a:p>
                    <a:p>
                      <a:r>
                        <a:rPr lang="uz-Cyrl-UZ" sz="900" b="0" kern="1200" dirty="0" smtClean="0">
                          <a:solidFill>
                            <a:schemeClr val="tx1"/>
                          </a:solidFill>
                          <a:latin typeface="+mn-lt"/>
                          <a:ea typeface="+mn-ea"/>
                          <a:cs typeface="Arial" panose="020B0604020202020204" pitchFamily="34" charset="0"/>
                        </a:rPr>
                        <a:t>(Бўка тумани 1-сонли касалхона ҳамшираси)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369630">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Йўқ</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96790">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34073">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1977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рассомлик</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сиртқи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3479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ва кино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96840">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96840">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71113">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72600138"/>
              </p:ext>
            </p:extLst>
          </p:nvPr>
        </p:nvGraphicFramePr>
        <p:xfrm>
          <a:off x="3674526" y="865691"/>
          <a:ext cx="3172841" cy="5911124"/>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67692">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82457">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2017 йилдан буён</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74363">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3617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53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1996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63161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24672">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24672">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smtClean="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2263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89437">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54470">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282977">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2021 йил “Дўстлик ордени”</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kern="1200" dirty="0" smtClean="0">
                          <a:solidFill>
                            <a:schemeClr val="tx1"/>
                          </a:solidFill>
                          <a:effectLst/>
                          <a:latin typeface="+mn-lt"/>
                          <a:ea typeface="Calibri" panose="020F0502020204030204" pitchFamily="34" charset="0"/>
                          <a:cs typeface="Times New Roman" panose="02020603050405020304" pitchFamily="18" charset="0"/>
                        </a:rPr>
                        <a:t>2019 йил “Маданият ва санъат фидокори”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778022355"/>
              </p:ext>
            </p:extLst>
          </p:nvPr>
        </p:nvGraphicFramePr>
        <p:xfrm>
          <a:off x="6949857" y="869287"/>
          <a:ext cx="2817247" cy="5907529"/>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41569">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0535">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548925">
                <a:tc>
                  <a:txBody>
                    <a:bodyPr/>
                    <a:lstStyle/>
                    <a:p>
                      <a:pPr marL="0" indent="179388" algn="just"/>
                      <a:r>
                        <a:rPr lang="ru-RU" sz="900" dirty="0" smtClean="0"/>
                        <a:t>2021 </a:t>
                      </a:r>
                      <a:r>
                        <a:rPr lang="ru-RU" sz="900" dirty="0" err="1" smtClean="0"/>
                        <a:t>йил</a:t>
                      </a:r>
                      <a:r>
                        <a:rPr lang="ru-RU" sz="900" dirty="0" smtClean="0"/>
                        <a:t> “</a:t>
                      </a:r>
                      <a:r>
                        <a:rPr lang="ru-RU" sz="900" dirty="0" err="1" smtClean="0"/>
                        <a:t>Дўстлик</a:t>
                      </a:r>
                      <a:r>
                        <a:rPr lang="ru-RU" sz="900" dirty="0" smtClean="0"/>
                        <a:t>” </a:t>
                      </a:r>
                      <a:r>
                        <a:rPr lang="ru-RU" sz="900" dirty="0" err="1" smtClean="0"/>
                        <a:t>ордени</a:t>
                      </a:r>
                      <a:r>
                        <a:rPr lang="ru-RU" sz="900" dirty="0" smtClean="0"/>
                        <a:t> </a:t>
                      </a:r>
                      <a:r>
                        <a:rPr lang="ru-RU" sz="900" dirty="0" err="1" smtClean="0"/>
                        <a:t>билан</a:t>
                      </a:r>
                      <a:r>
                        <a:rPr lang="ru-RU" sz="900" dirty="0" smtClean="0"/>
                        <a:t>, 2019 </a:t>
                      </a:r>
                      <a:r>
                        <a:rPr lang="ru-RU" sz="900" dirty="0" err="1" smtClean="0"/>
                        <a:t>йил</a:t>
                      </a:r>
                      <a:r>
                        <a:rPr lang="ru-RU" sz="900" dirty="0" smtClean="0"/>
                        <a:t> </a:t>
                      </a:r>
                      <a:r>
                        <a:rPr lang="ru-RU" sz="900" dirty="0" err="1" smtClean="0"/>
                        <a:t>Ўзбекистон</a:t>
                      </a:r>
                      <a:r>
                        <a:rPr lang="ru-RU" sz="900" dirty="0" smtClean="0"/>
                        <a:t> </a:t>
                      </a:r>
                      <a:r>
                        <a:rPr lang="ru-RU" sz="900" dirty="0" err="1" smtClean="0"/>
                        <a:t>Республикаси</a:t>
                      </a:r>
                      <a:r>
                        <a:rPr lang="ru-RU" sz="900" dirty="0" smtClean="0"/>
                        <a:t> </a:t>
                      </a:r>
                      <a:r>
                        <a:rPr lang="ru-RU" sz="900" dirty="0" err="1" smtClean="0"/>
                        <a:t>Маданият</a:t>
                      </a:r>
                      <a:r>
                        <a:rPr lang="ru-RU" sz="900" dirty="0" smtClean="0"/>
                        <a:t> </a:t>
                      </a:r>
                      <a:r>
                        <a:rPr lang="ru-RU" sz="900" dirty="0" err="1" smtClean="0"/>
                        <a:t>вазирлигининг</a:t>
                      </a:r>
                      <a:r>
                        <a:rPr lang="ru-RU" sz="900" dirty="0" smtClean="0"/>
                        <a:t> “</a:t>
                      </a:r>
                      <a:r>
                        <a:rPr lang="ru-RU" sz="900" dirty="0" err="1" smtClean="0"/>
                        <a:t>Маданият</a:t>
                      </a:r>
                      <a:r>
                        <a:rPr lang="ru-RU" sz="900" dirty="0" smtClean="0"/>
                        <a:t> </a:t>
                      </a:r>
                      <a:r>
                        <a:rPr lang="ru-RU" sz="900" dirty="0" err="1" smtClean="0"/>
                        <a:t>ва</a:t>
                      </a:r>
                      <a:r>
                        <a:rPr lang="ru-RU" sz="900" dirty="0" smtClean="0"/>
                        <a:t> </a:t>
                      </a:r>
                      <a:r>
                        <a:rPr lang="ru-RU" sz="900" dirty="0" err="1" smtClean="0"/>
                        <a:t>санъат</a:t>
                      </a:r>
                      <a:r>
                        <a:rPr lang="ru-RU" sz="900" dirty="0" smtClean="0"/>
                        <a:t> </a:t>
                      </a:r>
                      <a:r>
                        <a:rPr lang="ru-RU" sz="900" dirty="0" err="1" smtClean="0"/>
                        <a:t>фидокори</a:t>
                      </a:r>
                      <a:r>
                        <a:rPr lang="ru-RU" sz="900" dirty="0" smtClean="0"/>
                        <a:t>” </a:t>
                      </a:r>
                      <a:r>
                        <a:rPr lang="ru-RU" sz="900" dirty="0" err="1" smtClean="0"/>
                        <a:t>кўкрак</a:t>
                      </a:r>
                      <a:r>
                        <a:rPr lang="ru-RU" sz="900" dirty="0" smtClean="0"/>
                        <a:t> </a:t>
                      </a:r>
                      <a:r>
                        <a:rPr lang="ru-RU" sz="900" dirty="0" err="1" smtClean="0"/>
                        <a:t>нишони</a:t>
                      </a:r>
                      <a:r>
                        <a:rPr lang="ru-RU" sz="900" dirty="0" smtClean="0"/>
                        <a:t> </a:t>
                      </a:r>
                      <a:r>
                        <a:rPr lang="ru-RU" sz="900" dirty="0" err="1" smtClean="0"/>
                        <a:t>ҳамда</a:t>
                      </a:r>
                      <a:r>
                        <a:rPr lang="ru-RU" sz="900" dirty="0" smtClean="0"/>
                        <a:t> 2011 </a:t>
                      </a:r>
                      <a:r>
                        <a:rPr lang="ru-RU" sz="900" dirty="0" err="1" smtClean="0"/>
                        <a:t>йил</a:t>
                      </a:r>
                      <a:r>
                        <a:rPr lang="ru-RU" sz="900" dirty="0" smtClean="0"/>
                        <a:t> “</a:t>
                      </a:r>
                      <a:r>
                        <a:rPr lang="ru-RU" sz="900" dirty="0" err="1" smtClean="0"/>
                        <a:t>Ўзбекистон</a:t>
                      </a:r>
                      <a:r>
                        <a:rPr lang="ru-RU" sz="900" dirty="0" smtClean="0"/>
                        <a:t> </a:t>
                      </a:r>
                      <a:r>
                        <a:rPr lang="ru-RU" sz="900" dirty="0" err="1" smtClean="0"/>
                        <a:t>Республикаси</a:t>
                      </a:r>
                      <a:r>
                        <a:rPr lang="ru-RU" sz="900" dirty="0" smtClean="0"/>
                        <a:t> </a:t>
                      </a:r>
                      <a:r>
                        <a:rPr lang="ru-RU" sz="900" dirty="0" err="1" smtClean="0"/>
                        <a:t>Мустақиллигига</a:t>
                      </a:r>
                      <a:r>
                        <a:rPr lang="ru-RU" sz="900" dirty="0" smtClean="0"/>
                        <a:t> 20 </a:t>
                      </a:r>
                      <a:r>
                        <a:rPr lang="ru-RU" sz="900" dirty="0" err="1" smtClean="0"/>
                        <a:t>йил</a:t>
                      </a:r>
                      <a:r>
                        <a:rPr lang="ru-RU" sz="900" dirty="0" smtClean="0"/>
                        <a:t>” </a:t>
                      </a:r>
                      <a:r>
                        <a:rPr lang="ru-RU" sz="900" dirty="0" err="1" smtClean="0"/>
                        <a:t>кўкрак</a:t>
                      </a:r>
                      <a:r>
                        <a:rPr lang="ru-RU" sz="900" dirty="0" smtClean="0"/>
                        <a:t> </a:t>
                      </a:r>
                      <a:r>
                        <a:rPr lang="ru-RU" sz="900" dirty="0" err="1" smtClean="0"/>
                        <a:t>нишони</a:t>
                      </a:r>
                      <a:r>
                        <a:rPr lang="ru-RU" sz="900" dirty="0" smtClean="0"/>
                        <a:t> </a:t>
                      </a:r>
                      <a:r>
                        <a:rPr lang="ru-RU" sz="900" dirty="0" err="1" smtClean="0"/>
                        <a:t>билан</a:t>
                      </a:r>
                      <a:r>
                        <a:rPr lang="ru-RU" sz="900" dirty="0" smtClean="0"/>
                        <a:t> </a:t>
                      </a:r>
                      <a:r>
                        <a:rPr lang="ru-RU" sz="900" dirty="0" err="1" smtClean="0"/>
                        <a:t>тақдирланган</a:t>
                      </a:r>
                      <a:r>
                        <a:rPr lang="ru-RU" sz="900" dirty="0" smtClean="0"/>
                        <a:t>.</a:t>
                      </a:r>
                    </a:p>
                    <a:p>
                      <a:pPr marL="0" indent="179388" algn="just"/>
                      <a:r>
                        <a:rPr lang="ru-RU" sz="900" dirty="0" err="1" smtClean="0"/>
                        <a:t>А.Ибатулина</a:t>
                      </a:r>
                      <a:r>
                        <a:rPr lang="ru-RU" sz="900" dirty="0" smtClean="0"/>
                        <a:t> </a:t>
                      </a:r>
                      <a:r>
                        <a:rPr lang="ru-RU" sz="900" dirty="0" err="1" smtClean="0"/>
                        <a:t>ўз</a:t>
                      </a:r>
                      <a:r>
                        <a:rPr lang="ru-RU" sz="900" dirty="0" smtClean="0"/>
                        <a:t> </a:t>
                      </a:r>
                      <a:r>
                        <a:rPr lang="ru-RU" sz="900" dirty="0" err="1" smtClean="0"/>
                        <a:t>касбига</a:t>
                      </a:r>
                      <a:r>
                        <a:rPr lang="ru-RU" sz="900" dirty="0" smtClean="0"/>
                        <a:t> </a:t>
                      </a:r>
                      <a:r>
                        <a:rPr lang="ru-RU" sz="900" dirty="0" err="1" smtClean="0"/>
                        <a:t>садоқатли</a:t>
                      </a:r>
                      <a:r>
                        <a:rPr lang="ru-RU" sz="900" dirty="0" smtClean="0"/>
                        <a:t>, </a:t>
                      </a:r>
                      <a:r>
                        <a:rPr lang="ru-RU" sz="900" dirty="0" err="1" smtClean="0"/>
                        <a:t>изланувчан</a:t>
                      </a:r>
                      <a:r>
                        <a:rPr lang="ru-RU" sz="900" dirty="0" smtClean="0"/>
                        <a:t> </a:t>
                      </a:r>
                      <a:r>
                        <a:rPr lang="ru-RU" sz="900" dirty="0" err="1" smtClean="0"/>
                        <a:t>ва</a:t>
                      </a:r>
                      <a:r>
                        <a:rPr lang="ru-RU" sz="900" dirty="0" smtClean="0"/>
                        <a:t> </a:t>
                      </a:r>
                      <a:r>
                        <a:rPr lang="ru-RU" sz="900" dirty="0" err="1" smtClean="0"/>
                        <a:t>юқори</a:t>
                      </a:r>
                      <a:r>
                        <a:rPr lang="ru-RU" sz="900" dirty="0" smtClean="0"/>
                        <a:t> </a:t>
                      </a:r>
                      <a:r>
                        <a:rPr lang="ru-RU" sz="900" dirty="0" err="1" smtClean="0"/>
                        <a:t>маҳоратли</a:t>
                      </a:r>
                      <a:r>
                        <a:rPr lang="ru-RU" sz="900" dirty="0" smtClean="0"/>
                        <a:t> </a:t>
                      </a:r>
                      <a:r>
                        <a:rPr lang="ru-RU" sz="900" dirty="0" err="1" smtClean="0"/>
                        <a:t>санъаткор</a:t>
                      </a:r>
                      <a:r>
                        <a:rPr lang="ru-RU" sz="900" dirty="0" smtClean="0"/>
                        <a:t> </a:t>
                      </a:r>
                      <a:r>
                        <a:rPr lang="ru-RU" sz="900" dirty="0" err="1" smtClean="0"/>
                        <a:t>сифатида</a:t>
                      </a:r>
                      <a:r>
                        <a:rPr lang="ru-RU" sz="900" dirty="0" smtClean="0"/>
                        <a:t> театр </a:t>
                      </a:r>
                      <a:r>
                        <a:rPr lang="ru-RU" sz="900" dirty="0" err="1" smtClean="0"/>
                        <a:t>жамоаси</a:t>
                      </a:r>
                      <a:r>
                        <a:rPr lang="ru-RU" sz="900" dirty="0" smtClean="0"/>
                        <a:t> </a:t>
                      </a:r>
                      <a:r>
                        <a:rPr lang="ru-RU" sz="900" dirty="0" err="1" smtClean="0"/>
                        <a:t>ва</a:t>
                      </a:r>
                      <a:r>
                        <a:rPr lang="ru-RU" sz="900" dirty="0" smtClean="0"/>
                        <a:t> </a:t>
                      </a:r>
                      <a:r>
                        <a:rPr lang="ru-RU" sz="900" dirty="0" err="1" smtClean="0"/>
                        <a:t>мухлислар</a:t>
                      </a:r>
                      <a:r>
                        <a:rPr lang="ru-RU" sz="900" dirty="0" smtClean="0"/>
                        <a:t> </a:t>
                      </a:r>
                      <a:r>
                        <a:rPr lang="ru-RU" sz="900" dirty="0" err="1" smtClean="0"/>
                        <a:t>ҳурматига</a:t>
                      </a:r>
                      <a:r>
                        <a:rPr lang="ru-RU" sz="900" dirty="0" smtClean="0"/>
                        <a:t> </a:t>
                      </a:r>
                      <a:r>
                        <a:rPr lang="ru-RU" sz="900" dirty="0" err="1" smtClean="0"/>
                        <a:t>сазовор</a:t>
                      </a:r>
                      <a:r>
                        <a:rPr lang="ru-RU" sz="900" dirty="0" smtClean="0"/>
                        <a:t> </a:t>
                      </a:r>
                      <a:r>
                        <a:rPr lang="ru-RU" sz="900" dirty="0" err="1" smtClean="0"/>
                        <a:t>бўлган</a:t>
                      </a:r>
                      <a:r>
                        <a:rPr lang="ru-RU" sz="900" dirty="0" smtClean="0"/>
                        <a:t>.</a:t>
                      </a:r>
                    </a:p>
                    <a:p>
                      <a:pPr marL="0" indent="179388" algn="just"/>
                      <a:r>
                        <a:rPr lang="ru-RU" sz="900" dirty="0" err="1" smtClean="0"/>
                        <a:t>Ижодий</a:t>
                      </a:r>
                      <a:r>
                        <a:rPr lang="ru-RU" sz="900" dirty="0" smtClean="0"/>
                        <a:t> </a:t>
                      </a:r>
                      <a:r>
                        <a:rPr lang="ru-RU" sz="900" dirty="0" err="1" smtClean="0"/>
                        <a:t>фаолиятини</a:t>
                      </a:r>
                      <a:r>
                        <a:rPr lang="ru-RU" sz="900" dirty="0" smtClean="0"/>
                        <a:t> </a:t>
                      </a:r>
                      <a:r>
                        <a:rPr lang="ru-RU" sz="900" dirty="0" err="1" smtClean="0"/>
                        <a:t>Ёш</a:t>
                      </a:r>
                      <a:r>
                        <a:rPr lang="ru-RU" sz="900" dirty="0" smtClean="0"/>
                        <a:t> </a:t>
                      </a:r>
                      <a:r>
                        <a:rPr lang="ru-RU" sz="900" dirty="0" err="1" smtClean="0"/>
                        <a:t>томошабинлар</a:t>
                      </a:r>
                      <a:r>
                        <a:rPr lang="ru-RU" sz="900" dirty="0" smtClean="0"/>
                        <a:t> </a:t>
                      </a:r>
                      <a:r>
                        <a:rPr lang="ru-RU" sz="900" dirty="0" err="1" smtClean="0"/>
                        <a:t>театрида</a:t>
                      </a:r>
                      <a:r>
                        <a:rPr lang="ru-RU" sz="900" dirty="0" smtClean="0"/>
                        <a:t> </a:t>
                      </a:r>
                      <a:r>
                        <a:rPr lang="ru-RU" sz="900" dirty="0" err="1" smtClean="0"/>
                        <a:t>бошлаб</a:t>
                      </a:r>
                      <a:r>
                        <a:rPr lang="ru-RU" sz="900" dirty="0" smtClean="0"/>
                        <a:t>, </a:t>
                      </a:r>
                      <a:r>
                        <a:rPr lang="ru-RU" sz="900" dirty="0" err="1" smtClean="0"/>
                        <a:t>турли</a:t>
                      </a:r>
                      <a:r>
                        <a:rPr lang="ru-RU" sz="900" dirty="0" smtClean="0"/>
                        <a:t> </a:t>
                      </a:r>
                      <a:r>
                        <a:rPr lang="ru-RU" sz="900" dirty="0" err="1" smtClean="0"/>
                        <a:t>жанрлардаги</a:t>
                      </a:r>
                      <a:r>
                        <a:rPr lang="ru-RU" sz="900" dirty="0" smtClean="0"/>
                        <a:t> </a:t>
                      </a:r>
                      <a:r>
                        <a:rPr lang="ru-RU" sz="900" dirty="0" err="1" smtClean="0"/>
                        <a:t>спектаклларда</a:t>
                      </a:r>
                      <a:r>
                        <a:rPr lang="ru-RU" sz="900" dirty="0" smtClean="0"/>
                        <a:t> </a:t>
                      </a:r>
                      <a:r>
                        <a:rPr lang="ru-RU" sz="900" dirty="0" err="1" smtClean="0"/>
                        <a:t>ўнлаб</a:t>
                      </a:r>
                      <a:r>
                        <a:rPr lang="ru-RU" sz="900" dirty="0" smtClean="0"/>
                        <a:t> </a:t>
                      </a:r>
                      <a:r>
                        <a:rPr lang="ru-RU" sz="900" dirty="0" err="1" smtClean="0"/>
                        <a:t>бетакрор</a:t>
                      </a:r>
                      <a:r>
                        <a:rPr lang="ru-RU" sz="900" dirty="0" smtClean="0"/>
                        <a:t> </a:t>
                      </a:r>
                      <a:r>
                        <a:rPr lang="ru-RU" sz="900" dirty="0" err="1" smtClean="0"/>
                        <a:t>образлар</a:t>
                      </a:r>
                      <a:r>
                        <a:rPr lang="ru-RU" sz="900" dirty="0" smtClean="0"/>
                        <a:t> </a:t>
                      </a:r>
                      <a:r>
                        <a:rPr lang="ru-RU" sz="900" dirty="0" err="1" smtClean="0"/>
                        <a:t>яратган</a:t>
                      </a:r>
                      <a:r>
                        <a:rPr lang="ru-RU" sz="900" dirty="0" smtClean="0"/>
                        <a:t>. </a:t>
                      </a:r>
                      <a:r>
                        <a:rPr lang="ru-RU" sz="900" dirty="0" err="1" smtClean="0"/>
                        <a:t>Кейинчалик</a:t>
                      </a:r>
                      <a:r>
                        <a:rPr lang="ru-RU" sz="900" dirty="0" smtClean="0"/>
                        <a:t> Республика Сатира </a:t>
                      </a:r>
                      <a:r>
                        <a:rPr lang="ru-RU" sz="900" dirty="0" err="1" smtClean="0"/>
                        <a:t>театри</a:t>
                      </a:r>
                      <a:r>
                        <a:rPr lang="ru-RU" sz="900" dirty="0" smtClean="0"/>
                        <a:t> </a:t>
                      </a:r>
                      <a:r>
                        <a:rPr lang="ru-RU" sz="900" dirty="0" err="1" smtClean="0"/>
                        <a:t>саҳнасида</a:t>
                      </a:r>
                      <a:r>
                        <a:rPr lang="ru-RU" sz="900" dirty="0" smtClean="0"/>
                        <a:t> “</a:t>
                      </a:r>
                      <a:r>
                        <a:rPr lang="ru-RU" sz="900" dirty="0" err="1" smtClean="0"/>
                        <a:t>Тобутдан</a:t>
                      </a:r>
                      <a:r>
                        <a:rPr lang="ru-RU" sz="900" dirty="0" smtClean="0"/>
                        <a:t> </a:t>
                      </a:r>
                      <a:r>
                        <a:rPr lang="ru-RU" sz="900" dirty="0" err="1" smtClean="0"/>
                        <a:t>товуш</a:t>
                      </a:r>
                      <a:r>
                        <a:rPr lang="ru-RU" sz="900" dirty="0" smtClean="0"/>
                        <a:t>”, “Темир </a:t>
                      </a:r>
                      <a:r>
                        <a:rPr lang="ru-RU" sz="900" dirty="0" err="1" smtClean="0"/>
                        <a:t>хотин</a:t>
                      </a:r>
                      <a:r>
                        <a:rPr lang="ru-RU" sz="900" dirty="0" smtClean="0"/>
                        <a:t>”, “</a:t>
                      </a:r>
                      <a:r>
                        <a:rPr lang="ru-RU" sz="900" dirty="0" err="1" smtClean="0"/>
                        <a:t>Бувам</a:t>
                      </a:r>
                      <a:r>
                        <a:rPr lang="ru-RU" sz="900" dirty="0" smtClean="0"/>
                        <a:t> </a:t>
                      </a:r>
                      <a:r>
                        <a:rPr lang="ru-RU" sz="900" dirty="0" err="1" smtClean="0"/>
                        <a:t>уйланмоқчи</a:t>
                      </a:r>
                      <a:r>
                        <a:rPr lang="ru-RU" sz="900" dirty="0" smtClean="0"/>
                        <a:t>”, “</a:t>
                      </a:r>
                      <a:r>
                        <a:rPr lang="ru-RU" sz="900" dirty="0" err="1" smtClean="0"/>
                        <a:t>Майиз</a:t>
                      </a:r>
                      <a:r>
                        <a:rPr lang="ru-RU" sz="900" dirty="0" smtClean="0"/>
                        <a:t> </a:t>
                      </a:r>
                      <a:r>
                        <a:rPr lang="ru-RU" sz="900" dirty="0" err="1" smtClean="0"/>
                        <a:t>емаган</a:t>
                      </a:r>
                      <a:r>
                        <a:rPr lang="ru-RU" sz="900" dirty="0" smtClean="0"/>
                        <a:t> </a:t>
                      </a:r>
                      <a:r>
                        <a:rPr lang="ru-RU" sz="900" dirty="0" err="1" smtClean="0"/>
                        <a:t>хотин</a:t>
                      </a:r>
                      <a:r>
                        <a:rPr lang="ru-RU" sz="900" dirty="0" smtClean="0"/>
                        <a:t>”, “</a:t>
                      </a:r>
                      <a:r>
                        <a:rPr lang="ru-RU" sz="900" dirty="0" err="1" smtClean="0"/>
                        <a:t>Аяжонларим</a:t>
                      </a:r>
                      <a:r>
                        <a:rPr lang="ru-RU" sz="900" dirty="0" smtClean="0"/>
                        <a:t>” </a:t>
                      </a:r>
                      <a:r>
                        <a:rPr lang="ru-RU" sz="900" dirty="0" err="1" smtClean="0"/>
                        <a:t>каби</a:t>
                      </a:r>
                      <a:r>
                        <a:rPr lang="ru-RU" sz="900" dirty="0" smtClean="0"/>
                        <a:t> </a:t>
                      </a:r>
                      <a:r>
                        <a:rPr lang="ru-RU" sz="900" dirty="0" err="1" smtClean="0"/>
                        <a:t>спектакллардаги</a:t>
                      </a:r>
                      <a:r>
                        <a:rPr lang="ru-RU" sz="900" dirty="0" smtClean="0"/>
                        <a:t> </a:t>
                      </a:r>
                      <a:r>
                        <a:rPr lang="ru-RU" sz="900" dirty="0" err="1" smtClean="0"/>
                        <a:t>ёрқин</a:t>
                      </a:r>
                      <a:r>
                        <a:rPr lang="ru-RU" sz="900" dirty="0" smtClean="0"/>
                        <a:t> </a:t>
                      </a:r>
                      <a:r>
                        <a:rPr lang="ru-RU" sz="900" dirty="0" err="1" smtClean="0"/>
                        <a:t>образлари</a:t>
                      </a:r>
                      <a:r>
                        <a:rPr lang="ru-RU" sz="900" dirty="0" smtClean="0"/>
                        <a:t> </a:t>
                      </a:r>
                      <a:r>
                        <a:rPr lang="ru-RU" sz="900" dirty="0" err="1" smtClean="0"/>
                        <a:t>билан</a:t>
                      </a:r>
                      <a:r>
                        <a:rPr lang="ru-RU" sz="900" dirty="0" smtClean="0"/>
                        <a:t> </a:t>
                      </a:r>
                      <a:r>
                        <a:rPr lang="ru-RU" sz="900" dirty="0" err="1" smtClean="0"/>
                        <a:t>томошабин</a:t>
                      </a:r>
                      <a:r>
                        <a:rPr lang="ru-RU" sz="900" dirty="0" smtClean="0"/>
                        <a:t> </a:t>
                      </a:r>
                      <a:r>
                        <a:rPr lang="ru-RU" sz="900" dirty="0" err="1" smtClean="0"/>
                        <a:t>меҳрини</a:t>
                      </a:r>
                      <a:r>
                        <a:rPr lang="ru-RU" sz="900" dirty="0" smtClean="0"/>
                        <a:t> </a:t>
                      </a:r>
                      <a:r>
                        <a:rPr lang="ru-RU" sz="900" dirty="0" err="1" smtClean="0"/>
                        <a:t>қозонган</a:t>
                      </a:r>
                      <a:r>
                        <a:rPr lang="ru-RU" sz="900" dirty="0" smtClean="0"/>
                        <a:t>.</a:t>
                      </a:r>
                    </a:p>
                    <a:p>
                      <a:pPr marL="0" indent="179388" algn="just"/>
                      <a:r>
                        <a:rPr lang="ru-RU" sz="900" dirty="0" smtClean="0"/>
                        <a:t>2008–2016 </a:t>
                      </a:r>
                      <a:r>
                        <a:rPr lang="ru-RU" sz="900" dirty="0" err="1" smtClean="0"/>
                        <a:t>йилларда</a:t>
                      </a:r>
                      <a:r>
                        <a:rPr lang="ru-RU" sz="900" dirty="0" smtClean="0"/>
                        <a:t> Республика эстрада-цирк </a:t>
                      </a:r>
                      <a:r>
                        <a:rPr lang="ru-RU" sz="900" dirty="0" err="1" smtClean="0"/>
                        <a:t>коллежида</a:t>
                      </a:r>
                      <a:r>
                        <a:rPr lang="ru-RU" sz="900" dirty="0" smtClean="0"/>
                        <a:t> педагогик </a:t>
                      </a:r>
                      <a:r>
                        <a:rPr lang="ru-RU" sz="900" dirty="0" err="1" smtClean="0"/>
                        <a:t>фаолият</a:t>
                      </a:r>
                      <a:r>
                        <a:rPr lang="ru-RU" sz="900" dirty="0" smtClean="0"/>
                        <a:t> </a:t>
                      </a:r>
                      <a:r>
                        <a:rPr lang="ru-RU" sz="900" dirty="0" err="1" smtClean="0"/>
                        <a:t>олиб</a:t>
                      </a:r>
                      <a:r>
                        <a:rPr lang="ru-RU" sz="900" dirty="0" smtClean="0"/>
                        <a:t> </a:t>
                      </a:r>
                      <a:r>
                        <a:rPr lang="ru-RU" sz="900" dirty="0" err="1" smtClean="0"/>
                        <a:t>бориб</a:t>
                      </a:r>
                      <a:r>
                        <a:rPr lang="ru-RU" sz="900" dirty="0" smtClean="0"/>
                        <a:t>, </a:t>
                      </a:r>
                      <a:r>
                        <a:rPr lang="ru-RU" sz="900" dirty="0" err="1" smtClean="0"/>
                        <a:t>актёрлик</a:t>
                      </a:r>
                      <a:r>
                        <a:rPr lang="ru-RU" sz="900" dirty="0" smtClean="0"/>
                        <a:t> </a:t>
                      </a:r>
                      <a:r>
                        <a:rPr lang="ru-RU" sz="900" dirty="0" err="1" smtClean="0"/>
                        <a:t>маҳорати</a:t>
                      </a:r>
                      <a:r>
                        <a:rPr lang="ru-RU" sz="900" dirty="0" smtClean="0"/>
                        <a:t> </a:t>
                      </a:r>
                      <a:r>
                        <a:rPr lang="ru-RU" sz="900" dirty="0" err="1" smtClean="0"/>
                        <a:t>бўйича</a:t>
                      </a:r>
                      <a:r>
                        <a:rPr lang="ru-RU" sz="900" dirty="0" smtClean="0"/>
                        <a:t> </a:t>
                      </a:r>
                      <a:r>
                        <a:rPr lang="ru-RU" sz="900" dirty="0" err="1" smtClean="0"/>
                        <a:t>ўқув</a:t>
                      </a:r>
                      <a:r>
                        <a:rPr lang="ru-RU" sz="900" dirty="0" smtClean="0"/>
                        <a:t> </a:t>
                      </a:r>
                      <a:r>
                        <a:rPr lang="ru-RU" sz="900" dirty="0" err="1" smtClean="0"/>
                        <a:t>дастурлари</a:t>
                      </a:r>
                      <a:r>
                        <a:rPr lang="ru-RU" sz="900" dirty="0" smtClean="0"/>
                        <a:t> </a:t>
                      </a:r>
                      <a:r>
                        <a:rPr lang="ru-RU" sz="900" dirty="0" err="1" smtClean="0"/>
                        <a:t>яратилишида</a:t>
                      </a:r>
                      <a:r>
                        <a:rPr lang="ru-RU" sz="900" dirty="0" smtClean="0"/>
                        <a:t> </a:t>
                      </a:r>
                      <a:r>
                        <a:rPr lang="ru-RU" sz="900" dirty="0" err="1" smtClean="0"/>
                        <a:t>иштирок</a:t>
                      </a:r>
                      <a:r>
                        <a:rPr lang="ru-RU" sz="900" dirty="0" smtClean="0"/>
                        <a:t> </a:t>
                      </a:r>
                      <a:r>
                        <a:rPr lang="ru-RU" sz="900" dirty="0" err="1" smtClean="0"/>
                        <a:t>этган</a:t>
                      </a:r>
                      <a:r>
                        <a:rPr lang="ru-RU" sz="900" dirty="0" smtClean="0"/>
                        <a:t> </a:t>
                      </a:r>
                      <a:r>
                        <a:rPr lang="ru-RU" sz="900" dirty="0" err="1" smtClean="0"/>
                        <a:t>ҳамда</a:t>
                      </a:r>
                      <a:r>
                        <a:rPr lang="ru-RU" sz="900" dirty="0" smtClean="0"/>
                        <a:t> </a:t>
                      </a:r>
                      <a:r>
                        <a:rPr lang="ru-RU" sz="900" dirty="0" err="1" smtClean="0"/>
                        <a:t>ёш</a:t>
                      </a:r>
                      <a:r>
                        <a:rPr lang="ru-RU" sz="900" dirty="0" smtClean="0"/>
                        <a:t> </a:t>
                      </a:r>
                      <a:r>
                        <a:rPr lang="ru-RU" sz="900" dirty="0" err="1" smtClean="0"/>
                        <a:t>истеъдодларни</a:t>
                      </a:r>
                      <a:r>
                        <a:rPr lang="ru-RU" sz="900" dirty="0" smtClean="0"/>
                        <a:t> </a:t>
                      </a:r>
                      <a:r>
                        <a:rPr lang="ru-RU" sz="900" dirty="0" err="1" smtClean="0"/>
                        <a:t>тайёрлашга</a:t>
                      </a:r>
                      <a:r>
                        <a:rPr lang="ru-RU" sz="900" dirty="0" smtClean="0"/>
                        <a:t> </a:t>
                      </a:r>
                      <a:r>
                        <a:rPr lang="ru-RU" sz="900" dirty="0" err="1" smtClean="0"/>
                        <a:t>муносиб</a:t>
                      </a:r>
                      <a:r>
                        <a:rPr lang="ru-RU" sz="900" dirty="0" smtClean="0"/>
                        <a:t> </a:t>
                      </a:r>
                      <a:r>
                        <a:rPr lang="ru-RU" sz="900" dirty="0" err="1" smtClean="0"/>
                        <a:t>ҳисса</a:t>
                      </a:r>
                      <a:r>
                        <a:rPr lang="ru-RU" sz="900" dirty="0" smtClean="0"/>
                        <a:t> </a:t>
                      </a:r>
                      <a:r>
                        <a:rPr lang="ru-RU" sz="900" dirty="0" err="1" smtClean="0"/>
                        <a:t>қўшган</a:t>
                      </a:r>
                      <a:r>
                        <a:rPr lang="ru-RU" sz="900" dirty="0" smtClean="0"/>
                        <a:t>.</a:t>
                      </a:r>
                    </a:p>
                    <a:p>
                      <a:pPr marL="0" indent="179388" algn="just"/>
                      <a:r>
                        <a:rPr lang="ru-RU" sz="900" dirty="0" smtClean="0"/>
                        <a:t>2017 </a:t>
                      </a:r>
                      <a:r>
                        <a:rPr lang="ru-RU" sz="900" dirty="0" err="1" smtClean="0"/>
                        <a:t>йилдан</a:t>
                      </a:r>
                      <a:r>
                        <a:rPr lang="ru-RU" sz="900" dirty="0" smtClean="0"/>
                        <a:t> </a:t>
                      </a:r>
                      <a:r>
                        <a:rPr lang="ru-RU" sz="900" dirty="0" err="1" smtClean="0"/>
                        <a:t>буён</a:t>
                      </a:r>
                      <a:r>
                        <a:rPr lang="ru-RU" sz="900" dirty="0" smtClean="0"/>
                        <a:t> </a:t>
                      </a:r>
                      <a:r>
                        <a:rPr lang="ru-RU" sz="900" dirty="0" err="1" smtClean="0"/>
                        <a:t>Ўзбекистон</a:t>
                      </a:r>
                      <a:r>
                        <a:rPr lang="ru-RU" sz="900" dirty="0" smtClean="0"/>
                        <a:t> </a:t>
                      </a:r>
                      <a:r>
                        <a:rPr lang="ru-RU" sz="900" dirty="0" err="1" smtClean="0"/>
                        <a:t>давлат</a:t>
                      </a:r>
                      <a:r>
                        <a:rPr lang="ru-RU" sz="900" dirty="0" smtClean="0"/>
                        <a:t> сатира </a:t>
                      </a:r>
                      <a:r>
                        <a:rPr lang="ru-RU" sz="900" dirty="0" err="1" smtClean="0"/>
                        <a:t>театрида</a:t>
                      </a:r>
                      <a:r>
                        <a:rPr lang="ru-RU" sz="900" dirty="0" smtClean="0"/>
                        <a:t> </a:t>
                      </a:r>
                      <a:r>
                        <a:rPr lang="ru-RU" sz="900" dirty="0" err="1" smtClean="0"/>
                        <a:t>олий</a:t>
                      </a:r>
                      <a:r>
                        <a:rPr lang="ru-RU" sz="900" dirty="0" smtClean="0"/>
                        <a:t> </a:t>
                      </a:r>
                      <a:r>
                        <a:rPr lang="ru-RU" sz="900" dirty="0" err="1" smtClean="0"/>
                        <a:t>тоифали</a:t>
                      </a:r>
                      <a:r>
                        <a:rPr lang="ru-RU" sz="900" dirty="0" smtClean="0"/>
                        <a:t> актриса </a:t>
                      </a:r>
                      <a:r>
                        <a:rPr lang="ru-RU" sz="900" dirty="0" err="1" smtClean="0"/>
                        <a:t>сифатида</a:t>
                      </a:r>
                      <a:r>
                        <a:rPr lang="ru-RU" sz="900" dirty="0" smtClean="0"/>
                        <a:t> </a:t>
                      </a:r>
                      <a:r>
                        <a:rPr lang="ru-RU" sz="900" dirty="0" err="1" smtClean="0"/>
                        <a:t>ишлаб</a:t>
                      </a:r>
                      <a:r>
                        <a:rPr lang="ru-RU" sz="900" dirty="0" smtClean="0"/>
                        <a:t> </a:t>
                      </a:r>
                      <a:r>
                        <a:rPr lang="ru-RU" sz="900" dirty="0" err="1" smtClean="0"/>
                        <a:t>келмоқда</a:t>
                      </a:r>
                      <a:r>
                        <a:rPr lang="ru-RU" sz="900" dirty="0" smtClean="0"/>
                        <a:t>. “</a:t>
                      </a:r>
                      <a:r>
                        <a:rPr lang="ru-RU" sz="900" dirty="0" err="1" smtClean="0"/>
                        <a:t>Ўз</a:t>
                      </a:r>
                      <a:r>
                        <a:rPr lang="ru-RU" sz="900" dirty="0" smtClean="0"/>
                        <a:t> </a:t>
                      </a:r>
                      <a:r>
                        <a:rPr lang="ru-RU" sz="900" dirty="0" err="1" smtClean="0"/>
                        <a:t>ёрингдан</a:t>
                      </a:r>
                      <a:r>
                        <a:rPr lang="ru-RU" sz="900" dirty="0" smtClean="0"/>
                        <a:t> </a:t>
                      </a:r>
                      <a:r>
                        <a:rPr lang="ru-RU" sz="900" dirty="0" err="1" smtClean="0"/>
                        <a:t>айрилма</a:t>
                      </a:r>
                      <a:r>
                        <a:rPr lang="ru-RU" sz="900" dirty="0" smtClean="0"/>
                        <a:t>”, “</a:t>
                      </a:r>
                      <a:r>
                        <a:rPr lang="ru-RU" sz="900" dirty="0" err="1" smtClean="0"/>
                        <a:t>Қор</a:t>
                      </a:r>
                      <a:r>
                        <a:rPr lang="ru-RU" sz="900" dirty="0" smtClean="0"/>
                        <a:t> </a:t>
                      </a:r>
                      <a:r>
                        <a:rPr lang="ru-RU" sz="900" dirty="0" err="1" smtClean="0"/>
                        <a:t>маликаси</a:t>
                      </a:r>
                      <a:r>
                        <a:rPr lang="ru-RU" sz="900" dirty="0" smtClean="0"/>
                        <a:t>”, “</a:t>
                      </a:r>
                      <a:r>
                        <a:rPr lang="ru-RU" sz="900" dirty="0" err="1" smtClean="0"/>
                        <a:t>Уйланиш</a:t>
                      </a:r>
                      <a:r>
                        <a:rPr lang="ru-RU" sz="900" dirty="0" smtClean="0"/>
                        <a:t>”, “</a:t>
                      </a:r>
                      <a:r>
                        <a:rPr lang="ru-RU" sz="900" dirty="0" err="1" smtClean="0"/>
                        <a:t>Фалсафа</a:t>
                      </a:r>
                      <a:r>
                        <a:rPr lang="ru-RU" sz="900" dirty="0" smtClean="0"/>
                        <a:t> </a:t>
                      </a:r>
                      <a:r>
                        <a:rPr lang="ru-RU" sz="900" dirty="0" err="1" smtClean="0"/>
                        <a:t>доктори</a:t>
                      </a:r>
                      <a:r>
                        <a:rPr lang="ru-RU" sz="900" dirty="0" smtClean="0"/>
                        <a:t>”, “Ревизор”, “</a:t>
                      </a:r>
                      <a:r>
                        <a:rPr lang="ru-RU" sz="900" dirty="0" err="1" smtClean="0"/>
                        <a:t>Жамила</a:t>
                      </a:r>
                      <a:r>
                        <a:rPr lang="ru-RU" sz="900" dirty="0" smtClean="0"/>
                        <a:t>” </a:t>
                      </a:r>
                      <a:r>
                        <a:rPr lang="ru-RU" sz="900" dirty="0" err="1" smtClean="0"/>
                        <a:t>каби</a:t>
                      </a:r>
                      <a:r>
                        <a:rPr lang="ru-RU" sz="900" dirty="0" smtClean="0"/>
                        <a:t> </a:t>
                      </a:r>
                      <a:r>
                        <a:rPr lang="ru-RU" sz="900" dirty="0" err="1" smtClean="0"/>
                        <a:t>спектакллардаги</a:t>
                      </a:r>
                      <a:r>
                        <a:rPr lang="ru-RU" sz="900" dirty="0" smtClean="0"/>
                        <a:t> </a:t>
                      </a:r>
                      <a:r>
                        <a:rPr lang="ru-RU" sz="900" dirty="0" err="1" smtClean="0"/>
                        <a:t>характерли</a:t>
                      </a:r>
                      <a:r>
                        <a:rPr lang="ru-RU" sz="900" dirty="0" smtClean="0"/>
                        <a:t> </a:t>
                      </a:r>
                      <a:r>
                        <a:rPr lang="ru-RU" sz="900" dirty="0" err="1" smtClean="0"/>
                        <a:t>образлари</a:t>
                      </a:r>
                      <a:r>
                        <a:rPr lang="ru-RU" sz="900" dirty="0" smtClean="0"/>
                        <a:t> </a:t>
                      </a:r>
                      <a:r>
                        <a:rPr lang="ru-RU" sz="900" dirty="0" err="1" smtClean="0"/>
                        <a:t>билан</a:t>
                      </a:r>
                      <a:r>
                        <a:rPr lang="ru-RU" sz="900" dirty="0" smtClean="0"/>
                        <a:t> </a:t>
                      </a:r>
                      <a:r>
                        <a:rPr lang="ru-RU" sz="900" dirty="0" err="1" smtClean="0"/>
                        <a:t>ижодини</a:t>
                      </a:r>
                      <a:r>
                        <a:rPr lang="ru-RU" sz="900" dirty="0" smtClean="0"/>
                        <a:t> </a:t>
                      </a:r>
                      <a:r>
                        <a:rPr lang="ru-RU" sz="900" dirty="0" err="1" smtClean="0"/>
                        <a:t>муваффақиятли</a:t>
                      </a:r>
                      <a:r>
                        <a:rPr lang="ru-RU" sz="900" dirty="0" smtClean="0"/>
                        <a:t> </a:t>
                      </a:r>
                      <a:r>
                        <a:rPr lang="ru-RU" sz="900" dirty="0" err="1" smtClean="0"/>
                        <a:t>давом</a:t>
                      </a:r>
                      <a:r>
                        <a:rPr lang="ru-RU" sz="900" dirty="0" smtClean="0"/>
                        <a:t> </a:t>
                      </a:r>
                      <a:r>
                        <a:rPr lang="ru-RU" sz="900" dirty="0" err="1" smtClean="0"/>
                        <a:t>эттирмоқда</a:t>
                      </a:r>
                      <a:r>
                        <a:rPr lang="ru-RU" sz="900" dirty="0" smtClean="0"/>
                        <a:t>.</a:t>
                      </a:r>
                    </a:p>
                    <a:p>
                      <a:pPr marL="0" indent="179388" algn="just"/>
                      <a:r>
                        <a:rPr lang="ru-RU" sz="900" dirty="0" err="1" smtClean="0"/>
                        <a:t>А.Ибатулина</a:t>
                      </a:r>
                      <a:r>
                        <a:rPr lang="ru-RU" sz="900" dirty="0" smtClean="0"/>
                        <a:t> </a:t>
                      </a:r>
                      <a:r>
                        <a:rPr lang="ru-RU" sz="900" dirty="0" err="1" smtClean="0"/>
                        <a:t>ўзининг</a:t>
                      </a:r>
                      <a:r>
                        <a:rPr lang="ru-RU" sz="900" dirty="0" smtClean="0"/>
                        <a:t> </a:t>
                      </a:r>
                      <a:r>
                        <a:rPr lang="ru-RU" sz="900" dirty="0" err="1" smtClean="0"/>
                        <a:t>камтарлиги</a:t>
                      </a:r>
                      <a:r>
                        <a:rPr lang="ru-RU" sz="900" dirty="0" smtClean="0"/>
                        <a:t>, </a:t>
                      </a:r>
                      <a:r>
                        <a:rPr lang="ru-RU" sz="900" dirty="0" err="1" smtClean="0"/>
                        <a:t>самимийлиги</a:t>
                      </a:r>
                      <a:r>
                        <a:rPr lang="ru-RU" sz="900" dirty="0" smtClean="0"/>
                        <a:t> </a:t>
                      </a:r>
                      <a:r>
                        <a:rPr lang="ru-RU" sz="900" dirty="0" err="1" smtClean="0"/>
                        <a:t>ва</a:t>
                      </a:r>
                      <a:r>
                        <a:rPr lang="ru-RU" sz="900" dirty="0" smtClean="0"/>
                        <a:t> </a:t>
                      </a:r>
                      <a:r>
                        <a:rPr lang="ru-RU" sz="900" dirty="0" err="1" smtClean="0"/>
                        <a:t>ширинсўзлиги</a:t>
                      </a:r>
                      <a:r>
                        <a:rPr lang="ru-RU" sz="900" dirty="0" smtClean="0"/>
                        <a:t> </a:t>
                      </a:r>
                      <a:r>
                        <a:rPr lang="ru-RU" sz="900" dirty="0" err="1" smtClean="0"/>
                        <a:t>билан</a:t>
                      </a:r>
                      <a:r>
                        <a:rPr lang="ru-RU" sz="900" dirty="0" smtClean="0"/>
                        <a:t> театр </a:t>
                      </a:r>
                      <a:r>
                        <a:rPr lang="ru-RU" sz="900" dirty="0" err="1" smtClean="0"/>
                        <a:t>жамоаси</a:t>
                      </a:r>
                      <a:r>
                        <a:rPr lang="ru-RU" sz="900" dirty="0" smtClean="0"/>
                        <a:t> </a:t>
                      </a:r>
                      <a:r>
                        <a:rPr lang="ru-RU" sz="900" dirty="0" err="1" smtClean="0"/>
                        <a:t>ва</a:t>
                      </a:r>
                      <a:r>
                        <a:rPr lang="ru-RU" sz="900" dirty="0" smtClean="0"/>
                        <a:t> </a:t>
                      </a:r>
                      <a:r>
                        <a:rPr lang="ru-RU" sz="900" dirty="0" err="1" smtClean="0"/>
                        <a:t>санъат</a:t>
                      </a:r>
                      <a:r>
                        <a:rPr lang="ru-RU" sz="900" dirty="0" smtClean="0"/>
                        <a:t> </a:t>
                      </a:r>
                      <a:r>
                        <a:rPr lang="ru-RU" sz="900" dirty="0" err="1" smtClean="0"/>
                        <a:t>аҳли</a:t>
                      </a:r>
                      <a:r>
                        <a:rPr lang="ru-RU" sz="900" dirty="0" smtClean="0"/>
                        <a:t> </a:t>
                      </a:r>
                      <a:r>
                        <a:rPr lang="ru-RU" sz="900" dirty="0" err="1" smtClean="0"/>
                        <a:t>орасида</a:t>
                      </a:r>
                      <a:r>
                        <a:rPr lang="ru-RU" sz="900" dirty="0" smtClean="0"/>
                        <a:t> </a:t>
                      </a:r>
                      <a:r>
                        <a:rPr lang="ru-RU" sz="900" dirty="0" err="1" smtClean="0"/>
                        <a:t>катта</a:t>
                      </a:r>
                      <a:r>
                        <a:rPr lang="ru-RU" sz="900" dirty="0" smtClean="0"/>
                        <a:t> </a:t>
                      </a:r>
                      <a:r>
                        <a:rPr lang="ru-RU" sz="900" dirty="0" err="1" smtClean="0"/>
                        <a:t>ҳурмат</a:t>
                      </a:r>
                      <a:r>
                        <a:rPr lang="ru-RU" sz="900" dirty="0" smtClean="0"/>
                        <a:t> </a:t>
                      </a:r>
                      <a:r>
                        <a:rPr lang="ru-RU" sz="900" dirty="0" err="1" smtClean="0"/>
                        <a:t>қозонган</a:t>
                      </a:r>
                      <a:r>
                        <a:rPr lang="ru-RU" sz="900" dirty="0" smtClean="0"/>
                        <a:t> </a:t>
                      </a:r>
                      <a:r>
                        <a:rPr lang="ru-RU" sz="900" dirty="0" err="1" smtClean="0"/>
                        <a:t>устоз</a:t>
                      </a:r>
                      <a:r>
                        <a:rPr lang="ru-RU" sz="900" dirty="0" smtClean="0"/>
                        <a:t> </a:t>
                      </a:r>
                      <a:r>
                        <a:rPr lang="ru-RU" sz="900" dirty="0" err="1" smtClean="0"/>
                        <a:t>санъаткорлардан</a:t>
                      </a:r>
                      <a:r>
                        <a:rPr lang="ru-RU" sz="900" dirty="0" smtClean="0"/>
                        <a:t> </a:t>
                      </a:r>
                      <a:r>
                        <a:rPr lang="ru-RU" sz="900" dirty="0" err="1" smtClean="0"/>
                        <a:t>бири</a:t>
                      </a:r>
                      <a:r>
                        <a:rPr lang="ru-RU" sz="900" dirty="0" smtClean="0"/>
                        <a:t> </a:t>
                      </a:r>
                      <a:r>
                        <a:rPr lang="ru-RU" sz="900" dirty="0" err="1" smtClean="0"/>
                        <a:t>ҳисобланади</a:t>
                      </a:r>
                      <a:r>
                        <a:rPr lang="ru-RU" sz="900" dirty="0" smtClean="0"/>
                        <a:t>.</a:t>
                      </a:r>
                      <a:endParaRPr lang="ru-RU" sz="900" dirty="0"/>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6104">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10396">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p:cNvPicPr>
            <a:picLocks noChangeAspect="1"/>
          </p:cNvPicPr>
          <p:nvPr/>
        </p:nvPicPr>
        <p:blipFill>
          <a:blip r:embed="rId2"/>
          <a:stretch>
            <a:fillRect/>
          </a:stretch>
        </p:blipFill>
        <p:spPr>
          <a:xfrm>
            <a:off x="325709" y="1126960"/>
            <a:ext cx="814833" cy="1088848"/>
          </a:xfrm>
          <a:prstGeom prst="rect">
            <a:avLst/>
          </a:prstGeom>
        </p:spPr>
      </p:pic>
      <p:pic>
        <p:nvPicPr>
          <p:cNvPr id="8" name="Рисунок 7"/>
          <p:cNvPicPr>
            <a:picLocks noChangeAspect="1"/>
          </p:cNvPicPr>
          <p:nvPr/>
        </p:nvPicPr>
        <p:blipFill>
          <a:blip r:embed="rId3"/>
          <a:stretch>
            <a:fillRect/>
          </a:stretch>
        </p:blipFill>
        <p:spPr>
          <a:xfrm>
            <a:off x="217969" y="1126961"/>
            <a:ext cx="998435" cy="1088847"/>
          </a:xfrm>
          <a:prstGeom prst="rect">
            <a:avLst/>
          </a:prstGeom>
        </p:spPr>
      </p:pic>
    </p:spTree>
    <p:extLst>
      <p:ext uri="{BB962C8B-B14F-4D97-AF65-F5344CB8AC3E}">
        <p14:creationId xmlns:p14="http://schemas.microsoft.com/office/powerpoint/2010/main" val="574052154"/>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470996"/>
            <a:ext cx="9628207" cy="34479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ltLang="en-US" sz="1200" b="1" dirty="0" smtClean="0">
              <a:solidFill>
                <a:srgbClr val="002060"/>
              </a:solidFill>
              <a:latin typeface="Bahnschrift SemiBold" panose="020B0502040204020203" pitchFamily="34" charset="0"/>
            </a:endParaRPr>
          </a:p>
          <a:p>
            <a:pPr algn="ctr"/>
            <a:r>
              <a:rPr lang="ru-RU" altLang="en-US" sz="1600" b="1" dirty="0" smtClean="0">
                <a:solidFill>
                  <a:srgbClr val="002060"/>
                </a:solidFill>
                <a:latin typeface="Bahnschrift SemiBold" panose="020B0502040204020203" pitchFamily="34" charset="0"/>
              </a:rPr>
              <a:t>ТЕАТР ВА ЦИРК ЙЎНАЛИШИ СОҲА ВАКИЛЛАРИ</a:t>
            </a:r>
            <a:endParaRPr lang="en-US" sz="1600" b="1" dirty="0">
              <a:solidFill>
                <a:srgbClr val="002060"/>
              </a:solidFill>
              <a:latin typeface="Bahnschrift SemiBold" panose="020B0502040204020203" pitchFamily="34" charset="0"/>
            </a:endParaRPr>
          </a:p>
          <a:p>
            <a:pPr algn="ct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921749741"/>
              </p:ext>
            </p:extLst>
          </p:nvPr>
        </p:nvGraphicFramePr>
        <p:xfrm>
          <a:off x="144489" y="815789"/>
          <a:ext cx="3427547" cy="5999962"/>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26889">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76074">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НИЗОМИДДИНОВ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7607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Хайитали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7607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Маматкулович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76074">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7607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03.05.1946</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38321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err="1" smtClean="0">
                          <a:solidFill>
                            <a:schemeClr val="tx1"/>
                          </a:solidFill>
                          <a:latin typeface="+mn-lt"/>
                          <a:ea typeface="+mn-ea"/>
                          <a:cs typeface="+mn-cs"/>
                        </a:rPr>
                        <a:t>Самарқанд</a:t>
                      </a:r>
                      <a:r>
                        <a:rPr lang="ru-RU" sz="800" b="0" kern="1200" dirty="0" smtClean="0">
                          <a:solidFill>
                            <a:schemeClr val="tx1"/>
                          </a:solidFill>
                          <a:latin typeface="+mn-lt"/>
                          <a:ea typeface="+mn-ea"/>
                          <a:cs typeface="+mn-cs"/>
                        </a:rPr>
                        <a:t> </a:t>
                      </a:r>
                      <a:r>
                        <a:rPr lang="ru-RU" sz="800" b="0" kern="1200" dirty="0" err="1" smtClean="0">
                          <a:solidFill>
                            <a:schemeClr val="tx1"/>
                          </a:solidFill>
                          <a:latin typeface="+mn-lt"/>
                          <a:ea typeface="+mn-ea"/>
                          <a:cs typeface="+mn-cs"/>
                        </a:rPr>
                        <a:t>вилояти</a:t>
                      </a:r>
                      <a:r>
                        <a:rPr lang="ru-RU" sz="800" b="0" kern="1200" dirty="0" smtClean="0">
                          <a:solidFill>
                            <a:schemeClr val="tx1"/>
                          </a:solidFill>
                          <a:latin typeface="+mn-lt"/>
                          <a:ea typeface="+mn-ea"/>
                          <a:cs typeface="+mn-cs"/>
                        </a:rPr>
                        <a:t>, </a:t>
                      </a:r>
                      <a:r>
                        <a:rPr lang="ru-RU" sz="800" b="0" kern="1200" dirty="0" err="1" smtClean="0">
                          <a:solidFill>
                            <a:schemeClr val="tx1"/>
                          </a:solidFill>
                          <a:latin typeface="+mn-lt"/>
                          <a:ea typeface="+mn-ea"/>
                          <a:cs typeface="+mn-cs"/>
                        </a:rPr>
                        <a:t>Ғаллаорол</a:t>
                      </a:r>
                      <a:r>
                        <a:rPr lang="ru-RU" sz="800" b="0" kern="1200" dirty="0" smtClean="0">
                          <a:solidFill>
                            <a:schemeClr val="tx1"/>
                          </a:solidFill>
                          <a:latin typeface="+mn-lt"/>
                          <a:ea typeface="+mn-ea"/>
                          <a:cs typeface="+mn-cs"/>
                        </a:rPr>
                        <a:t> </a:t>
                      </a:r>
                      <a:r>
                        <a:rPr lang="ru-RU" sz="800" b="0" kern="1200" dirty="0" err="1" smtClean="0">
                          <a:solidFill>
                            <a:schemeClr val="tx1"/>
                          </a:solidFill>
                          <a:latin typeface="+mn-lt"/>
                          <a:ea typeface="+mn-ea"/>
                          <a:cs typeface="+mn-cs"/>
                        </a:rPr>
                        <a:t>тумани</a:t>
                      </a:r>
                      <a:r>
                        <a:rPr lang="ru-RU" sz="800" b="0" kern="1200" dirty="0" smtClean="0">
                          <a:solidFill>
                            <a:schemeClr val="tx1"/>
                          </a:solidFill>
                          <a:latin typeface="+mn-lt"/>
                          <a:ea typeface="+mn-ea"/>
                          <a:cs typeface="+mn-cs"/>
                        </a:rPr>
                        <a:t> </a:t>
                      </a:r>
                    </a:p>
                    <a:p>
                      <a:pPr algn="l">
                        <a:lnSpc>
                          <a:spcPct val="90000"/>
                        </a:lnSpc>
                      </a:pP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15309">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84149">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ru-RU" sz="900" b="0" kern="1200" noProof="0" dirty="0" err="1" smtClean="0">
                          <a:solidFill>
                            <a:schemeClr val="tx1"/>
                          </a:solidFill>
                          <a:latin typeface="+mn-lt"/>
                          <a:ea typeface="+mn-ea"/>
                          <a:cs typeface="+mn-cs"/>
                        </a:rPr>
                        <a:t>бир</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қизи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уч</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нафар</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ўғли</a:t>
                      </a:r>
                      <a:r>
                        <a:rPr lang="ru-RU" sz="900" b="0" kern="1200" noProof="0" dirty="0" smtClean="0">
                          <a:solidFill>
                            <a:schemeClr val="tx1"/>
                          </a:solidFill>
                          <a:latin typeface="+mn-lt"/>
                          <a:ea typeface="+mn-ea"/>
                          <a:cs typeface="+mn-cs"/>
                        </a:rPr>
                        <a:t> бор</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15309">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242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dirty="0" smtClean="0">
                          <a:solidFill>
                            <a:schemeClr val="tx1"/>
                          </a:solidFill>
                          <a:latin typeface="+mn-lt"/>
                          <a:ea typeface="+mn-ea"/>
                          <a:cs typeface="Arial" panose="020B0604020202020204" pitchFamily="34" charset="0"/>
                        </a:rPr>
                        <a:t>НИЗОМ</a:t>
                      </a:r>
                      <a:r>
                        <a:rPr lang="ru-RU" sz="900" b="1" kern="1200" dirty="0" smtClean="0">
                          <a:solidFill>
                            <a:schemeClr val="tx1"/>
                          </a:solidFill>
                          <a:latin typeface="+mn-lt"/>
                          <a:ea typeface="+mn-ea"/>
                          <a:cs typeface="Arial" panose="020B0604020202020204" pitchFamily="34" charset="0"/>
                        </a:rPr>
                        <a:t>И</a:t>
                      </a:r>
                      <a:r>
                        <a:rPr lang="uz-Cyrl-UZ" sz="900" b="1" kern="1200" dirty="0" smtClean="0">
                          <a:solidFill>
                            <a:schemeClr val="tx1"/>
                          </a:solidFill>
                          <a:latin typeface="+mn-lt"/>
                          <a:ea typeface="+mn-ea"/>
                          <a:cs typeface="Arial" panose="020B0604020202020204" pitchFamily="34" charset="0"/>
                        </a:rPr>
                        <a:t>ДДИНОВ Маматкул</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1898 йил, Ғаллаорол тумани</a:t>
                      </a:r>
                    </a:p>
                    <a:p>
                      <a:pPr algn="l">
                        <a:lnSpc>
                          <a:spcPct val="85000"/>
                        </a:lnSpc>
                      </a:pP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endParaRPr lang="uz-Cyrl-UZ" sz="900" b="1"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1974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Ғаллаорол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жамоа</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хўжалиги</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ишчиси</a:t>
                      </a:r>
                      <a:r>
                        <a:rPr lang="ru-RU" sz="900" b="0" kern="1200" noProof="0" dirty="0" smtClean="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02754">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ЎТАМИШЕВА Холбуви</a:t>
                      </a:r>
                    </a:p>
                    <a:p>
                      <a:pPr algn="l">
                        <a:lnSpc>
                          <a:spcPct val="85000"/>
                        </a:lnSpc>
                      </a:pPr>
                      <a:r>
                        <a:rPr lang="uz-Cyrl-UZ" sz="900" b="0" kern="1200" noProof="0" dirty="0" smtClean="0">
                          <a:solidFill>
                            <a:schemeClr val="tx1"/>
                          </a:solidFill>
                          <a:latin typeface="+mn-lt"/>
                          <a:ea typeface="+mn-ea"/>
                          <a:cs typeface="Arial" panose="020B0604020202020204" pitchFamily="34" charset="0"/>
                        </a:rPr>
                        <a:t>1910 йил, Оҳангарон тумани</a:t>
                      </a:r>
                    </a:p>
                    <a:p>
                      <a:pPr algn="l">
                        <a:lnSpc>
                          <a:spcPct val="85000"/>
                        </a:lnSpc>
                      </a:pPr>
                      <a:endParaRPr lang="uz-Cyrl-UZ" sz="900" b="1"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1985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r>
                        <a:rPr lang="ru-RU" sz="900" b="0" kern="1200" noProof="0" dirty="0" smtClean="0">
                          <a:solidFill>
                            <a:schemeClr val="tx1"/>
                          </a:solidFill>
                          <a:latin typeface="+mn-lt"/>
                          <a:ea typeface="+mn-ea"/>
                          <a:cs typeface="Arial" panose="020B0604020202020204" pitchFamily="34" charset="0"/>
                        </a:rPr>
                        <a:t> </a:t>
                      </a: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уй</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бекаси</a:t>
                      </a:r>
                      <a:r>
                        <a:rPr lang="ru-RU" sz="900" b="0" kern="1200" noProof="0" dirty="0" smtClean="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13484">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РИЗАЕВА Муяссар</a:t>
                      </a:r>
                    </a:p>
                    <a:p>
                      <a:pPr algn="l">
                        <a:lnSpc>
                          <a:spcPct val="85000"/>
                        </a:lnSpc>
                      </a:pPr>
                      <a:r>
                        <a:rPr lang="uz-Cyrl-UZ" sz="900" b="0" kern="1200" noProof="0" dirty="0" smtClean="0">
                          <a:solidFill>
                            <a:schemeClr val="tx1"/>
                          </a:solidFill>
                          <a:latin typeface="+mn-lt"/>
                          <a:ea typeface="+mn-ea"/>
                          <a:cs typeface="Arial" panose="020B0604020202020204" pitchFamily="34" charset="0"/>
                        </a:rPr>
                        <a:t>1947 йил, Тошкент шаҳри</a:t>
                      </a:r>
                    </a:p>
                    <a:p>
                      <a:pPr algn="l">
                        <a:lnSpc>
                          <a:spcPct val="85000"/>
                        </a:lnSpc>
                      </a:pPr>
                      <a:endParaRPr lang="uz-Cyrl-UZ" sz="900" b="1"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err="1" smtClean="0">
                          <a:solidFill>
                            <a:schemeClr val="tx1"/>
                          </a:solidFill>
                          <a:latin typeface="+mn-lt"/>
                          <a:ea typeface="+mn-ea"/>
                          <a:cs typeface="Arial" panose="020B0604020202020204" pitchFamily="34" charset="0"/>
                        </a:rPr>
                        <a:t>Пенсияда</a:t>
                      </a:r>
                      <a:r>
                        <a:rPr lang="ru-RU" sz="900" b="0" kern="1200" noProof="0" dirty="0" smtClean="0">
                          <a:solidFill>
                            <a:schemeClr val="tx1"/>
                          </a:solidFill>
                          <a:latin typeface="+mn-lt"/>
                          <a:ea typeface="+mn-ea"/>
                          <a:cs typeface="Arial" panose="020B0604020202020204" pitchFamily="34" charset="0"/>
                        </a:rPr>
                        <a:t> (Алишер </a:t>
                      </a:r>
                      <a:r>
                        <a:rPr lang="ru-RU" sz="900" b="0" kern="1200" noProof="0" dirty="0" err="1" smtClean="0">
                          <a:solidFill>
                            <a:schemeClr val="tx1"/>
                          </a:solidFill>
                          <a:latin typeface="+mn-lt"/>
                          <a:ea typeface="+mn-ea"/>
                          <a:cs typeface="Arial" panose="020B0604020202020204" pitchFamily="34" charset="0"/>
                        </a:rPr>
                        <a:t>Навоий</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номидаги</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миллий</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кутубхона</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мутахассиси</a:t>
                      </a:r>
                      <a:r>
                        <a:rPr lang="ru-RU" sz="900" b="0" kern="1200" noProof="0" dirty="0" smtClean="0">
                          <a:solidFill>
                            <a:schemeClr val="tx1"/>
                          </a:solidFill>
                          <a:latin typeface="+mn-lt"/>
                          <a:ea typeface="+mn-ea"/>
                          <a:cs typeface="Arial" panose="020B0604020202020204" pitchFamily="34" charset="0"/>
                        </a:rPr>
                        <a:t>)</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93597">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7794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1969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давлат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рассомлик</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54078">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ва кино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292024">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292024">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292024">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89"/>
          <a:ext cx="3172841" cy="5937783"/>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761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1174">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2009 йилдан буён</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192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685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56 йил 8 ой</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97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896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811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811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624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576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365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287375">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b="0" kern="1200" dirty="0" smtClean="0">
                          <a:solidFill>
                            <a:schemeClr val="tx1"/>
                          </a:solidFill>
                          <a:latin typeface="+mn-lt"/>
                          <a:ea typeface="+mn-ea"/>
                          <a:cs typeface="Arial" panose="020B0604020202020204" pitchFamily="34" charset="0"/>
                        </a:rPr>
                        <a:t>2015й. Ўзбекистон Республикаси  “Дўстлик” ордени</a:t>
                      </a:r>
                      <a:endParaRPr lang="ru-RU" sz="900" b="0" kern="1200" dirty="0" smtClean="0">
                        <a:solidFill>
                          <a:schemeClr val="tx1"/>
                        </a:solidFill>
                        <a:latin typeface="+mn-lt"/>
                        <a:ea typeface="+mn-ea"/>
                        <a:cs typeface="Arial" panose="020B0604020202020204" pitchFamily="34" charset="0"/>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085369019"/>
              </p:ext>
            </p:extLst>
          </p:nvPr>
        </p:nvGraphicFramePr>
        <p:xfrm>
          <a:off x="6949857" y="869286"/>
          <a:ext cx="2817247" cy="5942575"/>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marL="0" indent="179388" algn="just">
                        <a:lnSpc>
                          <a:spcPct val="85000"/>
                        </a:lnSpc>
                      </a:pPr>
                      <a:r>
                        <a:rPr lang="uz-Cyrl-UZ" sz="900" b="0" noProof="0" dirty="0" smtClean="0">
                          <a:solidFill>
                            <a:schemeClr val="tx1"/>
                          </a:solidFill>
                          <a:latin typeface="+mn-lt"/>
                        </a:rPr>
                        <a:t>Низомиддинов Ҳайитали Маматқулович 2015 йилда “Дўстлик” ордени билан мукофотланган. Унинг умумий меҳнат стажи 56 йилни ташкил этади.Устоз санъаткор Ҳ. Низомиддинов кўп йиллик ижодий фаолияти давомида юздан ортиқ саҳна қаҳрамонлари, бадиий фильм ва сериаллардаги мураккаб характерли образларни юксак маҳорат билан яратиб, томошабинлар меҳрини қозонган.</a:t>
                      </a:r>
                    </a:p>
                    <a:p>
                      <a:pPr marL="0" indent="179388" algn="just">
                        <a:lnSpc>
                          <a:spcPct val="85000"/>
                        </a:lnSpc>
                      </a:pPr>
                      <a:r>
                        <a:rPr lang="uz-Cyrl-UZ" sz="900" b="0" noProof="0" dirty="0" smtClean="0">
                          <a:solidFill>
                            <a:schemeClr val="tx1"/>
                          </a:solidFill>
                          <a:latin typeface="+mn-lt"/>
                        </a:rPr>
                        <a:t>Ўзбекистон давлат сатира театри саҳнасида “Аяжонларим”да Раис, “Насриддиннинг ёшлиги”да фирибгар қози, “Икки бойга бир малай”да Панталоне, “Фалсафа доктори”да профессор, “Ревизор”да мактаблар нозири, “Садоқат”да ота, “Қудуқ”да Носир каби қатор ёрқин образларни яратган.Ҳ. Низомиддинов олий тоифали актёрлар сарасига киради.</a:t>
                      </a:r>
                    </a:p>
                    <a:p>
                      <a:pPr marL="0" indent="179388" algn="just">
                        <a:lnSpc>
                          <a:spcPct val="85000"/>
                        </a:lnSpc>
                      </a:pPr>
                      <a:r>
                        <a:rPr lang="uz-Cyrl-UZ" sz="900" b="0" noProof="0" dirty="0" smtClean="0">
                          <a:solidFill>
                            <a:schemeClr val="tx1"/>
                          </a:solidFill>
                          <a:latin typeface="+mn-lt"/>
                        </a:rPr>
                        <a:t>Унинг ижросидаги образлар ҳаётийлиги, табиийлиги ва таъсирчанлиги билан ажралиб туради. Ижодкор ижросидаги роллар ёшларда Ватанга садоқат, инсонийлик ва меҳр-оқибат туйғуларини шакллантиришда муҳим аҳамият касб этади.Устоз санъаткор театрда ёш актёрларга саҳна маҳорати сирларини ўргатиб келмоқда.</a:t>
                      </a:r>
                    </a:p>
                    <a:p>
                      <a:pPr marL="0" indent="179388" algn="just">
                        <a:lnSpc>
                          <a:spcPct val="85000"/>
                        </a:lnSpc>
                      </a:pPr>
                      <a:r>
                        <a:rPr lang="uz-Cyrl-UZ" sz="900" b="0" noProof="0" dirty="0" smtClean="0">
                          <a:solidFill>
                            <a:schemeClr val="tx1"/>
                          </a:solidFill>
                          <a:latin typeface="+mn-lt"/>
                        </a:rPr>
                        <a:t>Шунингдек, республика бўйлаб ўтказиладиган гастроллар, ижодий учрашувлар ва маданий-маърифий тадбирларда фаол иштирок этиб келади.</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922543">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a:picLocks noChangeAspect="1"/>
          </p:cNvPicPr>
          <p:nvPr/>
        </p:nvPicPr>
        <p:blipFill rotWithShape="1">
          <a:blip r:embed="rId2"/>
          <a:srcRect l="5523" r="6068" b="10106"/>
          <a:stretch/>
        </p:blipFill>
        <p:spPr>
          <a:xfrm>
            <a:off x="226766" y="1124123"/>
            <a:ext cx="944008" cy="1149057"/>
          </a:xfrm>
          <a:prstGeom prst="rect">
            <a:avLst/>
          </a:prstGeom>
        </p:spPr>
      </p:pic>
    </p:spTree>
    <p:extLst>
      <p:ext uri="{BB962C8B-B14F-4D97-AF65-F5344CB8AC3E}">
        <p14:creationId xmlns:p14="http://schemas.microsoft.com/office/powerpoint/2010/main" val="1738062806"/>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altLang="en-US" sz="1600" b="1" dirty="0" smtClean="0">
                <a:solidFill>
                  <a:srgbClr val="002060"/>
                </a:solidFill>
                <a:latin typeface="Bahnschrift SemiBold" panose="020B0502040204020203" pitchFamily="34" charset="0"/>
              </a:rPr>
              <a:t>ТЕАТР ВА ЦИРК ЙЎНАЛИШИ СОҲА ВАКИЛЛАРИ</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307662506"/>
              </p:ext>
            </p:extLst>
          </p:nvPr>
        </p:nvGraphicFramePr>
        <p:xfrm>
          <a:off x="144489" y="865703"/>
          <a:ext cx="3375951" cy="5856986"/>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782458">
                  <a:extLst>
                    <a:ext uri="{9D8B030D-6E8A-4147-A177-3AD203B41FA5}">
                      <a16:colId xmlns:a16="http://schemas.microsoft.com/office/drawing/2014/main" val="546773760"/>
                    </a:ext>
                  </a:extLst>
                </a:gridCol>
                <a:gridCol w="127756">
                  <a:extLst>
                    <a:ext uri="{9D8B030D-6E8A-4147-A177-3AD203B41FA5}">
                      <a16:colId xmlns:a16="http://schemas.microsoft.com/office/drawing/2014/main" val="538577227"/>
                    </a:ext>
                  </a:extLst>
                </a:gridCol>
                <a:gridCol w="1213506">
                  <a:extLst>
                    <a:ext uri="{9D8B030D-6E8A-4147-A177-3AD203B41FA5}">
                      <a16:colId xmlns:a16="http://schemas.microsoft.com/office/drawing/2014/main" val="546443978"/>
                    </a:ext>
                  </a:extLst>
                </a:gridCol>
              </a:tblGrid>
              <a:tr h="239929">
                <a:tc gridSpan="6">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МАЪЛУМОТЛАРИсмоилова</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6299">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ИСМОИЛОВА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4758">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3">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900" b="0" kern="1200" dirty="0">
                          <a:solidFill>
                            <a:schemeClr val="tx1"/>
                          </a:solidFill>
                          <a:latin typeface="+mn-lt"/>
                          <a:ea typeface="+mn-ea"/>
                          <a:cs typeface="+mn-cs"/>
                        </a:rPr>
                        <a:t>Зарифа </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629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marL="0" algn="l" defTabSz="914400" rtl="0" eaLnBrk="1" latinLnBrk="0" hangingPunct="1">
                        <a:lnSpc>
                          <a:spcPct val="80000"/>
                        </a:lnSpc>
                      </a:pPr>
                      <a:r>
                        <a:rPr lang="uz-Cyrl-UZ" sz="900" b="0" kern="1200" dirty="0">
                          <a:solidFill>
                            <a:schemeClr val="tx1"/>
                          </a:solidFill>
                          <a:latin typeface="+mn-lt"/>
                          <a:ea typeface="+mn-ea"/>
                          <a:cs typeface="+mn-cs"/>
                        </a:rPr>
                        <a:t>Хасановна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6299">
                <a:tc gridSpan="2" vMerge="1">
                  <a:txBody>
                    <a:bodyPr/>
                    <a:lstStyle/>
                    <a:p>
                      <a:endParaRPr lang="ru-RU"/>
                    </a:p>
                  </a:txBody>
                  <a:tcPr>
                    <a:lnT>
                      <a:noFill/>
                    </a:lnT>
                  </a:tcPr>
                </a:tc>
                <a:tc hMerge="1" vMerge="1">
                  <a:txBody>
                    <a:bodyPr/>
                    <a:lstStyle/>
                    <a:p>
                      <a:endParaRPr lang="ru-RU"/>
                    </a:p>
                  </a:txBody>
                  <a:tcPr/>
                </a:tc>
                <a:tc gridSpan="3">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629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marL="0" algn="l" defTabSz="914400" rtl="0" eaLnBrk="1" latinLnBrk="0" hangingPunct="1">
                        <a:lnSpc>
                          <a:spcPct val="80000"/>
                        </a:lnSpc>
                      </a:pPr>
                      <a:r>
                        <a:rPr lang="uz-Cyrl-UZ" sz="900" b="0" kern="1200" dirty="0">
                          <a:solidFill>
                            <a:schemeClr val="tx1"/>
                          </a:solidFill>
                          <a:latin typeface="+mn-lt"/>
                          <a:ea typeface="+mn-ea"/>
                          <a:cs typeface="+mn-cs"/>
                        </a:rPr>
                        <a:t>30.05.1955</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629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3">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7683">
                <a:tc gridSpan="6">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09033">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3 нафар </a:t>
                      </a:r>
                      <a:r>
                        <a:rPr lang="uz-Cyrl-UZ" sz="900" b="0" kern="1200" dirty="0">
                          <a:solidFill>
                            <a:schemeClr val="tx1"/>
                          </a:solidFill>
                          <a:latin typeface="+mn-lt"/>
                          <a:ea typeface="+mn-ea"/>
                          <a:cs typeface="+mn-cs"/>
                        </a:rPr>
                        <a:t>Қизи</a:t>
                      </a:r>
                      <a:r>
                        <a:rPr lang="uz-Cyrl-UZ" sz="900" b="0" kern="1200" noProof="0" dirty="0">
                          <a:solidFill>
                            <a:schemeClr val="tx1"/>
                          </a:solidFill>
                          <a:latin typeface="+mn-lt"/>
                          <a:ea typeface="+mn-ea"/>
                          <a:cs typeface="+mn-cs"/>
                        </a:rPr>
                        <a:t>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нафақада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7683">
                <a:tc gridSpan="6">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33486">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dirty="0">
                          <a:solidFill>
                            <a:schemeClr val="tx1"/>
                          </a:solidFill>
                          <a:latin typeface="+mn-lt"/>
                          <a:ea typeface="+mn-ea"/>
                          <a:cs typeface="Arial" panose="020B0604020202020204" pitchFamily="34" charset="0"/>
                        </a:rPr>
                        <a:t>Махкамбоев Хасан</a:t>
                      </a:r>
                    </a:p>
                    <a:p>
                      <a:pPr algn="l">
                        <a:lnSpc>
                          <a:spcPct val="85000"/>
                        </a:lnSpc>
                      </a:pPr>
                      <a:r>
                        <a:rPr lang="uz-Cyrl-UZ" sz="900" b="1" kern="1200" noProof="0" dirty="0">
                          <a:solidFill>
                            <a:schemeClr val="tx1"/>
                          </a:solidFill>
                          <a:latin typeface="+mn-lt"/>
                          <a:ea typeface="+mn-ea"/>
                          <a:cs typeface="Arial" panose="020B0604020202020204" pitchFamily="34" charset="0"/>
                        </a:rPr>
                        <a:t>1918 </a:t>
                      </a:r>
                      <a:r>
                        <a:rPr lang="uz-Cyrl-UZ" sz="900" b="0" kern="1200" noProof="0" dirty="0">
                          <a:solidFill>
                            <a:schemeClr val="tx1"/>
                          </a:solidFill>
                          <a:latin typeface="+mn-lt"/>
                          <a:ea typeface="+mn-ea"/>
                          <a:cs typeface="Arial" panose="020B0604020202020204" pitchFamily="34" charset="0"/>
                        </a:rPr>
                        <a:t>йил, Тошкент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marL="0" algn="l" defTabSz="914400" rtl="0" eaLnBrk="1" latinLnBrk="0" hangingPunct="1">
                        <a:lnSpc>
                          <a:spcPct val="85000"/>
                        </a:lnSpc>
                      </a:pPr>
                      <a:r>
                        <a:rPr lang="uz-Cyrl-UZ" sz="900" b="0" kern="1200" dirty="0">
                          <a:solidFill>
                            <a:schemeClr val="tx1"/>
                          </a:solidFill>
                          <a:latin typeface="+mn-lt"/>
                          <a:ea typeface="+mn-ea"/>
                          <a:cs typeface="Arial" panose="020B0604020202020204" pitchFamily="34" charset="0"/>
                        </a:rPr>
                        <a:t>2002 йилда вафот этган</a:t>
                      </a:r>
                      <a:endParaRPr lang="ru-RU" sz="900" b="0" kern="1200" dirty="0">
                        <a:solidFill>
                          <a:schemeClr val="tx1"/>
                        </a:solidFill>
                        <a:latin typeface="+mn-lt"/>
                        <a:ea typeface="+mn-ea"/>
                        <a:cs typeface="Arial" panose="020B0604020202020204" pitchFamily="34" charset="0"/>
                      </a:endParaRPr>
                    </a:p>
                    <a:p>
                      <a:pPr marL="0" algn="l" defTabSz="914400" rtl="0" eaLnBrk="1" latinLnBrk="0" hangingPunct="1">
                        <a:lnSpc>
                          <a:spcPct val="85000"/>
                        </a:lnSpc>
                      </a:pPr>
                      <a:r>
                        <a:rPr lang="ru-RU" sz="900" b="0" kern="1200" dirty="0">
                          <a:solidFill>
                            <a:schemeClr val="tx1"/>
                          </a:solidFill>
                          <a:latin typeface="+mn-lt"/>
                          <a:ea typeface="+mn-ea"/>
                          <a:cs typeface="Arial" panose="020B0604020202020204" pitchFamily="34" charset="0"/>
                        </a:rPr>
                        <a:t>(</a:t>
                      </a:r>
                      <a:r>
                        <a:rPr lang="uz-Cyrl-UZ" sz="900" b="0" kern="1200" dirty="0">
                          <a:solidFill>
                            <a:schemeClr val="tx1"/>
                          </a:solidFill>
                          <a:latin typeface="+mn-lt"/>
                          <a:ea typeface="+mn-ea"/>
                          <a:cs typeface="Arial" panose="020B0604020202020204" pitchFamily="34" charset="0"/>
                        </a:rPr>
                        <a:t>Тошкент темир йўли кузатувчи</a:t>
                      </a:r>
                      <a:r>
                        <a:rPr lang="ru-RU" sz="900" b="0" kern="1200" dirty="0">
                          <a:solidFill>
                            <a:schemeClr val="tx1"/>
                          </a:solidFill>
                          <a:latin typeface="+mn-lt"/>
                          <a:ea typeface="+mn-ea"/>
                          <a:cs typeface="Arial" panose="020B0604020202020204" pitchFamily="34" charset="0"/>
                        </a:rPr>
                        <a:t>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algn="l" defTabSz="914400" rtl="0" eaLnBrk="1" latinLnBrk="0" hangingPunct="1">
                        <a:lnSpc>
                          <a:spcPct val="85000"/>
                        </a:lnSpc>
                      </a:pP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25901">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marL="0" algn="l" defTabSz="914400" rtl="0" eaLnBrk="1" latinLnBrk="0" hangingPunct="1">
                        <a:lnSpc>
                          <a:spcPct val="85000"/>
                        </a:lnSpc>
                      </a:pPr>
                      <a:r>
                        <a:rPr lang="uz-Cyrl-UZ" sz="900" b="1" kern="1200" dirty="0">
                          <a:solidFill>
                            <a:schemeClr val="tx1"/>
                          </a:solidFill>
                          <a:latin typeface="+mn-lt"/>
                          <a:ea typeface="+mn-ea"/>
                          <a:cs typeface="Arial" panose="020B0604020202020204" pitchFamily="34" charset="0"/>
                        </a:rPr>
                        <a:t>Жўраева Тожи </a:t>
                      </a:r>
                    </a:p>
                    <a:p>
                      <a:pPr marL="0" algn="l" defTabSz="914400" rtl="0" eaLnBrk="1" latinLnBrk="0" hangingPunct="1">
                        <a:lnSpc>
                          <a:spcPct val="85000"/>
                        </a:lnSpc>
                      </a:pPr>
                      <a:r>
                        <a:rPr lang="uz-Cyrl-UZ" sz="900" b="1" kern="1200" dirty="0">
                          <a:solidFill>
                            <a:schemeClr val="tx1"/>
                          </a:solidFill>
                          <a:latin typeface="+mn-lt"/>
                          <a:ea typeface="+mn-ea"/>
                          <a:cs typeface="Arial" panose="020B0604020202020204" pitchFamily="34" charset="0"/>
                        </a:rPr>
                        <a:t>1924</a:t>
                      </a:r>
                      <a:r>
                        <a:rPr lang="uz-Cyrl-UZ" sz="900" b="0" kern="1200" dirty="0">
                          <a:solidFill>
                            <a:schemeClr val="tx1"/>
                          </a:solidFill>
                          <a:latin typeface="+mn-lt"/>
                          <a:ea typeface="+mn-ea"/>
                          <a:cs typeface="Arial" panose="020B0604020202020204" pitchFamily="34" charset="0"/>
                        </a:rPr>
                        <a:t> йил,</a:t>
                      </a:r>
                      <a:endParaRPr lang="ru-RU" sz="900" b="0" kern="1200" dirty="0">
                        <a:solidFill>
                          <a:schemeClr val="tx1"/>
                        </a:solidFill>
                        <a:latin typeface="+mn-lt"/>
                        <a:ea typeface="+mn-ea"/>
                        <a:cs typeface="Arial" panose="020B0604020202020204" pitchFamily="34" charset="0"/>
                      </a:endParaRPr>
                    </a:p>
                    <a:p>
                      <a:pPr marL="0" algn="l" defTabSz="914400" rtl="0" eaLnBrk="1" latinLnBrk="0" hangingPunct="1">
                        <a:lnSpc>
                          <a:spcPct val="85000"/>
                        </a:lnSpc>
                      </a:pPr>
                      <a:r>
                        <a:rPr lang="uz-Cyrl-UZ" sz="900" b="0" kern="1200" dirty="0">
                          <a:solidFill>
                            <a:schemeClr val="tx1"/>
                          </a:solidFill>
                          <a:latin typeface="+mn-lt"/>
                          <a:ea typeface="+mn-ea"/>
                          <a:cs typeface="Arial" panose="020B0604020202020204" pitchFamily="34" charset="0"/>
                        </a:rPr>
                        <a:t>Тошкент шаҳри</a:t>
                      </a:r>
                      <a:endParaRPr lang="ru-RU" sz="900" b="0" kern="120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marL="0" algn="l" defTabSz="914400" rtl="0" eaLnBrk="1" latinLnBrk="0" hangingPunct="1">
                        <a:lnSpc>
                          <a:spcPct val="85000"/>
                        </a:lnSpc>
                      </a:pPr>
                      <a:r>
                        <a:rPr lang="uz-Cyrl-UZ" sz="900" kern="1200" dirty="0">
                          <a:solidFill>
                            <a:schemeClr val="tx1"/>
                          </a:solidFill>
                          <a:effectLst/>
                          <a:latin typeface="+mn-lt"/>
                          <a:ea typeface="+mn-ea"/>
                          <a:cs typeface="+mn-cs"/>
                        </a:rPr>
                        <a:t>1</a:t>
                      </a:r>
                      <a:r>
                        <a:rPr lang="uz-Cyrl-UZ" sz="900" b="0" kern="1200" dirty="0">
                          <a:solidFill>
                            <a:schemeClr val="tx1"/>
                          </a:solidFill>
                          <a:latin typeface="+mn-lt"/>
                          <a:ea typeface="+mn-ea"/>
                          <a:cs typeface="Arial" panose="020B0604020202020204" pitchFamily="34" charset="0"/>
                        </a:rPr>
                        <a:t>997 йилда вафот этган</a:t>
                      </a:r>
                      <a:endParaRPr lang="ru-RU" sz="900" b="0" kern="1200" dirty="0">
                        <a:solidFill>
                          <a:schemeClr val="tx1"/>
                        </a:solidFill>
                        <a:latin typeface="+mn-lt"/>
                        <a:ea typeface="+mn-ea"/>
                        <a:cs typeface="Arial" panose="020B0604020202020204" pitchFamily="34" charset="0"/>
                      </a:endParaRPr>
                    </a:p>
                    <a:p>
                      <a:pPr marL="0" algn="l" defTabSz="914400" rtl="0" eaLnBrk="1" latinLnBrk="0" hangingPunct="1">
                        <a:lnSpc>
                          <a:spcPct val="85000"/>
                        </a:lnSpc>
                      </a:pPr>
                      <a:r>
                        <a:rPr lang="uz-Cyrl-UZ" sz="900" b="0" kern="1200" dirty="0">
                          <a:solidFill>
                            <a:schemeClr val="tx1"/>
                          </a:solidFill>
                          <a:latin typeface="+mn-lt"/>
                          <a:ea typeface="+mn-ea"/>
                          <a:cs typeface="Arial" panose="020B0604020202020204" pitchFamily="34" charset="0"/>
                        </a:rPr>
                        <a:t>(уй бекаси)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algn="l" defTabSz="914400" rtl="0" eaLnBrk="1" latinLnBrk="0" hangingPunct="1">
                        <a:lnSpc>
                          <a:spcPct val="85000"/>
                        </a:lnSpc>
                      </a:pP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648314">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dirty="0">
                          <a:solidFill>
                            <a:schemeClr val="tx1"/>
                          </a:solidFill>
                          <a:latin typeface="+mn-lt"/>
                          <a:ea typeface="+mn-ea"/>
                          <a:cs typeface="Arial" panose="020B0604020202020204" pitchFamily="34" charset="0"/>
                        </a:rPr>
                        <a:t>Исмоилов Махматмурот</a:t>
                      </a:r>
                    </a:p>
                    <a:p>
                      <a:pPr marL="0" algn="l" defTabSz="914400" rtl="0" eaLnBrk="1" latinLnBrk="0" hangingPunct="1">
                        <a:lnSpc>
                          <a:spcPct val="85000"/>
                        </a:lnSpc>
                      </a:pPr>
                      <a:r>
                        <a:rPr lang="uz-Cyrl-UZ" sz="900" b="1" kern="1200" dirty="0">
                          <a:solidFill>
                            <a:schemeClr val="tx1"/>
                          </a:solidFill>
                          <a:latin typeface="+mn-lt"/>
                          <a:ea typeface="+mn-ea"/>
                          <a:cs typeface="Arial" panose="020B0604020202020204" pitchFamily="34" charset="0"/>
                        </a:rPr>
                        <a:t>1949</a:t>
                      </a:r>
                      <a:r>
                        <a:rPr lang="uz-Cyrl-UZ" sz="900" b="0" kern="1200" dirty="0">
                          <a:solidFill>
                            <a:schemeClr val="tx1"/>
                          </a:solidFill>
                          <a:latin typeface="+mn-lt"/>
                          <a:ea typeface="+mn-ea"/>
                          <a:cs typeface="Arial" panose="020B0604020202020204" pitchFamily="34" charset="0"/>
                        </a:rPr>
                        <a:t> йил, </a:t>
                      </a:r>
                      <a:endParaRPr lang="ru-RU" sz="900" b="0" kern="1200" dirty="0">
                        <a:solidFill>
                          <a:schemeClr val="tx1"/>
                        </a:solidFill>
                        <a:latin typeface="+mn-lt"/>
                        <a:ea typeface="+mn-ea"/>
                        <a:cs typeface="Arial" panose="020B0604020202020204" pitchFamily="34" charset="0"/>
                      </a:endParaRPr>
                    </a:p>
                    <a:p>
                      <a:pPr marL="0" algn="l" defTabSz="914400" rtl="0" eaLnBrk="1" latinLnBrk="0" hangingPunct="1">
                        <a:lnSpc>
                          <a:spcPct val="85000"/>
                        </a:lnSpc>
                      </a:pPr>
                      <a:r>
                        <a:rPr lang="uz-Cyrl-UZ" sz="900" b="0" kern="1200" dirty="0">
                          <a:solidFill>
                            <a:schemeClr val="tx1"/>
                          </a:solidFill>
                          <a:latin typeface="+mn-lt"/>
                          <a:ea typeface="+mn-ea"/>
                          <a:cs typeface="Arial" panose="020B0604020202020204" pitchFamily="34" charset="0"/>
                        </a:rPr>
                        <a:t>Қарши шаҳри</a:t>
                      </a: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algn="l">
                        <a:lnSpc>
                          <a:spcPct val="85000"/>
                        </a:lnSpc>
                      </a:pPr>
                      <a:r>
                        <a:rPr lang="uz-Cyrl-UZ" sz="900" kern="1200" dirty="0">
                          <a:solidFill>
                            <a:schemeClr val="tx1"/>
                          </a:solidFill>
                          <a:effectLst/>
                          <a:latin typeface="+mn-lt"/>
                          <a:ea typeface="+mn-ea"/>
                          <a:cs typeface="+mn-cs"/>
                        </a:rPr>
                        <a:t>Сатира</a:t>
                      </a:r>
                      <a:r>
                        <a:rPr lang="uz-Cyrl-UZ" sz="1800" kern="1200" dirty="0">
                          <a:solidFill>
                            <a:schemeClr val="tx1"/>
                          </a:solidFill>
                          <a:effectLst/>
                          <a:latin typeface="+mn-lt"/>
                          <a:ea typeface="+mn-ea"/>
                          <a:cs typeface="+mn-cs"/>
                        </a:rPr>
                        <a:t> </a:t>
                      </a:r>
                      <a:r>
                        <a:rPr lang="uz-Cyrl-UZ" sz="900" kern="1200" dirty="0">
                          <a:solidFill>
                            <a:schemeClr val="tx1"/>
                          </a:solidFill>
                          <a:effectLst/>
                          <a:latin typeface="+mn-lt"/>
                          <a:ea typeface="+mn-ea"/>
                          <a:cs typeface="+mn-cs"/>
                        </a:rPr>
                        <a:t>театри бадиий</a:t>
                      </a:r>
                    </a:p>
                    <a:p>
                      <a:pPr algn="l">
                        <a:lnSpc>
                          <a:spcPct val="85000"/>
                        </a:lnSpc>
                      </a:pPr>
                      <a:r>
                        <a:rPr lang="uz-Cyrl-UZ" sz="900" kern="1200" dirty="0">
                          <a:solidFill>
                            <a:schemeClr val="tx1"/>
                          </a:solidFill>
                          <a:effectLst/>
                          <a:latin typeface="+mn-lt"/>
                          <a:ea typeface="+mn-ea"/>
                          <a:cs typeface="+mn-cs"/>
                        </a:rPr>
                        <a:t>саҳналаштириш бўлинма мудири</a:t>
                      </a:r>
                      <a:endParaRPr lang="uz-Cyrl-UZ" sz="900" kern="1200" noProof="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l">
                        <a:lnSpc>
                          <a:spcPct val="85000"/>
                        </a:lnSpc>
                      </a:pPr>
                      <a:endParaRPr lang="uz-Cyrl-UZ" sz="900" kern="1200" noProof="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4724">
                <a:tc gridSpan="6">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15380">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pPr marL="0" algn="l" defTabSz="914400" rtl="0" eaLnBrk="1" latinLnBrk="0" hangingPunct="1"/>
                      <a:r>
                        <a:rPr lang="uz-Cyrl-UZ" sz="900" kern="1200" dirty="0">
                          <a:solidFill>
                            <a:schemeClr val="tx1"/>
                          </a:solidFill>
                          <a:effectLst/>
                          <a:latin typeface="+mn-lt"/>
                          <a:ea typeface="+mn-ea"/>
                          <a:cs typeface="+mn-cs"/>
                        </a:rPr>
                        <a:t>1976 й. Тошкент давлат театр ва рассомлик санъати институти (кундузги)</a:t>
                      </a:r>
                      <a:endParaRPr lang="ru-RU" sz="900" kern="1200" dirty="0">
                        <a:solidFill>
                          <a:schemeClr val="tx1"/>
                        </a:solidFill>
                        <a:effectLst/>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0536">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pPr marL="0" algn="l" defTabSz="914400" rtl="0" eaLnBrk="1" latinLnBrk="0" hangingPunct="1"/>
                      <a:r>
                        <a:rPr lang="uz-Cyrl-UZ" sz="900" kern="1200" dirty="0">
                          <a:solidFill>
                            <a:schemeClr val="tx1"/>
                          </a:solidFill>
                          <a:effectLst/>
                          <a:latin typeface="+mn-lt"/>
                          <a:ea typeface="+mn-ea"/>
                          <a:cs typeface="+mn-cs"/>
                        </a:rPr>
                        <a:t>д</a:t>
                      </a:r>
                      <a:r>
                        <a:rPr lang="uz-Cyrl-UZ" sz="900" b="0" kern="1200" dirty="0">
                          <a:solidFill>
                            <a:schemeClr val="tx1"/>
                          </a:solidFill>
                          <a:latin typeface="+mn-lt"/>
                          <a:ea typeface="+mn-ea"/>
                          <a:cs typeface="+mn-cs"/>
                        </a:rPr>
                        <a:t>рама ва кино актёри</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8807">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b="0" kern="1200" noProof="0" dirty="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8807">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03831">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3">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90"/>
          <a:ext cx="3172841" cy="586981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254734">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888735">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r>
                        <a:rPr lang="uz-Cyrl-UZ" sz="900" kern="1200" dirty="0">
                          <a:solidFill>
                            <a:schemeClr val="tx1"/>
                          </a:solidFill>
                          <a:effectLst/>
                          <a:latin typeface="+mn-lt"/>
                          <a:ea typeface="+mn-ea"/>
                          <a:cs typeface="Times New Roman" panose="02020603050405020304" pitchFamily="18" charset="0"/>
                        </a:rPr>
                        <a:t>2016 й - Ўзбекистон давлат сатира театри  </a:t>
                      </a:r>
                      <a:r>
                        <a:rPr lang="ru-RU" sz="900" kern="1200" dirty="0" err="1">
                          <a:solidFill>
                            <a:schemeClr val="tx1"/>
                          </a:solidFill>
                          <a:effectLst/>
                          <a:latin typeface="+mn-lt"/>
                          <a:ea typeface="+mn-ea"/>
                          <a:cs typeface="Times New Roman" panose="02020603050405020304" pitchFamily="18" charset="0"/>
                        </a:rPr>
                        <a:t>етакчи</a:t>
                      </a:r>
                      <a:r>
                        <a:rPr lang="ru-RU"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актриса, саҳна устаси</a:t>
                      </a:r>
                      <a:endParaRPr lang="ru-RU" sz="900" kern="1200" dirty="0">
                        <a:solidFill>
                          <a:schemeClr val="tx1"/>
                        </a:solidFill>
                        <a:effectLst/>
                        <a:latin typeface="+mn-lt"/>
                        <a:ea typeface="+mn-ea"/>
                        <a:cs typeface="Times New Roman" panose="02020603050405020304" pitchFamily="18" charset="0"/>
                      </a:endParaRPr>
                    </a:p>
                    <a:p>
                      <a:r>
                        <a:rPr lang="uz-Cyrl-UZ" sz="1800" b="1" kern="1200" dirty="0">
                          <a:solidFill>
                            <a:schemeClr val="tx1"/>
                          </a:solidFill>
                          <a:effectLst/>
                          <a:latin typeface="+mn-lt"/>
                          <a:ea typeface="+mn-ea"/>
                          <a:cs typeface="+mn-cs"/>
                        </a:rPr>
                        <a:t/>
                      </a:r>
                      <a:br>
                        <a:rPr lang="uz-Cyrl-UZ" sz="1800" b="1" kern="1200" dirty="0">
                          <a:solidFill>
                            <a:schemeClr val="tx1"/>
                          </a:solidFill>
                          <a:effectLst/>
                          <a:latin typeface="+mn-lt"/>
                          <a:ea typeface="+mn-ea"/>
                          <a:cs typeface="+mn-cs"/>
                        </a:rPr>
                      </a:b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1933">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19965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34 йил 4 ОЙ</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5946">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26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2764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uz-Cyrl-UZ" sz="900" kern="1200" dirty="0">
                          <a:solidFill>
                            <a:schemeClr val="tx1"/>
                          </a:solidFill>
                          <a:effectLst/>
                          <a:latin typeface="+mn-lt"/>
                          <a:ea typeface="+mn-ea"/>
                          <a:cs typeface="Times New Roman" panose="02020603050405020304" pitchFamily="18" charset="0"/>
                        </a:rPr>
                        <a:t>Сатира театри актрисаси</a:t>
                      </a:r>
                      <a:r>
                        <a:rPr lang="ru-RU" sz="900" kern="1200" dirty="0">
                          <a:solidFill>
                            <a:schemeClr val="tx1"/>
                          </a:solidFill>
                          <a:effectLst/>
                          <a:latin typeface="+mn-lt"/>
                          <a:ea typeface="+mn-ea"/>
                          <a:cs typeface="Times New Roman" panose="02020603050405020304" pitchFamily="18" charset="0"/>
                        </a:rPr>
                        <a:t>, </a:t>
                      </a:r>
                      <a:r>
                        <a:rPr lang="ru-RU" sz="900" kern="1200" dirty="0" err="1">
                          <a:solidFill>
                            <a:schemeClr val="tx1"/>
                          </a:solidFill>
                          <a:effectLst/>
                          <a:latin typeface="+mn-lt"/>
                          <a:ea typeface="+mn-ea"/>
                          <a:cs typeface="Times New Roman" panose="02020603050405020304" pitchFamily="18" charset="0"/>
                        </a:rPr>
                        <a:t>етакчи</a:t>
                      </a:r>
                      <a:r>
                        <a:rPr lang="ru-RU" sz="900" kern="1200" dirty="0">
                          <a:solidFill>
                            <a:schemeClr val="tx1"/>
                          </a:solidFill>
                          <a:effectLst/>
                          <a:latin typeface="+mn-lt"/>
                          <a:ea typeface="+mn-ea"/>
                          <a:cs typeface="Times New Roman" panose="02020603050405020304" pitchFamily="18" charset="0"/>
                        </a:rPr>
                        <a:t> </a:t>
                      </a:r>
                      <a:r>
                        <a:rPr lang="uz-Cyrl-UZ" sz="900" kern="1200" dirty="0">
                          <a:solidFill>
                            <a:schemeClr val="tx1"/>
                          </a:solidFill>
                          <a:effectLst/>
                          <a:latin typeface="+mn-lt"/>
                          <a:ea typeface="+mn-ea"/>
                          <a:cs typeface="Times New Roman" panose="02020603050405020304" pitchFamily="18" charset="0"/>
                        </a:rPr>
                        <a:t>саҳна устаси</a:t>
                      </a:r>
                      <a:endParaRPr lang="ru-RU" sz="900" kern="1200" dirty="0">
                        <a:solidFill>
                          <a:schemeClr val="tx1"/>
                        </a:solidFill>
                        <a:effectLst/>
                        <a:latin typeface="+mn-lt"/>
                        <a:ea typeface="+mn-ea"/>
                        <a:cs typeface="Times New Roman" panose="02020603050405020304" pitchFamily="18" charset="0"/>
                      </a:endParaRPr>
                    </a:p>
                    <a:p>
                      <a:pPr marL="0" algn="l" defTabSz="914400" rtl="0" eaLnBrk="1" latinLnBrk="0" hangingPunct="1">
                        <a:lnSpc>
                          <a:spcPct val="107000"/>
                        </a:lnSpc>
                        <a:spcAft>
                          <a:spcPts val="0"/>
                        </a:spcAft>
                      </a:pPr>
                      <a:endParaRPr lang="uz-Cyrl-UZ" sz="900" kern="1200" noProof="0" dirty="0">
                        <a:solidFill>
                          <a:schemeClr val="tx1"/>
                        </a:solidFill>
                        <a:effectLst/>
                        <a:latin typeface="+mn-lt"/>
                        <a:ea typeface="+mn-ea"/>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84294">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8429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2019 й. “Турон” сиҳатгоҳида даволанган</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8429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44677">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5118">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929920">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kern="1200" dirty="0">
                          <a:solidFill>
                            <a:schemeClr val="tx1"/>
                          </a:solidFill>
                          <a:effectLst/>
                          <a:latin typeface="+mn-lt"/>
                          <a:ea typeface="+mn-ea"/>
                          <a:cs typeface="+mn-cs"/>
                        </a:rPr>
                        <a:t>2003 й. Ўзбекистон Республикасида хизмат кўрсатган артист </a:t>
                      </a:r>
                      <a:endParaRPr lang="uz-Cyrl-UZ" sz="900" kern="1200" noProof="0" dirty="0">
                        <a:solidFill>
                          <a:schemeClr val="tx1"/>
                        </a:solidFill>
                        <a:effectLst/>
                        <a:latin typeface="+mn-lt"/>
                        <a:ea typeface="+mn-ea"/>
                        <a:cs typeface="+mn-cs"/>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722086718"/>
              </p:ext>
            </p:extLst>
          </p:nvPr>
        </p:nvGraphicFramePr>
        <p:xfrm>
          <a:off x="6949857" y="865690"/>
          <a:ext cx="2779564" cy="5869811"/>
        </p:xfrm>
        <a:graphic>
          <a:graphicData uri="http://schemas.openxmlformats.org/drawingml/2006/table">
            <a:tbl>
              <a:tblPr firstRow="1" bandRow="1">
                <a:tableStyleId>{C083E6E3-FA7D-4D7B-A595-EF9225AFEA82}</a:tableStyleId>
              </a:tblPr>
              <a:tblGrid>
                <a:gridCol w="2779564">
                  <a:extLst>
                    <a:ext uri="{9D8B030D-6E8A-4147-A177-3AD203B41FA5}">
                      <a16:colId xmlns:a16="http://schemas.microsoft.com/office/drawing/2014/main" val="2715609854"/>
                    </a:ext>
                  </a:extLst>
                </a:gridCol>
              </a:tblGrid>
              <a:tr h="237360">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4428">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534497">
                <a:tc>
                  <a:txBody>
                    <a:bodyPr/>
                    <a:lstStyle/>
                    <a:p>
                      <a:pPr marL="0" indent="179388" algn="just" defTabSz="914400" rtl="0" eaLnBrk="1" latinLnBrk="0" hangingPunct="1">
                        <a:lnSpc>
                          <a:spcPct val="85000"/>
                        </a:lnSpc>
                      </a:pPr>
                      <a:r>
                        <a:rPr lang="uz-Cyrl-UZ" sz="900" b="0" kern="1200" dirty="0" smtClean="0">
                          <a:solidFill>
                            <a:schemeClr val="tx1"/>
                          </a:solidFill>
                          <a:latin typeface="+mn-lt"/>
                          <a:ea typeface="+mn-ea"/>
                          <a:cs typeface="Arial" panose="020B0604020202020204" pitchFamily="34" charset="0"/>
                        </a:rPr>
                        <a:t>2003 </a:t>
                      </a:r>
                      <a:r>
                        <a:rPr lang="uz-Cyrl-UZ" sz="900" b="0" kern="1200" dirty="0">
                          <a:solidFill>
                            <a:schemeClr val="tx1"/>
                          </a:solidFill>
                          <a:latin typeface="+mn-lt"/>
                          <a:ea typeface="+mn-ea"/>
                          <a:cs typeface="Arial" panose="020B0604020202020204" pitchFamily="34" charset="0"/>
                        </a:rPr>
                        <a:t>йил “Ўзбекистон Республикасида хизмат кўрсатган артист” фахрий унвони билан мукофотланган. </a:t>
                      </a:r>
                      <a:endParaRPr lang="ru-RU" sz="900" b="0" kern="1200" dirty="0">
                        <a:solidFill>
                          <a:schemeClr val="tx1"/>
                        </a:solidFill>
                        <a:latin typeface="+mn-lt"/>
                        <a:ea typeface="+mn-ea"/>
                        <a:cs typeface="Arial" panose="020B0604020202020204" pitchFamily="34" charset="0"/>
                      </a:endParaRPr>
                    </a:p>
                    <a:p>
                      <a:pPr marL="0" indent="179388" algn="just" defTabSz="914400" rtl="0" eaLnBrk="1" latinLnBrk="0" hangingPunct="1">
                        <a:lnSpc>
                          <a:spcPct val="85000"/>
                        </a:lnSpc>
                      </a:pPr>
                      <a:r>
                        <a:rPr lang="uz-Cyrl-UZ" sz="900" b="0" kern="1200" dirty="0">
                          <a:solidFill>
                            <a:schemeClr val="tx1"/>
                          </a:solidFill>
                          <a:latin typeface="+mn-lt"/>
                          <a:ea typeface="+mn-ea"/>
                          <a:cs typeface="Arial" panose="020B0604020202020204" pitchFamily="34" charset="0"/>
                        </a:rPr>
                        <a:t>Меҳнат стажи 49 йил. Мазкур лавозимда 1991 йилдан ишламоқда.</a:t>
                      </a:r>
                      <a:endParaRPr lang="ru-RU" sz="900" b="0" kern="1200" dirty="0">
                        <a:solidFill>
                          <a:schemeClr val="tx1"/>
                        </a:solidFill>
                        <a:latin typeface="+mn-lt"/>
                        <a:ea typeface="+mn-ea"/>
                        <a:cs typeface="Arial" panose="020B0604020202020204" pitchFamily="34" charset="0"/>
                      </a:endParaRPr>
                    </a:p>
                    <a:p>
                      <a:pPr marL="0" indent="179388" algn="just" defTabSz="914400" rtl="0" eaLnBrk="1" latinLnBrk="0" hangingPunct="1">
                        <a:lnSpc>
                          <a:spcPct val="85000"/>
                        </a:lnSpc>
                      </a:pPr>
                      <a:r>
                        <a:rPr lang="uz-Cyrl-UZ" sz="900" b="0" kern="1200" dirty="0">
                          <a:solidFill>
                            <a:schemeClr val="tx1"/>
                          </a:solidFill>
                          <a:latin typeface="+mn-lt"/>
                          <a:ea typeface="+mn-ea"/>
                          <a:cs typeface="Arial" panose="020B0604020202020204" pitchFamily="34" charset="0"/>
                        </a:rPr>
                        <a:t>З.Исмоилова талабалик чоғлариданоқ катта саҳналарда роллар ижро эта бошлаган бўлиб, Мирмуҳсиннинг “Умид” романи асосида суратга олинган (режиссёр М.Маҳкамов) видеофильмида ижро этган Ҳафиза роли актрисанинг катта саҳнага чиқишида ҳамда театрга таклиф этилишида муҳим аҳамият касб этган. </a:t>
                      </a:r>
                      <a:endParaRPr lang="ru-RU" sz="900" b="0" kern="1200" dirty="0">
                        <a:solidFill>
                          <a:schemeClr val="tx1"/>
                        </a:solidFill>
                        <a:latin typeface="+mn-lt"/>
                        <a:ea typeface="+mn-ea"/>
                        <a:cs typeface="Arial" panose="020B0604020202020204" pitchFamily="34" charset="0"/>
                      </a:endParaRPr>
                    </a:p>
                    <a:p>
                      <a:pPr marL="0" indent="179388" algn="just" defTabSz="914400" rtl="0" eaLnBrk="1" latinLnBrk="0" hangingPunct="1">
                        <a:lnSpc>
                          <a:spcPct val="85000"/>
                        </a:lnSpc>
                      </a:pPr>
                      <a:r>
                        <a:rPr lang="uz-Cyrl-UZ" sz="900" b="0" kern="1200" dirty="0">
                          <a:solidFill>
                            <a:schemeClr val="tx1"/>
                          </a:solidFill>
                          <a:latin typeface="+mn-lt"/>
                          <a:ea typeface="+mn-ea"/>
                          <a:cs typeface="Arial" panose="020B0604020202020204" pitchFamily="34" charset="0"/>
                        </a:rPr>
                        <a:t>Актриса илк ижодий фаолиятини Ўзбек драма театрида М.Каримовнинг “18 ёшлигим” спектаклида Шоҳиста роли билан бошлаган бўлиб, театр саҳнасида Исфандиёр асари “Отасининг қизи” спектаклида Наргиз, Ҳ.Ниёзийнинг “Ишқ қурбонлари” спектаклида Марямхон, “Майсаранинг иши” спектаклида Ойхон, “Паранжи сирлари” спектаклида Мастура сатанг, У.Умарбековнинг “Отилмаган ўқ” асарида Бойнинг хотини, С.Аҳмаднинг “Фармонбиби аразлади” спектаклида Нигора, чет эл драматургиясидан Наздрачок асари “Кўзингни каттароқ оч” спектаклида Зумрад, Евгений Шабан асари асосида саҳналаштирилган “Чандиқлар” спектаклида Раъно, Вамьпиловнинг “Катта ўғил” асарида Етим қиз, Ельманнинг “Мукофот”ида Ҳисобчи, “Зенулья”да Валя, Васильевнинг “Сокин тонглар” спектаклида Гурвич, Мирошниченконинг “Шайтон фаришталари” асарида Тина, М.Эрдманнинг асари асосида саҳналаштирилган “Алвидо ҳаёт” спектаклида Модиска каби характерли роллари билан ўз мухлисларига эга бўлди.</a:t>
                      </a:r>
                      <a:endParaRPr lang="ru-RU" sz="900" b="0" kern="1200" dirty="0">
                        <a:solidFill>
                          <a:schemeClr val="tx1"/>
                        </a:solidFill>
                        <a:latin typeface="+mn-lt"/>
                        <a:ea typeface="+mn-ea"/>
                        <a:cs typeface="Arial" panose="020B0604020202020204" pitchFamily="34" charset="0"/>
                      </a:endParaRPr>
                    </a:p>
                    <a:p>
                      <a:pPr marL="0" indent="179388" algn="just" defTabSz="914400" rtl="0" eaLnBrk="1" latinLnBrk="0" hangingPunct="1">
                        <a:lnSpc>
                          <a:spcPct val="85000"/>
                        </a:lnSpc>
                      </a:pPr>
                      <a:r>
                        <a:rPr lang="uz-Cyrl-UZ" sz="900" b="0" kern="1200" dirty="0">
                          <a:solidFill>
                            <a:schemeClr val="tx1"/>
                          </a:solidFill>
                          <a:latin typeface="+mn-lt"/>
                          <a:ea typeface="+mn-ea"/>
                          <a:cs typeface="Arial" panose="020B0604020202020204" pitchFamily="34" charset="0"/>
                        </a:rPr>
                        <a:t>Актрисанинг Республика Сатира театрида ижодий фаолияти жуда сермазмун ва бетакрордир.  Унинг  А.Қаҳҳор асари “Тобутдан товуш” спектаклида </a:t>
                      </a:r>
                      <a:r>
                        <a:rPr lang="uz-Cyrl-UZ" sz="900" b="0" kern="1200" dirty="0" smtClean="0">
                          <a:solidFill>
                            <a:schemeClr val="tx1"/>
                          </a:solidFill>
                          <a:latin typeface="+mn-lt"/>
                          <a:ea typeface="+mn-ea"/>
                          <a:cs typeface="Arial" panose="020B0604020202020204" pitchFamily="34" charset="0"/>
                        </a:rPr>
                        <a:t>Нетайхонни ижро этган</a:t>
                      </a:r>
                      <a:endParaRPr lang="ru-RU" sz="9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3764">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599762">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a:effectLst/>
                          <a:latin typeface="+mn-lt"/>
                          <a:ea typeface="Calibri" panose="020F0502020204030204" pitchFamily="34" charset="0"/>
                          <a:cs typeface="Times New Roman" panose="02020603050405020304" pitchFamily="18" charset="0"/>
                        </a:rPr>
                        <a:t>Республикамизда</a:t>
                      </a:r>
                      <a:r>
                        <a:rPr lang="uz-Cyrl-UZ" sz="900" b="0" baseline="0" dirty="0">
                          <a:effectLst/>
                          <a:latin typeface="+mn-lt"/>
                          <a:ea typeface="Calibri" panose="020F0502020204030204" pitchFamily="34" charset="0"/>
                          <a:cs typeface="Times New Roman" panose="02020603050405020304" pitchFamily="18" charset="0"/>
                        </a:rPr>
                        <a:t> ўткаЗиб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a:extLst>
              <a:ext uri="{FF2B5EF4-FFF2-40B4-BE49-F238E27FC236}">
                <a16:creationId xmlns:a16="http://schemas.microsoft.com/office/drawing/2014/main" id="{B54257F8-7E29-46C7-AA5E-DADF7DDBF23C}"/>
              </a:ext>
            </a:extLst>
          </p:cNvPr>
          <p:cNvPicPr>
            <a:picLocks noChangeAspect="1"/>
          </p:cNvPicPr>
          <p:nvPr/>
        </p:nvPicPr>
        <p:blipFill rotWithShape="1">
          <a:blip r:embed="rId2"/>
          <a:srcRect l="10369" r="10369" b="17711"/>
          <a:stretch/>
        </p:blipFill>
        <p:spPr>
          <a:xfrm>
            <a:off x="295212" y="1154791"/>
            <a:ext cx="798650" cy="1045131"/>
          </a:xfrm>
          <a:prstGeom prst="rect">
            <a:avLst/>
          </a:prstGeom>
        </p:spPr>
      </p:pic>
    </p:spTree>
    <p:extLst>
      <p:ext uri="{BB962C8B-B14F-4D97-AF65-F5344CB8AC3E}">
        <p14:creationId xmlns:p14="http://schemas.microsoft.com/office/powerpoint/2010/main" val="889316708"/>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smtClean="0">
                <a:solidFill>
                  <a:srgbClr val="002060"/>
                </a:solidFill>
                <a:latin typeface="Bahnschrift SemiBold" panose="020B0502040204020203" pitchFamily="34" charset="0"/>
              </a:rPr>
              <a:t>ТЕАТР ВА ЦИРК ЙЎНАЛИШИ СОҲА ВАКИЛЛАРИ</a:t>
            </a:r>
            <a:endParaRPr lang="ru-RU" sz="16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565982677"/>
              </p:ext>
            </p:extLst>
          </p:nvPr>
        </p:nvGraphicFramePr>
        <p:xfrm>
          <a:off x="144489" y="865704"/>
          <a:ext cx="3427547" cy="5832204"/>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38627">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6551">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ХАЛМЕДОВ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655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Мирзатилла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655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Нигматович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6551">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655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13.12.1961</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6551">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шаҳри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6448">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74539">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ўғил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6448">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4106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ХОЛМУХАММАД ЎҒЛИ Неъматжон</a:t>
                      </a:r>
                    </a:p>
                    <a:p>
                      <a:pPr algn="l">
                        <a:lnSpc>
                          <a:spcPct val="85000"/>
                        </a:lnSpc>
                      </a:pPr>
                      <a:r>
                        <a:rPr lang="uz-Cyrl-UZ" sz="900" b="0" kern="1200" noProof="0" dirty="0" smtClean="0">
                          <a:solidFill>
                            <a:schemeClr val="tx1"/>
                          </a:solidFill>
                          <a:latin typeface="+mn-lt"/>
                          <a:ea typeface="+mn-ea"/>
                          <a:cs typeface="Arial" panose="020B0604020202020204" pitchFamily="34" charset="0"/>
                        </a:rPr>
                        <a:t>1914 йил, Тошкент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1974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(Темир </a:t>
                      </a:r>
                      <a:r>
                        <a:rPr lang="ru-RU" sz="900" b="0" kern="1200" noProof="0" dirty="0" err="1" smtClean="0">
                          <a:solidFill>
                            <a:schemeClr val="tx1"/>
                          </a:solidFill>
                          <a:latin typeface="+mn-lt"/>
                          <a:ea typeface="+mn-ea"/>
                          <a:cs typeface="Arial" panose="020B0604020202020204" pitchFamily="34" charset="0"/>
                        </a:rPr>
                        <a:t>йўл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хизматчиси</a:t>
                      </a:r>
                      <a:r>
                        <a:rPr lang="ru-RU" sz="900" b="0" kern="1200" noProof="0" dirty="0" smtClean="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6575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ХОЛМЕДОВА Ойсара Нажмиддин қизи</a:t>
                      </a:r>
                    </a:p>
                    <a:p>
                      <a:pPr algn="l">
                        <a:lnSpc>
                          <a:spcPct val="85000"/>
                        </a:lnSpc>
                      </a:pPr>
                      <a:r>
                        <a:rPr lang="uz-Cyrl-UZ" sz="900" b="0" kern="1200" noProof="0" dirty="0" smtClean="0">
                          <a:solidFill>
                            <a:schemeClr val="tx1"/>
                          </a:solidFill>
                          <a:latin typeface="+mn-lt"/>
                          <a:ea typeface="+mn-ea"/>
                          <a:cs typeface="Arial" panose="020B0604020202020204" pitchFamily="34" charset="0"/>
                        </a:rPr>
                        <a:t>1923 йил, Тошкент шаҳри</a:t>
                      </a:r>
                    </a:p>
                    <a:p>
                      <a:pPr algn="l">
                        <a:lnSpc>
                          <a:spcPct val="85000"/>
                        </a:lnSpc>
                      </a:pP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2007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уй</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бекаси</a:t>
                      </a:r>
                      <a:r>
                        <a:rPr lang="ru-RU" sz="900" b="0" kern="1200" noProof="0" dirty="0" smtClean="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24606">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ХОЛМЕДОВА Феруза Қобиловна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1966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Пенсияда </a:t>
                      </a:r>
                    </a:p>
                    <a:p>
                      <a:pPr algn="l">
                        <a:lnSpc>
                          <a:spcPct val="85000"/>
                        </a:lnSpc>
                      </a:pPr>
                      <a:r>
                        <a:rPr lang="uz-Cyrl-UZ" sz="900" b="0" kern="1200" noProof="0" dirty="0" smtClean="0">
                          <a:solidFill>
                            <a:schemeClr val="tx1"/>
                          </a:solidFill>
                          <a:latin typeface="+mn-lt"/>
                          <a:ea typeface="+mn-ea"/>
                          <a:cs typeface="Arial" panose="020B0604020202020204" pitchFamily="34" charset="0"/>
                        </a:rPr>
                        <a:t>(уй бекаси) </a:t>
                      </a: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3613">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6348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1984 й. </a:t>
                      </a:r>
                      <a:r>
                        <a:rPr lang="ru-RU" sz="900" b="0" kern="1200" noProof="0" dirty="0" err="1" smtClean="0">
                          <a:solidFill>
                            <a:schemeClr val="tx1"/>
                          </a:solidFill>
                          <a:latin typeface="+mn-lt"/>
                          <a:ea typeface="+mn-ea"/>
                          <a:cs typeface="+mn-cs"/>
                        </a:rPr>
                        <a:t>А.Н.Островский</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номли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рассомлик</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саньат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47721">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kern="1200" dirty="0" smtClean="0">
                          <a:solidFill>
                            <a:schemeClr val="tx1"/>
                          </a:solidFill>
                          <a:effectLst/>
                          <a:latin typeface="+mn-lt"/>
                          <a:ea typeface="+mn-ea"/>
                          <a:cs typeface="+mn-cs"/>
                        </a:rPr>
                        <a:t>драма </a:t>
                      </a:r>
                      <a:r>
                        <a:rPr lang="ru-RU" sz="900" kern="1200" dirty="0" err="1" smtClean="0">
                          <a:solidFill>
                            <a:schemeClr val="tx1"/>
                          </a:solidFill>
                          <a:effectLst/>
                          <a:latin typeface="+mn-lt"/>
                          <a:ea typeface="+mn-ea"/>
                          <a:cs typeface="+mn-cs"/>
                        </a:rPr>
                        <a:t>театри</a:t>
                      </a:r>
                      <a:r>
                        <a:rPr lang="ru-RU" sz="900" kern="1200" dirty="0" smtClean="0">
                          <a:solidFill>
                            <a:schemeClr val="tx1"/>
                          </a:solidFill>
                          <a:effectLst/>
                          <a:latin typeface="+mn-lt"/>
                          <a:ea typeface="+mn-ea"/>
                          <a:cs typeface="+mn-cs"/>
                        </a:rPr>
                        <a:t> </a:t>
                      </a:r>
                      <a:r>
                        <a:rPr lang="ru-RU" sz="900" kern="1200" dirty="0" err="1" smtClean="0">
                          <a:solidFill>
                            <a:schemeClr val="tx1"/>
                          </a:solidFill>
                          <a:effectLst/>
                          <a:latin typeface="+mn-lt"/>
                          <a:ea typeface="+mn-ea"/>
                          <a:cs typeface="+mn-cs"/>
                        </a:rPr>
                        <a:t>ва</a:t>
                      </a:r>
                      <a:r>
                        <a:rPr lang="ru-RU" sz="900" kern="1200" dirty="0" smtClean="0">
                          <a:solidFill>
                            <a:schemeClr val="tx1"/>
                          </a:solidFill>
                          <a:effectLst/>
                          <a:latin typeface="+mn-lt"/>
                          <a:ea typeface="+mn-ea"/>
                          <a:cs typeface="+mn-cs"/>
                        </a:rPr>
                        <a:t> кино </a:t>
                      </a:r>
                      <a:r>
                        <a:rPr lang="ru-RU" sz="900" kern="1200" dirty="0" err="1" smtClean="0">
                          <a:solidFill>
                            <a:schemeClr val="tx1"/>
                          </a:solidFill>
                          <a:effectLst/>
                          <a:latin typeface="+mn-lt"/>
                          <a:ea typeface="+mn-ea"/>
                          <a:cs typeface="+mn-cs"/>
                        </a:rPr>
                        <a:t>актёри</a:t>
                      </a:r>
                      <a:r>
                        <a:rPr lang="ru-RU" sz="900" kern="1200" dirty="0" smtClean="0">
                          <a:solidFill>
                            <a:schemeClr val="tx1"/>
                          </a:solidFill>
                          <a:effectLst/>
                          <a:latin typeface="+mn-lt"/>
                          <a:ea typeface="+mn-ea"/>
                          <a:cs typeface="+mn-cs"/>
                        </a:rPr>
                        <a:t> </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8147">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8147">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391551">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617330984"/>
              </p:ext>
            </p:extLst>
          </p:nvPr>
        </p:nvGraphicFramePr>
        <p:xfrm>
          <a:off x="3674526" y="865689"/>
          <a:ext cx="3172841" cy="5831240"/>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4258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6343">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2025 йилдан буён</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5630">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2005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40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494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10 ой</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1220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1992 йил — “Мирзо” театри Таъсисчи ва раҳбар</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2504">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250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300605">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967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7096">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127099">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1989 йил: Ўзбекистон ССРда ўтказилган “Юморист-89” (Қизиқчи-89) танловининг ғолиби</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1992 йил: Малайзия миллий кино тараққиёти корпорацияси (</a:t>
                      </a:r>
                      <a:r>
                        <a:rPr lang="en-US" sz="900" noProof="0" dirty="0" smtClean="0">
                          <a:effectLst/>
                          <a:latin typeface="+mn-lt"/>
                          <a:ea typeface="Calibri" panose="020F0502020204030204" pitchFamily="34" charset="0"/>
                          <a:cs typeface="Times New Roman" panose="02020603050405020304" pitchFamily="18" charset="0"/>
                        </a:rPr>
                        <a:t>FINAS) </a:t>
                      </a:r>
                      <a:r>
                        <a:rPr lang="uz-Cyrl-UZ" sz="900" noProof="0" dirty="0" smtClean="0">
                          <a:effectLst/>
                          <a:latin typeface="+mn-lt"/>
                          <a:ea typeface="Calibri" panose="020F0502020204030204" pitchFamily="34" charset="0"/>
                          <a:cs typeface="Times New Roman" panose="02020603050405020304" pitchFamily="18" charset="0"/>
                        </a:rPr>
                        <a:t>томонидан кинематографияни ривожлантиришга қўшган ҳиссаси учун фахрий диплом билан тақдирланган</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1995 йил: 30 августдаги фармонга мувофиқ Ўзбекистон Республикасида “Ўзбекистонда хизмат кўрсатган артист” фахрий унвони берилган</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1998 йил: “Замин юлдузлари” миллий мукофоти лауреати</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2018 йил: “Фидокорона хизматлари учун” ордени билан тақдирланган</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2025 йил: Ўзбекистон мустақиллигининг 34 йиллиги муносабати билан Президент фармонига биноан “Меҳнат шуҳрати” ордени билан мукофотланган.</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797271009"/>
              </p:ext>
            </p:extLst>
          </p:nvPr>
        </p:nvGraphicFramePr>
        <p:xfrm>
          <a:off x="6949857" y="869286"/>
          <a:ext cx="2817247" cy="5827644"/>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marL="0" indent="179388" algn="just">
                        <a:lnSpc>
                          <a:spcPct val="85000"/>
                        </a:lnSpc>
                      </a:pPr>
                      <a:r>
                        <a:rPr lang="ru-RU" sz="900" b="0" noProof="0" dirty="0" err="1" smtClean="0">
                          <a:solidFill>
                            <a:schemeClr val="tx1"/>
                          </a:solidFill>
                          <a:latin typeface="+mn-lt"/>
                        </a:rPr>
                        <a:t>Мирзатилла</a:t>
                      </a:r>
                      <a:r>
                        <a:rPr lang="ru-RU" sz="900" b="0" noProof="0" dirty="0" smtClean="0">
                          <a:solidFill>
                            <a:schemeClr val="tx1"/>
                          </a:solidFill>
                          <a:latin typeface="+mn-lt"/>
                        </a:rPr>
                        <a:t> (</a:t>
                      </a:r>
                      <a:r>
                        <a:rPr lang="ru-RU" sz="900" b="0" noProof="0" dirty="0" err="1" smtClean="0">
                          <a:solidFill>
                            <a:schemeClr val="tx1"/>
                          </a:solidFill>
                          <a:latin typeface="+mn-lt"/>
                        </a:rPr>
                        <a:t>Мирзабек</a:t>
                      </a:r>
                      <a:r>
                        <a:rPr lang="ru-RU" sz="900" b="0" noProof="0" dirty="0" smtClean="0">
                          <a:solidFill>
                            <a:schemeClr val="tx1"/>
                          </a:solidFill>
                          <a:latin typeface="+mn-lt"/>
                        </a:rPr>
                        <a:t>) </a:t>
                      </a:r>
                      <a:r>
                        <a:rPr lang="ru-RU" sz="900" b="0" noProof="0" dirty="0" err="1" smtClean="0">
                          <a:solidFill>
                            <a:schemeClr val="tx1"/>
                          </a:solidFill>
                          <a:latin typeface="+mn-lt"/>
                        </a:rPr>
                        <a:t>Нигматуллаевич</a:t>
                      </a:r>
                      <a:r>
                        <a:rPr lang="ru-RU" sz="900" b="0" noProof="0" dirty="0" smtClean="0">
                          <a:solidFill>
                            <a:schemeClr val="tx1"/>
                          </a:solidFill>
                          <a:latin typeface="+mn-lt"/>
                        </a:rPr>
                        <a:t> </a:t>
                      </a:r>
                      <a:r>
                        <a:rPr lang="ru-RU" sz="900" b="0" noProof="0" dirty="0" err="1" smtClean="0">
                          <a:solidFill>
                            <a:schemeClr val="tx1"/>
                          </a:solidFill>
                          <a:latin typeface="+mn-lt"/>
                        </a:rPr>
                        <a:t>Холмедов</a:t>
                      </a:r>
                      <a:r>
                        <a:rPr lang="ru-RU" sz="900" b="0" noProof="0" dirty="0" smtClean="0">
                          <a:solidFill>
                            <a:schemeClr val="tx1"/>
                          </a:solidFill>
                          <a:latin typeface="+mn-lt"/>
                        </a:rPr>
                        <a:t> 1961 </a:t>
                      </a:r>
                      <a:r>
                        <a:rPr lang="ru-RU" sz="900" b="0" noProof="0" dirty="0" err="1" smtClean="0">
                          <a:solidFill>
                            <a:schemeClr val="tx1"/>
                          </a:solidFill>
                          <a:latin typeface="+mn-lt"/>
                        </a:rPr>
                        <a:t>йил</a:t>
                      </a:r>
                      <a:r>
                        <a:rPr lang="ru-RU" sz="900" b="0" noProof="0" dirty="0" smtClean="0">
                          <a:solidFill>
                            <a:schemeClr val="tx1"/>
                          </a:solidFill>
                          <a:latin typeface="+mn-lt"/>
                        </a:rPr>
                        <a:t> 13 </a:t>
                      </a:r>
                      <a:r>
                        <a:rPr lang="ru-RU" sz="900" b="0" noProof="0" dirty="0" err="1" smtClean="0">
                          <a:solidFill>
                            <a:schemeClr val="tx1"/>
                          </a:solidFill>
                          <a:latin typeface="+mn-lt"/>
                        </a:rPr>
                        <a:t>декабр</a:t>
                      </a:r>
                      <a:r>
                        <a:rPr lang="ru-RU" sz="900" b="0" noProof="0" dirty="0" smtClean="0">
                          <a:solidFill>
                            <a:schemeClr val="tx1"/>
                          </a:solidFill>
                          <a:latin typeface="+mn-lt"/>
                        </a:rPr>
                        <a:t> </a:t>
                      </a:r>
                      <a:r>
                        <a:rPr lang="ru-RU" sz="900" b="0" noProof="0" dirty="0" err="1" smtClean="0">
                          <a:solidFill>
                            <a:schemeClr val="tx1"/>
                          </a:solidFill>
                          <a:latin typeface="+mn-lt"/>
                        </a:rPr>
                        <a:t>куни</a:t>
                      </a:r>
                      <a:r>
                        <a:rPr lang="ru-RU" sz="900" b="0" noProof="0" dirty="0" smtClean="0">
                          <a:solidFill>
                            <a:schemeClr val="tx1"/>
                          </a:solidFill>
                          <a:latin typeface="+mn-lt"/>
                        </a:rPr>
                        <a:t> </a:t>
                      </a:r>
                      <a:r>
                        <a:rPr lang="ru-RU" sz="900" b="0" noProof="0" dirty="0" err="1" smtClean="0">
                          <a:solidFill>
                            <a:schemeClr val="tx1"/>
                          </a:solidFill>
                          <a:latin typeface="+mn-lt"/>
                        </a:rPr>
                        <a:t>Тошкент</a:t>
                      </a:r>
                      <a:r>
                        <a:rPr lang="ru-RU" sz="900" b="0" noProof="0" dirty="0" smtClean="0">
                          <a:solidFill>
                            <a:schemeClr val="tx1"/>
                          </a:solidFill>
                          <a:latin typeface="+mn-lt"/>
                        </a:rPr>
                        <a:t> </a:t>
                      </a:r>
                      <a:r>
                        <a:rPr lang="ru-RU" sz="900" b="0" noProof="0" dirty="0" err="1" smtClean="0">
                          <a:solidFill>
                            <a:schemeClr val="tx1"/>
                          </a:solidFill>
                          <a:latin typeface="+mn-lt"/>
                        </a:rPr>
                        <a:t>шаҳрида</a:t>
                      </a:r>
                      <a:r>
                        <a:rPr lang="ru-RU" sz="900" b="0" noProof="0" dirty="0" smtClean="0">
                          <a:solidFill>
                            <a:schemeClr val="tx1"/>
                          </a:solidFill>
                          <a:latin typeface="+mn-lt"/>
                        </a:rPr>
                        <a:t> </a:t>
                      </a:r>
                      <a:r>
                        <a:rPr lang="ru-RU" sz="900" b="0" noProof="0" dirty="0" err="1" smtClean="0">
                          <a:solidFill>
                            <a:schemeClr val="tx1"/>
                          </a:solidFill>
                          <a:latin typeface="+mn-lt"/>
                        </a:rPr>
                        <a:t>туғилган</a:t>
                      </a:r>
                      <a:r>
                        <a:rPr lang="ru-RU" sz="900" b="0" noProof="0" dirty="0" smtClean="0">
                          <a:solidFill>
                            <a:schemeClr val="tx1"/>
                          </a:solidFill>
                          <a:latin typeface="+mn-lt"/>
                        </a:rPr>
                        <a:t>. </a:t>
                      </a:r>
                      <a:r>
                        <a:rPr lang="ru-RU" sz="900" b="0" noProof="0" dirty="0" err="1" smtClean="0">
                          <a:solidFill>
                            <a:schemeClr val="tx1"/>
                          </a:solidFill>
                          <a:latin typeface="+mn-lt"/>
                        </a:rPr>
                        <a:t>Миллати</a:t>
                      </a:r>
                      <a:r>
                        <a:rPr lang="ru-RU" sz="900" b="0" noProof="0" dirty="0" smtClean="0">
                          <a:solidFill>
                            <a:schemeClr val="tx1"/>
                          </a:solidFill>
                          <a:latin typeface="+mn-lt"/>
                        </a:rPr>
                        <a:t> — </a:t>
                      </a:r>
                      <a:r>
                        <a:rPr lang="ru-RU" sz="900" b="0" noProof="0" dirty="0" err="1" smtClean="0">
                          <a:solidFill>
                            <a:schemeClr val="tx1"/>
                          </a:solidFill>
                          <a:latin typeface="+mn-lt"/>
                        </a:rPr>
                        <a:t>ўзбек</a:t>
                      </a:r>
                      <a:r>
                        <a:rPr lang="ru-RU" sz="900" b="0" noProof="0" dirty="0" smtClean="0">
                          <a:solidFill>
                            <a:schemeClr val="tx1"/>
                          </a:solidFill>
                          <a:latin typeface="+mn-lt"/>
                        </a:rPr>
                        <a:t>. </a:t>
                      </a:r>
                      <a:r>
                        <a:rPr lang="ru-RU" sz="900" b="0" noProof="0" dirty="0" err="1" smtClean="0">
                          <a:solidFill>
                            <a:schemeClr val="tx1"/>
                          </a:solidFill>
                          <a:latin typeface="+mn-lt"/>
                        </a:rPr>
                        <a:t>Ма’лумоти</a:t>
                      </a:r>
                      <a:r>
                        <a:rPr lang="ru-RU" sz="900" b="0" noProof="0" dirty="0" smtClean="0">
                          <a:solidFill>
                            <a:schemeClr val="tx1"/>
                          </a:solidFill>
                          <a:latin typeface="+mn-lt"/>
                        </a:rPr>
                        <a:t> — </a:t>
                      </a:r>
                      <a:r>
                        <a:rPr lang="ru-RU" sz="900" b="0" noProof="0" dirty="0" err="1" smtClean="0">
                          <a:solidFill>
                            <a:schemeClr val="tx1"/>
                          </a:solidFill>
                          <a:latin typeface="+mn-lt"/>
                        </a:rPr>
                        <a:t>олий</a:t>
                      </a:r>
                      <a:r>
                        <a:rPr lang="ru-RU" sz="900" b="0" noProof="0" dirty="0" smtClean="0">
                          <a:solidFill>
                            <a:schemeClr val="tx1"/>
                          </a:solidFill>
                          <a:latin typeface="+mn-lt"/>
                        </a:rPr>
                        <a:t>. У </a:t>
                      </a:r>
                      <a:r>
                        <a:rPr lang="ru-RU" sz="900" b="0" noProof="0" dirty="0" err="1" smtClean="0">
                          <a:solidFill>
                            <a:schemeClr val="tx1"/>
                          </a:solidFill>
                          <a:latin typeface="+mn-lt"/>
                        </a:rPr>
                        <a:t>Тошкент</a:t>
                      </a:r>
                      <a:r>
                        <a:rPr lang="ru-RU" sz="900" b="0" noProof="0" dirty="0" smtClean="0">
                          <a:solidFill>
                            <a:schemeClr val="tx1"/>
                          </a:solidFill>
                          <a:latin typeface="+mn-lt"/>
                        </a:rPr>
                        <a:t> </a:t>
                      </a:r>
                      <a:r>
                        <a:rPr lang="ru-RU" sz="900" b="0" noProof="0" dirty="0" err="1" smtClean="0">
                          <a:solidFill>
                            <a:schemeClr val="tx1"/>
                          </a:solidFill>
                          <a:latin typeface="+mn-lt"/>
                        </a:rPr>
                        <a:t>давлат</a:t>
                      </a:r>
                      <a:r>
                        <a:rPr lang="ru-RU" sz="900" b="0" noProof="0" dirty="0" smtClean="0">
                          <a:solidFill>
                            <a:schemeClr val="tx1"/>
                          </a:solidFill>
                          <a:latin typeface="+mn-lt"/>
                        </a:rPr>
                        <a:t> театр </a:t>
                      </a:r>
                      <a:r>
                        <a:rPr lang="ru-RU" sz="900" b="0" noProof="0" dirty="0" err="1" smtClean="0">
                          <a:solidFill>
                            <a:schemeClr val="tx1"/>
                          </a:solidFill>
                          <a:latin typeface="+mn-lt"/>
                        </a:rPr>
                        <a:t>ва</a:t>
                      </a:r>
                      <a:r>
                        <a:rPr lang="ru-RU" sz="900" b="0" noProof="0" dirty="0" smtClean="0">
                          <a:solidFill>
                            <a:schemeClr val="tx1"/>
                          </a:solidFill>
                          <a:latin typeface="+mn-lt"/>
                        </a:rPr>
                        <a:t> </a:t>
                      </a:r>
                      <a:r>
                        <a:rPr lang="ru-RU" sz="900" b="0" noProof="0" dirty="0" err="1" smtClean="0">
                          <a:solidFill>
                            <a:schemeClr val="tx1"/>
                          </a:solidFill>
                          <a:latin typeface="+mn-lt"/>
                        </a:rPr>
                        <a:t>рассомчилик</a:t>
                      </a:r>
                      <a:r>
                        <a:rPr lang="ru-RU" sz="900" b="0" noProof="0" dirty="0" smtClean="0">
                          <a:solidFill>
                            <a:schemeClr val="tx1"/>
                          </a:solidFill>
                          <a:latin typeface="+mn-lt"/>
                        </a:rPr>
                        <a:t> </a:t>
                      </a:r>
                      <a:r>
                        <a:rPr lang="ru-RU" sz="900" b="0" noProof="0" dirty="0" err="1" smtClean="0">
                          <a:solidFill>
                            <a:schemeClr val="tx1"/>
                          </a:solidFill>
                          <a:latin typeface="+mn-lt"/>
                        </a:rPr>
                        <a:t>институтини</a:t>
                      </a:r>
                      <a:r>
                        <a:rPr lang="ru-RU" sz="900" b="0" noProof="0" dirty="0" smtClean="0">
                          <a:solidFill>
                            <a:schemeClr val="tx1"/>
                          </a:solidFill>
                          <a:latin typeface="+mn-lt"/>
                        </a:rPr>
                        <a:t> </a:t>
                      </a:r>
                      <a:r>
                        <a:rPr lang="ru-RU" sz="900" b="0" noProof="0" dirty="0" err="1" smtClean="0">
                          <a:solidFill>
                            <a:schemeClr val="tx1"/>
                          </a:solidFill>
                          <a:latin typeface="+mn-lt"/>
                        </a:rPr>
                        <a:t>тамомлаган</a:t>
                      </a:r>
                      <a:r>
                        <a:rPr lang="ru-RU" sz="900" b="0" noProof="0" dirty="0" smtClean="0">
                          <a:solidFill>
                            <a:schemeClr val="tx1"/>
                          </a:solidFill>
                          <a:latin typeface="+mn-lt"/>
                        </a:rPr>
                        <a:t>.</a:t>
                      </a:r>
                    </a:p>
                    <a:p>
                      <a:pPr marL="0" indent="179388" algn="just">
                        <a:lnSpc>
                          <a:spcPct val="85000"/>
                        </a:lnSpc>
                      </a:pPr>
                      <a:r>
                        <a:rPr lang="ru-RU" sz="900" b="0" noProof="0" dirty="0" err="1" smtClean="0">
                          <a:solidFill>
                            <a:schemeClr val="tx1"/>
                          </a:solidFill>
                          <a:latin typeface="+mn-lt"/>
                        </a:rPr>
                        <a:t>Мирзабек</a:t>
                      </a:r>
                      <a:r>
                        <a:rPr lang="ru-RU" sz="900" b="0" noProof="0" dirty="0" smtClean="0">
                          <a:solidFill>
                            <a:schemeClr val="tx1"/>
                          </a:solidFill>
                          <a:latin typeface="+mn-lt"/>
                        </a:rPr>
                        <a:t> </a:t>
                      </a:r>
                      <a:r>
                        <a:rPr lang="ru-RU" sz="900" b="0" noProof="0" dirty="0" err="1" smtClean="0">
                          <a:solidFill>
                            <a:schemeClr val="tx1"/>
                          </a:solidFill>
                          <a:latin typeface="+mn-lt"/>
                        </a:rPr>
                        <a:t>Холмедов</a:t>
                      </a:r>
                      <a:r>
                        <a:rPr lang="ru-RU" sz="900" b="0" noProof="0" dirty="0" smtClean="0">
                          <a:solidFill>
                            <a:schemeClr val="tx1"/>
                          </a:solidFill>
                          <a:latin typeface="+mn-lt"/>
                        </a:rPr>
                        <a:t> </a:t>
                      </a:r>
                      <a:r>
                        <a:rPr lang="ru-RU" sz="900" b="0" noProof="0" dirty="0" err="1" smtClean="0">
                          <a:solidFill>
                            <a:schemeClr val="tx1"/>
                          </a:solidFill>
                          <a:latin typeface="+mn-lt"/>
                        </a:rPr>
                        <a:t>маданият</a:t>
                      </a:r>
                      <a:r>
                        <a:rPr lang="ru-RU" sz="900" b="0" noProof="0" dirty="0" smtClean="0">
                          <a:solidFill>
                            <a:schemeClr val="tx1"/>
                          </a:solidFill>
                          <a:latin typeface="+mn-lt"/>
                        </a:rPr>
                        <a:t> </a:t>
                      </a:r>
                      <a:r>
                        <a:rPr lang="ru-RU" sz="900" b="0" noProof="0" dirty="0" err="1" smtClean="0">
                          <a:solidFill>
                            <a:schemeClr val="tx1"/>
                          </a:solidFill>
                          <a:latin typeface="+mn-lt"/>
                        </a:rPr>
                        <a:t>ва</a:t>
                      </a:r>
                      <a:r>
                        <a:rPr lang="ru-RU" sz="900" b="0" noProof="0" dirty="0" smtClean="0">
                          <a:solidFill>
                            <a:schemeClr val="tx1"/>
                          </a:solidFill>
                          <a:latin typeface="+mn-lt"/>
                        </a:rPr>
                        <a:t> </a:t>
                      </a:r>
                      <a:r>
                        <a:rPr lang="ru-RU" sz="900" b="0" noProof="0" dirty="0" err="1" smtClean="0">
                          <a:solidFill>
                            <a:schemeClr val="tx1"/>
                          </a:solidFill>
                          <a:latin typeface="+mn-lt"/>
                        </a:rPr>
                        <a:t>сан’ат</a:t>
                      </a:r>
                      <a:r>
                        <a:rPr lang="ru-RU" sz="900" b="0" noProof="0" dirty="0" smtClean="0">
                          <a:solidFill>
                            <a:schemeClr val="tx1"/>
                          </a:solidFill>
                          <a:latin typeface="+mn-lt"/>
                        </a:rPr>
                        <a:t> </a:t>
                      </a:r>
                      <a:r>
                        <a:rPr lang="ru-RU" sz="900" b="0" noProof="0" dirty="0" err="1" smtClean="0">
                          <a:solidFill>
                            <a:schemeClr val="tx1"/>
                          </a:solidFill>
                          <a:latin typeface="+mn-lt"/>
                        </a:rPr>
                        <a:t>соҳасида</a:t>
                      </a:r>
                      <a:r>
                        <a:rPr lang="ru-RU" sz="900" b="0" noProof="0" dirty="0" smtClean="0">
                          <a:solidFill>
                            <a:schemeClr val="tx1"/>
                          </a:solidFill>
                          <a:latin typeface="+mn-lt"/>
                        </a:rPr>
                        <a:t> 40 </a:t>
                      </a:r>
                      <a:r>
                        <a:rPr lang="ru-RU" sz="900" b="0" noProof="0" dirty="0" err="1" smtClean="0">
                          <a:solidFill>
                            <a:schemeClr val="tx1"/>
                          </a:solidFill>
                          <a:latin typeface="+mn-lt"/>
                        </a:rPr>
                        <a:t>йилдан</a:t>
                      </a:r>
                      <a:r>
                        <a:rPr lang="ru-RU" sz="900" b="0" noProof="0" dirty="0" smtClean="0">
                          <a:solidFill>
                            <a:schemeClr val="tx1"/>
                          </a:solidFill>
                          <a:latin typeface="+mn-lt"/>
                        </a:rPr>
                        <a:t> </a:t>
                      </a:r>
                      <a:r>
                        <a:rPr lang="ru-RU" sz="900" b="0" noProof="0" dirty="0" err="1" smtClean="0">
                          <a:solidFill>
                            <a:schemeClr val="tx1"/>
                          </a:solidFill>
                          <a:latin typeface="+mn-lt"/>
                        </a:rPr>
                        <a:t>ортиқ</a:t>
                      </a:r>
                      <a:r>
                        <a:rPr lang="ru-RU" sz="900" b="0" noProof="0" dirty="0" smtClean="0">
                          <a:solidFill>
                            <a:schemeClr val="tx1"/>
                          </a:solidFill>
                          <a:latin typeface="+mn-lt"/>
                        </a:rPr>
                        <a:t> </a:t>
                      </a:r>
                      <a:r>
                        <a:rPr lang="ru-RU" sz="900" b="0" noProof="0" dirty="0" err="1" smtClean="0">
                          <a:solidFill>
                            <a:schemeClr val="tx1"/>
                          </a:solidFill>
                          <a:latin typeface="+mn-lt"/>
                        </a:rPr>
                        <a:t>меҳнат</a:t>
                      </a:r>
                      <a:r>
                        <a:rPr lang="ru-RU" sz="900" b="0" noProof="0" dirty="0" smtClean="0">
                          <a:solidFill>
                            <a:schemeClr val="tx1"/>
                          </a:solidFill>
                          <a:latin typeface="+mn-lt"/>
                        </a:rPr>
                        <a:t> </a:t>
                      </a:r>
                      <a:r>
                        <a:rPr lang="ru-RU" sz="900" b="0" noProof="0" dirty="0" err="1" smtClean="0">
                          <a:solidFill>
                            <a:schemeClr val="tx1"/>
                          </a:solidFill>
                          <a:latin typeface="+mn-lt"/>
                        </a:rPr>
                        <a:t>стажига</a:t>
                      </a:r>
                      <a:r>
                        <a:rPr lang="ru-RU" sz="900" b="0" noProof="0" dirty="0" smtClean="0">
                          <a:solidFill>
                            <a:schemeClr val="tx1"/>
                          </a:solidFill>
                          <a:latin typeface="+mn-lt"/>
                        </a:rPr>
                        <a:t> </a:t>
                      </a:r>
                      <a:r>
                        <a:rPr lang="ru-RU" sz="900" b="0" noProof="0" dirty="0" err="1" smtClean="0">
                          <a:solidFill>
                            <a:schemeClr val="tx1"/>
                          </a:solidFill>
                          <a:latin typeface="+mn-lt"/>
                        </a:rPr>
                        <a:t>эга</a:t>
                      </a:r>
                      <a:r>
                        <a:rPr lang="ru-RU" sz="900" b="0" noProof="0" dirty="0" smtClean="0">
                          <a:solidFill>
                            <a:schemeClr val="tx1"/>
                          </a:solidFill>
                          <a:latin typeface="+mn-lt"/>
                        </a:rPr>
                        <a:t> </a:t>
                      </a:r>
                      <a:r>
                        <a:rPr lang="ru-RU" sz="900" b="0" noProof="0" dirty="0" err="1" smtClean="0">
                          <a:solidFill>
                            <a:schemeClr val="tx1"/>
                          </a:solidFill>
                          <a:latin typeface="+mn-lt"/>
                        </a:rPr>
                        <a:t>бўлган</a:t>
                      </a:r>
                      <a:r>
                        <a:rPr lang="ru-RU" sz="900" b="0" noProof="0" dirty="0" smtClean="0">
                          <a:solidFill>
                            <a:schemeClr val="tx1"/>
                          </a:solidFill>
                          <a:latin typeface="+mn-lt"/>
                        </a:rPr>
                        <a:t> </a:t>
                      </a:r>
                      <a:r>
                        <a:rPr lang="ru-RU" sz="900" b="0" noProof="0" dirty="0" err="1" smtClean="0">
                          <a:solidFill>
                            <a:schemeClr val="tx1"/>
                          </a:solidFill>
                          <a:latin typeface="+mn-lt"/>
                        </a:rPr>
                        <a:t>таниқли</a:t>
                      </a:r>
                      <a:r>
                        <a:rPr lang="ru-RU" sz="900" b="0" noProof="0" dirty="0" smtClean="0">
                          <a:solidFill>
                            <a:schemeClr val="tx1"/>
                          </a:solidFill>
                          <a:latin typeface="+mn-lt"/>
                        </a:rPr>
                        <a:t> </a:t>
                      </a:r>
                      <a:r>
                        <a:rPr lang="ru-RU" sz="900" b="0" noProof="0" dirty="0" err="1" smtClean="0">
                          <a:solidFill>
                            <a:schemeClr val="tx1"/>
                          </a:solidFill>
                          <a:latin typeface="+mn-lt"/>
                        </a:rPr>
                        <a:t>сан’аткор</a:t>
                      </a:r>
                      <a:r>
                        <a:rPr lang="ru-RU" sz="900" b="0" noProof="0" dirty="0" smtClean="0">
                          <a:solidFill>
                            <a:schemeClr val="tx1"/>
                          </a:solidFill>
                          <a:latin typeface="+mn-lt"/>
                        </a:rPr>
                        <a:t> </a:t>
                      </a:r>
                      <a:r>
                        <a:rPr lang="ru-RU" sz="900" b="0" noProof="0" dirty="0" err="1" smtClean="0">
                          <a:solidFill>
                            <a:schemeClr val="tx1"/>
                          </a:solidFill>
                          <a:latin typeface="+mn-lt"/>
                        </a:rPr>
                        <a:t>ҳисобланади</a:t>
                      </a:r>
                      <a:r>
                        <a:rPr lang="ru-RU" sz="900" b="0" noProof="0" dirty="0" smtClean="0">
                          <a:solidFill>
                            <a:schemeClr val="tx1"/>
                          </a:solidFill>
                          <a:latin typeface="+mn-lt"/>
                        </a:rPr>
                        <a:t>. У </a:t>
                      </a:r>
                      <a:r>
                        <a:rPr lang="ru-RU" sz="900" b="0" noProof="0" dirty="0" err="1" smtClean="0">
                          <a:solidFill>
                            <a:schemeClr val="tx1"/>
                          </a:solidFill>
                          <a:latin typeface="+mn-lt"/>
                        </a:rPr>
                        <a:t>кўп</a:t>
                      </a:r>
                      <a:r>
                        <a:rPr lang="ru-RU" sz="900" b="0" noProof="0" dirty="0" smtClean="0">
                          <a:solidFill>
                            <a:schemeClr val="tx1"/>
                          </a:solidFill>
                          <a:latin typeface="+mn-lt"/>
                        </a:rPr>
                        <a:t> </a:t>
                      </a:r>
                      <a:r>
                        <a:rPr lang="ru-RU" sz="900" b="0" noProof="0" dirty="0" err="1" smtClean="0">
                          <a:solidFill>
                            <a:schemeClr val="tx1"/>
                          </a:solidFill>
                          <a:latin typeface="+mn-lt"/>
                        </a:rPr>
                        <a:t>йиллар</a:t>
                      </a:r>
                      <a:r>
                        <a:rPr lang="ru-RU" sz="900" b="0" noProof="0" dirty="0" smtClean="0">
                          <a:solidFill>
                            <a:schemeClr val="tx1"/>
                          </a:solidFill>
                          <a:latin typeface="+mn-lt"/>
                        </a:rPr>
                        <a:t> </a:t>
                      </a:r>
                      <a:r>
                        <a:rPr lang="ru-RU" sz="900" b="0" noProof="0" dirty="0" err="1" smtClean="0">
                          <a:solidFill>
                            <a:schemeClr val="tx1"/>
                          </a:solidFill>
                          <a:latin typeface="+mn-lt"/>
                        </a:rPr>
                        <a:t>давомида</a:t>
                      </a:r>
                      <a:r>
                        <a:rPr lang="ru-RU" sz="900" b="0" noProof="0" dirty="0" smtClean="0">
                          <a:solidFill>
                            <a:schemeClr val="tx1"/>
                          </a:solidFill>
                          <a:latin typeface="+mn-lt"/>
                        </a:rPr>
                        <a:t> </a:t>
                      </a:r>
                      <a:r>
                        <a:rPr lang="ru-RU" sz="900" b="0" noProof="0" dirty="0" err="1" smtClean="0">
                          <a:solidFill>
                            <a:schemeClr val="tx1"/>
                          </a:solidFill>
                          <a:latin typeface="+mn-lt"/>
                        </a:rPr>
                        <a:t>мазкур</a:t>
                      </a:r>
                      <a:r>
                        <a:rPr lang="ru-RU" sz="900" b="0" noProof="0" dirty="0" smtClean="0">
                          <a:solidFill>
                            <a:schemeClr val="tx1"/>
                          </a:solidFill>
                          <a:latin typeface="+mn-lt"/>
                        </a:rPr>
                        <a:t> </a:t>
                      </a:r>
                      <a:r>
                        <a:rPr lang="ru-RU" sz="900" b="0" noProof="0" dirty="0" err="1" smtClean="0">
                          <a:solidFill>
                            <a:schemeClr val="tx1"/>
                          </a:solidFill>
                          <a:latin typeface="+mn-lt"/>
                        </a:rPr>
                        <a:t>соҳада</a:t>
                      </a:r>
                      <a:r>
                        <a:rPr lang="ru-RU" sz="900" b="0" noProof="0" dirty="0" smtClean="0">
                          <a:solidFill>
                            <a:schemeClr val="tx1"/>
                          </a:solidFill>
                          <a:latin typeface="+mn-lt"/>
                        </a:rPr>
                        <a:t> </a:t>
                      </a:r>
                      <a:r>
                        <a:rPr lang="ru-RU" sz="900" b="0" noProof="0" dirty="0" err="1" smtClean="0">
                          <a:solidFill>
                            <a:schemeClr val="tx1"/>
                          </a:solidFill>
                          <a:latin typeface="+mn-lt"/>
                        </a:rPr>
                        <a:t>самарали</a:t>
                      </a:r>
                      <a:r>
                        <a:rPr lang="ru-RU" sz="900" b="0" noProof="0" dirty="0" smtClean="0">
                          <a:solidFill>
                            <a:schemeClr val="tx1"/>
                          </a:solidFill>
                          <a:latin typeface="+mn-lt"/>
                        </a:rPr>
                        <a:t> </a:t>
                      </a:r>
                      <a:r>
                        <a:rPr lang="ru-RU" sz="900" b="0" noProof="0" dirty="0" err="1" smtClean="0">
                          <a:solidFill>
                            <a:schemeClr val="tx1"/>
                          </a:solidFill>
                          <a:latin typeface="+mn-lt"/>
                        </a:rPr>
                        <a:t>фаолият</a:t>
                      </a:r>
                      <a:r>
                        <a:rPr lang="ru-RU" sz="900" b="0" noProof="0" dirty="0" smtClean="0">
                          <a:solidFill>
                            <a:schemeClr val="tx1"/>
                          </a:solidFill>
                          <a:latin typeface="+mn-lt"/>
                        </a:rPr>
                        <a:t> </a:t>
                      </a:r>
                      <a:r>
                        <a:rPr lang="ru-RU" sz="900" b="0" noProof="0" dirty="0" err="1" smtClean="0">
                          <a:solidFill>
                            <a:schemeClr val="tx1"/>
                          </a:solidFill>
                          <a:latin typeface="+mn-lt"/>
                        </a:rPr>
                        <a:t>юритиб</a:t>
                      </a:r>
                      <a:r>
                        <a:rPr lang="ru-RU" sz="900" b="0" noProof="0" dirty="0" smtClean="0">
                          <a:solidFill>
                            <a:schemeClr val="tx1"/>
                          </a:solidFill>
                          <a:latin typeface="+mn-lt"/>
                        </a:rPr>
                        <a:t>, </a:t>
                      </a:r>
                      <a:r>
                        <a:rPr lang="ru-RU" sz="900" b="0" noProof="0" dirty="0" err="1" smtClean="0">
                          <a:solidFill>
                            <a:schemeClr val="tx1"/>
                          </a:solidFill>
                          <a:latin typeface="+mn-lt"/>
                        </a:rPr>
                        <a:t>кўплаб</a:t>
                      </a:r>
                      <a:r>
                        <a:rPr lang="ru-RU" sz="900" b="0" noProof="0" dirty="0" smtClean="0">
                          <a:solidFill>
                            <a:schemeClr val="tx1"/>
                          </a:solidFill>
                          <a:latin typeface="+mn-lt"/>
                        </a:rPr>
                        <a:t> </a:t>
                      </a:r>
                      <a:r>
                        <a:rPr lang="ru-RU" sz="900" b="0" noProof="0" dirty="0" err="1" smtClean="0">
                          <a:solidFill>
                            <a:schemeClr val="tx1"/>
                          </a:solidFill>
                          <a:latin typeface="+mn-lt"/>
                        </a:rPr>
                        <a:t>саҳна</a:t>
                      </a:r>
                      <a:r>
                        <a:rPr lang="ru-RU" sz="900" b="0" noProof="0" dirty="0" smtClean="0">
                          <a:solidFill>
                            <a:schemeClr val="tx1"/>
                          </a:solidFill>
                          <a:latin typeface="+mn-lt"/>
                        </a:rPr>
                        <a:t> </a:t>
                      </a:r>
                      <a:r>
                        <a:rPr lang="ru-RU" sz="900" b="0" noProof="0" dirty="0" err="1" smtClean="0">
                          <a:solidFill>
                            <a:schemeClr val="tx1"/>
                          </a:solidFill>
                          <a:latin typeface="+mn-lt"/>
                        </a:rPr>
                        <a:t>асарлари</a:t>
                      </a:r>
                      <a:r>
                        <a:rPr lang="ru-RU" sz="900" b="0" noProof="0" dirty="0" smtClean="0">
                          <a:solidFill>
                            <a:schemeClr val="tx1"/>
                          </a:solidFill>
                          <a:latin typeface="+mn-lt"/>
                        </a:rPr>
                        <a:t>, юмористик </a:t>
                      </a:r>
                      <a:r>
                        <a:rPr lang="ru-RU" sz="900" b="0" noProof="0" dirty="0" err="1" smtClean="0">
                          <a:solidFill>
                            <a:schemeClr val="tx1"/>
                          </a:solidFill>
                          <a:latin typeface="+mn-lt"/>
                        </a:rPr>
                        <a:t>чиқишлар</a:t>
                      </a:r>
                      <a:r>
                        <a:rPr lang="ru-RU" sz="900" b="0" noProof="0" dirty="0" smtClean="0">
                          <a:solidFill>
                            <a:schemeClr val="tx1"/>
                          </a:solidFill>
                          <a:latin typeface="+mn-lt"/>
                        </a:rPr>
                        <a:t>, монолог </a:t>
                      </a:r>
                      <a:r>
                        <a:rPr lang="ru-RU" sz="900" b="0" noProof="0" dirty="0" err="1" smtClean="0">
                          <a:solidFill>
                            <a:schemeClr val="tx1"/>
                          </a:solidFill>
                          <a:latin typeface="+mn-lt"/>
                        </a:rPr>
                        <a:t>ва</a:t>
                      </a:r>
                      <a:r>
                        <a:rPr lang="ru-RU" sz="900" b="0" noProof="0" dirty="0" smtClean="0">
                          <a:solidFill>
                            <a:schemeClr val="tx1"/>
                          </a:solidFill>
                          <a:latin typeface="+mn-lt"/>
                        </a:rPr>
                        <a:t> </a:t>
                      </a:r>
                      <a:r>
                        <a:rPr lang="ru-RU" sz="900" b="0" noProof="0" dirty="0" err="1" smtClean="0">
                          <a:solidFill>
                            <a:schemeClr val="tx1"/>
                          </a:solidFill>
                          <a:latin typeface="+mn-lt"/>
                        </a:rPr>
                        <a:t>мусиқий</a:t>
                      </a:r>
                      <a:r>
                        <a:rPr lang="ru-RU" sz="900" b="0" noProof="0" dirty="0" smtClean="0">
                          <a:solidFill>
                            <a:schemeClr val="tx1"/>
                          </a:solidFill>
                          <a:latin typeface="+mn-lt"/>
                        </a:rPr>
                        <a:t> </a:t>
                      </a:r>
                      <a:r>
                        <a:rPr lang="ru-RU" sz="900" b="0" noProof="0" dirty="0" err="1" smtClean="0">
                          <a:solidFill>
                            <a:schemeClr val="tx1"/>
                          </a:solidFill>
                          <a:latin typeface="+mn-lt"/>
                        </a:rPr>
                        <a:t>дастурлари</a:t>
                      </a:r>
                      <a:r>
                        <a:rPr lang="ru-RU" sz="900" b="0" noProof="0" dirty="0" smtClean="0">
                          <a:solidFill>
                            <a:schemeClr val="tx1"/>
                          </a:solidFill>
                          <a:latin typeface="+mn-lt"/>
                        </a:rPr>
                        <a:t> </a:t>
                      </a:r>
                      <a:r>
                        <a:rPr lang="ru-RU" sz="900" b="0" noProof="0" dirty="0" err="1" smtClean="0">
                          <a:solidFill>
                            <a:schemeClr val="tx1"/>
                          </a:solidFill>
                          <a:latin typeface="+mn-lt"/>
                        </a:rPr>
                        <a:t>орқали</a:t>
                      </a:r>
                      <a:r>
                        <a:rPr lang="ru-RU" sz="900" b="0" noProof="0" dirty="0" smtClean="0">
                          <a:solidFill>
                            <a:schemeClr val="tx1"/>
                          </a:solidFill>
                          <a:latin typeface="+mn-lt"/>
                        </a:rPr>
                        <a:t> </a:t>
                      </a:r>
                      <a:r>
                        <a:rPr lang="ru-RU" sz="900" b="0" noProof="0" dirty="0" err="1" smtClean="0">
                          <a:solidFill>
                            <a:schemeClr val="tx1"/>
                          </a:solidFill>
                          <a:latin typeface="+mn-lt"/>
                        </a:rPr>
                        <a:t>кенг</a:t>
                      </a:r>
                      <a:r>
                        <a:rPr lang="ru-RU" sz="900" b="0" noProof="0" dirty="0" smtClean="0">
                          <a:solidFill>
                            <a:schemeClr val="tx1"/>
                          </a:solidFill>
                          <a:latin typeface="+mn-lt"/>
                        </a:rPr>
                        <a:t> </a:t>
                      </a:r>
                      <a:r>
                        <a:rPr lang="ru-RU" sz="900" b="0" noProof="0" dirty="0" err="1" smtClean="0">
                          <a:solidFill>
                            <a:schemeClr val="tx1"/>
                          </a:solidFill>
                          <a:latin typeface="+mn-lt"/>
                        </a:rPr>
                        <a:t>жамоатчилик</a:t>
                      </a:r>
                      <a:r>
                        <a:rPr lang="ru-RU" sz="900" b="0" noProof="0" dirty="0" smtClean="0">
                          <a:solidFill>
                            <a:schemeClr val="tx1"/>
                          </a:solidFill>
                          <a:latin typeface="+mn-lt"/>
                        </a:rPr>
                        <a:t> </a:t>
                      </a:r>
                      <a:r>
                        <a:rPr lang="ru-RU" sz="900" b="0" noProof="0" dirty="0" err="1" smtClean="0">
                          <a:solidFill>
                            <a:schemeClr val="tx1"/>
                          </a:solidFill>
                          <a:latin typeface="+mn-lt"/>
                        </a:rPr>
                        <a:t>орасида</a:t>
                      </a:r>
                      <a:r>
                        <a:rPr lang="ru-RU" sz="900" b="0" noProof="0" dirty="0" smtClean="0">
                          <a:solidFill>
                            <a:schemeClr val="tx1"/>
                          </a:solidFill>
                          <a:latin typeface="+mn-lt"/>
                        </a:rPr>
                        <a:t> </a:t>
                      </a:r>
                      <a:r>
                        <a:rPr lang="ru-RU" sz="900" b="0" noProof="0" dirty="0" err="1" smtClean="0">
                          <a:solidFill>
                            <a:schemeClr val="tx1"/>
                          </a:solidFill>
                          <a:latin typeface="+mn-lt"/>
                        </a:rPr>
                        <a:t>катта</a:t>
                      </a:r>
                      <a:r>
                        <a:rPr lang="ru-RU" sz="900" b="0" noProof="0" dirty="0" smtClean="0">
                          <a:solidFill>
                            <a:schemeClr val="tx1"/>
                          </a:solidFill>
                          <a:latin typeface="+mn-lt"/>
                        </a:rPr>
                        <a:t> </a:t>
                      </a:r>
                      <a:r>
                        <a:rPr lang="ru-RU" sz="900" b="0" noProof="0" dirty="0" err="1" smtClean="0">
                          <a:solidFill>
                            <a:schemeClr val="tx1"/>
                          </a:solidFill>
                          <a:latin typeface="+mn-lt"/>
                        </a:rPr>
                        <a:t>обрў-е’тибор</a:t>
                      </a:r>
                      <a:r>
                        <a:rPr lang="ru-RU" sz="900" b="0" noProof="0" dirty="0" smtClean="0">
                          <a:solidFill>
                            <a:schemeClr val="tx1"/>
                          </a:solidFill>
                          <a:latin typeface="+mn-lt"/>
                        </a:rPr>
                        <a:t> </a:t>
                      </a:r>
                      <a:r>
                        <a:rPr lang="ru-RU" sz="900" b="0" noProof="0" dirty="0" err="1" smtClean="0">
                          <a:solidFill>
                            <a:schemeClr val="tx1"/>
                          </a:solidFill>
                          <a:latin typeface="+mn-lt"/>
                        </a:rPr>
                        <a:t>қозонган</a:t>
                      </a:r>
                      <a:r>
                        <a:rPr lang="ru-RU" sz="900" b="0" noProof="0" dirty="0" smtClean="0">
                          <a:solidFill>
                            <a:schemeClr val="tx1"/>
                          </a:solidFill>
                          <a:latin typeface="+mn-lt"/>
                        </a:rPr>
                        <a:t>.</a:t>
                      </a:r>
                    </a:p>
                    <a:p>
                      <a:pPr marL="0" indent="179388" algn="just">
                        <a:lnSpc>
                          <a:spcPct val="85000"/>
                        </a:lnSpc>
                      </a:pPr>
                      <a:r>
                        <a:rPr lang="ru-RU" sz="900" b="0" noProof="0" dirty="0" smtClean="0">
                          <a:solidFill>
                            <a:schemeClr val="tx1"/>
                          </a:solidFill>
                          <a:latin typeface="+mn-lt"/>
                        </a:rPr>
                        <a:t>У “</a:t>
                      </a:r>
                      <a:r>
                        <a:rPr lang="ru-RU" sz="900" b="0" noProof="0" dirty="0" err="1" smtClean="0">
                          <a:solidFill>
                            <a:schemeClr val="tx1"/>
                          </a:solidFill>
                          <a:latin typeface="+mn-lt"/>
                        </a:rPr>
                        <a:t>Мирзо</a:t>
                      </a:r>
                      <a:r>
                        <a:rPr lang="ru-RU" sz="900" b="0" noProof="0" dirty="0" smtClean="0">
                          <a:solidFill>
                            <a:schemeClr val="tx1"/>
                          </a:solidFill>
                          <a:latin typeface="+mn-lt"/>
                        </a:rPr>
                        <a:t>” юмористик </a:t>
                      </a:r>
                      <a:r>
                        <a:rPr lang="ru-RU" sz="900" b="0" noProof="0" dirty="0" err="1" smtClean="0">
                          <a:solidFill>
                            <a:schemeClr val="tx1"/>
                          </a:solidFill>
                          <a:latin typeface="+mn-lt"/>
                        </a:rPr>
                        <a:t>театрининг</a:t>
                      </a:r>
                      <a:r>
                        <a:rPr lang="ru-RU" sz="900" b="0" noProof="0" dirty="0" smtClean="0">
                          <a:solidFill>
                            <a:schemeClr val="tx1"/>
                          </a:solidFill>
                          <a:latin typeface="+mn-lt"/>
                        </a:rPr>
                        <a:t> </a:t>
                      </a:r>
                      <a:r>
                        <a:rPr lang="ru-RU" sz="900" b="0" noProof="0" dirty="0" err="1" smtClean="0">
                          <a:solidFill>
                            <a:schemeClr val="tx1"/>
                          </a:solidFill>
                          <a:latin typeface="+mn-lt"/>
                        </a:rPr>
                        <a:t>асосчиси</a:t>
                      </a:r>
                      <a:r>
                        <a:rPr lang="ru-RU" sz="900" b="0" noProof="0" dirty="0" smtClean="0">
                          <a:solidFill>
                            <a:schemeClr val="tx1"/>
                          </a:solidFill>
                          <a:latin typeface="+mn-lt"/>
                        </a:rPr>
                        <a:t> </a:t>
                      </a:r>
                      <a:r>
                        <a:rPr lang="ru-RU" sz="900" b="0" noProof="0" dirty="0" err="1" smtClean="0">
                          <a:solidFill>
                            <a:schemeClr val="tx1"/>
                          </a:solidFill>
                          <a:latin typeface="+mn-lt"/>
                        </a:rPr>
                        <a:t>ва</a:t>
                      </a:r>
                      <a:r>
                        <a:rPr lang="ru-RU" sz="900" b="0" noProof="0" dirty="0" smtClean="0">
                          <a:solidFill>
                            <a:schemeClr val="tx1"/>
                          </a:solidFill>
                          <a:latin typeface="+mn-lt"/>
                        </a:rPr>
                        <a:t> </a:t>
                      </a:r>
                      <a:r>
                        <a:rPr lang="ru-RU" sz="900" b="0" noProof="0" dirty="0" err="1" smtClean="0">
                          <a:solidFill>
                            <a:schemeClr val="tx1"/>
                          </a:solidFill>
                          <a:latin typeface="+mn-lt"/>
                        </a:rPr>
                        <a:t>раҳбари</a:t>
                      </a:r>
                      <a:r>
                        <a:rPr lang="ru-RU" sz="900" b="0" noProof="0" dirty="0" smtClean="0">
                          <a:solidFill>
                            <a:schemeClr val="tx1"/>
                          </a:solidFill>
                          <a:latin typeface="+mn-lt"/>
                        </a:rPr>
                        <a:t> </a:t>
                      </a:r>
                      <a:r>
                        <a:rPr lang="ru-RU" sz="900" b="0" noProof="0" dirty="0" err="1" smtClean="0">
                          <a:solidFill>
                            <a:schemeClr val="tx1"/>
                          </a:solidFill>
                          <a:latin typeface="+mn-lt"/>
                        </a:rPr>
                        <a:t>бўлиб</a:t>
                      </a:r>
                      <a:r>
                        <a:rPr lang="ru-RU" sz="900" b="0" noProof="0" dirty="0" smtClean="0">
                          <a:solidFill>
                            <a:schemeClr val="tx1"/>
                          </a:solidFill>
                          <a:latin typeface="+mn-lt"/>
                        </a:rPr>
                        <a:t>, </a:t>
                      </a:r>
                      <a:r>
                        <a:rPr lang="ru-RU" sz="900" b="0" noProof="0" dirty="0" err="1" smtClean="0">
                          <a:solidFill>
                            <a:schemeClr val="tx1"/>
                          </a:solidFill>
                          <a:latin typeface="+mn-lt"/>
                        </a:rPr>
                        <a:t>миллий</a:t>
                      </a:r>
                      <a:r>
                        <a:rPr lang="ru-RU" sz="900" b="0" noProof="0" dirty="0" smtClean="0">
                          <a:solidFill>
                            <a:schemeClr val="tx1"/>
                          </a:solidFill>
                          <a:latin typeface="+mn-lt"/>
                        </a:rPr>
                        <a:t> </a:t>
                      </a:r>
                      <a:r>
                        <a:rPr lang="ru-RU" sz="900" b="0" noProof="0" dirty="0" err="1" smtClean="0">
                          <a:solidFill>
                            <a:schemeClr val="tx1"/>
                          </a:solidFill>
                          <a:latin typeface="+mn-lt"/>
                        </a:rPr>
                        <a:t>саҳна</a:t>
                      </a:r>
                      <a:r>
                        <a:rPr lang="ru-RU" sz="900" b="0" noProof="0" dirty="0" smtClean="0">
                          <a:solidFill>
                            <a:schemeClr val="tx1"/>
                          </a:solidFill>
                          <a:latin typeface="+mn-lt"/>
                        </a:rPr>
                        <a:t> </a:t>
                      </a:r>
                      <a:r>
                        <a:rPr lang="ru-RU" sz="900" b="0" noProof="0" dirty="0" err="1" smtClean="0">
                          <a:solidFill>
                            <a:schemeClr val="tx1"/>
                          </a:solidFill>
                          <a:latin typeface="+mn-lt"/>
                        </a:rPr>
                        <a:t>сан’ати</a:t>
                      </a:r>
                      <a:r>
                        <a:rPr lang="ru-RU" sz="900" b="0" noProof="0" dirty="0" smtClean="0">
                          <a:solidFill>
                            <a:schemeClr val="tx1"/>
                          </a:solidFill>
                          <a:latin typeface="+mn-lt"/>
                        </a:rPr>
                        <a:t> </a:t>
                      </a:r>
                      <a:r>
                        <a:rPr lang="ru-RU" sz="900" b="0" noProof="0" dirty="0" err="1" smtClean="0">
                          <a:solidFill>
                            <a:schemeClr val="tx1"/>
                          </a:solidFill>
                          <a:latin typeface="+mn-lt"/>
                        </a:rPr>
                        <a:t>ривожига</a:t>
                      </a:r>
                      <a:r>
                        <a:rPr lang="ru-RU" sz="900" b="0" noProof="0" dirty="0" smtClean="0">
                          <a:solidFill>
                            <a:schemeClr val="tx1"/>
                          </a:solidFill>
                          <a:latin typeface="+mn-lt"/>
                        </a:rPr>
                        <a:t> </a:t>
                      </a:r>
                      <a:r>
                        <a:rPr lang="ru-RU" sz="900" b="0" noProof="0" dirty="0" err="1" smtClean="0">
                          <a:solidFill>
                            <a:schemeClr val="tx1"/>
                          </a:solidFill>
                          <a:latin typeface="+mn-lt"/>
                        </a:rPr>
                        <a:t>муносиб</a:t>
                      </a:r>
                      <a:r>
                        <a:rPr lang="ru-RU" sz="900" b="0" noProof="0" dirty="0" smtClean="0">
                          <a:solidFill>
                            <a:schemeClr val="tx1"/>
                          </a:solidFill>
                          <a:latin typeface="+mn-lt"/>
                        </a:rPr>
                        <a:t> </a:t>
                      </a:r>
                      <a:r>
                        <a:rPr lang="ru-RU" sz="900" b="0" noProof="0" dirty="0" err="1" smtClean="0">
                          <a:solidFill>
                            <a:schemeClr val="tx1"/>
                          </a:solidFill>
                          <a:latin typeface="+mn-lt"/>
                        </a:rPr>
                        <a:t>ҳисса</a:t>
                      </a:r>
                      <a:r>
                        <a:rPr lang="ru-RU" sz="900" b="0" noProof="0" dirty="0" smtClean="0">
                          <a:solidFill>
                            <a:schemeClr val="tx1"/>
                          </a:solidFill>
                          <a:latin typeface="+mn-lt"/>
                        </a:rPr>
                        <a:t> </a:t>
                      </a:r>
                      <a:r>
                        <a:rPr lang="ru-RU" sz="900" b="0" noProof="0" dirty="0" err="1" smtClean="0">
                          <a:solidFill>
                            <a:schemeClr val="tx1"/>
                          </a:solidFill>
                          <a:latin typeface="+mn-lt"/>
                        </a:rPr>
                        <a:t>қўшиб</a:t>
                      </a:r>
                      <a:r>
                        <a:rPr lang="ru-RU" sz="900" b="0" noProof="0" dirty="0" smtClean="0">
                          <a:solidFill>
                            <a:schemeClr val="tx1"/>
                          </a:solidFill>
                          <a:latin typeface="+mn-lt"/>
                        </a:rPr>
                        <a:t> </a:t>
                      </a:r>
                      <a:r>
                        <a:rPr lang="ru-RU" sz="900" b="0" noProof="0" dirty="0" err="1" smtClean="0">
                          <a:solidFill>
                            <a:schemeClr val="tx1"/>
                          </a:solidFill>
                          <a:latin typeface="+mn-lt"/>
                        </a:rPr>
                        <a:t>келмоқда</a:t>
                      </a:r>
                      <a:r>
                        <a:rPr lang="ru-RU" sz="900" b="0" noProof="0" dirty="0" smtClean="0">
                          <a:solidFill>
                            <a:schemeClr val="tx1"/>
                          </a:solidFill>
                          <a:latin typeface="+mn-lt"/>
                        </a:rPr>
                        <a:t>. </a:t>
                      </a:r>
                      <a:r>
                        <a:rPr lang="ru-RU" sz="900" b="0" noProof="0" dirty="0" err="1" smtClean="0">
                          <a:solidFill>
                            <a:schemeClr val="tx1"/>
                          </a:solidFill>
                          <a:latin typeface="+mn-lt"/>
                        </a:rPr>
                        <a:t>Томошабинлар</a:t>
                      </a:r>
                      <a:r>
                        <a:rPr lang="ru-RU" sz="900" b="0" noProof="0" dirty="0" smtClean="0">
                          <a:solidFill>
                            <a:schemeClr val="tx1"/>
                          </a:solidFill>
                          <a:latin typeface="+mn-lt"/>
                        </a:rPr>
                        <a:t> </a:t>
                      </a:r>
                      <a:r>
                        <a:rPr lang="ru-RU" sz="900" b="0" noProof="0" dirty="0" err="1" smtClean="0">
                          <a:solidFill>
                            <a:schemeClr val="tx1"/>
                          </a:solidFill>
                          <a:latin typeface="+mn-lt"/>
                        </a:rPr>
                        <a:t>э’тирофига</a:t>
                      </a:r>
                      <a:r>
                        <a:rPr lang="ru-RU" sz="900" b="0" noProof="0" dirty="0" smtClean="0">
                          <a:solidFill>
                            <a:schemeClr val="tx1"/>
                          </a:solidFill>
                          <a:latin typeface="+mn-lt"/>
                        </a:rPr>
                        <a:t> </a:t>
                      </a:r>
                      <a:r>
                        <a:rPr lang="ru-RU" sz="900" b="0" noProof="0" dirty="0" err="1" smtClean="0">
                          <a:solidFill>
                            <a:schemeClr val="tx1"/>
                          </a:solidFill>
                          <a:latin typeface="+mn-lt"/>
                        </a:rPr>
                        <a:t>сазовор</a:t>
                      </a:r>
                      <a:r>
                        <a:rPr lang="ru-RU" sz="900" b="0" noProof="0" dirty="0" smtClean="0">
                          <a:solidFill>
                            <a:schemeClr val="tx1"/>
                          </a:solidFill>
                          <a:latin typeface="+mn-lt"/>
                        </a:rPr>
                        <a:t> </a:t>
                      </a:r>
                      <a:r>
                        <a:rPr lang="ru-RU" sz="900" b="0" noProof="0" dirty="0" err="1" smtClean="0">
                          <a:solidFill>
                            <a:schemeClr val="tx1"/>
                          </a:solidFill>
                          <a:latin typeface="+mn-lt"/>
                        </a:rPr>
                        <a:t>бўлган</a:t>
                      </a:r>
                      <a:r>
                        <a:rPr lang="ru-RU" sz="900" b="0" noProof="0" dirty="0" smtClean="0">
                          <a:solidFill>
                            <a:schemeClr val="tx1"/>
                          </a:solidFill>
                          <a:latin typeface="+mn-lt"/>
                        </a:rPr>
                        <a:t> </a:t>
                      </a:r>
                      <a:r>
                        <a:rPr lang="ru-RU" sz="900" b="0" noProof="0" dirty="0" err="1" smtClean="0">
                          <a:solidFill>
                            <a:schemeClr val="tx1"/>
                          </a:solidFill>
                          <a:latin typeface="+mn-lt"/>
                        </a:rPr>
                        <a:t>кўплаб</a:t>
                      </a:r>
                      <a:r>
                        <a:rPr lang="ru-RU" sz="900" b="0" noProof="0" dirty="0" smtClean="0">
                          <a:solidFill>
                            <a:schemeClr val="tx1"/>
                          </a:solidFill>
                          <a:latin typeface="+mn-lt"/>
                        </a:rPr>
                        <a:t> </a:t>
                      </a:r>
                      <a:r>
                        <a:rPr lang="ru-RU" sz="900" b="0" noProof="0" dirty="0" err="1" smtClean="0">
                          <a:solidFill>
                            <a:schemeClr val="tx1"/>
                          </a:solidFill>
                          <a:latin typeface="+mn-lt"/>
                        </a:rPr>
                        <a:t>саҳна</a:t>
                      </a:r>
                      <a:r>
                        <a:rPr lang="ru-RU" sz="900" b="0" noProof="0" dirty="0" smtClean="0">
                          <a:solidFill>
                            <a:schemeClr val="tx1"/>
                          </a:solidFill>
                          <a:latin typeface="+mn-lt"/>
                        </a:rPr>
                        <a:t> </a:t>
                      </a:r>
                      <a:r>
                        <a:rPr lang="ru-RU" sz="900" b="0" noProof="0" dirty="0" err="1" smtClean="0">
                          <a:solidFill>
                            <a:schemeClr val="tx1"/>
                          </a:solidFill>
                          <a:latin typeface="+mn-lt"/>
                        </a:rPr>
                        <a:t>кўринишлари</a:t>
                      </a:r>
                      <a:r>
                        <a:rPr lang="ru-RU" sz="900" b="0" noProof="0" dirty="0" smtClean="0">
                          <a:solidFill>
                            <a:schemeClr val="tx1"/>
                          </a:solidFill>
                          <a:latin typeface="+mn-lt"/>
                        </a:rPr>
                        <a:t> </a:t>
                      </a:r>
                      <a:r>
                        <a:rPr lang="ru-RU" sz="900" b="0" noProof="0" dirty="0" err="1" smtClean="0">
                          <a:solidFill>
                            <a:schemeClr val="tx1"/>
                          </a:solidFill>
                          <a:latin typeface="+mn-lt"/>
                        </a:rPr>
                        <a:t>ва</a:t>
                      </a:r>
                      <a:r>
                        <a:rPr lang="ru-RU" sz="900" b="0" noProof="0" dirty="0" smtClean="0">
                          <a:solidFill>
                            <a:schemeClr val="tx1"/>
                          </a:solidFill>
                          <a:latin typeface="+mn-lt"/>
                        </a:rPr>
                        <a:t> </a:t>
                      </a:r>
                      <a:r>
                        <a:rPr lang="ru-RU" sz="900" b="0" noProof="0" dirty="0" err="1" smtClean="0">
                          <a:solidFill>
                            <a:schemeClr val="tx1"/>
                          </a:solidFill>
                          <a:latin typeface="+mn-lt"/>
                        </a:rPr>
                        <a:t>ижодий</a:t>
                      </a:r>
                      <a:r>
                        <a:rPr lang="ru-RU" sz="900" b="0" noProof="0" dirty="0" smtClean="0">
                          <a:solidFill>
                            <a:schemeClr val="tx1"/>
                          </a:solidFill>
                          <a:latin typeface="+mn-lt"/>
                        </a:rPr>
                        <a:t> </a:t>
                      </a:r>
                      <a:r>
                        <a:rPr lang="ru-RU" sz="900" b="0" noProof="0" dirty="0" err="1" smtClean="0">
                          <a:solidFill>
                            <a:schemeClr val="tx1"/>
                          </a:solidFill>
                          <a:latin typeface="+mn-lt"/>
                        </a:rPr>
                        <a:t>лойиҳалар</a:t>
                      </a:r>
                      <a:r>
                        <a:rPr lang="ru-RU" sz="900" b="0" noProof="0" dirty="0" smtClean="0">
                          <a:solidFill>
                            <a:schemeClr val="tx1"/>
                          </a:solidFill>
                          <a:latin typeface="+mn-lt"/>
                        </a:rPr>
                        <a:t> </a:t>
                      </a:r>
                      <a:r>
                        <a:rPr lang="ru-RU" sz="900" b="0" noProof="0" dirty="0" err="1" smtClean="0">
                          <a:solidFill>
                            <a:schemeClr val="tx1"/>
                          </a:solidFill>
                          <a:latin typeface="+mn-lt"/>
                        </a:rPr>
                        <a:t>муаллифи</a:t>
                      </a:r>
                      <a:r>
                        <a:rPr lang="ru-RU" sz="900" b="0" noProof="0" dirty="0" smtClean="0">
                          <a:solidFill>
                            <a:schemeClr val="tx1"/>
                          </a:solidFill>
                          <a:latin typeface="+mn-lt"/>
                        </a:rPr>
                        <a:t> </a:t>
                      </a:r>
                      <a:r>
                        <a:rPr lang="ru-RU" sz="900" b="0" noProof="0" dirty="0" err="1" smtClean="0">
                          <a:solidFill>
                            <a:schemeClr val="tx1"/>
                          </a:solidFill>
                          <a:latin typeface="+mn-lt"/>
                        </a:rPr>
                        <a:t>ҳисобланади</a:t>
                      </a:r>
                      <a:r>
                        <a:rPr lang="ru-RU" sz="900" b="0" noProof="0" dirty="0" smtClean="0">
                          <a:solidFill>
                            <a:schemeClr val="tx1"/>
                          </a:solidFill>
                          <a:latin typeface="+mn-lt"/>
                        </a:rPr>
                        <a:t>.</a:t>
                      </a:r>
                    </a:p>
                    <a:p>
                      <a:pPr marL="0" indent="179388" algn="just">
                        <a:lnSpc>
                          <a:spcPct val="85000"/>
                        </a:lnSpc>
                      </a:pPr>
                      <a:r>
                        <a:rPr lang="ru-RU" sz="900" b="0" noProof="0" dirty="0" err="1" smtClean="0">
                          <a:solidFill>
                            <a:schemeClr val="tx1"/>
                          </a:solidFill>
                          <a:latin typeface="+mn-lt"/>
                        </a:rPr>
                        <a:t>Унинг</a:t>
                      </a:r>
                      <a:r>
                        <a:rPr lang="ru-RU" sz="900" b="0" noProof="0" dirty="0" smtClean="0">
                          <a:solidFill>
                            <a:schemeClr val="tx1"/>
                          </a:solidFill>
                          <a:latin typeface="+mn-lt"/>
                        </a:rPr>
                        <a:t> </a:t>
                      </a:r>
                      <a:r>
                        <a:rPr lang="ru-RU" sz="900" b="0" noProof="0" dirty="0" err="1" smtClean="0">
                          <a:solidFill>
                            <a:schemeClr val="tx1"/>
                          </a:solidFill>
                          <a:latin typeface="+mn-lt"/>
                        </a:rPr>
                        <a:t>ижодий</a:t>
                      </a:r>
                      <a:r>
                        <a:rPr lang="ru-RU" sz="900" b="0" noProof="0" dirty="0" smtClean="0">
                          <a:solidFill>
                            <a:schemeClr val="tx1"/>
                          </a:solidFill>
                          <a:latin typeface="+mn-lt"/>
                        </a:rPr>
                        <a:t> </a:t>
                      </a:r>
                      <a:r>
                        <a:rPr lang="ru-RU" sz="900" b="0" noProof="0" dirty="0" err="1" smtClean="0">
                          <a:solidFill>
                            <a:schemeClr val="tx1"/>
                          </a:solidFill>
                          <a:latin typeface="+mn-lt"/>
                        </a:rPr>
                        <a:t>фаолиятида</a:t>
                      </a:r>
                      <a:r>
                        <a:rPr lang="ru-RU" sz="900" b="0" noProof="0" dirty="0" smtClean="0">
                          <a:solidFill>
                            <a:schemeClr val="tx1"/>
                          </a:solidFill>
                          <a:latin typeface="+mn-lt"/>
                        </a:rPr>
                        <a:t> </a:t>
                      </a:r>
                      <a:r>
                        <a:rPr lang="ru-RU" sz="900" b="0" noProof="0" dirty="0" err="1" smtClean="0">
                          <a:solidFill>
                            <a:schemeClr val="tx1"/>
                          </a:solidFill>
                          <a:latin typeface="+mn-lt"/>
                        </a:rPr>
                        <a:t>Тошкент</a:t>
                      </a:r>
                      <a:r>
                        <a:rPr lang="ru-RU" sz="900" b="0" noProof="0" dirty="0" smtClean="0">
                          <a:solidFill>
                            <a:schemeClr val="tx1"/>
                          </a:solidFill>
                          <a:latin typeface="+mn-lt"/>
                        </a:rPr>
                        <a:t> </a:t>
                      </a:r>
                      <a:r>
                        <a:rPr lang="ru-RU" sz="900" b="0" noProof="0" dirty="0" err="1" smtClean="0">
                          <a:solidFill>
                            <a:schemeClr val="tx1"/>
                          </a:solidFill>
                          <a:latin typeface="+mn-lt"/>
                        </a:rPr>
                        <a:t>шаҳридаги</a:t>
                      </a:r>
                      <a:r>
                        <a:rPr lang="ru-RU" sz="900" b="0" noProof="0" dirty="0" smtClean="0">
                          <a:solidFill>
                            <a:schemeClr val="tx1"/>
                          </a:solidFill>
                          <a:latin typeface="+mn-lt"/>
                        </a:rPr>
                        <a:t> </a:t>
                      </a:r>
                      <a:r>
                        <a:rPr lang="ru-RU" sz="900" b="0" noProof="0" dirty="0" err="1" smtClean="0">
                          <a:solidFill>
                            <a:schemeClr val="tx1"/>
                          </a:solidFill>
                          <a:latin typeface="+mn-lt"/>
                        </a:rPr>
                        <a:t>Халқлар</a:t>
                      </a:r>
                      <a:r>
                        <a:rPr lang="ru-RU" sz="900" b="0" noProof="0" dirty="0" smtClean="0">
                          <a:solidFill>
                            <a:schemeClr val="tx1"/>
                          </a:solidFill>
                          <a:latin typeface="+mn-lt"/>
                        </a:rPr>
                        <a:t> </a:t>
                      </a:r>
                      <a:r>
                        <a:rPr lang="ru-RU" sz="900" b="0" noProof="0" dirty="0" err="1" smtClean="0">
                          <a:solidFill>
                            <a:schemeClr val="tx1"/>
                          </a:solidFill>
                          <a:latin typeface="+mn-lt"/>
                        </a:rPr>
                        <a:t>дўстлиги</a:t>
                      </a:r>
                      <a:r>
                        <a:rPr lang="ru-RU" sz="900" b="0" noProof="0" dirty="0" smtClean="0">
                          <a:solidFill>
                            <a:schemeClr val="tx1"/>
                          </a:solidFill>
                          <a:latin typeface="+mn-lt"/>
                        </a:rPr>
                        <a:t> </a:t>
                      </a:r>
                      <a:r>
                        <a:rPr lang="ru-RU" sz="900" b="0" noProof="0" dirty="0" err="1" smtClean="0">
                          <a:solidFill>
                            <a:schemeClr val="tx1"/>
                          </a:solidFill>
                          <a:latin typeface="+mn-lt"/>
                        </a:rPr>
                        <a:t>саройида</a:t>
                      </a:r>
                      <a:r>
                        <a:rPr lang="ru-RU" sz="900" b="0" noProof="0" dirty="0" smtClean="0">
                          <a:solidFill>
                            <a:schemeClr val="tx1"/>
                          </a:solidFill>
                          <a:latin typeface="+mn-lt"/>
                        </a:rPr>
                        <a:t> </a:t>
                      </a:r>
                      <a:r>
                        <a:rPr lang="ru-RU" sz="900" b="0" noProof="0" dirty="0" err="1" smtClean="0">
                          <a:solidFill>
                            <a:schemeClr val="tx1"/>
                          </a:solidFill>
                          <a:latin typeface="+mn-lt"/>
                        </a:rPr>
                        <a:t>ўтказилган</a:t>
                      </a:r>
                      <a:r>
                        <a:rPr lang="ru-RU" sz="900" b="0" noProof="0" dirty="0" smtClean="0">
                          <a:solidFill>
                            <a:schemeClr val="tx1"/>
                          </a:solidFill>
                          <a:latin typeface="+mn-lt"/>
                        </a:rPr>
                        <a:t> </a:t>
                      </a:r>
                      <a:r>
                        <a:rPr lang="ru-RU" sz="900" b="0" noProof="0" dirty="0" err="1" smtClean="0">
                          <a:solidFill>
                            <a:schemeClr val="tx1"/>
                          </a:solidFill>
                          <a:latin typeface="+mn-lt"/>
                        </a:rPr>
                        <a:t>йирик</a:t>
                      </a:r>
                      <a:r>
                        <a:rPr lang="ru-RU" sz="900" b="0" noProof="0" dirty="0" smtClean="0">
                          <a:solidFill>
                            <a:schemeClr val="tx1"/>
                          </a:solidFill>
                          <a:latin typeface="+mn-lt"/>
                        </a:rPr>
                        <a:t> класс-</a:t>
                      </a:r>
                      <a:r>
                        <a:rPr lang="ru-RU" sz="900" b="0" noProof="0" dirty="0" err="1" smtClean="0">
                          <a:solidFill>
                            <a:schemeClr val="tx1"/>
                          </a:solidFill>
                          <a:latin typeface="+mn-lt"/>
                        </a:rPr>
                        <a:t>консерт</a:t>
                      </a:r>
                      <a:r>
                        <a:rPr lang="ru-RU" sz="900" b="0" noProof="0" dirty="0" smtClean="0">
                          <a:solidFill>
                            <a:schemeClr val="tx1"/>
                          </a:solidFill>
                          <a:latin typeface="+mn-lt"/>
                        </a:rPr>
                        <a:t> </a:t>
                      </a:r>
                      <a:r>
                        <a:rPr lang="ru-RU" sz="900" b="0" noProof="0" dirty="0" err="1" smtClean="0">
                          <a:solidFill>
                            <a:schemeClr val="tx1"/>
                          </a:solidFill>
                          <a:latin typeface="+mn-lt"/>
                        </a:rPr>
                        <a:t>алоҳида</a:t>
                      </a:r>
                      <a:r>
                        <a:rPr lang="ru-RU" sz="900" b="0" noProof="0" dirty="0" smtClean="0">
                          <a:solidFill>
                            <a:schemeClr val="tx1"/>
                          </a:solidFill>
                          <a:latin typeface="+mn-lt"/>
                        </a:rPr>
                        <a:t> </a:t>
                      </a:r>
                      <a:r>
                        <a:rPr lang="ru-RU" sz="900" b="0" noProof="0" dirty="0" err="1" smtClean="0">
                          <a:solidFill>
                            <a:schemeClr val="tx1"/>
                          </a:solidFill>
                          <a:latin typeface="+mn-lt"/>
                        </a:rPr>
                        <a:t>ўрин</a:t>
                      </a:r>
                      <a:r>
                        <a:rPr lang="ru-RU" sz="900" b="0" noProof="0" dirty="0" smtClean="0">
                          <a:solidFill>
                            <a:schemeClr val="tx1"/>
                          </a:solidFill>
                          <a:latin typeface="+mn-lt"/>
                        </a:rPr>
                        <a:t> </a:t>
                      </a:r>
                      <a:r>
                        <a:rPr lang="ru-RU" sz="900" b="0" noProof="0" dirty="0" err="1" smtClean="0">
                          <a:solidFill>
                            <a:schemeClr val="tx1"/>
                          </a:solidFill>
                          <a:latin typeface="+mn-lt"/>
                        </a:rPr>
                        <a:t>тутади</a:t>
                      </a:r>
                      <a:r>
                        <a:rPr lang="ru-RU" sz="900" b="0" noProof="0" dirty="0" smtClean="0">
                          <a:solidFill>
                            <a:schemeClr val="tx1"/>
                          </a:solidFill>
                          <a:latin typeface="+mn-lt"/>
                        </a:rPr>
                        <a:t>. </a:t>
                      </a:r>
                      <a:r>
                        <a:rPr lang="ru-RU" sz="900" b="0" noProof="0" dirty="0" err="1" smtClean="0">
                          <a:solidFill>
                            <a:schemeClr val="tx1"/>
                          </a:solidFill>
                          <a:latin typeface="+mn-lt"/>
                        </a:rPr>
                        <a:t>Мазкур</a:t>
                      </a:r>
                      <a:r>
                        <a:rPr lang="ru-RU" sz="900" b="0" noProof="0" dirty="0" smtClean="0">
                          <a:solidFill>
                            <a:schemeClr val="tx1"/>
                          </a:solidFill>
                          <a:latin typeface="+mn-lt"/>
                        </a:rPr>
                        <a:t> </a:t>
                      </a:r>
                      <a:r>
                        <a:rPr lang="ru-RU" sz="900" b="0" noProof="0" dirty="0" err="1" smtClean="0">
                          <a:solidFill>
                            <a:schemeClr val="tx1"/>
                          </a:solidFill>
                          <a:latin typeface="+mn-lt"/>
                        </a:rPr>
                        <a:t>тадбир</a:t>
                      </a:r>
                      <a:r>
                        <a:rPr lang="ru-RU" sz="900" b="0" noProof="0" dirty="0" smtClean="0">
                          <a:solidFill>
                            <a:schemeClr val="tx1"/>
                          </a:solidFill>
                          <a:latin typeface="+mn-lt"/>
                        </a:rPr>
                        <a:t> </a:t>
                      </a:r>
                      <a:r>
                        <a:rPr lang="ru-RU" sz="900" b="0" noProof="0" dirty="0" err="1" smtClean="0">
                          <a:solidFill>
                            <a:schemeClr val="tx1"/>
                          </a:solidFill>
                          <a:latin typeface="+mn-lt"/>
                        </a:rPr>
                        <a:t>катта</a:t>
                      </a:r>
                      <a:r>
                        <a:rPr lang="ru-RU" sz="900" b="0" noProof="0" dirty="0" smtClean="0">
                          <a:solidFill>
                            <a:schemeClr val="tx1"/>
                          </a:solidFill>
                          <a:latin typeface="+mn-lt"/>
                        </a:rPr>
                        <a:t> </a:t>
                      </a:r>
                      <a:r>
                        <a:rPr lang="ru-RU" sz="900" b="0" noProof="0" dirty="0" err="1" smtClean="0">
                          <a:solidFill>
                            <a:schemeClr val="tx1"/>
                          </a:solidFill>
                          <a:latin typeface="+mn-lt"/>
                        </a:rPr>
                        <a:t>муваффақият</a:t>
                      </a:r>
                      <a:r>
                        <a:rPr lang="ru-RU" sz="900" b="0" noProof="0" dirty="0" smtClean="0">
                          <a:solidFill>
                            <a:schemeClr val="tx1"/>
                          </a:solidFill>
                          <a:latin typeface="+mn-lt"/>
                        </a:rPr>
                        <a:t> </a:t>
                      </a:r>
                      <a:r>
                        <a:rPr lang="ru-RU" sz="900" b="0" noProof="0" dirty="0" err="1" smtClean="0">
                          <a:solidFill>
                            <a:schemeClr val="tx1"/>
                          </a:solidFill>
                          <a:latin typeface="+mn-lt"/>
                        </a:rPr>
                        <a:t>билан</a:t>
                      </a:r>
                      <a:r>
                        <a:rPr lang="ru-RU" sz="900" b="0" noProof="0" dirty="0" smtClean="0">
                          <a:solidFill>
                            <a:schemeClr val="tx1"/>
                          </a:solidFill>
                          <a:latin typeface="+mn-lt"/>
                        </a:rPr>
                        <a:t> </a:t>
                      </a:r>
                      <a:r>
                        <a:rPr lang="ru-RU" sz="900" b="0" noProof="0" dirty="0" err="1" smtClean="0">
                          <a:solidFill>
                            <a:schemeClr val="tx1"/>
                          </a:solidFill>
                          <a:latin typeface="+mn-lt"/>
                        </a:rPr>
                        <a:t>ўтиб</a:t>
                      </a:r>
                      <a:r>
                        <a:rPr lang="ru-RU" sz="900" b="0" noProof="0" dirty="0" smtClean="0">
                          <a:solidFill>
                            <a:schemeClr val="tx1"/>
                          </a:solidFill>
                          <a:latin typeface="+mn-lt"/>
                        </a:rPr>
                        <a:t>, </a:t>
                      </a:r>
                      <a:r>
                        <a:rPr lang="ru-RU" sz="900" b="0" noProof="0" dirty="0" err="1" smtClean="0">
                          <a:solidFill>
                            <a:schemeClr val="tx1"/>
                          </a:solidFill>
                          <a:latin typeface="+mn-lt"/>
                        </a:rPr>
                        <a:t>пойтахт</a:t>
                      </a:r>
                      <a:r>
                        <a:rPr lang="ru-RU" sz="900" b="0" noProof="0" dirty="0" smtClean="0">
                          <a:solidFill>
                            <a:schemeClr val="tx1"/>
                          </a:solidFill>
                          <a:latin typeface="+mn-lt"/>
                        </a:rPr>
                        <a:t> </a:t>
                      </a:r>
                      <a:r>
                        <a:rPr lang="ru-RU" sz="900" b="0" noProof="0" dirty="0" err="1" smtClean="0">
                          <a:solidFill>
                            <a:schemeClr val="tx1"/>
                          </a:solidFill>
                          <a:latin typeface="+mn-lt"/>
                        </a:rPr>
                        <a:t>маданий</a:t>
                      </a:r>
                      <a:r>
                        <a:rPr lang="ru-RU" sz="900" b="0" noProof="0" dirty="0" smtClean="0">
                          <a:solidFill>
                            <a:schemeClr val="tx1"/>
                          </a:solidFill>
                          <a:latin typeface="+mn-lt"/>
                        </a:rPr>
                        <a:t> </a:t>
                      </a:r>
                      <a:r>
                        <a:rPr lang="ru-RU" sz="900" b="0" noProof="0" dirty="0" err="1" smtClean="0">
                          <a:solidFill>
                            <a:schemeClr val="tx1"/>
                          </a:solidFill>
                          <a:latin typeface="+mn-lt"/>
                        </a:rPr>
                        <a:t>ҳаётида</a:t>
                      </a:r>
                      <a:r>
                        <a:rPr lang="ru-RU" sz="900" b="0" noProof="0" dirty="0" smtClean="0">
                          <a:solidFill>
                            <a:schemeClr val="tx1"/>
                          </a:solidFill>
                          <a:latin typeface="+mn-lt"/>
                        </a:rPr>
                        <a:t> </a:t>
                      </a:r>
                      <a:r>
                        <a:rPr lang="ru-RU" sz="900" b="0" noProof="0" dirty="0" err="1" smtClean="0">
                          <a:solidFill>
                            <a:schemeClr val="tx1"/>
                          </a:solidFill>
                          <a:latin typeface="+mn-lt"/>
                        </a:rPr>
                        <a:t>муҳим</a:t>
                      </a:r>
                      <a:r>
                        <a:rPr lang="ru-RU" sz="900" b="0" noProof="0" dirty="0" smtClean="0">
                          <a:solidFill>
                            <a:schemeClr val="tx1"/>
                          </a:solidFill>
                          <a:latin typeface="+mn-lt"/>
                        </a:rPr>
                        <a:t> </a:t>
                      </a:r>
                      <a:r>
                        <a:rPr lang="ru-RU" sz="900" b="0" noProof="0" dirty="0" err="1" smtClean="0">
                          <a:solidFill>
                            <a:schemeClr val="tx1"/>
                          </a:solidFill>
                          <a:latin typeface="+mn-lt"/>
                        </a:rPr>
                        <a:t>воқеа</a:t>
                      </a:r>
                      <a:r>
                        <a:rPr lang="ru-RU" sz="900" b="0" noProof="0" dirty="0" smtClean="0">
                          <a:solidFill>
                            <a:schemeClr val="tx1"/>
                          </a:solidFill>
                          <a:latin typeface="+mn-lt"/>
                        </a:rPr>
                        <a:t> </a:t>
                      </a:r>
                      <a:r>
                        <a:rPr lang="ru-RU" sz="900" b="0" noProof="0" dirty="0" err="1" smtClean="0">
                          <a:solidFill>
                            <a:schemeClr val="tx1"/>
                          </a:solidFill>
                          <a:latin typeface="+mn-lt"/>
                        </a:rPr>
                        <a:t>бўлган</a:t>
                      </a:r>
                      <a:r>
                        <a:rPr lang="ru-RU" sz="900" b="0" noProof="0" dirty="0" smtClean="0">
                          <a:solidFill>
                            <a:schemeClr val="tx1"/>
                          </a:solidFill>
                          <a:latin typeface="+mn-lt"/>
                        </a:rPr>
                        <a:t>.</a:t>
                      </a:r>
                    </a:p>
                    <a:p>
                      <a:pPr marL="0" indent="179388" algn="just">
                        <a:lnSpc>
                          <a:spcPct val="85000"/>
                        </a:lnSpc>
                      </a:pPr>
                      <a:r>
                        <a:rPr lang="ru-RU" sz="900" b="0" noProof="0" dirty="0" smtClean="0">
                          <a:solidFill>
                            <a:schemeClr val="tx1"/>
                          </a:solidFill>
                          <a:latin typeface="+mn-lt"/>
                        </a:rPr>
                        <a:t>1995 </a:t>
                      </a:r>
                      <a:r>
                        <a:rPr lang="ru-RU" sz="900" b="0" noProof="0" dirty="0" err="1" smtClean="0">
                          <a:solidFill>
                            <a:schemeClr val="tx1"/>
                          </a:solidFill>
                          <a:latin typeface="+mn-lt"/>
                        </a:rPr>
                        <a:t>йилда</a:t>
                      </a:r>
                      <a:r>
                        <a:rPr lang="ru-RU" sz="900" b="0" noProof="0" dirty="0" smtClean="0">
                          <a:solidFill>
                            <a:schemeClr val="tx1"/>
                          </a:solidFill>
                          <a:latin typeface="+mn-lt"/>
                        </a:rPr>
                        <a:t> </a:t>
                      </a:r>
                      <a:r>
                        <a:rPr lang="ru-RU" sz="900" b="0" noProof="0" dirty="0" err="1" smtClean="0">
                          <a:solidFill>
                            <a:schemeClr val="tx1"/>
                          </a:solidFill>
                          <a:latin typeface="+mn-lt"/>
                        </a:rPr>
                        <a:t>сан’ат</a:t>
                      </a:r>
                      <a:r>
                        <a:rPr lang="ru-RU" sz="900" b="0" noProof="0" dirty="0" smtClean="0">
                          <a:solidFill>
                            <a:schemeClr val="tx1"/>
                          </a:solidFill>
                          <a:latin typeface="+mn-lt"/>
                        </a:rPr>
                        <a:t> </a:t>
                      </a:r>
                      <a:r>
                        <a:rPr lang="ru-RU" sz="900" b="0" noProof="0" dirty="0" err="1" smtClean="0">
                          <a:solidFill>
                            <a:schemeClr val="tx1"/>
                          </a:solidFill>
                          <a:latin typeface="+mn-lt"/>
                        </a:rPr>
                        <a:t>соҳасидаги</a:t>
                      </a:r>
                      <a:r>
                        <a:rPr lang="ru-RU" sz="900" b="0" noProof="0" dirty="0" smtClean="0">
                          <a:solidFill>
                            <a:schemeClr val="tx1"/>
                          </a:solidFill>
                          <a:latin typeface="+mn-lt"/>
                        </a:rPr>
                        <a:t> </a:t>
                      </a:r>
                      <a:r>
                        <a:rPr lang="ru-RU" sz="900" b="0" noProof="0" dirty="0" err="1" smtClean="0">
                          <a:solidFill>
                            <a:schemeClr val="tx1"/>
                          </a:solidFill>
                          <a:latin typeface="+mn-lt"/>
                        </a:rPr>
                        <a:t>хизматлари</a:t>
                      </a:r>
                      <a:r>
                        <a:rPr lang="ru-RU" sz="900" b="0" noProof="0" dirty="0" smtClean="0">
                          <a:solidFill>
                            <a:schemeClr val="tx1"/>
                          </a:solidFill>
                          <a:latin typeface="+mn-lt"/>
                        </a:rPr>
                        <a:t> </a:t>
                      </a:r>
                      <a:r>
                        <a:rPr lang="ru-RU" sz="900" b="0" noProof="0" dirty="0" err="1" smtClean="0">
                          <a:solidFill>
                            <a:schemeClr val="tx1"/>
                          </a:solidFill>
                          <a:latin typeface="+mn-lt"/>
                        </a:rPr>
                        <a:t>учун</a:t>
                      </a:r>
                      <a:r>
                        <a:rPr lang="ru-RU" sz="900" b="0" noProof="0" dirty="0" smtClean="0">
                          <a:solidFill>
                            <a:schemeClr val="tx1"/>
                          </a:solidFill>
                          <a:latin typeface="+mn-lt"/>
                        </a:rPr>
                        <a:t> </a:t>
                      </a:r>
                      <a:r>
                        <a:rPr lang="ru-RU" sz="900" b="0" noProof="0" dirty="0" err="1" smtClean="0">
                          <a:solidFill>
                            <a:schemeClr val="tx1"/>
                          </a:solidFill>
                          <a:latin typeface="+mn-lt"/>
                        </a:rPr>
                        <a:t>унга</a:t>
                      </a:r>
                      <a:r>
                        <a:rPr lang="ru-RU" sz="900" b="0" noProof="0" dirty="0" smtClean="0">
                          <a:solidFill>
                            <a:schemeClr val="tx1"/>
                          </a:solidFill>
                          <a:latin typeface="+mn-lt"/>
                        </a:rPr>
                        <a:t> “</a:t>
                      </a:r>
                      <a:r>
                        <a:rPr lang="ru-RU" sz="900" b="0" noProof="0" dirty="0" err="1" smtClean="0">
                          <a:solidFill>
                            <a:schemeClr val="tx1"/>
                          </a:solidFill>
                          <a:latin typeface="+mn-lt"/>
                        </a:rPr>
                        <a:t>Ўзбекистон</a:t>
                      </a:r>
                      <a:r>
                        <a:rPr lang="ru-RU" sz="900" b="0" noProof="0" dirty="0" smtClean="0">
                          <a:solidFill>
                            <a:schemeClr val="tx1"/>
                          </a:solidFill>
                          <a:latin typeface="+mn-lt"/>
                        </a:rPr>
                        <a:t> </a:t>
                      </a:r>
                      <a:r>
                        <a:rPr lang="ru-RU" sz="900" b="0" noProof="0" dirty="0" err="1" smtClean="0">
                          <a:solidFill>
                            <a:schemeClr val="tx1"/>
                          </a:solidFill>
                          <a:latin typeface="+mn-lt"/>
                        </a:rPr>
                        <a:t>Республикасида</a:t>
                      </a:r>
                      <a:r>
                        <a:rPr lang="ru-RU" sz="900" b="0" noProof="0" dirty="0" smtClean="0">
                          <a:solidFill>
                            <a:schemeClr val="tx1"/>
                          </a:solidFill>
                          <a:latin typeface="+mn-lt"/>
                        </a:rPr>
                        <a:t> </a:t>
                      </a:r>
                      <a:r>
                        <a:rPr lang="ru-RU" sz="900" b="0" noProof="0" dirty="0" err="1" smtClean="0">
                          <a:solidFill>
                            <a:schemeClr val="tx1"/>
                          </a:solidFill>
                          <a:latin typeface="+mn-lt"/>
                        </a:rPr>
                        <a:t>хизмат</a:t>
                      </a:r>
                      <a:r>
                        <a:rPr lang="ru-RU" sz="900" b="0" noProof="0" dirty="0" smtClean="0">
                          <a:solidFill>
                            <a:schemeClr val="tx1"/>
                          </a:solidFill>
                          <a:latin typeface="+mn-lt"/>
                        </a:rPr>
                        <a:t> </a:t>
                      </a:r>
                      <a:r>
                        <a:rPr lang="ru-RU" sz="900" b="0" noProof="0" dirty="0" err="1" smtClean="0">
                          <a:solidFill>
                            <a:schemeClr val="tx1"/>
                          </a:solidFill>
                          <a:latin typeface="+mn-lt"/>
                        </a:rPr>
                        <a:t>кўрсатган</a:t>
                      </a:r>
                      <a:r>
                        <a:rPr lang="ru-RU" sz="900" b="0" noProof="0" dirty="0" smtClean="0">
                          <a:solidFill>
                            <a:schemeClr val="tx1"/>
                          </a:solidFill>
                          <a:latin typeface="+mn-lt"/>
                        </a:rPr>
                        <a:t> артист” </a:t>
                      </a:r>
                      <a:r>
                        <a:rPr lang="ru-RU" sz="900" b="0" noProof="0" dirty="0" err="1" smtClean="0">
                          <a:solidFill>
                            <a:schemeClr val="tx1"/>
                          </a:solidFill>
                          <a:latin typeface="+mn-lt"/>
                        </a:rPr>
                        <a:t>фахрий</a:t>
                      </a:r>
                      <a:r>
                        <a:rPr lang="ru-RU" sz="900" b="0" noProof="0" dirty="0" smtClean="0">
                          <a:solidFill>
                            <a:schemeClr val="tx1"/>
                          </a:solidFill>
                          <a:latin typeface="+mn-lt"/>
                        </a:rPr>
                        <a:t> </a:t>
                      </a:r>
                      <a:r>
                        <a:rPr lang="ru-RU" sz="900" b="0" noProof="0" dirty="0" err="1" smtClean="0">
                          <a:solidFill>
                            <a:schemeClr val="tx1"/>
                          </a:solidFill>
                          <a:latin typeface="+mn-lt"/>
                        </a:rPr>
                        <a:t>унвони</a:t>
                      </a:r>
                      <a:r>
                        <a:rPr lang="ru-RU" sz="900" b="0" noProof="0" dirty="0" smtClean="0">
                          <a:solidFill>
                            <a:schemeClr val="tx1"/>
                          </a:solidFill>
                          <a:latin typeface="+mn-lt"/>
                        </a:rPr>
                        <a:t> </a:t>
                      </a:r>
                      <a:r>
                        <a:rPr lang="ru-RU" sz="900" b="0" noProof="0" dirty="0" err="1" smtClean="0">
                          <a:solidFill>
                            <a:schemeClr val="tx1"/>
                          </a:solidFill>
                          <a:latin typeface="+mn-lt"/>
                        </a:rPr>
                        <a:t>берилган</a:t>
                      </a:r>
                      <a:r>
                        <a:rPr lang="ru-RU" sz="900" b="0" noProof="0" dirty="0" smtClean="0">
                          <a:solidFill>
                            <a:schemeClr val="tx1"/>
                          </a:solidFill>
                          <a:latin typeface="+mn-lt"/>
                        </a:rPr>
                        <a:t>.</a:t>
                      </a:r>
                    </a:p>
                    <a:p>
                      <a:pPr marL="0" indent="179388" algn="just">
                        <a:lnSpc>
                          <a:spcPct val="85000"/>
                        </a:lnSpc>
                      </a:pPr>
                      <a:r>
                        <a:rPr lang="ru-RU" sz="900" b="0" noProof="0" dirty="0" smtClean="0">
                          <a:solidFill>
                            <a:schemeClr val="tx1"/>
                          </a:solidFill>
                          <a:latin typeface="+mn-lt"/>
                        </a:rPr>
                        <a:t>2025 </a:t>
                      </a:r>
                      <a:r>
                        <a:rPr lang="ru-RU" sz="900" b="0" noProof="0" dirty="0" err="1" smtClean="0">
                          <a:solidFill>
                            <a:schemeClr val="tx1"/>
                          </a:solidFill>
                          <a:latin typeface="+mn-lt"/>
                        </a:rPr>
                        <a:t>йил</a:t>
                      </a:r>
                      <a:r>
                        <a:rPr lang="ru-RU" sz="900" b="0" noProof="0" dirty="0" smtClean="0">
                          <a:solidFill>
                            <a:schemeClr val="tx1"/>
                          </a:solidFill>
                          <a:latin typeface="+mn-lt"/>
                        </a:rPr>
                        <a:t> </a:t>
                      </a:r>
                      <a:r>
                        <a:rPr lang="ru-RU" sz="900" b="0" noProof="0" dirty="0" err="1" smtClean="0">
                          <a:solidFill>
                            <a:schemeClr val="tx1"/>
                          </a:solidFill>
                          <a:latin typeface="+mn-lt"/>
                        </a:rPr>
                        <a:t>июл</a:t>
                      </a:r>
                      <a:r>
                        <a:rPr lang="ru-RU" sz="900" b="0" noProof="0" dirty="0" smtClean="0">
                          <a:solidFill>
                            <a:schemeClr val="tx1"/>
                          </a:solidFill>
                          <a:latin typeface="+mn-lt"/>
                        </a:rPr>
                        <a:t> </a:t>
                      </a:r>
                      <a:r>
                        <a:rPr lang="ru-RU" sz="900" b="0" noProof="0" dirty="0" err="1" smtClean="0">
                          <a:solidFill>
                            <a:schemeClr val="tx1"/>
                          </a:solidFill>
                          <a:latin typeface="+mn-lt"/>
                        </a:rPr>
                        <a:t>ойидан</a:t>
                      </a:r>
                      <a:r>
                        <a:rPr lang="ru-RU" sz="900" b="0" noProof="0" dirty="0" smtClean="0">
                          <a:solidFill>
                            <a:schemeClr val="tx1"/>
                          </a:solidFill>
                          <a:latin typeface="+mn-lt"/>
                        </a:rPr>
                        <a:t> </a:t>
                      </a:r>
                      <a:r>
                        <a:rPr lang="ru-RU" sz="900" b="0" noProof="0" dirty="0" err="1" smtClean="0">
                          <a:solidFill>
                            <a:schemeClr val="tx1"/>
                          </a:solidFill>
                          <a:latin typeface="+mn-lt"/>
                        </a:rPr>
                        <a:t>бошлаб</a:t>
                      </a:r>
                      <a:r>
                        <a:rPr lang="ru-RU" sz="900" b="0" noProof="0" dirty="0" smtClean="0">
                          <a:solidFill>
                            <a:schemeClr val="tx1"/>
                          </a:solidFill>
                          <a:latin typeface="+mn-lt"/>
                        </a:rPr>
                        <a:t> </a:t>
                      </a:r>
                      <a:r>
                        <a:rPr lang="ru-RU" sz="900" b="0" noProof="0" dirty="0" err="1" smtClean="0">
                          <a:solidFill>
                            <a:schemeClr val="tx1"/>
                          </a:solidFill>
                          <a:latin typeface="+mn-lt"/>
                        </a:rPr>
                        <a:t>Ўзбекистон</a:t>
                      </a:r>
                      <a:r>
                        <a:rPr lang="ru-RU" sz="900" b="0" noProof="0" dirty="0" smtClean="0">
                          <a:solidFill>
                            <a:schemeClr val="tx1"/>
                          </a:solidFill>
                          <a:latin typeface="+mn-lt"/>
                        </a:rPr>
                        <a:t> </a:t>
                      </a:r>
                      <a:r>
                        <a:rPr lang="ru-RU" sz="900" b="0" noProof="0" dirty="0" err="1" smtClean="0">
                          <a:solidFill>
                            <a:schemeClr val="tx1"/>
                          </a:solidFill>
                          <a:latin typeface="+mn-lt"/>
                        </a:rPr>
                        <a:t>давлат</a:t>
                      </a:r>
                      <a:r>
                        <a:rPr lang="ru-RU" sz="900" b="0" noProof="0" dirty="0" smtClean="0">
                          <a:solidFill>
                            <a:schemeClr val="tx1"/>
                          </a:solidFill>
                          <a:latin typeface="+mn-lt"/>
                        </a:rPr>
                        <a:t> сатира </a:t>
                      </a:r>
                      <a:r>
                        <a:rPr lang="ru-RU" sz="900" b="0" noProof="0" dirty="0" err="1" smtClean="0">
                          <a:solidFill>
                            <a:schemeClr val="tx1"/>
                          </a:solidFill>
                          <a:latin typeface="+mn-lt"/>
                        </a:rPr>
                        <a:t>театри</a:t>
                      </a:r>
                      <a:r>
                        <a:rPr lang="ru-RU" sz="900" b="0" noProof="0" dirty="0" smtClean="0">
                          <a:solidFill>
                            <a:schemeClr val="tx1"/>
                          </a:solidFill>
                          <a:latin typeface="+mn-lt"/>
                        </a:rPr>
                        <a:t> </a:t>
                      </a:r>
                      <a:r>
                        <a:rPr lang="ru-RU" sz="900" b="0" noProof="0" dirty="0" err="1" smtClean="0">
                          <a:solidFill>
                            <a:schemeClr val="tx1"/>
                          </a:solidFill>
                          <a:latin typeface="+mn-lt"/>
                        </a:rPr>
                        <a:t>номидаги</a:t>
                      </a:r>
                      <a:r>
                        <a:rPr lang="ru-RU" sz="900" b="0" noProof="0" dirty="0" smtClean="0">
                          <a:solidFill>
                            <a:schemeClr val="tx1"/>
                          </a:solidFill>
                          <a:latin typeface="+mn-lt"/>
                        </a:rPr>
                        <a:t> </a:t>
                      </a:r>
                      <a:r>
                        <a:rPr lang="ru-RU" sz="900" b="0" noProof="0" dirty="0" err="1" smtClean="0">
                          <a:solidFill>
                            <a:schemeClr val="tx1"/>
                          </a:solidFill>
                          <a:latin typeface="+mn-lt"/>
                        </a:rPr>
                        <a:t>директори</a:t>
                      </a:r>
                      <a:r>
                        <a:rPr lang="ru-RU" sz="900" b="0" noProof="0" dirty="0" smtClean="0">
                          <a:solidFill>
                            <a:schemeClr val="tx1"/>
                          </a:solidFill>
                          <a:latin typeface="+mn-lt"/>
                        </a:rPr>
                        <a:t> </a:t>
                      </a:r>
                      <a:r>
                        <a:rPr lang="ru-RU" sz="900" b="0" noProof="0" dirty="0" err="1" smtClean="0">
                          <a:solidFill>
                            <a:schemeClr val="tx1"/>
                          </a:solidFill>
                          <a:latin typeface="+mn-lt"/>
                        </a:rPr>
                        <a:t>лавозимида</a:t>
                      </a:r>
                      <a:r>
                        <a:rPr lang="ru-RU" sz="900" b="0" noProof="0" dirty="0" smtClean="0">
                          <a:solidFill>
                            <a:schemeClr val="tx1"/>
                          </a:solidFill>
                          <a:latin typeface="+mn-lt"/>
                        </a:rPr>
                        <a:t> </a:t>
                      </a:r>
                      <a:r>
                        <a:rPr lang="ru-RU" sz="900" b="0" noProof="0" dirty="0" err="1" smtClean="0">
                          <a:solidFill>
                            <a:schemeClr val="tx1"/>
                          </a:solidFill>
                          <a:latin typeface="+mn-lt"/>
                        </a:rPr>
                        <a:t>фаолият</a:t>
                      </a:r>
                      <a:r>
                        <a:rPr lang="ru-RU" sz="900" b="0" noProof="0" dirty="0" smtClean="0">
                          <a:solidFill>
                            <a:schemeClr val="tx1"/>
                          </a:solidFill>
                          <a:latin typeface="+mn-lt"/>
                        </a:rPr>
                        <a:t> </a:t>
                      </a:r>
                      <a:r>
                        <a:rPr lang="ru-RU" sz="900" b="0" noProof="0" dirty="0" err="1" smtClean="0">
                          <a:solidFill>
                            <a:schemeClr val="tx1"/>
                          </a:solidFill>
                          <a:latin typeface="+mn-lt"/>
                        </a:rPr>
                        <a:t>юритиб</a:t>
                      </a:r>
                      <a:r>
                        <a:rPr lang="ru-RU" sz="900" b="0" noProof="0" dirty="0" smtClean="0">
                          <a:solidFill>
                            <a:schemeClr val="tx1"/>
                          </a:solidFill>
                          <a:latin typeface="+mn-lt"/>
                        </a:rPr>
                        <a:t> </a:t>
                      </a:r>
                      <a:r>
                        <a:rPr lang="ru-RU" sz="900" b="0" noProof="0" dirty="0" err="1" smtClean="0">
                          <a:solidFill>
                            <a:schemeClr val="tx1"/>
                          </a:solidFill>
                          <a:latin typeface="+mn-lt"/>
                        </a:rPr>
                        <a:t>келмоқда</a:t>
                      </a:r>
                      <a:r>
                        <a:rPr lang="ru-RU" sz="900" b="0" noProof="0" dirty="0" smtClean="0">
                          <a:solidFill>
                            <a:schemeClr val="tx1"/>
                          </a:solidFill>
                          <a:latin typeface="+mn-lt"/>
                        </a:rPr>
                        <a:t>. </a:t>
                      </a:r>
                      <a:r>
                        <a:rPr lang="ru-RU" sz="900" b="0" noProof="0" dirty="0" err="1" smtClean="0">
                          <a:solidFill>
                            <a:schemeClr val="tx1"/>
                          </a:solidFill>
                          <a:latin typeface="+mn-lt"/>
                        </a:rPr>
                        <a:t>Раҳбар</a:t>
                      </a:r>
                      <a:r>
                        <a:rPr lang="ru-RU" sz="900" b="0" noProof="0" dirty="0" smtClean="0">
                          <a:solidFill>
                            <a:schemeClr val="tx1"/>
                          </a:solidFill>
                          <a:latin typeface="+mn-lt"/>
                        </a:rPr>
                        <a:t> </a:t>
                      </a:r>
                      <a:r>
                        <a:rPr lang="ru-RU" sz="900" b="0" noProof="0" dirty="0" err="1" smtClean="0">
                          <a:solidFill>
                            <a:schemeClr val="tx1"/>
                          </a:solidFill>
                          <a:latin typeface="+mn-lt"/>
                        </a:rPr>
                        <a:t>сифатида</a:t>
                      </a:r>
                      <a:r>
                        <a:rPr lang="ru-RU" sz="900" b="0" noProof="0" dirty="0" smtClean="0">
                          <a:solidFill>
                            <a:schemeClr val="tx1"/>
                          </a:solidFill>
                          <a:latin typeface="+mn-lt"/>
                        </a:rPr>
                        <a:t> </a:t>
                      </a:r>
                      <a:r>
                        <a:rPr lang="ru-RU" sz="900" b="0" noProof="0" dirty="0" err="1" smtClean="0">
                          <a:solidFill>
                            <a:schemeClr val="tx1"/>
                          </a:solidFill>
                          <a:latin typeface="+mn-lt"/>
                        </a:rPr>
                        <a:t>жамоада</a:t>
                      </a:r>
                      <a:r>
                        <a:rPr lang="ru-RU" sz="900" b="0" noProof="0" dirty="0" smtClean="0">
                          <a:solidFill>
                            <a:schemeClr val="tx1"/>
                          </a:solidFill>
                          <a:latin typeface="+mn-lt"/>
                        </a:rPr>
                        <a:t> </a:t>
                      </a:r>
                      <a:r>
                        <a:rPr lang="ru-RU" sz="900" b="0" noProof="0" dirty="0" err="1" smtClean="0">
                          <a:solidFill>
                            <a:schemeClr val="tx1"/>
                          </a:solidFill>
                          <a:latin typeface="+mn-lt"/>
                        </a:rPr>
                        <a:t>соғлом</a:t>
                      </a:r>
                      <a:r>
                        <a:rPr lang="ru-RU" sz="900" b="0" noProof="0" dirty="0" smtClean="0">
                          <a:solidFill>
                            <a:schemeClr val="tx1"/>
                          </a:solidFill>
                          <a:latin typeface="+mn-lt"/>
                        </a:rPr>
                        <a:t> </a:t>
                      </a:r>
                      <a:r>
                        <a:rPr lang="ru-RU" sz="900" b="0" noProof="0" dirty="0" err="1" smtClean="0">
                          <a:solidFill>
                            <a:schemeClr val="tx1"/>
                          </a:solidFill>
                          <a:latin typeface="+mn-lt"/>
                        </a:rPr>
                        <a:t>муҳит</a:t>
                      </a:r>
                      <a:r>
                        <a:rPr lang="ru-RU" sz="900" b="0" noProof="0" dirty="0" smtClean="0">
                          <a:solidFill>
                            <a:schemeClr val="tx1"/>
                          </a:solidFill>
                          <a:latin typeface="+mn-lt"/>
                        </a:rPr>
                        <a:t> </a:t>
                      </a:r>
                      <a:r>
                        <a:rPr lang="ru-RU" sz="900" b="0" noProof="0" dirty="0" err="1" smtClean="0">
                          <a:solidFill>
                            <a:schemeClr val="tx1"/>
                          </a:solidFill>
                          <a:latin typeface="+mn-lt"/>
                        </a:rPr>
                        <a:t>яратиш</a:t>
                      </a:r>
                      <a:r>
                        <a:rPr lang="ru-RU" sz="900" b="0" noProof="0" dirty="0" smtClean="0">
                          <a:solidFill>
                            <a:schemeClr val="tx1"/>
                          </a:solidFill>
                          <a:latin typeface="+mn-lt"/>
                        </a:rPr>
                        <a:t>, </a:t>
                      </a:r>
                      <a:r>
                        <a:rPr lang="ru-RU" sz="900" b="0" noProof="0" dirty="0" err="1" smtClean="0">
                          <a:solidFill>
                            <a:schemeClr val="tx1"/>
                          </a:solidFill>
                          <a:latin typeface="+mn-lt"/>
                        </a:rPr>
                        <a:t>ижодий</a:t>
                      </a:r>
                      <a:r>
                        <a:rPr lang="ru-RU" sz="900" b="0" noProof="0" dirty="0" smtClean="0">
                          <a:solidFill>
                            <a:schemeClr val="tx1"/>
                          </a:solidFill>
                          <a:latin typeface="+mn-lt"/>
                        </a:rPr>
                        <a:t> </a:t>
                      </a:r>
                      <a:r>
                        <a:rPr lang="ru-RU" sz="900" b="0" noProof="0" dirty="0" err="1" smtClean="0">
                          <a:solidFill>
                            <a:schemeClr val="tx1"/>
                          </a:solidFill>
                          <a:latin typeface="+mn-lt"/>
                        </a:rPr>
                        <a:t>жараёнларни</a:t>
                      </a:r>
                      <a:r>
                        <a:rPr lang="ru-RU" sz="900" b="0" noProof="0" dirty="0" smtClean="0">
                          <a:solidFill>
                            <a:schemeClr val="tx1"/>
                          </a:solidFill>
                          <a:latin typeface="+mn-lt"/>
                        </a:rPr>
                        <a:t> </a:t>
                      </a:r>
                      <a:r>
                        <a:rPr lang="ru-RU" sz="900" b="0" noProof="0" dirty="0" err="1" smtClean="0">
                          <a:solidFill>
                            <a:schemeClr val="tx1"/>
                          </a:solidFill>
                          <a:latin typeface="+mn-lt"/>
                        </a:rPr>
                        <a:t>ривожлантириш</a:t>
                      </a:r>
                      <a:r>
                        <a:rPr lang="ru-RU" sz="900" b="0" noProof="0" dirty="0" smtClean="0">
                          <a:solidFill>
                            <a:schemeClr val="tx1"/>
                          </a:solidFill>
                          <a:latin typeface="+mn-lt"/>
                        </a:rPr>
                        <a:t> </a:t>
                      </a:r>
                      <a:r>
                        <a:rPr lang="ru-RU" sz="900" b="0" noProof="0" dirty="0" err="1" smtClean="0">
                          <a:solidFill>
                            <a:schemeClr val="tx1"/>
                          </a:solidFill>
                          <a:latin typeface="+mn-lt"/>
                        </a:rPr>
                        <a:t>ҳамда</a:t>
                      </a:r>
                      <a:r>
                        <a:rPr lang="ru-RU" sz="900" b="0" noProof="0" dirty="0" smtClean="0">
                          <a:solidFill>
                            <a:schemeClr val="tx1"/>
                          </a:solidFill>
                          <a:latin typeface="+mn-lt"/>
                        </a:rPr>
                        <a:t> театр </a:t>
                      </a:r>
                      <a:r>
                        <a:rPr lang="ru-RU" sz="900" b="0" noProof="0" dirty="0" err="1" smtClean="0">
                          <a:solidFill>
                            <a:schemeClr val="tx1"/>
                          </a:solidFill>
                          <a:latin typeface="+mn-lt"/>
                        </a:rPr>
                        <a:t>фаолиятини</a:t>
                      </a:r>
                      <a:r>
                        <a:rPr lang="ru-RU" sz="900" b="0" noProof="0" dirty="0" smtClean="0">
                          <a:solidFill>
                            <a:schemeClr val="tx1"/>
                          </a:solidFill>
                          <a:latin typeface="+mn-lt"/>
                        </a:rPr>
                        <a:t> </a:t>
                      </a:r>
                      <a:r>
                        <a:rPr lang="ru-RU" sz="900" b="0" noProof="0" dirty="0" err="1" smtClean="0">
                          <a:solidFill>
                            <a:schemeClr val="tx1"/>
                          </a:solidFill>
                          <a:latin typeface="+mn-lt"/>
                        </a:rPr>
                        <a:t>янги</a:t>
                      </a:r>
                      <a:r>
                        <a:rPr lang="ru-RU" sz="900" b="0" noProof="0" dirty="0" smtClean="0">
                          <a:solidFill>
                            <a:schemeClr val="tx1"/>
                          </a:solidFill>
                          <a:latin typeface="+mn-lt"/>
                        </a:rPr>
                        <a:t> </a:t>
                      </a:r>
                      <a:r>
                        <a:rPr lang="ru-RU" sz="900" b="0" noProof="0" dirty="0" err="1" smtClean="0">
                          <a:solidFill>
                            <a:schemeClr val="tx1"/>
                          </a:solidFill>
                          <a:latin typeface="+mn-lt"/>
                        </a:rPr>
                        <a:t>босқичга</a:t>
                      </a:r>
                      <a:r>
                        <a:rPr lang="ru-RU" sz="900" b="0" noProof="0" dirty="0" smtClean="0">
                          <a:solidFill>
                            <a:schemeClr val="tx1"/>
                          </a:solidFill>
                          <a:latin typeface="+mn-lt"/>
                        </a:rPr>
                        <a:t> </a:t>
                      </a:r>
                      <a:r>
                        <a:rPr lang="ru-RU" sz="900" b="0" noProof="0" dirty="0" err="1" smtClean="0">
                          <a:solidFill>
                            <a:schemeClr val="tx1"/>
                          </a:solidFill>
                          <a:latin typeface="+mn-lt"/>
                        </a:rPr>
                        <a:t>олиб</a:t>
                      </a:r>
                      <a:r>
                        <a:rPr lang="ru-RU" sz="900" b="0" noProof="0" dirty="0" smtClean="0">
                          <a:solidFill>
                            <a:schemeClr val="tx1"/>
                          </a:solidFill>
                          <a:latin typeface="+mn-lt"/>
                        </a:rPr>
                        <a:t> </a:t>
                      </a:r>
                      <a:r>
                        <a:rPr lang="ru-RU" sz="900" b="0" noProof="0" dirty="0" err="1" smtClean="0">
                          <a:solidFill>
                            <a:schemeClr val="tx1"/>
                          </a:solidFill>
                          <a:latin typeface="+mn-lt"/>
                        </a:rPr>
                        <a:t>чиқишда</a:t>
                      </a:r>
                      <a:r>
                        <a:rPr lang="ru-RU" sz="900" b="0" noProof="0" dirty="0" smtClean="0">
                          <a:solidFill>
                            <a:schemeClr val="tx1"/>
                          </a:solidFill>
                          <a:latin typeface="+mn-lt"/>
                        </a:rPr>
                        <a:t> </a:t>
                      </a:r>
                      <a:r>
                        <a:rPr lang="ru-RU" sz="900" b="0" noProof="0" dirty="0" err="1" smtClean="0">
                          <a:solidFill>
                            <a:schemeClr val="tx1"/>
                          </a:solidFill>
                          <a:latin typeface="+mn-lt"/>
                        </a:rPr>
                        <a:t>ташаббускорлик</a:t>
                      </a:r>
                      <a:r>
                        <a:rPr lang="ru-RU" sz="900" b="0" noProof="0" dirty="0" smtClean="0">
                          <a:solidFill>
                            <a:schemeClr val="tx1"/>
                          </a:solidFill>
                          <a:latin typeface="+mn-lt"/>
                        </a:rPr>
                        <a:t> </a:t>
                      </a:r>
                      <a:r>
                        <a:rPr lang="ru-RU" sz="900" b="0" noProof="0" dirty="0" err="1" smtClean="0">
                          <a:solidFill>
                            <a:schemeClr val="tx1"/>
                          </a:solidFill>
                          <a:latin typeface="+mn-lt"/>
                        </a:rPr>
                        <a:t>кўрсатмоқда</a:t>
                      </a:r>
                      <a:r>
                        <a:rPr lang="ru-RU" sz="900" b="0" noProof="0" dirty="0" smtClean="0">
                          <a:solidFill>
                            <a:schemeClr val="tx1"/>
                          </a:solidFill>
                          <a:latin typeface="+mn-lt"/>
                        </a:rPr>
                        <a:t>.</a:t>
                      </a:r>
                    </a:p>
                    <a:p>
                      <a:pPr marL="0" indent="179388" algn="just">
                        <a:lnSpc>
                          <a:spcPct val="85000"/>
                        </a:lnSpc>
                      </a:pPr>
                      <a:r>
                        <a:rPr lang="ru-RU" sz="900" b="0" noProof="0" dirty="0" err="1" smtClean="0">
                          <a:solidFill>
                            <a:schemeClr val="tx1"/>
                          </a:solidFill>
                          <a:latin typeface="+mn-lt"/>
                        </a:rPr>
                        <a:t>Мирзабек</a:t>
                      </a:r>
                      <a:r>
                        <a:rPr lang="ru-RU" sz="900" b="0" noProof="0" dirty="0" smtClean="0">
                          <a:solidFill>
                            <a:schemeClr val="tx1"/>
                          </a:solidFill>
                          <a:latin typeface="+mn-lt"/>
                        </a:rPr>
                        <a:t> </a:t>
                      </a:r>
                      <a:r>
                        <a:rPr lang="ru-RU" sz="900" b="0" noProof="0" dirty="0" err="1" smtClean="0">
                          <a:solidFill>
                            <a:schemeClr val="tx1"/>
                          </a:solidFill>
                          <a:latin typeface="+mn-lt"/>
                        </a:rPr>
                        <a:t>Холмедов</a:t>
                      </a:r>
                      <a:r>
                        <a:rPr lang="ru-RU" sz="900" b="0" noProof="0" dirty="0" smtClean="0">
                          <a:solidFill>
                            <a:schemeClr val="tx1"/>
                          </a:solidFill>
                          <a:latin typeface="+mn-lt"/>
                        </a:rPr>
                        <a:t> </a:t>
                      </a:r>
                      <a:r>
                        <a:rPr lang="ru-RU" sz="900" b="0" noProof="0" dirty="0" err="1" smtClean="0">
                          <a:solidFill>
                            <a:schemeClr val="tx1"/>
                          </a:solidFill>
                          <a:latin typeface="+mn-lt"/>
                        </a:rPr>
                        <a:t>мас’улиятли</a:t>
                      </a:r>
                      <a:r>
                        <a:rPr lang="ru-RU" sz="900" b="0" noProof="0" dirty="0" smtClean="0">
                          <a:solidFill>
                            <a:schemeClr val="tx1"/>
                          </a:solidFill>
                          <a:latin typeface="+mn-lt"/>
                        </a:rPr>
                        <a:t>, </a:t>
                      </a:r>
                      <a:r>
                        <a:rPr lang="ru-RU" sz="900" b="0" noProof="0" dirty="0" err="1" smtClean="0">
                          <a:solidFill>
                            <a:schemeClr val="tx1"/>
                          </a:solidFill>
                          <a:latin typeface="+mn-lt"/>
                        </a:rPr>
                        <a:t>фидойи</a:t>
                      </a:r>
                      <a:r>
                        <a:rPr lang="ru-RU" sz="900" b="0" noProof="0" dirty="0" smtClean="0">
                          <a:solidFill>
                            <a:schemeClr val="tx1"/>
                          </a:solidFill>
                          <a:latin typeface="+mn-lt"/>
                        </a:rPr>
                        <a:t>, </a:t>
                      </a:r>
                      <a:r>
                        <a:rPr lang="ru-RU" sz="900" b="0" noProof="0" dirty="0" err="1" smtClean="0">
                          <a:solidFill>
                            <a:schemeClr val="tx1"/>
                          </a:solidFill>
                          <a:latin typeface="+mn-lt"/>
                        </a:rPr>
                        <a:t>ташкилотчилик</a:t>
                      </a:r>
                      <a:r>
                        <a:rPr lang="ru-RU" sz="900" b="0" noProof="0" dirty="0" smtClean="0">
                          <a:solidFill>
                            <a:schemeClr val="tx1"/>
                          </a:solidFill>
                          <a:latin typeface="+mn-lt"/>
                        </a:rPr>
                        <a:t> </a:t>
                      </a:r>
                      <a:r>
                        <a:rPr lang="ru-RU" sz="900" b="0" noProof="0" dirty="0" err="1" smtClean="0">
                          <a:solidFill>
                            <a:schemeClr val="tx1"/>
                          </a:solidFill>
                          <a:latin typeface="+mn-lt"/>
                        </a:rPr>
                        <a:t>қобилиятига</a:t>
                      </a:r>
                      <a:r>
                        <a:rPr lang="ru-RU" sz="900" b="0" noProof="0" dirty="0" smtClean="0">
                          <a:solidFill>
                            <a:schemeClr val="tx1"/>
                          </a:solidFill>
                          <a:latin typeface="+mn-lt"/>
                        </a:rPr>
                        <a:t> </a:t>
                      </a:r>
                      <a:r>
                        <a:rPr lang="ru-RU" sz="900" b="0" noProof="0" dirty="0" err="1" smtClean="0">
                          <a:solidFill>
                            <a:schemeClr val="tx1"/>
                          </a:solidFill>
                          <a:latin typeface="+mn-lt"/>
                        </a:rPr>
                        <a:t>эга</a:t>
                      </a:r>
                      <a:r>
                        <a:rPr lang="ru-RU" sz="900" b="0" noProof="0" dirty="0" smtClean="0">
                          <a:solidFill>
                            <a:schemeClr val="tx1"/>
                          </a:solidFill>
                          <a:latin typeface="+mn-lt"/>
                        </a:rPr>
                        <a:t>, </a:t>
                      </a:r>
                      <a:r>
                        <a:rPr lang="ru-RU" sz="900" b="0" noProof="0" dirty="0" err="1" smtClean="0">
                          <a:solidFill>
                            <a:schemeClr val="tx1"/>
                          </a:solidFill>
                          <a:latin typeface="+mn-lt"/>
                        </a:rPr>
                        <a:t>жамоа</a:t>
                      </a:r>
                      <a:r>
                        <a:rPr lang="ru-RU" sz="900" b="0" noProof="0" dirty="0" smtClean="0">
                          <a:solidFill>
                            <a:schemeClr val="tx1"/>
                          </a:solidFill>
                          <a:latin typeface="+mn-lt"/>
                        </a:rPr>
                        <a:t> </a:t>
                      </a:r>
                      <a:r>
                        <a:rPr lang="ru-RU" sz="900" b="0" noProof="0" dirty="0" err="1" smtClean="0">
                          <a:solidFill>
                            <a:schemeClr val="tx1"/>
                          </a:solidFill>
                          <a:latin typeface="+mn-lt"/>
                        </a:rPr>
                        <a:t>орасида</a:t>
                      </a:r>
                      <a:r>
                        <a:rPr lang="ru-RU" sz="900" b="0" noProof="0" dirty="0" smtClean="0">
                          <a:solidFill>
                            <a:schemeClr val="tx1"/>
                          </a:solidFill>
                          <a:latin typeface="+mn-lt"/>
                        </a:rPr>
                        <a:t> </a:t>
                      </a:r>
                      <a:r>
                        <a:rPr lang="ru-RU" sz="900" b="0" noProof="0" dirty="0" err="1" smtClean="0">
                          <a:solidFill>
                            <a:schemeClr val="tx1"/>
                          </a:solidFill>
                          <a:latin typeface="+mn-lt"/>
                        </a:rPr>
                        <a:t>ҳурматга</a:t>
                      </a:r>
                      <a:r>
                        <a:rPr lang="ru-RU" sz="900" b="0" noProof="0" dirty="0" smtClean="0">
                          <a:solidFill>
                            <a:schemeClr val="tx1"/>
                          </a:solidFill>
                          <a:latin typeface="+mn-lt"/>
                        </a:rPr>
                        <a:t> </a:t>
                      </a:r>
                      <a:r>
                        <a:rPr lang="ru-RU" sz="900" b="0" noProof="0" dirty="0" err="1" smtClean="0">
                          <a:solidFill>
                            <a:schemeClr val="tx1"/>
                          </a:solidFill>
                          <a:latin typeface="+mn-lt"/>
                        </a:rPr>
                        <a:t>сазовор</a:t>
                      </a:r>
                      <a:r>
                        <a:rPr lang="ru-RU" sz="900" b="0" noProof="0" dirty="0" smtClean="0">
                          <a:solidFill>
                            <a:schemeClr val="tx1"/>
                          </a:solidFill>
                          <a:latin typeface="+mn-lt"/>
                        </a:rPr>
                        <a:t> </a:t>
                      </a:r>
                      <a:r>
                        <a:rPr lang="ru-RU" sz="900" b="0" noProof="0" dirty="0" err="1" smtClean="0">
                          <a:solidFill>
                            <a:schemeClr val="tx1"/>
                          </a:solidFill>
                          <a:latin typeface="+mn-lt"/>
                        </a:rPr>
                        <a:t>раҳбар</a:t>
                      </a:r>
                      <a:r>
                        <a:rPr lang="ru-RU" sz="900" b="0" noProof="0" dirty="0" smtClean="0">
                          <a:solidFill>
                            <a:schemeClr val="tx1"/>
                          </a:solidFill>
                          <a:latin typeface="+mn-lt"/>
                        </a:rPr>
                        <a:t> </a:t>
                      </a:r>
                      <a:r>
                        <a:rPr lang="ru-RU" sz="900" b="0" noProof="0" dirty="0" err="1" smtClean="0">
                          <a:solidFill>
                            <a:schemeClr val="tx1"/>
                          </a:solidFill>
                          <a:latin typeface="+mn-lt"/>
                        </a:rPr>
                        <a:t>ва</a:t>
                      </a:r>
                      <a:r>
                        <a:rPr lang="ru-RU" sz="900" b="0" noProof="0" dirty="0" smtClean="0">
                          <a:solidFill>
                            <a:schemeClr val="tx1"/>
                          </a:solidFill>
                          <a:latin typeface="+mn-lt"/>
                        </a:rPr>
                        <a:t> </a:t>
                      </a:r>
                      <a:r>
                        <a:rPr lang="ru-RU" sz="900" b="0" noProof="0" dirty="0" err="1" smtClean="0">
                          <a:solidFill>
                            <a:schemeClr val="tx1"/>
                          </a:solidFill>
                          <a:latin typeface="+mn-lt"/>
                        </a:rPr>
                        <a:t>сан’аткор</a:t>
                      </a:r>
                      <a:r>
                        <a:rPr lang="ru-RU" sz="900" b="0" noProof="0" dirty="0" smtClean="0">
                          <a:solidFill>
                            <a:schemeClr val="tx1"/>
                          </a:solidFill>
                          <a:latin typeface="+mn-lt"/>
                        </a:rPr>
                        <a:t> </a:t>
                      </a:r>
                      <a:r>
                        <a:rPr lang="ru-RU" sz="900" b="0" noProof="0" dirty="0" err="1" smtClean="0">
                          <a:solidFill>
                            <a:schemeClr val="tx1"/>
                          </a:solidFill>
                          <a:latin typeface="+mn-lt"/>
                        </a:rPr>
                        <a:t>сифатида</a:t>
                      </a:r>
                      <a:r>
                        <a:rPr lang="ru-RU" sz="900" b="0" noProof="0" dirty="0" smtClean="0">
                          <a:solidFill>
                            <a:schemeClr val="tx1"/>
                          </a:solidFill>
                          <a:latin typeface="+mn-lt"/>
                        </a:rPr>
                        <a:t> </a:t>
                      </a:r>
                      <a:r>
                        <a:rPr lang="ru-RU" sz="900" b="0" noProof="0" dirty="0" err="1" smtClean="0">
                          <a:solidFill>
                            <a:schemeClr val="tx1"/>
                          </a:solidFill>
                          <a:latin typeface="+mn-lt"/>
                        </a:rPr>
                        <a:t>тавсифланади</a:t>
                      </a:r>
                      <a:r>
                        <a:rPr lang="ru-RU" sz="900" b="0" noProof="0" dirty="0" smtClean="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a:picLocks noChangeAspect="1"/>
          </p:cNvPicPr>
          <p:nvPr/>
        </p:nvPicPr>
        <p:blipFill>
          <a:blip r:embed="rId2"/>
          <a:stretch>
            <a:fillRect/>
          </a:stretch>
        </p:blipFill>
        <p:spPr>
          <a:xfrm>
            <a:off x="224043" y="1109399"/>
            <a:ext cx="933333" cy="1088848"/>
          </a:xfrm>
          <a:prstGeom prst="rect">
            <a:avLst/>
          </a:prstGeom>
        </p:spPr>
      </p:pic>
    </p:spTree>
    <p:extLst>
      <p:ext uri="{BB962C8B-B14F-4D97-AF65-F5344CB8AC3E}">
        <p14:creationId xmlns:p14="http://schemas.microsoft.com/office/powerpoint/2010/main" val="1161319270"/>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a:solidFill>
                  <a:srgbClr val="002060"/>
                </a:solidFill>
                <a:latin typeface="Bahnschrift SemiBold" panose="020B0502040204020203" pitchFamily="34" charset="0"/>
              </a:rPr>
              <a:t>ТЕАТР ВА ЦИРК ЙЎНАЛИШИ СОҲА ВАКИЛЛАРИ</a:t>
            </a: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1674188688"/>
              </p:ext>
            </p:extLst>
          </p:nvPr>
        </p:nvGraphicFramePr>
        <p:xfrm>
          <a:off x="144489" y="865702"/>
          <a:ext cx="3427547" cy="5900691"/>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marL="0" marR="0" indent="0" algn="l" defTabSz="914400" rtl="0" eaLnBrk="1" fontAlgn="auto" latinLnBrk="0" hangingPunct="1">
                        <a:lnSpc>
                          <a:spcPct val="90000"/>
                        </a:lnSpc>
                        <a:spcBef>
                          <a:spcPts val="0"/>
                        </a:spcBef>
                        <a:spcAft>
                          <a:spcPts val="0"/>
                        </a:spcAft>
                        <a:buClrTx/>
                        <a:buSzTx/>
                        <a:buFontTx/>
                        <a:buNone/>
                        <a:tabLst/>
                        <a:defRPr/>
                      </a:pPr>
                      <a:endParaRPr lang="ru-RU" sz="1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ТОЖИБОЕВ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Алижон</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Тошпулатович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24.05.1961</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Уйчи</a:t>
                      </a:r>
                      <a:r>
                        <a:rPr lang="uz-Cyrl-UZ" sz="800" b="0" kern="1200" baseline="0" dirty="0" smtClean="0">
                          <a:solidFill>
                            <a:schemeClr val="tx1"/>
                          </a:solidFill>
                          <a:latin typeface="+mn-lt"/>
                          <a:ea typeface="+mn-ea"/>
                          <a:cs typeface="+mn-cs"/>
                        </a:rPr>
                        <a:t> 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4 нафар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2 ўғил</a:t>
                      </a:r>
                      <a:r>
                        <a:rPr lang="uz-Cyrl-UZ" sz="900" b="0" kern="1200" baseline="0" noProof="0" dirty="0" smtClean="0">
                          <a:solidFill>
                            <a:schemeClr val="tx1"/>
                          </a:solidFill>
                          <a:latin typeface="+mn-l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baseline="0" noProof="0" dirty="0" smtClean="0">
                          <a:solidFill>
                            <a:schemeClr val="tx1"/>
                          </a:solidFill>
                          <a:latin typeface="+mn-lt"/>
                          <a:ea typeface="+mn-ea"/>
                          <a:cs typeface="+mn-cs"/>
                        </a:rPr>
                        <a:t> 2 қиз</a:t>
                      </a:r>
                      <a:r>
                        <a:rPr lang="uz-Cyrl-UZ" sz="900" b="0" kern="1200" noProof="0" dirty="0" smtClean="0">
                          <a:solidFill>
                            <a:schemeClr val="tx1"/>
                          </a:solidFill>
                          <a:latin typeface="+mn-lt"/>
                          <a:ea typeface="+mn-ea"/>
                          <a:cs typeface="+mn-cs"/>
                        </a:rPr>
                        <a:t/>
                      </a:r>
                      <a:br>
                        <a:rPr lang="uz-Cyrl-UZ" sz="900" b="0" kern="1200" noProof="0" dirty="0" smtClean="0">
                          <a:solidFill>
                            <a:schemeClr val="tx1"/>
                          </a:solidFill>
                          <a:latin typeface="+mn-lt"/>
                          <a:ea typeface="+mn-ea"/>
                          <a:cs typeface="+mn-cs"/>
                        </a:rPr>
                      </a:b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Тожибаев Тошпўлат</a:t>
                      </a:r>
                      <a:r>
                        <a:rPr lang="uz-Cyrl-UZ" sz="900" b="1" kern="1200" baseline="0" noProof="0" dirty="0" smtClean="0">
                          <a:solidFill>
                            <a:schemeClr val="tx1"/>
                          </a:solidFill>
                          <a:latin typeface="+mn-lt"/>
                          <a:ea typeface="+mn-ea"/>
                          <a:cs typeface="Arial" panose="020B0604020202020204" pitchFamily="34" charset="0"/>
                        </a:rPr>
                        <a:t> Ризабоевич</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1929 йил, Уйчи</a:t>
                      </a:r>
                      <a:r>
                        <a:rPr lang="uz-Cyrl-UZ" sz="900" b="0" kern="1200" baseline="0" noProof="0" dirty="0" smtClean="0">
                          <a:solidFill>
                            <a:schemeClr val="tx1"/>
                          </a:solidFill>
                          <a:latin typeface="+mn-lt"/>
                          <a:ea typeface="+mn-ea"/>
                          <a:cs typeface="Arial" panose="020B0604020202020204" pitchFamily="34" charset="0"/>
                        </a:rPr>
                        <a:t> тумани</a:t>
                      </a:r>
                      <a:endParaRPr lang="uz-Cyrl-UZ"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2007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Урта</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мактабда</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тарих</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фани</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ўқитувчи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Тожибаева Омадхон Йўлдашевна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1935 йил, Уйчи</a:t>
                      </a:r>
                      <a:r>
                        <a:rPr lang="uz-Cyrl-UZ" sz="900" b="0" kern="1200" baseline="0" noProof="0" dirty="0" smtClean="0">
                          <a:solidFill>
                            <a:schemeClr val="tx1"/>
                          </a:solidFill>
                          <a:latin typeface="+mn-lt"/>
                          <a:ea typeface="+mn-ea"/>
                          <a:cs typeface="Arial" panose="020B0604020202020204" pitchFamily="34" charset="0"/>
                        </a:rPr>
                        <a:t> тумани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2000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хонанда</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Сокиева Сагира Мусаевна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1965йил, Наманган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Мактабгача</a:t>
                      </a:r>
                      <a:r>
                        <a:rPr lang="uz-Cyrl-UZ" sz="900" b="0" kern="1200" baseline="0" noProof="0" dirty="0" smtClean="0">
                          <a:solidFill>
                            <a:schemeClr val="tx1"/>
                          </a:solidFill>
                          <a:latin typeface="+mn-lt"/>
                          <a:ea typeface="+mn-ea"/>
                          <a:cs typeface="Arial" panose="020B0604020202020204" pitchFamily="34" charset="0"/>
                        </a:rPr>
                        <a:t> таълим муассасаси тарбиячиси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48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1982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давлат</a:t>
                      </a:r>
                      <a:r>
                        <a:rPr lang="ru-RU" sz="900" b="0" kern="1200" baseline="0" noProof="0" dirty="0" smtClean="0">
                          <a:solidFill>
                            <a:schemeClr val="tx1"/>
                          </a:solidFill>
                          <a:latin typeface="+mn-lt"/>
                          <a:ea typeface="+mn-ea"/>
                          <a:cs typeface="+mn-cs"/>
                        </a:rPr>
                        <a:t> театр </a:t>
                      </a:r>
                      <a:r>
                        <a:rPr lang="ru-RU" sz="900" b="0" kern="1200" baseline="0" noProof="0" dirty="0" err="1" smtClean="0">
                          <a:solidFill>
                            <a:schemeClr val="tx1"/>
                          </a:solidFill>
                          <a:latin typeface="+mn-lt"/>
                          <a:ea typeface="+mn-ea"/>
                          <a:cs typeface="+mn-cs"/>
                        </a:rPr>
                        <a:t>ва</a:t>
                      </a:r>
                      <a:r>
                        <a:rPr lang="ru-RU" sz="900" b="0" kern="1200" baseline="0" noProof="0" dirty="0" smtClean="0">
                          <a:solidFill>
                            <a:schemeClr val="tx1"/>
                          </a:solidFill>
                          <a:latin typeface="+mn-lt"/>
                          <a:ea typeface="+mn-ea"/>
                          <a:cs typeface="+mn-cs"/>
                        </a:rPr>
                        <a:t> </a:t>
                      </a:r>
                      <a:r>
                        <a:rPr lang="ru-RU" sz="900" b="0" kern="1200" baseline="0" noProof="0" dirty="0" err="1" smtClean="0">
                          <a:solidFill>
                            <a:schemeClr val="tx1"/>
                          </a:solidFill>
                          <a:latin typeface="+mn-lt"/>
                          <a:ea typeface="+mn-ea"/>
                          <a:cs typeface="+mn-cs"/>
                        </a:rPr>
                        <a:t>рассомлик</a:t>
                      </a:r>
                      <a:r>
                        <a:rPr lang="ru-RU" sz="900" b="0" kern="1200" baseline="0" noProof="0" dirty="0" smtClean="0">
                          <a:solidFill>
                            <a:schemeClr val="tx1"/>
                          </a:solidFill>
                          <a:latin typeface="+mn-lt"/>
                          <a:ea typeface="+mn-ea"/>
                          <a:cs typeface="+mn-cs"/>
                        </a:rPr>
                        <a:t> </a:t>
                      </a:r>
                      <a:r>
                        <a:rPr lang="ru-RU" sz="900" b="0" kern="1200" baseline="0" noProof="0" dirty="0" err="1" smtClean="0">
                          <a:solidFill>
                            <a:schemeClr val="tx1"/>
                          </a:solidFill>
                          <a:latin typeface="+mn-lt"/>
                          <a:ea typeface="+mn-ea"/>
                          <a:cs typeface="+mn-cs"/>
                        </a:rPr>
                        <a:t>санъат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6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Драма театри ва кино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1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866856914"/>
              </p:ext>
            </p:extLst>
          </p:nvPr>
        </p:nvGraphicFramePr>
        <p:xfrm>
          <a:off x="3674526" y="865689"/>
          <a:ext cx="3172841" cy="5900704"/>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26629">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39745">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2006 йилдан буён Нафақада</a:t>
                      </a:r>
                      <a:r>
                        <a:rPr lang="uz-Cyrl-UZ" sz="900" b="1"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Эркин ижодкор</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43723">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980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35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539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20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19378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1984-2007 йй. – “Алишер Навоий номидаги Наманган вилояти мусиқали драма театрида ”драма артисти</a:t>
                      </a:r>
                    </a:p>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2007-2014 йй. - Алишер Навоий номидаги Наманган вилояти мусиқали драма театрида труппа</a:t>
                      </a:r>
                      <a:r>
                        <a:rPr lang="uz-Cyrl-UZ" sz="900" baseline="0" noProof="0" dirty="0" smtClean="0">
                          <a:effectLst/>
                          <a:latin typeface="+mn-lt"/>
                          <a:ea typeface="Calibri" panose="020F0502020204030204" pitchFamily="34" charset="0"/>
                          <a:cs typeface="Times New Roman" panose="02020603050405020304" pitchFamily="18" charset="0"/>
                        </a:rPr>
                        <a:t> бошлиғи</a:t>
                      </a: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3479">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347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347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57115">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Юрак</a:t>
                      </a:r>
                      <a:r>
                        <a:rPr lang="uz-Cyrl-UZ" sz="900" kern="1200" baseline="0" noProof="0" dirty="0" smtClean="0">
                          <a:solidFill>
                            <a:schemeClr val="tx1"/>
                          </a:solidFill>
                          <a:effectLst/>
                          <a:latin typeface="+mn-lt"/>
                          <a:ea typeface="Calibri" panose="020F0502020204030204" pitchFamily="34" charset="0"/>
                          <a:cs typeface="Times New Roman" panose="02020603050405020304" pitchFamily="18" charset="0"/>
                        </a:rPr>
                        <a:t> касаллиги</a:t>
                      </a: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6053">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28020">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2006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3846072176"/>
              </p:ext>
            </p:extLst>
          </p:nvPr>
        </p:nvGraphicFramePr>
        <p:xfrm>
          <a:off x="6949857" y="869285"/>
          <a:ext cx="2817247" cy="5897107"/>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66348">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51922">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096543">
                <a:tc>
                  <a:txBody>
                    <a:bodyPr/>
                    <a:lstStyle/>
                    <a:p>
                      <a:pPr marL="0" marR="0" indent="0" algn="just" defTabSz="914400" rtl="0" eaLnBrk="1" fontAlgn="auto" latinLnBrk="0" hangingPunct="1">
                        <a:lnSpc>
                          <a:spcPct val="85000"/>
                        </a:lnSpc>
                        <a:spcBef>
                          <a:spcPts val="0"/>
                        </a:spcBef>
                        <a:spcAft>
                          <a:spcPts val="0"/>
                        </a:spcAft>
                        <a:buClrTx/>
                        <a:buSzTx/>
                        <a:buFontTx/>
                        <a:buNone/>
                        <a:tabLst/>
                        <a:defRPr/>
                      </a:pPr>
                      <a:r>
                        <a:rPr lang="uz-Cyrl-UZ" sz="800" b="0" noProof="0" dirty="0" smtClean="0">
                          <a:solidFill>
                            <a:schemeClr val="tx1"/>
                          </a:solidFill>
                          <a:latin typeface="+mn-lt"/>
                        </a:rPr>
                        <a:t>     </a:t>
                      </a:r>
                      <a:r>
                        <a:rPr lang="uz-Cyrl-UZ" sz="900" b="0" kern="1200" dirty="0" smtClean="0">
                          <a:solidFill>
                            <a:schemeClr val="tx1"/>
                          </a:solidFill>
                          <a:latin typeface="+mn-lt"/>
                          <a:ea typeface="+mn-ea"/>
                          <a:cs typeface="+mn-cs"/>
                        </a:rPr>
                        <a:t>У театрда сахналаштирилган “Умар Хайём” спектаклида саркарда Маврий, “Алпомишнинг ук-ёйи” да Алпомиш, “Бир кадам йул” да Шокир, “Унутилмас кунлар”да Паринский, “Кирол Лирнинг набиралари да Макбет ва Барон Момер, “Робиябону” да Каххор, “Темир хотин” да Олимтой, “Бахор шамоли” да хоким, “Виждон амри” да Кудрат Ботиров, “Хийлаи шаърий” да Хильми, “Сирли бошок” да бургут, “Топкир Толмас...” да лакма Ланкабой ва соткин шоир, “Усмон Носир каерда?..” да соткин шоир, “Гузал дунё зулмати” да Шокир, “Чимилдик” да куёв, “Салом ёки Хайр” да Сурбек, “Иффатини асраган аёл” да Абдулло, “Бог” да Алижон, “Азиз” да Комил, “Бу чоллар – ёмон чоллар”да Уррайим, “Азиз”да Комил, “Улан”да Ота, “Богбон киз”да Ота, “Амир Темур ёхуд адолат киличи”да Амир Темур каби бош ролларни катта махорат билан ижро этиб келмокда.</a:t>
                      </a:r>
                      <a:endParaRPr lang="ru-RU" sz="900" b="0" kern="1200" dirty="0" smtClean="0">
                        <a:solidFill>
                          <a:schemeClr val="tx1"/>
                        </a:solidFill>
                        <a:latin typeface="+mn-lt"/>
                        <a:ea typeface="+mn-ea"/>
                        <a:cs typeface="+mn-cs"/>
                      </a:endParaRPr>
                    </a:p>
                    <a:p>
                      <a:pPr marL="0" marR="0" indent="0" algn="just" defTabSz="914400" rtl="0" eaLnBrk="1" fontAlgn="auto" latinLnBrk="0" hangingPunct="1">
                        <a:lnSpc>
                          <a:spcPct val="85000"/>
                        </a:lnSpc>
                        <a:spcBef>
                          <a:spcPts val="0"/>
                        </a:spcBef>
                        <a:spcAft>
                          <a:spcPts val="0"/>
                        </a:spcAft>
                        <a:buClrTx/>
                        <a:buSzTx/>
                        <a:buFontTx/>
                        <a:buNone/>
                        <a:tabLst/>
                        <a:defRPr/>
                      </a:pPr>
                      <a:r>
                        <a:rPr lang="uz-Cyrl-UZ" sz="900" b="0" noProof="0" dirty="0" smtClean="0">
                          <a:solidFill>
                            <a:schemeClr val="tx1"/>
                          </a:solidFill>
                          <a:latin typeface="+mn-lt"/>
                        </a:rPr>
                        <a:t>   </a:t>
                      </a:r>
                      <a:r>
                        <a:rPr lang="uz-Cyrl-UZ" sz="900" b="0" baseline="0" noProof="0" dirty="0">
                          <a:solidFill>
                            <a:schemeClr val="tx1"/>
                          </a:solidFill>
                          <a:latin typeface="+mn-lt"/>
                        </a:rPr>
                        <a:t> </a:t>
                      </a:r>
                      <a:r>
                        <a:rPr lang="uz-Cyrl-UZ" sz="900" b="0" baseline="0" noProof="0" dirty="0" smtClean="0">
                          <a:solidFill>
                            <a:schemeClr val="tx1"/>
                          </a:solidFill>
                          <a:latin typeface="+mn-lt"/>
                        </a:rPr>
                        <a:t>  Тожибоев Алижон </a:t>
                      </a:r>
                      <a:r>
                        <a:rPr lang="uz-Cyrl-UZ" sz="900" b="0" kern="1200" dirty="0" smtClean="0">
                          <a:solidFill>
                            <a:schemeClr val="tx1"/>
                          </a:solidFill>
                          <a:latin typeface="+mn-lt"/>
                          <a:ea typeface="+mn-ea"/>
                          <a:cs typeface="+mn-cs"/>
                        </a:rPr>
                        <a:t>сахнада ижро этаётган образларининг ички дунёсини махорат билан очиб бериб, томошабинлар олкиши ва мутахассислар эътирофига сазовор булди.</a:t>
                      </a:r>
                      <a:endParaRPr lang="uz-Cyrl-UZ" sz="900" b="0" noProof="0" dirty="0" smtClean="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65478">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1016816">
                <a:tc>
                  <a:txBody>
                    <a:bodyPr/>
                    <a:lstStyle/>
                    <a:p>
                      <a:pPr marL="0" indent="179388" algn="just"/>
                      <a:r>
                        <a:rPr lang="uz-Cyrl-UZ" sz="900" kern="1200" dirty="0" smtClean="0">
                          <a:solidFill>
                            <a:schemeClr val="tx1"/>
                          </a:solidFill>
                          <a:latin typeface="+mn-lt"/>
                          <a:ea typeface="+mn-ea"/>
                          <a:cs typeface="+mn-cs"/>
                        </a:rPr>
                        <a:t> У вилоят микёсида ўтказиб келинаётган </a:t>
                      </a:r>
                      <a:r>
                        <a:rPr lang="uz-Cyrl-UZ" sz="900" b="1" kern="1200" dirty="0" smtClean="0">
                          <a:solidFill>
                            <a:schemeClr val="tx1"/>
                          </a:solidFill>
                          <a:latin typeface="+mn-lt"/>
                          <a:ea typeface="+mn-ea"/>
                          <a:cs typeface="+mn-cs"/>
                        </a:rPr>
                        <a:t>Мустакиллик, “Навруз”</a:t>
                      </a:r>
                      <a:r>
                        <a:rPr lang="uz-Cyrl-UZ" sz="900" kern="1200" dirty="0" smtClean="0">
                          <a:solidFill>
                            <a:schemeClr val="tx1"/>
                          </a:solidFill>
                          <a:latin typeface="+mn-lt"/>
                          <a:ea typeface="+mn-ea"/>
                          <a:cs typeface="+mn-cs"/>
                        </a:rPr>
                        <a:t> умумхалк байрам тантаналарида ва</a:t>
                      </a:r>
                      <a:r>
                        <a:rPr lang="uz-Cyrl-UZ" sz="900" kern="1200" baseline="0" dirty="0" smtClean="0">
                          <a:solidFill>
                            <a:schemeClr val="tx1"/>
                          </a:solidFill>
                          <a:latin typeface="+mn-lt"/>
                          <a:ea typeface="+mn-ea"/>
                          <a:cs typeface="+mn-cs"/>
                        </a:rPr>
                        <a:t> м</a:t>
                      </a:r>
                      <a:r>
                        <a:rPr lang="uz-Cyrl-UZ" sz="900" kern="1200" dirty="0" smtClean="0">
                          <a:solidFill>
                            <a:schemeClr val="tx1"/>
                          </a:solidFill>
                          <a:latin typeface="+mn-lt"/>
                          <a:ea typeface="+mn-ea"/>
                          <a:cs typeface="+mn-cs"/>
                        </a:rPr>
                        <a:t>амлакатимиз хаётига оид бошка бир катор мухим саналарга бағишланган кўплаб маданий-маърифий тадбирларнинг фаол иштирокчисидир.</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73978" y="1166947"/>
            <a:ext cx="794246" cy="1058995"/>
          </a:xfrm>
          <a:prstGeom prst="rect">
            <a:avLst/>
          </a:prstGeom>
        </p:spPr>
      </p:pic>
    </p:spTree>
    <p:extLst>
      <p:ext uri="{BB962C8B-B14F-4D97-AF65-F5344CB8AC3E}">
        <p14:creationId xmlns:p14="http://schemas.microsoft.com/office/powerpoint/2010/main" val="2339706479"/>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a:solidFill>
                  <a:srgbClr val="002060"/>
                </a:solidFill>
                <a:latin typeface="Bahnschrift SemiBold" panose="020B0502040204020203" pitchFamily="34" charset="0"/>
              </a:rPr>
              <a:t>ТЕАТР ВА ЦИРК ЙЎНАЛИШИ СОҲА ВАКИЛЛАРИ</a:t>
            </a: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815486"/>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АБДУЛЛАЕВА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Мехрижон</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Кабировна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18.10.1965</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Поп</a:t>
                      </a:r>
                      <a:r>
                        <a:rPr lang="uz-Cyrl-UZ" sz="800" b="0" kern="1200" baseline="0" dirty="0" smtClean="0">
                          <a:solidFill>
                            <a:schemeClr val="tx1"/>
                          </a:solidFill>
                          <a:latin typeface="+mn-lt"/>
                          <a:ea typeface="+mn-ea"/>
                          <a:cs typeface="+mn-cs"/>
                        </a:rPr>
                        <a:t> 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1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қизи </a:t>
                      </a:r>
                      <a:r>
                        <a:rPr lang="uz-Cyrl-UZ" sz="900" b="0" kern="1200" noProof="0" dirty="0">
                          <a:solidFill>
                            <a:schemeClr val="tx1"/>
                          </a:solidFill>
                          <a:latin typeface="+mn-lt"/>
                          <a:ea typeface="+mn-ea"/>
                          <a:cs typeface="+mn-cs"/>
                        </a:rPr>
                        <a:t>фарзанди </a:t>
                      </a:r>
                      <a:r>
                        <a:rPr lang="uz-Cyrl-UZ" sz="900" b="0" kern="1200" noProof="0" dirty="0" smtClean="0">
                          <a:solidFill>
                            <a:schemeClr val="tx1"/>
                          </a:solidFill>
                          <a:latin typeface="+mn-lt"/>
                          <a:ea typeface="+mn-ea"/>
                          <a:cs typeface="+mn-cs"/>
                        </a:rPr>
                        <a:t>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Абдуллаев</a:t>
                      </a:r>
                      <a:r>
                        <a:rPr lang="uz-Cyrl-UZ" sz="900" b="1" kern="1200" baseline="0" noProof="0" dirty="0" smtClean="0">
                          <a:solidFill>
                            <a:schemeClr val="tx1"/>
                          </a:solidFill>
                          <a:latin typeface="+mn-lt"/>
                          <a:ea typeface="+mn-ea"/>
                          <a:cs typeface="Arial" panose="020B0604020202020204" pitchFamily="34" charset="0"/>
                        </a:rPr>
                        <a:t> Кабиржон</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1920 йил, Поп</a:t>
                      </a:r>
                      <a:r>
                        <a:rPr lang="uz-Cyrl-UZ" sz="900" b="0" kern="1200" baseline="0" noProof="0" dirty="0" smtClean="0">
                          <a:solidFill>
                            <a:schemeClr val="tx1"/>
                          </a:solidFill>
                          <a:latin typeface="+mn-lt"/>
                          <a:ea typeface="+mn-ea"/>
                          <a:cs typeface="Arial" panose="020B0604020202020204" pitchFamily="34" charset="0"/>
                        </a:rPr>
                        <a:t> тумани</a:t>
                      </a:r>
                      <a:endParaRPr lang="uz-Cyrl-UZ"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1992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(Завод </a:t>
                      </a:r>
                      <a:r>
                        <a:rPr lang="ru-RU" sz="900" b="0" kern="1200" noProof="0" dirty="0" err="1" smtClean="0">
                          <a:solidFill>
                            <a:schemeClr val="tx1"/>
                          </a:solidFill>
                          <a:latin typeface="+mn-lt"/>
                          <a:ea typeface="+mn-ea"/>
                          <a:cs typeface="Arial" panose="020B0604020202020204" pitchFamily="34" charset="0"/>
                        </a:rPr>
                        <a:t>ишчиси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Эргашева Малика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1924 йил, </a:t>
                      </a:r>
                      <a:r>
                        <a:rPr lang="uz-Cyrl-UZ" sz="900" b="0" kern="1200" baseline="0" noProof="0" dirty="0" smtClean="0">
                          <a:solidFill>
                            <a:schemeClr val="tx1"/>
                          </a:solidFill>
                          <a:latin typeface="+mn-lt"/>
                          <a:ea typeface="+mn-ea"/>
                          <a:cs typeface="Arial" panose="020B0604020202020204" pitchFamily="34" charset="0"/>
                        </a:rPr>
                        <a:t> Поп тумани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2007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хамшира</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Исматов</a:t>
                      </a:r>
                      <a:r>
                        <a:rPr lang="uz-Cyrl-UZ" sz="900" b="1" kern="1200" baseline="0" noProof="0" dirty="0" smtClean="0">
                          <a:solidFill>
                            <a:schemeClr val="tx1"/>
                          </a:solidFill>
                          <a:latin typeface="+mn-lt"/>
                          <a:ea typeface="+mn-ea"/>
                          <a:cs typeface="Arial" panose="020B0604020202020204" pitchFamily="34" charset="0"/>
                        </a:rPr>
                        <a:t> Хусанбой Хикматиллаевич</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1962 йил, Поп</a:t>
                      </a:r>
                      <a:r>
                        <a:rPr lang="uz-Cyrl-UZ" sz="900" b="0" kern="1200" baseline="0" noProof="0" dirty="0" smtClean="0">
                          <a:solidFill>
                            <a:schemeClr val="tx1"/>
                          </a:solidFill>
                          <a:latin typeface="+mn-lt"/>
                          <a:ea typeface="+mn-ea"/>
                          <a:cs typeface="Arial" panose="020B0604020202020204" pitchFamily="34" charset="0"/>
                        </a:rPr>
                        <a:t> тумани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smtClean="0">
                          <a:solidFill>
                            <a:schemeClr val="tx1"/>
                          </a:solidFill>
                          <a:latin typeface="+mn-lt"/>
                          <a:ea typeface="+mn-ea"/>
                          <a:cs typeface="Arial" panose="020B0604020202020204" pitchFamily="34" charset="0"/>
                        </a:rPr>
                        <a:t>20016йил </a:t>
                      </a:r>
                      <a:r>
                        <a:rPr lang="ru-RU" sz="800" b="0" kern="1200" noProof="0" dirty="0" err="1" smtClean="0">
                          <a:solidFill>
                            <a:schemeClr val="tx1"/>
                          </a:solidFill>
                          <a:latin typeface="+mn-lt"/>
                          <a:ea typeface="+mn-ea"/>
                          <a:cs typeface="Arial" panose="020B0604020202020204" pitchFamily="34" charset="0"/>
                        </a:rPr>
                        <a:t>вафот</a:t>
                      </a:r>
                      <a:r>
                        <a:rPr lang="ru-RU" sz="800" b="0" kern="1200" noProof="0" dirty="0" smtClean="0">
                          <a:solidFill>
                            <a:schemeClr val="tx1"/>
                          </a:solidFill>
                          <a:latin typeface="+mn-lt"/>
                          <a:ea typeface="+mn-ea"/>
                          <a:cs typeface="Arial" panose="020B0604020202020204" pitchFamily="34" charset="0"/>
                        </a:rPr>
                        <a:t> </a:t>
                      </a:r>
                      <a:r>
                        <a:rPr lang="ru-RU" sz="800" b="0" kern="1200" noProof="0" dirty="0" err="1" smtClean="0">
                          <a:solidFill>
                            <a:schemeClr val="tx1"/>
                          </a:solidFill>
                          <a:latin typeface="+mn-lt"/>
                          <a:ea typeface="+mn-ea"/>
                          <a:cs typeface="Arial" panose="020B0604020202020204" pitchFamily="34" charset="0"/>
                        </a:rPr>
                        <a:t>этган</a:t>
                      </a:r>
                      <a:endParaRPr lang="ru-RU" sz="800" b="0" kern="1200" noProof="0" dirty="0" smtClean="0">
                        <a:solidFill>
                          <a:schemeClr val="tx1"/>
                        </a:solidFill>
                        <a:latin typeface="+mn-lt"/>
                        <a:ea typeface="+mn-ea"/>
                        <a:cs typeface="Arial" panose="020B0604020202020204" pitchFamily="34" charset="0"/>
                      </a:endParaRPr>
                    </a:p>
                    <a:p>
                      <a:pPr algn="l">
                        <a:lnSpc>
                          <a:spcPct val="85000"/>
                        </a:lnSpc>
                      </a:pPr>
                      <a:r>
                        <a:rPr lang="ru-RU" sz="800" b="0" kern="1200" noProof="0" dirty="0" smtClean="0">
                          <a:solidFill>
                            <a:schemeClr val="tx1"/>
                          </a:solidFill>
                          <a:latin typeface="+mn-lt"/>
                          <a:ea typeface="+mn-ea"/>
                          <a:cs typeface="Arial" panose="020B0604020202020204" pitchFamily="34" charset="0"/>
                        </a:rPr>
                        <a:t>(</a:t>
                      </a:r>
                      <a:r>
                        <a:rPr lang="ru-RU" sz="800" b="0" kern="1200" noProof="0" dirty="0" err="1" smtClean="0">
                          <a:solidFill>
                            <a:schemeClr val="tx1"/>
                          </a:solidFill>
                          <a:latin typeface="+mn-lt"/>
                          <a:ea typeface="+mn-ea"/>
                          <a:cs typeface="Arial" panose="020B0604020202020204" pitchFamily="34" charset="0"/>
                        </a:rPr>
                        <a:t>хусусий</a:t>
                      </a:r>
                      <a:r>
                        <a:rPr lang="ru-RU" sz="800" b="0" kern="1200" baseline="0" noProof="0" dirty="0" smtClean="0">
                          <a:solidFill>
                            <a:schemeClr val="tx1"/>
                          </a:solidFill>
                          <a:latin typeface="+mn-lt"/>
                          <a:ea typeface="+mn-ea"/>
                          <a:cs typeface="Arial" panose="020B0604020202020204" pitchFamily="34" charset="0"/>
                        </a:rPr>
                        <a:t> </a:t>
                      </a:r>
                      <a:r>
                        <a:rPr lang="ru-RU" sz="800" b="0" kern="1200" baseline="0" noProof="0" dirty="0" err="1" smtClean="0">
                          <a:solidFill>
                            <a:schemeClr val="tx1"/>
                          </a:solidFill>
                          <a:latin typeface="+mn-lt"/>
                          <a:ea typeface="+mn-ea"/>
                          <a:cs typeface="Arial" panose="020B0604020202020204" pitchFamily="34" charset="0"/>
                        </a:rPr>
                        <a:t>тадбиркор</a:t>
                      </a:r>
                      <a:r>
                        <a:rPr lang="ru-RU" sz="800" b="0" kern="1200" noProof="0" dirty="0" smtClean="0">
                          <a:solidFill>
                            <a:schemeClr val="tx1"/>
                          </a:solidFill>
                          <a:latin typeface="+mn-lt"/>
                          <a:ea typeface="+mn-ea"/>
                          <a:cs typeface="Arial" panose="020B0604020202020204" pitchFamily="34" charset="0"/>
                        </a:rPr>
                        <a:t>)</a:t>
                      </a:r>
                    </a:p>
                    <a:p>
                      <a:pPr algn="l">
                        <a:lnSpc>
                          <a:spcPct val="85000"/>
                        </a:lnSpc>
                      </a:pP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48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1992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давлат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6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effectLst/>
                          <a:latin typeface="+mn-lt"/>
                          <a:ea typeface="+mn-ea"/>
                          <a:cs typeface="+mn-cs"/>
                        </a:rPr>
                        <a:t>Мусиқали</a:t>
                      </a:r>
                      <a:r>
                        <a:rPr lang="uz-Cyrl-UZ" sz="900" b="0" kern="1200" baseline="0" noProof="0" dirty="0" smtClean="0">
                          <a:solidFill>
                            <a:schemeClr val="tx1"/>
                          </a:solidFill>
                          <a:effectLst/>
                          <a:latin typeface="+mn-lt"/>
                          <a:ea typeface="+mn-ea"/>
                          <a:cs typeface="+mn-cs"/>
                        </a:rPr>
                        <a:t> театр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1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7" y="865689"/>
          <a:ext cx="2897190" cy="5816388"/>
        </p:xfrm>
        <a:graphic>
          <a:graphicData uri="http://schemas.openxmlformats.org/drawingml/2006/table">
            <a:tbl>
              <a:tblPr firstRow="1" bandRow="1">
                <a:tableStyleId>{C083E6E3-FA7D-4D7B-A595-EF9225AFEA82}</a:tableStyleId>
              </a:tblPr>
              <a:tblGrid>
                <a:gridCol w="1367164">
                  <a:extLst>
                    <a:ext uri="{9D8B030D-6E8A-4147-A177-3AD203B41FA5}">
                      <a16:colId xmlns:a16="http://schemas.microsoft.com/office/drawing/2014/main" val="2715609854"/>
                    </a:ext>
                  </a:extLst>
                </a:gridCol>
                <a:gridCol w="1530026">
                  <a:extLst>
                    <a:ext uri="{9D8B030D-6E8A-4147-A177-3AD203B41FA5}">
                      <a16:colId xmlns:a16="http://schemas.microsoft.com/office/drawing/2014/main" val="546443978"/>
                    </a:ext>
                  </a:extLst>
                </a:gridCol>
              </a:tblGrid>
              <a:tr h="315710">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28387">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2022 йилдан буён Нафақада</a:t>
                      </a:r>
                      <a:r>
                        <a:rPr lang="uz-Cyrl-UZ" sz="900" b="1"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Эркин ижодкор</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35575">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0278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35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8865">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26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04274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1984-1987 йй. – Поп тумани 1- сонли ўрта мактабда мусика ўқитувчиси</a:t>
                      </a:r>
                    </a:p>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1992й- хозирги вақтгача Наманган</a:t>
                      </a:r>
                      <a:r>
                        <a:rPr lang="uz-Cyrl-UZ" sz="900" baseline="0" noProof="0" dirty="0" smtClean="0">
                          <a:effectLst/>
                          <a:latin typeface="+mn-lt"/>
                          <a:ea typeface="Calibri" panose="020F0502020204030204" pitchFamily="34" charset="0"/>
                          <a:cs typeface="Times New Roman" panose="02020603050405020304" pitchFamily="18" charset="0"/>
                        </a:rPr>
                        <a:t> вилояти мусмқали драма театрида вокал артисти</a:t>
                      </a: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3201">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320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4311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2026</a:t>
                      </a:r>
                      <a:r>
                        <a:rPr lang="uz-Cyrl-UZ" sz="900" kern="1200" baseline="0" noProof="0" dirty="0" smtClean="0">
                          <a:solidFill>
                            <a:schemeClr val="tx1"/>
                          </a:solidFill>
                          <a:effectLst/>
                          <a:latin typeface="+mn-lt"/>
                          <a:ea typeface="Calibri" panose="020F0502020204030204" pitchFamily="34" charset="0"/>
                          <a:cs typeface="Times New Roman" panose="02020603050405020304" pitchFamily="18" charset="0"/>
                        </a:rPr>
                        <a:t> йил</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93201">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18496">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1960222">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2010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2022 й. “Дўстлик” ордени соҳиби</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2024 й. Наманган</a:t>
                      </a:r>
                      <a:r>
                        <a:rPr lang="uz-Cyrl-UZ" sz="900" baseline="0" noProof="0" dirty="0" smtClean="0">
                          <a:effectLst/>
                          <a:latin typeface="+mn-lt"/>
                          <a:ea typeface="Calibri" panose="020F0502020204030204" pitchFamily="34" charset="0"/>
                          <a:cs typeface="Times New Roman" panose="02020603050405020304" pitchFamily="18" charset="0"/>
                        </a:rPr>
                        <a:t> вилояти хокиминингНаманган ифтихори мукофоти</a:t>
                      </a:r>
                      <a:endParaRPr lang="uz-Cyrl-UZ" sz="900" noProof="0" dirty="0" smtClean="0">
                        <a:effectLst/>
                        <a:latin typeface="+mn-lt"/>
                        <a:ea typeface="Calibri" panose="020F0502020204030204" pitchFamily="34" charset="0"/>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2025й Республика Касаба кумитасининг 110 йиллиги</a:t>
                      </a:r>
                      <a:r>
                        <a:rPr lang="uz-Cyrl-UZ" sz="900" baseline="0" noProof="0" dirty="0" smtClean="0">
                          <a:effectLst/>
                          <a:latin typeface="+mn-lt"/>
                          <a:ea typeface="Calibri" panose="020F0502020204030204" pitchFamily="34" charset="0"/>
                          <a:cs typeface="Times New Roman" panose="02020603050405020304" pitchFamily="18" charset="0"/>
                        </a:rPr>
                        <a:t> кукрак нишони</a:t>
                      </a:r>
                      <a:endParaRPr lang="uz-Cyrl-UZ" sz="900" noProof="0" dirty="0" smtClean="0">
                        <a:effectLst/>
                        <a:latin typeface="+mn-lt"/>
                        <a:ea typeface="Calibri" panose="020F0502020204030204" pitchFamily="34" charset="0"/>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2026 й. Маданият ва санъат фидокори кукрак нишони</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674209" y="869286"/>
          <a:ext cx="3092896" cy="5811902"/>
        </p:xfrm>
        <a:graphic>
          <a:graphicData uri="http://schemas.openxmlformats.org/drawingml/2006/table">
            <a:tbl>
              <a:tblPr firstRow="1" bandRow="1">
                <a:tableStyleId>{C083E6E3-FA7D-4D7B-A595-EF9225AFEA82}</a:tableStyleId>
              </a:tblPr>
              <a:tblGrid>
                <a:gridCol w="3092896">
                  <a:extLst>
                    <a:ext uri="{9D8B030D-6E8A-4147-A177-3AD203B41FA5}">
                      <a16:colId xmlns:a16="http://schemas.microsoft.com/office/drawing/2014/main" val="2715609854"/>
                    </a:ext>
                  </a:extLst>
                </a:gridCol>
              </a:tblGrid>
              <a:tr h="232384">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206179">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514715">
                <a:tc>
                  <a:txBody>
                    <a:bodyPr/>
                    <a:lstStyle/>
                    <a:p>
                      <a:pPr marL="0" indent="179388" algn="just"/>
                      <a:r>
                        <a:rPr lang="uz-Cyrl-UZ" sz="900" b="0" kern="1200" dirty="0" smtClean="0">
                          <a:solidFill>
                            <a:schemeClr val="tx1"/>
                          </a:solidFill>
                          <a:latin typeface="+mn-lt"/>
                          <a:ea typeface="+mn-ea"/>
                          <a:cs typeface="+mn-cs"/>
                        </a:rPr>
                        <a:t>У юртимизда мусикали драма театри ривожига салмокли хисса кушиб келаётган тажрибали актёрлардан биридир. У узок йиллик ижодий фаолияти давомида 60 га якин  турли характердаги образлари хамда  куплаб кушиклари  мутахассис ва томошабинлар олкишига сазовор булиб келмокда.</a:t>
                      </a:r>
                      <a:endParaRPr lang="ru-RU" sz="900" b="0" kern="1200" dirty="0" smtClean="0">
                        <a:solidFill>
                          <a:schemeClr val="tx1"/>
                        </a:solidFill>
                        <a:latin typeface="+mn-lt"/>
                        <a:ea typeface="+mn-ea"/>
                        <a:cs typeface="+mn-cs"/>
                      </a:endParaRPr>
                    </a:p>
                    <a:p>
                      <a:pPr marL="0" indent="179388" algn="just"/>
                      <a:r>
                        <a:rPr lang="uz-Cyrl-UZ" sz="900" b="0" kern="1200" dirty="0" smtClean="0">
                          <a:solidFill>
                            <a:schemeClr val="tx1"/>
                          </a:solidFill>
                          <a:latin typeface="+mn-lt"/>
                          <a:ea typeface="+mn-ea"/>
                          <a:cs typeface="+mn-cs"/>
                        </a:rPr>
                        <a:t>Санъаткор томонидан юкори махорат билан ижро этилган образларига  назар солар эканмиз, унинг юксак даражадаги мусикали театр актёри эканлигига амин буламиз. Жумладан, “Кашмир кушиги” да    Наргиз, “Наманган алласи”  да Шохиста,  “Супер кайнона-1 “  да Сурайё, “Салом ёки хайр” да котиба, “Бир кадам йул” да Салима, “Иффатини асраган аёл”  да Сохибжамол, “Гузал дунё зулмати” да Насиба, “Алпомишнинг ук-ёйи”  да I-канизак, “Бог”да Мехрихон, “Чимилдик” да уланчи аёл, “Окила”да Окила, “Фолбин” да Умида, “Омонат дунё” да Латофат, “Купик давру давронлар” да Гулюз, “Бу чоллар ёмон чоллар”  да Кобрахон, “Курголи келдим” да Кубробегим, “Аёл кечирмайди”  да макора, “Супер кайнона -2” да Апипа, Тутихон, “Армон” да кайнона, “Хато” да хола, “Амур Темур” да Бибихоним, “Ўтган кунлар” Ўзбекойим “Азиз” да Келин “Усмон Носир” да Холамбиби  “Она” да  Она            “Алвидо болалик” да Манзура  каби роллар шулар жумласидандир. </a:t>
                      </a:r>
                      <a:endParaRPr lang="ru-RU" sz="900" b="0" kern="1200" dirty="0" smtClean="0">
                        <a:solidFill>
                          <a:schemeClr val="tx1"/>
                        </a:solidFill>
                        <a:latin typeface="+mn-lt"/>
                        <a:ea typeface="+mn-ea"/>
                        <a:cs typeface="+mn-cs"/>
                      </a:endParaRPr>
                    </a:p>
                    <a:p>
                      <a:pPr marL="0" indent="179388" algn="just"/>
                      <a:r>
                        <a:rPr lang="uz-Cyrl-UZ" sz="900" b="0" kern="1200" dirty="0" smtClean="0">
                          <a:solidFill>
                            <a:schemeClr val="tx1"/>
                          </a:solidFill>
                          <a:latin typeface="+mn-lt"/>
                          <a:ea typeface="+mn-ea"/>
                          <a:cs typeface="+mn-cs"/>
                        </a:rPr>
                        <a:t>Шунигдек актриса турли йилларда суратга олинган “Хиёнат”  (Барчин), “Бир кадам йул” (Салима), “Алвидо мухаббат” (Санобар), “Айрилик” (Шохиста), “Сунгги пушаймон” (Киз), “Инкироз”  (Шоира), “Чаён боласи” (Она), “Чимилдикка отилган ук”  (Она), “Чашма” (Амма), “Умр манзаралари” (Она), “Сунгги пушаймон” (Гулнора) сингари видео ва кинофильмларда эсда коларли образлар яратиб мухлислар этиборига сазовор булган.</a:t>
                      </a:r>
                      <a:endParaRPr lang="uz-Cyrl-UZ" sz="8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64942">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693682">
                <a:tc>
                  <a:txBody>
                    <a:bodyPr/>
                    <a:lstStyle/>
                    <a:p>
                      <a:pPr marL="0" marR="0" lvl="0" indent="179388" algn="just" defTabSz="914400" rtl="0" eaLnBrk="1" fontAlgn="auto" latinLnBrk="0" hangingPunct="1">
                        <a:lnSpc>
                          <a:spcPct val="100000"/>
                        </a:lnSpc>
                        <a:spcBef>
                          <a:spcPts val="0"/>
                        </a:spcBef>
                        <a:spcAft>
                          <a:spcPts val="0"/>
                        </a:spcAft>
                        <a:buClrTx/>
                        <a:buSzTx/>
                        <a:buFontTx/>
                        <a:buNone/>
                        <a:tabLst/>
                        <a:defRPr/>
                      </a:pPr>
                      <a:r>
                        <a:rPr lang="uz-Cyrl-UZ" sz="900" b="0" kern="1200" dirty="0" smtClean="0">
                          <a:solidFill>
                            <a:schemeClr val="tx1"/>
                          </a:solidFill>
                          <a:latin typeface="+mn-lt"/>
                          <a:ea typeface="+mn-ea"/>
                          <a:cs typeface="+mn-cs"/>
                        </a:rPr>
                        <a:t>У республика ва вилоят миқёсида ўтказиладиган Мустақиллик ва “Наврўз” умумхалқ байрам тантаналарида ва мамлакатимиз ҳаётига оид бошқа бир қатор муҳим саналарга бағишланган кўплаб маданий-маърифий тадбирларнинг фаол иштирокчисидир.</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77763" y="1150152"/>
            <a:ext cx="816099" cy="1078670"/>
          </a:xfrm>
          <a:prstGeom prst="rect">
            <a:avLst/>
          </a:prstGeom>
        </p:spPr>
      </p:pic>
    </p:spTree>
    <p:extLst>
      <p:ext uri="{BB962C8B-B14F-4D97-AF65-F5344CB8AC3E}">
        <p14:creationId xmlns:p14="http://schemas.microsoft.com/office/powerpoint/2010/main" val="990043011"/>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a:solidFill>
                  <a:srgbClr val="002060"/>
                </a:solidFill>
                <a:latin typeface="Bahnschrift SemiBold" panose="020B0502040204020203" pitchFamily="34" charset="0"/>
              </a:rPr>
              <a:t>ТЕАТР ВА ЦИРК ЙЎНАЛИШИ СОҲА ВАКИЛЛАРИ</a:t>
            </a: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76916365"/>
              </p:ext>
            </p:extLst>
          </p:nvPr>
        </p:nvGraphicFramePr>
        <p:xfrm>
          <a:off x="144489" y="865702"/>
          <a:ext cx="3188372" cy="5838969"/>
        </p:xfrm>
        <a:graphic>
          <a:graphicData uri="http://schemas.openxmlformats.org/drawingml/2006/table">
            <a:tbl>
              <a:tblPr firstRow="1" bandRow="1">
                <a:tableStyleId>{C083E6E3-FA7D-4D7B-A595-EF9225AFEA82}</a:tableStyleId>
              </a:tblPr>
              <a:tblGrid>
                <a:gridCol w="553657">
                  <a:extLst>
                    <a:ext uri="{9D8B030D-6E8A-4147-A177-3AD203B41FA5}">
                      <a16:colId xmlns:a16="http://schemas.microsoft.com/office/drawing/2014/main" val="2288412290"/>
                    </a:ext>
                  </a:extLst>
                </a:gridCol>
                <a:gridCol w="468406">
                  <a:extLst>
                    <a:ext uri="{9D8B030D-6E8A-4147-A177-3AD203B41FA5}">
                      <a16:colId xmlns:a16="http://schemas.microsoft.com/office/drawing/2014/main" val="1678982439"/>
                    </a:ext>
                  </a:extLst>
                </a:gridCol>
                <a:gridCol w="142787">
                  <a:extLst>
                    <a:ext uri="{9D8B030D-6E8A-4147-A177-3AD203B41FA5}">
                      <a16:colId xmlns:a16="http://schemas.microsoft.com/office/drawing/2014/main" val="2721661767"/>
                    </a:ext>
                  </a:extLst>
                </a:gridCol>
                <a:gridCol w="846699">
                  <a:extLst>
                    <a:ext uri="{9D8B030D-6E8A-4147-A177-3AD203B41FA5}">
                      <a16:colId xmlns:a16="http://schemas.microsoft.com/office/drawing/2014/main" val="546773760"/>
                    </a:ext>
                  </a:extLst>
                </a:gridCol>
                <a:gridCol w="1176823">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Расулова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Карима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ХХХ</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15.03.1947</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Наманган</a:t>
                      </a:r>
                      <a:r>
                        <a:rPr lang="uz-Cyrl-UZ" sz="800" b="0" kern="1200" baseline="0" dirty="0" smtClean="0">
                          <a:solidFill>
                            <a:schemeClr val="tx1"/>
                          </a:solidFill>
                          <a:latin typeface="+mn-lt"/>
                          <a:ea typeface="+mn-ea"/>
                          <a:cs typeface="+mn-cs"/>
                        </a:rPr>
                        <a:t> ттумани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Оилали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Расулов  Абдукаххор</a:t>
                      </a:r>
                    </a:p>
                    <a:p>
                      <a:pPr algn="l">
                        <a:lnSpc>
                          <a:spcPct val="85000"/>
                        </a:lnSpc>
                      </a:pPr>
                      <a:r>
                        <a:rPr lang="uz-Cyrl-UZ" sz="900" b="0" kern="1200" noProof="0" dirty="0" smtClean="0">
                          <a:solidFill>
                            <a:schemeClr val="tx1"/>
                          </a:solidFill>
                          <a:latin typeface="+mn-lt"/>
                          <a:ea typeface="+mn-ea"/>
                          <a:cs typeface="Arial" panose="020B0604020202020204" pitchFamily="34" charset="0"/>
                        </a:rPr>
                        <a:t> 1904 йил, Наманган</a:t>
                      </a:r>
                      <a:r>
                        <a:rPr lang="uz-Cyrl-UZ" sz="900" b="0" kern="1200" baseline="0" noProof="0" dirty="0" smtClean="0">
                          <a:solidFill>
                            <a:schemeClr val="tx1"/>
                          </a:solidFill>
                          <a:latin typeface="+mn-lt"/>
                          <a:ea typeface="+mn-ea"/>
                          <a:cs typeface="Arial" panose="020B0604020202020204" pitchFamily="34" charset="0"/>
                        </a:rPr>
                        <a:t> тумани</a:t>
                      </a:r>
                      <a:endParaRPr lang="uz-Cyrl-UZ"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1989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хужаликда</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ишчи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Расулова</a:t>
                      </a:r>
                      <a:r>
                        <a:rPr lang="uz-Cyrl-UZ" sz="900" b="1" kern="1200" baseline="0" noProof="0" dirty="0" smtClean="0">
                          <a:solidFill>
                            <a:schemeClr val="tx1"/>
                          </a:solidFill>
                          <a:latin typeface="+mn-lt"/>
                          <a:ea typeface="+mn-ea"/>
                          <a:cs typeface="Arial" panose="020B0604020202020204" pitchFamily="34" charset="0"/>
                        </a:rPr>
                        <a:t> Кенжабу</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1918 йил, Наманган</a:t>
                      </a:r>
                      <a:r>
                        <a:rPr lang="uz-Cyrl-UZ" sz="900" b="0" kern="1200" baseline="0" noProof="0" dirty="0" smtClean="0">
                          <a:solidFill>
                            <a:schemeClr val="tx1"/>
                          </a:solidFill>
                          <a:latin typeface="+mn-lt"/>
                          <a:ea typeface="+mn-ea"/>
                          <a:cs typeface="Arial" panose="020B0604020202020204" pitchFamily="34" charset="0"/>
                        </a:rPr>
                        <a:t> тумани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1966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Уй</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Хожимирзаев Исмоил Азаматович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1950 йил, Уйчи</a:t>
                      </a:r>
                      <a:r>
                        <a:rPr lang="uz-Cyrl-UZ" sz="900" b="0" kern="1200" baseline="0" noProof="0" dirty="0" smtClean="0">
                          <a:solidFill>
                            <a:schemeClr val="tx1"/>
                          </a:solidFill>
                          <a:latin typeface="+mn-lt"/>
                          <a:ea typeface="+mn-ea"/>
                          <a:cs typeface="Arial" panose="020B0604020202020204" pitchFamily="34" charset="0"/>
                        </a:rPr>
                        <a:t> тумани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800" b="0" kern="1200" noProof="0" dirty="0" smtClean="0">
                          <a:solidFill>
                            <a:schemeClr val="tx1"/>
                          </a:solidFill>
                          <a:latin typeface="+mn-lt"/>
                          <a:ea typeface="+mn-ea"/>
                          <a:cs typeface="Arial" panose="020B0604020202020204" pitchFamily="34" charset="0"/>
                        </a:rPr>
                        <a:t>2006 </a:t>
                      </a:r>
                      <a:r>
                        <a:rPr lang="ru-RU" sz="800" b="0" kern="1200" noProof="0" dirty="0" err="1" smtClean="0">
                          <a:solidFill>
                            <a:schemeClr val="tx1"/>
                          </a:solidFill>
                          <a:latin typeface="+mn-lt"/>
                          <a:ea typeface="+mn-ea"/>
                          <a:cs typeface="Arial" panose="020B0604020202020204" pitchFamily="34" charset="0"/>
                        </a:rPr>
                        <a:t>йил</a:t>
                      </a:r>
                      <a:r>
                        <a:rPr lang="ru-RU" sz="800" b="0" kern="1200" noProof="0" dirty="0" smtClean="0">
                          <a:solidFill>
                            <a:schemeClr val="tx1"/>
                          </a:solidFill>
                          <a:latin typeface="+mn-lt"/>
                          <a:ea typeface="+mn-ea"/>
                          <a:cs typeface="Arial" panose="020B0604020202020204" pitchFamily="34" charset="0"/>
                        </a:rPr>
                        <a:t> </a:t>
                      </a:r>
                      <a:r>
                        <a:rPr lang="ru-RU" sz="800" b="0" kern="1200" noProof="0" dirty="0" err="1" smtClean="0">
                          <a:solidFill>
                            <a:schemeClr val="tx1"/>
                          </a:solidFill>
                          <a:latin typeface="+mn-lt"/>
                          <a:ea typeface="+mn-ea"/>
                          <a:cs typeface="Arial" panose="020B0604020202020204" pitchFamily="34" charset="0"/>
                        </a:rPr>
                        <a:t>вафот</a:t>
                      </a:r>
                      <a:r>
                        <a:rPr lang="ru-RU" sz="800" b="0" kern="1200" noProof="0" dirty="0" smtClean="0">
                          <a:solidFill>
                            <a:schemeClr val="tx1"/>
                          </a:solidFill>
                          <a:latin typeface="+mn-lt"/>
                          <a:ea typeface="+mn-ea"/>
                          <a:cs typeface="Arial" panose="020B0604020202020204" pitchFamily="34" charset="0"/>
                        </a:rPr>
                        <a:t> </a:t>
                      </a:r>
                      <a:r>
                        <a:rPr lang="ru-RU" sz="800" b="0" kern="1200" noProof="0" dirty="0" err="1" smtClean="0">
                          <a:solidFill>
                            <a:schemeClr val="tx1"/>
                          </a:solidFill>
                          <a:latin typeface="+mn-lt"/>
                          <a:ea typeface="+mn-ea"/>
                          <a:cs typeface="Arial" panose="020B0604020202020204" pitchFamily="34" charset="0"/>
                        </a:rPr>
                        <a:t>этган</a:t>
                      </a:r>
                      <a:endParaRPr lang="ru-RU" sz="800" b="0" kern="1200" noProof="0" dirty="0" smtClean="0">
                        <a:solidFill>
                          <a:schemeClr val="tx1"/>
                        </a:solidFill>
                        <a:latin typeface="+mn-lt"/>
                        <a:ea typeface="+mn-ea"/>
                        <a:cs typeface="Arial" panose="020B0604020202020204" pitchFamily="34" charset="0"/>
                      </a:endParaRPr>
                    </a:p>
                    <a:p>
                      <a:pPr algn="l">
                        <a:lnSpc>
                          <a:spcPct val="85000"/>
                        </a:lnSpc>
                      </a:pPr>
                      <a:r>
                        <a:rPr lang="ru-RU" sz="800" b="0" kern="1200" noProof="0" dirty="0" smtClean="0">
                          <a:solidFill>
                            <a:schemeClr val="tx1"/>
                          </a:solidFill>
                          <a:latin typeface="+mn-lt"/>
                          <a:ea typeface="+mn-ea"/>
                          <a:cs typeface="Arial" panose="020B0604020202020204" pitchFamily="34" charset="0"/>
                        </a:rPr>
                        <a:t>(</a:t>
                      </a:r>
                      <a:r>
                        <a:rPr lang="ru-RU" sz="800" b="0" kern="1200" noProof="0" dirty="0" err="1" smtClean="0">
                          <a:solidFill>
                            <a:schemeClr val="tx1"/>
                          </a:solidFill>
                          <a:latin typeface="+mn-lt"/>
                          <a:ea typeface="+mn-ea"/>
                          <a:cs typeface="Arial" panose="020B0604020202020204" pitchFamily="34" charset="0"/>
                        </a:rPr>
                        <a:t>хужаликда</a:t>
                      </a:r>
                      <a:r>
                        <a:rPr lang="ru-RU" sz="800" b="0" kern="1200" noProof="0" dirty="0" smtClean="0">
                          <a:solidFill>
                            <a:schemeClr val="tx1"/>
                          </a:solidFill>
                          <a:latin typeface="+mn-lt"/>
                          <a:ea typeface="+mn-ea"/>
                          <a:cs typeface="Arial" panose="020B0604020202020204" pitchFamily="34" charset="0"/>
                        </a:rPr>
                        <a:t> </a:t>
                      </a:r>
                      <a:r>
                        <a:rPr lang="ru-RU" sz="800" b="0" kern="1200" noProof="0" dirty="0" err="1" smtClean="0">
                          <a:solidFill>
                            <a:schemeClr val="tx1"/>
                          </a:solidFill>
                          <a:latin typeface="+mn-lt"/>
                          <a:ea typeface="+mn-ea"/>
                          <a:cs typeface="Arial" panose="020B0604020202020204" pitchFamily="34" charset="0"/>
                        </a:rPr>
                        <a:t>рахбари</a:t>
                      </a:r>
                      <a:r>
                        <a:rPr lang="ru-RU" sz="800" b="0" kern="1200" noProof="0" dirty="0" smtClean="0">
                          <a:solidFill>
                            <a:schemeClr val="tx1"/>
                          </a:solidFill>
                          <a:latin typeface="+mn-lt"/>
                          <a:ea typeface="+mn-ea"/>
                          <a:cs typeface="Arial" panose="020B0604020202020204" pitchFamily="34" charset="0"/>
                        </a:rPr>
                        <a:t>)</a:t>
                      </a:r>
                    </a:p>
                    <a:p>
                      <a:pPr algn="l">
                        <a:lnSpc>
                          <a:spcPct val="85000"/>
                        </a:lnSpc>
                      </a:pP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48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йук</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6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йук</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1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665531199"/>
              </p:ext>
            </p:extLst>
          </p:nvPr>
        </p:nvGraphicFramePr>
        <p:xfrm>
          <a:off x="3383969" y="865689"/>
          <a:ext cx="2939919" cy="5838980"/>
        </p:xfrm>
        <a:graphic>
          <a:graphicData uri="http://schemas.openxmlformats.org/drawingml/2006/table">
            <a:tbl>
              <a:tblPr firstRow="1" bandRow="1">
                <a:tableStyleId>{C083E6E3-FA7D-4D7B-A595-EF9225AFEA82}</a:tableStyleId>
              </a:tblPr>
              <a:tblGrid>
                <a:gridCol w="1387328">
                  <a:extLst>
                    <a:ext uri="{9D8B030D-6E8A-4147-A177-3AD203B41FA5}">
                      <a16:colId xmlns:a16="http://schemas.microsoft.com/office/drawing/2014/main" val="2715609854"/>
                    </a:ext>
                  </a:extLst>
                </a:gridCol>
                <a:gridCol w="1552591">
                  <a:extLst>
                    <a:ext uri="{9D8B030D-6E8A-4147-A177-3AD203B41FA5}">
                      <a16:colId xmlns:a16="http://schemas.microsoft.com/office/drawing/2014/main" val="546443978"/>
                    </a:ext>
                  </a:extLst>
                </a:gridCol>
              </a:tblGrid>
              <a:tr h="331922">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45250">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2002 йилдан буён Нафақада</a:t>
                      </a:r>
                      <a:r>
                        <a:rPr lang="uz-Cyrl-UZ" sz="900" b="1" kern="1200" dirty="0" smtClean="0">
                          <a:solidFill>
                            <a:schemeClr val="tx1"/>
                          </a:solidFill>
                          <a:effectLst/>
                          <a:latin typeface="+mn-lt"/>
                          <a:ea typeface="+mn-ea"/>
                          <a:cs typeface="+mn-cs"/>
                        </a:rPr>
                        <a:t>, </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4767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3200">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55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8564">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55</a:t>
                      </a:r>
                      <a:r>
                        <a:rPr lang="uz-Cyrl-UZ" sz="900" b="0" baseline="0" noProof="0" dirty="0" smtClean="0">
                          <a:effectLst/>
                          <a:latin typeface="+mn-lt"/>
                          <a:ea typeface="Calibri" panose="020F0502020204030204" pitchFamily="34" charset="0"/>
                          <a:cs typeface="Times New Roman" panose="02020603050405020304" pitchFamily="18" charset="0"/>
                        </a:rPr>
                        <a:t> </a:t>
                      </a:r>
                      <a:r>
                        <a:rPr lang="uz-Cyrl-UZ" sz="900" b="0" noProof="0" dirty="0" smtClean="0">
                          <a:effectLst/>
                          <a:latin typeface="+mn-lt"/>
                          <a:ea typeface="Calibri" panose="020F0502020204030204" pitchFamily="34" charset="0"/>
                          <a:cs typeface="Times New Roman" panose="02020603050405020304" pitchFamily="18" charset="0"/>
                        </a:rPr>
                        <a:t>йил</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83803">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1965 й- ҳ.в- Наманган вилояти мусиқали драма театрида хор, драма,вокал</a:t>
                      </a:r>
                      <a:r>
                        <a:rPr lang="uz-Cyrl-UZ" sz="900" baseline="0" noProof="0" dirty="0" smtClean="0">
                          <a:effectLst/>
                          <a:latin typeface="+mn-lt"/>
                          <a:ea typeface="Calibri" panose="020F0502020204030204" pitchFamily="34" charset="0"/>
                          <a:cs typeface="Times New Roman" panose="02020603050405020304" pitchFamily="18" charset="0"/>
                        </a:rPr>
                        <a:t> артисти</a:t>
                      </a: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3790">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379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йук</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59113">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2026</a:t>
                      </a:r>
                      <a:r>
                        <a:rPr lang="uz-Cyrl-UZ" sz="900" kern="1200" baseline="0" noProof="0" dirty="0" smtClean="0">
                          <a:solidFill>
                            <a:schemeClr val="tx1"/>
                          </a:solidFill>
                          <a:effectLst/>
                          <a:latin typeface="+mn-lt"/>
                          <a:ea typeface="Calibri" panose="020F0502020204030204" pitchFamily="34" charset="0"/>
                          <a:cs typeface="Times New Roman" panose="02020603050405020304" pitchFamily="18" charset="0"/>
                        </a:rPr>
                        <a:t> йил</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128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29715">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60881">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1991 й. Ўзбекистонда хизмат кўрстаган артист</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128947362"/>
              </p:ext>
            </p:extLst>
          </p:nvPr>
        </p:nvGraphicFramePr>
        <p:xfrm>
          <a:off x="6374997" y="869287"/>
          <a:ext cx="3392108" cy="5835383"/>
        </p:xfrm>
        <a:graphic>
          <a:graphicData uri="http://schemas.openxmlformats.org/drawingml/2006/table">
            <a:tbl>
              <a:tblPr firstRow="1" bandRow="1">
                <a:tableStyleId>{C083E6E3-FA7D-4D7B-A595-EF9225AFEA82}</a:tableStyleId>
              </a:tblPr>
              <a:tblGrid>
                <a:gridCol w="3392108">
                  <a:extLst>
                    <a:ext uri="{9D8B030D-6E8A-4147-A177-3AD203B41FA5}">
                      <a16:colId xmlns:a16="http://schemas.microsoft.com/office/drawing/2014/main" val="2715609854"/>
                    </a:ext>
                  </a:extLst>
                </a:gridCol>
              </a:tblGrid>
              <a:tr h="254967">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0949">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352043">
                <a:tc>
                  <a:txBody>
                    <a:bodyPr/>
                    <a:lstStyle/>
                    <a:p>
                      <a:pPr marL="0" indent="179388" algn="just"/>
                      <a:r>
                        <a:rPr lang="uz-Cyrl-UZ" sz="900" kern="1200" dirty="0" smtClean="0">
                          <a:solidFill>
                            <a:schemeClr val="tx1"/>
                          </a:solidFill>
                          <a:latin typeface="+mn-lt"/>
                          <a:ea typeface="+mn-ea"/>
                          <a:cs typeface="+mn-cs"/>
                        </a:rPr>
                        <a:t>Театрда саҳналаштирилган қатор спектаклларда эсда қоларли ролларни маҳорат билан ижро этган. «Тоҳир ва Зуҳра»да Зуҳра, «Фарҳод ва Ширин»да Ширин, «Нурхон»да Нурхон,  «Анвар ила Раъно»да Раъно, «Алла»да Санобар, «Машраб»да Гулруҳ, «Тошкентнинг нозанин маликаси»да Мунаввар, «Хотинимнинг эри»да Паризод, «Меҳр қуёши»да Лўли, «Сўнгги пушаймон»да Райхон, «Ўзинг кўзим нури»да Мунаввар, «Раҳмат иғвогар»да Маяхон, «Илоҳим паймонанг тўлмасин»да Жаннат, «Олтин девор»да Зуҳра, «Кимга тўй, кимга аза»да Зуҳра, «Гўзал дунё зулмати»да Карима, «Супер қайнона»да Хожар, «Чимилдиқ»да Қайнона, «Аяжонларим» да Бўстон, «Боғ» да Карима, «Оқила» да Каромат каби роллар шулар жумласидандир.</a:t>
                      </a:r>
                      <a:endParaRPr lang="ru-RU" sz="900" kern="1200" dirty="0" smtClean="0">
                        <a:solidFill>
                          <a:schemeClr val="tx1"/>
                        </a:solidFill>
                        <a:latin typeface="+mn-lt"/>
                        <a:ea typeface="+mn-ea"/>
                        <a:cs typeface="+mn-cs"/>
                      </a:endParaRPr>
                    </a:p>
                    <a:p>
                      <a:pPr marL="0" indent="179388" algn="just"/>
                      <a:r>
                        <a:rPr lang="uz-Cyrl-UZ" sz="900" kern="1200" dirty="0" smtClean="0">
                          <a:solidFill>
                            <a:schemeClr val="tx1"/>
                          </a:solidFill>
                          <a:latin typeface="+mn-lt"/>
                          <a:ea typeface="+mn-ea"/>
                          <a:cs typeface="+mn-cs"/>
                        </a:rPr>
                        <a:t>2007 йил 1-7 апрел кунлари Туркманистон Республикасининг пойтахти Ашхобод шаҳрида бўлиб ўтган «Миллий фольклор ва театр санъати» халқаро фестивалида намойиш этилган «Боғ»  спектаклида Карима яратган қайнона образи ҳам жаҳон театр санъати мутахассислари томонидан юқори баҳоланди.</a:t>
                      </a:r>
                      <a:endParaRPr lang="ru-RU" sz="900" kern="1200" dirty="0" smtClean="0">
                        <a:solidFill>
                          <a:schemeClr val="tx1"/>
                        </a:solidFill>
                        <a:latin typeface="+mn-lt"/>
                        <a:ea typeface="+mn-ea"/>
                        <a:cs typeface="+mn-cs"/>
                      </a:endParaRPr>
                    </a:p>
                    <a:p>
                      <a:pPr marL="0" indent="179388" algn="just"/>
                      <a:r>
                        <a:rPr lang="uz-Cyrl-UZ" sz="900" kern="1200" dirty="0" smtClean="0">
                          <a:solidFill>
                            <a:schemeClr val="tx1"/>
                          </a:solidFill>
                          <a:latin typeface="+mn-lt"/>
                          <a:ea typeface="+mn-ea"/>
                          <a:cs typeface="+mn-cs"/>
                        </a:rPr>
                        <a:t>Шунингдек, актрисанинг турли йилларда суратга олинган «Наманган алласи» (Санобар), «Сўнгги пушаймон» (Райҳон), «Инқироз» (Она), «Мерган милиционер» (Она), «Чаён боласи» (Она) сингари видео ва кинофильмларда ҳам бетакрор образлар яратган. Аксарият образлари томошабин ва мутахассислар томонидан ижобий баҳоланган. </a:t>
                      </a:r>
                      <a:endParaRPr lang="ru-RU" sz="900" kern="1200" dirty="0" smtClean="0">
                        <a:solidFill>
                          <a:schemeClr val="tx1"/>
                        </a:solidFill>
                        <a:latin typeface="+mn-lt"/>
                        <a:ea typeface="+mn-ea"/>
                        <a:cs typeface="+mn-cs"/>
                      </a:endParaRPr>
                    </a:p>
                    <a:p>
                      <a:pPr marL="0" indent="179388" algn="just"/>
                      <a:r>
                        <a:rPr lang="uz-Cyrl-UZ" sz="900" kern="1200" dirty="0" smtClean="0">
                          <a:solidFill>
                            <a:schemeClr val="tx1"/>
                          </a:solidFill>
                          <a:latin typeface="+mn-lt"/>
                          <a:ea typeface="+mn-ea"/>
                          <a:cs typeface="+mn-cs"/>
                        </a:rPr>
                        <a:t>Жозибали, жарангдор овоз соҳибаси сифатида жойларда намойиш этиладиган катта концертларда унинг ижросидаги «Отмагай тонг», «Қаламлар», «Ассалом», «Эй сабо», «Бизни айвон» каби ўнлаб ария ва дуэтлар томошабинлар томонидан зўр олқишлар билан кутиб олинади. Эфир орқали янграб турадиган «Қиз қўшиғи», «Гул ишқи», Келсангиз», «Далажон», «Бахтиёрман» каби мумтоз қўшиқ ва дуэтлари Ўзбекистон Республика радиоси “Олтин фонди”да сақланмоқда</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58407">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749017">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b="0" dirty="0" smtClean="0">
                          <a:effectLst/>
                          <a:latin typeface="+mn-lt"/>
                          <a:ea typeface="Calibri" panose="020F0502020204030204" pitchFamily="34" charset="0"/>
                          <a:cs typeface="Times New Roman" panose="02020603050405020304" pitchFamily="18" charset="0"/>
                        </a:rPr>
                        <a:t>Республикамизда</a:t>
                      </a:r>
                      <a:r>
                        <a:rPr lang="uz-Cyrl-UZ" sz="9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91216" y="1187824"/>
            <a:ext cx="802646" cy="1058662"/>
          </a:xfrm>
          <a:prstGeom prst="rect">
            <a:avLst/>
          </a:prstGeom>
        </p:spPr>
      </p:pic>
    </p:spTree>
    <p:extLst>
      <p:ext uri="{BB962C8B-B14F-4D97-AF65-F5344CB8AC3E}">
        <p14:creationId xmlns:p14="http://schemas.microsoft.com/office/powerpoint/2010/main" val="905993703"/>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b="1" dirty="0">
                <a:solidFill>
                  <a:srgbClr val="002060"/>
                </a:solidFill>
                <a:latin typeface="Bahnschrift SemiBold" panose="020B0502040204020203" pitchFamily="34" charset="0"/>
              </a:rPr>
              <a:t>ТЕАТР ВА ЦИРК ЙЎНАЛИШИ СОҲА ВАКИЛЛАРИ</a:t>
            </a: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35702736"/>
              </p:ext>
            </p:extLst>
          </p:nvPr>
        </p:nvGraphicFramePr>
        <p:xfrm>
          <a:off x="144489" y="865703"/>
          <a:ext cx="3427547" cy="5896259"/>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6987">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91779">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КАРИМОВА</a:t>
                      </a:r>
                      <a:r>
                        <a:rPr lang="ru-RU" sz="900" b="0" kern="1200" baseline="0" dirty="0" smtClean="0">
                          <a:solidFill>
                            <a:schemeClr val="tx1"/>
                          </a:solidFill>
                          <a:latin typeface="+mn-lt"/>
                          <a:ea typeface="+mn-ea"/>
                          <a:cs typeface="+mn-cs"/>
                        </a:rPr>
                        <a:t>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177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Азиза</a:t>
                      </a:r>
                      <a:r>
                        <a:rPr lang="uz-Cyrl-UZ" sz="800" b="0" kern="1200" baseline="0" dirty="0" smtClean="0">
                          <a:solidFill>
                            <a:schemeClr val="tx1"/>
                          </a:solidFill>
                          <a:latin typeface="+mn-lt"/>
                          <a:ea typeface="+mn-ea"/>
                          <a:cs typeface="+mn-cs"/>
                        </a:rPr>
                        <a:t> </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177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Хамидовна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91779">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177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smtClean="0">
                          <a:solidFill>
                            <a:schemeClr val="tx1"/>
                          </a:solidFill>
                          <a:latin typeface="+mn-lt"/>
                          <a:ea typeface="+mn-ea"/>
                          <a:cs typeface="+mn-cs"/>
                        </a:rPr>
                        <a:t>26.03.1961</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1779">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Чортоқ</a:t>
                      </a:r>
                      <a:r>
                        <a:rPr lang="uz-Cyrl-UZ" sz="800" b="0" kern="1200" baseline="0" dirty="0" smtClean="0">
                          <a:solidFill>
                            <a:schemeClr val="tx1"/>
                          </a:solidFill>
                          <a:latin typeface="+mn-lt"/>
                          <a:ea typeface="+mn-ea"/>
                          <a:cs typeface="+mn-cs"/>
                        </a:rPr>
                        <a:t> 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4381">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21065">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4</a:t>
                      </a:r>
                      <a:r>
                        <a:rPr lang="uz-Cyrl-UZ" sz="900" b="0" kern="1200" baseline="0" noProof="0" dirty="0" smtClean="0">
                          <a:solidFill>
                            <a:schemeClr val="tx1"/>
                          </a:solidFill>
                          <a:latin typeface="+mn-lt"/>
                          <a:ea typeface="+mn-ea"/>
                          <a:cs typeface="+mn-cs"/>
                        </a:rPr>
                        <a:t> </a:t>
                      </a:r>
                      <a:r>
                        <a:rPr lang="uz-Cyrl-UZ" sz="900" b="0" kern="1200" noProof="0" dirty="0" smtClean="0">
                          <a:solidFill>
                            <a:schemeClr val="tx1"/>
                          </a:solidFill>
                          <a:latin typeface="+mn-lt"/>
                          <a:ea typeface="+mn-ea"/>
                          <a:cs typeface="+mn-cs"/>
                        </a:rPr>
                        <a:t>нафар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 нафақада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4381">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33219">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Каримов</a:t>
                      </a:r>
                      <a:r>
                        <a:rPr lang="uz-Cyrl-UZ" sz="900" b="1" kern="1200" baseline="0" noProof="0" dirty="0" smtClean="0">
                          <a:solidFill>
                            <a:schemeClr val="tx1"/>
                          </a:solidFill>
                          <a:latin typeface="+mn-lt"/>
                          <a:ea typeface="+mn-ea"/>
                          <a:cs typeface="Arial" panose="020B0604020202020204" pitchFamily="34" charset="0"/>
                        </a:rPr>
                        <a:t> Хамидхон </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1933 йил, Чортоқ</a:t>
                      </a:r>
                      <a:r>
                        <a:rPr lang="uz-Cyrl-UZ" sz="900" b="0" kern="1200" baseline="0" noProof="0" dirty="0" smtClean="0">
                          <a:solidFill>
                            <a:schemeClr val="tx1"/>
                          </a:solidFill>
                          <a:latin typeface="+mn-lt"/>
                          <a:ea typeface="+mn-ea"/>
                          <a:cs typeface="Arial" panose="020B0604020202020204" pitchFamily="34" charset="0"/>
                        </a:rPr>
                        <a:t> тумани</a:t>
                      </a:r>
                      <a:endParaRPr lang="uz-Cyrl-UZ"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2000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хусусий</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тадбиркор</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8429">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Каримова</a:t>
                      </a:r>
                      <a:r>
                        <a:rPr lang="uz-Cyrl-UZ" sz="900" b="1" kern="1200" baseline="0" noProof="0" dirty="0" smtClean="0">
                          <a:solidFill>
                            <a:schemeClr val="tx1"/>
                          </a:solidFill>
                          <a:latin typeface="+mn-lt"/>
                          <a:ea typeface="+mn-ea"/>
                          <a:cs typeface="Arial" panose="020B0604020202020204" pitchFamily="34" charset="0"/>
                        </a:rPr>
                        <a:t> Ховахон</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1938 йил, Чортоқ</a:t>
                      </a:r>
                      <a:r>
                        <a:rPr lang="uz-Cyrl-UZ" sz="900" b="0" kern="1200" baseline="0" noProof="0" dirty="0" smtClean="0">
                          <a:solidFill>
                            <a:schemeClr val="tx1"/>
                          </a:solidFill>
                          <a:latin typeface="+mn-lt"/>
                          <a:ea typeface="+mn-ea"/>
                          <a:cs typeface="Arial" panose="020B0604020202020204" pitchFamily="34" charset="0"/>
                        </a:rPr>
                        <a:t> тумани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2012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Уй</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8429">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Носиралиев</a:t>
                      </a:r>
                      <a:r>
                        <a:rPr lang="uz-Cyrl-UZ" sz="900" b="1" kern="1200" baseline="0" noProof="0" dirty="0" smtClean="0">
                          <a:solidFill>
                            <a:schemeClr val="tx1"/>
                          </a:solidFill>
                          <a:latin typeface="+mn-lt"/>
                          <a:ea typeface="+mn-ea"/>
                          <a:cs typeface="Arial" panose="020B0604020202020204" pitchFamily="34" charset="0"/>
                        </a:rPr>
                        <a:t> Иномжон Бокижанович</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1960 йил, Поп</a:t>
                      </a:r>
                      <a:r>
                        <a:rPr lang="uz-Cyrl-UZ" sz="900" b="0" kern="1200" baseline="0" noProof="0" dirty="0" smtClean="0">
                          <a:solidFill>
                            <a:schemeClr val="tx1"/>
                          </a:solidFill>
                          <a:latin typeface="+mn-lt"/>
                          <a:ea typeface="+mn-ea"/>
                          <a:cs typeface="Arial" panose="020B0604020202020204" pitchFamily="34" charset="0"/>
                        </a:rPr>
                        <a:t> тумани</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Нафакада</a:t>
                      </a:r>
                      <a:r>
                        <a:rPr lang="uz-Cyrl-UZ" sz="900" b="0" kern="1200" baseline="0" noProof="0" dirty="0" smtClean="0">
                          <a:solidFill>
                            <a:schemeClr val="tx1"/>
                          </a:solidFill>
                          <a:latin typeface="+mn-lt"/>
                          <a:ea typeface="+mn-ea"/>
                          <a:cs typeface="Arial" panose="020B0604020202020204" pitchFamily="34" charset="0"/>
                        </a:rPr>
                        <a:t> </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10746">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33482">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1978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давлат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8494">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effectLst/>
                          <a:latin typeface="+mn-lt"/>
                          <a:ea typeface="+mn-ea"/>
                          <a:cs typeface="+mn-cs"/>
                        </a:rPr>
                        <a:t>Драма</a:t>
                      </a:r>
                      <a:r>
                        <a:rPr lang="uz-Cyrl-UZ" sz="900" b="0" kern="1200" baseline="0" noProof="0" dirty="0" smtClean="0">
                          <a:solidFill>
                            <a:schemeClr val="tx1"/>
                          </a:solidFill>
                          <a:effectLst/>
                          <a:latin typeface="+mn-lt"/>
                          <a:ea typeface="+mn-ea"/>
                          <a:cs typeface="+mn-cs"/>
                        </a:rPr>
                        <a:t> театр ва кино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7891">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7891">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 ,инглиз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4019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1846611002"/>
              </p:ext>
            </p:extLst>
          </p:nvPr>
        </p:nvGraphicFramePr>
        <p:xfrm>
          <a:off x="3674527" y="865689"/>
          <a:ext cx="3179200" cy="5896274"/>
        </p:xfrm>
        <a:graphic>
          <a:graphicData uri="http://schemas.openxmlformats.org/drawingml/2006/table">
            <a:tbl>
              <a:tblPr firstRow="1" bandRow="1">
                <a:tableStyleId>{C083E6E3-FA7D-4D7B-A595-EF9225AFEA82}</a:tableStyleId>
              </a:tblPr>
              <a:tblGrid>
                <a:gridCol w="1500243">
                  <a:extLst>
                    <a:ext uri="{9D8B030D-6E8A-4147-A177-3AD203B41FA5}">
                      <a16:colId xmlns:a16="http://schemas.microsoft.com/office/drawing/2014/main" val="2715609854"/>
                    </a:ext>
                  </a:extLst>
                </a:gridCol>
                <a:gridCol w="1678957">
                  <a:extLst>
                    <a:ext uri="{9D8B030D-6E8A-4147-A177-3AD203B41FA5}">
                      <a16:colId xmlns:a16="http://schemas.microsoft.com/office/drawing/2014/main" val="546443978"/>
                    </a:ext>
                  </a:extLst>
                </a:gridCol>
              </a:tblGrid>
              <a:tr h="336532">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0045">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2019 йилдан буён Нафақада</a:t>
                      </a:r>
                      <a:r>
                        <a:rPr lang="uz-Cyrl-UZ" sz="900" b="1" kern="1200" dirty="0" smtClean="0">
                          <a:solidFill>
                            <a:schemeClr val="tx1"/>
                          </a:solidFill>
                          <a:effectLst/>
                          <a:latin typeface="+mn-lt"/>
                          <a:ea typeface="+mn-ea"/>
                          <a:cs typeface="+mn-cs"/>
                        </a:rPr>
                        <a:t>, </a:t>
                      </a:r>
                      <a:r>
                        <a:rPr lang="uz-Cyrl-UZ" sz="900" kern="1200" dirty="0" smtClean="0">
                          <a:solidFill>
                            <a:schemeClr val="tx1"/>
                          </a:solidFill>
                          <a:effectLst/>
                          <a:latin typeface="+mn-lt"/>
                          <a:ea typeface="+mn-ea"/>
                          <a:cs typeface="+mn-cs"/>
                        </a:rPr>
                        <a:t>Эркин ижодкор</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111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616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23</a:t>
                      </a:r>
                      <a:r>
                        <a:rPr lang="uz-Cyrl-UZ" sz="900" b="0" baseline="0" noProof="0" dirty="0" smtClean="0">
                          <a:effectLst/>
                          <a:latin typeface="+mn-lt"/>
                          <a:ea typeface="Calibri" panose="020F0502020204030204" pitchFamily="34" charset="0"/>
                          <a:cs typeface="Times New Roman" panose="02020603050405020304" pitchFamily="18" charset="0"/>
                        </a:rPr>
                        <a:t> </a:t>
                      </a:r>
                      <a:r>
                        <a:rPr lang="uz-Cyrl-UZ" sz="900" b="0" noProof="0" dirty="0" smtClean="0">
                          <a:effectLst/>
                          <a:latin typeface="+mn-lt"/>
                          <a:ea typeface="Calibri" panose="020F0502020204030204" pitchFamily="34" charset="0"/>
                          <a:cs typeface="Times New Roman" panose="02020603050405020304" pitchFamily="18" charset="0"/>
                        </a:rPr>
                        <a:t>йил</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322">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20</a:t>
                      </a:r>
                      <a:r>
                        <a:rPr lang="uz-Cyrl-UZ" sz="900" b="0" baseline="0" noProof="0" dirty="0" smtClean="0">
                          <a:effectLst/>
                          <a:latin typeface="+mn-lt"/>
                          <a:ea typeface="Calibri" panose="020F0502020204030204" pitchFamily="34" charset="0"/>
                          <a:cs typeface="Times New Roman" panose="02020603050405020304" pitchFamily="18" charset="0"/>
                        </a:rPr>
                        <a:t> </a:t>
                      </a:r>
                      <a:r>
                        <a:rPr lang="uz-Cyrl-UZ" sz="900" b="0" noProof="0" dirty="0" smtClean="0">
                          <a:effectLst/>
                          <a:latin typeface="+mn-lt"/>
                          <a:ea typeface="Calibri" panose="020F0502020204030204" pitchFamily="34" charset="0"/>
                          <a:cs typeface="Times New Roman" panose="02020603050405020304" pitchFamily="18" charset="0"/>
                        </a:rPr>
                        <a:t>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912087">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1988-1990</a:t>
                      </a:r>
                      <a:r>
                        <a:rPr lang="uz-Cyrl-UZ" sz="900" baseline="0" noProof="0" dirty="0" smtClean="0">
                          <a:effectLst/>
                          <a:latin typeface="+mn-lt"/>
                          <a:ea typeface="Calibri" panose="020F0502020204030204" pitchFamily="34" charset="0"/>
                          <a:cs typeface="Times New Roman" panose="02020603050405020304" pitchFamily="18" charset="0"/>
                        </a:rPr>
                        <a:t> </a:t>
                      </a:r>
                      <a:r>
                        <a:rPr lang="uz-Cyrl-UZ" sz="900" noProof="0" dirty="0" smtClean="0">
                          <a:effectLst/>
                          <a:latin typeface="+mn-lt"/>
                          <a:ea typeface="Calibri" panose="020F0502020204030204" pitchFamily="34" charset="0"/>
                          <a:cs typeface="Times New Roman" panose="02020603050405020304" pitchFamily="18" charset="0"/>
                        </a:rPr>
                        <a:t>йй. –Наманган вилояти мусиқали драма таетрида вокал артисти</a:t>
                      </a:r>
                    </a:p>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1990-1998 йй. – Поп тумани маданият саройида булимида услубчиси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304029">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304029">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йук</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43363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4910">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2905">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89505">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2001</a:t>
                      </a:r>
                      <a:r>
                        <a:rPr lang="uz-Cyrl-UZ" sz="900" baseline="0" noProof="0" dirty="0" smtClean="0">
                          <a:effectLst/>
                          <a:latin typeface="+mn-lt"/>
                          <a:ea typeface="Calibri" panose="020F0502020204030204" pitchFamily="34" charset="0"/>
                          <a:cs typeface="Times New Roman" panose="02020603050405020304" pitchFamily="18" charset="0"/>
                        </a:rPr>
                        <a:t> й .” Мустақилликнинг 10 йилиги “кукрак нишони</a:t>
                      </a:r>
                      <a:endParaRPr lang="uz-Cyrl-UZ" sz="900" noProof="0" dirty="0" smtClean="0">
                        <a:effectLst/>
                        <a:latin typeface="+mn-lt"/>
                        <a:ea typeface="Calibri" panose="020F0502020204030204" pitchFamily="34" charset="0"/>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2013й.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414518494"/>
              </p:ext>
            </p:extLst>
          </p:nvPr>
        </p:nvGraphicFramePr>
        <p:xfrm>
          <a:off x="6949857" y="869287"/>
          <a:ext cx="2817247" cy="5913758"/>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119979">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173124">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2450172">
                <a:tc>
                  <a:txBody>
                    <a:bodyPr/>
                    <a:lstStyle/>
                    <a:p>
                      <a:pPr marL="0" indent="179388" algn="just"/>
                      <a:r>
                        <a:rPr lang="uz-Cyrl-UZ" sz="900" b="0" kern="1200" noProof="0" dirty="0" smtClean="0">
                          <a:solidFill>
                            <a:schemeClr val="tx1"/>
                          </a:solidFill>
                          <a:latin typeface="+mn-lt"/>
                          <a:ea typeface="+mn-ea"/>
                          <a:cs typeface="+mn-cs"/>
                        </a:rPr>
                        <a:t>М</a:t>
                      </a:r>
                      <a:r>
                        <a:rPr lang="uz-Cyrl-UZ" sz="900" kern="1200" dirty="0" smtClean="0">
                          <a:solidFill>
                            <a:schemeClr val="tx1"/>
                          </a:solidFill>
                          <a:latin typeface="+mn-lt"/>
                          <a:ea typeface="+mn-ea"/>
                          <a:cs typeface="+mn-cs"/>
                        </a:rPr>
                        <a:t>ахоратли актриса сифатида куплаб турли характердаги ранг-баранг ролларни маромига етказиб ижро этган. А.Каримова исътедодли актриса сифатида «Гулсара» да Гулсара, «Бу телба дунё» да Алданган киз, «Олтин хуроз» да Тулки, «Тегирмон тепасидаги куёш» да Майфуруш аёл, «Алла» да Чулпон, «Усмон Носир каерда?» да Киз, «Тобутдан товуш» да Нетай, «Мукимий» да Обида, «Робиябону» да Робиябону, «Кирол Лирнинг набиралари» да Алвасти, Макбетхоним, Бежархоним, «Алпомишнинг ук-ёйи» да Барчин, «Супер Кайнона» да Муяссар,  «Чимилдик» да Момо, «Салом ёки Хайр» да Сохибжамол, «Иккинчи тумор» да Муаттар, «Аяжонларим» да Тутинисо, «Бог» да Азиза, «Фантнинг саргузаштлари» да Умида момо, «Захарли томчи» да Фарида, «Беш кунлик куёв» да Кишвархон «Кулгусини йукотган бойлар» да Халима, «Килпиллама» да Хонзода, “Курголи келдим”да Биби Салима «Бу чоллар ёмон чоллар» да Суксурой, «Азиз»да Райхон, «Садокат»да Кумри, каби ролларни ижро этиб келмокда </a:t>
                      </a:r>
                      <a:endParaRPr lang="ru-RU" sz="900" kern="1200" dirty="0" smtClean="0">
                        <a:solidFill>
                          <a:schemeClr val="tx1"/>
                        </a:solidFill>
                        <a:latin typeface="+mn-lt"/>
                        <a:ea typeface="+mn-ea"/>
                        <a:cs typeface="+mn-cs"/>
                      </a:endParaRPr>
                    </a:p>
                    <a:p>
                      <a:pPr marL="0" indent="179388" algn="just"/>
                      <a:r>
                        <a:rPr lang="uz-Cyrl-UZ" sz="900" kern="1200" dirty="0" smtClean="0">
                          <a:solidFill>
                            <a:schemeClr val="tx1"/>
                          </a:solidFill>
                          <a:latin typeface="+mn-lt"/>
                          <a:ea typeface="+mn-ea"/>
                          <a:cs typeface="+mn-cs"/>
                        </a:rPr>
                        <a:t>1989 йилда Москва шахрида утказилган халкаро драматургия фестивалида И.Турсунов каламига мансуб “Бу телба дунё” (режиссёр К.Юлдашев) асаридаги Алданган киз роли учун “Энг яхши аёл образи” номинациясида голиб булди. 1999 йилда “Кирол Лирнинг сунгги набиралари” спектаклидаги леди Макбет роли Республикада “Йилнинг энг яхши эпизодик роли”, 2000 йилда “Алпомишнинг ук-ёйи” спектаклидаги Барчин роли учун “Йилнинг энг яхши актрисаси” деб топилди. 2001 йилда “Узбекистон Мустакиллигининг 10 йиллиги” эсдалик нишони билан такдирланган.</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77098">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369593">
                <a:tc>
                  <a:txBody>
                    <a:bodyPr/>
                    <a:lstStyle/>
                    <a:p>
                      <a:pPr marL="0" marR="0" lvl="0" indent="179388" algn="just" defTabSz="914400" rtl="0" eaLnBrk="1" fontAlgn="auto" latinLnBrk="0" hangingPunct="1">
                        <a:lnSpc>
                          <a:spcPct val="107000"/>
                        </a:lnSpc>
                        <a:spcBef>
                          <a:spcPts val="0"/>
                        </a:spcBef>
                        <a:spcAft>
                          <a:spcPts val="0"/>
                        </a:spcAft>
                        <a:buClrTx/>
                        <a:buSzTx/>
                        <a:buFontTx/>
                        <a:buNone/>
                        <a:tabLst/>
                        <a:defRPr/>
                      </a:pPr>
                      <a:r>
                        <a:rPr lang="uz-Cyrl-UZ" sz="900" kern="1200" dirty="0" smtClean="0">
                          <a:solidFill>
                            <a:schemeClr val="tx1"/>
                          </a:solidFill>
                          <a:latin typeface="+mn-lt"/>
                          <a:ea typeface="+mn-ea"/>
                          <a:cs typeface="+mn-cs"/>
                        </a:rPr>
                        <a:t>Республика ва вилоят микёсида утказиладиган </a:t>
                      </a:r>
                      <a:r>
                        <a:rPr lang="uz-Cyrl-UZ" sz="900" b="1" kern="1200" dirty="0" smtClean="0">
                          <a:solidFill>
                            <a:schemeClr val="tx1"/>
                          </a:solidFill>
                          <a:latin typeface="+mn-lt"/>
                          <a:ea typeface="+mn-ea"/>
                          <a:cs typeface="+mn-cs"/>
                        </a:rPr>
                        <a:t>Мустакиллик</a:t>
                      </a:r>
                      <a:r>
                        <a:rPr lang="uz-Cyrl-UZ" sz="900" kern="1200" dirty="0" smtClean="0">
                          <a:solidFill>
                            <a:schemeClr val="tx1"/>
                          </a:solidFill>
                          <a:latin typeface="+mn-lt"/>
                          <a:ea typeface="+mn-ea"/>
                          <a:cs typeface="+mn-cs"/>
                        </a:rPr>
                        <a:t> ва </a:t>
                      </a:r>
                      <a:r>
                        <a:rPr lang="uz-Cyrl-UZ" sz="900" b="1" kern="1200" dirty="0" smtClean="0">
                          <a:solidFill>
                            <a:schemeClr val="tx1"/>
                          </a:solidFill>
                          <a:latin typeface="+mn-lt"/>
                          <a:ea typeface="+mn-ea"/>
                          <a:cs typeface="+mn-cs"/>
                        </a:rPr>
                        <a:t>“Навруз”</a:t>
                      </a:r>
                      <a:r>
                        <a:rPr lang="uz-Cyrl-UZ" sz="900" kern="1200" dirty="0" smtClean="0">
                          <a:solidFill>
                            <a:schemeClr val="tx1"/>
                          </a:solidFill>
                          <a:latin typeface="+mn-lt"/>
                          <a:ea typeface="+mn-ea"/>
                          <a:cs typeface="+mn-cs"/>
                        </a:rPr>
                        <a:t> умумхалк байрамларининг тантаналарида ва бошка оммавий-маданий тадбирларда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7" name="Рисунок 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60672" y="1132765"/>
            <a:ext cx="816100" cy="1078671"/>
          </a:xfrm>
          <a:prstGeom prst="rect">
            <a:avLst/>
          </a:prstGeom>
        </p:spPr>
      </p:pic>
    </p:spTree>
    <p:extLst>
      <p:ext uri="{BB962C8B-B14F-4D97-AF65-F5344CB8AC3E}">
        <p14:creationId xmlns:p14="http://schemas.microsoft.com/office/powerpoint/2010/main" val="3007252574"/>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1600" b="1" dirty="0" smtClean="0">
                <a:solidFill>
                  <a:srgbClr val="FF0000"/>
                </a:solidFill>
                <a:latin typeface="Bahnschrift SemiBold" panose="020B0502040204020203" pitchFamily="34" charset="0"/>
              </a:rPr>
              <a:t>ТЕАТР ЙЎНАЛИШИ СОҲА ВАКИЛЛАРИ </a:t>
            </a:r>
            <a:r>
              <a:rPr lang="uz-Cyrl-UZ" sz="1600" b="1" dirty="0" smtClean="0">
                <a:solidFill>
                  <a:srgbClr val="002060"/>
                </a:solidFill>
                <a:latin typeface="Bahnschrift SemiBold" panose="020B0502040204020203" pitchFamily="34" charset="0"/>
              </a:rPr>
              <a:t>(ТОП-100)</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815486"/>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ЭШТ</a:t>
                      </a:r>
                      <a:r>
                        <a:rPr lang="uz-Latn-UZ" sz="900" b="0" kern="1200" dirty="0" smtClean="0">
                          <a:solidFill>
                            <a:schemeClr val="tx1"/>
                          </a:solidFill>
                          <a:latin typeface="+mn-lt"/>
                          <a:ea typeface="+mn-ea"/>
                          <a:cs typeface="+mn-cs"/>
                        </a:rPr>
                        <a:t>ЎХТАРОВА</a:t>
                      </a:r>
                      <a:r>
                        <a:rPr lang="uz-Latn-UZ" sz="900" b="0" kern="1200" baseline="0" dirty="0" smtClean="0">
                          <a:solidFill>
                            <a:schemeClr val="tx1"/>
                          </a:solidFill>
                          <a:latin typeface="+mn-lt"/>
                          <a:ea typeface="+mn-ea"/>
                          <a:cs typeface="+mn-cs"/>
                        </a:rPr>
                        <a:t>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Latn-UZ" sz="800" b="0" kern="1200" dirty="0" smtClean="0">
                          <a:solidFill>
                            <a:schemeClr val="tx1"/>
                          </a:solidFill>
                          <a:latin typeface="+mn-lt"/>
                          <a:ea typeface="+mn-ea"/>
                          <a:cs typeface="+mn-cs"/>
                        </a:rPr>
                        <a:t>ОЛИЯ</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Latn-UZ" sz="800" b="0" kern="1200" dirty="0" smtClean="0">
                          <a:solidFill>
                            <a:schemeClr val="tx1"/>
                          </a:solidFill>
                          <a:latin typeface="+mn-lt"/>
                          <a:ea typeface="+mn-ea"/>
                          <a:cs typeface="+mn-cs"/>
                        </a:rPr>
                        <a:t>ХХХ</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Latn-UZ" sz="800" b="0" kern="1200" dirty="0" smtClean="0">
                          <a:solidFill>
                            <a:schemeClr val="tx1"/>
                          </a:solidFill>
                          <a:latin typeface="+mn-lt"/>
                          <a:ea typeface="+mn-ea"/>
                          <a:cs typeface="+mn-cs"/>
                        </a:rPr>
                        <a:t>28</a:t>
                      </a:r>
                      <a:r>
                        <a:rPr lang="ru-RU" sz="800" b="0" kern="1200" dirty="0" smtClean="0">
                          <a:solidFill>
                            <a:schemeClr val="tx1"/>
                          </a:solidFill>
                          <a:latin typeface="+mn-lt"/>
                          <a:ea typeface="+mn-ea"/>
                          <a:cs typeface="+mn-cs"/>
                        </a:rPr>
                        <a:t>.</a:t>
                      </a:r>
                      <a:r>
                        <a:rPr lang="uz-Latn-UZ" sz="800" b="0" kern="1200" dirty="0" smtClean="0">
                          <a:solidFill>
                            <a:schemeClr val="tx1"/>
                          </a:solidFill>
                          <a:latin typeface="+mn-lt"/>
                          <a:ea typeface="+mn-ea"/>
                          <a:cs typeface="+mn-cs"/>
                        </a:rPr>
                        <a:t>12</a:t>
                      </a:r>
                      <a:r>
                        <a:rPr lang="ru-RU" sz="800" b="0" kern="1200" dirty="0" smtClean="0">
                          <a:solidFill>
                            <a:schemeClr val="tx1"/>
                          </a:solidFill>
                          <a:latin typeface="+mn-lt"/>
                          <a:ea typeface="+mn-ea"/>
                          <a:cs typeface="+mn-cs"/>
                        </a:rPr>
                        <a:t>.1946</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Latn-UZ" sz="800" b="0" kern="1200" dirty="0" smtClean="0">
                          <a:solidFill>
                            <a:schemeClr val="tx1"/>
                          </a:solidFill>
                          <a:latin typeface="+mn-lt"/>
                          <a:ea typeface="+mn-ea"/>
                          <a:cs typeface="+mn-cs"/>
                        </a:rPr>
                        <a:t>ҚАРШИ</a:t>
                      </a:r>
                      <a:r>
                        <a:rPr lang="uz-Cyrl-UZ" sz="800" b="0" kern="1200" dirty="0" smtClean="0">
                          <a:solidFill>
                            <a:schemeClr val="tx1"/>
                          </a:solidFill>
                          <a:latin typeface="+mn-lt"/>
                          <a:ea typeface="+mn-ea"/>
                          <a:cs typeface="+mn-cs"/>
                        </a:rPr>
                        <a:t> </a:t>
                      </a:r>
                      <a:r>
                        <a:rPr lang="uz-Latn-UZ" sz="800" b="0" kern="1200" dirty="0" smtClean="0">
                          <a:solidFill>
                            <a:schemeClr val="tx1"/>
                          </a:solidFill>
                          <a:latin typeface="+mn-lt"/>
                          <a:ea typeface="+mn-ea"/>
                          <a:cs typeface="+mn-cs"/>
                        </a:rPr>
                        <a:t>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Latn-UZ" sz="900" b="0" kern="1200" noProof="0" dirty="0" smtClean="0">
                          <a:solidFill>
                            <a:schemeClr val="tx1"/>
                          </a:solidFill>
                          <a:latin typeface="+mn-lt"/>
                          <a:ea typeface="+mn-ea"/>
                          <a:cs typeface="+mn-cs"/>
                        </a:rPr>
                        <a:t>Оиласиз, ёлғиз яшайди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Latn-UZ" sz="900" b="1" kern="1200" noProof="0" dirty="0" smtClean="0">
                          <a:solidFill>
                            <a:schemeClr val="tx1"/>
                          </a:solidFill>
                          <a:latin typeface="+mn-lt"/>
                          <a:ea typeface="+mn-ea"/>
                          <a:cs typeface="Arial" panose="020B0604020202020204" pitchFamily="34" charset="0"/>
                        </a:rPr>
                        <a:t>Бегимов Эштўхтар ХХХ</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a:t>
                      </a:r>
                      <a:r>
                        <a:rPr lang="uz-Latn-UZ" sz="900" b="0" kern="1200" noProof="0" dirty="0" smtClean="0">
                          <a:solidFill>
                            <a:schemeClr val="tx1"/>
                          </a:solidFill>
                          <a:latin typeface="+mn-lt"/>
                          <a:ea typeface="+mn-ea"/>
                          <a:cs typeface="Arial" panose="020B0604020202020204" pitchFamily="34" charset="0"/>
                        </a:rPr>
                        <a:t>21</a:t>
                      </a:r>
                      <a:r>
                        <a:rPr lang="uz-Cyrl-UZ" sz="900" b="0" kern="1200" noProof="0" dirty="0" smtClean="0">
                          <a:solidFill>
                            <a:schemeClr val="tx1"/>
                          </a:solidFill>
                          <a:latin typeface="+mn-lt"/>
                          <a:ea typeface="+mn-ea"/>
                          <a:cs typeface="Arial" panose="020B0604020202020204" pitchFamily="34" charset="0"/>
                        </a:rPr>
                        <a:t> йил, </a:t>
                      </a:r>
                      <a:r>
                        <a:rPr lang="uz-Latn-UZ" sz="900" b="0" kern="1200" noProof="0" dirty="0" smtClean="0">
                          <a:solidFill>
                            <a:schemeClr val="tx1"/>
                          </a:solidFill>
                          <a:latin typeface="+mn-lt"/>
                          <a:ea typeface="+mn-ea"/>
                          <a:cs typeface="Arial" panose="020B0604020202020204" pitchFamily="34" charset="0"/>
                        </a:rPr>
                        <a:t>Қашқадарё</a:t>
                      </a:r>
                      <a:endParaRPr lang="uz-Cyrl-UZ"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a:t>
                      </a:r>
                      <a:r>
                        <a:rPr lang="uz-Latn-UZ" sz="900" b="0" kern="1200" noProof="0" dirty="0" smtClean="0">
                          <a:solidFill>
                            <a:schemeClr val="tx1"/>
                          </a:solidFill>
                          <a:latin typeface="+mn-lt"/>
                          <a:ea typeface="+mn-ea"/>
                          <a:cs typeface="Arial" panose="020B0604020202020204" pitchFamily="34" charset="0"/>
                        </a:rPr>
                        <a:t>95</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Latn-UZ" sz="900" b="0" kern="1200" noProof="0" dirty="0" smtClean="0">
                          <a:solidFill>
                            <a:schemeClr val="tx1"/>
                          </a:solidFill>
                          <a:latin typeface="+mn-lt"/>
                          <a:ea typeface="+mn-ea"/>
                          <a:cs typeface="Arial" panose="020B0604020202020204" pitchFamily="34" charset="0"/>
                        </a:rPr>
                        <a:t>Аграном</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Latn-UZ" sz="900" b="1" kern="1200" noProof="0" dirty="0" smtClean="0">
                          <a:solidFill>
                            <a:schemeClr val="tx1"/>
                          </a:solidFill>
                          <a:latin typeface="+mn-lt"/>
                          <a:ea typeface="+mn-ea"/>
                          <a:cs typeface="Arial" panose="020B0604020202020204" pitchFamily="34" charset="0"/>
                        </a:rPr>
                        <a:t>Йўлдошева Бибихол ХХХ</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a:t>
                      </a:r>
                      <a:r>
                        <a:rPr lang="uz-Latn-UZ" sz="900" b="0" kern="1200" noProof="0" dirty="0" smtClean="0">
                          <a:solidFill>
                            <a:schemeClr val="tx1"/>
                          </a:solidFill>
                          <a:latin typeface="+mn-lt"/>
                          <a:ea typeface="+mn-ea"/>
                          <a:cs typeface="Arial" panose="020B0604020202020204" pitchFamily="34" charset="0"/>
                        </a:rPr>
                        <a:t>31</a:t>
                      </a:r>
                      <a:r>
                        <a:rPr lang="uz-Cyrl-UZ" sz="900" b="0" kern="1200" noProof="0" dirty="0" smtClean="0">
                          <a:solidFill>
                            <a:schemeClr val="tx1"/>
                          </a:solidFill>
                          <a:latin typeface="+mn-lt"/>
                          <a:ea typeface="+mn-ea"/>
                          <a:cs typeface="Arial" panose="020B0604020202020204" pitchFamily="34" charset="0"/>
                        </a:rPr>
                        <a:t> йил, </a:t>
                      </a:r>
                      <a:r>
                        <a:rPr lang="uz-Latn-UZ" sz="900" b="0" kern="1200" noProof="0" dirty="0" smtClean="0">
                          <a:solidFill>
                            <a:schemeClr val="tx1"/>
                          </a:solidFill>
                          <a:latin typeface="+mn-lt"/>
                          <a:ea typeface="+mn-ea"/>
                          <a:cs typeface="Arial" panose="020B0604020202020204" pitchFamily="34" charset="0"/>
                        </a:rPr>
                        <a:t>Қашқадарё</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Latn-UZ" sz="900" b="0" kern="1200" noProof="0" dirty="0" smtClean="0">
                          <a:solidFill>
                            <a:schemeClr val="tx1"/>
                          </a:solidFill>
                          <a:latin typeface="+mn-lt"/>
                          <a:ea typeface="+mn-ea"/>
                          <a:cs typeface="Arial" panose="020B0604020202020204" pitchFamily="34" charset="0"/>
                        </a:rPr>
                        <a:t>1961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хонанда</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Latn-UZ" sz="900" b="0" kern="1200" noProof="0" dirty="0" smtClean="0">
                          <a:solidFill>
                            <a:schemeClr val="tx1"/>
                          </a:solidFill>
                          <a:latin typeface="+mn-lt"/>
                          <a:ea typeface="+mn-ea"/>
                          <a:cs typeface="Arial" panose="020B0604020202020204" pitchFamily="34" charset="0"/>
                        </a:rPr>
                        <a:t>Турмушга чиқмаган</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48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a:t>
                      </a:r>
                      <a:r>
                        <a:rPr lang="uz-Latn-UZ" sz="900" b="0" kern="1200" noProof="0" dirty="0" smtClean="0">
                          <a:solidFill>
                            <a:schemeClr val="tx1"/>
                          </a:solidFill>
                          <a:latin typeface="+mn-lt"/>
                          <a:ea typeface="+mn-ea"/>
                          <a:cs typeface="+mn-cs"/>
                        </a:rPr>
                        <a:t>6</a:t>
                      </a:r>
                      <a:r>
                        <a:rPr lang="ru-RU" sz="900" b="0" kern="1200" noProof="0" dirty="0" smtClean="0">
                          <a:solidFill>
                            <a:schemeClr val="tx1"/>
                          </a:solidFill>
                          <a:latin typeface="+mn-lt"/>
                          <a:ea typeface="+mn-ea"/>
                          <a:cs typeface="+mn-cs"/>
                        </a:rPr>
                        <a:t> й. </a:t>
                      </a:r>
                      <a:r>
                        <a:rPr lang="uz-Latn-UZ" sz="900" b="0" kern="1200" noProof="0" dirty="0" smtClean="0">
                          <a:solidFill>
                            <a:schemeClr val="tx1"/>
                          </a:solidFill>
                          <a:latin typeface="+mn-lt"/>
                          <a:ea typeface="+mn-ea"/>
                          <a:cs typeface="+mn-cs"/>
                        </a:rPr>
                        <a:t>Островский номидаги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a:t>
                      </a:r>
                      <a:r>
                        <a:rPr lang="uz-Latn-UZ" sz="900" b="0" kern="1200" noProof="0" dirty="0" smtClean="0">
                          <a:solidFill>
                            <a:schemeClr val="tx1"/>
                          </a:solidFill>
                          <a:latin typeface="+mn-lt"/>
                          <a:ea typeface="+mn-ea"/>
                          <a:cs typeface="+mn-cs"/>
                        </a:rPr>
                        <a:t>театр ва россомчилик санъати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6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Latn-UZ" sz="900" kern="1200" dirty="0" smtClean="0">
                          <a:solidFill>
                            <a:schemeClr val="tx1"/>
                          </a:solidFill>
                          <a:effectLst/>
                          <a:latin typeface="+mn-lt"/>
                          <a:ea typeface="+mn-ea"/>
                          <a:cs typeface="+mn-cs"/>
                        </a:rPr>
                        <a:t>Мусиқали драма ва камедия актёрлиги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1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89"/>
          <a:ext cx="3172841" cy="5936117"/>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761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1174">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Latn-UZ" sz="900" b="0" kern="1200" noProof="0" dirty="0" smtClean="0">
                          <a:solidFill>
                            <a:schemeClr val="tx1"/>
                          </a:solidFill>
                          <a:latin typeface="+mn-lt"/>
                          <a:ea typeface="+mn-ea"/>
                          <a:cs typeface="+mn-cs"/>
                        </a:rPr>
                        <a:t>Жиззах вилоят Мусиқали драма театрида 1976</a:t>
                      </a:r>
                      <a:r>
                        <a:rPr lang="uz-Cyrl-UZ" sz="900" b="0" kern="1200" noProof="0" dirty="0" smtClean="0">
                          <a:solidFill>
                            <a:schemeClr val="tx1"/>
                          </a:solidFill>
                          <a:latin typeface="+mn-lt"/>
                          <a:ea typeface="+mn-ea"/>
                          <a:cs typeface="+mn-cs"/>
                        </a:rPr>
                        <a:t> йилдан буён</a:t>
                      </a:r>
                      <a:r>
                        <a:rPr lang="uz-Latn-UZ" sz="900" b="0" kern="1200" noProof="0" dirty="0" smtClean="0">
                          <a:solidFill>
                            <a:schemeClr val="tx1"/>
                          </a:solidFill>
                          <a:latin typeface="+mn-lt"/>
                          <a:ea typeface="+mn-ea"/>
                          <a:cs typeface="+mn-cs"/>
                        </a:rPr>
                        <a:t> бугунги кунга қадар ишлайди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192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685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Latn-UZ" sz="900" b="0" noProof="0" dirty="0" smtClean="0">
                          <a:effectLst/>
                          <a:latin typeface="+mn-lt"/>
                          <a:ea typeface="Calibri" panose="020F0502020204030204" pitchFamily="34" charset="0"/>
                          <a:cs typeface="Times New Roman" panose="02020603050405020304" pitchFamily="18" charset="0"/>
                        </a:rPr>
                        <a:t>50</a:t>
                      </a:r>
                      <a:r>
                        <a:rPr lang="uz-Cyrl-UZ" sz="900" b="0" noProof="0" dirty="0" smtClean="0">
                          <a:effectLst/>
                          <a:latin typeface="+mn-lt"/>
                          <a:ea typeface="Calibri" panose="020F0502020204030204" pitchFamily="34" charset="0"/>
                          <a:cs typeface="Times New Roman" panose="02020603050405020304" pitchFamily="18" charset="0"/>
                        </a:rPr>
                        <a:t>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97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6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896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197</a:t>
                      </a:r>
                      <a:r>
                        <a:rPr lang="uz-Latn-UZ" sz="900" noProof="0" dirty="0" smtClean="0">
                          <a:effectLst/>
                          <a:latin typeface="+mn-lt"/>
                          <a:ea typeface="Calibri" panose="020F0502020204030204" pitchFamily="34" charset="0"/>
                          <a:cs typeface="Times New Roman" panose="02020603050405020304" pitchFamily="18" charset="0"/>
                        </a:rPr>
                        <a:t>6</a:t>
                      </a:r>
                      <a:r>
                        <a:rPr lang="uz-Cyrl-UZ" sz="900" noProof="0" dirty="0" smtClean="0">
                          <a:effectLst/>
                          <a:latin typeface="+mn-lt"/>
                          <a:ea typeface="Calibri" panose="020F0502020204030204" pitchFamily="34" charset="0"/>
                          <a:cs typeface="Times New Roman" panose="02020603050405020304" pitchFamily="18" charset="0"/>
                        </a:rPr>
                        <a:t>-20</a:t>
                      </a:r>
                      <a:r>
                        <a:rPr lang="uz-Latn-UZ" sz="900" noProof="0" dirty="0" smtClean="0">
                          <a:effectLst/>
                          <a:latin typeface="+mn-lt"/>
                          <a:ea typeface="Calibri" panose="020F0502020204030204" pitchFamily="34" charset="0"/>
                          <a:cs typeface="Times New Roman" panose="02020603050405020304" pitchFamily="18" charset="0"/>
                        </a:rPr>
                        <a:t>26</a:t>
                      </a:r>
                      <a:r>
                        <a:rPr lang="uz-Cyrl-UZ" sz="900" noProof="0" dirty="0" smtClean="0">
                          <a:effectLst/>
                          <a:latin typeface="+mn-lt"/>
                          <a:ea typeface="Calibri" panose="020F0502020204030204" pitchFamily="34" charset="0"/>
                          <a:cs typeface="Times New Roman" panose="02020603050405020304" pitchFamily="18" charset="0"/>
                        </a:rPr>
                        <a:t> йй. –</a:t>
                      </a:r>
                      <a:r>
                        <a:rPr lang="uz-Latn-UZ" sz="900" noProof="0" dirty="0" smtClean="0">
                          <a:effectLst/>
                          <a:latin typeface="+mn-lt"/>
                          <a:ea typeface="Calibri" panose="020F0502020204030204" pitchFamily="34" charset="0"/>
                          <a:cs typeface="Times New Roman" panose="02020603050405020304" pitchFamily="18" charset="0"/>
                        </a:rPr>
                        <a:t> Мусиқали драма актрисаси</a:t>
                      </a: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811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811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Latn-UZ" sz="900" kern="1200" noProof="0" dirty="0" smtClean="0">
                          <a:solidFill>
                            <a:schemeClr val="tx1"/>
                          </a:solidFill>
                          <a:effectLst/>
                          <a:latin typeface="+mn-lt"/>
                          <a:ea typeface="Calibri" panose="020F0502020204030204" pitchFamily="34" charset="0"/>
                          <a:cs typeface="Times New Roman" panose="02020603050405020304" pitchFamily="18" charset="0"/>
                        </a:rPr>
                        <a:t>Олмаган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624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576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365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96243">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19</a:t>
                      </a:r>
                      <a:r>
                        <a:rPr lang="uz-Latn-UZ" sz="900" noProof="0" dirty="0" smtClean="0">
                          <a:effectLst/>
                          <a:latin typeface="+mn-lt"/>
                          <a:ea typeface="Calibri" panose="020F0502020204030204" pitchFamily="34" charset="0"/>
                          <a:cs typeface="Times New Roman" panose="02020603050405020304" pitchFamily="18" charset="0"/>
                        </a:rPr>
                        <a:t>91</a:t>
                      </a:r>
                      <a:r>
                        <a:rPr lang="uz-Cyrl-UZ" sz="900" noProof="0" dirty="0" smtClean="0">
                          <a:effectLst/>
                          <a:latin typeface="+mn-lt"/>
                          <a:ea typeface="Calibri" panose="020F0502020204030204" pitchFamily="34" charset="0"/>
                          <a:cs typeface="Times New Roman" panose="02020603050405020304" pitchFamily="18" charset="0"/>
                        </a:rPr>
                        <a:t>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a:t>
                      </a:r>
                      <a:r>
                        <a:rPr lang="uz-Latn-UZ" sz="900" noProof="0" dirty="0" smtClean="0">
                          <a:effectLst/>
                          <a:latin typeface="+mn-lt"/>
                          <a:ea typeface="Calibri" panose="020F0502020204030204" pitchFamily="34" charset="0"/>
                          <a:cs typeface="Times New Roman" panose="02020603050405020304" pitchFamily="18" charset="0"/>
                        </a:rPr>
                        <a:t>23</a:t>
                      </a:r>
                      <a:r>
                        <a:rPr lang="uz-Cyrl-UZ" sz="900" noProof="0" dirty="0" smtClean="0">
                          <a:effectLst/>
                          <a:latin typeface="+mn-lt"/>
                          <a:ea typeface="Calibri" panose="020F0502020204030204" pitchFamily="34" charset="0"/>
                          <a:cs typeface="Times New Roman" panose="02020603050405020304" pitchFamily="18" charset="0"/>
                        </a:rPr>
                        <a:t> й. “Дўстлик” ордени соҳиб</a:t>
                      </a:r>
                      <a:r>
                        <a:rPr lang="uz-Latn-UZ" sz="900" noProof="0" dirty="0" smtClean="0">
                          <a:effectLst/>
                          <a:latin typeface="+mn-lt"/>
                          <a:ea typeface="Calibri" panose="020F0502020204030204" pitchFamily="34" charset="0"/>
                          <a:cs typeface="Times New Roman" panose="02020603050405020304" pitchFamily="18" charset="0"/>
                        </a:rPr>
                        <a:t>аси</a:t>
                      </a: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6"/>
          <a:ext cx="2817247" cy="5827644"/>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algn="just">
                        <a:lnSpc>
                          <a:spcPct val="85000"/>
                        </a:lnSpc>
                      </a:pPr>
                      <a:r>
                        <a:rPr lang="uz-Cyrl-UZ" sz="900" b="0" noProof="0" dirty="0" smtClean="0">
                          <a:solidFill>
                            <a:schemeClr val="tx1"/>
                          </a:solidFill>
                          <a:latin typeface="+mn-lt"/>
                        </a:rPr>
                        <a:t>У </a:t>
                      </a:r>
                      <a:r>
                        <a:rPr lang="uz-Cyrl-UZ" sz="900" b="0" kern="1200" noProof="0" dirty="0" smtClean="0">
                          <a:solidFill>
                            <a:schemeClr val="tx1"/>
                          </a:solidFill>
                          <a:latin typeface="+mn-lt"/>
                          <a:ea typeface="+mn-ea"/>
                          <a:cs typeface="+mn-cs"/>
                        </a:rPr>
                        <a:t>кўплаб турли жанрдаги саҳна асарларида бетакрор  образларни мукаммал даражада бадиий талқин қилиб, мутахассислар ва кенг жамоатчиликни эътиборини қозон</a:t>
                      </a:r>
                      <a:r>
                        <a:rPr lang="uz-Latn-UZ" sz="900" b="0" kern="1200" noProof="0" dirty="0" smtClean="0">
                          <a:solidFill>
                            <a:schemeClr val="tx1"/>
                          </a:solidFill>
                          <a:latin typeface="+mn-lt"/>
                          <a:ea typeface="+mn-ea"/>
                          <a:cs typeface="+mn-cs"/>
                        </a:rPr>
                        <a:t>ган</a:t>
                      </a:r>
                      <a:r>
                        <a:rPr lang="uz-Cyrl-UZ" sz="900" b="0" kern="1200" noProof="0" dirty="0" smtClean="0">
                          <a:solidFill>
                            <a:schemeClr val="tx1"/>
                          </a:solidFill>
                          <a:latin typeface="+mn-lt"/>
                          <a:ea typeface="+mn-ea"/>
                          <a:cs typeface="+mn-cs"/>
                        </a:rPr>
                        <a:t>.</a:t>
                      </a:r>
                    </a:p>
                    <a:p>
                      <a:pPr algn="just">
                        <a:lnSpc>
                          <a:spcPct val="85000"/>
                        </a:lnSpc>
                      </a:pPr>
                      <a:r>
                        <a:rPr lang="uz-Cyrl-UZ" sz="900" b="0" noProof="0" dirty="0" smtClean="0">
                          <a:solidFill>
                            <a:schemeClr val="tx1"/>
                          </a:solidFill>
                          <a:latin typeface="+mn-lt"/>
                        </a:rPr>
                        <a:t>    </a:t>
                      </a:r>
                      <a:r>
                        <a:rPr lang="uz-Latn-UZ" sz="900" b="0" kern="1200" noProof="0" dirty="0" smtClean="0">
                          <a:solidFill>
                            <a:schemeClr val="tx1"/>
                          </a:solidFill>
                          <a:latin typeface="+mn-lt"/>
                          <a:ea typeface="+mn-ea"/>
                          <a:cs typeface="+mn-cs"/>
                        </a:rPr>
                        <a:t>О</a:t>
                      </a:r>
                      <a:r>
                        <a:rPr lang="uz-Cyrl-UZ" sz="900" b="0" kern="1200" noProof="0" dirty="0" smtClean="0">
                          <a:solidFill>
                            <a:schemeClr val="tx1"/>
                          </a:solidFill>
                          <a:latin typeface="+mn-lt"/>
                          <a:ea typeface="+mn-ea"/>
                          <a:cs typeface="+mn-cs"/>
                        </a:rPr>
                        <a:t>зарбойжон драматруги М.Шамхаловнинг “Асилзода келин”(Қайнона) асарида Жаннат хола, офат ролларида, Х.Ниёзийнинг Бой ила хизматчи асарида “Хожи она”, Холисхон спектаклида “Гулжон”, Чингиз Айтматовнинг “Оқ кема” асарида “Кампир”, А.Минулиннинг “Алла” асарида “Вазифахон”, Туроб Мақсуднинг “Совуқ шамол абадий эсмайди” асарида “Зухра”, Насрулло Қобулнинг “Машраб” асарида-“Хоннинг энагаси”, Аёллар гапидан чиққан хангома асарида “Саломат”, Ўрмон хангомасида “Жодугар”, Одил Ёқубовнинг “Авлодларга васият” асарида-Бибисардор, Холиқ Хурсандовнинг “Ўлдинг-азиз бўлдинг” асарида “</a:t>
                      </a:r>
                      <a:r>
                        <a:rPr lang="uz-Latn-UZ" sz="900" b="0" kern="1200" noProof="0" dirty="0" smtClean="0">
                          <a:solidFill>
                            <a:schemeClr val="tx1"/>
                          </a:solidFill>
                          <a:latin typeface="+mn-lt"/>
                          <a:ea typeface="+mn-ea"/>
                          <a:cs typeface="+mn-cs"/>
                        </a:rPr>
                        <a:t> </a:t>
                      </a:r>
                      <a:r>
                        <a:rPr lang="uz-Cyrl-UZ" sz="900" b="0" kern="1200" noProof="0" dirty="0" smtClean="0">
                          <a:solidFill>
                            <a:schemeClr val="tx1"/>
                          </a:solidFill>
                          <a:latin typeface="+mn-lt"/>
                          <a:ea typeface="+mn-ea"/>
                          <a:cs typeface="+mn-cs"/>
                        </a:rPr>
                        <a:t>Ойдона</a:t>
                      </a:r>
                      <a:r>
                        <a:rPr lang="uz-Latn-UZ" sz="900" b="0" kern="1200" noProof="0" dirty="0" smtClean="0">
                          <a:solidFill>
                            <a:schemeClr val="tx1"/>
                          </a:solidFill>
                          <a:latin typeface="+mn-lt"/>
                          <a:ea typeface="+mn-ea"/>
                          <a:cs typeface="+mn-cs"/>
                        </a:rPr>
                        <a:t> ролларини мохирона ўйнаб,</a:t>
                      </a:r>
                      <a:r>
                        <a:rPr lang="uz-Cyrl-UZ" sz="900" b="0" kern="1200" noProof="0" dirty="0" smtClean="0">
                          <a:solidFill>
                            <a:schemeClr val="tx1"/>
                          </a:solidFill>
                          <a:latin typeface="+mn-lt"/>
                          <a:ea typeface="+mn-ea"/>
                          <a:cs typeface="+mn-cs"/>
                        </a:rPr>
                        <a:t> </a:t>
                      </a:r>
                      <a:r>
                        <a:rPr lang="uz-Latn-UZ" sz="900" b="0" kern="1200" noProof="0" dirty="0" smtClean="0">
                          <a:solidFill>
                            <a:schemeClr val="tx1"/>
                          </a:solidFill>
                          <a:latin typeface="+mn-lt"/>
                          <a:ea typeface="+mn-ea"/>
                          <a:cs typeface="+mn-cs"/>
                        </a:rPr>
                        <a:t>театр санъатини ривожига </a:t>
                      </a:r>
                      <a:r>
                        <a:rPr lang="uz-Cyrl-UZ" sz="900" b="0" noProof="0" dirty="0" smtClean="0">
                          <a:solidFill>
                            <a:schemeClr val="tx1"/>
                          </a:solidFill>
                          <a:latin typeface="+mn-lt"/>
                        </a:rPr>
                        <a:t>ҳисса қўшди. </a:t>
                      </a:r>
                    </a:p>
                    <a:p>
                      <a:pPr algn="just">
                        <a:lnSpc>
                          <a:spcPct val="85000"/>
                        </a:lnSpc>
                      </a:pPr>
                      <a:r>
                        <a:rPr lang="uz-Cyrl-UZ" sz="900" b="0" noProof="0" dirty="0" smtClean="0">
                          <a:solidFill>
                            <a:schemeClr val="tx1"/>
                          </a:solidFill>
                          <a:latin typeface="+mn-lt"/>
                        </a:rPr>
                        <a:t>    Дунёнинг кўплаб мамлакатларида, </a:t>
                      </a:r>
                      <a:r>
                        <a:rPr lang="uz-Latn-UZ" sz="900" b="0" noProof="0" dirty="0" smtClean="0">
                          <a:solidFill>
                            <a:schemeClr val="tx1"/>
                          </a:solidFill>
                          <a:latin typeface="+mn-lt"/>
                        </a:rPr>
                        <a:t>Қозоғистон</a:t>
                      </a:r>
                      <a:r>
                        <a:rPr lang="uz-Cyrl-UZ" sz="900" b="0" noProof="0" dirty="0" smtClean="0">
                          <a:solidFill>
                            <a:schemeClr val="tx1"/>
                          </a:solidFill>
                          <a:latin typeface="+mn-lt"/>
                        </a:rPr>
                        <a:t>, Туркия давлатларида ижодий сафарларда бўлиб, ўзбек санъати довруғини дунёга танитган.</a:t>
                      </a:r>
                    </a:p>
                    <a:p>
                      <a:pPr algn="just">
                        <a:lnSpc>
                          <a:spcPct val="85000"/>
                        </a:lnSpc>
                      </a:pPr>
                      <a:r>
                        <a:rPr lang="uz-Cyrl-UZ" sz="900" b="0" noProof="0" dirty="0" smtClean="0">
                          <a:solidFill>
                            <a:schemeClr val="tx1"/>
                          </a:solidFill>
                          <a:latin typeface="+mn-lt"/>
                        </a:rPr>
                        <a:t>    </a:t>
                      </a:r>
                      <a:r>
                        <a:rPr lang="uz-Latn-UZ" sz="900" b="0" noProof="0" dirty="0" smtClean="0">
                          <a:solidFill>
                            <a:schemeClr val="tx1"/>
                          </a:solidFill>
                          <a:latin typeface="+mn-lt"/>
                        </a:rPr>
                        <a:t>Эштўхтарова Олия ХХХ 50</a:t>
                      </a:r>
                      <a:r>
                        <a:rPr lang="uz-Cyrl-UZ" sz="900" b="0" noProof="0" dirty="0" smtClean="0">
                          <a:solidFill>
                            <a:schemeClr val="tx1"/>
                          </a:solidFill>
                          <a:latin typeface="+mn-lt"/>
                        </a:rPr>
                        <a:t> йилдирки, </a:t>
                      </a:r>
                      <a:r>
                        <a:rPr lang="uz-Latn-UZ" sz="900" b="0" noProof="0" dirty="0" smtClean="0">
                          <a:solidFill>
                            <a:schemeClr val="tx1"/>
                          </a:solidFill>
                          <a:latin typeface="+mn-lt"/>
                        </a:rPr>
                        <a:t>Драма театрида театр </a:t>
                      </a:r>
                      <a:r>
                        <a:rPr lang="uz-Cyrl-UZ" sz="900" b="0" noProof="0" dirty="0" smtClean="0">
                          <a:solidFill>
                            <a:schemeClr val="tx1"/>
                          </a:solidFill>
                          <a:latin typeface="+mn-lt"/>
                        </a:rPr>
                        <a:t>санъати ривожига улкан ҳисса қўшиб келаётган </a:t>
                      </a:r>
                      <a:r>
                        <a:rPr lang="uz-Latn-UZ" sz="900" b="0" noProof="0" dirty="0" smtClean="0">
                          <a:solidFill>
                            <a:schemeClr val="tx1"/>
                          </a:solidFill>
                          <a:latin typeface="+mn-lt"/>
                        </a:rPr>
                        <a:t>фахрли</a:t>
                      </a:r>
                      <a:r>
                        <a:rPr lang="uz-Cyrl-UZ" sz="900" b="0" noProof="0" dirty="0" smtClean="0">
                          <a:solidFill>
                            <a:schemeClr val="tx1"/>
                          </a:solidFill>
                          <a:latin typeface="+mn-lt"/>
                        </a:rPr>
                        <a:t> санъаткордир.</a:t>
                      </a:r>
                    </a:p>
                    <a:p>
                      <a:pPr algn="just">
                        <a:lnSpc>
                          <a:spcPct val="85000"/>
                        </a:lnSpc>
                      </a:pPr>
                      <a:r>
                        <a:rPr lang="uz-Latn-UZ" sz="900" b="0" noProof="0" dirty="0" smtClean="0">
                          <a:solidFill>
                            <a:schemeClr val="tx1"/>
                          </a:solidFill>
                          <a:latin typeface="+mn-lt"/>
                        </a:rPr>
                        <a:t>Эштўхтарова Олия ХХХ </a:t>
                      </a:r>
                      <a:r>
                        <a:rPr lang="uz-Cyrl-UZ" sz="900" b="0" noProof="0" dirty="0" smtClean="0">
                          <a:solidFill>
                            <a:schemeClr val="tx1"/>
                          </a:solidFill>
                          <a:latin typeface="+mn-lt"/>
                        </a:rPr>
                        <a:t>бир қанча бадиий фильмларга ҳам </a:t>
                      </a:r>
                      <a:r>
                        <a:rPr lang="uz-Latn-UZ" sz="900" b="0" noProof="0" dirty="0" smtClean="0">
                          <a:solidFill>
                            <a:schemeClr val="tx1"/>
                          </a:solidFill>
                          <a:latin typeface="+mn-lt"/>
                        </a:rPr>
                        <a:t>рол ўйна</a:t>
                      </a:r>
                      <a:r>
                        <a:rPr lang="uz-Cyrl-UZ" sz="900" b="0" noProof="0" dirty="0" smtClean="0">
                          <a:solidFill>
                            <a:schemeClr val="tx1"/>
                          </a:solidFill>
                          <a:latin typeface="+mn-lt"/>
                        </a:rPr>
                        <a:t>ган.</a:t>
                      </a:r>
                    </a:p>
                    <a:p>
                      <a:pPr algn="just">
                        <a:lnSpc>
                          <a:spcPct val="85000"/>
                        </a:lnSpc>
                      </a:pPr>
                      <a:r>
                        <a:rPr lang="uz-Cyrl-UZ" sz="900" b="0" noProof="0" dirty="0" smtClean="0">
                          <a:solidFill>
                            <a:schemeClr val="tx1"/>
                          </a:solidFill>
                          <a:latin typeface="+mn-lt"/>
                        </a:rPr>
                        <a:t>    </a:t>
                      </a:r>
                      <a:r>
                        <a:rPr lang="uz-Latn-UZ" sz="900" b="0" noProof="0" dirty="0" smtClean="0">
                          <a:solidFill>
                            <a:schemeClr val="tx1"/>
                          </a:solidFill>
                          <a:latin typeface="+mn-lt"/>
                        </a:rPr>
                        <a:t>О.Эштўхтарова </a:t>
                      </a:r>
                      <a:r>
                        <a:rPr lang="uz-Cyrl-UZ" sz="900" b="0" noProof="0" dirty="0" smtClean="0">
                          <a:solidFill>
                            <a:schemeClr val="tx1"/>
                          </a:solidFill>
                          <a:latin typeface="+mn-lt"/>
                        </a:rPr>
                        <a:t>тиниб тинчимас ижодкорлардан биридир. У</a:t>
                      </a:r>
                      <a:r>
                        <a:rPr lang="uz-Latn-UZ" sz="900" b="0" noProof="0" dirty="0" smtClean="0">
                          <a:solidFill>
                            <a:schemeClr val="tx1"/>
                          </a:solidFill>
                          <a:latin typeface="+mn-lt"/>
                        </a:rPr>
                        <a:t> Жиззах вилояти Маданият бошқармасига қарашли коллеж</a:t>
                      </a:r>
                      <a:r>
                        <a:rPr lang="uz-Latn-UZ" sz="900" b="0" baseline="0" noProof="0" dirty="0" smtClean="0">
                          <a:solidFill>
                            <a:schemeClr val="tx1"/>
                          </a:solidFill>
                          <a:latin typeface="+mn-lt"/>
                        </a:rPr>
                        <a:t> ва лицейларда ёшларга сахна нутқидан дарс бериб, ёшларни сахнада нутқини ривожлантиришга ўз хиссасини қўшиб келмоқда</a:t>
                      </a:r>
                      <a:r>
                        <a:rPr lang="uz-Cyrl-UZ" sz="900" b="0" noProof="0" dirty="0" smtClean="0">
                          <a:solidFill>
                            <a:schemeClr val="tx1"/>
                          </a:solidFill>
                          <a:latin typeface="+mn-lt"/>
                        </a:rPr>
                        <a:t>.  </a:t>
                      </a:r>
                    </a:p>
                    <a:p>
                      <a:pPr algn="just">
                        <a:lnSpc>
                          <a:spcPct val="85000"/>
                        </a:lnSpc>
                      </a:pPr>
                      <a:r>
                        <a:rPr lang="uz-Cyrl-UZ" sz="900" b="0" noProof="0" dirty="0" smtClean="0">
                          <a:solidFill>
                            <a:schemeClr val="tx1"/>
                          </a:solidFill>
                          <a:latin typeface="+mn-lt"/>
                        </a:rPr>
                        <a:t>    Унинг </a:t>
                      </a:r>
                      <a:r>
                        <a:rPr lang="uz-Latn-UZ" sz="900" b="0" noProof="0" dirty="0" smtClean="0">
                          <a:solidFill>
                            <a:schemeClr val="tx1"/>
                          </a:solidFill>
                          <a:latin typeface="+mn-lt"/>
                        </a:rPr>
                        <a:t>100</a:t>
                      </a:r>
                      <a:r>
                        <a:rPr lang="uz-Cyrl-UZ" sz="900" b="0" noProof="0" dirty="0" smtClean="0">
                          <a:solidFill>
                            <a:schemeClr val="tx1"/>
                          </a:solidFill>
                          <a:latin typeface="+mn-lt"/>
                        </a:rPr>
                        <a:t> дан ортиқ </a:t>
                      </a:r>
                      <a:r>
                        <a:rPr lang="uz-Latn-UZ" sz="900" b="0" noProof="0" dirty="0" smtClean="0">
                          <a:solidFill>
                            <a:schemeClr val="tx1"/>
                          </a:solidFill>
                          <a:latin typeface="+mn-lt"/>
                        </a:rPr>
                        <a:t>роллари</a:t>
                      </a:r>
                      <a:r>
                        <a:rPr lang="uz-Cyrl-UZ" sz="900" b="0" noProof="0" dirty="0" smtClean="0">
                          <a:solidFill>
                            <a:schemeClr val="tx1"/>
                          </a:solidFill>
                          <a:latin typeface="+mn-lt"/>
                        </a:rPr>
                        <a:t> Ўзбекистон </a:t>
                      </a:r>
                      <a:r>
                        <a:rPr lang="uz-Latn-UZ" sz="900" b="0" noProof="0" dirty="0" smtClean="0">
                          <a:solidFill>
                            <a:schemeClr val="tx1"/>
                          </a:solidFill>
                          <a:latin typeface="+mn-lt"/>
                        </a:rPr>
                        <a:t>драма театри </a:t>
                      </a:r>
                      <a:r>
                        <a:rPr lang="uz-Cyrl-UZ" sz="900" b="0" noProof="0" dirty="0" smtClean="0">
                          <a:solidFill>
                            <a:schemeClr val="tx1"/>
                          </a:solidFill>
                          <a:latin typeface="+mn-lt"/>
                        </a:rPr>
                        <a:t>“Олтин фонди” да сақланиб келмоқда. </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smtClean="0">
                          <a:effectLst/>
                          <a:latin typeface="+mn-lt"/>
                          <a:ea typeface="Calibri" panose="020F0502020204030204" pitchFamily="34" charset="0"/>
                          <a:cs typeface="Times New Roman" panose="02020603050405020304" pitchFamily="18" charset="0"/>
                        </a:rPr>
                        <a:t>Республикамизда</a:t>
                      </a:r>
                      <a:r>
                        <a:rPr lang="uz-Cyrl-UZ" sz="8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a:t>
                      </a:r>
                      <a:r>
                        <a:rPr lang="uz-Latn-UZ" sz="800" b="0" baseline="0" dirty="0" smtClean="0">
                          <a:effectLst/>
                          <a:latin typeface="+mn-lt"/>
                          <a:ea typeface="Calibri" panose="020F0502020204030204" pitchFamily="34" charset="0"/>
                          <a:cs typeface="Times New Roman" panose="02020603050405020304" pitchFamily="18" charset="0"/>
                        </a:rPr>
                        <a:t> ва фаол </a:t>
                      </a:r>
                      <a:r>
                        <a:rPr lang="uz-Cyrl-UZ" sz="800" b="0" baseline="0" dirty="0" smtClean="0">
                          <a:effectLst/>
                          <a:latin typeface="+mn-lt"/>
                          <a:ea typeface="Calibri" panose="020F0502020204030204" pitchFamily="34" charset="0"/>
                          <a:cs typeface="Times New Roman" panose="02020603050405020304" pitchFamily="18" charset="0"/>
                        </a:rPr>
                        <a:t>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p:nvPr/>
        </p:nvPicPr>
        <p:blipFill>
          <a:blip r:embed="rId2" cstate="print"/>
          <a:srcRect/>
          <a:stretch>
            <a:fillRect/>
          </a:stretch>
        </p:blipFill>
        <p:spPr bwMode="auto">
          <a:xfrm>
            <a:off x="232027" y="1104900"/>
            <a:ext cx="974474" cy="1170600"/>
          </a:xfrm>
          <a:prstGeom prst="rect">
            <a:avLst/>
          </a:prstGeom>
          <a:noFill/>
          <a:ln w="9525">
            <a:noFill/>
            <a:miter lim="800000"/>
            <a:headEnd/>
            <a:tailEnd/>
          </a:ln>
        </p:spPr>
      </p:pic>
    </p:spTree>
    <p:extLst>
      <p:ext uri="{BB962C8B-B14F-4D97-AF65-F5344CB8AC3E}">
        <p14:creationId xmlns:p14="http://schemas.microsoft.com/office/powerpoint/2010/main" val="559366034"/>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1600" b="1" dirty="0" smtClean="0">
                <a:solidFill>
                  <a:srgbClr val="002060"/>
                </a:solidFill>
                <a:latin typeface="Bahnschrift SemiBold" panose="020B0502040204020203" pitchFamily="34" charset="0"/>
              </a:rPr>
              <a:t>ТЕАТР ЙЎНАЛИШИ СОҲА ВАКИЛЛАРИ (ТОП-100)</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934812"/>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err="1" smtClean="0">
                          <a:solidFill>
                            <a:schemeClr val="tx1"/>
                          </a:solidFill>
                          <a:latin typeface="+mn-lt"/>
                          <a:ea typeface="+mn-ea"/>
                          <a:cs typeface="+mn-cs"/>
                        </a:rPr>
                        <a:t>Исроилов</a:t>
                      </a:r>
                      <a:r>
                        <a:rPr lang="ru-RU" sz="900" b="0" kern="1200" dirty="0" smtClean="0">
                          <a:solidFill>
                            <a:schemeClr val="tx1"/>
                          </a:solidFill>
                          <a:latin typeface="+mn-lt"/>
                          <a:ea typeface="+mn-ea"/>
                          <a:cs typeface="+mn-cs"/>
                        </a:rPr>
                        <a:t>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err="1" smtClean="0">
                          <a:solidFill>
                            <a:schemeClr val="tx1"/>
                          </a:solidFill>
                          <a:latin typeface="+mn-lt"/>
                          <a:ea typeface="+mn-ea"/>
                          <a:cs typeface="+mn-cs"/>
                        </a:rPr>
                        <a:t>Джўра</a:t>
                      </a:r>
                      <a:r>
                        <a:rPr lang="uz-Latn-UZ" sz="800" b="0" kern="1200" dirty="0" smtClean="0">
                          <a:solidFill>
                            <a:schemeClr val="tx1"/>
                          </a:solidFill>
                          <a:latin typeface="+mn-lt"/>
                          <a:ea typeface="+mn-ea"/>
                          <a:cs typeface="+mn-cs"/>
                        </a:rPr>
                        <a:t> </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smtClean="0">
                          <a:latin typeface="+mn-lt"/>
                        </a:rPr>
                        <a:t>Отасининг </a:t>
                      </a: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800" b="0" kern="1200" dirty="0" err="1" smtClean="0">
                          <a:solidFill>
                            <a:schemeClr val="tx1"/>
                          </a:solidFill>
                          <a:latin typeface="+mn-lt"/>
                          <a:ea typeface="+mn-ea"/>
                          <a:cs typeface="+mn-cs"/>
                        </a:rPr>
                        <a:t>Исмоилович</a:t>
                      </a:r>
                      <a:r>
                        <a:rPr lang="uz-Latn-UZ" sz="800" b="0" kern="1200" dirty="0" smtClean="0">
                          <a:solidFill>
                            <a:schemeClr val="tx1"/>
                          </a:solidFill>
                          <a:latin typeface="+mn-lt"/>
                          <a:ea typeface="+mn-ea"/>
                          <a:cs typeface="+mn-cs"/>
                        </a:rPr>
                        <a:t> </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Latn-UZ" sz="800" b="0" kern="1200" dirty="0" smtClean="0">
                          <a:solidFill>
                            <a:schemeClr val="tx1"/>
                          </a:solidFill>
                          <a:latin typeface="+mn-lt"/>
                          <a:ea typeface="+mn-ea"/>
                          <a:cs typeface="+mn-cs"/>
                        </a:rPr>
                        <a:t>21</a:t>
                      </a:r>
                      <a:r>
                        <a:rPr lang="ru-RU" sz="800" b="0" kern="1200" dirty="0" smtClean="0">
                          <a:solidFill>
                            <a:schemeClr val="tx1"/>
                          </a:solidFill>
                          <a:latin typeface="+mn-lt"/>
                          <a:ea typeface="+mn-ea"/>
                          <a:cs typeface="+mn-cs"/>
                        </a:rPr>
                        <a:t>.</a:t>
                      </a:r>
                      <a:r>
                        <a:rPr lang="uz-Latn-UZ" sz="800" b="0" kern="1200" dirty="0" smtClean="0">
                          <a:solidFill>
                            <a:schemeClr val="tx1"/>
                          </a:solidFill>
                          <a:latin typeface="+mn-lt"/>
                          <a:ea typeface="+mn-ea"/>
                          <a:cs typeface="+mn-cs"/>
                        </a:rPr>
                        <a:t>05</a:t>
                      </a:r>
                      <a:r>
                        <a:rPr lang="ru-RU" sz="800" b="0" kern="1200" dirty="0" smtClean="0">
                          <a:solidFill>
                            <a:schemeClr val="tx1"/>
                          </a:solidFill>
                          <a:latin typeface="+mn-lt"/>
                          <a:ea typeface="+mn-ea"/>
                          <a:cs typeface="+mn-cs"/>
                        </a:rPr>
                        <a:t>.19</a:t>
                      </a:r>
                      <a:r>
                        <a:rPr lang="uz-Latn-UZ" sz="800" b="0" kern="1200" dirty="0" smtClean="0">
                          <a:solidFill>
                            <a:schemeClr val="tx1"/>
                          </a:solidFill>
                          <a:latin typeface="+mn-lt"/>
                          <a:ea typeface="+mn-ea"/>
                          <a:cs typeface="+mn-cs"/>
                        </a:rPr>
                        <a:t>55</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Latn-UZ" sz="800" b="0" kern="1200" dirty="0" smtClean="0">
                          <a:solidFill>
                            <a:schemeClr val="tx1"/>
                          </a:solidFill>
                          <a:latin typeface="+mn-lt"/>
                          <a:ea typeface="+mn-ea"/>
                          <a:cs typeface="+mn-cs"/>
                        </a:rPr>
                        <a:t>Қозоғистон Рес. Чимкент вилоятида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Latn-UZ" sz="900" b="0" kern="1200" noProof="0" dirty="0" smtClean="0">
                          <a:solidFill>
                            <a:schemeClr val="tx1"/>
                          </a:solidFill>
                          <a:latin typeface="+mn-lt"/>
                          <a:ea typeface="+mn-ea"/>
                          <a:cs typeface="+mn-cs"/>
                        </a:rPr>
                        <a:t>Оилали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Исроилов Исмоил Исроилович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a:t>
                      </a:r>
                      <a:r>
                        <a:rPr lang="uz-Latn-UZ" sz="900" b="0" kern="1200" noProof="0" dirty="0" smtClean="0">
                          <a:solidFill>
                            <a:schemeClr val="tx1"/>
                          </a:solidFill>
                          <a:latin typeface="+mn-lt"/>
                          <a:ea typeface="+mn-ea"/>
                          <a:cs typeface="Arial" panose="020B0604020202020204" pitchFamily="34" charset="0"/>
                        </a:rPr>
                        <a:t>29</a:t>
                      </a:r>
                      <a:r>
                        <a:rPr lang="uz-Cyrl-UZ" sz="900" b="0" kern="1200" noProof="0" dirty="0" smtClean="0">
                          <a:solidFill>
                            <a:schemeClr val="tx1"/>
                          </a:solidFill>
                          <a:latin typeface="+mn-lt"/>
                          <a:ea typeface="+mn-ea"/>
                          <a:cs typeface="Arial" panose="020B0604020202020204" pitchFamily="34" charset="0"/>
                        </a:rPr>
                        <a:t> йил, </a:t>
                      </a:r>
                      <a:r>
                        <a:rPr lang="uz-Latn-UZ" sz="900" b="0" kern="1200" noProof="0" dirty="0" smtClean="0">
                          <a:solidFill>
                            <a:schemeClr val="tx1"/>
                          </a:solidFill>
                          <a:latin typeface="+mn-lt"/>
                          <a:ea typeface="+mn-ea"/>
                          <a:cs typeface="Arial" panose="020B0604020202020204" pitchFamily="34" charset="0"/>
                        </a:rPr>
                        <a:t>Қозоғистон</a:t>
                      </a:r>
                      <a:endParaRPr lang="uz-Cyrl-UZ" sz="900" b="0" kern="1200" noProof="0" dirty="0" smtClean="0">
                        <a:solidFill>
                          <a:schemeClr val="tx1"/>
                        </a:solidFill>
                        <a:latin typeface="+mn-lt"/>
                        <a:ea typeface="+mn-ea"/>
                        <a:cs typeface="Arial" panose="020B0604020202020204" pitchFamily="34" charset="0"/>
                      </a:endParaRP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a:t>
                      </a:r>
                      <a:r>
                        <a:rPr lang="uz-Latn-UZ" sz="900" b="0" kern="1200" noProof="0" dirty="0" smtClean="0">
                          <a:solidFill>
                            <a:schemeClr val="tx1"/>
                          </a:solidFill>
                          <a:latin typeface="+mn-lt"/>
                          <a:ea typeface="+mn-ea"/>
                          <a:cs typeface="Arial" panose="020B0604020202020204" pitchFamily="34" charset="0"/>
                        </a:rPr>
                        <a:t>94</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Latn-UZ" sz="900" b="0" kern="1200" noProof="0" dirty="0" smtClean="0">
                          <a:solidFill>
                            <a:schemeClr val="tx1"/>
                          </a:solidFill>
                          <a:latin typeface="+mn-lt"/>
                          <a:ea typeface="+mn-ea"/>
                          <a:cs typeface="Arial" panose="020B0604020202020204" pitchFamily="34" charset="0"/>
                        </a:rPr>
                        <a:t>Ўқитувчи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Latn-UZ" sz="900" b="1" kern="1200" noProof="0" dirty="0" smtClean="0">
                          <a:solidFill>
                            <a:schemeClr val="tx1"/>
                          </a:solidFill>
                          <a:latin typeface="+mn-lt"/>
                          <a:ea typeface="+mn-ea"/>
                          <a:cs typeface="Arial" panose="020B0604020202020204" pitchFamily="34" charset="0"/>
                        </a:rPr>
                        <a:t>Хўжаева Ёқут Хўжаевна</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a:t>
                      </a:r>
                      <a:r>
                        <a:rPr lang="uz-Latn-UZ" sz="900" b="0" kern="1200" noProof="0" dirty="0" smtClean="0">
                          <a:solidFill>
                            <a:schemeClr val="tx1"/>
                          </a:solidFill>
                          <a:latin typeface="+mn-lt"/>
                          <a:ea typeface="+mn-ea"/>
                          <a:cs typeface="Arial" panose="020B0604020202020204" pitchFamily="34" charset="0"/>
                        </a:rPr>
                        <a:t>36</a:t>
                      </a:r>
                      <a:r>
                        <a:rPr lang="uz-Cyrl-UZ" sz="900" b="0" kern="1200" noProof="0" dirty="0" smtClean="0">
                          <a:solidFill>
                            <a:schemeClr val="tx1"/>
                          </a:solidFill>
                          <a:latin typeface="+mn-lt"/>
                          <a:ea typeface="+mn-ea"/>
                          <a:cs typeface="Arial" panose="020B0604020202020204" pitchFamily="34" charset="0"/>
                        </a:rPr>
                        <a:t> йил, </a:t>
                      </a:r>
                      <a:r>
                        <a:rPr lang="uz-Latn-UZ" sz="900" b="0" kern="1200" noProof="0" dirty="0" smtClean="0">
                          <a:solidFill>
                            <a:schemeClr val="tx1"/>
                          </a:solidFill>
                          <a:latin typeface="+mn-lt"/>
                          <a:ea typeface="+mn-ea"/>
                          <a:cs typeface="Arial" panose="020B0604020202020204" pitchFamily="34" charset="0"/>
                        </a:rPr>
                        <a:t>Қозоғистон</a:t>
                      </a:r>
                      <a:endParaRPr lang="uz-Cyrl-UZ" sz="900" b="0"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Latn-UZ" sz="900" b="0" kern="1200" noProof="0" dirty="0" smtClean="0">
                          <a:solidFill>
                            <a:schemeClr val="tx1"/>
                          </a:solidFill>
                          <a:latin typeface="+mn-lt"/>
                          <a:ea typeface="+mn-ea"/>
                          <a:cs typeface="Arial" panose="020B0604020202020204" pitchFamily="34" charset="0"/>
                        </a:rPr>
                        <a:t>2005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uz-Latn-UZ" sz="900" b="0" kern="1200" noProof="0" dirty="0" smtClean="0">
                          <a:solidFill>
                            <a:schemeClr val="tx1"/>
                          </a:solidFill>
                          <a:latin typeface="+mn-lt"/>
                          <a:ea typeface="+mn-ea"/>
                          <a:cs typeface="Arial" panose="020B0604020202020204" pitchFamily="34" charset="0"/>
                        </a:rPr>
                        <a:t>уй 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Latn-UZ" sz="900" b="1" kern="1200" noProof="0" dirty="0" smtClean="0">
                          <a:solidFill>
                            <a:schemeClr val="tx1"/>
                          </a:solidFill>
                          <a:latin typeface="+mn-lt"/>
                          <a:ea typeface="+mn-ea"/>
                          <a:cs typeface="Arial" panose="020B0604020202020204" pitchFamily="34" charset="0"/>
                        </a:rPr>
                        <a:t>Мухторова Мушарраф</a:t>
                      </a:r>
                    </a:p>
                    <a:p>
                      <a:pPr algn="l">
                        <a:lnSpc>
                          <a:spcPct val="85000"/>
                        </a:lnSpc>
                      </a:pPr>
                      <a:r>
                        <a:rPr lang="uz-Latn-UZ" sz="900" b="0" kern="1200" noProof="0" dirty="0" smtClean="0">
                          <a:solidFill>
                            <a:schemeClr val="tx1"/>
                          </a:solidFill>
                          <a:latin typeface="+mn-lt"/>
                          <a:ea typeface="+mn-ea"/>
                          <a:cs typeface="Arial" panose="020B0604020202020204" pitchFamily="34" charset="0"/>
                        </a:rPr>
                        <a:t>1956 йил Тожигистон</a:t>
                      </a:r>
                      <a:r>
                        <a:rPr lang="uz-Latn-UZ" sz="900" b="1" kern="1200" noProof="0" dirty="0" smtClean="0">
                          <a:solidFill>
                            <a:schemeClr val="tx1"/>
                          </a:solidFill>
                          <a:latin typeface="+mn-lt"/>
                          <a:ea typeface="+mn-ea"/>
                          <a:cs typeface="Arial" panose="020B0604020202020204" pitchFamily="34" charset="0"/>
                        </a:rPr>
                        <a:t> </a:t>
                      </a:r>
                      <a:endParaRPr lang="uz-Cyrl-UZ" sz="900" b="1" kern="1200" noProof="0" dirty="0" smtClean="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Latn-UZ" sz="800" b="0" kern="1200" noProof="0" dirty="0" smtClean="0">
                          <a:solidFill>
                            <a:schemeClr val="tx1"/>
                          </a:solidFill>
                          <a:latin typeface="+mn-lt"/>
                          <a:ea typeface="+mn-ea"/>
                          <a:cs typeface="Arial" panose="020B0604020202020204" pitchFamily="34" charset="0"/>
                        </a:rPr>
                        <a:t>2023 </a:t>
                      </a:r>
                      <a:r>
                        <a:rPr lang="ru-RU" sz="800" b="0" kern="1200" noProof="0" dirty="0" err="1" smtClean="0">
                          <a:solidFill>
                            <a:schemeClr val="tx1"/>
                          </a:solidFill>
                          <a:latin typeface="+mn-lt"/>
                          <a:ea typeface="+mn-ea"/>
                          <a:cs typeface="Arial" panose="020B0604020202020204" pitchFamily="34" charset="0"/>
                        </a:rPr>
                        <a:t>йил</a:t>
                      </a:r>
                      <a:r>
                        <a:rPr lang="ru-RU" sz="800" b="0" kern="1200" noProof="0" dirty="0" smtClean="0">
                          <a:solidFill>
                            <a:schemeClr val="tx1"/>
                          </a:solidFill>
                          <a:latin typeface="+mn-lt"/>
                          <a:ea typeface="+mn-ea"/>
                          <a:cs typeface="Arial" panose="020B0604020202020204" pitchFamily="34" charset="0"/>
                        </a:rPr>
                        <a:t> </a:t>
                      </a:r>
                      <a:r>
                        <a:rPr lang="ru-RU" sz="800" b="0" kern="1200" noProof="0" dirty="0" err="1" smtClean="0">
                          <a:solidFill>
                            <a:schemeClr val="tx1"/>
                          </a:solidFill>
                          <a:latin typeface="+mn-lt"/>
                          <a:ea typeface="+mn-ea"/>
                          <a:cs typeface="Arial" panose="020B0604020202020204" pitchFamily="34" charset="0"/>
                        </a:rPr>
                        <a:t>вафот</a:t>
                      </a:r>
                      <a:r>
                        <a:rPr lang="ru-RU" sz="800" b="0" kern="1200" noProof="0" dirty="0" smtClean="0">
                          <a:solidFill>
                            <a:schemeClr val="tx1"/>
                          </a:solidFill>
                          <a:latin typeface="+mn-lt"/>
                          <a:ea typeface="+mn-ea"/>
                          <a:cs typeface="Arial" panose="020B0604020202020204" pitchFamily="34" charset="0"/>
                        </a:rPr>
                        <a:t> </a:t>
                      </a:r>
                      <a:r>
                        <a:rPr lang="ru-RU" sz="800" b="0" kern="1200" noProof="0" dirty="0" err="1" smtClean="0">
                          <a:solidFill>
                            <a:schemeClr val="tx1"/>
                          </a:solidFill>
                          <a:latin typeface="+mn-lt"/>
                          <a:ea typeface="+mn-ea"/>
                          <a:cs typeface="Arial" panose="020B0604020202020204" pitchFamily="34" charset="0"/>
                        </a:rPr>
                        <a:t>этган</a:t>
                      </a:r>
                      <a:endParaRPr lang="ru-RU" sz="800" b="0" kern="1200" noProof="0" dirty="0" smtClean="0">
                        <a:solidFill>
                          <a:schemeClr val="tx1"/>
                        </a:solidFill>
                        <a:latin typeface="+mn-lt"/>
                        <a:ea typeface="+mn-ea"/>
                        <a:cs typeface="Arial" panose="020B0604020202020204" pitchFamily="34" charset="0"/>
                      </a:endParaRPr>
                    </a:p>
                    <a:p>
                      <a:pPr algn="l">
                        <a:lnSpc>
                          <a:spcPct val="85000"/>
                        </a:lnSpc>
                      </a:pPr>
                      <a:r>
                        <a:rPr lang="ru-RU" sz="800" b="0" kern="1200" noProof="0" dirty="0" smtClean="0">
                          <a:solidFill>
                            <a:schemeClr val="tx1"/>
                          </a:solidFill>
                          <a:latin typeface="+mn-lt"/>
                          <a:ea typeface="+mn-ea"/>
                          <a:cs typeface="Arial" panose="020B0604020202020204" pitchFamily="34" charset="0"/>
                        </a:rPr>
                        <a:t>(</a:t>
                      </a:r>
                      <a:r>
                        <a:rPr lang="uz-Latn-UZ" sz="800" b="0" kern="1200" noProof="0" dirty="0" smtClean="0">
                          <a:solidFill>
                            <a:schemeClr val="tx1"/>
                          </a:solidFill>
                          <a:latin typeface="+mn-lt"/>
                          <a:ea typeface="+mn-ea"/>
                          <a:cs typeface="Arial" panose="020B0604020202020204" pitchFamily="34" charset="0"/>
                        </a:rPr>
                        <a:t>уй бекаси</a:t>
                      </a:r>
                      <a:r>
                        <a:rPr lang="ru-RU" sz="800" b="0" kern="1200" noProof="0" dirty="0" smtClean="0">
                          <a:solidFill>
                            <a:schemeClr val="tx1"/>
                          </a:solidFill>
                          <a:latin typeface="+mn-lt"/>
                          <a:ea typeface="+mn-ea"/>
                          <a:cs typeface="Arial" panose="020B0604020202020204" pitchFamily="34" charset="0"/>
                        </a:rPr>
                        <a:t>)</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48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a:t>
                      </a:r>
                      <a:r>
                        <a:rPr lang="uz-Latn-UZ" sz="900" b="0" kern="1200" noProof="0" dirty="0" smtClean="0">
                          <a:solidFill>
                            <a:schemeClr val="tx1"/>
                          </a:solidFill>
                          <a:latin typeface="+mn-lt"/>
                          <a:ea typeface="+mn-ea"/>
                          <a:cs typeface="+mn-cs"/>
                        </a:rPr>
                        <a:t>4</a:t>
                      </a:r>
                      <a:r>
                        <a:rPr lang="ru-RU" sz="900" b="0" kern="1200" noProof="0" dirty="0" smtClean="0">
                          <a:solidFill>
                            <a:schemeClr val="tx1"/>
                          </a:solidFill>
                          <a:latin typeface="+mn-lt"/>
                          <a:ea typeface="+mn-ea"/>
                          <a:cs typeface="+mn-cs"/>
                        </a:rPr>
                        <a:t>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a:t>
                      </a:r>
                      <a:r>
                        <a:rPr lang="uz-Latn-UZ" sz="900" b="0" kern="1200" noProof="0" dirty="0" smtClean="0">
                          <a:solidFill>
                            <a:schemeClr val="tx1"/>
                          </a:solidFill>
                          <a:latin typeface="+mn-lt"/>
                          <a:ea typeface="+mn-ea"/>
                          <a:cs typeface="+mn-cs"/>
                        </a:rPr>
                        <a:t>театр ва россомчилик санъати </a:t>
                      </a:r>
                      <a:r>
                        <a:rPr lang="ru-RU" sz="900" b="0" kern="1200" noProof="0" dirty="0" err="1" smtClean="0">
                          <a:solidFill>
                            <a:schemeClr val="tx1"/>
                          </a:solidFill>
                          <a:latin typeface="+mn-lt"/>
                          <a:ea typeface="+mn-ea"/>
                          <a:cs typeface="+mn-cs"/>
                        </a:rPr>
                        <a:t>институти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кундузги</a:t>
                      </a:r>
                      <a:r>
                        <a:rPr lang="ru-RU" sz="900" b="0" kern="1200" noProof="0" dirty="0" smtClean="0">
                          <a:solidFill>
                            <a:schemeClr val="tx1"/>
                          </a:solidFill>
                          <a:latin typeface="+mn-lt"/>
                          <a:ea typeface="+mn-ea"/>
                          <a:cs typeface="+mn-cs"/>
                        </a:rPr>
                        <a:t>)</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6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Latn-UZ" sz="900" kern="1200" dirty="0" smtClean="0">
                          <a:solidFill>
                            <a:schemeClr val="tx1"/>
                          </a:solidFill>
                          <a:effectLst/>
                          <a:latin typeface="+mn-lt"/>
                          <a:ea typeface="+mn-ea"/>
                          <a:cs typeface="+mn-cs"/>
                        </a:rPr>
                        <a:t>Мусиқали драма ва камедия актёрлиги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1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89"/>
          <a:ext cx="3172841" cy="5936117"/>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761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1174">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Latn-UZ" sz="900" b="0" kern="1200" noProof="0" dirty="0" smtClean="0">
                          <a:solidFill>
                            <a:schemeClr val="tx1"/>
                          </a:solidFill>
                          <a:latin typeface="+mn-lt"/>
                          <a:ea typeface="+mn-ea"/>
                          <a:cs typeface="+mn-cs"/>
                        </a:rPr>
                        <a:t>Жиззах вилоят Мусиқали драма театрида 1979</a:t>
                      </a:r>
                      <a:r>
                        <a:rPr lang="uz-Cyrl-UZ" sz="900" b="0" kern="1200" noProof="0" dirty="0" smtClean="0">
                          <a:solidFill>
                            <a:schemeClr val="tx1"/>
                          </a:solidFill>
                          <a:latin typeface="+mn-lt"/>
                          <a:ea typeface="+mn-ea"/>
                          <a:cs typeface="+mn-cs"/>
                        </a:rPr>
                        <a:t> йилдан буён</a:t>
                      </a:r>
                      <a:r>
                        <a:rPr lang="uz-Latn-UZ" sz="900" b="0" kern="1200" noProof="0" dirty="0" smtClean="0">
                          <a:solidFill>
                            <a:schemeClr val="tx1"/>
                          </a:solidFill>
                          <a:latin typeface="+mn-lt"/>
                          <a:ea typeface="+mn-ea"/>
                          <a:cs typeface="+mn-cs"/>
                        </a:rPr>
                        <a:t> бугунги кунга қадар ишлайди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192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685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Latn-UZ" sz="900" b="0" noProof="0" dirty="0" smtClean="0">
                          <a:effectLst/>
                          <a:latin typeface="+mn-lt"/>
                          <a:ea typeface="Calibri" panose="020F0502020204030204" pitchFamily="34" charset="0"/>
                          <a:cs typeface="Times New Roman" panose="02020603050405020304" pitchFamily="18" charset="0"/>
                        </a:rPr>
                        <a:t>46</a:t>
                      </a:r>
                      <a:r>
                        <a:rPr lang="uz-Cyrl-UZ" sz="900" b="0" noProof="0" dirty="0" smtClean="0">
                          <a:effectLst/>
                          <a:latin typeface="+mn-lt"/>
                          <a:ea typeface="Calibri" panose="020F0502020204030204" pitchFamily="34" charset="0"/>
                          <a:cs typeface="Times New Roman" panose="02020603050405020304" pitchFamily="18" charset="0"/>
                        </a:rPr>
                        <a:t>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97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ru-RU" sz="900" b="0" noProof="0" dirty="0" smtClean="0">
                          <a:effectLst/>
                          <a:latin typeface="+mn-lt"/>
                          <a:ea typeface="Calibri" panose="020F0502020204030204" pitchFamily="34" charset="0"/>
                          <a:cs typeface="Times New Roman" panose="02020603050405020304" pitchFamily="18" charset="0"/>
                        </a:rPr>
                        <a:t>Й</a:t>
                      </a:r>
                      <a:r>
                        <a:rPr lang="uz-Latn-UZ" sz="900" b="0" noProof="0" dirty="0" smtClean="0">
                          <a:effectLst/>
                          <a:latin typeface="+mn-lt"/>
                          <a:ea typeface="Calibri" panose="020F0502020204030204" pitchFamily="34" charset="0"/>
                          <a:cs typeface="Times New Roman" panose="02020603050405020304" pitchFamily="18" charset="0"/>
                        </a:rPr>
                        <a:t>ўқ</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896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197</a:t>
                      </a:r>
                      <a:r>
                        <a:rPr lang="uz-Latn-UZ" sz="900" noProof="0" dirty="0" smtClean="0">
                          <a:effectLst/>
                          <a:latin typeface="+mn-lt"/>
                          <a:ea typeface="Calibri" panose="020F0502020204030204" pitchFamily="34" charset="0"/>
                          <a:cs typeface="Times New Roman" panose="02020603050405020304" pitchFamily="18" charset="0"/>
                        </a:rPr>
                        <a:t>9</a:t>
                      </a:r>
                      <a:r>
                        <a:rPr lang="uz-Cyrl-UZ" sz="900" noProof="0" dirty="0" smtClean="0">
                          <a:effectLst/>
                          <a:latin typeface="+mn-lt"/>
                          <a:ea typeface="Calibri" panose="020F0502020204030204" pitchFamily="34" charset="0"/>
                          <a:cs typeface="Times New Roman" panose="02020603050405020304" pitchFamily="18" charset="0"/>
                        </a:rPr>
                        <a:t>-20</a:t>
                      </a:r>
                      <a:r>
                        <a:rPr lang="uz-Latn-UZ" sz="900" noProof="0" dirty="0" smtClean="0">
                          <a:effectLst/>
                          <a:latin typeface="+mn-lt"/>
                          <a:ea typeface="Calibri" panose="020F0502020204030204" pitchFamily="34" charset="0"/>
                          <a:cs typeface="Times New Roman" panose="02020603050405020304" pitchFamily="18" charset="0"/>
                        </a:rPr>
                        <a:t>26</a:t>
                      </a:r>
                      <a:r>
                        <a:rPr lang="uz-Cyrl-UZ" sz="900" noProof="0" dirty="0" smtClean="0">
                          <a:effectLst/>
                          <a:latin typeface="+mn-lt"/>
                          <a:ea typeface="Calibri" panose="020F0502020204030204" pitchFamily="34" charset="0"/>
                          <a:cs typeface="Times New Roman" panose="02020603050405020304" pitchFamily="18" charset="0"/>
                        </a:rPr>
                        <a:t> йй. –</a:t>
                      </a:r>
                      <a:r>
                        <a:rPr lang="uz-Latn-UZ" sz="900" noProof="0" dirty="0" smtClean="0">
                          <a:effectLst/>
                          <a:latin typeface="+mn-lt"/>
                          <a:ea typeface="Calibri" panose="020F0502020204030204" pitchFamily="34" charset="0"/>
                          <a:cs typeface="Times New Roman" panose="02020603050405020304" pitchFamily="18" charset="0"/>
                        </a:rPr>
                        <a:t> Мусиқали драма актёри</a:t>
                      </a: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811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811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Latn-UZ" sz="900" kern="1200" noProof="0" dirty="0" smtClean="0">
                          <a:solidFill>
                            <a:schemeClr val="tx1"/>
                          </a:solidFill>
                          <a:effectLst/>
                          <a:latin typeface="+mn-lt"/>
                          <a:ea typeface="Calibri" panose="020F0502020204030204" pitchFamily="34" charset="0"/>
                          <a:cs typeface="Times New Roman" panose="02020603050405020304" pitchFamily="18" charset="0"/>
                        </a:rPr>
                        <a:t>Олмаган</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624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576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365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96243">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19</a:t>
                      </a:r>
                      <a:r>
                        <a:rPr lang="uz-Latn-UZ" sz="900" noProof="0" dirty="0" smtClean="0">
                          <a:effectLst/>
                          <a:latin typeface="+mn-lt"/>
                          <a:ea typeface="Calibri" panose="020F0502020204030204" pitchFamily="34" charset="0"/>
                          <a:cs typeface="Times New Roman" panose="02020603050405020304" pitchFamily="18" charset="0"/>
                        </a:rPr>
                        <a:t>91</a:t>
                      </a:r>
                      <a:r>
                        <a:rPr lang="uz-Cyrl-UZ" sz="900" noProof="0" dirty="0" smtClean="0">
                          <a:effectLst/>
                          <a:latin typeface="+mn-lt"/>
                          <a:ea typeface="Calibri" panose="020F0502020204030204" pitchFamily="34" charset="0"/>
                          <a:cs typeface="Times New Roman" panose="02020603050405020304" pitchFamily="18" charset="0"/>
                        </a:rPr>
                        <a:t> й. Ўзбекистонда хизмат кўрстаган артист</a:t>
                      </a:r>
                      <a:r>
                        <a:rPr lang="uz-Latn-UZ" sz="900" noProof="0" dirty="0" smtClean="0">
                          <a:effectLst/>
                          <a:latin typeface="+mn-lt"/>
                          <a:ea typeface="Calibri" panose="020F0502020204030204" pitchFamily="34" charset="0"/>
                          <a:cs typeface="Times New Roman" panose="02020603050405020304" pitchFamily="18" charset="0"/>
                        </a:rPr>
                        <a:t> </a:t>
                      </a: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6"/>
          <a:ext cx="2817247" cy="5827644"/>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algn="just">
                        <a:lnSpc>
                          <a:spcPct val="85000"/>
                        </a:lnSpc>
                      </a:pPr>
                      <a:r>
                        <a:rPr lang="uz-Cyrl-UZ" sz="900" b="0" noProof="0" dirty="0" smtClean="0">
                          <a:solidFill>
                            <a:schemeClr val="tx1"/>
                          </a:solidFill>
                          <a:latin typeface="+mn-lt"/>
                        </a:rPr>
                        <a:t>У </a:t>
                      </a:r>
                      <a:r>
                        <a:rPr lang="uz-Cyrl-UZ" sz="900" b="0" kern="1200" noProof="0" dirty="0" smtClean="0">
                          <a:solidFill>
                            <a:schemeClr val="tx1"/>
                          </a:solidFill>
                          <a:latin typeface="+mn-lt"/>
                          <a:ea typeface="+mn-ea"/>
                          <a:cs typeface="+mn-cs"/>
                        </a:rPr>
                        <a:t>кўплаб турли жанрдаги саҳна асарларида бетакрор  образларни мукаммал даражада бадиий талқин қилиб, мутахассислар ва кенг жамоатчиликни эътиборини қозон</a:t>
                      </a:r>
                      <a:r>
                        <a:rPr lang="uz-Latn-UZ" sz="900" b="0" kern="1200" noProof="0" dirty="0" smtClean="0">
                          <a:solidFill>
                            <a:schemeClr val="tx1"/>
                          </a:solidFill>
                          <a:latin typeface="+mn-lt"/>
                          <a:ea typeface="+mn-ea"/>
                          <a:cs typeface="+mn-cs"/>
                        </a:rPr>
                        <a:t>ган</a:t>
                      </a:r>
                      <a:r>
                        <a:rPr lang="uz-Cyrl-UZ" sz="900" b="0" kern="1200" noProof="0" dirty="0" smtClean="0">
                          <a:solidFill>
                            <a:schemeClr val="tx1"/>
                          </a:solidFill>
                          <a:latin typeface="+mn-lt"/>
                          <a:ea typeface="+mn-ea"/>
                          <a:cs typeface="+mn-cs"/>
                        </a:rPr>
                        <a:t>.</a:t>
                      </a:r>
                    </a:p>
                    <a:p>
                      <a:pPr algn="just">
                        <a:lnSpc>
                          <a:spcPct val="85000"/>
                        </a:lnSpc>
                      </a:pPr>
                      <a:r>
                        <a:rPr lang="uz-Latn-UZ" sz="900" b="0" kern="1200" noProof="0" dirty="0" smtClean="0">
                          <a:solidFill>
                            <a:schemeClr val="tx1"/>
                          </a:solidFill>
                          <a:latin typeface="+mn-lt"/>
                          <a:ea typeface="+mn-ea"/>
                          <a:cs typeface="+mn-cs"/>
                        </a:rPr>
                        <a:t>Театрда унга берилган ролларини мохирона ўйнаб,</a:t>
                      </a:r>
                      <a:r>
                        <a:rPr lang="uz-Cyrl-UZ" sz="900" b="0" kern="1200" noProof="0" dirty="0" smtClean="0">
                          <a:solidFill>
                            <a:schemeClr val="tx1"/>
                          </a:solidFill>
                          <a:latin typeface="+mn-lt"/>
                          <a:ea typeface="+mn-ea"/>
                          <a:cs typeface="+mn-cs"/>
                        </a:rPr>
                        <a:t> </a:t>
                      </a:r>
                      <a:r>
                        <a:rPr lang="uz-Latn-UZ" sz="900" b="0" kern="1200" noProof="0" dirty="0" smtClean="0">
                          <a:solidFill>
                            <a:schemeClr val="tx1"/>
                          </a:solidFill>
                          <a:latin typeface="+mn-lt"/>
                          <a:ea typeface="+mn-ea"/>
                          <a:cs typeface="+mn-cs"/>
                        </a:rPr>
                        <a:t>театр санъатини ривожига </a:t>
                      </a:r>
                      <a:r>
                        <a:rPr lang="uz-Cyrl-UZ" sz="900" b="0" noProof="0" dirty="0" smtClean="0">
                          <a:solidFill>
                            <a:schemeClr val="tx1"/>
                          </a:solidFill>
                          <a:latin typeface="+mn-lt"/>
                        </a:rPr>
                        <a:t>ҳисса қўшди. </a:t>
                      </a:r>
                    </a:p>
                    <a:p>
                      <a:pPr algn="just">
                        <a:lnSpc>
                          <a:spcPct val="85000"/>
                        </a:lnSpc>
                      </a:pPr>
                      <a:r>
                        <a:rPr lang="uz-Cyrl-UZ" sz="900" b="0" noProof="0" dirty="0" smtClean="0">
                          <a:solidFill>
                            <a:schemeClr val="tx1"/>
                          </a:solidFill>
                          <a:latin typeface="+mn-lt"/>
                        </a:rPr>
                        <a:t>    Дунёнинг кўплаб мамлакатларида, </a:t>
                      </a:r>
                      <a:r>
                        <a:rPr lang="uz-Latn-UZ" sz="900" b="0" noProof="0" dirty="0" smtClean="0">
                          <a:solidFill>
                            <a:schemeClr val="tx1"/>
                          </a:solidFill>
                          <a:latin typeface="+mn-lt"/>
                        </a:rPr>
                        <a:t>Қозоғистон</a:t>
                      </a:r>
                      <a:r>
                        <a:rPr lang="uz-Cyrl-UZ" sz="900" b="0" noProof="0" dirty="0" smtClean="0">
                          <a:solidFill>
                            <a:schemeClr val="tx1"/>
                          </a:solidFill>
                          <a:latin typeface="+mn-lt"/>
                        </a:rPr>
                        <a:t>, </a:t>
                      </a:r>
                      <a:r>
                        <a:rPr lang="uz-Latn-UZ" sz="900" b="0" noProof="0" dirty="0" smtClean="0">
                          <a:solidFill>
                            <a:schemeClr val="tx1"/>
                          </a:solidFill>
                          <a:latin typeface="+mn-lt"/>
                        </a:rPr>
                        <a:t>Тожикистон Республикаларида </a:t>
                      </a:r>
                      <a:r>
                        <a:rPr lang="uz-Cyrl-UZ" sz="900" b="0" noProof="0" dirty="0" smtClean="0">
                          <a:solidFill>
                            <a:schemeClr val="tx1"/>
                          </a:solidFill>
                          <a:latin typeface="+mn-lt"/>
                        </a:rPr>
                        <a:t>ижодий сафарларда бўлиб, ўзбек санъати довруғини дунёга танитган.</a:t>
                      </a:r>
                    </a:p>
                    <a:p>
                      <a:pPr algn="just">
                        <a:lnSpc>
                          <a:spcPct val="85000"/>
                        </a:lnSpc>
                      </a:pPr>
                      <a:r>
                        <a:rPr lang="uz-Cyrl-UZ" sz="900" b="0" noProof="0" dirty="0" smtClean="0">
                          <a:solidFill>
                            <a:schemeClr val="tx1"/>
                          </a:solidFill>
                          <a:latin typeface="+mn-lt"/>
                        </a:rPr>
                        <a:t>    </a:t>
                      </a:r>
                      <a:r>
                        <a:rPr lang="uz-Latn-UZ" sz="900" b="0" noProof="0" dirty="0" smtClean="0">
                          <a:solidFill>
                            <a:schemeClr val="tx1"/>
                          </a:solidFill>
                          <a:latin typeface="+mn-lt"/>
                        </a:rPr>
                        <a:t>Д.Исроилов 46</a:t>
                      </a:r>
                      <a:r>
                        <a:rPr lang="uz-Cyrl-UZ" sz="900" b="0" noProof="0" dirty="0" smtClean="0">
                          <a:solidFill>
                            <a:schemeClr val="tx1"/>
                          </a:solidFill>
                          <a:latin typeface="+mn-lt"/>
                        </a:rPr>
                        <a:t> йилдирки, </a:t>
                      </a:r>
                      <a:r>
                        <a:rPr lang="uz-Latn-UZ" sz="900" b="0" noProof="0" dirty="0" smtClean="0">
                          <a:solidFill>
                            <a:schemeClr val="tx1"/>
                          </a:solidFill>
                          <a:latin typeface="+mn-lt"/>
                        </a:rPr>
                        <a:t>Драма театрида театр </a:t>
                      </a:r>
                      <a:r>
                        <a:rPr lang="uz-Cyrl-UZ" sz="900" b="0" noProof="0" dirty="0" smtClean="0">
                          <a:solidFill>
                            <a:schemeClr val="tx1"/>
                          </a:solidFill>
                          <a:latin typeface="+mn-lt"/>
                        </a:rPr>
                        <a:t>санъати ривожига улкан ҳисса қўшиб келаётган </a:t>
                      </a:r>
                      <a:r>
                        <a:rPr lang="uz-Latn-UZ" sz="900" b="0" noProof="0" dirty="0" smtClean="0">
                          <a:solidFill>
                            <a:schemeClr val="tx1"/>
                          </a:solidFill>
                          <a:latin typeface="+mn-lt"/>
                        </a:rPr>
                        <a:t>фахрли</a:t>
                      </a:r>
                      <a:r>
                        <a:rPr lang="uz-Cyrl-UZ" sz="900" b="0" noProof="0" dirty="0" smtClean="0">
                          <a:solidFill>
                            <a:schemeClr val="tx1"/>
                          </a:solidFill>
                          <a:latin typeface="+mn-lt"/>
                        </a:rPr>
                        <a:t> санъаткордир.</a:t>
                      </a:r>
                    </a:p>
                    <a:p>
                      <a:pPr algn="just">
                        <a:lnSpc>
                          <a:spcPct val="85000"/>
                        </a:lnSpc>
                      </a:pPr>
                      <a:r>
                        <a:rPr lang="uz-Latn-UZ" sz="900" b="0" noProof="0" dirty="0" smtClean="0">
                          <a:solidFill>
                            <a:schemeClr val="tx1"/>
                          </a:solidFill>
                          <a:latin typeface="+mn-lt"/>
                        </a:rPr>
                        <a:t>Эштўхтарова Олия ХХХ </a:t>
                      </a:r>
                      <a:r>
                        <a:rPr lang="uz-Cyrl-UZ" sz="900" b="0" noProof="0" dirty="0" smtClean="0">
                          <a:solidFill>
                            <a:schemeClr val="tx1"/>
                          </a:solidFill>
                          <a:latin typeface="+mn-lt"/>
                        </a:rPr>
                        <a:t>бир қанча бадиий фильмларга ҳам </a:t>
                      </a:r>
                      <a:r>
                        <a:rPr lang="uz-Latn-UZ" sz="900" b="0" noProof="0" dirty="0" smtClean="0">
                          <a:solidFill>
                            <a:schemeClr val="tx1"/>
                          </a:solidFill>
                          <a:latin typeface="+mn-lt"/>
                        </a:rPr>
                        <a:t>рол ўйна</a:t>
                      </a:r>
                      <a:r>
                        <a:rPr lang="uz-Cyrl-UZ" sz="900" b="0" noProof="0" dirty="0" smtClean="0">
                          <a:solidFill>
                            <a:schemeClr val="tx1"/>
                          </a:solidFill>
                          <a:latin typeface="+mn-lt"/>
                        </a:rPr>
                        <a:t>ган.</a:t>
                      </a:r>
                    </a:p>
                    <a:p>
                      <a:pPr algn="just">
                        <a:lnSpc>
                          <a:spcPct val="85000"/>
                        </a:lnSpc>
                      </a:pPr>
                      <a:r>
                        <a:rPr lang="uz-Cyrl-UZ" sz="900" b="0" noProof="0" dirty="0" smtClean="0">
                          <a:solidFill>
                            <a:schemeClr val="tx1"/>
                          </a:solidFill>
                          <a:latin typeface="+mn-lt"/>
                        </a:rPr>
                        <a:t>    </a:t>
                      </a:r>
                      <a:r>
                        <a:rPr lang="uz-Latn-UZ" sz="900" b="0" noProof="0" dirty="0" smtClean="0">
                          <a:solidFill>
                            <a:schemeClr val="tx1"/>
                          </a:solidFill>
                          <a:latin typeface="+mn-lt"/>
                        </a:rPr>
                        <a:t>Д.Исроилов </a:t>
                      </a:r>
                      <a:r>
                        <a:rPr lang="uz-Cyrl-UZ" sz="900" b="0" noProof="0" dirty="0" smtClean="0">
                          <a:solidFill>
                            <a:schemeClr val="tx1"/>
                          </a:solidFill>
                          <a:latin typeface="+mn-lt"/>
                        </a:rPr>
                        <a:t>тиниб тинчимас ижодкорлардан биридир. У</a:t>
                      </a:r>
                      <a:r>
                        <a:rPr lang="uz-Latn-UZ" sz="900" b="0" noProof="0" dirty="0" smtClean="0">
                          <a:solidFill>
                            <a:schemeClr val="tx1"/>
                          </a:solidFill>
                          <a:latin typeface="+mn-lt"/>
                        </a:rPr>
                        <a:t> Жиззах вилояти Маданият бошқармасига қарашли коллеж</a:t>
                      </a:r>
                      <a:r>
                        <a:rPr lang="uz-Latn-UZ" sz="900" b="0" baseline="0" noProof="0" dirty="0" smtClean="0">
                          <a:solidFill>
                            <a:schemeClr val="tx1"/>
                          </a:solidFill>
                          <a:latin typeface="+mn-lt"/>
                        </a:rPr>
                        <a:t> ва лицейларда ёшларга наъмуна </a:t>
                      </a:r>
                      <a:r>
                        <a:rPr lang="uz-Latn-UZ" sz="900" b="0" baseline="0" noProof="0" smtClean="0">
                          <a:solidFill>
                            <a:schemeClr val="tx1"/>
                          </a:solidFill>
                          <a:latin typeface="+mn-lt"/>
                        </a:rPr>
                        <a:t>бўлиб келмоқда.</a:t>
                      </a:r>
                      <a:endParaRPr lang="uz-Cyrl-UZ" sz="900" b="0" noProof="0" dirty="0">
                        <a:solidFill>
                          <a:schemeClr val="tx1"/>
                        </a:solidFill>
                        <a:latin typeface="+mn-lt"/>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smtClean="0">
                          <a:effectLst/>
                          <a:latin typeface="+mn-lt"/>
                          <a:ea typeface="Calibri" panose="020F0502020204030204" pitchFamily="34" charset="0"/>
                          <a:cs typeface="Times New Roman" panose="02020603050405020304" pitchFamily="18" charset="0"/>
                        </a:rPr>
                        <a:t>Республикамизда</a:t>
                      </a:r>
                      <a:r>
                        <a:rPr lang="uz-Cyrl-UZ" sz="8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a:t>
                      </a:r>
                      <a:r>
                        <a:rPr lang="uz-Latn-UZ" sz="800" b="0" baseline="0" dirty="0" smtClean="0">
                          <a:effectLst/>
                          <a:latin typeface="+mn-lt"/>
                          <a:ea typeface="Calibri" panose="020F0502020204030204" pitchFamily="34" charset="0"/>
                          <a:cs typeface="Times New Roman" panose="02020603050405020304" pitchFamily="18" charset="0"/>
                        </a:rPr>
                        <a:t> ва фаол </a:t>
                      </a:r>
                      <a:r>
                        <a:rPr lang="uz-Cyrl-UZ" sz="800" b="0" baseline="0" dirty="0" smtClean="0">
                          <a:effectLst/>
                          <a:latin typeface="+mn-lt"/>
                          <a:ea typeface="Calibri" panose="020F0502020204030204" pitchFamily="34" charset="0"/>
                          <a:cs typeface="Times New Roman" panose="02020603050405020304" pitchFamily="18" charset="0"/>
                        </a:rPr>
                        <a:t>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Picture 2"/>
          <p:cNvPicPr>
            <a:picLocks noChangeAspect="1" noChangeArrowheads="1"/>
          </p:cNvPicPr>
          <p:nvPr/>
        </p:nvPicPr>
        <p:blipFill>
          <a:blip r:embed="rId2" cstate="print"/>
          <a:srcRect/>
          <a:stretch>
            <a:fillRect/>
          </a:stretch>
        </p:blipFill>
        <p:spPr bwMode="auto">
          <a:xfrm>
            <a:off x="171450" y="1123951"/>
            <a:ext cx="1054099" cy="1092200"/>
          </a:xfrm>
          <a:prstGeom prst="rect">
            <a:avLst/>
          </a:prstGeom>
          <a:noFill/>
          <a:ln w="9525">
            <a:noFill/>
            <a:miter lim="800000"/>
            <a:headEnd/>
            <a:tailEnd/>
          </a:ln>
        </p:spPr>
      </p:pic>
    </p:spTree>
    <p:extLst>
      <p:ext uri="{BB962C8B-B14F-4D97-AF65-F5344CB8AC3E}">
        <p14:creationId xmlns:p14="http://schemas.microsoft.com/office/powerpoint/2010/main" val="2763851068"/>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1600" b="1" dirty="0">
                <a:solidFill>
                  <a:srgbClr val="002060"/>
                </a:solidFill>
                <a:latin typeface="Bahnschrift SemiBold" panose="020B0502040204020203" pitchFamily="34" charset="0"/>
              </a:rPr>
              <a:t>КОНЦЕРТ-ТОМОША ЙЎНАЛИШИ СОҲА ВАКИЛЛАРИ (ТОП-100)</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893710"/>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3461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3415">
                <a:tc rowSpan="6" gridSpan="2">
                  <a:txBody>
                    <a:bodyPr/>
                    <a:lstStyle/>
                    <a:p>
                      <a:pPr algn="l">
                        <a:lnSpc>
                          <a:spcPct val="90000"/>
                        </a:lnSpc>
                      </a:pPr>
                      <a:endParaRPr lang="ru-RU" sz="9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Акрамов</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9420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a:solidFill>
                            <a:schemeClr val="tx1"/>
                          </a:solidFill>
                          <a:latin typeface="+mn-lt"/>
                          <a:ea typeface="+mn-ea"/>
                          <a:cs typeface="+mn-cs"/>
                        </a:rPr>
                        <a:t>Адхам</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9420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a:solidFill>
                            <a:schemeClr val="tx1"/>
                          </a:solidFill>
                          <a:latin typeface="+mn-lt"/>
                          <a:ea typeface="+mn-ea"/>
                          <a:cs typeface="+mn-cs"/>
                        </a:rPr>
                        <a:t>Тошпўлатович</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3415">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sz="900" dirty="0">
                        <a:latin typeface="+mn-lt"/>
                      </a:endParaRPr>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9420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ru-RU" sz="900" b="0" kern="1200" dirty="0">
                          <a:solidFill>
                            <a:schemeClr val="tx1"/>
                          </a:solidFill>
                          <a:latin typeface="+mn-lt"/>
                          <a:ea typeface="+mn-ea"/>
                          <a:cs typeface="+mn-cs"/>
                        </a:rPr>
                        <a:t>12.12.1958</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94204">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900" b="0" kern="1200" dirty="0">
                          <a:solidFill>
                            <a:schemeClr val="tx1"/>
                          </a:solidFill>
                          <a:latin typeface="+mn-lt"/>
                          <a:ea typeface="+mn-ea"/>
                          <a:cs typeface="+mn-cs"/>
                        </a:rPr>
                        <a:t>Марғилон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18878">
                <a:tc gridSpan="5">
                  <a:txBody>
                    <a:bodyPr/>
                    <a:lstStyle/>
                    <a:p>
                      <a:pPr algn="ctr"/>
                      <a:r>
                        <a:rPr lang="uz-Cyrl-UZ" sz="900" b="1" noProof="0" dirty="0">
                          <a:solidFill>
                            <a:schemeClr val="bg1"/>
                          </a:solidFill>
                          <a:latin typeface="+mn-lt"/>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393215">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9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3 нафар ўғил,1 қиз фарзанди бор, </a:t>
                      </a:r>
                      <a:br>
                        <a:rPr lang="uz-Cyrl-UZ" sz="900" b="0" kern="1200" noProof="0" dirty="0">
                          <a:solidFill>
                            <a:schemeClr val="tx1"/>
                          </a:solidFill>
                          <a:latin typeface="+mn-lt"/>
                          <a:ea typeface="+mn-ea"/>
                          <a:cs typeface="+mn-cs"/>
                        </a:rPr>
                      </a:br>
                      <a:r>
                        <a:rPr lang="uz-Cyrl-UZ" sz="900" b="0" kern="1200" noProof="0" dirty="0">
                          <a:solidFill>
                            <a:schemeClr val="tx1"/>
                          </a:solidFill>
                          <a:latin typeface="+mn-lt"/>
                          <a:ea typeface="+mn-ea"/>
                          <a:cs typeface="+mn-cs"/>
                        </a:rPr>
                        <a:t>ҳозирда нафақада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15372">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1" noProof="0" dirty="0">
                          <a:solidFill>
                            <a:schemeClr val="bg1"/>
                          </a:solidFill>
                          <a:latin typeface="+mn-lt"/>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646471">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Акрамов</a:t>
                      </a:r>
                      <a:r>
                        <a:rPr lang="uz-Cyrl-UZ" sz="900" b="1" kern="1200" baseline="0" noProof="0" dirty="0">
                          <a:solidFill>
                            <a:schemeClr val="tx1"/>
                          </a:solidFill>
                          <a:latin typeface="+mn-lt"/>
                          <a:ea typeface="+mn-ea"/>
                          <a:cs typeface="Arial" panose="020B0604020202020204" pitchFamily="34" charset="0"/>
                        </a:rPr>
                        <a:t> Тошпўлат Акрамович</a:t>
                      </a:r>
                      <a:endParaRPr lang="uz-Cyrl-UZ" sz="900" b="1" kern="1200" noProof="0" dirty="0">
                        <a:solidFill>
                          <a:schemeClr val="tx1"/>
                        </a:solidFill>
                        <a:latin typeface="+mn-lt"/>
                        <a:ea typeface="+mn-ea"/>
                        <a:cs typeface="Arial" panose="020B0604020202020204" pitchFamily="34" charset="0"/>
                      </a:endParaRPr>
                    </a:p>
                    <a:p>
                      <a:pPr algn="l">
                        <a:lnSpc>
                          <a:spcPct val="85000"/>
                        </a:lnSpc>
                      </a:pPr>
                      <a:r>
                        <a:rPr lang="uz-Cyrl-UZ" sz="900" b="0" kern="1200" noProof="0" dirty="0">
                          <a:solidFill>
                            <a:schemeClr val="tx1"/>
                          </a:solidFill>
                          <a:latin typeface="+mn-lt"/>
                          <a:ea typeface="+mn-ea"/>
                          <a:cs typeface="Arial" panose="020B0604020202020204" pitchFamily="34" charset="0"/>
                        </a:rPr>
                        <a:t>1928 йил, Марғилон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2014+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uz-Cyrl-UZ" sz="900" dirty="0">
                          <a:effectLst/>
                          <a:latin typeface="+mn-lt"/>
                          <a:ea typeface="Times New Roman" panose="02020603050405020304" pitchFamily="18" charset="0"/>
                        </a:rPr>
                        <a:t>(Марғилон шахри нон махсулотлари ишлаб чиқариш корхонаси ишчиси)</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17469">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a:solidFill>
                            <a:schemeClr val="tx1"/>
                          </a:solidFill>
                          <a:latin typeface="+mn-lt"/>
                          <a:ea typeface="+mn-ea"/>
                          <a:cs typeface="Arial" panose="020B0604020202020204" pitchFamily="34" charset="0"/>
                        </a:rPr>
                        <a:t>Рустамова</a:t>
                      </a:r>
                      <a:r>
                        <a:rPr lang="uz-Cyrl-UZ" sz="900" b="1" kern="1200" baseline="0" noProof="0" dirty="0">
                          <a:solidFill>
                            <a:schemeClr val="tx1"/>
                          </a:solidFill>
                          <a:latin typeface="+mn-lt"/>
                          <a:ea typeface="+mn-ea"/>
                          <a:cs typeface="Arial" panose="020B0604020202020204" pitchFamily="34" charset="0"/>
                        </a:rPr>
                        <a:t> Озадохон Рустамовна</a:t>
                      </a:r>
                      <a:endParaRPr lang="uz-Cyrl-UZ" sz="900" b="1" kern="1200" noProof="0" dirty="0">
                        <a:solidFill>
                          <a:schemeClr val="tx1"/>
                        </a:solidFill>
                        <a:latin typeface="+mn-lt"/>
                        <a:ea typeface="+mn-ea"/>
                        <a:cs typeface="Arial" panose="020B0604020202020204" pitchFamily="34" charset="0"/>
                      </a:endParaRPr>
                    </a:p>
                    <a:p>
                      <a:pPr algn="l">
                        <a:lnSpc>
                          <a:spcPct val="85000"/>
                        </a:lnSpc>
                      </a:pPr>
                      <a:r>
                        <a:rPr lang="uz-Cyrl-UZ" sz="900" b="0" kern="1200" noProof="0" dirty="0">
                          <a:solidFill>
                            <a:schemeClr val="tx1"/>
                          </a:solidFill>
                          <a:latin typeface="+mn-lt"/>
                          <a:ea typeface="+mn-ea"/>
                          <a:cs typeface="Arial" panose="020B0604020202020204" pitchFamily="34" charset="0"/>
                        </a:rPr>
                        <a:t>1931 йил, Марғилон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1961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уй</a:t>
                      </a:r>
                      <a:r>
                        <a:rPr lang="ru-RU" sz="900" b="0" kern="1200" baseline="0" noProof="0" dirty="0">
                          <a:solidFill>
                            <a:schemeClr val="tx1"/>
                          </a:solidFill>
                          <a:latin typeface="+mn-lt"/>
                          <a:ea typeface="+mn-ea"/>
                          <a:cs typeface="Arial" panose="020B0604020202020204" pitchFamily="34" charset="0"/>
                        </a:rPr>
                        <a:t> </a:t>
                      </a:r>
                      <a:r>
                        <a:rPr lang="ru-RU" sz="900" b="0" kern="1200" baseline="0" noProof="0" dirty="0" err="1">
                          <a:solidFill>
                            <a:schemeClr val="tx1"/>
                          </a:solidFill>
                          <a:latin typeface="+mn-lt"/>
                          <a:ea typeface="+mn-ea"/>
                          <a:cs typeface="Arial" panose="020B0604020202020204" pitchFamily="34" charset="0"/>
                        </a:rPr>
                        <a:t>бекаси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17469">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dirty="0">
                          <a:effectLst/>
                          <a:latin typeface="+mn-lt"/>
                          <a:ea typeface="Times New Roman" panose="02020603050405020304" pitchFamily="18" charset="0"/>
                        </a:rPr>
                        <a:t>Ахмадалиева Жамилахон Луқмоновна</a:t>
                      </a:r>
                    </a:p>
                    <a:p>
                      <a:pPr algn="l">
                        <a:lnSpc>
                          <a:spcPct val="85000"/>
                        </a:lnSpc>
                      </a:pPr>
                      <a:r>
                        <a:rPr lang="uz-Cyrl-UZ" sz="900" b="0" kern="1200" noProof="0" dirty="0">
                          <a:solidFill>
                            <a:schemeClr val="tx1"/>
                          </a:solidFill>
                          <a:latin typeface="+mn-lt"/>
                          <a:ea typeface="+mn-ea"/>
                          <a:cs typeface="Arial" panose="020B0604020202020204" pitchFamily="34" charset="0"/>
                        </a:rPr>
                        <a:t>1961 йил, Марғилон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Уй бекаси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196807">
                <a:tc gridSpan="5">
                  <a:txBody>
                    <a:bodyPr/>
                    <a:lstStyle/>
                    <a:p>
                      <a:pPr algn="ctr">
                        <a:lnSpc>
                          <a:spcPct val="85000"/>
                        </a:lnSpc>
                      </a:pPr>
                      <a:r>
                        <a:rPr lang="uz-Cyrl-UZ" sz="900" b="1" kern="1200" noProof="0" dirty="0">
                          <a:solidFill>
                            <a:schemeClr val="bg1"/>
                          </a:solidFill>
                          <a:latin typeface="+mn-lt"/>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91582">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1981 й. </a:t>
                      </a:r>
                      <a:r>
                        <a:rPr lang="ru-RU" sz="900" b="0" kern="1200" noProof="0" dirty="0" err="1">
                          <a:solidFill>
                            <a:schemeClr val="tx1"/>
                          </a:solidFill>
                          <a:latin typeface="+mn-lt"/>
                          <a:ea typeface="+mn-ea"/>
                          <a:cs typeface="+mn-cs"/>
                        </a:rPr>
                        <a:t>А.Островский</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номли</a:t>
                      </a:r>
                      <a:r>
                        <a:rPr lang="ru-RU" sz="900" b="0" kern="1200" noProof="0" dirty="0">
                          <a:solidFill>
                            <a:schemeClr val="tx1"/>
                          </a:solidFill>
                          <a:latin typeface="+mn-lt"/>
                          <a:ea typeface="+mn-ea"/>
                          <a:cs typeface="+mn-cs"/>
                        </a:rPr>
                        <a:t> театр </a:t>
                      </a:r>
                      <a:r>
                        <a:rPr lang="ru-RU" sz="900" b="0" kern="1200" noProof="0" dirty="0" err="1">
                          <a:solidFill>
                            <a:schemeClr val="tx1"/>
                          </a:solidFill>
                          <a:latin typeface="+mn-lt"/>
                          <a:ea typeface="+mn-ea"/>
                          <a:cs typeface="+mn-cs"/>
                        </a:rPr>
                        <a:t>ва</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рассомчилик</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кундузги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342382">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marL="2743200" indent="-2743200">
                        <a:spcAft>
                          <a:spcPts val="0"/>
                        </a:spcAft>
                        <a:tabLst>
                          <a:tab pos="2743200" algn="l"/>
                        </a:tabLst>
                      </a:pPr>
                      <a:r>
                        <a:rPr lang="uz-Cyrl-UZ" sz="900" dirty="0">
                          <a:effectLst/>
                          <a:latin typeface="+mn-lt"/>
                          <a:ea typeface="Times New Roman" panose="02020603050405020304" pitchFamily="18" charset="0"/>
                        </a:rPr>
                        <a:t>мусиқали театр</a:t>
                      </a:r>
                      <a:r>
                        <a:rPr lang="ru-RU" sz="900" dirty="0">
                          <a:effectLst/>
                          <a:latin typeface="+mn-lt"/>
                          <a:ea typeface="Times New Roman" panose="02020603050405020304" pitchFamily="18" charset="0"/>
                        </a:rPr>
                        <a:t> </a:t>
                      </a:r>
                      <a:r>
                        <a:rPr lang="ru-RU" sz="900" dirty="0" err="1">
                          <a:effectLst/>
                          <a:latin typeface="+mn-lt"/>
                          <a:ea typeface="Times New Roman" panose="02020603050405020304" pitchFamily="18" charset="0"/>
                        </a:rPr>
                        <a:t>актёри</a:t>
                      </a:r>
                      <a:endParaRPr lang="ru-RU" sz="900" dirty="0">
                        <a:effectLst/>
                        <a:latin typeface="+mn-lt"/>
                        <a:ea typeface="Times New Roman" panose="02020603050405020304" pitchFamily="18" charset="0"/>
                      </a:endParaRPr>
                    </a:p>
                    <a:p>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2968">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Йўқ</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2968">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sz="90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11074">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89"/>
          <a:ext cx="3172841" cy="574665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761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1174">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2021 йилдан буён Мохир сахна устаси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192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685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45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97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6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896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a:effectLst/>
                          <a:latin typeface="+mn-lt"/>
                          <a:ea typeface="Calibri" panose="020F0502020204030204" pitchFamily="34" charset="0"/>
                          <a:cs typeface="Times New Roman" panose="02020603050405020304" pitchFamily="18" charset="0"/>
                        </a:rPr>
                        <a:t>2016 – 2021 йиллар давомида</a:t>
                      </a:r>
                      <a:r>
                        <a:rPr lang="uz-Cyrl-UZ" sz="900" baseline="0" noProof="0" dirty="0">
                          <a:effectLst/>
                          <a:latin typeface="+mn-lt"/>
                          <a:ea typeface="Calibri" panose="020F0502020204030204" pitchFamily="34" charset="0"/>
                          <a:cs typeface="Times New Roman" panose="02020603050405020304" pitchFamily="18" charset="0"/>
                        </a:rPr>
                        <a:t> Фарғона вилоят мусиқали драма театри директори </a:t>
                      </a: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811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8116">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624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2025</a:t>
                      </a:r>
                      <a:r>
                        <a:rPr lang="uz-Cyrl-UZ" sz="900" kern="1200" baseline="0" noProof="0" dirty="0">
                          <a:solidFill>
                            <a:schemeClr val="tx1"/>
                          </a:solidFill>
                          <a:effectLst/>
                          <a:latin typeface="+mn-lt"/>
                          <a:ea typeface="Calibri" panose="020F0502020204030204" pitchFamily="34" charset="0"/>
                          <a:cs typeface="Times New Roman" panose="02020603050405020304" pitchFamily="18" charset="0"/>
                        </a:rPr>
                        <a:t> йил сўнгида</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576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365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96243">
                <a:tc gridSpan="2">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Latn-UZ" sz="900" kern="1200" dirty="0">
                          <a:solidFill>
                            <a:schemeClr val="tx1"/>
                          </a:solidFill>
                          <a:effectLst/>
                          <a:latin typeface="+mn-lt"/>
                          <a:ea typeface="+mn-ea"/>
                          <a:cs typeface="+mn-cs"/>
                        </a:rPr>
                        <a:t>2016 й</a:t>
                      </a:r>
                      <a:r>
                        <a:rPr lang="en-US" sz="1800" kern="1200" dirty="0">
                          <a:solidFill>
                            <a:schemeClr val="tx1"/>
                          </a:solidFill>
                          <a:effectLst/>
                          <a:latin typeface="+mn-lt"/>
                          <a:ea typeface="+mn-ea"/>
                          <a:cs typeface="+mn-cs"/>
                        </a:rPr>
                        <a:t> </a:t>
                      </a:r>
                      <a:r>
                        <a:rPr lang="uz-Latn-UZ" sz="900" kern="1200" dirty="0">
                          <a:solidFill>
                            <a:schemeClr val="tx1"/>
                          </a:solidFill>
                          <a:effectLst/>
                          <a:latin typeface="+mn-lt"/>
                          <a:ea typeface="+mn-ea"/>
                          <a:cs typeface="+mn-cs"/>
                        </a:rPr>
                        <a:t>Ўзбекистонда хизмат кўрсатган маданият ходими </a:t>
                      </a:r>
                      <a:endParaRPr lang="ru-RU" sz="1800" kern="1200" dirty="0">
                        <a:solidFill>
                          <a:schemeClr val="tx1"/>
                        </a:solidFill>
                        <a:effectLst/>
                        <a:latin typeface="+mn-lt"/>
                        <a:ea typeface="+mn-ea"/>
                        <a:cs typeface="+mn-cs"/>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9"/>
          <a:ext cx="2817247" cy="5943957"/>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185413">
                <a:tc>
                  <a:txBody>
                    <a:bodyPr/>
                    <a:lstStyle/>
                    <a:p>
                      <a:pPr algn="ctr">
                        <a:lnSpc>
                          <a:spcPct val="85000"/>
                        </a:lnSpc>
                      </a:pPr>
                      <a:r>
                        <a:rPr lang="uz-Cyrl-UZ" sz="900" b="1" noProof="0" dirty="0">
                          <a:solidFill>
                            <a:schemeClr val="bg1"/>
                          </a:solidFill>
                          <a:latin typeface="+mn-lt"/>
                        </a:rPr>
                        <a:t>ФАОЛИЯТИ</a:t>
                      </a:r>
                      <a:r>
                        <a:rPr lang="uz-Cyrl-UZ" sz="900" b="1" baseline="0" noProof="0" dirty="0">
                          <a:solidFill>
                            <a:schemeClr val="bg1"/>
                          </a:solidFill>
                          <a:latin typeface="+mn-lt"/>
                        </a:rPr>
                        <a:t> </a:t>
                      </a:r>
                      <a:endParaRPr lang="uz-Cyrl-UZ" sz="900" b="1" noProof="0"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185413">
                <a:tc>
                  <a:txBody>
                    <a:bodyPr/>
                    <a:lstStyle/>
                    <a:p>
                      <a:pPr algn="ctr">
                        <a:lnSpc>
                          <a:spcPct val="85000"/>
                        </a:lnSpc>
                      </a:pPr>
                      <a:r>
                        <a:rPr lang="uz-Cyrl-UZ" sz="900" b="1" noProof="0" dirty="0">
                          <a:solidFill>
                            <a:schemeClr val="bg1"/>
                          </a:solidFill>
                          <a:latin typeface="+mn-lt"/>
                        </a:rPr>
                        <a:t>Меҳнат фаолияти ҳақида</a:t>
                      </a:r>
                      <a:r>
                        <a:rPr lang="uz-Cyrl-UZ" sz="900" b="1" baseline="0" noProof="0" dirty="0">
                          <a:solidFill>
                            <a:schemeClr val="bg1"/>
                          </a:solidFill>
                          <a:latin typeface="+mn-lt"/>
                        </a:rPr>
                        <a:t> қисқача тавсифнома</a:t>
                      </a:r>
                      <a:endParaRPr lang="uz-Cyrl-UZ" sz="900" b="1" noProof="0"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975198">
                <a:tc>
                  <a:txBody>
                    <a:bodyPr/>
                    <a:lstStyle/>
                    <a:p>
                      <a:pPr algn="just"/>
                      <a:r>
                        <a:rPr lang="uz-Cyrl-UZ" sz="900" b="0" noProof="0" dirty="0">
                          <a:solidFill>
                            <a:schemeClr val="tx1"/>
                          </a:solidFill>
                          <a:latin typeface="+mn-lt"/>
                        </a:rPr>
                        <a:t>    </a:t>
                      </a:r>
                      <a:r>
                        <a:rPr lang="uz-Cyrl-UZ" sz="900" kern="1200" dirty="0">
                          <a:solidFill>
                            <a:schemeClr val="tx1"/>
                          </a:solidFill>
                          <a:effectLst/>
                          <a:latin typeface="+mn-lt"/>
                          <a:ea typeface="+mn-ea"/>
                          <a:cs typeface="+mn-cs"/>
                        </a:rPr>
                        <a:t>Акрамов Адхам Тошпўлатович Фарғона вилояти мусиқали драма театри саҳнасида 70 дан ортиқ ранг-баранг ролларни ижро этган. Булар ичида миллий қаҳрамонлар ва турли жанрдаги характерли образлар унинг ижод йўлини безаб туради.</a:t>
                      </a:r>
                      <a:endParaRPr lang="ru-RU" sz="900" kern="1200" dirty="0">
                        <a:solidFill>
                          <a:schemeClr val="tx1"/>
                        </a:solidFill>
                        <a:effectLst/>
                        <a:latin typeface="+mn-lt"/>
                        <a:ea typeface="+mn-ea"/>
                        <a:cs typeface="+mn-cs"/>
                      </a:endParaRPr>
                    </a:p>
                    <a:p>
                      <a:pPr algn="just"/>
                      <a:r>
                        <a:rPr lang="uz-Cyrl-UZ" sz="900" kern="1200" dirty="0">
                          <a:solidFill>
                            <a:schemeClr val="tx1"/>
                          </a:solidFill>
                          <a:effectLst/>
                          <a:latin typeface="+mn-lt"/>
                          <a:ea typeface="+mn-ea"/>
                          <a:cs typeface="+mn-cs"/>
                        </a:rPr>
                        <a:t>Жумладан, Т.Мирзонинг </a:t>
                      </a:r>
                      <a:r>
                        <a:rPr lang="uz-Cyrl-UZ" sz="900" b="1" kern="1200" dirty="0">
                          <a:solidFill>
                            <a:schemeClr val="tx1"/>
                          </a:solidFill>
                          <a:effectLst/>
                          <a:latin typeface="+mn-lt"/>
                          <a:ea typeface="+mn-ea"/>
                          <a:cs typeface="+mn-cs"/>
                        </a:rPr>
                        <a:t>“Амир Темур ва Тўхтамишхон” </a:t>
                      </a:r>
                      <a:r>
                        <a:rPr lang="uz-Cyrl-UZ" sz="900" kern="1200" dirty="0">
                          <a:solidFill>
                            <a:schemeClr val="tx1"/>
                          </a:solidFill>
                          <a:effectLst/>
                          <a:latin typeface="+mn-lt"/>
                          <a:ea typeface="+mn-ea"/>
                          <a:cs typeface="+mn-cs"/>
                        </a:rPr>
                        <a:t>асаридаги Элчи, Қ.Норқобилнинг </a:t>
                      </a:r>
                      <a:r>
                        <a:rPr lang="uz-Cyrl-UZ" sz="900" b="1" kern="1200" dirty="0">
                          <a:solidFill>
                            <a:schemeClr val="tx1"/>
                          </a:solidFill>
                          <a:effectLst/>
                          <a:latin typeface="+mn-lt"/>
                          <a:ea typeface="+mn-ea"/>
                          <a:cs typeface="+mn-cs"/>
                        </a:rPr>
                        <a:t>“Танти қишлоқ хангомалари”</a:t>
                      </a:r>
                      <a:r>
                        <a:rPr lang="uz-Cyrl-UZ" sz="900" kern="1200" dirty="0">
                          <a:solidFill>
                            <a:schemeClr val="tx1"/>
                          </a:solidFill>
                          <a:effectLst/>
                          <a:latin typeface="+mn-lt"/>
                          <a:ea typeface="+mn-ea"/>
                          <a:cs typeface="+mn-cs"/>
                        </a:rPr>
                        <a:t>да Чори учар, А.Абдуғофуровнинг </a:t>
                      </a:r>
                      <a:r>
                        <a:rPr lang="uz-Cyrl-UZ" sz="900" b="1" kern="1200" dirty="0">
                          <a:solidFill>
                            <a:schemeClr val="tx1"/>
                          </a:solidFill>
                          <a:effectLst/>
                          <a:latin typeface="+mn-lt"/>
                          <a:ea typeface="+mn-ea"/>
                          <a:cs typeface="+mn-cs"/>
                        </a:rPr>
                        <a:t>“Сени соғиндим</a:t>
                      </a:r>
                      <a:r>
                        <a:rPr lang="uz-Cyrl-UZ" sz="900" kern="1200" dirty="0">
                          <a:solidFill>
                            <a:schemeClr val="tx1"/>
                          </a:solidFill>
                          <a:effectLst/>
                          <a:latin typeface="+mn-lt"/>
                          <a:ea typeface="+mn-ea"/>
                          <a:cs typeface="+mn-cs"/>
                        </a:rPr>
                        <a:t>”да Худойберди, Гоголнинг</a:t>
                      </a:r>
                      <a:r>
                        <a:rPr lang="uz-Cyrl-UZ" sz="900" b="1" kern="1200" dirty="0">
                          <a:solidFill>
                            <a:schemeClr val="tx1"/>
                          </a:solidFill>
                          <a:effectLst/>
                          <a:latin typeface="+mn-lt"/>
                          <a:ea typeface="+mn-ea"/>
                          <a:cs typeface="+mn-cs"/>
                        </a:rPr>
                        <a:t> “Сарочия ярмаркаси”</a:t>
                      </a:r>
                      <a:r>
                        <a:rPr lang="uz-Cyrl-UZ" sz="900" kern="1200" dirty="0">
                          <a:solidFill>
                            <a:schemeClr val="tx1"/>
                          </a:solidFill>
                          <a:effectLst/>
                          <a:latin typeface="+mn-lt"/>
                          <a:ea typeface="+mn-ea"/>
                          <a:cs typeface="+mn-cs"/>
                        </a:rPr>
                        <a:t>да Рухоний, </a:t>
                      </a:r>
                      <a:r>
                        <a:rPr lang="uz-Cyrl-UZ" sz="900" b="1" kern="1200" dirty="0">
                          <a:solidFill>
                            <a:schemeClr val="tx1"/>
                          </a:solidFill>
                          <a:effectLst/>
                          <a:latin typeface="+mn-lt"/>
                          <a:ea typeface="+mn-ea"/>
                          <a:cs typeface="+mn-cs"/>
                        </a:rPr>
                        <a:t>“Машраб”</a:t>
                      </a:r>
                      <a:r>
                        <a:rPr lang="uz-Cyrl-UZ" sz="900" kern="1200" dirty="0">
                          <a:solidFill>
                            <a:schemeClr val="tx1"/>
                          </a:solidFill>
                          <a:effectLst/>
                          <a:latin typeface="+mn-lt"/>
                          <a:ea typeface="+mn-ea"/>
                          <a:cs typeface="+mn-cs"/>
                        </a:rPr>
                        <a:t>да Зохид, Н.Зохид,С.Одиловнинг </a:t>
                      </a:r>
                      <a:r>
                        <a:rPr lang="uz-Cyrl-UZ" sz="900" b="1" kern="1200" dirty="0">
                          <a:solidFill>
                            <a:schemeClr val="tx1"/>
                          </a:solidFill>
                          <a:effectLst/>
                          <a:latin typeface="+mn-lt"/>
                          <a:ea typeface="+mn-ea"/>
                          <a:cs typeface="+mn-cs"/>
                        </a:rPr>
                        <a:t>“Надомат”</a:t>
                      </a:r>
                      <a:r>
                        <a:rPr lang="uz-Cyrl-UZ" sz="900" kern="1200" dirty="0">
                          <a:solidFill>
                            <a:schemeClr val="tx1"/>
                          </a:solidFill>
                          <a:effectLst/>
                          <a:latin typeface="+mn-lt"/>
                          <a:ea typeface="+mn-ea"/>
                          <a:cs typeface="+mn-cs"/>
                        </a:rPr>
                        <a:t>да Камолиддин, И.Турсунованинг </a:t>
                      </a:r>
                      <a:r>
                        <a:rPr lang="uz-Cyrl-UZ" sz="900" b="1" kern="1200" dirty="0">
                          <a:solidFill>
                            <a:schemeClr val="tx1"/>
                          </a:solidFill>
                          <a:effectLst/>
                          <a:latin typeface="+mn-lt"/>
                          <a:ea typeface="+mn-ea"/>
                          <a:cs typeface="+mn-cs"/>
                        </a:rPr>
                        <a:t>“Захарли томчи”</a:t>
                      </a:r>
                      <a:r>
                        <a:rPr lang="uz-Cyrl-UZ" sz="900" kern="1200" dirty="0">
                          <a:solidFill>
                            <a:schemeClr val="tx1"/>
                          </a:solidFill>
                          <a:effectLst/>
                          <a:latin typeface="+mn-lt"/>
                          <a:ea typeface="+mn-ea"/>
                          <a:cs typeface="+mn-cs"/>
                        </a:rPr>
                        <a:t>да Собит ака, Х.Имомбердиевнинг </a:t>
                      </a:r>
                      <a:r>
                        <a:rPr lang="uz-Cyrl-UZ" sz="900" b="1" kern="1200" dirty="0">
                          <a:solidFill>
                            <a:schemeClr val="tx1"/>
                          </a:solidFill>
                          <a:effectLst/>
                          <a:latin typeface="+mn-lt"/>
                          <a:ea typeface="+mn-ea"/>
                          <a:cs typeface="+mn-cs"/>
                        </a:rPr>
                        <a:t>“Аловиддинни сеҳрли чироғи”</a:t>
                      </a:r>
                      <a:r>
                        <a:rPr lang="uz-Cyrl-UZ" sz="900" kern="1200" dirty="0">
                          <a:solidFill>
                            <a:schemeClr val="tx1"/>
                          </a:solidFill>
                          <a:effectLst/>
                          <a:latin typeface="+mn-lt"/>
                          <a:ea typeface="+mn-ea"/>
                          <a:cs typeface="+mn-cs"/>
                        </a:rPr>
                        <a:t>да жин, </a:t>
                      </a:r>
                      <a:r>
                        <a:rPr lang="uz-Cyrl-UZ" sz="900" b="1" kern="1200" dirty="0">
                          <a:solidFill>
                            <a:schemeClr val="tx1"/>
                          </a:solidFill>
                          <a:effectLst/>
                          <a:latin typeface="+mn-lt"/>
                          <a:ea typeface="+mn-ea"/>
                          <a:cs typeface="+mn-cs"/>
                        </a:rPr>
                        <a:t>“Шайх ила иблис”</a:t>
                      </a:r>
                      <a:r>
                        <a:rPr lang="uz-Cyrl-UZ" sz="900" kern="1200" dirty="0">
                          <a:solidFill>
                            <a:schemeClr val="tx1"/>
                          </a:solidFill>
                          <a:effectLst/>
                          <a:latin typeface="+mn-lt"/>
                          <a:ea typeface="+mn-ea"/>
                          <a:cs typeface="+mn-cs"/>
                        </a:rPr>
                        <a:t>да Вазир, Гулчехрабонунинг </a:t>
                      </a:r>
                      <a:r>
                        <a:rPr lang="uz-Cyrl-UZ" sz="900" b="1" kern="1200" dirty="0">
                          <a:solidFill>
                            <a:schemeClr val="tx1"/>
                          </a:solidFill>
                          <a:effectLst/>
                          <a:latin typeface="+mn-lt"/>
                          <a:ea typeface="+mn-ea"/>
                          <a:cs typeface="+mn-cs"/>
                        </a:rPr>
                        <a:t>“Бўлинганни бўри ер”</a:t>
                      </a:r>
                      <a:r>
                        <a:rPr lang="uz-Cyrl-UZ" sz="900" kern="1200" dirty="0">
                          <a:solidFill>
                            <a:schemeClr val="tx1"/>
                          </a:solidFill>
                          <a:effectLst/>
                          <a:latin typeface="+mn-lt"/>
                          <a:ea typeface="+mn-ea"/>
                          <a:cs typeface="+mn-cs"/>
                        </a:rPr>
                        <a:t>да Бобо, Б.Насриддиновнинг </a:t>
                      </a:r>
                      <a:r>
                        <a:rPr lang="uz-Cyrl-UZ" sz="900" b="1" kern="1200" dirty="0">
                          <a:solidFill>
                            <a:schemeClr val="tx1"/>
                          </a:solidFill>
                          <a:effectLst/>
                          <a:latin typeface="+mn-lt"/>
                          <a:ea typeface="+mn-ea"/>
                          <a:cs typeface="+mn-cs"/>
                        </a:rPr>
                        <a:t>“Зафар ва Зуфар”</a:t>
                      </a:r>
                      <a:r>
                        <a:rPr lang="uz-Cyrl-UZ" sz="900" kern="1200" dirty="0">
                          <a:solidFill>
                            <a:schemeClr val="tx1"/>
                          </a:solidFill>
                          <a:effectLst/>
                          <a:latin typeface="+mn-lt"/>
                          <a:ea typeface="+mn-ea"/>
                          <a:cs typeface="+mn-cs"/>
                        </a:rPr>
                        <a:t>да Ота, А.Хурсандовнинг </a:t>
                      </a:r>
                      <a:r>
                        <a:rPr lang="uz-Cyrl-UZ" sz="900" b="1" kern="1200" dirty="0">
                          <a:solidFill>
                            <a:schemeClr val="tx1"/>
                          </a:solidFill>
                          <a:effectLst/>
                          <a:latin typeface="+mn-lt"/>
                          <a:ea typeface="+mn-ea"/>
                          <a:cs typeface="+mn-cs"/>
                        </a:rPr>
                        <a:t>“Кампир топайми дадажон?”</a:t>
                      </a:r>
                      <a:r>
                        <a:rPr lang="uz-Cyrl-UZ" sz="900" kern="1200" dirty="0">
                          <a:solidFill>
                            <a:schemeClr val="tx1"/>
                          </a:solidFill>
                          <a:effectLst/>
                          <a:latin typeface="+mn-lt"/>
                          <a:ea typeface="+mn-ea"/>
                          <a:cs typeface="+mn-cs"/>
                        </a:rPr>
                        <a:t>да Ашур, О.Хакимовнинг </a:t>
                      </a:r>
                      <a:r>
                        <a:rPr lang="uz-Cyrl-UZ" sz="900" b="1" kern="1200" dirty="0">
                          <a:solidFill>
                            <a:schemeClr val="tx1"/>
                          </a:solidFill>
                          <a:effectLst/>
                          <a:latin typeface="+mn-lt"/>
                          <a:ea typeface="+mn-ea"/>
                          <a:cs typeface="+mn-cs"/>
                        </a:rPr>
                        <a:t>“Жонимнинг малҳами”</a:t>
                      </a:r>
                      <a:r>
                        <a:rPr lang="uz-Cyrl-UZ" sz="900" kern="1200">
                          <a:solidFill>
                            <a:schemeClr val="tx1"/>
                          </a:solidFill>
                          <a:effectLst/>
                          <a:latin typeface="+mn-lt"/>
                          <a:ea typeface="+mn-ea"/>
                          <a:cs typeface="+mn-cs"/>
                        </a:rPr>
                        <a:t>да РайимЎ</a:t>
                      </a:r>
                      <a:r>
                        <a:rPr lang="uz-Cyrl-UZ" sz="900" kern="1200" dirty="0">
                          <a:solidFill>
                            <a:schemeClr val="tx1"/>
                          </a:solidFill>
                          <a:effectLst/>
                          <a:latin typeface="+mn-lt"/>
                          <a:ea typeface="+mn-ea"/>
                          <a:cs typeface="+mn-cs"/>
                        </a:rPr>
                        <a:t>.Умарбековнинг </a:t>
                      </a:r>
                      <a:r>
                        <a:rPr lang="uz-Cyrl-UZ" sz="900" b="1" kern="1200" dirty="0">
                          <a:solidFill>
                            <a:schemeClr val="tx1"/>
                          </a:solidFill>
                          <a:effectLst/>
                          <a:latin typeface="+mn-lt"/>
                          <a:ea typeface="+mn-ea"/>
                          <a:cs typeface="+mn-cs"/>
                        </a:rPr>
                        <a:t>“Аризасига кўра”</a:t>
                      </a:r>
                      <a:r>
                        <a:rPr lang="uz-Cyrl-UZ" sz="900" kern="1200" dirty="0">
                          <a:solidFill>
                            <a:schemeClr val="tx1"/>
                          </a:solidFill>
                          <a:effectLst/>
                          <a:latin typeface="+mn-lt"/>
                          <a:ea typeface="+mn-ea"/>
                          <a:cs typeface="+mn-cs"/>
                        </a:rPr>
                        <a:t>да Элёр, Э.Хушвақтовнинг</a:t>
                      </a:r>
                      <a:r>
                        <a:rPr lang="uz-Cyrl-UZ" sz="900" b="1" kern="1200" dirty="0">
                          <a:solidFill>
                            <a:schemeClr val="tx1"/>
                          </a:solidFill>
                          <a:effectLst/>
                          <a:latin typeface="+mn-lt"/>
                          <a:ea typeface="+mn-ea"/>
                          <a:cs typeface="+mn-cs"/>
                        </a:rPr>
                        <a:t> “Чимилдиқ”</a:t>
                      </a:r>
                      <a:r>
                        <a:rPr lang="uz-Cyrl-UZ" sz="900" kern="1200" dirty="0">
                          <a:solidFill>
                            <a:schemeClr val="tx1"/>
                          </a:solidFill>
                          <a:effectLst/>
                          <a:latin typeface="+mn-lt"/>
                          <a:ea typeface="+mn-ea"/>
                          <a:cs typeface="+mn-cs"/>
                        </a:rPr>
                        <a:t>да куёв, Н.Телегеновнинг </a:t>
                      </a:r>
                      <a:r>
                        <a:rPr lang="uz-Cyrl-UZ" sz="900" b="1" kern="1200" dirty="0">
                          <a:solidFill>
                            <a:schemeClr val="tx1"/>
                          </a:solidFill>
                          <a:effectLst/>
                          <a:latin typeface="+mn-lt"/>
                          <a:ea typeface="+mn-ea"/>
                          <a:cs typeface="+mn-cs"/>
                        </a:rPr>
                        <a:t>“Мухаббат қўшиғи”</a:t>
                      </a:r>
                      <a:r>
                        <a:rPr lang="uz-Cyrl-UZ" sz="900" kern="1200" dirty="0">
                          <a:solidFill>
                            <a:schemeClr val="tx1"/>
                          </a:solidFill>
                          <a:effectLst/>
                          <a:latin typeface="+mn-lt"/>
                          <a:ea typeface="+mn-ea"/>
                          <a:cs typeface="+mn-cs"/>
                        </a:rPr>
                        <a:t>да Нажим, Ф.Мўсажоновнинг</a:t>
                      </a:r>
                      <a:r>
                        <a:rPr lang="uz-Cyrl-UZ" sz="900" b="1" kern="1200" dirty="0">
                          <a:solidFill>
                            <a:schemeClr val="tx1"/>
                          </a:solidFill>
                          <a:effectLst/>
                          <a:latin typeface="+mn-lt"/>
                          <a:ea typeface="+mn-ea"/>
                          <a:cs typeface="+mn-cs"/>
                        </a:rPr>
                        <a:t> “Шахарлик олифта”</a:t>
                      </a:r>
                      <a:r>
                        <a:rPr lang="uz-Cyrl-UZ" sz="900" kern="1200" dirty="0">
                          <a:solidFill>
                            <a:schemeClr val="tx1"/>
                          </a:solidFill>
                          <a:effectLst/>
                          <a:latin typeface="+mn-lt"/>
                          <a:ea typeface="+mn-ea"/>
                          <a:cs typeface="+mn-cs"/>
                        </a:rPr>
                        <a:t>да Қувонч, Э.Вохидовнинг</a:t>
                      </a:r>
                      <a:r>
                        <a:rPr lang="uz-Cyrl-UZ" sz="900" b="1" kern="1200" dirty="0">
                          <a:solidFill>
                            <a:schemeClr val="tx1"/>
                          </a:solidFill>
                          <a:effectLst/>
                          <a:latin typeface="+mn-lt"/>
                          <a:ea typeface="+mn-ea"/>
                          <a:cs typeface="+mn-cs"/>
                        </a:rPr>
                        <a:t> “Олтин девор”</a:t>
                      </a:r>
                      <a:r>
                        <a:rPr lang="uz-Cyrl-UZ" sz="900" kern="1200" dirty="0">
                          <a:solidFill>
                            <a:schemeClr val="tx1"/>
                          </a:solidFill>
                          <a:effectLst/>
                          <a:latin typeface="+mn-lt"/>
                          <a:ea typeface="+mn-ea"/>
                          <a:cs typeface="+mn-cs"/>
                        </a:rPr>
                        <a:t>да Нодир, Х.Ғуломнинг </a:t>
                      </a:r>
                      <a:r>
                        <a:rPr lang="uz-Cyrl-UZ" sz="900" b="1" kern="1200" dirty="0">
                          <a:solidFill>
                            <a:schemeClr val="tx1"/>
                          </a:solidFill>
                          <a:effectLst/>
                          <a:latin typeface="+mn-lt"/>
                          <a:ea typeface="+mn-ea"/>
                          <a:cs typeface="+mn-cs"/>
                        </a:rPr>
                        <a:t>“Тошболта ошиқ”</a:t>
                      </a:r>
                      <a:r>
                        <a:rPr lang="uz-Cyrl-UZ" sz="900" kern="1200" dirty="0">
                          <a:solidFill>
                            <a:schemeClr val="tx1"/>
                          </a:solidFill>
                          <a:effectLst/>
                          <a:latin typeface="+mn-lt"/>
                          <a:ea typeface="+mn-ea"/>
                          <a:cs typeface="+mn-cs"/>
                        </a:rPr>
                        <a:t>да Тешавой, К.Яшиннинг </a:t>
                      </a:r>
                      <a:r>
                        <a:rPr lang="uz-Cyrl-UZ" sz="900" b="1" kern="1200" dirty="0">
                          <a:solidFill>
                            <a:schemeClr val="tx1"/>
                          </a:solidFill>
                          <a:effectLst/>
                          <a:latin typeface="+mn-lt"/>
                          <a:ea typeface="+mn-ea"/>
                          <a:cs typeface="+mn-cs"/>
                        </a:rPr>
                        <a:t>“Нурхон”</a:t>
                      </a:r>
                      <a:r>
                        <a:rPr lang="uz-Cyrl-UZ" sz="900" kern="1200" dirty="0">
                          <a:solidFill>
                            <a:schemeClr val="tx1"/>
                          </a:solidFill>
                          <a:effectLst/>
                          <a:latin typeface="+mn-lt"/>
                          <a:ea typeface="+mn-ea"/>
                          <a:cs typeface="+mn-cs"/>
                        </a:rPr>
                        <a:t>да Хайдар, Н.Аббосхоннинг </a:t>
                      </a:r>
                      <a:r>
                        <a:rPr lang="uz-Cyrl-UZ" sz="900" b="1" kern="1200" dirty="0">
                          <a:solidFill>
                            <a:schemeClr val="tx1"/>
                          </a:solidFill>
                          <a:effectLst/>
                          <a:latin typeface="+mn-lt"/>
                          <a:ea typeface="+mn-ea"/>
                          <a:cs typeface="+mn-cs"/>
                        </a:rPr>
                        <a:t>“Ўзбекча рақс”</a:t>
                      </a:r>
                      <a:r>
                        <a:rPr lang="uz-Cyrl-UZ" sz="900" kern="1200" dirty="0">
                          <a:solidFill>
                            <a:schemeClr val="tx1"/>
                          </a:solidFill>
                          <a:effectLst/>
                          <a:latin typeface="+mn-lt"/>
                          <a:ea typeface="+mn-ea"/>
                          <a:cs typeface="+mn-cs"/>
                        </a:rPr>
                        <a:t>да Василий, А.Амирлининг </a:t>
                      </a:r>
                      <a:r>
                        <a:rPr lang="uz-Cyrl-UZ" sz="900" b="1" kern="1200" dirty="0">
                          <a:solidFill>
                            <a:schemeClr val="tx1"/>
                          </a:solidFill>
                          <a:effectLst/>
                          <a:latin typeface="+mn-lt"/>
                          <a:ea typeface="+mn-ea"/>
                          <a:cs typeface="+mn-cs"/>
                        </a:rPr>
                        <a:t>“Бой хотин”</a:t>
                      </a:r>
                      <a:r>
                        <a:rPr lang="uz-Cyrl-UZ" sz="900" kern="1200" dirty="0">
                          <a:solidFill>
                            <a:schemeClr val="tx1"/>
                          </a:solidFill>
                          <a:effectLst/>
                          <a:latin typeface="+mn-lt"/>
                          <a:ea typeface="+mn-ea"/>
                          <a:cs typeface="+mn-cs"/>
                        </a:rPr>
                        <a:t>да Оқловчи, </a:t>
                      </a:r>
                      <a:r>
                        <a:rPr lang="uz-Cyrl-UZ" sz="900" b="1" kern="1200" dirty="0">
                          <a:solidFill>
                            <a:schemeClr val="tx1"/>
                          </a:solidFill>
                          <a:effectLst/>
                          <a:latin typeface="+mn-lt"/>
                          <a:ea typeface="+mn-ea"/>
                          <a:cs typeface="+mn-cs"/>
                        </a:rPr>
                        <a:t>“Ахмад Фар</a:t>
                      </a:r>
                      <a:r>
                        <a:rPr lang="uz-Latn-UZ" sz="900" b="1" kern="1200" dirty="0">
                          <a:solidFill>
                            <a:schemeClr val="tx1"/>
                          </a:solidFill>
                          <a:effectLst/>
                          <a:latin typeface="+mn-lt"/>
                          <a:ea typeface="+mn-ea"/>
                          <a:cs typeface="+mn-cs"/>
                        </a:rPr>
                        <a:t>ғоний</a:t>
                      </a:r>
                      <a:r>
                        <a:rPr lang="uz-Cyrl-UZ" sz="900" b="1" kern="1200" dirty="0">
                          <a:solidFill>
                            <a:schemeClr val="tx1"/>
                          </a:solidFill>
                          <a:effectLst/>
                          <a:latin typeface="+mn-lt"/>
                          <a:ea typeface="+mn-ea"/>
                          <a:cs typeface="+mn-cs"/>
                        </a:rPr>
                        <a:t>”</a:t>
                      </a:r>
                      <a:r>
                        <a:rPr lang="uz-Latn-UZ" sz="900" kern="1200" dirty="0">
                          <a:solidFill>
                            <a:schemeClr val="tx1"/>
                          </a:solidFill>
                          <a:effectLst/>
                          <a:latin typeface="+mn-lt"/>
                          <a:ea typeface="+mn-ea"/>
                          <a:cs typeface="+mn-cs"/>
                        </a:rPr>
                        <a:t>да Ал-Маъмун</a:t>
                      </a:r>
                      <a:r>
                        <a:rPr lang="uz-Cyrl-UZ" sz="900" kern="1200" dirty="0">
                          <a:solidFill>
                            <a:schemeClr val="tx1"/>
                          </a:solidFill>
                          <a:effectLst/>
                          <a:latin typeface="+mn-lt"/>
                          <a:ea typeface="+mn-ea"/>
                          <a:cs typeface="+mn-cs"/>
                        </a:rPr>
                        <a:t>, Ч.Айтматовнинг </a:t>
                      </a:r>
                      <a:r>
                        <a:rPr lang="uz-Cyrl-UZ" sz="900" b="1" kern="1200" dirty="0">
                          <a:solidFill>
                            <a:schemeClr val="tx1"/>
                          </a:solidFill>
                          <a:effectLst/>
                          <a:latin typeface="+mn-lt"/>
                          <a:ea typeface="+mn-ea"/>
                          <a:cs typeface="+mn-cs"/>
                        </a:rPr>
                        <a:t>“Жамила”</a:t>
                      </a:r>
                      <a:r>
                        <a:rPr lang="uz-Cyrl-UZ" sz="900" kern="1200" dirty="0">
                          <a:solidFill>
                            <a:schemeClr val="tx1"/>
                          </a:solidFill>
                          <a:effectLst/>
                          <a:latin typeface="+mn-lt"/>
                          <a:ea typeface="+mn-ea"/>
                          <a:cs typeface="+mn-cs"/>
                        </a:rPr>
                        <a:t>да Уразим оға, С.Ахмаднинг </a:t>
                      </a:r>
                      <a:r>
                        <a:rPr lang="uz-Cyrl-UZ" sz="900" b="1" kern="1200" dirty="0">
                          <a:solidFill>
                            <a:schemeClr val="tx1"/>
                          </a:solidFill>
                          <a:effectLst/>
                          <a:latin typeface="+mn-lt"/>
                          <a:ea typeface="+mn-ea"/>
                          <a:cs typeface="+mn-cs"/>
                        </a:rPr>
                        <a:t>“Уфқ”</a:t>
                      </a:r>
                      <a:r>
                        <a:rPr lang="uz-Cyrl-UZ" sz="900" kern="1200" dirty="0">
                          <a:solidFill>
                            <a:schemeClr val="tx1"/>
                          </a:solidFill>
                          <a:effectLst/>
                          <a:latin typeface="+mn-lt"/>
                          <a:ea typeface="+mn-ea"/>
                          <a:cs typeface="+mn-cs"/>
                        </a:rPr>
                        <a:t>да Икром ота, Н.Думбадзенинг </a:t>
                      </a:r>
                      <a:r>
                        <a:rPr lang="uz-Cyrl-UZ" sz="900" b="1" kern="1200" dirty="0">
                          <a:solidFill>
                            <a:schemeClr val="tx1"/>
                          </a:solidFill>
                          <a:effectLst/>
                          <a:latin typeface="+mn-lt"/>
                          <a:ea typeface="+mn-ea"/>
                          <a:cs typeface="+mn-cs"/>
                        </a:rPr>
                        <a:t>“Абадият қонуни”</a:t>
                      </a:r>
                      <a:r>
                        <a:rPr lang="uz-Cyrl-UZ" sz="900" kern="1200" dirty="0">
                          <a:solidFill>
                            <a:schemeClr val="tx1"/>
                          </a:solidFill>
                          <a:effectLst/>
                          <a:latin typeface="+mn-lt"/>
                          <a:ea typeface="+mn-ea"/>
                          <a:cs typeface="+mn-cs"/>
                        </a:rPr>
                        <a:t> да Евгений ва профессор, Уйғуннинг </a:t>
                      </a:r>
                      <a:r>
                        <a:rPr lang="uz-Cyrl-UZ" sz="900" b="1" kern="1200" dirty="0">
                          <a:solidFill>
                            <a:schemeClr val="tx1"/>
                          </a:solidFill>
                          <a:effectLst/>
                          <a:latin typeface="+mn-lt"/>
                          <a:ea typeface="+mn-ea"/>
                          <a:cs typeface="+mn-cs"/>
                        </a:rPr>
                        <a:t>“Зебунисо”</a:t>
                      </a:r>
                      <a:r>
                        <a:rPr lang="uz-Cyrl-UZ" sz="900" kern="1200" dirty="0">
                          <a:solidFill>
                            <a:schemeClr val="tx1"/>
                          </a:solidFill>
                          <a:effectLst/>
                          <a:latin typeface="+mn-lt"/>
                          <a:ea typeface="+mn-ea"/>
                          <a:cs typeface="+mn-cs"/>
                        </a:rPr>
                        <a:t> да Шохжахон, Ғофур Ғуломнинг “</a:t>
                      </a:r>
                      <a:r>
                        <a:rPr lang="uz-Cyrl-UZ" sz="900" b="1" kern="1200" dirty="0">
                          <a:solidFill>
                            <a:schemeClr val="tx1"/>
                          </a:solidFill>
                          <a:effectLst/>
                          <a:latin typeface="+mn-lt"/>
                          <a:ea typeface="+mn-ea"/>
                          <a:cs typeface="+mn-cs"/>
                        </a:rPr>
                        <a:t>Шум бола”</a:t>
                      </a:r>
                      <a:r>
                        <a:rPr lang="uz-Cyrl-UZ" sz="900" kern="1200" dirty="0">
                          <a:solidFill>
                            <a:schemeClr val="tx1"/>
                          </a:solidFill>
                          <a:effectLst/>
                          <a:latin typeface="+mn-lt"/>
                          <a:ea typeface="+mn-ea"/>
                          <a:cs typeface="+mn-cs"/>
                        </a:rPr>
                        <a:t>да Домла, каби образларини маҳорат билан ижро этди ва актёр сифатида мухлислар ва мутахассислар эътиборига сазовор бўлди.	</a:t>
                      </a:r>
                      <a:endParaRPr lang="ru-RU" sz="9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35532">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900" b="1" noProof="0" dirty="0">
                          <a:solidFill>
                            <a:srgbClr val="C00000"/>
                          </a:solidFill>
                          <a:effectLst/>
                          <a:latin typeface="+mn-lt"/>
                          <a:ea typeface="Calibri" panose="020F0502020204030204" pitchFamily="34" charset="0"/>
                          <a:cs typeface="Times New Roman" panose="02020603050405020304" pitchFamily="18" charset="0"/>
                        </a:rPr>
                        <a:t>Давлат тадбирларидаги иштироки:</a:t>
                      </a:r>
                      <a:endParaRPr lang="ru-RU" sz="900" b="1" dirty="0">
                        <a:effectLst/>
                        <a:latin typeface="+mn-lt"/>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419110">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900" b="0" dirty="0">
                          <a:effectLst/>
                          <a:latin typeface="+mn-lt"/>
                          <a:ea typeface="Calibri" panose="020F0502020204030204" pitchFamily="34" charset="0"/>
                          <a:cs typeface="Times New Roman" panose="02020603050405020304" pitchFamily="18" charset="0"/>
                        </a:rPr>
                        <a:t>Республикамизда</a:t>
                      </a:r>
                      <a:r>
                        <a:rPr lang="uz-Cyrl-UZ" sz="900" b="0" baseline="0" dirty="0">
                          <a:effectLst/>
                          <a:latin typeface="+mn-lt"/>
                          <a:ea typeface="Calibri" panose="020F0502020204030204" pitchFamily="34" charset="0"/>
                          <a:cs typeface="Times New Roman" panose="02020603050405020304" pitchFamily="18" charset="0"/>
                        </a:rPr>
                        <a:t> ўткалиб келинадиган барча оммавий маданий тадбирлар ва давлат тадбирлари, иштирок этиб келади.</a:t>
                      </a:r>
                      <a:endParaRPr lang="ru-RU" sz="9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52353" y="1162815"/>
            <a:ext cx="887104" cy="1064526"/>
          </a:xfrm>
          <a:prstGeom prst="rect">
            <a:avLst/>
          </a:prstGeom>
        </p:spPr>
      </p:pic>
    </p:spTree>
    <p:extLst>
      <p:ext uri="{BB962C8B-B14F-4D97-AF65-F5344CB8AC3E}">
        <p14:creationId xmlns:p14="http://schemas.microsoft.com/office/powerpoint/2010/main" val="210911613"/>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1600" b="1" dirty="0">
                <a:solidFill>
                  <a:srgbClr val="002060"/>
                </a:solidFill>
                <a:latin typeface="Bahnschrift SemiBold" panose="020B0502040204020203" pitchFamily="34" charset="0"/>
              </a:rPr>
              <a:t>КОНЦЕРТ-ТОМОША ЙЎНАЛИШИ СОҲА ВАКИЛЛАРИ (ТОП-100)</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52949"/>
          <a:ext cx="3427547" cy="5885513"/>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36035">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4525">
                <a:tc rowSpan="6" gridSpan="2">
                  <a:txBody>
                    <a:bodyPr/>
                    <a:lstStyle/>
                    <a:p>
                      <a:pPr algn="l">
                        <a:lnSpc>
                          <a:spcPct val="90000"/>
                        </a:lnSpc>
                      </a:pPr>
                      <a:endParaRPr lang="en-US" sz="500" b="0" dirty="0">
                        <a:latin typeface="+mn-lt"/>
                      </a:endParaRPr>
                    </a:p>
                    <a:p>
                      <a:pPr algn="l">
                        <a:lnSpc>
                          <a:spcPct val="90000"/>
                        </a:lnSpc>
                      </a:pPr>
                      <a:endParaRPr lang="en-US" sz="500" b="0" dirty="0">
                        <a:latin typeface="+mn-lt"/>
                      </a:endParaRPr>
                    </a:p>
                    <a:p>
                      <a:pPr algn="l">
                        <a:lnSpc>
                          <a:spcPct val="90000"/>
                        </a:lnSpc>
                      </a:pPr>
                      <a:endParaRPr lang="en-US" sz="500" b="0" dirty="0">
                        <a:latin typeface="+mn-lt"/>
                      </a:endParaRPr>
                    </a:p>
                    <a:p>
                      <a:pPr algn="l">
                        <a:lnSpc>
                          <a:spcPct val="90000"/>
                        </a:lnSpc>
                      </a:pPr>
                      <a:endParaRPr lang="en-US" sz="500" b="0" dirty="0">
                        <a:latin typeface="+mn-lt"/>
                      </a:endParaRPr>
                    </a:p>
                    <a:p>
                      <a:pPr algn="l">
                        <a:lnSpc>
                          <a:spcPct val="90000"/>
                        </a:lnSpc>
                      </a:pPr>
                      <a:endParaRPr lang="en-US" sz="500" b="0" dirty="0">
                        <a:latin typeface="+mn-lt"/>
                      </a:endParaRPr>
                    </a:p>
                    <a:p>
                      <a:pPr algn="l">
                        <a:lnSpc>
                          <a:spcPct val="90000"/>
                        </a:lnSpc>
                      </a:pPr>
                      <a:endParaRPr lang="uz-Cyrl-UZ" sz="500" b="0" dirty="0">
                        <a:latin typeface="+mn-lt"/>
                      </a:endParaRPr>
                    </a:p>
                    <a:p>
                      <a:pPr algn="l">
                        <a:lnSpc>
                          <a:spcPct val="90000"/>
                        </a:lnSpc>
                      </a:pPr>
                      <a:endParaRPr lang="uz-Cyrl-UZ" sz="500" b="0" dirty="0">
                        <a:latin typeface="+mn-lt"/>
                      </a:endParaRPr>
                    </a:p>
                    <a:p>
                      <a:pPr algn="l">
                        <a:lnSpc>
                          <a:spcPct val="90000"/>
                        </a:lnSpc>
                      </a:pPr>
                      <a:endParaRPr lang="en-US" sz="500" b="0" dirty="0">
                        <a:latin typeface="+mn-lt"/>
                      </a:endParaRPr>
                    </a:p>
                    <a:p>
                      <a:pPr algn="l">
                        <a:lnSpc>
                          <a:spcPct val="90000"/>
                        </a:lnSpc>
                      </a:pPr>
                      <a:endParaRPr lang="en-US" sz="500" b="0" dirty="0">
                        <a:latin typeface="+mn-lt"/>
                      </a:endParaRPr>
                    </a:p>
                    <a:p>
                      <a:pPr algn="l">
                        <a:lnSpc>
                          <a:spcPct val="90000"/>
                        </a:lnSpc>
                      </a:pPr>
                      <a:endParaRPr lang="en-US" sz="500" b="0" dirty="0">
                        <a:latin typeface="+mn-lt"/>
                      </a:endParaRPr>
                    </a:p>
                    <a:p>
                      <a:pPr algn="l">
                        <a:lnSpc>
                          <a:spcPct val="90000"/>
                        </a:lnSpc>
                      </a:pPr>
                      <a:endParaRPr lang="en-US" sz="500" b="0" dirty="0">
                        <a:latin typeface="+mn-lt"/>
                      </a:endParaRPr>
                    </a:p>
                    <a:p>
                      <a:pPr algn="l">
                        <a:lnSpc>
                          <a:spcPct val="90000"/>
                        </a:lnSpc>
                      </a:pPr>
                      <a:endParaRPr lang="en-US" sz="500" b="0" dirty="0">
                        <a:latin typeface="+mn-lt"/>
                      </a:endParaRPr>
                    </a:p>
                    <a:p>
                      <a:pPr algn="l">
                        <a:lnSpc>
                          <a:spcPct val="90000"/>
                        </a:lnSpc>
                      </a:pPr>
                      <a:endParaRPr lang="en-US" sz="500" b="0" dirty="0">
                        <a:latin typeface="+mn-lt"/>
                      </a:endParaRPr>
                    </a:p>
                    <a:p>
                      <a:pPr algn="l">
                        <a:lnSpc>
                          <a:spcPct val="90000"/>
                        </a:lnSpc>
                      </a:pPr>
                      <a:endParaRPr lang="en-US" sz="500" b="0" dirty="0">
                        <a:latin typeface="+mn-lt"/>
                      </a:endParaRPr>
                    </a:p>
                    <a:p>
                      <a:pPr algn="l">
                        <a:lnSpc>
                          <a:spcPct val="90000"/>
                        </a:lnSpc>
                      </a:pPr>
                      <a:endParaRPr lang="en-US" sz="500" b="0" dirty="0">
                        <a:latin typeface="+mn-lt"/>
                      </a:endParaRPr>
                    </a:p>
                    <a:p>
                      <a:pPr algn="l">
                        <a:lnSpc>
                          <a:spcPct val="90000"/>
                        </a:lnSpc>
                      </a:pPr>
                      <a:endParaRPr lang="en-US" sz="500" b="0" dirty="0">
                        <a:latin typeface="+mn-lt"/>
                      </a:endParaRPr>
                    </a:p>
                    <a:p>
                      <a:pPr algn="l">
                        <a:lnSpc>
                          <a:spcPct val="90000"/>
                        </a:lnSpc>
                      </a:pPr>
                      <a:endParaRPr lang="en-US" sz="500" b="0" dirty="0">
                        <a:latin typeface="+mn-lt"/>
                      </a:endParaRPr>
                    </a:p>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Хатамова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452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Ёрқиной</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452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Ғаниевна</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4525">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4525">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23.02.1941</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370483">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a:solidFill>
                            <a:schemeClr val="tx1"/>
                          </a:solidFill>
                          <a:latin typeface="+mn-lt"/>
                          <a:ea typeface="+mn-ea"/>
                          <a:cs typeface="+mn-cs"/>
                        </a:rPr>
                        <a:t>Фарғона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3989">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79974">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Оилавий ва ижтимоий ахволи:</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Бева, 2 нафар ўғил фарзанди бор,1 нафар қиз фарзанди бор </a:t>
                      </a:r>
                      <a:br>
                        <a:rPr lang="uz-Cyrl-UZ" sz="900" b="0" kern="1200" noProof="0" dirty="0">
                          <a:solidFill>
                            <a:schemeClr val="tx1"/>
                          </a:solidFill>
                          <a:latin typeface="+mn-lt"/>
                          <a:ea typeface="+mn-ea"/>
                          <a:cs typeface="+mn-cs"/>
                        </a:rPr>
                      </a:br>
                      <a:endParaRPr lang="uz-Cyrl-UZ" sz="900" b="0" kern="1200" noProof="0" dirty="0">
                        <a:solidFill>
                          <a:schemeClr val="tx1"/>
                        </a:solidFill>
                        <a:latin typeface="+mn-lt"/>
                        <a:ea typeface="+mn-ea"/>
                        <a:cs typeface="+mn-cs"/>
                      </a:endParaRPr>
                    </a:p>
                  </a:txBody>
                  <a:tcPr marL="74295" marR="74295" marT="37148" marB="37148" anchor="ctr">
                    <a:lnL>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3989">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494689">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Хатамов Ғанижон 1916 йил, </a:t>
                      </a:r>
                    </a:p>
                    <a:p>
                      <a:pPr algn="l">
                        <a:lnSpc>
                          <a:spcPct val="85000"/>
                        </a:lnSpc>
                      </a:pPr>
                      <a:r>
                        <a:rPr lang="uz-Cyrl-UZ" sz="900" b="0" kern="1200" noProof="0" dirty="0">
                          <a:solidFill>
                            <a:schemeClr val="tx1"/>
                          </a:solidFill>
                          <a:latin typeface="+mn-lt"/>
                          <a:ea typeface="+mn-ea"/>
                          <a:cs typeface="Arial" panose="020B0604020202020204" pitchFamily="34" charset="0"/>
                        </a:rPr>
                        <a:t>Фарғона вилояти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1967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Фарғона</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ўзбек</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театри</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мусиқачиси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1999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Хатамова Қаноатхон</a:t>
                      </a:r>
                    </a:p>
                    <a:p>
                      <a:pPr algn="l">
                        <a:lnSpc>
                          <a:spcPct val="85000"/>
                        </a:lnSpc>
                      </a:pPr>
                      <a:r>
                        <a:rPr lang="uz-Cyrl-UZ" sz="900" b="0" kern="1200" noProof="0" dirty="0">
                          <a:solidFill>
                            <a:schemeClr val="tx1"/>
                          </a:solidFill>
                          <a:latin typeface="+mn-lt"/>
                          <a:ea typeface="+mn-ea"/>
                          <a:cs typeface="Arial" panose="020B0604020202020204" pitchFamily="34" charset="0"/>
                        </a:rPr>
                        <a:t>1918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a:solidFill>
                            <a:schemeClr val="tx1"/>
                          </a:solidFill>
                          <a:latin typeface="+mn-lt"/>
                          <a:ea typeface="+mn-ea"/>
                          <a:cs typeface="Arial" panose="020B0604020202020204" pitchFamily="34" charset="0"/>
                        </a:rPr>
                        <a:t>1981 </a:t>
                      </a:r>
                      <a:r>
                        <a:rPr lang="ru-RU" sz="900" b="0" kern="1200" noProof="0" dirty="0" err="1">
                          <a:solidFill>
                            <a:schemeClr val="tx1"/>
                          </a:solidFill>
                          <a:latin typeface="+mn-lt"/>
                          <a:ea typeface="+mn-ea"/>
                          <a:cs typeface="Arial" panose="020B0604020202020204" pitchFamily="34" charset="0"/>
                        </a:rPr>
                        <a:t>йил</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вафот</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этган</a:t>
                      </a:r>
                      <a:endParaRPr lang="ru-RU" sz="900" b="0" kern="1200" noProof="0" dirty="0">
                        <a:solidFill>
                          <a:schemeClr val="tx1"/>
                        </a:solidFill>
                        <a:latin typeface="+mn-lt"/>
                        <a:ea typeface="+mn-ea"/>
                        <a:cs typeface="Arial" panose="020B0604020202020204" pitchFamily="34" charset="0"/>
                      </a:endParaRPr>
                    </a:p>
                    <a:p>
                      <a:pPr algn="l">
                        <a:lnSpc>
                          <a:spcPct val="85000"/>
                        </a:lnSpc>
                      </a:pPr>
                      <a:r>
                        <a:rPr lang="ru-RU" sz="900" b="0" kern="1200" noProof="0" dirty="0">
                          <a:solidFill>
                            <a:schemeClr val="tx1"/>
                          </a:solidFill>
                          <a:latin typeface="+mn-lt"/>
                          <a:ea typeface="+mn-ea"/>
                          <a:cs typeface="Arial" panose="020B0604020202020204" pitchFamily="34" charset="0"/>
                        </a:rPr>
                        <a:t>(</a:t>
                      </a:r>
                      <a:r>
                        <a:rPr lang="ru-RU" sz="900" b="0" kern="1200" noProof="0" dirty="0" err="1">
                          <a:solidFill>
                            <a:schemeClr val="tx1"/>
                          </a:solidFill>
                          <a:latin typeface="+mn-lt"/>
                          <a:ea typeface="+mn-ea"/>
                          <a:cs typeface="Arial" panose="020B0604020202020204" pitchFamily="34" charset="0"/>
                        </a:rPr>
                        <a:t>Фарғона</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ўзбек</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театри</a:t>
                      </a:r>
                      <a:r>
                        <a:rPr lang="ru-RU" sz="900" b="0" kern="1200" noProof="0" dirty="0">
                          <a:solidFill>
                            <a:schemeClr val="tx1"/>
                          </a:solidFill>
                          <a:latin typeface="+mn-lt"/>
                          <a:ea typeface="+mn-ea"/>
                          <a:cs typeface="Arial" panose="020B0604020202020204" pitchFamily="34" charset="0"/>
                        </a:rPr>
                        <a:t> </a:t>
                      </a:r>
                      <a:r>
                        <a:rPr lang="ru-RU" sz="900" b="0" kern="1200" noProof="0" dirty="0" err="1">
                          <a:solidFill>
                            <a:schemeClr val="tx1"/>
                          </a:solidFill>
                          <a:latin typeface="+mn-lt"/>
                          <a:ea typeface="+mn-ea"/>
                          <a:cs typeface="Arial" panose="020B0604020202020204" pitchFamily="34" charset="0"/>
                        </a:rPr>
                        <a:t>актрисаси</a:t>
                      </a:r>
                      <a:r>
                        <a:rPr lang="ru-RU" sz="900" b="0" kern="1200" noProof="0" dirty="0">
                          <a:solidFill>
                            <a:schemeClr val="tx1"/>
                          </a:solidFill>
                          <a:latin typeface="+mn-lt"/>
                          <a:ea typeface="+mn-ea"/>
                          <a:cs typeface="Arial" panose="020B0604020202020204" pitchFamily="34" charset="0"/>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06748">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0" kern="1200" noProof="0" dirty="0">
                          <a:solidFill>
                            <a:schemeClr val="tx1"/>
                          </a:solidFill>
                          <a:latin typeface="+mn-lt"/>
                          <a:ea typeface="+mn-ea"/>
                          <a:cs typeface="Arial" panose="020B0604020202020204" pitchFamily="34" charset="0"/>
                        </a:rPr>
                        <a:t>Маълумотга эга эмас</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dirty="0"/>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1402">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587706">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a:solidFill>
                            <a:schemeClr val="tx1"/>
                          </a:solidFill>
                          <a:latin typeface="+mn-lt"/>
                          <a:ea typeface="+mn-ea"/>
                          <a:cs typeface="+mn-cs"/>
                        </a:rPr>
                        <a:t>1970 й. </a:t>
                      </a:r>
                      <a:r>
                        <a:rPr lang="ru-RU" sz="900" b="0" kern="1200" noProof="0" dirty="0" err="1">
                          <a:solidFill>
                            <a:schemeClr val="tx1"/>
                          </a:solidFill>
                          <a:latin typeface="+mn-lt"/>
                          <a:ea typeface="+mn-ea"/>
                          <a:cs typeface="+mn-cs"/>
                        </a:rPr>
                        <a:t>Тошкент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давлат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маданият</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институти</a:t>
                      </a:r>
                      <a:r>
                        <a:rPr lang="ru-RU" sz="900" b="0" kern="1200" noProof="0" dirty="0">
                          <a:solidFill>
                            <a:schemeClr val="tx1"/>
                          </a:solidFill>
                          <a:latin typeface="+mn-lt"/>
                          <a:ea typeface="+mn-ea"/>
                          <a:cs typeface="+mn-cs"/>
                        </a:rPr>
                        <a:t> (</a:t>
                      </a:r>
                      <a:r>
                        <a:rPr lang="ru-RU" sz="900" b="0" kern="1200" noProof="0" dirty="0" err="1">
                          <a:solidFill>
                            <a:schemeClr val="tx1"/>
                          </a:solidFill>
                          <a:latin typeface="+mn-lt"/>
                          <a:ea typeface="+mn-ea"/>
                          <a:cs typeface="+mn-cs"/>
                        </a:rPr>
                        <a:t>сиртқи</a:t>
                      </a:r>
                      <a:r>
                        <a:rPr lang="ru-RU" sz="900" b="0" kern="1200" noProof="0" dirty="0">
                          <a:solidFill>
                            <a:schemeClr val="tx1"/>
                          </a:solidFill>
                          <a:latin typeface="+mn-lt"/>
                          <a:ea typeface="+mn-ea"/>
                          <a:cs typeface="+mn-cs"/>
                        </a:rPr>
                        <a:t>)</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58370">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Драма ва кино актёри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04800">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dirty="0"/>
                        <a:t>Профессор</a:t>
                      </a:r>
                      <a:endParaRPr lang="ru-RU" sz="900"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04800">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08382">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89"/>
          <a:ext cx="3172841" cy="5746651"/>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761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1174">
                <a:tc>
                  <a:txBody>
                    <a:bodyPr/>
                    <a:lstStyle/>
                    <a:p>
                      <a:pPr algn="l">
                        <a:lnSpc>
                          <a:spcPct val="85000"/>
                        </a:lnSpc>
                      </a:pPr>
                      <a:r>
                        <a:rPr lang="uz-Cyrl-UZ" sz="900" b="1" i="0" noProof="0" dirty="0">
                          <a:solidFill>
                            <a:schemeClr val="tx1"/>
                          </a:solidFill>
                          <a:latin typeface="+mn-lt"/>
                        </a:rPr>
                        <a:t>Эгаллаб турган лавозими:</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a:solidFill>
                            <a:schemeClr val="tx1"/>
                          </a:solidFill>
                          <a:latin typeface="+mn-lt"/>
                          <a:ea typeface="+mn-ea"/>
                          <a:cs typeface="+mn-cs"/>
                        </a:rPr>
                        <a:t>2024 йилдан буён театр драма артисти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192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685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a:effectLst/>
                          <a:latin typeface="+mn-lt"/>
                          <a:ea typeface="Calibri" panose="020F0502020204030204" pitchFamily="34" charset="0"/>
                          <a:cs typeface="Times New Roman" panose="02020603050405020304" pitchFamily="18" charset="0"/>
                        </a:rPr>
                        <a:t>69 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97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896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Й</a:t>
                      </a:r>
                      <a:r>
                        <a:rPr lang="ru-RU" sz="900" b="0" kern="1200" noProof="0" dirty="0" err="1">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p>
                      <a:pPr algn="l">
                        <a:lnSpc>
                          <a:spcPct val="107000"/>
                        </a:lnSpc>
                        <a:spcAft>
                          <a:spcPts val="0"/>
                        </a:spcAft>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811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8116">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a:t>
                      </a:r>
                    </a:p>
                    <a:p>
                      <a:pPr algn="l">
                        <a:lnSpc>
                          <a:spcPct val="107000"/>
                        </a:lnSpc>
                        <a:spcAft>
                          <a:spcPts val="0"/>
                        </a:spcAft>
                      </a:pP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624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2025 йил сўнггида</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5764">
                <a:tc>
                  <a:txBody>
                    <a:bodyPr/>
                    <a:lstStyle/>
                    <a:p>
                      <a:pPr algn="l">
                        <a:lnSpc>
                          <a:spcPct val="107000"/>
                        </a:lnSpc>
                        <a:spcAft>
                          <a:spcPts val="0"/>
                        </a:spcAft>
                      </a:pPr>
                      <a:r>
                        <a:rPr lang="uz-Cyrl-UZ" sz="900" b="1" i="0" kern="1200" noProof="0" dirty="0">
                          <a:solidFill>
                            <a:schemeClr val="tx1"/>
                          </a:solidFill>
                          <a:effectLst/>
                          <a:latin typeface="+mn-lt"/>
                          <a:ea typeface="Calibri" panose="020F0502020204030204" pitchFamily="34" charset="0"/>
                          <a:cs typeface="Times New Roman" panose="02020603050405020304" pitchFamily="18" charset="0"/>
                        </a:rPr>
                        <a:t>Соғлигидаги муаммолар:</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a:solidFill>
                            <a:schemeClr val="tx1"/>
                          </a:solidFill>
                          <a:effectLst/>
                          <a:latin typeface="+mn-lt"/>
                          <a:ea typeface="Calibri" panose="020F0502020204030204" pitchFamily="34" charset="0"/>
                          <a:cs typeface="Times New Roman" panose="02020603050405020304" pitchFamily="18" charset="0"/>
                        </a:rPr>
                        <a:t>Йўқ </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365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96243">
                <a:tc gridSpan="2">
                  <a:txBody>
                    <a:bodyPr/>
                    <a:lstStyle/>
                    <a:p>
                      <a:r>
                        <a:rPr lang="uz-Cyrl-UZ" sz="900" kern="1200" dirty="0">
                          <a:solidFill>
                            <a:schemeClr val="tx1"/>
                          </a:solidFill>
                          <a:effectLst/>
                          <a:latin typeface="+mn-lt"/>
                          <a:ea typeface="+mn-ea"/>
                          <a:cs typeface="+mn-cs"/>
                        </a:rPr>
                        <a:t>1967 </a:t>
                      </a:r>
                      <a:r>
                        <a:rPr lang="uz-Latn-UZ" sz="900" kern="1200" dirty="0">
                          <a:solidFill>
                            <a:schemeClr val="tx1"/>
                          </a:solidFill>
                          <a:effectLst/>
                          <a:latin typeface="+mn-lt"/>
                          <a:ea typeface="+mn-ea"/>
                          <a:cs typeface="+mn-cs"/>
                        </a:rPr>
                        <a:t>й Қирғизистонда хизмат кўрсатган артист </a:t>
                      </a:r>
                      <a:endParaRPr lang="ru-RU" sz="900" kern="1200" dirty="0">
                        <a:solidFill>
                          <a:schemeClr val="tx1"/>
                        </a:solidFill>
                        <a:effectLst/>
                        <a:latin typeface="+mn-lt"/>
                        <a:ea typeface="+mn-ea"/>
                        <a:cs typeface="+mn-cs"/>
                      </a:endParaRPr>
                    </a:p>
                    <a:p>
                      <a:r>
                        <a:rPr lang="uz-Latn-UZ" sz="900" kern="1200" dirty="0">
                          <a:solidFill>
                            <a:schemeClr val="tx1"/>
                          </a:solidFill>
                          <a:effectLst/>
                          <a:latin typeface="+mn-lt"/>
                          <a:ea typeface="+mn-ea"/>
                          <a:cs typeface="+mn-cs"/>
                        </a:rPr>
                        <a:t>1981 й Ўзбекистонда хизмат кўрсатган артист</a:t>
                      </a:r>
                      <a:endParaRPr lang="ru-RU"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1991 й Ўзбекистон халқ артисти</a:t>
                      </a:r>
                      <a:endParaRPr lang="ru-RU"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2022 й.“Меҳнат шухрати” ордени</a:t>
                      </a:r>
                      <a:endParaRPr lang="ru-RU" sz="900" kern="1200" dirty="0">
                        <a:solidFill>
                          <a:schemeClr val="tx1"/>
                        </a:solidFill>
                        <a:effectLst/>
                        <a:latin typeface="+mn-lt"/>
                        <a:ea typeface="+mn-ea"/>
                        <a:cs typeface="+mn-cs"/>
                      </a:endParaRPr>
                    </a:p>
                    <a:p>
                      <a:r>
                        <a:rPr lang="uz-Latn-UZ" sz="900" kern="1200" dirty="0">
                          <a:solidFill>
                            <a:schemeClr val="tx1"/>
                          </a:solidFill>
                          <a:effectLst/>
                          <a:latin typeface="+mn-lt"/>
                          <a:ea typeface="+mn-ea"/>
                          <a:cs typeface="+mn-cs"/>
                        </a:rPr>
                        <a:t>2020 й </a:t>
                      </a:r>
                      <a:r>
                        <a:rPr lang="uz-Cyrl-UZ" sz="900" kern="1200" dirty="0">
                          <a:solidFill>
                            <a:schemeClr val="tx1"/>
                          </a:solidFill>
                          <a:effectLst/>
                          <a:latin typeface="+mn-lt"/>
                          <a:ea typeface="+mn-ea"/>
                          <a:cs typeface="+mn-cs"/>
                        </a:rPr>
                        <a:t>“</a:t>
                      </a:r>
                      <a:r>
                        <a:rPr lang="uz-Latn-UZ" sz="900" kern="1200" dirty="0">
                          <a:solidFill>
                            <a:schemeClr val="tx1"/>
                          </a:solidFill>
                          <a:effectLst/>
                          <a:latin typeface="+mn-lt"/>
                          <a:ea typeface="+mn-ea"/>
                          <a:cs typeface="+mn-cs"/>
                        </a:rPr>
                        <a:t>Маъданият ва </a:t>
                      </a:r>
                      <a:r>
                        <a:rPr lang="uz-Cyrl-UZ" sz="900" kern="1200" dirty="0">
                          <a:solidFill>
                            <a:schemeClr val="tx1"/>
                          </a:solidFill>
                          <a:effectLst/>
                          <a:latin typeface="+mn-lt"/>
                          <a:ea typeface="+mn-ea"/>
                          <a:cs typeface="+mn-cs"/>
                        </a:rPr>
                        <a:t>с</a:t>
                      </a:r>
                      <a:r>
                        <a:rPr lang="uz-Latn-UZ" sz="900" kern="1200" dirty="0">
                          <a:solidFill>
                            <a:schemeClr val="tx1"/>
                          </a:solidFill>
                          <a:effectLst/>
                          <a:latin typeface="+mn-lt"/>
                          <a:ea typeface="+mn-ea"/>
                          <a:cs typeface="+mn-cs"/>
                        </a:rPr>
                        <a:t>анъат фидокори” кўкрак нишон</a:t>
                      </a:r>
                      <a:r>
                        <a:rPr lang="uz-Cyrl-UZ" sz="900" kern="1200" dirty="0">
                          <a:solidFill>
                            <a:schemeClr val="tx1"/>
                          </a:solidFill>
                          <a:effectLst/>
                          <a:latin typeface="+mn-lt"/>
                          <a:ea typeface="+mn-ea"/>
                          <a:cs typeface="+mn-cs"/>
                        </a:rPr>
                        <a:t>и</a:t>
                      </a:r>
                      <a:endParaRPr lang="ru-RU"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2025 й “Юрт ифтихори” кўкрак нишони</a:t>
                      </a:r>
                      <a:endParaRPr lang="ru-RU" sz="900" kern="1200" dirty="0">
                        <a:solidFill>
                          <a:schemeClr val="tx1"/>
                        </a:solidFill>
                        <a:effectLst/>
                        <a:latin typeface="+mn-lt"/>
                        <a:ea typeface="+mn-ea"/>
                        <a:cs typeface="+mn-cs"/>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9"/>
          <a:ext cx="2817247" cy="5899534"/>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24002">
                <a:tc>
                  <a:txBody>
                    <a:bodyPr/>
                    <a:lstStyle/>
                    <a:p>
                      <a:pPr algn="ctr">
                        <a:lnSpc>
                          <a:spcPct val="85000"/>
                        </a:lnSpc>
                      </a:pPr>
                      <a:r>
                        <a:rPr lang="uz-Cyrl-UZ" sz="1200" b="1" noProof="0" dirty="0">
                          <a:solidFill>
                            <a:schemeClr val="bg1"/>
                          </a:solidFill>
                          <a:latin typeface="Bahnschrift SemiBold" panose="020B0502040204020203" pitchFamily="34" charset="0"/>
                        </a:rPr>
                        <a:t>ФАОЛИЯТИ</a:t>
                      </a:r>
                      <a:r>
                        <a:rPr lang="uz-Cyrl-UZ" sz="1200" b="1" baseline="0" noProof="0" dirty="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25044">
                <a:tc>
                  <a:txBody>
                    <a:bodyPr/>
                    <a:lstStyle/>
                    <a:p>
                      <a:pPr algn="ctr">
                        <a:lnSpc>
                          <a:spcPct val="85000"/>
                        </a:lnSpc>
                      </a:pPr>
                      <a:r>
                        <a:rPr lang="uz-Cyrl-UZ" sz="1000" b="1" noProof="0" dirty="0">
                          <a:solidFill>
                            <a:schemeClr val="bg1"/>
                          </a:solidFill>
                          <a:latin typeface="Bahnschrift SemiBold" panose="020B0502040204020203" pitchFamily="34" charset="0"/>
                        </a:rPr>
                        <a:t>Меҳнат фаолияти ҳақида</a:t>
                      </a:r>
                      <a:r>
                        <a:rPr lang="uz-Cyrl-UZ" sz="1000" b="1" baseline="0" noProof="0" dirty="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909502">
                <a:tc>
                  <a:txBody>
                    <a:bodyPr/>
                    <a:lstStyle/>
                    <a:p>
                      <a:r>
                        <a:rPr lang="uz-Cyrl-UZ" sz="900" kern="1200" dirty="0">
                          <a:solidFill>
                            <a:schemeClr val="tx1"/>
                          </a:solidFill>
                          <a:effectLst/>
                          <a:latin typeface="+mn-lt"/>
                          <a:ea typeface="+mn-ea"/>
                          <a:cs typeface="+mn-cs"/>
                        </a:rPr>
                        <a:t>Ушбу театрда 1970 йилдан буён сермаҳсул ижод қилиб келмоқда. </a:t>
                      </a:r>
                      <a:endParaRPr lang="ru-RU"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Ё.Хатамова юртимизда мусиқали драма театри ривожига салмоқли ҳисса қўшиб келаётган тажрибали актёрлардан биридир. У узоқ йиллик ижодий фаолияти давомида </a:t>
                      </a:r>
                      <a:r>
                        <a:rPr lang="uz-Cyrl-UZ" sz="900" b="1" kern="1200" dirty="0">
                          <a:solidFill>
                            <a:schemeClr val="tx1"/>
                          </a:solidFill>
                          <a:effectLst/>
                          <a:latin typeface="+mn-lt"/>
                          <a:ea typeface="+mn-ea"/>
                          <a:cs typeface="+mn-cs"/>
                        </a:rPr>
                        <a:t> 210 га яқин</a:t>
                      </a:r>
                      <a:r>
                        <a:rPr lang="uz-Cyrl-UZ" sz="900" kern="1200" dirty="0">
                          <a:solidFill>
                            <a:schemeClr val="tx1"/>
                          </a:solidFill>
                          <a:effectLst/>
                          <a:latin typeface="+mn-lt"/>
                          <a:ea typeface="+mn-ea"/>
                          <a:cs typeface="+mn-cs"/>
                        </a:rPr>
                        <a:t> ранг-баранг характердаги образларни моҳирона яратиб, мутахассис ва томошабинлар олқишига сазовор бўлган. </a:t>
                      </a:r>
                      <a:endParaRPr lang="ru-RU"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Ё.Хатамова юксак бадиий маҳорат билан ижро этган роллар ўзининг таъсирчанлиги, ҳаётий ҳақиқатга мойиллиги билан ҳар қандай томошабинни ўзига ром этади. Ё.Хатамова томонидан яратилган </a:t>
                      </a:r>
                      <a:r>
                        <a:rPr lang="uz-Cyrl-UZ" sz="900" b="1" kern="1200" dirty="0">
                          <a:solidFill>
                            <a:schemeClr val="tx1"/>
                          </a:solidFill>
                          <a:effectLst/>
                          <a:latin typeface="+mn-lt"/>
                          <a:ea typeface="+mn-ea"/>
                          <a:cs typeface="+mn-cs"/>
                        </a:rPr>
                        <a:t>“Ўткан кунлар”</a:t>
                      </a:r>
                      <a:r>
                        <a:rPr lang="uz-Cyrl-UZ" sz="900" kern="1200" dirty="0">
                          <a:solidFill>
                            <a:schemeClr val="tx1"/>
                          </a:solidFill>
                          <a:effectLst/>
                          <a:latin typeface="+mn-lt"/>
                          <a:ea typeface="+mn-ea"/>
                          <a:cs typeface="+mn-cs"/>
                        </a:rPr>
                        <a:t> спектаклидаги</a:t>
                      </a:r>
                      <a:r>
                        <a:rPr lang="uz-Cyrl-UZ" sz="900" b="1" kern="1200" dirty="0">
                          <a:solidFill>
                            <a:schemeClr val="tx1"/>
                          </a:solidFill>
                          <a:effectLst/>
                          <a:latin typeface="+mn-lt"/>
                          <a:ea typeface="+mn-ea"/>
                          <a:cs typeface="+mn-cs"/>
                        </a:rPr>
                        <a:t> Кумуш</a:t>
                      </a:r>
                      <a:r>
                        <a:rPr lang="uz-Cyrl-UZ" sz="900" kern="1200" dirty="0">
                          <a:solidFill>
                            <a:schemeClr val="tx1"/>
                          </a:solidFill>
                          <a:effectLst/>
                          <a:latin typeface="+mn-lt"/>
                          <a:ea typeface="+mn-ea"/>
                          <a:cs typeface="+mn-cs"/>
                        </a:rPr>
                        <a:t>, </a:t>
                      </a:r>
                      <a:r>
                        <a:rPr lang="uz-Cyrl-UZ" sz="900" b="1" kern="1200" dirty="0">
                          <a:solidFill>
                            <a:schemeClr val="tx1"/>
                          </a:solidFill>
                          <a:effectLst/>
                          <a:latin typeface="+mn-lt"/>
                          <a:ea typeface="+mn-ea"/>
                          <a:cs typeface="+mn-cs"/>
                        </a:rPr>
                        <a:t>“Ватан ишқи”</a:t>
                      </a:r>
                      <a:r>
                        <a:rPr lang="uz-Cyrl-UZ" sz="900" kern="1200" dirty="0">
                          <a:solidFill>
                            <a:schemeClr val="tx1"/>
                          </a:solidFill>
                          <a:effectLst/>
                          <a:latin typeface="+mn-lt"/>
                          <a:ea typeface="+mn-ea"/>
                          <a:cs typeface="+mn-cs"/>
                        </a:rPr>
                        <a:t> даги </a:t>
                      </a:r>
                      <a:r>
                        <a:rPr lang="uz-Cyrl-UZ" sz="900" b="1" kern="1200" dirty="0">
                          <a:solidFill>
                            <a:schemeClr val="tx1"/>
                          </a:solidFill>
                          <a:effectLst/>
                          <a:latin typeface="+mn-lt"/>
                          <a:ea typeface="+mn-ea"/>
                          <a:cs typeface="+mn-cs"/>
                        </a:rPr>
                        <a:t>Зулфи</a:t>
                      </a:r>
                      <a:r>
                        <a:rPr lang="uz-Cyrl-UZ" sz="900" kern="1200" dirty="0">
                          <a:solidFill>
                            <a:schemeClr val="tx1"/>
                          </a:solidFill>
                          <a:effectLst/>
                          <a:latin typeface="+mn-lt"/>
                          <a:ea typeface="+mn-ea"/>
                          <a:cs typeface="+mn-cs"/>
                        </a:rPr>
                        <a:t>, </a:t>
                      </a:r>
                      <a:r>
                        <a:rPr lang="uz-Cyrl-UZ" sz="900" b="1" kern="1200" dirty="0">
                          <a:solidFill>
                            <a:schemeClr val="tx1"/>
                          </a:solidFill>
                          <a:effectLst/>
                          <a:latin typeface="+mn-lt"/>
                          <a:ea typeface="+mn-ea"/>
                          <a:cs typeface="+mn-cs"/>
                        </a:rPr>
                        <a:t>“Фарғона тонг отгунча</a:t>
                      </a:r>
                      <a:r>
                        <a:rPr lang="uz-Cyrl-UZ" sz="900" kern="1200" dirty="0">
                          <a:solidFill>
                            <a:schemeClr val="tx1"/>
                          </a:solidFill>
                          <a:effectLst/>
                          <a:latin typeface="+mn-lt"/>
                          <a:ea typeface="+mn-ea"/>
                          <a:cs typeface="+mn-cs"/>
                        </a:rPr>
                        <a:t>” даги </a:t>
                      </a:r>
                      <a:r>
                        <a:rPr lang="uz-Cyrl-UZ" sz="900" b="1" kern="1200" dirty="0">
                          <a:solidFill>
                            <a:schemeClr val="tx1"/>
                          </a:solidFill>
                          <a:effectLst/>
                          <a:latin typeface="+mn-lt"/>
                          <a:ea typeface="+mn-ea"/>
                          <a:cs typeface="+mn-cs"/>
                        </a:rPr>
                        <a:t>Ҳаётхон</a:t>
                      </a:r>
                      <a:r>
                        <a:rPr lang="uz-Cyrl-UZ" sz="900" kern="1200" dirty="0">
                          <a:solidFill>
                            <a:schemeClr val="tx1"/>
                          </a:solidFill>
                          <a:effectLst/>
                          <a:latin typeface="+mn-lt"/>
                          <a:ea typeface="+mn-ea"/>
                          <a:cs typeface="+mn-cs"/>
                        </a:rPr>
                        <a:t>, </a:t>
                      </a:r>
                      <a:r>
                        <a:rPr lang="uz-Cyrl-UZ" sz="900" b="1" kern="1200" dirty="0">
                          <a:solidFill>
                            <a:schemeClr val="tx1"/>
                          </a:solidFill>
                          <a:effectLst/>
                          <a:latin typeface="+mn-lt"/>
                          <a:ea typeface="+mn-ea"/>
                          <a:cs typeface="+mn-cs"/>
                        </a:rPr>
                        <a:t>“Равшан ва Зулхумор</a:t>
                      </a:r>
                      <a:r>
                        <a:rPr lang="uz-Cyrl-UZ" sz="900" kern="1200" dirty="0">
                          <a:solidFill>
                            <a:schemeClr val="tx1"/>
                          </a:solidFill>
                          <a:effectLst/>
                          <a:latin typeface="+mn-lt"/>
                          <a:ea typeface="+mn-ea"/>
                          <a:cs typeface="+mn-cs"/>
                        </a:rPr>
                        <a:t>” даги </a:t>
                      </a:r>
                      <a:r>
                        <a:rPr lang="uz-Cyrl-UZ" sz="900" b="1" kern="1200" dirty="0">
                          <a:solidFill>
                            <a:schemeClr val="tx1"/>
                          </a:solidFill>
                          <a:effectLst/>
                          <a:latin typeface="+mn-lt"/>
                          <a:ea typeface="+mn-ea"/>
                          <a:cs typeface="+mn-cs"/>
                        </a:rPr>
                        <a:t>Зулхумор</a:t>
                      </a:r>
                      <a:r>
                        <a:rPr lang="uz-Cyrl-UZ" sz="900" kern="1200" dirty="0">
                          <a:solidFill>
                            <a:schemeClr val="tx1"/>
                          </a:solidFill>
                          <a:effectLst/>
                          <a:latin typeface="+mn-lt"/>
                          <a:ea typeface="+mn-ea"/>
                          <a:cs typeface="+mn-cs"/>
                        </a:rPr>
                        <a:t>, “</a:t>
                      </a:r>
                      <a:r>
                        <a:rPr lang="uz-Cyrl-UZ" sz="900" b="1" kern="1200" dirty="0">
                          <a:solidFill>
                            <a:schemeClr val="tx1"/>
                          </a:solidFill>
                          <a:effectLst/>
                          <a:latin typeface="+mn-lt"/>
                          <a:ea typeface="+mn-ea"/>
                          <a:cs typeface="+mn-cs"/>
                        </a:rPr>
                        <a:t>Тоҳир ва Зуҳра</a:t>
                      </a:r>
                      <a:r>
                        <a:rPr lang="uz-Cyrl-UZ" sz="900" kern="1200" dirty="0">
                          <a:solidFill>
                            <a:schemeClr val="tx1"/>
                          </a:solidFill>
                          <a:effectLst/>
                          <a:latin typeface="+mn-lt"/>
                          <a:ea typeface="+mn-ea"/>
                          <a:cs typeface="+mn-cs"/>
                        </a:rPr>
                        <a:t>”даги </a:t>
                      </a:r>
                      <a:r>
                        <a:rPr lang="uz-Cyrl-UZ" sz="900" b="1" kern="1200" dirty="0">
                          <a:solidFill>
                            <a:schemeClr val="tx1"/>
                          </a:solidFill>
                          <a:effectLst/>
                          <a:latin typeface="+mn-lt"/>
                          <a:ea typeface="+mn-ea"/>
                          <a:cs typeface="+mn-cs"/>
                        </a:rPr>
                        <a:t>Зуҳра</a:t>
                      </a:r>
                      <a:r>
                        <a:rPr lang="uz-Cyrl-UZ" sz="900" kern="1200" dirty="0">
                          <a:solidFill>
                            <a:schemeClr val="tx1"/>
                          </a:solidFill>
                          <a:effectLst/>
                          <a:latin typeface="+mn-lt"/>
                          <a:ea typeface="+mn-ea"/>
                          <a:cs typeface="+mn-cs"/>
                        </a:rPr>
                        <a:t>, </a:t>
                      </a:r>
                      <a:r>
                        <a:rPr lang="uz-Cyrl-UZ" sz="900" b="1" kern="1200" dirty="0">
                          <a:solidFill>
                            <a:schemeClr val="tx1"/>
                          </a:solidFill>
                          <a:effectLst/>
                          <a:latin typeface="+mn-lt"/>
                          <a:ea typeface="+mn-ea"/>
                          <a:cs typeface="+mn-cs"/>
                        </a:rPr>
                        <a:t>“Отелло</a:t>
                      </a:r>
                      <a:r>
                        <a:rPr lang="uz-Cyrl-UZ" sz="900" kern="1200" dirty="0">
                          <a:solidFill>
                            <a:schemeClr val="tx1"/>
                          </a:solidFill>
                          <a:effectLst/>
                          <a:latin typeface="+mn-lt"/>
                          <a:ea typeface="+mn-ea"/>
                          <a:cs typeface="+mn-cs"/>
                        </a:rPr>
                        <a:t>”даги </a:t>
                      </a:r>
                      <a:r>
                        <a:rPr lang="uz-Cyrl-UZ" sz="900" b="1" kern="1200" dirty="0">
                          <a:solidFill>
                            <a:schemeClr val="tx1"/>
                          </a:solidFill>
                          <a:effectLst/>
                          <a:latin typeface="+mn-lt"/>
                          <a:ea typeface="+mn-ea"/>
                          <a:cs typeface="+mn-cs"/>
                        </a:rPr>
                        <a:t>Дездемона,</a:t>
                      </a:r>
                      <a:r>
                        <a:rPr lang="uz-Cyrl-UZ" sz="900" kern="1200" dirty="0">
                          <a:solidFill>
                            <a:schemeClr val="tx1"/>
                          </a:solidFill>
                          <a:effectLst/>
                          <a:latin typeface="+mn-lt"/>
                          <a:ea typeface="+mn-ea"/>
                          <a:cs typeface="+mn-cs"/>
                        </a:rPr>
                        <a:t> </a:t>
                      </a:r>
                      <a:r>
                        <a:rPr lang="uz-Cyrl-UZ" sz="900" b="1" kern="1200" dirty="0">
                          <a:solidFill>
                            <a:schemeClr val="tx1"/>
                          </a:solidFill>
                          <a:effectLst/>
                          <a:latin typeface="+mn-lt"/>
                          <a:ea typeface="+mn-ea"/>
                          <a:cs typeface="+mn-cs"/>
                        </a:rPr>
                        <a:t>“Меҳробдан чаён</a:t>
                      </a:r>
                      <a:r>
                        <a:rPr lang="uz-Cyrl-UZ" sz="900" kern="1200" dirty="0">
                          <a:solidFill>
                            <a:schemeClr val="tx1"/>
                          </a:solidFill>
                          <a:effectLst/>
                          <a:latin typeface="+mn-lt"/>
                          <a:ea typeface="+mn-ea"/>
                          <a:cs typeface="+mn-cs"/>
                        </a:rPr>
                        <a:t>” даги </a:t>
                      </a:r>
                      <a:r>
                        <a:rPr lang="uz-Cyrl-UZ" sz="900" b="1" kern="1200" dirty="0">
                          <a:solidFill>
                            <a:schemeClr val="tx1"/>
                          </a:solidFill>
                          <a:effectLst/>
                          <a:latin typeface="+mn-lt"/>
                          <a:ea typeface="+mn-ea"/>
                          <a:cs typeface="+mn-cs"/>
                        </a:rPr>
                        <a:t>Раъно,</a:t>
                      </a:r>
                      <a:r>
                        <a:rPr lang="uz-Cyrl-UZ" sz="900" kern="1200" dirty="0">
                          <a:solidFill>
                            <a:schemeClr val="tx1"/>
                          </a:solidFill>
                          <a:effectLst/>
                          <a:latin typeface="+mn-lt"/>
                          <a:ea typeface="+mn-ea"/>
                          <a:cs typeface="+mn-cs"/>
                        </a:rPr>
                        <a:t> “</a:t>
                      </a:r>
                      <a:r>
                        <a:rPr lang="uz-Cyrl-UZ" sz="900" b="1" kern="1200" dirty="0">
                          <a:solidFill>
                            <a:schemeClr val="tx1"/>
                          </a:solidFill>
                          <a:effectLst/>
                          <a:latin typeface="+mn-lt"/>
                          <a:ea typeface="+mn-ea"/>
                          <a:cs typeface="+mn-cs"/>
                        </a:rPr>
                        <a:t>Алпомиш” </a:t>
                      </a:r>
                      <a:r>
                        <a:rPr lang="uz-Cyrl-UZ" sz="900" kern="1200" dirty="0">
                          <a:solidFill>
                            <a:schemeClr val="tx1"/>
                          </a:solidFill>
                          <a:effectLst/>
                          <a:latin typeface="+mn-lt"/>
                          <a:ea typeface="+mn-ea"/>
                          <a:cs typeface="+mn-cs"/>
                        </a:rPr>
                        <a:t>даги </a:t>
                      </a:r>
                      <a:r>
                        <a:rPr lang="uz-Cyrl-UZ" sz="900" b="1" kern="1200" dirty="0">
                          <a:solidFill>
                            <a:schemeClr val="tx1"/>
                          </a:solidFill>
                          <a:effectLst/>
                          <a:latin typeface="+mn-lt"/>
                          <a:ea typeface="+mn-ea"/>
                          <a:cs typeface="+mn-cs"/>
                        </a:rPr>
                        <a:t>Барчиной,</a:t>
                      </a:r>
                      <a:r>
                        <a:rPr lang="uz-Cyrl-UZ" sz="900" kern="1200" dirty="0">
                          <a:solidFill>
                            <a:schemeClr val="tx1"/>
                          </a:solidFill>
                          <a:effectLst/>
                          <a:latin typeface="+mn-lt"/>
                          <a:ea typeface="+mn-ea"/>
                          <a:cs typeface="+mn-cs"/>
                        </a:rPr>
                        <a:t> </a:t>
                      </a:r>
                      <a:r>
                        <a:rPr lang="uz-Cyrl-UZ" sz="900" b="1" kern="1200" dirty="0">
                          <a:solidFill>
                            <a:schemeClr val="tx1"/>
                          </a:solidFill>
                          <a:effectLst/>
                          <a:latin typeface="+mn-lt"/>
                          <a:ea typeface="+mn-ea"/>
                          <a:cs typeface="+mn-cs"/>
                        </a:rPr>
                        <a:t>“Ошиқ Ғариб ва Шоҳсанам” </a:t>
                      </a:r>
                      <a:r>
                        <a:rPr lang="uz-Cyrl-UZ" sz="900" kern="1200" dirty="0">
                          <a:solidFill>
                            <a:schemeClr val="tx1"/>
                          </a:solidFill>
                          <a:effectLst/>
                          <a:latin typeface="+mn-lt"/>
                          <a:ea typeface="+mn-ea"/>
                          <a:cs typeface="+mn-cs"/>
                        </a:rPr>
                        <a:t>даги </a:t>
                      </a:r>
                      <a:r>
                        <a:rPr lang="uz-Cyrl-UZ" sz="900" b="1" kern="1200" dirty="0">
                          <a:solidFill>
                            <a:schemeClr val="tx1"/>
                          </a:solidFill>
                          <a:effectLst/>
                          <a:latin typeface="+mn-lt"/>
                          <a:ea typeface="+mn-ea"/>
                          <a:cs typeface="+mn-cs"/>
                        </a:rPr>
                        <a:t>Шоҳсанам</a:t>
                      </a:r>
                      <a:r>
                        <a:rPr lang="uz-Cyrl-UZ" sz="900" kern="1200" dirty="0">
                          <a:solidFill>
                            <a:schemeClr val="tx1"/>
                          </a:solidFill>
                          <a:effectLst/>
                          <a:latin typeface="+mn-lt"/>
                          <a:ea typeface="+mn-ea"/>
                          <a:cs typeface="+mn-cs"/>
                        </a:rPr>
                        <a:t>,  “</a:t>
                      </a:r>
                      <a:r>
                        <a:rPr lang="uz-Cyrl-UZ" sz="900" b="1" kern="1200" dirty="0">
                          <a:solidFill>
                            <a:schemeClr val="tx1"/>
                          </a:solidFill>
                          <a:effectLst/>
                          <a:latin typeface="+mn-lt"/>
                          <a:ea typeface="+mn-ea"/>
                          <a:cs typeface="+mn-cs"/>
                        </a:rPr>
                        <a:t>Машраб” </a:t>
                      </a:r>
                      <a:r>
                        <a:rPr lang="uz-Cyrl-UZ" sz="900" kern="1200" dirty="0">
                          <a:solidFill>
                            <a:schemeClr val="tx1"/>
                          </a:solidFill>
                          <a:effectLst/>
                          <a:latin typeface="+mn-lt"/>
                          <a:ea typeface="+mn-ea"/>
                          <a:cs typeface="+mn-cs"/>
                        </a:rPr>
                        <a:t>даги </a:t>
                      </a:r>
                      <a:r>
                        <a:rPr lang="uz-Cyrl-UZ" sz="900" b="1" kern="1200" dirty="0">
                          <a:solidFill>
                            <a:schemeClr val="tx1"/>
                          </a:solidFill>
                          <a:effectLst/>
                          <a:latin typeface="+mn-lt"/>
                          <a:ea typeface="+mn-ea"/>
                          <a:cs typeface="+mn-cs"/>
                        </a:rPr>
                        <a:t>Энага</a:t>
                      </a:r>
                      <a:r>
                        <a:rPr lang="uz-Cyrl-UZ" sz="900" kern="1200" dirty="0">
                          <a:solidFill>
                            <a:schemeClr val="tx1"/>
                          </a:solidFill>
                          <a:effectLst/>
                          <a:latin typeface="+mn-lt"/>
                          <a:ea typeface="+mn-ea"/>
                          <a:cs typeface="+mn-cs"/>
                        </a:rPr>
                        <a:t>, “</a:t>
                      </a:r>
                      <a:r>
                        <a:rPr lang="uz-Cyrl-UZ" sz="900" b="1" kern="1200" dirty="0">
                          <a:solidFill>
                            <a:schemeClr val="tx1"/>
                          </a:solidFill>
                          <a:effectLst/>
                          <a:latin typeface="+mn-lt"/>
                          <a:ea typeface="+mn-ea"/>
                          <a:cs typeface="+mn-cs"/>
                        </a:rPr>
                        <a:t>Майсаранинг иши</a:t>
                      </a:r>
                      <a:r>
                        <a:rPr lang="uz-Cyrl-UZ" sz="900" kern="1200" dirty="0">
                          <a:solidFill>
                            <a:schemeClr val="tx1"/>
                          </a:solidFill>
                          <a:effectLst/>
                          <a:latin typeface="+mn-lt"/>
                          <a:ea typeface="+mn-ea"/>
                          <a:cs typeface="+mn-cs"/>
                        </a:rPr>
                        <a:t>”даги </a:t>
                      </a:r>
                      <a:r>
                        <a:rPr lang="uz-Cyrl-UZ" sz="900" b="1" kern="1200" dirty="0">
                          <a:solidFill>
                            <a:schemeClr val="tx1"/>
                          </a:solidFill>
                          <a:effectLst/>
                          <a:latin typeface="+mn-lt"/>
                          <a:ea typeface="+mn-ea"/>
                          <a:cs typeface="+mn-cs"/>
                        </a:rPr>
                        <a:t>Ойхон</a:t>
                      </a:r>
                      <a:r>
                        <a:rPr lang="uz-Cyrl-UZ" sz="900" kern="1200" dirty="0">
                          <a:solidFill>
                            <a:schemeClr val="tx1"/>
                          </a:solidFill>
                          <a:effectLst/>
                          <a:latin typeface="+mn-lt"/>
                          <a:ea typeface="+mn-ea"/>
                          <a:cs typeface="+mn-cs"/>
                        </a:rPr>
                        <a:t>, ҳозирги кунда </a:t>
                      </a:r>
                      <a:r>
                        <a:rPr lang="uz-Cyrl-UZ" sz="900" b="1" kern="1200" dirty="0">
                          <a:solidFill>
                            <a:schemeClr val="tx1"/>
                          </a:solidFill>
                          <a:effectLst/>
                          <a:latin typeface="+mn-lt"/>
                          <a:ea typeface="+mn-ea"/>
                          <a:cs typeface="+mn-cs"/>
                        </a:rPr>
                        <a:t>Майсара</a:t>
                      </a:r>
                      <a:r>
                        <a:rPr lang="uz-Cyrl-UZ" sz="900" kern="1200" dirty="0">
                          <a:solidFill>
                            <a:schemeClr val="tx1"/>
                          </a:solidFill>
                          <a:effectLst/>
                          <a:latin typeface="+mn-lt"/>
                          <a:ea typeface="+mn-ea"/>
                          <a:cs typeface="+mn-cs"/>
                        </a:rPr>
                        <a:t>, “</a:t>
                      </a:r>
                      <a:r>
                        <a:rPr lang="uz-Cyrl-UZ" sz="900" b="1" kern="1200" dirty="0">
                          <a:solidFill>
                            <a:schemeClr val="tx1"/>
                          </a:solidFill>
                          <a:effectLst/>
                          <a:latin typeface="+mn-lt"/>
                          <a:ea typeface="+mn-ea"/>
                          <a:cs typeface="+mn-cs"/>
                        </a:rPr>
                        <a:t>Темир хотин”</a:t>
                      </a:r>
                      <a:r>
                        <a:rPr lang="uz-Cyrl-UZ" sz="900" kern="1200" dirty="0">
                          <a:solidFill>
                            <a:schemeClr val="tx1"/>
                          </a:solidFill>
                          <a:effectLst/>
                          <a:latin typeface="+mn-lt"/>
                          <a:ea typeface="+mn-ea"/>
                          <a:cs typeface="+mn-cs"/>
                        </a:rPr>
                        <a:t>даги </a:t>
                      </a:r>
                      <a:r>
                        <a:rPr lang="uz-Cyrl-UZ" sz="900" b="1" kern="1200" dirty="0">
                          <a:solidFill>
                            <a:schemeClr val="tx1"/>
                          </a:solidFill>
                          <a:effectLst/>
                          <a:latin typeface="+mn-lt"/>
                          <a:ea typeface="+mn-ea"/>
                          <a:cs typeface="+mn-cs"/>
                        </a:rPr>
                        <a:t>Қумри</a:t>
                      </a:r>
                      <a:r>
                        <a:rPr lang="uz-Cyrl-UZ" sz="900" kern="1200" dirty="0">
                          <a:solidFill>
                            <a:schemeClr val="tx1"/>
                          </a:solidFill>
                          <a:effectLst/>
                          <a:latin typeface="+mn-lt"/>
                          <a:ea typeface="+mn-ea"/>
                          <a:cs typeface="+mn-cs"/>
                        </a:rPr>
                        <a:t>, </a:t>
                      </a:r>
                      <a:r>
                        <a:rPr lang="uz-Cyrl-UZ" sz="900" b="1" kern="1200" dirty="0">
                          <a:solidFill>
                            <a:schemeClr val="tx1"/>
                          </a:solidFill>
                          <a:effectLst/>
                          <a:latin typeface="+mn-lt"/>
                          <a:ea typeface="+mn-ea"/>
                          <a:cs typeface="+mn-cs"/>
                        </a:rPr>
                        <a:t>“Чимилдиқ</a:t>
                      </a:r>
                      <a:r>
                        <a:rPr lang="uz-Cyrl-UZ" sz="900" kern="1200" dirty="0">
                          <a:solidFill>
                            <a:schemeClr val="tx1"/>
                          </a:solidFill>
                          <a:effectLst/>
                          <a:latin typeface="+mn-lt"/>
                          <a:ea typeface="+mn-ea"/>
                          <a:cs typeface="+mn-cs"/>
                        </a:rPr>
                        <a:t>”даги </a:t>
                      </a:r>
                      <a:r>
                        <a:rPr lang="uz-Cyrl-UZ" sz="900" b="1" kern="1200" dirty="0">
                          <a:solidFill>
                            <a:schemeClr val="tx1"/>
                          </a:solidFill>
                          <a:effectLst/>
                          <a:latin typeface="+mn-lt"/>
                          <a:ea typeface="+mn-ea"/>
                          <a:cs typeface="+mn-cs"/>
                        </a:rPr>
                        <a:t>Момо</a:t>
                      </a:r>
                      <a:r>
                        <a:rPr lang="uz-Cyrl-UZ" sz="900" kern="1200" dirty="0">
                          <a:solidFill>
                            <a:schemeClr val="tx1"/>
                          </a:solidFill>
                          <a:effectLst/>
                          <a:latin typeface="+mn-lt"/>
                          <a:ea typeface="+mn-ea"/>
                          <a:cs typeface="+mn-cs"/>
                        </a:rPr>
                        <a:t>, </a:t>
                      </a:r>
                      <a:r>
                        <a:rPr lang="uz-Cyrl-UZ" sz="900" b="1" kern="1200" dirty="0">
                          <a:solidFill>
                            <a:schemeClr val="tx1"/>
                          </a:solidFill>
                          <a:effectLst/>
                          <a:latin typeface="+mn-lt"/>
                          <a:ea typeface="+mn-ea"/>
                          <a:cs typeface="+mn-cs"/>
                        </a:rPr>
                        <a:t>“Аризасига кўра”</a:t>
                      </a:r>
                      <a:r>
                        <a:rPr lang="uz-Cyrl-UZ" sz="900" kern="1200" dirty="0">
                          <a:solidFill>
                            <a:schemeClr val="tx1"/>
                          </a:solidFill>
                          <a:effectLst/>
                          <a:latin typeface="+mn-lt"/>
                          <a:ea typeface="+mn-ea"/>
                          <a:cs typeface="+mn-cs"/>
                        </a:rPr>
                        <a:t>даги</a:t>
                      </a:r>
                      <a:r>
                        <a:rPr lang="uz-Cyrl-UZ" sz="900" b="1" kern="1200" dirty="0">
                          <a:solidFill>
                            <a:schemeClr val="tx1"/>
                          </a:solidFill>
                          <a:effectLst/>
                          <a:latin typeface="+mn-lt"/>
                          <a:ea typeface="+mn-ea"/>
                          <a:cs typeface="+mn-cs"/>
                        </a:rPr>
                        <a:t> Зуҳра Батировна, “Кампир топайми, дадажон?</a:t>
                      </a:r>
                      <a:r>
                        <a:rPr lang="uz-Cyrl-UZ" sz="900" kern="1200" dirty="0">
                          <a:solidFill>
                            <a:schemeClr val="tx1"/>
                          </a:solidFill>
                          <a:effectLst/>
                          <a:latin typeface="+mn-lt"/>
                          <a:ea typeface="+mn-ea"/>
                          <a:cs typeface="+mn-cs"/>
                        </a:rPr>
                        <a:t>”даги </a:t>
                      </a:r>
                      <a:r>
                        <a:rPr lang="uz-Cyrl-UZ" sz="900" b="1" kern="1200" dirty="0">
                          <a:solidFill>
                            <a:schemeClr val="tx1"/>
                          </a:solidFill>
                          <a:effectLst/>
                          <a:latin typeface="+mn-lt"/>
                          <a:ea typeface="+mn-ea"/>
                          <a:cs typeface="+mn-cs"/>
                        </a:rPr>
                        <a:t>Зулфия момо</a:t>
                      </a:r>
                      <a:r>
                        <a:rPr lang="uz-Cyrl-UZ" sz="900" kern="1200" dirty="0">
                          <a:solidFill>
                            <a:schemeClr val="tx1"/>
                          </a:solidFill>
                          <a:effectLst/>
                          <a:latin typeface="+mn-lt"/>
                          <a:ea typeface="+mn-ea"/>
                          <a:cs typeface="+mn-cs"/>
                        </a:rPr>
                        <a:t>, “</a:t>
                      </a:r>
                      <a:r>
                        <a:rPr lang="uz-Cyrl-UZ" sz="900" b="1" kern="1200" dirty="0">
                          <a:solidFill>
                            <a:schemeClr val="tx1"/>
                          </a:solidFill>
                          <a:effectLst/>
                          <a:latin typeface="+mn-lt"/>
                          <a:ea typeface="+mn-ea"/>
                          <a:cs typeface="+mn-cs"/>
                        </a:rPr>
                        <a:t>Уч кунлик дунё</a:t>
                      </a:r>
                      <a:r>
                        <a:rPr lang="uz-Cyrl-UZ" sz="900" kern="1200" dirty="0">
                          <a:solidFill>
                            <a:schemeClr val="tx1"/>
                          </a:solidFill>
                          <a:effectLst/>
                          <a:latin typeface="+mn-lt"/>
                          <a:ea typeface="+mn-ea"/>
                          <a:cs typeface="+mn-cs"/>
                        </a:rPr>
                        <a:t>”даги </a:t>
                      </a:r>
                      <a:r>
                        <a:rPr lang="uz-Cyrl-UZ" sz="900" b="1" kern="1200" dirty="0">
                          <a:solidFill>
                            <a:schemeClr val="tx1"/>
                          </a:solidFill>
                          <a:effectLst/>
                          <a:latin typeface="+mn-lt"/>
                          <a:ea typeface="+mn-ea"/>
                          <a:cs typeface="+mn-cs"/>
                        </a:rPr>
                        <a:t>Рузвон,  “Интилганга толе ёр</a:t>
                      </a:r>
                      <a:r>
                        <a:rPr lang="uz-Cyrl-UZ" sz="900" kern="1200" dirty="0">
                          <a:solidFill>
                            <a:schemeClr val="tx1"/>
                          </a:solidFill>
                          <a:effectLst/>
                          <a:latin typeface="+mn-lt"/>
                          <a:ea typeface="+mn-ea"/>
                          <a:cs typeface="+mn-cs"/>
                        </a:rPr>
                        <a:t>”даги </a:t>
                      </a:r>
                      <a:r>
                        <a:rPr lang="uz-Cyrl-UZ" sz="900" b="1" kern="1200" dirty="0">
                          <a:solidFill>
                            <a:schemeClr val="tx1"/>
                          </a:solidFill>
                          <a:effectLst/>
                          <a:latin typeface="+mn-lt"/>
                          <a:ea typeface="+mn-ea"/>
                          <a:cs typeface="+mn-cs"/>
                        </a:rPr>
                        <a:t>Мамлакат</a:t>
                      </a:r>
                      <a:r>
                        <a:rPr lang="uz-Cyrl-UZ" sz="900" kern="1200" dirty="0">
                          <a:solidFill>
                            <a:schemeClr val="tx1"/>
                          </a:solidFill>
                          <a:effectLst/>
                          <a:latin typeface="+mn-lt"/>
                          <a:ea typeface="+mn-ea"/>
                          <a:cs typeface="+mn-cs"/>
                        </a:rPr>
                        <a:t>, “</a:t>
                      </a:r>
                      <a:r>
                        <a:rPr lang="uz-Cyrl-UZ" sz="900" b="1" kern="1200" dirty="0">
                          <a:solidFill>
                            <a:schemeClr val="tx1"/>
                          </a:solidFill>
                          <a:effectLst/>
                          <a:latin typeface="+mn-lt"/>
                          <a:ea typeface="+mn-ea"/>
                          <a:cs typeface="+mn-cs"/>
                        </a:rPr>
                        <a:t>Сени соғиндим</a:t>
                      </a:r>
                      <a:r>
                        <a:rPr lang="uz-Cyrl-UZ" sz="900" kern="1200" dirty="0">
                          <a:solidFill>
                            <a:schemeClr val="tx1"/>
                          </a:solidFill>
                          <a:effectLst/>
                          <a:latin typeface="+mn-lt"/>
                          <a:ea typeface="+mn-ea"/>
                          <a:cs typeface="+mn-cs"/>
                        </a:rPr>
                        <a:t>”даги </a:t>
                      </a:r>
                      <a:r>
                        <a:rPr lang="uz-Cyrl-UZ" sz="900" b="1" kern="1200" dirty="0">
                          <a:solidFill>
                            <a:schemeClr val="tx1"/>
                          </a:solidFill>
                          <a:effectLst/>
                          <a:latin typeface="+mn-lt"/>
                          <a:ea typeface="+mn-ea"/>
                          <a:cs typeface="+mn-cs"/>
                        </a:rPr>
                        <a:t>Шоҳиста</a:t>
                      </a:r>
                      <a:r>
                        <a:rPr lang="uz-Cyrl-UZ" sz="900" kern="1200" dirty="0">
                          <a:solidFill>
                            <a:schemeClr val="tx1"/>
                          </a:solidFill>
                          <a:effectLst/>
                          <a:latin typeface="+mn-lt"/>
                          <a:ea typeface="+mn-ea"/>
                          <a:cs typeface="+mn-cs"/>
                        </a:rPr>
                        <a:t>, </a:t>
                      </a:r>
                      <a:r>
                        <a:rPr lang="uz-Cyrl-UZ" sz="900" b="1" kern="1200" dirty="0">
                          <a:solidFill>
                            <a:schemeClr val="tx1"/>
                          </a:solidFill>
                          <a:effectLst/>
                          <a:latin typeface="+mn-lt"/>
                          <a:ea typeface="+mn-ea"/>
                          <a:cs typeface="+mn-cs"/>
                        </a:rPr>
                        <a:t>“Надомат</a:t>
                      </a:r>
                      <a:r>
                        <a:rPr lang="uz-Cyrl-UZ" sz="900" kern="1200" dirty="0">
                          <a:solidFill>
                            <a:schemeClr val="tx1"/>
                          </a:solidFill>
                          <a:effectLst/>
                          <a:latin typeface="+mn-lt"/>
                          <a:ea typeface="+mn-ea"/>
                          <a:cs typeface="+mn-cs"/>
                        </a:rPr>
                        <a:t>”даги </a:t>
                      </a:r>
                      <a:r>
                        <a:rPr lang="uz-Cyrl-UZ" sz="900" b="1" kern="1200" dirty="0">
                          <a:solidFill>
                            <a:schemeClr val="tx1"/>
                          </a:solidFill>
                          <a:effectLst/>
                          <a:latin typeface="+mn-lt"/>
                          <a:ea typeface="+mn-ea"/>
                          <a:cs typeface="+mn-cs"/>
                        </a:rPr>
                        <a:t>Робия хола</a:t>
                      </a:r>
                      <a:r>
                        <a:rPr lang="uz-Cyrl-UZ" sz="900" kern="1200" dirty="0">
                          <a:solidFill>
                            <a:schemeClr val="tx1"/>
                          </a:solidFill>
                          <a:effectLst/>
                          <a:latin typeface="+mn-lt"/>
                          <a:ea typeface="+mn-ea"/>
                          <a:cs typeface="+mn-cs"/>
                        </a:rPr>
                        <a:t> каби турли характерли, ранг-баранг  образлари мутахассислар эътирофи ва томошабинлар олқишига сазовор бўлган. </a:t>
                      </a:r>
                      <a:endParaRPr lang="ru-RU"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Охирги йилларда Э.Сиддиқованинг асари С.Одилов саҳналаштирилган “Лола ёхуд барханларда унган гул” спектаклида Холаси С.Одиловнинг “Ахмад Фарғоний” асарида Она, А.Қодирийнинг “Ўткан кунлар” асарида Жаннат хола ролларини маромига етказиб ижро этди.  </a:t>
                      </a:r>
                      <a:endParaRPr lang="ru-RU" sz="900" kern="1200" dirty="0">
                        <a:solidFill>
                          <a:schemeClr val="tx1"/>
                        </a:solidFill>
                        <a:effectLst/>
                        <a:latin typeface="+mn-lt"/>
                        <a:ea typeface="+mn-ea"/>
                        <a:cs typeface="+mn-cs"/>
                      </a:endParaRPr>
                    </a:p>
                    <a:p>
                      <a:r>
                        <a:rPr lang="uz-Cyrl-UZ" sz="900" kern="1200" dirty="0">
                          <a:solidFill>
                            <a:schemeClr val="tx1"/>
                          </a:solidFill>
                          <a:effectLst/>
                          <a:latin typeface="+mn-lt"/>
                          <a:ea typeface="+mn-ea"/>
                          <a:cs typeface="+mn-cs"/>
                        </a:rPr>
                        <a:t>Элимизнинг суюкли санъаткори</a:t>
                      </a:r>
                      <a:endParaRPr lang="ru-RU" sz="90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4982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263844">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31" name="Picture 7">
            <a:extLst>
              <a:ext uri="{FF2B5EF4-FFF2-40B4-BE49-F238E27FC236}">
                <a16:creationId xmlns:a16="http://schemas.microsoft.com/office/drawing/2014/main" id="{40DCDD9C-4D3C-3CD8-DD11-EE72FECC138B}"/>
              </a:ext>
            </a:extLst>
          </p:cNvPr>
          <p:cNvPicPr>
            <a:picLocks noChangeAspect="1" noChangeArrowheads="1"/>
          </p:cNvPicPr>
          <p:nvPr/>
        </p:nvPicPr>
        <p:blipFill>
          <a:blip r:embed="rId2" cstate="hqprint">
            <a:extLst>
              <a:ext uri="{28A0092B-C50C-407E-A947-70E740481C1C}">
                <a14:useLocalDpi xmlns:a14="http://schemas.microsoft.com/office/drawing/2010/main" val="0"/>
              </a:ext>
            </a:extLst>
          </a:blip>
          <a:srcRect/>
          <a:stretch>
            <a:fillRect/>
          </a:stretch>
        </p:blipFill>
        <p:spPr bwMode="auto">
          <a:xfrm>
            <a:off x="225982" y="1181908"/>
            <a:ext cx="926299" cy="11519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26421235"/>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1600" b="1" dirty="0" smtClean="0">
                <a:solidFill>
                  <a:srgbClr val="002060"/>
                </a:solidFill>
                <a:latin typeface="Bahnschrift SemiBold" panose="020B0502040204020203" pitchFamily="34" charset="0"/>
              </a:rPr>
              <a:t>КОНЦЕРТ-ТОМОША ЙЎНАЛИШИ СОҲА ВАКИЛЛАРИ (ТОП-100)</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6028303"/>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algn="l">
                        <a:lnSpc>
                          <a:spcPct val="90000"/>
                        </a:lnSpc>
                      </a:pPr>
                      <a:endParaRPr lang="ru-RU" sz="500" b="1"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Рахимов</a:t>
                      </a:r>
                      <a:r>
                        <a:rPr lang="ru-RU" sz="900" b="0" kern="1200" baseline="0" dirty="0" smtClean="0">
                          <a:solidFill>
                            <a:schemeClr val="tx1"/>
                          </a:solidFill>
                          <a:latin typeface="+mn-lt"/>
                          <a:ea typeface="+mn-ea"/>
                          <a:cs typeface="+mn-cs"/>
                        </a:rPr>
                        <a:t>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Бахтиёр</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Мелибоевич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17,07,1957</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Самарканд вилояти, Булунгур тумани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қиз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РАХИМОВ</a:t>
                      </a:r>
                      <a:r>
                        <a:rPr lang="uz-Cyrl-UZ" sz="900" b="1" kern="1200" baseline="0" noProof="0" dirty="0" smtClean="0">
                          <a:solidFill>
                            <a:schemeClr val="tx1"/>
                          </a:solidFill>
                          <a:latin typeface="+mn-lt"/>
                          <a:ea typeface="+mn-ea"/>
                          <a:cs typeface="Arial" panose="020B0604020202020204" pitchFamily="34" charset="0"/>
                        </a:rPr>
                        <a:t> Мелибай</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1923 йил, Булунгур тумани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2005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умутаълим</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мактаб</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ўқитувчиси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РАХИМОВА Зухра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1906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2016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уй</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РАХИМОВА Дилноза Хакимовна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1941 йил, Самарқанд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Нафакада (Самарканд вилояти мусикали драма театри драма актёри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48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1979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6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ва кино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1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89"/>
          <a:ext cx="3172841" cy="5936117"/>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761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1174">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2025 йилдан Самарканд вилояти мусиқали драма театри етакчи</a:t>
                      </a:r>
                      <a:r>
                        <a:rPr lang="uz-Cyrl-UZ" sz="900" b="1" kern="1200" baseline="0" noProof="0" dirty="0" smtClean="0">
                          <a:solidFill>
                            <a:schemeClr val="tx1"/>
                          </a:solidFill>
                          <a:latin typeface="+mn-lt"/>
                          <a:ea typeface="+mn-ea"/>
                          <a:cs typeface="+mn-cs"/>
                        </a:rPr>
                        <a:t> </a:t>
                      </a:r>
                      <a:r>
                        <a:rPr lang="uz-Cyrl-UZ" sz="900" b="1" kern="1200" noProof="0" dirty="0" smtClean="0">
                          <a:solidFill>
                            <a:schemeClr val="tx1"/>
                          </a:solidFill>
                          <a:latin typeface="+mn-lt"/>
                          <a:ea typeface="+mn-ea"/>
                          <a:cs typeface="+mn-cs"/>
                        </a:rPr>
                        <a:t>драма сахна устаси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192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685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47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97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896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811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811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йуқ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624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576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365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96243">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2000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2023 й. “Маданият ва санъат фидокори” кўкрак нишони</a:t>
                      </a: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smtClean="0">
                        <a:effectLst/>
                        <a:latin typeface="+mn-lt"/>
                        <a:ea typeface="Calibri" panose="020F0502020204030204" pitchFamily="34" charset="0"/>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6"/>
          <a:ext cx="2817247" cy="11412035"/>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algn="just"/>
                      <a:r>
                        <a:rPr lang="uz-Cyrl-UZ" sz="900" b="0" noProof="0" dirty="0" smtClean="0">
                          <a:solidFill>
                            <a:schemeClr val="tx1"/>
                          </a:solidFill>
                          <a:latin typeface="+mn-lt"/>
                        </a:rPr>
                        <a:t>  </a:t>
                      </a:r>
                      <a:r>
                        <a:rPr lang="uz-Cyrl-UZ" sz="900" b="0" kern="1200" dirty="0" smtClean="0">
                          <a:solidFill>
                            <a:schemeClr val="tx1"/>
                          </a:solidFill>
                          <a:effectLst/>
                          <a:latin typeface="+mn-lt"/>
                          <a:ea typeface="+mn-ea"/>
                          <a:cs typeface="+mn-cs"/>
                        </a:rPr>
                        <a:t>Мукофотланган.</a:t>
                      </a:r>
                      <a:endParaRPr lang="ru-RU" sz="900" b="0" kern="1200" dirty="0" smtClean="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 Умумий меҳнат стажи 47 йил. Мазкур вазифада 2025-йилдан эътиборан фаолият юритиб келмоқда.</a:t>
                      </a:r>
                      <a:endParaRPr lang="ru-RU" sz="900" b="0" kern="1200" dirty="0" smtClean="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2000-йил “Ўзбекистон Республикасида хизмат кўрсатган артист” унвони билан тақдирланган.</a:t>
                      </a:r>
                      <a:endParaRPr lang="ru-RU" sz="900" b="0" kern="1200" dirty="0" smtClean="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2023-йилда </a:t>
                      </a:r>
                      <a:r>
                        <a:rPr lang="ru-RU" sz="900" b="0" kern="1200" dirty="0" smtClean="0">
                          <a:solidFill>
                            <a:schemeClr val="tx1"/>
                          </a:solidFill>
                          <a:effectLst/>
                          <a:latin typeface="+mn-lt"/>
                          <a:ea typeface="+mn-ea"/>
                          <a:cs typeface="+mn-cs"/>
                        </a:rPr>
                        <a:t>“</a:t>
                      </a:r>
                      <a:r>
                        <a:rPr lang="uz-Cyrl-UZ" sz="900" b="0" kern="1200" dirty="0" smtClean="0">
                          <a:solidFill>
                            <a:schemeClr val="tx1"/>
                          </a:solidFill>
                          <a:effectLst/>
                          <a:latin typeface="+mn-lt"/>
                          <a:ea typeface="+mn-ea"/>
                          <a:cs typeface="+mn-cs"/>
                        </a:rPr>
                        <a:t>Маданият ва санъат фидокори</a:t>
                      </a:r>
                      <a:r>
                        <a:rPr lang="ru-RU" sz="900" b="0" kern="1200" dirty="0" smtClean="0">
                          <a:solidFill>
                            <a:schemeClr val="tx1"/>
                          </a:solidFill>
                          <a:effectLst/>
                          <a:latin typeface="+mn-lt"/>
                          <a:ea typeface="+mn-ea"/>
                          <a:cs typeface="+mn-cs"/>
                        </a:rPr>
                        <a:t>”</a:t>
                      </a:r>
                      <a:r>
                        <a:rPr lang="uz-Cyrl-UZ" sz="900" b="0" kern="1200" dirty="0" smtClean="0">
                          <a:solidFill>
                            <a:schemeClr val="tx1"/>
                          </a:solidFill>
                          <a:effectLst/>
                          <a:latin typeface="+mn-lt"/>
                          <a:ea typeface="+mn-ea"/>
                          <a:cs typeface="+mn-cs"/>
                        </a:rPr>
                        <a:t> кўкрак нишони билан тақдирланган.</a:t>
                      </a:r>
                      <a:endParaRPr lang="ru-RU" sz="900" b="0" kern="1200" dirty="0" smtClean="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Ўзининг самарали меҳнат фаолияти давомида турли ролларни маҳорат билан ижро этиб келмоқда. У қатор саҳна асарларида бош ролларни ижро этиб келмоқда: “Буюк  Темур” спектаклида Султон Боязид, “Сиртмоқ” спектаклида Полковник, “Оққуш” спектаклида Олимжон Тўраев, “Бир ўлиб кўрайчи” спектаклида Султон Мавлонович, “Муқаддас аёл” спектаклида Артур, “Огоҳ  бўлинг, одамлар!” спектаклида Терговчи, “Садоқат” спектаклида                          Карим Носиров,  “Нодирабегим” мусиқий-драма спектаклида Мадалихон, “Самарқанднома” спектаклида Ами Ҳусайн, “Беҳбудий” спектаклида Жадидлар йўлбошрчиси ва “Имом Бухорий” спектаклида Имом Бухорий роллари билан мухлислар эътиборини қозониб келган.</a:t>
                      </a:r>
                      <a:endParaRPr lang="ru-RU" sz="900" b="0" kern="1200" dirty="0" smtClean="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Б.Рахимов театр ва кино санъатида самарали ижод қилиб келмоқда. Хусусан унинг “Ака-укалар” спектаклида Ҳобил, “Разолат қурбонлари” спектаклида Салоҳиддин, “Мирзо Улуғбек” спектаклида Мирзо Улуғбек, “Эдип” спектаклида Креонт роллари ҳамда “Ўзтелефильм” ижодкорлари томонидан суратга олинган “Абу Мансур Мотурудий” филмида Мотурудий, режиссёр Рустам Саъдиевнинг “Сотқин” бадиий фильмида Шаҳар прокурори, Зулфиқор Мусоқовнинг “Хазонрезги” фильмидаги Қурбон ролларини, давлат буюртмаси асосида саҳналаштирилган “Имон” спектаклида– Йўлдош Комилов бош ролини ижро этиб, томошабинлар эътиборини қозонди. </a:t>
                      </a:r>
                      <a:endParaRPr lang="ru-RU" sz="900" b="0" kern="1200" dirty="0" smtClean="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 Бахтиёр Рахимов тажрибали устоз ва театрнинг етакчи драма саҳна устаси сифатида ёш актёрларга санъат сирларини ўргатиб келмоқда. </a:t>
                      </a:r>
                      <a:endParaRPr lang="ru-RU" sz="900" b="0" kern="1200" dirty="0" smtClean="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Б.Рахимов сўнгги йилларда ҳам баракали ижод қилиб, “Кўчки” спектаклида Ота, “Имон” спектаклида  Йўлдош Каримов, “Машраб” спектаклида Махмудхон, “Кузнинг биринчи куни” спектаклида профессор Тўлаганов, “Бўёқчи” спектаклида Холид, “Қирол Лир” спектаклида Граф Кент ҳамда бошидан театрда саҳналаштирилган “Танҳо юлдуз” спектаклида Мурод, “Бибихоним” спектаклида Арғуншоҳ, “Беҳбудий” спектаклида Сухов, “Гамлет” спектаклида Отанинг арвоҳи, “Лайли ва Мажнунда” спектаклида Лайлининг отаси  “Чехов ҳазиллари” спектаклида А.С.Пушкин каби образларини катта маҳорат билан ижро этди.</a:t>
                      </a:r>
                      <a:endParaRPr lang="ru-RU" sz="900" b="0" kern="1200" dirty="0" smtClean="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У  “Кўчки” спектаклдаги роли билан Туркия давлатининг Конья шаҳрида бўлиб ўтган “Минг нафас бир овоз” XI-Халқаро театрлар фестивалида ва Остона шаҳрида бўлиб ўтган “Самғау” VI-Халқаро театрлар фестивалида иштирок этиб келди. Фестивал доирасида ташкил этилган мастер классларда фаол иштирок этиб Сертификат ва Фахрий ёрлиқларга эга бўлди.</a:t>
                      </a:r>
                      <a:endParaRPr lang="ru-RU" sz="900" b="0" kern="1200" dirty="0" smtClean="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У ижодий жамоада салмоқли обрў-эътиборга эга бўлиб, ўзининг тўғри сўзлиги, зиёлилиги, ишга нисбатан талабчанлиги билан ёш мутахассисларга жонкуяр устоз сифатида ҳам ажралиб туради. </a:t>
                      </a:r>
                      <a:endParaRPr lang="ru-RU" sz="900" b="0" kern="1200" dirty="0" smtClean="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Меҳнат фаолияти давомида кўплаб иқтидорли шогирдлар тарбиялаган. </a:t>
                      </a:r>
                      <a:endParaRPr lang="ru-RU" sz="900" b="0" kern="1200" dirty="0" smtClean="0">
                        <a:solidFill>
                          <a:schemeClr val="tx1"/>
                        </a:solidFill>
                        <a:effectLst/>
                        <a:latin typeface="+mn-lt"/>
                        <a:ea typeface="+mn-ea"/>
                        <a:cs typeface="+mn-cs"/>
                      </a:endParaRPr>
                    </a:p>
                    <a:p>
                      <a:pPr algn="just"/>
                      <a:r>
                        <a:rPr lang="uz-Cyrl-UZ" sz="900" b="0" kern="1200" dirty="0" smtClean="0">
                          <a:solidFill>
                            <a:schemeClr val="tx1"/>
                          </a:solidFill>
                          <a:effectLst/>
                          <a:latin typeface="+mn-lt"/>
                          <a:ea typeface="+mn-ea"/>
                          <a:cs typeface="+mn-cs"/>
                        </a:rPr>
                        <a:t>Бахтиёр Рахимов саҳна устаси сифатида тажрибали устоз ва самимий инсон сифатида театр жамоаси ўртасида алоҳида ҳурмат-эътиборга эга, турмушда камтарин ва софдил инсон.</a:t>
                      </a:r>
                      <a:endParaRPr lang="ru-RU" sz="900" b="0" kern="1200" dirty="0" smtClean="0">
                        <a:solidFill>
                          <a:schemeClr val="tx1"/>
                        </a:solidFill>
                        <a:effectLst/>
                        <a:latin typeface="+mn-lt"/>
                        <a:ea typeface="+mn-ea"/>
                        <a:cs typeface="+mn-cs"/>
                      </a:endParaRPr>
                    </a:p>
                    <a:p>
                      <a:pPr algn="just"/>
                      <a:r>
                        <a:rPr lang="uz-Cyrl-UZ" sz="1800" b="0" kern="1200" dirty="0" smtClean="0">
                          <a:solidFill>
                            <a:schemeClr val="tx1"/>
                          </a:solidFill>
                          <a:effectLst/>
                          <a:latin typeface="+mn-lt"/>
                          <a:ea typeface="+mn-ea"/>
                          <a:cs typeface="+mn-cs"/>
                        </a:rPr>
                        <a:t> </a:t>
                      </a:r>
                      <a:endParaRPr lang="ru-RU" sz="18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smtClean="0">
                          <a:effectLst/>
                          <a:latin typeface="+mn-lt"/>
                          <a:ea typeface="Calibri" panose="020F0502020204030204" pitchFamily="34" charset="0"/>
                          <a:cs typeface="Times New Roman" panose="02020603050405020304" pitchFamily="18" charset="0"/>
                        </a:rPr>
                        <a:t>Республика ва Самарканд вилоятимизда</a:t>
                      </a:r>
                      <a:r>
                        <a:rPr lang="uz-Cyrl-UZ" sz="8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1026" name="Рисунок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9400" y="1316255"/>
            <a:ext cx="762000" cy="1000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44782200"/>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1600" b="1" dirty="0" smtClean="0">
                <a:solidFill>
                  <a:srgbClr val="002060"/>
                </a:solidFill>
                <a:latin typeface="Bahnschrift SemiBold" panose="020B0502040204020203" pitchFamily="34" charset="0"/>
              </a:rPr>
              <a:t>КОНЦЕРТ-ТОМОША ЙЎНАЛИШИ СОҲА ВАКИЛЛАРИ (ТОП-100)</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5815486"/>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ru-RU" sz="900" b="0" kern="1200" dirty="0" smtClean="0">
                          <a:solidFill>
                            <a:schemeClr val="tx1"/>
                          </a:solidFill>
                          <a:latin typeface="+mn-lt"/>
                          <a:ea typeface="+mn-ea"/>
                          <a:cs typeface="+mn-cs"/>
                        </a:rPr>
                        <a:t>Ж</a:t>
                      </a:r>
                      <a:r>
                        <a:rPr lang="uz-Cyrl-UZ" sz="900" b="0" kern="1200" dirty="0" smtClean="0">
                          <a:solidFill>
                            <a:schemeClr val="tx1"/>
                          </a:solidFill>
                          <a:latin typeface="+mn-lt"/>
                          <a:ea typeface="+mn-ea"/>
                          <a:cs typeface="+mn-cs"/>
                        </a:rPr>
                        <a:t>ў</a:t>
                      </a:r>
                      <a:r>
                        <a:rPr lang="ru-RU" sz="900" b="0" kern="1200" dirty="0" err="1" smtClean="0">
                          <a:solidFill>
                            <a:schemeClr val="tx1"/>
                          </a:solidFill>
                          <a:latin typeface="+mn-lt"/>
                          <a:ea typeface="+mn-ea"/>
                          <a:cs typeface="+mn-cs"/>
                        </a:rPr>
                        <a:t>ракулова</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Рано</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Мухамеджановна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13.12.1944</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Тошкент вилояти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қиз фарзанди бор, </a:t>
                      </a:r>
                      <a:br>
                        <a:rPr lang="uz-Cyrl-UZ" sz="900" b="0" kern="1200" noProof="0" dirty="0" smtClean="0">
                          <a:solidFill>
                            <a:schemeClr val="tx1"/>
                          </a:solidFill>
                          <a:latin typeface="+mn-lt"/>
                          <a:ea typeface="+mn-ea"/>
                          <a:cs typeface="+mn-cs"/>
                        </a:rPr>
                      </a:br>
                      <a:r>
                        <a:rPr lang="uz-Cyrl-UZ" sz="900" b="0" kern="1200" noProof="0" dirty="0" smtClean="0">
                          <a:solidFill>
                            <a:schemeClr val="tx1"/>
                          </a:solidFill>
                          <a:latin typeface="+mn-lt"/>
                          <a:ea typeface="+mn-ea"/>
                          <a:cs typeface="+mn-cs"/>
                        </a:rPr>
                        <a:t>ҳозирда</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ИБРАХИМОВ Мухамеджан</a:t>
                      </a:r>
                    </a:p>
                    <a:p>
                      <a:pPr algn="l">
                        <a:lnSpc>
                          <a:spcPct val="85000"/>
                        </a:lnSpc>
                      </a:pPr>
                      <a:r>
                        <a:rPr lang="uz-Cyrl-UZ" sz="900" b="0" kern="1200" noProof="0" dirty="0" smtClean="0">
                          <a:solidFill>
                            <a:schemeClr val="tx1"/>
                          </a:solidFill>
                          <a:latin typeface="+mn-lt"/>
                          <a:ea typeface="+mn-ea"/>
                          <a:cs typeface="Arial" panose="020B0604020202020204" pitchFamily="34" charset="0"/>
                        </a:rPr>
                        <a:t>1897 йил, Тошкент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1951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Паяфзал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фабрикаси</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ишчиси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ИБРАХИМОВА Лури</a:t>
                      </a:r>
                    </a:p>
                    <a:p>
                      <a:pPr algn="l">
                        <a:lnSpc>
                          <a:spcPct val="85000"/>
                        </a:lnSpc>
                      </a:pPr>
                      <a:r>
                        <a:rPr lang="uz-Cyrl-UZ" sz="900" b="0" kern="1200" noProof="0" dirty="0" smtClean="0">
                          <a:solidFill>
                            <a:schemeClr val="tx1"/>
                          </a:solidFill>
                          <a:latin typeface="+mn-lt"/>
                          <a:ea typeface="+mn-ea"/>
                          <a:cs typeface="Arial" panose="020B0604020202020204" pitchFamily="34" charset="0"/>
                        </a:rPr>
                        <a:t>1906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1979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уй</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ЖУРАҚУЛОВ Абдурашид</a:t>
                      </a:r>
                    </a:p>
                    <a:p>
                      <a:pPr algn="l">
                        <a:lnSpc>
                          <a:spcPct val="85000"/>
                        </a:lnSpc>
                      </a:pPr>
                      <a:r>
                        <a:rPr lang="uz-Cyrl-UZ" sz="900" b="0" kern="1200" noProof="0" dirty="0" smtClean="0">
                          <a:solidFill>
                            <a:schemeClr val="tx1"/>
                          </a:solidFill>
                          <a:latin typeface="+mn-lt"/>
                          <a:ea typeface="+mn-ea"/>
                          <a:cs typeface="Arial" panose="020B0604020202020204" pitchFamily="34" charset="0"/>
                        </a:rPr>
                        <a:t>1941 йил, Самарқанд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1988 йилда вафот этган (Кинап</a:t>
                      </a:r>
                      <a:r>
                        <a:rPr lang="uz-Cyrl-UZ" sz="900" b="0" kern="1200" baseline="0" noProof="0" dirty="0" smtClean="0">
                          <a:solidFill>
                            <a:schemeClr val="tx1"/>
                          </a:solidFill>
                          <a:latin typeface="+mn-lt"/>
                          <a:ea typeface="+mn-ea"/>
                          <a:cs typeface="Arial" panose="020B0604020202020204" pitchFamily="34" charset="0"/>
                        </a:rPr>
                        <a:t> заводида ҳайдовчи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48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19665 й. </a:t>
                      </a:r>
                      <a:r>
                        <a:rPr lang="ru-RU" sz="900" b="0" kern="1200" noProof="0" dirty="0" err="1" smtClean="0">
                          <a:solidFill>
                            <a:schemeClr val="tx1"/>
                          </a:solidFill>
                          <a:latin typeface="+mn-lt"/>
                          <a:ea typeface="+mn-ea"/>
                          <a:cs typeface="+mn-cs"/>
                        </a:rPr>
                        <a:t>А.Н.Островский</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номли</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тетар</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6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ва кино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1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89"/>
          <a:ext cx="3172841" cy="5936117"/>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761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1174">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2019 йилдан Самарканд вилояти мусиқали драма театри олий тоифали драма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192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685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53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97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896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811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811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йуқ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624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576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365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96243">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1978 й. Ўзбекистонда хизмат кўрстаган артист</a:t>
                      </a:r>
                    </a:p>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2024 й. “Мехнат шухрати” ордени </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6"/>
          <a:ext cx="2817247" cy="5827644"/>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r>
                        <a:rPr lang="uz-Cyrl-UZ" sz="900" b="0" noProof="0" dirty="0" smtClean="0">
                          <a:solidFill>
                            <a:schemeClr val="tx1"/>
                          </a:solidFill>
                          <a:latin typeface="+mn-lt"/>
                        </a:rPr>
                        <a:t>    </a:t>
                      </a:r>
                      <a:r>
                        <a:rPr lang="uz-Cyrl-UZ" sz="900" kern="1200" dirty="0" smtClean="0">
                          <a:solidFill>
                            <a:schemeClr val="dk1"/>
                          </a:solidFill>
                          <a:effectLst/>
                          <a:latin typeface="+mn-lt"/>
                          <a:ea typeface="+mn-ea"/>
                          <a:cs typeface="+mn-cs"/>
                        </a:rPr>
                        <a:t>Мукофотланган. </a:t>
                      </a:r>
                    </a:p>
                    <a:p>
                      <a:pPr algn="just"/>
                      <a:r>
                        <a:rPr lang="uz-Cyrl-UZ" sz="900" kern="1200" dirty="0" smtClean="0">
                          <a:solidFill>
                            <a:schemeClr val="dk1"/>
                          </a:solidFill>
                          <a:effectLst/>
                          <a:latin typeface="+mn-lt"/>
                          <a:ea typeface="+mn-ea"/>
                          <a:cs typeface="+mn-cs"/>
                        </a:rPr>
                        <a:t>    1978 йилда “Ўзбекистонда хизмат кўрсатган артист” унвони билан мукофотланган.</a:t>
                      </a:r>
                      <a:r>
                        <a:rPr lang="en-US" sz="900" kern="1200" dirty="0" smtClean="0">
                          <a:solidFill>
                            <a:schemeClr val="dk1"/>
                          </a:solidFill>
                          <a:effectLst/>
                          <a:latin typeface="+mn-lt"/>
                          <a:ea typeface="+mn-ea"/>
                          <a:cs typeface="+mn-cs"/>
                        </a:rPr>
                        <a:t> </a:t>
                      </a:r>
                      <a:endParaRPr lang="uz-Cyrl-UZ" sz="900" kern="1200" dirty="0" smtClean="0">
                        <a:solidFill>
                          <a:schemeClr val="dk1"/>
                        </a:solidFill>
                        <a:effectLst/>
                        <a:latin typeface="+mn-lt"/>
                        <a:ea typeface="+mn-ea"/>
                        <a:cs typeface="+mn-cs"/>
                      </a:endParaRPr>
                    </a:p>
                    <a:p>
                      <a:pPr algn="just"/>
                      <a:r>
                        <a:rPr lang="uz-Cyrl-UZ" sz="900" kern="1200" smtClean="0">
                          <a:solidFill>
                            <a:schemeClr val="dk1"/>
                          </a:solidFill>
                          <a:effectLst/>
                          <a:latin typeface="+mn-lt"/>
                          <a:ea typeface="+mn-ea"/>
                          <a:cs typeface="+mn-cs"/>
                        </a:rPr>
                        <a:t>    2024 </a:t>
                      </a:r>
                      <a:r>
                        <a:rPr lang="uz-Cyrl-UZ" sz="900" kern="1200" dirty="0" smtClean="0">
                          <a:solidFill>
                            <a:schemeClr val="dk1"/>
                          </a:solidFill>
                          <a:effectLst/>
                          <a:latin typeface="+mn-lt"/>
                          <a:ea typeface="+mn-ea"/>
                          <a:cs typeface="+mn-cs"/>
                        </a:rPr>
                        <a:t>йилда “Мехнат шухрати” ордени билан тақдирланган.</a:t>
                      </a:r>
                    </a:p>
                    <a:p>
                      <a:pPr algn="just"/>
                      <a:r>
                        <a:rPr lang="uz-Cyrl-UZ" sz="900" kern="1200" dirty="0" smtClean="0">
                          <a:solidFill>
                            <a:schemeClr val="dk1"/>
                          </a:solidFill>
                          <a:effectLst/>
                          <a:latin typeface="+mn-lt"/>
                          <a:ea typeface="+mn-ea"/>
                          <a:cs typeface="+mn-cs"/>
                        </a:rPr>
                        <a:t>Р.Журакулова</a:t>
                      </a:r>
                      <a:r>
                        <a:rPr lang="uz-Cyrl-UZ" sz="900" kern="1200" baseline="0" dirty="0" smtClean="0">
                          <a:solidFill>
                            <a:schemeClr val="dk1"/>
                          </a:solidFill>
                          <a:effectLst/>
                          <a:latin typeface="+mn-lt"/>
                          <a:ea typeface="+mn-ea"/>
                          <a:cs typeface="+mn-cs"/>
                        </a:rPr>
                        <a:t> ўзининг ижодий фалити давомида 100 дан ортиқ турли жанрлардаги спектаклларда турли хил ролларни ижро этган. Хусусан улардан  </a:t>
                      </a:r>
                      <a:r>
                        <a:rPr lang="uz-Cyrl-UZ" sz="900" kern="1200" dirty="0" smtClean="0">
                          <a:solidFill>
                            <a:schemeClr val="dk1"/>
                          </a:solidFill>
                          <a:effectLst/>
                          <a:latin typeface="+mn-lt"/>
                          <a:ea typeface="+mn-ea"/>
                          <a:cs typeface="+mn-cs"/>
                        </a:rPr>
                        <a:t>“Кўрмайин дўстим тиконни”, “Инсонликка номзод”, “Чимилдиқ” спектакллар, “Кураж она” </a:t>
                      </a:r>
                      <a:r>
                        <a:rPr lang="uz-Cyrl-UZ" sz="900" b="1" kern="1200" dirty="0" smtClean="0">
                          <a:solidFill>
                            <a:schemeClr val="dk1"/>
                          </a:solidFill>
                          <a:effectLst/>
                          <a:latin typeface="+mn-lt"/>
                          <a:ea typeface="+mn-ea"/>
                          <a:cs typeface="+mn-cs"/>
                        </a:rPr>
                        <a:t>Иветта</a:t>
                      </a:r>
                      <a:r>
                        <a:rPr lang="uz-Cyrl-UZ" sz="900" kern="1200" dirty="0" smtClean="0">
                          <a:solidFill>
                            <a:schemeClr val="dk1"/>
                          </a:solidFill>
                          <a:effectLst/>
                          <a:latin typeface="+mn-lt"/>
                          <a:ea typeface="+mn-ea"/>
                          <a:cs typeface="+mn-cs"/>
                        </a:rPr>
                        <a:t>, “Сечуандан чиққан меҳрибон</a:t>
                      </a:r>
                      <a:r>
                        <a:rPr lang="uz-Cyrl-UZ" sz="900" b="1" kern="1200" dirty="0" smtClean="0">
                          <a:solidFill>
                            <a:schemeClr val="dk1"/>
                          </a:solidFill>
                          <a:effectLst/>
                          <a:latin typeface="+mn-lt"/>
                          <a:ea typeface="+mn-ea"/>
                          <a:cs typeface="+mn-cs"/>
                        </a:rPr>
                        <a:t>”</a:t>
                      </a:r>
                      <a:r>
                        <a:rPr lang="uz-Cyrl-UZ" sz="900" kern="1200" dirty="0" smtClean="0">
                          <a:solidFill>
                            <a:schemeClr val="dk1"/>
                          </a:solidFill>
                          <a:effectLst/>
                          <a:latin typeface="+mn-lt"/>
                          <a:ea typeface="+mn-ea"/>
                          <a:cs typeface="+mn-cs"/>
                        </a:rPr>
                        <a:t> </a:t>
                      </a:r>
                      <a:r>
                        <a:rPr lang="uz-Cyrl-UZ" sz="900" b="1" kern="1200" dirty="0" smtClean="0">
                          <a:solidFill>
                            <a:schemeClr val="dk1"/>
                          </a:solidFill>
                          <a:effectLst/>
                          <a:latin typeface="+mn-lt"/>
                          <a:ea typeface="+mn-ea"/>
                          <a:cs typeface="+mn-cs"/>
                        </a:rPr>
                        <a:t>Шойда, Шинде, </a:t>
                      </a:r>
                      <a:r>
                        <a:rPr lang="uz-Cyrl-UZ" sz="900" kern="1200" dirty="0" smtClean="0">
                          <a:solidFill>
                            <a:schemeClr val="dk1"/>
                          </a:solidFill>
                          <a:effectLst/>
                          <a:latin typeface="+mn-lt"/>
                          <a:ea typeface="+mn-ea"/>
                          <a:cs typeface="+mn-cs"/>
                        </a:rPr>
                        <a:t>“Муҳаббат фожеаси” </a:t>
                      </a:r>
                      <a:r>
                        <a:rPr lang="uz-Cyrl-UZ" sz="900" b="1" kern="1200" dirty="0" smtClean="0">
                          <a:solidFill>
                            <a:schemeClr val="dk1"/>
                          </a:solidFill>
                          <a:effectLst/>
                          <a:latin typeface="+mn-lt"/>
                          <a:ea typeface="+mn-ea"/>
                          <a:cs typeface="+mn-cs"/>
                        </a:rPr>
                        <a:t>Абби</a:t>
                      </a:r>
                      <a:r>
                        <a:rPr lang="uz-Cyrl-UZ" sz="900" kern="1200" dirty="0" smtClean="0">
                          <a:solidFill>
                            <a:schemeClr val="dk1"/>
                          </a:solidFill>
                          <a:effectLst/>
                          <a:latin typeface="+mn-lt"/>
                          <a:ea typeface="+mn-ea"/>
                          <a:cs typeface="+mn-cs"/>
                        </a:rPr>
                        <a:t>, “Қорасоч” </a:t>
                      </a:r>
                      <a:r>
                        <a:rPr lang="uz-Cyrl-UZ" sz="900" b="1" kern="1200" dirty="0" smtClean="0">
                          <a:solidFill>
                            <a:schemeClr val="dk1"/>
                          </a:solidFill>
                          <a:effectLst/>
                          <a:latin typeface="+mn-lt"/>
                          <a:ea typeface="+mn-ea"/>
                          <a:cs typeface="+mn-cs"/>
                        </a:rPr>
                        <a:t>Қорасоч</a:t>
                      </a:r>
                      <a:r>
                        <a:rPr lang="uz-Cyrl-UZ" sz="900" kern="1200" dirty="0" smtClean="0">
                          <a:solidFill>
                            <a:schemeClr val="dk1"/>
                          </a:solidFill>
                          <a:effectLst/>
                          <a:latin typeface="+mn-lt"/>
                          <a:ea typeface="+mn-ea"/>
                          <a:cs typeface="+mn-cs"/>
                        </a:rPr>
                        <a:t>, “Майсаранинг иши” </a:t>
                      </a:r>
                      <a:r>
                        <a:rPr lang="uz-Cyrl-UZ" sz="900" b="1" kern="1200" dirty="0" smtClean="0">
                          <a:solidFill>
                            <a:schemeClr val="dk1"/>
                          </a:solidFill>
                          <a:effectLst/>
                          <a:latin typeface="+mn-lt"/>
                          <a:ea typeface="+mn-ea"/>
                          <a:cs typeface="+mn-cs"/>
                        </a:rPr>
                        <a:t>Майсара</a:t>
                      </a:r>
                      <a:r>
                        <a:rPr lang="uz-Cyrl-UZ" sz="900" kern="1200" dirty="0" smtClean="0">
                          <a:solidFill>
                            <a:schemeClr val="dk1"/>
                          </a:solidFill>
                          <a:effectLst/>
                          <a:latin typeface="+mn-lt"/>
                          <a:ea typeface="+mn-ea"/>
                          <a:cs typeface="+mn-cs"/>
                        </a:rPr>
                        <a:t>, “Самарқанднома” </a:t>
                      </a:r>
                      <a:r>
                        <a:rPr lang="uz-Cyrl-UZ" sz="900" b="1" kern="1200" dirty="0" smtClean="0">
                          <a:solidFill>
                            <a:schemeClr val="dk1"/>
                          </a:solidFill>
                          <a:effectLst/>
                          <a:latin typeface="+mn-lt"/>
                          <a:ea typeface="+mn-ea"/>
                          <a:cs typeface="+mn-cs"/>
                        </a:rPr>
                        <a:t>Туркон хотун</a:t>
                      </a:r>
                      <a:r>
                        <a:rPr lang="uz-Cyrl-UZ" sz="900" kern="1200" dirty="0" smtClean="0">
                          <a:solidFill>
                            <a:schemeClr val="dk1"/>
                          </a:solidFill>
                          <a:effectLst/>
                          <a:latin typeface="+mn-lt"/>
                          <a:ea typeface="+mn-ea"/>
                          <a:cs typeface="+mn-cs"/>
                        </a:rPr>
                        <a:t>, “Исқирт сатанг” </a:t>
                      </a:r>
                      <a:r>
                        <a:rPr lang="uz-Cyrl-UZ" sz="900" b="1" kern="1200" dirty="0" smtClean="0">
                          <a:solidFill>
                            <a:schemeClr val="dk1"/>
                          </a:solidFill>
                          <a:effectLst/>
                          <a:latin typeface="+mn-lt"/>
                          <a:ea typeface="+mn-ea"/>
                          <a:cs typeface="+mn-cs"/>
                        </a:rPr>
                        <a:t>Гулуза</a:t>
                      </a:r>
                      <a:r>
                        <a:rPr lang="uz-Cyrl-UZ" sz="900" kern="1200" dirty="0" smtClean="0">
                          <a:solidFill>
                            <a:schemeClr val="dk1"/>
                          </a:solidFill>
                          <a:effectLst/>
                          <a:latin typeface="+mn-lt"/>
                          <a:ea typeface="+mn-ea"/>
                          <a:cs typeface="+mn-cs"/>
                        </a:rPr>
                        <a:t>, “Афанди ва азроил” </a:t>
                      </a:r>
                      <a:r>
                        <a:rPr lang="uz-Cyrl-UZ" sz="900" b="1" kern="1200" dirty="0" smtClean="0">
                          <a:solidFill>
                            <a:schemeClr val="dk1"/>
                          </a:solidFill>
                          <a:effectLst/>
                          <a:latin typeface="+mn-lt"/>
                          <a:ea typeface="+mn-ea"/>
                          <a:cs typeface="+mn-cs"/>
                        </a:rPr>
                        <a:t>Афандининг хотини</a:t>
                      </a:r>
                      <a:r>
                        <a:rPr lang="uz-Cyrl-UZ" sz="900" kern="1200" dirty="0" smtClean="0">
                          <a:solidFill>
                            <a:schemeClr val="dk1"/>
                          </a:solidFill>
                          <a:effectLst/>
                          <a:latin typeface="+mn-lt"/>
                          <a:ea typeface="+mn-ea"/>
                          <a:cs typeface="+mn-cs"/>
                        </a:rPr>
                        <a:t>, “Қитмир” </a:t>
                      </a:r>
                      <a:r>
                        <a:rPr lang="uz-Cyrl-UZ" sz="900" b="1" kern="1200" dirty="0" smtClean="0">
                          <a:solidFill>
                            <a:schemeClr val="dk1"/>
                          </a:solidFill>
                          <a:effectLst/>
                          <a:latin typeface="+mn-lt"/>
                          <a:ea typeface="+mn-ea"/>
                          <a:cs typeface="+mn-cs"/>
                        </a:rPr>
                        <a:t>Халима</a:t>
                      </a:r>
                      <a:r>
                        <a:rPr lang="uz-Cyrl-UZ" sz="900" kern="1200" dirty="0" smtClean="0">
                          <a:solidFill>
                            <a:schemeClr val="dk1"/>
                          </a:solidFill>
                          <a:effectLst/>
                          <a:latin typeface="+mn-lt"/>
                          <a:ea typeface="+mn-ea"/>
                          <a:cs typeface="+mn-cs"/>
                        </a:rPr>
                        <a:t>, “Имом Бухорий” </a:t>
                      </a:r>
                      <a:r>
                        <a:rPr lang="uz-Cyrl-UZ" sz="900" b="1" kern="1200" dirty="0" smtClean="0">
                          <a:solidFill>
                            <a:schemeClr val="dk1"/>
                          </a:solidFill>
                          <a:effectLst/>
                          <a:latin typeface="+mn-lt"/>
                          <a:ea typeface="+mn-ea"/>
                          <a:cs typeface="+mn-cs"/>
                        </a:rPr>
                        <a:t>Она</a:t>
                      </a:r>
                      <a:r>
                        <a:rPr lang="uz-Cyrl-UZ" sz="900" kern="1200" dirty="0" smtClean="0">
                          <a:solidFill>
                            <a:schemeClr val="dk1"/>
                          </a:solidFill>
                          <a:effectLst/>
                          <a:latin typeface="+mn-lt"/>
                          <a:ea typeface="+mn-ea"/>
                          <a:cs typeface="+mn-cs"/>
                        </a:rPr>
                        <a:t>, “Жинни бўлиш ҳеч гап эмас” </a:t>
                      </a:r>
                      <a:r>
                        <a:rPr lang="uz-Cyrl-UZ" sz="900" b="1" kern="1200" dirty="0" smtClean="0">
                          <a:solidFill>
                            <a:schemeClr val="dk1"/>
                          </a:solidFill>
                          <a:effectLst/>
                          <a:latin typeface="+mn-lt"/>
                          <a:ea typeface="+mn-ea"/>
                          <a:cs typeface="+mn-cs"/>
                        </a:rPr>
                        <a:t>бош роль, </a:t>
                      </a:r>
                      <a:r>
                        <a:rPr lang="uz-Cyrl-UZ" sz="900" kern="1200" dirty="0" smtClean="0">
                          <a:solidFill>
                            <a:schemeClr val="dk1"/>
                          </a:solidFill>
                          <a:effectLst/>
                          <a:latin typeface="+mn-lt"/>
                          <a:ea typeface="+mn-ea"/>
                          <a:cs typeface="+mn-cs"/>
                        </a:rPr>
                        <a:t>“Чимилдиқ”, “Семурғ” </a:t>
                      </a:r>
                      <a:r>
                        <a:rPr lang="uz-Cyrl-UZ" sz="900" b="1" kern="1200" dirty="0" smtClean="0">
                          <a:solidFill>
                            <a:schemeClr val="dk1"/>
                          </a:solidFill>
                          <a:effectLst/>
                          <a:latin typeface="+mn-lt"/>
                          <a:ea typeface="+mn-ea"/>
                          <a:cs typeface="+mn-cs"/>
                        </a:rPr>
                        <a:t>Паризод</a:t>
                      </a:r>
                      <a:r>
                        <a:rPr lang="uz-Cyrl-UZ" sz="900" kern="1200" dirty="0" smtClean="0">
                          <a:solidFill>
                            <a:schemeClr val="dk1"/>
                          </a:solidFill>
                          <a:effectLst/>
                          <a:latin typeface="+mn-lt"/>
                          <a:ea typeface="+mn-ea"/>
                          <a:cs typeface="+mn-cs"/>
                        </a:rPr>
                        <a:t>, “Қайнона” </a:t>
                      </a:r>
                      <a:r>
                        <a:rPr lang="uz-Cyrl-UZ" sz="900" b="1" kern="1200" dirty="0" smtClean="0">
                          <a:solidFill>
                            <a:schemeClr val="dk1"/>
                          </a:solidFill>
                          <a:effectLst/>
                          <a:latin typeface="+mn-lt"/>
                          <a:ea typeface="+mn-ea"/>
                          <a:cs typeface="+mn-cs"/>
                        </a:rPr>
                        <a:t>Офат, </a:t>
                      </a:r>
                      <a:r>
                        <a:rPr lang="uz-Cyrl-UZ" sz="900" kern="1200" dirty="0" smtClean="0">
                          <a:solidFill>
                            <a:schemeClr val="dk1"/>
                          </a:solidFill>
                          <a:effectLst/>
                          <a:latin typeface="+mn-lt"/>
                          <a:ea typeface="+mn-ea"/>
                          <a:cs typeface="+mn-cs"/>
                        </a:rPr>
                        <a:t>“9-покиза”  </a:t>
                      </a:r>
                      <a:r>
                        <a:rPr lang="uz-Cyrl-UZ" sz="900" b="1" kern="1200" dirty="0" smtClean="0">
                          <a:solidFill>
                            <a:schemeClr val="dk1"/>
                          </a:solidFill>
                          <a:effectLst/>
                          <a:latin typeface="+mn-lt"/>
                          <a:ea typeface="+mn-ea"/>
                          <a:cs typeface="+mn-cs"/>
                        </a:rPr>
                        <a:t>Ахша, “</a:t>
                      </a:r>
                      <a:r>
                        <a:rPr lang="uz-Cyrl-UZ" sz="900" kern="1200" dirty="0" smtClean="0">
                          <a:solidFill>
                            <a:schemeClr val="dk1"/>
                          </a:solidFill>
                          <a:effectLst/>
                          <a:latin typeface="+mn-lt"/>
                          <a:ea typeface="+mn-ea"/>
                          <a:cs typeface="+mn-cs"/>
                        </a:rPr>
                        <a:t>Қуёш</a:t>
                      </a:r>
                      <a:r>
                        <a:rPr lang="uz-Cyrl-UZ" sz="900" b="1" kern="1200" dirty="0" smtClean="0">
                          <a:solidFill>
                            <a:schemeClr val="dk1"/>
                          </a:solidFill>
                          <a:effectLst/>
                          <a:latin typeface="+mn-lt"/>
                          <a:ea typeface="+mn-ea"/>
                          <a:cs typeface="+mn-cs"/>
                        </a:rPr>
                        <a:t> </a:t>
                      </a:r>
                      <a:r>
                        <a:rPr lang="uz-Cyrl-UZ" sz="900" kern="1200" dirty="0" smtClean="0">
                          <a:solidFill>
                            <a:schemeClr val="dk1"/>
                          </a:solidFill>
                          <a:effectLst/>
                          <a:latin typeface="+mn-lt"/>
                          <a:ea typeface="+mn-ea"/>
                          <a:cs typeface="+mn-cs"/>
                        </a:rPr>
                        <a:t>фарзанди</a:t>
                      </a:r>
                      <a:r>
                        <a:rPr lang="uz-Cyrl-UZ" sz="900" b="1" kern="1200" dirty="0" smtClean="0">
                          <a:solidFill>
                            <a:schemeClr val="dk1"/>
                          </a:solidFill>
                          <a:effectLst/>
                          <a:latin typeface="+mn-lt"/>
                          <a:ea typeface="+mn-ea"/>
                          <a:cs typeface="+mn-cs"/>
                        </a:rPr>
                        <a:t> </a:t>
                      </a:r>
                      <a:r>
                        <a:rPr lang="uz-Cyrl-UZ" sz="900" kern="1200" dirty="0" smtClean="0">
                          <a:solidFill>
                            <a:schemeClr val="dk1"/>
                          </a:solidFill>
                          <a:effectLst/>
                          <a:latin typeface="+mn-lt"/>
                          <a:ea typeface="+mn-ea"/>
                          <a:cs typeface="+mn-cs"/>
                        </a:rPr>
                        <a:t>Спитамен</a:t>
                      </a:r>
                      <a:r>
                        <a:rPr lang="uz-Cyrl-UZ" sz="900" b="1" kern="1200" dirty="0" smtClean="0">
                          <a:solidFill>
                            <a:schemeClr val="dk1"/>
                          </a:solidFill>
                          <a:effectLst/>
                          <a:latin typeface="+mn-lt"/>
                          <a:ea typeface="+mn-ea"/>
                          <a:cs typeface="+mn-cs"/>
                        </a:rPr>
                        <a:t>” </a:t>
                      </a:r>
                      <a:r>
                        <a:rPr lang="uz-Cyrl-UZ" sz="900" kern="1200" dirty="0" smtClean="0">
                          <a:solidFill>
                            <a:schemeClr val="dk1"/>
                          </a:solidFill>
                          <a:effectLst/>
                          <a:latin typeface="+mn-lt"/>
                          <a:ea typeface="+mn-ea"/>
                          <a:cs typeface="+mn-cs"/>
                        </a:rPr>
                        <a:t> </a:t>
                      </a:r>
                      <a:r>
                        <a:rPr lang="uz-Cyrl-UZ" sz="900" b="1" kern="1200" dirty="0" smtClean="0">
                          <a:solidFill>
                            <a:schemeClr val="dk1"/>
                          </a:solidFill>
                          <a:effectLst/>
                          <a:latin typeface="+mn-lt"/>
                          <a:ea typeface="+mn-ea"/>
                          <a:cs typeface="+mn-cs"/>
                        </a:rPr>
                        <a:t>Спитаменнинг онаси малика, “</a:t>
                      </a:r>
                      <a:r>
                        <a:rPr lang="uz-Cyrl-UZ" sz="900" kern="1200" dirty="0" smtClean="0">
                          <a:solidFill>
                            <a:schemeClr val="dk1"/>
                          </a:solidFill>
                          <a:effectLst/>
                          <a:latin typeface="+mn-lt"/>
                          <a:ea typeface="+mn-ea"/>
                          <a:cs typeface="+mn-cs"/>
                        </a:rPr>
                        <a:t>Султон</a:t>
                      </a:r>
                      <a:r>
                        <a:rPr lang="uz-Cyrl-UZ" sz="900" b="1" kern="1200" dirty="0" smtClean="0">
                          <a:solidFill>
                            <a:schemeClr val="dk1"/>
                          </a:solidFill>
                          <a:effectLst/>
                          <a:latin typeface="+mn-lt"/>
                          <a:ea typeface="+mn-ea"/>
                          <a:cs typeface="+mn-cs"/>
                        </a:rPr>
                        <a:t> </a:t>
                      </a:r>
                      <a:r>
                        <a:rPr lang="uz-Cyrl-UZ" sz="900" kern="1200" dirty="0" smtClean="0">
                          <a:solidFill>
                            <a:schemeClr val="dk1"/>
                          </a:solidFill>
                          <a:effectLst/>
                          <a:latin typeface="+mn-lt"/>
                          <a:ea typeface="+mn-ea"/>
                          <a:cs typeface="+mn-cs"/>
                        </a:rPr>
                        <a:t>султонда</a:t>
                      </a:r>
                      <a:r>
                        <a:rPr lang="uz-Cyrl-UZ" sz="900" b="1" kern="1200" dirty="0" smtClean="0">
                          <a:solidFill>
                            <a:schemeClr val="dk1"/>
                          </a:solidFill>
                          <a:effectLst/>
                          <a:latin typeface="+mn-lt"/>
                          <a:ea typeface="+mn-ea"/>
                          <a:cs typeface="+mn-cs"/>
                        </a:rPr>
                        <a:t>” Султоннинг хотини, “</a:t>
                      </a:r>
                      <a:r>
                        <a:rPr lang="uz-Cyrl-UZ" sz="900" kern="1200" dirty="0" smtClean="0">
                          <a:solidFill>
                            <a:schemeClr val="dk1"/>
                          </a:solidFill>
                          <a:effectLst/>
                          <a:latin typeface="+mn-lt"/>
                          <a:ea typeface="+mn-ea"/>
                          <a:cs typeface="+mn-cs"/>
                        </a:rPr>
                        <a:t>Садоқат</a:t>
                      </a:r>
                      <a:r>
                        <a:rPr lang="uz-Cyrl-UZ" sz="900" b="1" kern="1200" dirty="0" smtClean="0">
                          <a:solidFill>
                            <a:schemeClr val="dk1"/>
                          </a:solidFill>
                          <a:effectLst/>
                          <a:latin typeface="+mn-lt"/>
                          <a:ea typeface="+mn-ea"/>
                          <a:cs typeface="+mn-cs"/>
                        </a:rPr>
                        <a:t>” </a:t>
                      </a:r>
                      <a:r>
                        <a:rPr lang="uz-Cyrl-UZ" sz="900" kern="1200" dirty="0" smtClean="0">
                          <a:solidFill>
                            <a:schemeClr val="dk1"/>
                          </a:solidFill>
                          <a:effectLst/>
                          <a:latin typeface="+mn-lt"/>
                          <a:ea typeface="+mn-ea"/>
                          <a:cs typeface="+mn-cs"/>
                        </a:rPr>
                        <a:t> </a:t>
                      </a:r>
                      <a:r>
                        <a:rPr lang="uz-Cyrl-UZ" sz="900" b="1" kern="1200" dirty="0" smtClean="0">
                          <a:solidFill>
                            <a:schemeClr val="dk1"/>
                          </a:solidFill>
                          <a:effectLst/>
                          <a:latin typeface="+mn-lt"/>
                          <a:ea typeface="+mn-ea"/>
                          <a:cs typeface="+mn-cs"/>
                        </a:rPr>
                        <a:t>Махбуба, </a:t>
                      </a:r>
                      <a:r>
                        <a:rPr lang="uz-Cyrl-UZ" sz="900" kern="1200" dirty="0" smtClean="0">
                          <a:solidFill>
                            <a:schemeClr val="dk1"/>
                          </a:solidFill>
                          <a:effectLst/>
                          <a:latin typeface="+mn-lt"/>
                          <a:ea typeface="+mn-ea"/>
                          <a:cs typeface="+mn-cs"/>
                        </a:rPr>
                        <a:t>“Отелло” </a:t>
                      </a:r>
                      <a:r>
                        <a:rPr lang="uz-Cyrl-UZ" sz="900" b="1" kern="1200" dirty="0" smtClean="0">
                          <a:solidFill>
                            <a:schemeClr val="dk1"/>
                          </a:solidFill>
                          <a:effectLst/>
                          <a:latin typeface="+mn-lt"/>
                          <a:ea typeface="+mn-ea"/>
                          <a:cs typeface="+mn-cs"/>
                        </a:rPr>
                        <a:t>Дездемона</a:t>
                      </a:r>
                      <a:r>
                        <a:rPr lang="uz-Cyrl-UZ" sz="900" kern="1200" dirty="0" smtClean="0">
                          <a:solidFill>
                            <a:schemeClr val="dk1"/>
                          </a:solidFill>
                          <a:effectLst/>
                          <a:latin typeface="+mn-lt"/>
                          <a:ea typeface="+mn-ea"/>
                          <a:cs typeface="+mn-cs"/>
                        </a:rPr>
                        <a:t>, “Хийлаи шаръий” </a:t>
                      </a:r>
                      <a:r>
                        <a:rPr lang="uz-Cyrl-UZ" sz="900" b="1" kern="1200" dirty="0" smtClean="0">
                          <a:solidFill>
                            <a:schemeClr val="dk1"/>
                          </a:solidFill>
                          <a:effectLst/>
                          <a:latin typeface="+mn-lt"/>
                          <a:ea typeface="+mn-ea"/>
                          <a:cs typeface="+mn-cs"/>
                        </a:rPr>
                        <a:t>Малак, </a:t>
                      </a:r>
                      <a:r>
                        <a:rPr lang="uz-Cyrl-UZ" sz="900" kern="1200" dirty="0" smtClean="0">
                          <a:solidFill>
                            <a:schemeClr val="dk1"/>
                          </a:solidFill>
                          <a:effectLst/>
                          <a:latin typeface="+mn-lt"/>
                          <a:ea typeface="+mn-ea"/>
                          <a:cs typeface="+mn-cs"/>
                        </a:rPr>
                        <a:t>“Унутилган одам” </a:t>
                      </a:r>
                      <a:r>
                        <a:rPr lang="uz-Cyrl-UZ" sz="900" b="1" kern="1200" dirty="0" smtClean="0">
                          <a:solidFill>
                            <a:schemeClr val="dk1"/>
                          </a:solidFill>
                          <a:effectLst/>
                          <a:latin typeface="+mn-lt"/>
                          <a:ea typeface="+mn-ea"/>
                          <a:cs typeface="+mn-cs"/>
                        </a:rPr>
                        <a:t>Қиз</a:t>
                      </a:r>
                      <a:r>
                        <a:rPr lang="uz-Cyrl-UZ" sz="900" kern="1200" dirty="0" smtClean="0">
                          <a:solidFill>
                            <a:schemeClr val="dk1"/>
                          </a:solidFill>
                          <a:effectLst/>
                          <a:latin typeface="+mn-lt"/>
                          <a:ea typeface="+mn-ea"/>
                          <a:cs typeface="+mn-cs"/>
                        </a:rPr>
                        <a:t>, “Рустам” спетаклида </a:t>
                      </a:r>
                      <a:r>
                        <a:rPr lang="uz-Cyrl-UZ" sz="900" b="1" kern="1200" dirty="0" smtClean="0">
                          <a:solidFill>
                            <a:schemeClr val="dk1"/>
                          </a:solidFill>
                          <a:effectLst/>
                          <a:latin typeface="+mn-lt"/>
                          <a:ea typeface="+mn-ea"/>
                          <a:cs typeface="+mn-cs"/>
                        </a:rPr>
                        <a:t>Қиммат</a:t>
                      </a:r>
                      <a:r>
                        <a:rPr lang="uz-Cyrl-UZ" sz="900" kern="1200" dirty="0" smtClean="0">
                          <a:solidFill>
                            <a:schemeClr val="dk1"/>
                          </a:solidFill>
                          <a:effectLst/>
                          <a:latin typeface="+mn-lt"/>
                          <a:ea typeface="+mn-ea"/>
                          <a:cs typeface="+mn-cs"/>
                        </a:rPr>
                        <a:t>, “Кўнгли ёш қариялар” </a:t>
                      </a:r>
                      <a:r>
                        <a:rPr lang="uz-Cyrl-UZ" sz="900" b="1" kern="1200" dirty="0" smtClean="0">
                          <a:solidFill>
                            <a:schemeClr val="dk1"/>
                          </a:solidFill>
                          <a:effectLst/>
                          <a:latin typeface="+mn-lt"/>
                          <a:ea typeface="+mn-ea"/>
                          <a:cs typeface="+mn-cs"/>
                        </a:rPr>
                        <a:t>Хотин</a:t>
                      </a:r>
                      <a:r>
                        <a:rPr lang="uz-Cyrl-UZ" sz="900" kern="1200" dirty="0" smtClean="0">
                          <a:solidFill>
                            <a:schemeClr val="dk1"/>
                          </a:solidFill>
                          <a:effectLst/>
                          <a:latin typeface="+mn-lt"/>
                          <a:ea typeface="+mn-ea"/>
                          <a:cs typeface="+mn-cs"/>
                        </a:rPr>
                        <a:t>, “Бир ўлиб кўрайчи” </a:t>
                      </a:r>
                      <a:r>
                        <a:rPr lang="uz-Cyrl-UZ" sz="900" b="1" kern="1200" dirty="0" smtClean="0">
                          <a:solidFill>
                            <a:schemeClr val="dk1"/>
                          </a:solidFill>
                          <a:effectLst/>
                          <a:latin typeface="+mn-lt"/>
                          <a:ea typeface="+mn-ea"/>
                          <a:cs typeface="+mn-cs"/>
                        </a:rPr>
                        <a:t>Ойдана</a:t>
                      </a:r>
                      <a:r>
                        <a:rPr lang="uz-Cyrl-UZ" sz="900" kern="1200" dirty="0" smtClean="0">
                          <a:solidFill>
                            <a:schemeClr val="dk1"/>
                          </a:solidFill>
                          <a:effectLst/>
                          <a:latin typeface="+mn-lt"/>
                          <a:ea typeface="+mn-ea"/>
                          <a:cs typeface="+mn-cs"/>
                        </a:rPr>
                        <a:t>, “Ширин найранг” </a:t>
                      </a:r>
                      <a:r>
                        <a:rPr lang="uz-Cyrl-UZ" sz="900" b="1" kern="1200" dirty="0" smtClean="0">
                          <a:solidFill>
                            <a:schemeClr val="dk1"/>
                          </a:solidFill>
                          <a:effectLst/>
                          <a:latin typeface="+mn-lt"/>
                          <a:ea typeface="+mn-ea"/>
                          <a:cs typeface="+mn-cs"/>
                        </a:rPr>
                        <a:t>Ширин ая</a:t>
                      </a:r>
                      <a:r>
                        <a:rPr lang="uz-Cyrl-UZ" sz="900" kern="1200" dirty="0" smtClean="0">
                          <a:solidFill>
                            <a:schemeClr val="dk1"/>
                          </a:solidFill>
                          <a:effectLst/>
                          <a:latin typeface="+mn-lt"/>
                          <a:ea typeface="+mn-ea"/>
                          <a:cs typeface="+mn-cs"/>
                        </a:rPr>
                        <a:t>, “Хонума” </a:t>
                      </a:r>
                      <a:r>
                        <a:rPr lang="uz-Cyrl-UZ" sz="900" b="1" kern="1200" dirty="0" smtClean="0">
                          <a:solidFill>
                            <a:schemeClr val="dk1"/>
                          </a:solidFill>
                          <a:effectLst/>
                          <a:latin typeface="+mn-lt"/>
                          <a:ea typeface="+mn-ea"/>
                          <a:cs typeface="+mn-cs"/>
                        </a:rPr>
                        <a:t>Текле</a:t>
                      </a:r>
                      <a:r>
                        <a:rPr lang="uz-Cyrl-UZ" sz="900" kern="1200" dirty="0" smtClean="0">
                          <a:solidFill>
                            <a:schemeClr val="dk1"/>
                          </a:solidFill>
                          <a:effectLst/>
                          <a:latin typeface="+mn-lt"/>
                          <a:ea typeface="+mn-ea"/>
                          <a:cs typeface="+mn-cs"/>
                        </a:rPr>
                        <a:t>, “Бибихоним” </a:t>
                      </a:r>
                      <a:r>
                        <a:rPr lang="uz-Cyrl-UZ" sz="900" b="1" kern="1200" dirty="0" smtClean="0">
                          <a:solidFill>
                            <a:schemeClr val="dk1"/>
                          </a:solidFill>
                          <a:effectLst/>
                          <a:latin typeface="+mn-lt"/>
                          <a:ea typeface="+mn-ea"/>
                          <a:cs typeface="+mn-cs"/>
                        </a:rPr>
                        <a:t>Бибихоним</a:t>
                      </a:r>
                      <a:r>
                        <a:rPr lang="uz-Cyrl-UZ" sz="900" kern="1200" dirty="0" smtClean="0">
                          <a:solidFill>
                            <a:schemeClr val="dk1"/>
                          </a:solidFill>
                          <a:effectLst/>
                          <a:latin typeface="+mn-lt"/>
                          <a:ea typeface="+mn-ea"/>
                          <a:cs typeface="+mn-cs"/>
                        </a:rPr>
                        <a:t> каби ролларни маҳорат билан ижро этган.</a:t>
                      </a:r>
                      <a:endParaRPr lang="en-US" sz="900" kern="1200" dirty="0">
                        <a:solidFill>
                          <a:schemeClr val="dk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smtClean="0">
                          <a:effectLst/>
                          <a:latin typeface="+mn-lt"/>
                          <a:ea typeface="Calibri" panose="020F0502020204030204" pitchFamily="34" charset="0"/>
                          <a:cs typeface="Times New Roman" panose="02020603050405020304" pitchFamily="18" charset="0"/>
                        </a:rPr>
                        <a:t>Республика ва Самарканд вилоятимизда</a:t>
                      </a:r>
                      <a:r>
                        <a:rPr lang="uz-Cyrl-UZ" sz="8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8" name="Рисунок 1" descr="C:\Users\TEATR\Desktop\Новая папка (2)\Рано Журакулова.JPG"/>
          <p:cNvPicPr/>
          <p:nvPr/>
        </p:nvPicPr>
        <p:blipFill>
          <a:blip r:embed="rId2"/>
          <a:srcRect/>
          <a:stretch>
            <a:fillRect/>
          </a:stretch>
        </p:blipFill>
        <p:spPr bwMode="auto">
          <a:xfrm>
            <a:off x="285901" y="1123951"/>
            <a:ext cx="904724" cy="1118086"/>
          </a:xfrm>
          <a:prstGeom prst="rect">
            <a:avLst/>
          </a:prstGeom>
          <a:noFill/>
          <a:ln w="9525">
            <a:noFill/>
            <a:miter lim="800000"/>
            <a:headEnd/>
            <a:tailEnd/>
          </a:ln>
        </p:spPr>
      </p:pic>
    </p:spTree>
    <p:extLst>
      <p:ext uri="{BB962C8B-B14F-4D97-AF65-F5344CB8AC3E}">
        <p14:creationId xmlns:p14="http://schemas.microsoft.com/office/powerpoint/2010/main" val="2761317479"/>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1600" b="1" dirty="0" smtClean="0">
                <a:solidFill>
                  <a:srgbClr val="002060"/>
                </a:solidFill>
                <a:latin typeface="Bahnschrift SemiBold" panose="020B0502040204020203" pitchFamily="34" charset="0"/>
              </a:rPr>
              <a:t>КОНЦЕРТ-ТОМОША ЙЎНАЛИШИ СОҲА ВАКИЛЛАРИ (ТОП-100)</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nvPr>
        </p:nvGraphicFramePr>
        <p:xfrm>
          <a:off x="144489" y="865702"/>
          <a:ext cx="3427547" cy="6171601"/>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3603">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915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Хакимова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Мехри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Абдукадировна</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915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23,09,1961</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915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Самарканд шахри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31170">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15297">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қиз, </a:t>
                      </a:r>
                    </a:p>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2 нафар</a:t>
                      </a:r>
                      <a:r>
                        <a:rPr lang="uz-Cyrl-UZ" sz="900" b="0" kern="1200" baseline="0" noProof="0" dirty="0" smtClean="0">
                          <a:solidFill>
                            <a:schemeClr val="tx1"/>
                          </a:solidFill>
                          <a:latin typeface="+mn-lt"/>
                          <a:ea typeface="+mn-ea"/>
                          <a:cs typeface="+mn-cs"/>
                        </a:rPr>
                        <a:t> ўғил</a:t>
                      </a:r>
                      <a:r>
                        <a:rPr lang="uz-Cyrl-UZ" sz="900" b="0" kern="1200" noProof="0" dirty="0" smtClean="0">
                          <a:solidFill>
                            <a:schemeClr val="tx1"/>
                          </a:solidFill>
                          <a:latin typeface="+mn-lt"/>
                          <a:ea typeface="+mn-ea"/>
                          <a:cs typeface="+mn-cs"/>
                        </a:rPr>
                        <a:t> фарзанди бор</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31170">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25914">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ТОИРОВ Абдукадир Зоирович </a:t>
                      </a:r>
                    </a:p>
                    <a:p>
                      <a:pPr algn="l">
                        <a:lnSpc>
                          <a:spcPct val="85000"/>
                        </a:lnSpc>
                      </a:pPr>
                      <a:r>
                        <a:rPr lang="uz-Cyrl-UZ" sz="900" b="0" kern="1200" noProof="0" dirty="0" smtClean="0">
                          <a:solidFill>
                            <a:schemeClr val="tx1"/>
                          </a:solidFill>
                          <a:latin typeface="+mn-lt"/>
                          <a:ea typeface="+mn-ea"/>
                          <a:cs typeface="Arial" panose="020B0604020202020204" pitchFamily="34" charset="0"/>
                        </a:rPr>
                        <a:t>1907 йил, Самарканд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1990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Хунарманд</a:t>
                      </a:r>
                      <a:r>
                        <a:rPr lang="ru-RU" sz="900" b="0" kern="1200" baseline="0" noProof="0" dirty="0" smtClean="0">
                          <a:solidFill>
                            <a:schemeClr val="tx1"/>
                          </a:solidFill>
                          <a:latin typeface="+mn-lt"/>
                          <a:ea typeface="+mn-ea"/>
                          <a:cs typeface="Arial" panose="020B0604020202020204" pitchFamily="34" charset="0"/>
                        </a:rPr>
                        <a:t> </a:t>
                      </a:r>
                      <a:r>
                        <a:rPr lang="ru-RU" sz="900" b="0" kern="1200" baseline="0" noProof="0" dirty="0" err="1" smtClean="0">
                          <a:solidFill>
                            <a:schemeClr val="tx1"/>
                          </a:solidFill>
                          <a:latin typeface="+mn-lt"/>
                          <a:ea typeface="+mn-ea"/>
                          <a:cs typeface="Arial" panose="020B0604020202020204" pitchFamily="34" charset="0"/>
                        </a:rPr>
                        <a:t>косиб</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32423">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ГАРАФУТДИНОВА Бибинур Фаридовна</a:t>
                      </a:r>
                    </a:p>
                    <a:p>
                      <a:pPr algn="l">
                        <a:lnSpc>
                          <a:spcPct val="85000"/>
                        </a:lnSpc>
                      </a:pPr>
                      <a:r>
                        <a:rPr lang="uz-Cyrl-UZ" sz="900" b="0" kern="1200" noProof="0" dirty="0" smtClean="0">
                          <a:solidFill>
                            <a:schemeClr val="tx1"/>
                          </a:solidFill>
                          <a:latin typeface="+mn-lt"/>
                          <a:ea typeface="+mn-ea"/>
                          <a:cs typeface="Arial" panose="020B0604020202020204" pitchFamily="34" charset="0"/>
                        </a:rPr>
                        <a:t>1922 йил, Козон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1993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(Самарканд </a:t>
                      </a:r>
                      <a:r>
                        <a:rPr lang="ru-RU" sz="900" b="0" kern="1200" noProof="0" dirty="0" err="1" smtClean="0">
                          <a:solidFill>
                            <a:schemeClr val="tx1"/>
                          </a:solidFill>
                          <a:latin typeface="+mn-lt"/>
                          <a:ea typeface="+mn-ea"/>
                          <a:cs typeface="Arial" panose="020B0604020202020204" pitchFamily="34" charset="0"/>
                        </a:rPr>
                        <a:t>Гелион</a:t>
                      </a:r>
                      <a:r>
                        <a:rPr lang="ru-RU" sz="900" b="0" kern="1200" baseline="0" noProof="0" dirty="0" smtClean="0">
                          <a:solidFill>
                            <a:schemeClr val="tx1"/>
                          </a:solidFill>
                          <a:latin typeface="+mn-lt"/>
                          <a:ea typeface="+mn-ea"/>
                          <a:cs typeface="Arial" panose="020B0604020202020204" pitchFamily="34" charset="0"/>
                        </a:rPr>
                        <a:t> заводи </a:t>
                      </a:r>
                      <a:r>
                        <a:rPr lang="ru-RU" sz="900" b="0" kern="1200" baseline="0" noProof="0" dirty="0" err="1" smtClean="0">
                          <a:solidFill>
                            <a:schemeClr val="tx1"/>
                          </a:solidFill>
                          <a:latin typeface="+mn-lt"/>
                          <a:ea typeface="+mn-ea"/>
                          <a:cs typeface="Arial" panose="020B0604020202020204" pitchFamily="34" charset="0"/>
                        </a:rPr>
                        <a:t>ишчиси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432423">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ХАКИМОВ Солижон Тургунович</a:t>
                      </a:r>
                    </a:p>
                    <a:p>
                      <a:pPr algn="l">
                        <a:lnSpc>
                          <a:spcPct val="85000"/>
                        </a:lnSpc>
                      </a:pPr>
                      <a:r>
                        <a:rPr lang="uz-Cyrl-UZ" sz="900" b="0" kern="1200" noProof="0" dirty="0" smtClean="0">
                          <a:solidFill>
                            <a:schemeClr val="tx1"/>
                          </a:solidFill>
                          <a:latin typeface="+mn-lt"/>
                          <a:ea typeface="+mn-ea"/>
                          <a:cs typeface="Arial" panose="020B0604020202020204" pitchFamily="34" charset="0"/>
                        </a:rPr>
                        <a:t>1956 йил, Самарқанд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Ўзбекистонда хизмат кўрсатган артист, Самарканд вилояти</a:t>
                      </a:r>
                      <a:r>
                        <a:rPr lang="uz-Cyrl-UZ" sz="900" b="0" kern="1200" baseline="0" noProof="0" dirty="0" smtClean="0">
                          <a:solidFill>
                            <a:schemeClr val="tx1"/>
                          </a:solidFill>
                          <a:latin typeface="+mn-lt"/>
                          <a:ea typeface="+mn-ea"/>
                          <a:cs typeface="Arial" panose="020B0604020202020204" pitchFamily="34" charset="0"/>
                        </a:rPr>
                        <a:t> мусикали драма театри олий тоифали драма актёри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7859">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24804">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1983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74679">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3536">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3536">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34160">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nvPr>
        </p:nvGraphicFramePr>
        <p:xfrm>
          <a:off x="3674526" y="865689"/>
          <a:ext cx="3172841" cy="5936117"/>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761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1174">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2019 йилдан Самарканд вилояти мусиқали драма </a:t>
                      </a:r>
                      <a:r>
                        <a:rPr lang="uz-Cyrl-UZ" sz="900" b="1" kern="1200" noProof="0" smtClean="0">
                          <a:solidFill>
                            <a:schemeClr val="tx1"/>
                          </a:solidFill>
                          <a:latin typeface="+mn-lt"/>
                          <a:ea typeface="+mn-ea"/>
                          <a:cs typeface="+mn-cs"/>
                        </a:rPr>
                        <a:t>театри етакчи драма сахна</a:t>
                      </a:r>
                      <a:r>
                        <a:rPr lang="uz-Cyrl-UZ" sz="900" b="1" kern="1200" baseline="0" noProof="0" smtClean="0">
                          <a:solidFill>
                            <a:schemeClr val="tx1"/>
                          </a:solidFill>
                          <a:latin typeface="+mn-lt"/>
                          <a:ea typeface="+mn-ea"/>
                          <a:cs typeface="+mn-cs"/>
                        </a:rPr>
                        <a:t> устаси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192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685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47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97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896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811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811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йуқ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624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576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365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96243">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2016 й. Ўзбекистонда хизмат кўрстаган артист</a:t>
                      </a: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nvPr>
        </p:nvGraphicFramePr>
        <p:xfrm>
          <a:off x="6949857" y="869286"/>
          <a:ext cx="2817247" cy="10939595"/>
        </p:xfrm>
        <a:graphic>
          <a:graphicData uri="http://schemas.openxmlformats.org/drawingml/2006/table">
            <a:tbl>
              <a:tblPr firstRow="1" bandRow="1">
                <a:tableStyleId>{C083E6E3-FA7D-4D7B-A595-EF9225AFEA82}</a:tableStyleId>
              </a:tblPr>
              <a:tblGrid>
                <a:gridCol w="2817247">
                  <a:extLst>
                    <a:ext uri="{9D8B030D-6E8A-4147-A177-3AD203B41FA5}">
                      <a16:colId xmlns:a16="http://schemas.microsoft.com/office/drawing/2014/main" val="2715609854"/>
                    </a:ext>
                  </a:extLst>
                </a:gridCol>
              </a:tblGrid>
              <a:tr h="274912">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34605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4228265">
                <a:tc>
                  <a:txBody>
                    <a:bodyPr/>
                    <a:lstStyle/>
                    <a:p>
                      <a:pPr algn="just"/>
                      <a:r>
                        <a:rPr lang="uz-Cyrl-UZ" sz="800" b="0" kern="1200" dirty="0" smtClean="0">
                          <a:solidFill>
                            <a:schemeClr val="tx1"/>
                          </a:solidFill>
                          <a:effectLst/>
                          <a:latin typeface="+mn-lt"/>
                          <a:ea typeface="+mn-ea"/>
                          <a:cs typeface="+mn-cs"/>
                        </a:rPr>
                        <a:t>М.Хакимова ўзининг ижодий фаолияти давомида кўплаб ролларни маҳорат билан ижро  этиб, томошабинлар ва театр мутахассислари эътиборини қозонди. </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Ойгул  “Семурғ”, Фируза “Амир Темур”,  Вера “Сўнгилар”,  Ханифа  “Шум бола”, Қиз “Эй ким бор”, Бибихоним “Буюк Темур”, Саломат “Қор одам”, Гулуза “Исқирт сатанг”, Аёл “Тақдир эшиги”, Ёқут “Сиртмоқ”, Амма “Учар табиб”, Муслима “Тошкентга саёҳат”, Келин “Ҳалала”, Ойдана “Бир ўлиб кўрайчи”, Аёл “Аёлларни асранг, эркаклар!”, Шарифа “Ширин найранг”, Она “Йўқолган юрак” ва бир қатор роллари шулар жумласидандир. </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Болалар учун мўлжалланган бир қанча спектакллардаги қатор роллари ёш томошабинлар томонидан яхши қарши олинди. </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Хусусан: “Чандунинг саргузаштлари” Чуча, “Зумрат ва қиммат” Қиммат, “Эзгулик элчиси” Малика, “Ўғҳирланган қуёш” Она, “Қайтиш” Она, “Янги йил томошаларида Яхшилик маликаси роллари шулар жумласидан.  </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М.Хакимова театрда охирги йилларда сахналаштирилган  спектакллар “Эдип” да Иокаста, “Мирзо Улуғбек” да Гавҳаршодбегим, “Имон” да  Она, “Ака-укалар” да Момо Ҳаво, “Қирол Лир” да Гонирилья, “Танҳо юлдуз” да Умида, “Бибихоним” да Хонзода бегим роллари орқали ўзининг юксак истеъдодини намоён эта олди:</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Актрисанинг Момо “Елкамдаги қуш”, Она “Жондан азиз”, каби ўзбек бадиий филмларда хам ролларни маҳорат билан ижро этиб томошабинларга намойиш этган.  </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М.Хакимова 2012-2018 йилларда Самарқанд санъат коллежида ёшларга саҳна маҳорати ва нутқи фанидан дарс берган.</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2015 йилда Ўзбекистон Республикаси Маданият Вазирлиги томонидан М.Хакимовага “Ака - укалар” спектаклидаги  Момо Ҳаво роли учун  “Энг яхши актриса” номинациясига сазовор бўлган.  </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2015-2019 йиллар давомида Самарқанд вилоят хокимлиги ва Маданият бошқармаси томонидан М.Хакимовага “Маданият ва санъат соҳасида олиб бораётган кўп йиллик меҳнатлари учун” бир қатор “Фахрий Ёрлиқ”, Диплом ҳамда Сертификатлар билан тақдирланган. </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М.Хакимованинг кўп йиллик меҳнатларини давомида Самарқанд вилояти ва туманларида кўплаб ижодий учрашувларда иштирок этган.</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2018 йилда Ўзбекистон Республикаси Президенти томонидан ташкиллаштирилган 8-март “Халқаро хотин қизлар байрами” муносабати билан бўлиб ўтган “Муҳаддас Аёл” тантанали байрам тадбирида иштирок этиб муҳтарам Президентимизнинг Диплом  қимматбаҳо совғаларига сазовор бўлган.</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Меҳри Ҳакимова “Sevimli TV”, “Madaniyat va Ma’rifat” телеканаллари орқали тасвирга олинган ижодий суҳбатларида иштирок этган. </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М.Хакимованинг бир қатор газета ва журналларида ўзининг ижодий мақолалари чоп этилган. </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М.Хакимова театрда  саҳналаштирилган спектакллардан “Эдип”   Иокаста, “Мирзо Улуғбек”  Гавҳаршодбегим, “Ака-укалар” Момо Ҳаво, “Имон” Она, “Кўчки” Доя, “Кузнинг биринчи куни” Барчин, “Она юраги” Ўғилой, “Қирол Лир” Гонирилья, “Танҳо юлдуз” Умида “Бибихоним” Хонзода бегим каби ролларини маҳорат билан ижро этди. </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У  2018 йил “Кўчки” спектаклдаги роли билан Туркия давлатининг Конья шаҳрида бўлиб ўтган “Минг нафас бир овоз” XI-Халқаро театрлар фестивалида ва Остона шаҳри бўлиб ўтган “Самғау” VI-Халқаро театрлар фестивалида иштирок этиб келди. Фестивал доирасида ташкил этилган мастер классларда фаол иштирок этиб сертификат ва фахрий ёрлиқларга эга бўлди.</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2018 йилда Тожикистон Республикасида, 2019 йилда Қозоғистон Республикасида театрнинг ижодий жамоаси билан гастрол сафарларида иштирок этиб Диплом ва Сертификатлар билан тақдирланган.  </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Меҳнат фаолияти давомида кўплаб иқтидорли шогирдлар тарбиялаган. </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М.Хакимова истеъдодли актриса, тажрибали устоз ва самимий инсон сифатида театр жамоаси ўртасида алоҳида ҳурмат-эътиборга эга, турмушда камтарин ва мехрибон она.</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 </a:t>
                      </a:r>
                      <a:endParaRPr lang="ru-RU" sz="8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170799">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807612">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smtClean="0">
                          <a:effectLst/>
                          <a:latin typeface="+mn-lt"/>
                          <a:ea typeface="Calibri" panose="020F0502020204030204" pitchFamily="34" charset="0"/>
                          <a:cs typeface="Times New Roman" panose="02020603050405020304" pitchFamily="18" charset="0"/>
                        </a:rPr>
                        <a:t>Республика ва Самарканд вилоятимизда</a:t>
                      </a:r>
                      <a:r>
                        <a:rPr lang="uz-Cyrl-UZ" sz="8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9" name="Рисунок 8" descr="C:\Users\TEATR\Desktop\МУКОФОТ 2021\НОМЗОД 2021 БОШКАРМАГА\ҲАКИМОВА МЕҲРИ\3x4 Хакимова М.jpg"/>
          <p:cNvPicPr/>
          <p:nvPr/>
        </p:nvPicPr>
        <p:blipFill>
          <a:blip r:embed="rId2" cstate="print"/>
          <a:srcRect/>
          <a:stretch>
            <a:fillRect/>
          </a:stretch>
        </p:blipFill>
        <p:spPr bwMode="auto">
          <a:xfrm>
            <a:off x="251459" y="1128077"/>
            <a:ext cx="797011" cy="1089343"/>
          </a:xfrm>
          <a:prstGeom prst="rect">
            <a:avLst/>
          </a:prstGeom>
          <a:noFill/>
          <a:ln w="9525">
            <a:noFill/>
            <a:miter lim="800000"/>
            <a:headEnd/>
            <a:tailEnd/>
          </a:ln>
        </p:spPr>
      </p:pic>
    </p:spTree>
    <p:extLst>
      <p:ext uri="{BB962C8B-B14F-4D97-AF65-F5344CB8AC3E}">
        <p14:creationId xmlns:p14="http://schemas.microsoft.com/office/powerpoint/2010/main" val="122953651"/>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a:extLst>
              <a:ext uri="{FF2B5EF4-FFF2-40B4-BE49-F238E27FC236}">
                <a16:creationId xmlns:a16="http://schemas.microsoft.com/office/drawing/2014/main" id="{773A3ABC-29BE-43F7-A476-D36DB09B9C9D}"/>
              </a:ext>
            </a:extLst>
          </p:cNvPr>
          <p:cNvSpPr/>
          <p:nvPr/>
        </p:nvSpPr>
        <p:spPr>
          <a:xfrm>
            <a:off x="144488" y="157381"/>
            <a:ext cx="9622615" cy="313614"/>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2400" b="1" dirty="0">
                <a:solidFill>
                  <a:srgbClr val="002060"/>
                </a:solidFill>
                <a:latin typeface="Bahnschrift SemiBold" panose="020B0502040204020203" pitchFamily="34" charset="0"/>
              </a:rPr>
              <a:t>ПОРТФОЛИО</a:t>
            </a:r>
            <a:endParaRPr lang="uz-Cyrl-UZ" b="1" dirty="0">
              <a:solidFill>
                <a:srgbClr val="002060"/>
              </a:solidFill>
              <a:latin typeface="Bahnschrift SemiBold" panose="020B0502040204020203" pitchFamily="34" charset="0"/>
            </a:endParaRPr>
          </a:p>
        </p:txBody>
      </p:sp>
      <p:sp>
        <p:nvSpPr>
          <p:cNvPr id="3" name="Прямоугольник 2">
            <a:extLst>
              <a:ext uri="{FF2B5EF4-FFF2-40B4-BE49-F238E27FC236}">
                <a16:creationId xmlns:a16="http://schemas.microsoft.com/office/drawing/2014/main" id="{5A9AA459-1519-4154-AF5D-18C6732B0658}"/>
              </a:ext>
            </a:extLst>
          </p:cNvPr>
          <p:cNvSpPr/>
          <p:nvPr/>
        </p:nvSpPr>
        <p:spPr>
          <a:xfrm>
            <a:off x="138896" y="557938"/>
            <a:ext cx="9622615" cy="2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uz-Cyrl-UZ" sz="1600" b="1" dirty="0" smtClean="0">
                <a:solidFill>
                  <a:srgbClr val="002060"/>
                </a:solidFill>
                <a:latin typeface="Bahnschrift SemiBold" panose="020B0502040204020203" pitchFamily="34" charset="0"/>
              </a:rPr>
              <a:t>КОНЦЕРТ-ТОМОША ЙЎНАЛИШИ СОҲА ВАКИЛЛАРИ (ТОП-100)</a:t>
            </a:r>
            <a:endParaRPr lang="uz-Cyrl-UZ" sz="1200" b="1" dirty="0">
              <a:solidFill>
                <a:srgbClr val="002060"/>
              </a:solidFill>
              <a:latin typeface="Bahnschrift SemiBold" panose="020B0502040204020203" pitchFamily="34" charset="0"/>
            </a:endParaRPr>
          </a:p>
        </p:txBody>
      </p:sp>
      <p:graphicFrame>
        <p:nvGraphicFramePr>
          <p:cNvPr id="4" name="Таблица 3">
            <a:extLst>
              <a:ext uri="{FF2B5EF4-FFF2-40B4-BE49-F238E27FC236}">
                <a16:creationId xmlns:a16="http://schemas.microsoft.com/office/drawing/2014/main" id="{23206C95-0192-4E90-9920-C3FC014CC3E4}"/>
              </a:ext>
            </a:extLst>
          </p:cNvPr>
          <p:cNvGraphicFramePr>
            <a:graphicFrameLocks noGrp="1"/>
          </p:cNvGraphicFramePr>
          <p:nvPr>
            <p:extLst>
              <p:ext uri="{D42A27DB-BD31-4B8C-83A1-F6EECF244321}">
                <p14:modId xmlns:p14="http://schemas.microsoft.com/office/powerpoint/2010/main" val="2150064087"/>
              </p:ext>
            </p:extLst>
          </p:nvPr>
        </p:nvGraphicFramePr>
        <p:xfrm>
          <a:off x="144489" y="865702"/>
          <a:ext cx="3427547" cy="5936103"/>
        </p:xfrm>
        <a:graphic>
          <a:graphicData uri="http://schemas.openxmlformats.org/drawingml/2006/table">
            <a:tbl>
              <a:tblPr firstRow="1" bandRow="1">
                <a:tableStyleId>{C083E6E3-FA7D-4D7B-A595-EF9225AFEA82}</a:tableStyleId>
              </a:tblPr>
              <a:tblGrid>
                <a:gridCol w="595190">
                  <a:extLst>
                    <a:ext uri="{9D8B030D-6E8A-4147-A177-3AD203B41FA5}">
                      <a16:colId xmlns:a16="http://schemas.microsoft.com/office/drawing/2014/main" val="2288412290"/>
                    </a:ext>
                  </a:extLst>
                </a:gridCol>
                <a:gridCol w="503543">
                  <a:extLst>
                    <a:ext uri="{9D8B030D-6E8A-4147-A177-3AD203B41FA5}">
                      <a16:colId xmlns:a16="http://schemas.microsoft.com/office/drawing/2014/main" val="1678982439"/>
                    </a:ext>
                  </a:extLst>
                </a:gridCol>
                <a:gridCol w="153498">
                  <a:extLst>
                    <a:ext uri="{9D8B030D-6E8A-4147-A177-3AD203B41FA5}">
                      <a16:colId xmlns:a16="http://schemas.microsoft.com/office/drawing/2014/main" val="2721661767"/>
                    </a:ext>
                  </a:extLst>
                </a:gridCol>
                <a:gridCol w="910214">
                  <a:extLst>
                    <a:ext uri="{9D8B030D-6E8A-4147-A177-3AD203B41FA5}">
                      <a16:colId xmlns:a16="http://schemas.microsoft.com/office/drawing/2014/main" val="546773760"/>
                    </a:ext>
                  </a:extLst>
                </a:gridCol>
                <a:gridCol w="1265102">
                  <a:extLst>
                    <a:ext uri="{9D8B030D-6E8A-4147-A177-3AD203B41FA5}">
                      <a16:colId xmlns:a16="http://schemas.microsoft.com/office/drawing/2014/main" val="546443978"/>
                    </a:ext>
                  </a:extLst>
                </a:gridCol>
              </a:tblGrid>
              <a:tr h="240816">
                <a:tc gridSpan="5">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uz-Cyrl-UZ" sz="1200" b="1" dirty="0">
                          <a:solidFill>
                            <a:schemeClr val="bg1"/>
                          </a:solidFill>
                          <a:latin typeface="Bahnschrift SemiBold" panose="020B0502040204020203" pitchFamily="34" charset="0"/>
                        </a:rPr>
                        <a:t>ШАХСИЙ МАЪЛУМОТЛАР</a:t>
                      </a:r>
                      <a:endParaRPr lang="ru-RU" sz="1100" b="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8573611"/>
                  </a:ext>
                </a:extLst>
              </a:tr>
              <a:tr h="188262">
                <a:tc rowSpan="6" gridSpan="2">
                  <a:txBody>
                    <a:bodyPr/>
                    <a:lstStyle/>
                    <a:p>
                      <a:pPr algn="l">
                        <a:lnSpc>
                          <a:spcPct val="90000"/>
                        </a:lnSpc>
                      </a:pPr>
                      <a:endParaRPr lang="ru-RU" sz="500" b="0" dirty="0">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6" hMerge="1">
                  <a:txBody>
                    <a:bodyPr/>
                    <a:lstStyle/>
                    <a:p>
                      <a:pPr algn="l">
                        <a:lnSpc>
                          <a:spcPct val="90000"/>
                        </a:lnSpc>
                      </a:pPr>
                      <a:endParaRPr lang="ru-RU" sz="6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nSpc>
                          <a:spcPct val="80000"/>
                        </a:lnSpc>
                      </a:pPr>
                      <a:r>
                        <a:rPr lang="uz-Cyrl-UZ" sz="900" b="1" noProof="0" dirty="0">
                          <a:latin typeface="+mn-lt"/>
                        </a:rPr>
                        <a:t>Фамилияси: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Хакимов</a:t>
                      </a:r>
                      <a:r>
                        <a:rPr lang="uz-Cyrl-UZ" sz="900" b="0" kern="1200" baseline="0" dirty="0" smtClean="0">
                          <a:solidFill>
                            <a:schemeClr val="tx1"/>
                          </a:solidFill>
                          <a:latin typeface="+mn-lt"/>
                          <a:ea typeface="+mn-ea"/>
                          <a:cs typeface="+mn-cs"/>
                        </a:rPr>
                        <a:t> </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18826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lnT w="12700" cap="flat" cmpd="sng" algn="ctr">
                      <a:solidFill>
                        <a:schemeClr val="tx1"/>
                      </a:solidFill>
                      <a:prstDash val="solid"/>
                      <a:round/>
                      <a:headEnd type="none" w="med" len="med"/>
                      <a:tailEnd type="none" w="med" len="med"/>
                    </a:lnT>
                  </a:tcPr>
                </a:tc>
                <a:tc gridSpan="2">
                  <a:txBody>
                    <a:bodyPr/>
                    <a:lstStyle/>
                    <a:p>
                      <a:pPr>
                        <a:lnSpc>
                          <a:spcPct val="80000"/>
                        </a:lnSpc>
                      </a:pPr>
                      <a:r>
                        <a:rPr lang="uz-Cyrl-UZ" sz="900" b="1" noProof="0" dirty="0">
                          <a:latin typeface="+mn-lt"/>
                        </a:rPr>
                        <a:t>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Солижон</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18826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Отасининг исми: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Тургунович</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6774613"/>
                  </a:ext>
                </a:extLst>
              </a:tr>
              <a:tr h="188262">
                <a:tc gridSpan="2" vMerge="1">
                  <a:txBody>
                    <a:bodyPr/>
                    <a:lstStyle/>
                    <a:p>
                      <a:endParaRPr lang="ru-RU"/>
                    </a:p>
                  </a:txBody>
                  <a:tcPr>
                    <a:lnT>
                      <a:noFill/>
                    </a:lnT>
                  </a:tcPr>
                </a:tc>
                <a:tc hMerge="1" vMerge="1">
                  <a:txBody>
                    <a:bodyPr/>
                    <a:lstStyle/>
                    <a:p>
                      <a:endParaRPr lang="ru-RU"/>
                    </a:p>
                  </a:txBody>
                  <a:tcPr/>
                </a:tc>
                <a:tc gridSpan="2">
                  <a:txBody>
                    <a:bodyPr/>
                    <a:lstStyle/>
                    <a:p>
                      <a:pPr>
                        <a:lnSpc>
                          <a:spcPct val="80000"/>
                        </a:lnSpc>
                      </a:pPr>
                      <a:r>
                        <a:rPr lang="uz-Cyrl-UZ" sz="900" b="1" noProof="0" dirty="0">
                          <a:latin typeface="+mn-lt"/>
                        </a:rPr>
                        <a:t>Миллати:</a:t>
                      </a:r>
                      <a:endParaRPr lang="ru-RU" dirty="0"/>
                    </a:p>
                  </a:txBody>
                  <a:tcPr marL="74295" marR="74295" marT="37148" marB="37148"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80000"/>
                        </a:lnSpc>
                      </a:pPr>
                      <a:r>
                        <a:rPr lang="uz-Cyrl-UZ" sz="900" b="0" kern="1200" dirty="0" smtClean="0">
                          <a:solidFill>
                            <a:schemeClr val="tx1"/>
                          </a:solidFill>
                          <a:latin typeface="+mn-lt"/>
                          <a:ea typeface="+mn-ea"/>
                          <a:cs typeface="+mn-cs"/>
                        </a:rPr>
                        <a:t>ўзбек</a:t>
                      </a:r>
                      <a:endParaRPr lang="ru-RU" sz="9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93061922"/>
                  </a:ext>
                </a:extLst>
              </a:tr>
              <a:tr h="18826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санаси: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22,08,1956</a:t>
                      </a:r>
                      <a:endParaRPr lang="ru-RU"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95333672"/>
                  </a:ext>
                </a:extLst>
              </a:tr>
              <a:tr h="188262">
                <a:tc gridSpan="2" vMerge="1">
                  <a:txBody>
                    <a:bodyPr/>
                    <a:lstStyle/>
                    <a:p>
                      <a:pPr algn="l"/>
                      <a:endParaRPr lang="ru-RU" sz="10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vMerge="1">
                  <a:txBody>
                    <a:bodyPr/>
                    <a:lstStyle/>
                    <a:p>
                      <a:endParaRPr lang="ru-RU"/>
                    </a:p>
                  </a:txBody>
                  <a:tcPr/>
                </a:tc>
                <a:tc gridSpan="2">
                  <a:txBody>
                    <a:bodyPr/>
                    <a:lstStyle/>
                    <a:p>
                      <a:pPr>
                        <a:lnSpc>
                          <a:spcPct val="80000"/>
                        </a:lnSpc>
                      </a:pPr>
                      <a:r>
                        <a:rPr lang="uz-Cyrl-UZ" sz="900" b="1" noProof="0" dirty="0">
                          <a:latin typeface="+mn-lt"/>
                        </a:rPr>
                        <a:t>Туғилган жойи: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a:txBody>
                    <a:bodyPr/>
                    <a:lstStyle/>
                    <a:p>
                      <a:pPr algn="l">
                        <a:lnSpc>
                          <a:spcPct val="90000"/>
                        </a:lnSpc>
                      </a:pPr>
                      <a:r>
                        <a:rPr lang="uz-Cyrl-UZ" sz="800" b="0" kern="1200" dirty="0" smtClean="0">
                          <a:solidFill>
                            <a:schemeClr val="tx1"/>
                          </a:solidFill>
                          <a:latin typeface="+mn-lt"/>
                          <a:ea typeface="+mn-ea"/>
                          <a:cs typeface="+mn-cs"/>
                        </a:rPr>
                        <a:t>Маргилон шахри</a:t>
                      </a:r>
                      <a:endParaRPr lang="uz-Cyrl-UZ" sz="800" b="0" kern="120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5807043"/>
                  </a:ext>
                </a:extLst>
              </a:tr>
              <a:tr h="228525">
                <a:tc gridSpan="5">
                  <a:txBody>
                    <a:bodyPr/>
                    <a:lstStyle/>
                    <a:p>
                      <a:pPr algn="ctr"/>
                      <a:r>
                        <a:rPr lang="uz-Cyrl-UZ" sz="1000" b="1" noProof="0" dirty="0">
                          <a:solidFill>
                            <a:schemeClr val="bg1"/>
                          </a:solidFill>
                          <a:latin typeface="Bahnschrift SemiBold" panose="020B0502040204020203" pitchFamily="34" charset="0"/>
                        </a:rPr>
                        <a:t>Оиласи ҳақида маълумотлар</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tc hMerge="1">
                  <a:txBody>
                    <a:bodyPr/>
                    <a:lstStyle/>
                    <a:p>
                      <a:endParaRPr lang="ru-RU"/>
                    </a:p>
                  </a:txBody>
                  <a:tcPr/>
                </a:tc>
                <a:tc hMerge="1">
                  <a:txBody>
                    <a:bodyPr/>
                    <a:lstStyle/>
                    <a:p>
                      <a:pPr algn="l">
                        <a:lnSpc>
                          <a:spcPct val="90000"/>
                        </a:lnSpc>
                      </a:pPr>
                      <a:endParaRPr lang="ru-RU" sz="900" b="0" kern="120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90532198"/>
                  </a:ext>
                </a:extLst>
              </a:tr>
              <a:tr h="489696">
                <a:tc gridSpan="2">
                  <a:txBody>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lang="uz-Cyrl-UZ" sz="900" b="1" noProof="0" dirty="0" smtClean="0">
                          <a:latin typeface="+mn-lt"/>
                        </a:rPr>
                        <a:t>Оилавий ва ижтимоий ахволи</a:t>
                      </a:r>
                      <a:r>
                        <a:rPr lang="uz-Cyrl-UZ" sz="900" b="1" noProof="0" dirty="0">
                          <a:latin typeface="+mn-lt"/>
                        </a:rPr>
                        <a:t>:</a:t>
                      </a:r>
                      <a:endParaRPr lang="uz-Cyrl-UZ" sz="800" b="1" dirty="0">
                        <a:solidFill>
                          <a:schemeClr val="bg1"/>
                        </a:solidFill>
                        <a:latin typeface="+mn-lt"/>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Оилали, </a:t>
                      </a:r>
                      <a:r>
                        <a:rPr lang="uz-Cyrl-UZ" sz="900" b="0" kern="1200" noProof="0" dirty="0" smtClean="0">
                          <a:solidFill>
                            <a:schemeClr val="tx1"/>
                          </a:solidFill>
                          <a:latin typeface="+mn-lt"/>
                          <a:ea typeface="+mn-ea"/>
                          <a:cs typeface="+mn-cs"/>
                        </a:rPr>
                        <a:t>2 </a:t>
                      </a:r>
                      <a:r>
                        <a:rPr lang="uz-Cyrl-UZ" sz="900" b="0" kern="1200" noProof="0" dirty="0">
                          <a:solidFill>
                            <a:schemeClr val="tx1"/>
                          </a:solidFill>
                          <a:latin typeface="+mn-lt"/>
                          <a:ea typeface="+mn-ea"/>
                          <a:cs typeface="+mn-cs"/>
                        </a:rPr>
                        <a:t>нафар </a:t>
                      </a:r>
                      <a:r>
                        <a:rPr lang="uz-Cyrl-UZ" sz="900" b="0" kern="1200" noProof="0" dirty="0" smtClean="0">
                          <a:solidFill>
                            <a:schemeClr val="tx1"/>
                          </a:solidFill>
                          <a:latin typeface="+mn-lt"/>
                          <a:ea typeface="+mn-ea"/>
                          <a:cs typeface="+mn-cs"/>
                        </a:rPr>
                        <a:t>қиз</a:t>
                      </a:r>
                    </a:p>
                    <a:p>
                      <a:pPr marL="0" marR="0" lvl="0" indent="0" algn="ctr" defTabSz="914400" rtl="0" eaLnBrk="1" fontAlgn="auto" latinLnBrk="0" hangingPunct="1">
                        <a:lnSpc>
                          <a:spcPct val="100000"/>
                        </a:lnSpc>
                        <a:spcBef>
                          <a:spcPts val="0"/>
                        </a:spcBef>
                        <a:spcAft>
                          <a:spcPts val="0"/>
                        </a:spcAft>
                        <a:buClrTx/>
                        <a:buSzTx/>
                        <a:buFontTx/>
                        <a:buNone/>
                        <a:tabLst/>
                        <a:defRPr/>
                      </a:pPr>
                      <a:r>
                        <a:rPr lang="uz-Cyrl-UZ" sz="900" b="0" kern="1200" noProof="0" dirty="0" smtClean="0">
                          <a:solidFill>
                            <a:schemeClr val="tx1"/>
                          </a:solidFill>
                          <a:latin typeface="+mn-lt"/>
                          <a:ea typeface="+mn-ea"/>
                          <a:cs typeface="+mn-cs"/>
                        </a:rPr>
                        <a:t>2 нафар ўғил фарзанди бор, </a:t>
                      </a:r>
                      <a:br>
                        <a:rPr lang="uz-Cyrl-UZ" sz="900" b="0" kern="1200" noProof="0" dirty="0" smtClean="0">
                          <a:solidFill>
                            <a:schemeClr val="tx1"/>
                          </a:solidFill>
                          <a:latin typeface="+mn-lt"/>
                          <a:ea typeface="+mn-ea"/>
                          <a:cs typeface="+mn-cs"/>
                        </a:rPr>
                      </a:b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078142922"/>
                  </a:ext>
                </a:extLst>
              </a:tr>
              <a:tr h="228525">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uz-Cyrl-UZ" sz="1000" b="1" noProof="0" dirty="0">
                          <a:solidFill>
                            <a:schemeClr val="bg1"/>
                          </a:solidFill>
                          <a:latin typeface="Bahnschrift SemiBold" panose="020B0502040204020203" pitchFamily="34" charset="0"/>
                        </a:rPr>
                        <a:t>Оила аъзолари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3922247"/>
                  </a:ext>
                </a:extLst>
              </a:tr>
              <a:tr h="515252">
                <a:tc>
                  <a:txBody>
                    <a:bodyPr/>
                    <a:lstStyle/>
                    <a:p>
                      <a:pPr algn="ctr">
                        <a:lnSpc>
                          <a:spcPct val="85000"/>
                        </a:lnSpc>
                      </a:pPr>
                      <a:r>
                        <a:rPr lang="uz-Cyrl-UZ" sz="900" b="1" kern="1200" noProof="0" dirty="0">
                          <a:solidFill>
                            <a:schemeClr val="tx1"/>
                          </a:solidFill>
                          <a:latin typeface="+mn-lt"/>
                          <a:ea typeface="+mn-ea"/>
                          <a:cs typeface="+mn-cs"/>
                        </a:rPr>
                        <a:t>Отаси: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ХАКИМОВ Тургунбой</a:t>
                      </a:r>
                    </a:p>
                    <a:p>
                      <a:pPr algn="l">
                        <a:lnSpc>
                          <a:spcPct val="85000"/>
                        </a:lnSpc>
                      </a:pPr>
                      <a:r>
                        <a:rPr lang="uz-Cyrl-UZ" sz="900" b="0" kern="1200" noProof="0" dirty="0" smtClean="0">
                          <a:solidFill>
                            <a:schemeClr val="tx1"/>
                          </a:solidFill>
                          <a:latin typeface="+mn-lt"/>
                          <a:ea typeface="+mn-ea"/>
                          <a:cs typeface="Arial" panose="020B0604020202020204" pitchFamily="34" charset="0"/>
                        </a:rPr>
                        <a:t>1916 йил, Марғилон шаҳри</a:t>
                      </a:r>
                    </a:p>
                    <a:p>
                      <a:pPr algn="l">
                        <a:lnSpc>
                          <a:spcPct val="85000"/>
                        </a:lnSpc>
                      </a:pPr>
                      <a:endParaRPr lang="uz-Cyrl-UZ"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1983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Умумтаълим</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мактаб</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ўқитувчи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62254206"/>
                  </a:ext>
                </a:extLst>
              </a:tr>
              <a:tr h="423656">
                <a:tc>
                  <a:txBody>
                    <a:bodyPr/>
                    <a:lstStyle/>
                    <a:p>
                      <a:pPr algn="ctr">
                        <a:lnSpc>
                          <a:spcPct val="85000"/>
                        </a:lnSpc>
                      </a:pPr>
                      <a:r>
                        <a:rPr lang="uz-Cyrl-UZ" sz="900" b="1" kern="1200" noProof="0" dirty="0">
                          <a:solidFill>
                            <a:schemeClr val="tx1"/>
                          </a:solidFill>
                          <a:latin typeface="+mn-lt"/>
                          <a:ea typeface="+mn-ea"/>
                          <a:cs typeface="+mn-cs"/>
                        </a:rPr>
                        <a:t>Онаси: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ХАКИМОВА Неъматхон</a:t>
                      </a:r>
                    </a:p>
                    <a:p>
                      <a:pPr algn="l">
                        <a:lnSpc>
                          <a:spcPct val="85000"/>
                        </a:lnSpc>
                      </a:pPr>
                      <a:r>
                        <a:rPr lang="uz-Cyrl-UZ" sz="900" b="0" kern="1200" noProof="0" dirty="0" smtClean="0">
                          <a:solidFill>
                            <a:schemeClr val="tx1"/>
                          </a:solidFill>
                          <a:latin typeface="+mn-lt"/>
                          <a:ea typeface="+mn-ea"/>
                          <a:cs typeface="Arial" panose="020B0604020202020204" pitchFamily="34" charset="0"/>
                        </a:rPr>
                        <a:t>1915 йил, Тошкент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ru-RU" sz="900" b="0" kern="1200" noProof="0" dirty="0" smtClean="0">
                          <a:solidFill>
                            <a:schemeClr val="tx1"/>
                          </a:solidFill>
                          <a:latin typeface="+mn-lt"/>
                          <a:ea typeface="+mn-ea"/>
                          <a:cs typeface="Arial" panose="020B0604020202020204" pitchFamily="34" charset="0"/>
                        </a:rPr>
                        <a:t>1969 </a:t>
                      </a:r>
                      <a:r>
                        <a:rPr lang="ru-RU" sz="900" b="0" kern="1200" noProof="0" dirty="0" err="1" smtClean="0">
                          <a:solidFill>
                            <a:schemeClr val="tx1"/>
                          </a:solidFill>
                          <a:latin typeface="+mn-lt"/>
                          <a:ea typeface="+mn-ea"/>
                          <a:cs typeface="Arial" panose="020B0604020202020204" pitchFamily="34" charset="0"/>
                        </a:rPr>
                        <a:t>йил</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вафот</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этган</a:t>
                      </a:r>
                      <a:endParaRPr lang="ru-RU" sz="900" b="0" kern="1200" noProof="0" dirty="0" smtClean="0">
                        <a:solidFill>
                          <a:schemeClr val="tx1"/>
                        </a:solidFill>
                        <a:latin typeface="+mn-lt"/>
                        <a:ea typeface="+mn-ea"/>
                        <a:cs typeface="Arial" panose="020B0604020202020204" pitchFamily="34" charset="0"/>
                      </a:endParaRPr>
                    </a:p>
                    <a:p>
                      <a:pPr algn="l">
                        <a:lnSpc>
                          <a:spcPct val="85000"/>
                        </a:lnSpc>
                      </a:pPr>
                      <a:r>
                        <a:rPr lang="ru-RU" sz="900" b="0" kern="1200" noProof="0" dirty="0" smtClean="0">
                          <a:solidFill>
                            <a:schemeClr val="tx1"/>
                          </a:solidFill>
                          <a:latin typeface="+mn-lt"/>
                          <a:ea typeface="+mn-ea"/>
                          <a:cs typeface="Arial" panose="020B0604020202020204" pitchFamily="34" charset="0"/>
                        </a:rPr>
                        <a:t>(</a:t>
                      </a:r>
                      <a:r>
                        <a:rPr lang="ru-RU" sz="900" b="0" kern="1200" noProof="0" dirty="0" err="1" smtClean="0">
                          <a:solidFill>
                            <a:schemeClr val="tx1"/>
                          </a:solidFill>
                          <a:latin typeface="+mn-lt"/>
                          <a:ea typeface="+mn-ea"/>
                          <a:cs typeface="Arial" panose="020B0604020202020204" pitchFamily="34" charset="0"/>
                        </a:rPr>
                        <a:t>уй</a:t>
                      </a:r>
                      <a:r>
                        <a:rPr lang="ru-RU" sz="900" b="0" kern="1200" noProof="0" dirty="0" smtClean="0">
                          <a:solidFill>
                            <a:schemeClr val="tx1"/>
                          </a:solidFill>
                          <a:latin typeface="+mn-lt"/>
                          <a:ea typeface="+mn-ea"/>
                          <a:cs typeface="Arial" panose="020B0604020202020204" pitchFamily="34" charset="0"/>
                        </a:rPr>
                        <a:t> </a:t>
                      </a:r>
                      <a:r>
                        <a:rPr lang="ru-RU" sz="900" b="0" kern="1200" noProof="0" dirty="0" err="1" smtClean="0">
                          <a:solidFill>
                            <a:schemeClr val="tx1"/>
                          </a:solidFill>
                          <a:latin typeface="+mn-lt"/>
                          <a:ea typeface="+mn-ea"/>
                          <a:cs typeface="Arial" panose="020B0604020202020204" pitchFamily="34" charset="0"/>
                        </a:rPr>
                        <a:t>бекаси</a:t>
                      </a:r>
                      <a:r>
                        <a:rPr lang="ru-RU" sz="900" b="0" kern="1200" noProof="0" dirty="0" smtClean="0">
                          <a:solidFill>
                            <a:schemeClr val="tx1"/>
                          </a:solidFill>
                          <a:latin typeface="+mn-lt"/>
                          <a:ea typeface="+mn-ea"/>
                          <a:cs typeface="Arial" panose="020B0604020202020204" pitchFamily="34" charset="0"/>
                        </a:rPr>
                        <a:t>)</a:t>
                      </a:r>
                      <a:endParaRPr lang="ru-RU" sz="900" b="0" kern="1200" noProof="0" dirty="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06920124"/>
                  </a:ext>
                </a:extLst>
              </a:tr>
              <a:tr h="546027">
                <a:tc>
                  <a:txBody>
                    <a:bodyPr/>
                    <a:lstStyle/>
                    <a:p>
                      <a:pPr algn="ctr">
                        <a:lnSpc>
                          <a:spcPct val="85000"/>
                        </a:lnSpc>
                      </a:pPr>
                      <a:r>
                        <a:rPr lang="uz-Cyrl-UZ" sz="900" b="1" kern="1200" noProof="0" dirty="0">
                          <a:solidFill>
                            <a:schemeClr val="tx1"/>
                          </a:solidFill>
                          <a:latin typeface="+mn-lt"/>
                          <a:ea typeface="+mn-ea"/>
                          <a:cs typeface="+mn-cs"/>
                        </a:rPr>
                        <a:t>Турмуш ўртоғи:</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gridSpan="3">
                  <a:txBody>
                    <a:bodyPr/>
                    <a:lstStyle/>
                    <a:p>
                      <a:pPr algn="l">
                        <a:lnSpc>
                          <a:spcPct val="85000"/>
                        </a:lnSpc>
                      </a:pPr>
                      <a:r>
                        <a:rPr lang="uz-Cyrl-UZ" sz="900" b="1" kern="1200" noProof="0" dirty="0" smtClean="0">
                          <a:solidFill>
                            <a:schemeClr val="tx1"/>
                          </a:solidFill>
                          <a:latin typeface="+mn-lt"/>
                          <a:ea typeface="+mn-ea"/>
                          <a:cs typeface="Arial" panose="020B0604020202020204" pitchFamily="34" charset="0"/>
                        </a:rPr>
                        <a:t>ХАКИМОВА Мехри</a:t>
                      </a:r>
                      <a:r>
                        <a:rPr lang="uz-Cyrl-UZ" sz="900" b="1" kern="1200" baseline="0" noProof="0" dirty="0" smtClean="0">
                          <a:solidFill>
                            <a:schemeClr val="tx1"/>
                          </a:solidFill>
                          <a:latin typeface="+mn-lt"/>
                          <a:ea typeface="+mn-ea"/>
                          <a:cs typeface="Arial" panose="020B0604020202020204" pitchFamily="34" charset="0"/>
                        </a:rPr>
                        <a:t> Абдукадировна</a:t>
                      </a:r>
                      <a:endParaRPr lang="uz-Cyrl-UZ" sz="900" b="1" kern="1200" noProof="0" dirty="0" smtClean="0">
                        <a:solidFill>
                          <a:schemeClr val="tx1"/>
                        </a:solidFill>
                        <a:latin typeface="+mn-lt"/>
                        <a:ea typeface="+mn-ea"/>
                        <a:cs typeface="Arial" panose="020B0604020202020204" pitchFamily="34" charset="0"/>
                      </a:endParaRPr>
                    </a:p>
                    <a:p>
                      <a:pPr algn="l">
                        <a:lnSpc>
                          <a:spcPct val="85000"/>
                        </a:lnSpc>
                      </a:pPr>
                      <a:r>
                        <a:rPr lang="uz-Cyrl-UZ" sz="900" b="0" kern="1200" noProof="0" dirty="0" smtClean="0">
                          <a:solidFill>
                            <a:schemeClr val="tx1"/>
                          </a:solidFill>
                          <a:latin typeface="+mn-lt"/>
                          <a:ea typeface="+mn-ea"/>
                          <a:cs typeface="Arial" panose="020B0604020202020204" pitchFamily="34" charset="0"/>
                        </a:rPr>
                        <a:t>1961 йил, Самарқанд шаҳри</a:t>
                      </a: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a:noFill/>
                    </a:lnL>
                  </a:tcPr>
                </a:tc>
                <a:tc hMerge="1">
                  <a:txBody>
                    <a:bodyPr/>
                    <a:lstStyle/>
                    <a:p>
                      <a:pPr algn="l">
                        <a:lnSpc>
                          <a:spcPct val="85000"/>
                        </a:lnSpc>
                      </a:pPr>
                      <a:endParaRPr lang="uz-Cyrl-UZ" sz="700" b="1" kern="1200" noProof="0">
                        <a:solidFill>
                          <a:schemeClr val="tx1"/>
                        </a:solidFill>
                        <a:latin typeface="+mn-lt"/>
                        <a:ea typeface="+mn-ea"/>
                        <a:cs typeface="Arial" panose="020B0604020202020204" pitchFamily="34" charset="0"/>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85000"/>
                        </a:lnSpc>
                      </a:pPr>
                      <a:r>
                        <a:rPr lang="uz-Cyrl-UZ" sz="900" b="0" kern="1200" noProof="0" dirty="0" smtClean="0">
                          <a:solidFill>
                            <a:schemeClr val="tx1"/>
                          </a:solidFill>
                          <a:latin typeface="+mn-lt"/>
                          <a:ea typeface="+mn-ea"/>
                          <a:cs typeface="Arial" panose="020B0604020202020204" pitchFamily="34" charset="0"/>
                        </a:rPr>
                        <a:t>Самарканд вилояти муискали драма театри етакчи</a:t>
                      </a:r>
                      <a:r>
                        <a:rPr lang="uz-Cyrl-UZ" sz="900" b="0" kern="1200" baseline="0" noProof="0" dirty="0" smtClean="0">
                          <a:solidFill>
                            <a:schemeClr val="tx1"/>
                          </a:solidFill>
                          <a:latin typeface="+mn-lt"/>
                          <a:ea typeface="+mn-ea"/>
                          <a:cs typeface="Arial" panose="020B0604020202020204" pitchFamily="34" charset="0"/>
                        </a:rPr>
                        <a:t> драма сахна устаси</a:t>
                      </a:r>
                      <a:endParaRPr lang="uz-Cyrl-UZ" sz="8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4820297"/>
                  </a:ext>
                </a:extLst>
              </a:tr>
              <a:tr h="205481">
                <a:tc gridSpan="5">
                  <a:txBody>
                    <a:bodyPr/>
                    <a:lstStyle/>
                    <a:p>
                      <a:pPr algn="ctr">
                        <a:lnSpc>
                          <a:spcPct val="85000"/>
                        </a:lnSpc>
                      </a:pPr>
                      <a:r>
                        <a:rPr lang="uz-Cyrl-UZ" sz="1000" b="1" kern="1200" noProof="0" dirty="0">
                          <a:solidFill>
                            <a:schemeClr val="bg1"/>
                          </a:solidFill>
                          <a:latin typeface="Bahnschrift SemiBold" panose="020B0502040204020203" pitchFamily="34" charset="0"/>
                          <a:ea typeface="+mn-ea"/>
                          <a:cs typeface="+mn-cs"/>
                        </a:rPr>
                        <a:t>Маълумоти</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a:noFill/>
                    </a:lnT>
                  </a:tcPr>
                </a:tc>
                <a:extLst>
                  <a:ext uri="{0D108BD9-81ED-4DB2-BD59-A6C34878D82A}">
                    <a16:rowId xmlns:a16="http://schemas.microsoft.com/office/drawing/2014/main" val="3708795195"/>
                  </a:ext>
                </a:extLst>
              </a:tr>
              <a:tr h="612138">
                <a:tc gridSpan="3">
                  <a:txBody>
                    <a:bodyPr/>
                    <a:lstStyle/>
                    <a:p>
                      <a:pPr algn="l">
                        <a:lnSpc>
                          <a:spcPct val="85000"/>
                        </a:lnSpc>
                      </a:pPr>
                      <a:r>
                        <a:rPr lang="uz-Cyrl-UZ" sz="900" b="1" noProof="0" dirty="0">
                          <a:latin typeface="+mn-lt"/>
                        </a:rPr>
                        <a:t>Тамомлаган ОТМ:</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a:solidFill>
                            <a:schemeClr val="tx1"/>
                          </a:solidFill>
                          <a:latin typeface="+mn-lt"/>
                          <a:ea typeface="+mn-ea"/>
                          <a:cs typeface="+mn-cs"/>
                        </a:rPr>
                        <a:t>1998 йил, Қорақолпоқ Давлат университети</a:t>
                      </a:r>
                      <a:endParaRPr lang="uz-Cyrl-UZ" sz="900" noProof="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smtClean="0">
                          <a:solidFill>
                            <a:schemeClr val="tx1"/>
                          </a:solidFill>
                          <a:latin typeface="+mn-lt"/>
                          <a:ea typeface="+mn-ea"/>
                          <a:cs typeface="+mn-cs"/>
                        </a:rPr>
                        <a:t>1977 й. </a:t>
                      </a:r>
                      <a:r>
                        <a:rPr lang="ru-RU" sz="900" b="0" kern="1200" noProof="0" dirty="0" err="1" smtClean="0">
                          <a:solidFill>
                            <a:schemeClr val="tx1"/>
                          </a:solidFill>
                          <a:latin typeface="+mn-lt"/>
                          <a:ea typeface="+mn-ea"/>
                          <a:cs typeface="+mn-cs"/>
                        </a:rPr>
                        <a:t>Тошкент</a:t>
                      </a:r>
                      <a:r>
                        <a:rPr lang="ru-RU" sz="900" b="0" kern="1200" noProof="0" dirty="0" smtClean="0">
                          <a:solidFill>
                            <a:schemeClr val="tx1"/>
                          </a:solidFill>
                          <a:latin typeface="+mn-lt"/>
                          <a:ea typeface="+mn-ea"/>
                          <a:cs typeface="+mn-cs"/>
                        </a:rPr>
                        <a:t>  театр </a:t>
                      </a:r>
                      <a:r>
                        <a:rPr lang="ru-RU" sz="900" b="0" kern="1200" noProof="0" dirty="0" err="1" smtClean="0">
                          <a:solidFill>
                            <a:schemeClr val="tx1"/>
                          </a:solidFill>
                          <a:latin typeface="+mn-lt"/>
                          <a:ea typeface="+mn-ea"/>
                          <a:cs typeface="+mn-cs"/>
                        </a:rPr>
                        <a:t>ва</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рассомчилик</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санъат</a:t>
                      </a:r>
                      <a:r>
                        <a:rPr lang="ru-RU" sz="900" b="0" kern="1200" noProof="0" dirty="0" smtClean="0">
                          <a:solidFill>
                            <a:schemeClr val="tx1"/>
                          </a:solidFill>
                          <a:latin typeface="+mn-lt"/>
                          <a:ea typeface="+mn-ea"/>
                          <a:cs typeface="+mn-cs"/>
                        </a:rPr>
                        <a:t> </a:t>
                      </a:r>
                      <a:r>
                        <a:rPr lang="ru-RU" sz="900" b="0" kern="1200" noProof="0" dirty="0" err="1" smtClean="0">
                          <a:solidFill>
                            <a:schemeClr val="tx1"/>
                          </a:solidFill>
                          <a:latin typeface="+mn-lt"/>
                          <a:ea typeface="+mn-ea"/>
                          <a:cs typeface="+mn-cs"/>
                        </a:rPr>
                        <a:t>институти</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575324793"/>
                  </a:ext>
                </a:extLst>
              </a:tr>
              <a:tr h="269110">
                <a:tc gridSpan="3">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1" noProof="0" dirty="0">
                          <a:latin typeface="+mn-lt"/>
                        </a:rPr>
                        <a:t>Мутахассислиги:</a:t>
                      </a:r>
                      <a:endParaRPr lang="uz-Cyrl-UZ" sz="900" b="1" kern="1200" noProof="0" dirty="0">
                        <a:solidFill>
                          <a:schemeClr val="tx1"/>
                        </a:solidFill>
                        <a:latin typeface="+mn-lt"/>
                        <a:ea typeface="+mn-ea"/>
                        <a:cs typeface="+mn-cs"/>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pPr algn="ctr">
                        <a:lnSpc>
                          <a:spcPct val="85000"/>
                        </a:lnSpc>
                      </a:pPr>
                      <a:endParaRPr lang="uz-Cyrl-UZ" sz="900" b="1" kern="1200" noProof="0" dirty="0">
                        <a:solidFill>
                          <a:schemeClr val="tx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uz-Cyrl-UZ" sz="900" b="0" kern="1200" noProof="0" dirty="0">
                          <a:solidFill>
                            <a:schemeClr val="tx1"/>
                          </a:solidFill>
                          <a:latin typeface="+mn-lt"/>
                          <a:ea typeface="+mn-ea"/>
                          <a:cs typeface="+mn-cs"/>
                        </a:rPr>
                        <a:t>Юрист</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kern="1200" dirty="0" smtClean="0">
                          <a:solidFill>
                            <a:schemeClr val="tx1"/>
                          </a:solidFill>
                          <a:effectLst/>
                          <a:latin typeface="+mn-lt"/>
                          <a:ea typeface="+mn-ea"/>
                          <a:cs typeface="+mn-cs"/>
                        </a:rPr>
                        <a:t>Драма театри ва кино актёри</a:t>
                      </a:r>
                      <a:endParaRPr lang="uz-Cyrl-UZ"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3581415073"/>
                  </a:ext>
                </a:extLst>
              </a:tr>
              <a:tr h="310973">
                <a:tc gridSpan="3">
                  <a:txBody>
                    <a:bodyPr/>
                    <a:lstStyle/>
                    <a:p>
                      <a:pPr algn="l">
                        <a:lnSpc>
                          <a:spcPct val="85000"/>
                        </a:lnSpc>
                      </a:pPr>
                      <a:r>
                        <a:rPr lang="uz-Cyrl-UZ" sz="900" b="1" kern="1200" noProof="0" dirty="0">
                          <a:solidFill>
                            <a:schemeClr val="tx1"/>
                          </a:solidFill>
                          <a:latin typeface="+mn-lt"/>
                          <a:ea typeface="+mn-ea"/>
                          <a:cs typeface="+mn-cs"/>
                        </a:rPr>
                        <a:t>Илмий даража</a:t>
                      </a:r>
                      <a:r>
                        <a:rPr lang="en-US" sz="900" b="1" kern="1200" noProof="0" dirty="0">
                          <a:solidFill>
                            <a:schemeClr val="tx1"/>
                          </a:solidFill>
                          <a:latin typeface="+mn-lt"/>
                          <a:ea typeface="+mn-ea"/>
                          <a:cs typeface="+mn-cs"/>
                        </a:rPr>
                        <a:t> (</a:t>
                      </a:r>
                      <a:r>
                        <a:rPr lang="uz-Cyrl-UZ" sz="900" b="1" kern="1200" noProof="0" dirty="0">
                          <a:solidFill>
                            <a:schemeClr val="tx1"/>
                          </a:solidFill>
                          <a:latin typeface="+mn-lt"/>
                          <a:ea typeface="+mn-ea"/>
                          <a:cs typeface="+mn-cs"/>
                        </a:rPr>
                        <a:t>унвон</a:t>
                      </a:r>
                      <a:r>
                        <a:rPr lang="en-US" sz="900" b="1" kern="1200" noProof="0" dirty="0">
                          <a:solidFill>
                            <a:schemeClr val="tx1"/>
                          </a:solidFill>
                          <a:latin typeface="+mn-lt"/>
                          <a:ea typeface="+mn-ea"/>
                          <a:cs typeface="+mn-cs"/>
                        </a:rPr>
                        <a:t>)</a:t>
                      </a:r>
                      <a:r>
                        <a:rPr lang="uz-Cyrl-UZ" sz="900" b="1" kern="1200" noProof="0" dirty="0">
                          <a:solidFill>
                            <a:schemeClr val="tx1"/>
                          </a:solidFill>
                          <a:latin typeface="+mn-lt"/>
                          <a:ea typeface="+mn-ea"/>
                          <a:cs typeface="+mn-cs"/>
                        </a:rPr>
                        <a:t>:</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lnT w="12700" cap="flat" cmpd="sng" algn="ctr">
                      <a:solidFill>
                        <a:schemeClr val="tx1"/>
                      </a:solidFill>
                      <a:prstDash val="solid"/>
                      <a:round/>
                      <a:headEnd type="none" w="med" len="med"/>
                      <a:tailEnd type="none" w="med" len="med"/>
                    </a:lnT>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Йўқ</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62673456"/>
                  </a:ext>
                </a:extLst>
              </a:tr>
              <a:tr h="310973">
                <a:tc gridSpan="3">
                  <a:txBody>
                    <a:bodyPr/>
                    <a:lstStyle/>
                    <a:p>
                      <a:pPr algn="l">
                        <a:lnSpc>
                          <a:spcPct val="85000"/>
                        </a:lnSpc>
                      </a:pPr>
                      <a:r>
                        <a:rPr lang="uz-Cyrl-UZ" sz="900" b="1" kern="1200" noProof="0" dirty="0">
                          <a:solidFill>
                            <a:schemeClr val="tx1"/>
                          </a:solidFill>
                          <a:latin typeface="+mn-lt"/>
                          <a:ea typeface="+mn-ea"/>
                          <a:cs typeface="+mn-cs"/>
                        </a:rPr>
                        <a:t>Чет тилларни билиши: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Рус тили</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uz-Cyrl-UZ" sz="900" b="0" kern="1200" noProof="0" dirty="0" smtClean="0">
                          <a:solidFill>
                            <a:schemeClr val="tx1"/>
                          </a:solidFill>
                          <a:latin typeface="+mn-lt"/>
                          <a:ea typeface="+mn-ea"/>
                          <a:cs typeface="+mn-cs"/>
                        </a:rPr>
                        <a:t>Рус тили</a:t>
                      </a:r>
                      <a:endParaRPr lang="ru-RU" dirty="0"/>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498889981"/>
                  </a:ext>
                </a:extLst>
              </a:tr>
              <a:tr h="425359">
                <a:tc gridSpan="3">
                  <a:txBody>
                    <a:bodyPr/>
                    <a:lstStyle/>
                    <a:p>
                      <a:pPr algn="l">
                        <a:lnSpc>
                          <a:spcPct val="85000"/>
                        </a:lnSpc>
                      </a:pPr>
                      <a:r>
                        <a:rPr lang="uz-Cyrl-UZ" sz="900" b="1" kern="1200" noProof="0" dirty="0">
                          <a:solidFill>
                            <a:schemeClr val="tx1"/>
                          </a:solidFill>
                          <a:latin typeface="+mn-lt"/>
                          <a:ea typeface="+mn-ea"/>
                          <a:cs typeface="+mn-cs"/>
                        </a:rPr>
                        <a:t>Малака оширганлиги (сўнгги 2 йилда): </a:t>
                      </a:r>
                    </a:p>
                  </a:txBody>
                  <a:tcPr marL="74295" marR="74295" marT="37148" marB="3714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hMerge="1">
                  <a:txBody>
                    <a:bodyPr/>
                    <a:lstStyle/>
                    <a:p>
                      <a:endParaRPr lang="ru-RU"/>
                    </a:p>
                  </a:txBody>
                  <a:tcPr/>
                </a:tc>
                <a:tc hMerge="1">
                  <a:txBody>
                    <a:bodyPr/>
                    <a:lstStyle/>
                    <a:p>
                      <a:pPr>
                        <a:lnSpc>
                          <a:spcPct val="85000"/>
                        </a:lnSpc>
                      </a:pPr>
                      <a:r>
                        <a:rPr lang="uz-Cyrl-UZ" sz="900" b="0" kern="1200" noProof="0" dirty="0">
                          <a:solidFill>
                            <a:schemeClr val="tx1"/>
                          </a:solidFill>
                          <a:latin typeface="+mn-lt"/>
                          <a:ea typeface="+mn-ea"/>
                          <a:cs typeface="+mn-cs"/>
                        </a:rPr>
                        <a:t>ЙЎҚ</a:t>
                      </a:r>
                      <a:endParaRPr lang="uz-Cyrl-UZ" sz="900" noProof="0" dirty="0">
                        <a:latin typeface="+mn-lt"/>
                      </a:endParaRPr>
                    </a:p>
                  </a:txBody>
                  <a:tcPr marL="74295" marR="74295" marT="37148" marB="3714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ru-RU" sz="900" b="0" kern="1200" noProof="0" dirty="0" err="1" smtClean="0">
                          <a:solidFill>
                            <a:schemeClr val="tx1"/>
                          </a:solidFill>
                          <a:latin typeface="+mn-lt"/>
                          <a:ea typeface="+mn-ea"/>
                          <a:cs typeface="+mn-cs"/>
                        </a:rPr>
                        <a:t>Йўқ</a:t>
                      </a:r>
                      <a:endParaRPr lang="ru-RU" sz="900" b="0" kern="1200" noProof="0" dirty="0">
                        <a:solidFill>
                          <a:schemeClr val="tx1"/>
                        </a:solidFill>
                        <a:latin typeface="+mn-lt"/>
                        <a:ea typeface="+mn-ea"/>
                        <a:cs typeface="+mn-cs"/>
                      </a:endParaRPr>
                    </a:p>
                  </a:txBody>
                  <a:tcPr marL="74295" marR="74295" marT="37148" marB="3714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ru-RU"/>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84575148"/>
                  </a:ext>
                </a:extLst>
              </a:tr>
            </a:tbl>
          </a:graphicData>
        </a:graphic>
      </p:graphicFrame>
      <p:graphicFrame>
        <p:nvGraphicFramePr>
          <p:cNvPr id="5" name="Таблица 4">
            <a:extLst>
              <a:ext uri="{FF2B5EF4-FFF2-40B4-BE49-F238E27FC236}">
                <a16:creationId xmlns:a16="http://schemas.microsoft.com/office/drawing/2014/main" id="{517644AE-5C81-44E0-9816-667B2293E1A0}"/>
              </a:ext>
            </a:extLst>
          </p:cNvPr>
          <p:cNvGraphicFramePr>
            <a:graphicFrameLocks noGrp="1"/>
          </p:cNvGraphicFramePr>
          <p:nvPr>
            <p:extLst>
              <p:ext uri="{D42A27DB-BD31-4B8C-83A1-F6EECF244321}">
                <p14:modId xmlns:p14="http://schemas.microsoft.com/office/powerpoint/2010/main" val="20282191"/>
              </p:ext>
            </p:extLst>
          </p:nvPr>
        </p:nvGraphicFramePr>
        <p:xfrm>
          <a:off x="3631797" y="865689"/>
          <a:ext cx="3172841" cy="5937133"/>
        </p:xfrm>
        <a:graphic>
          <a:graphicData uri="http://schemas.openxmlformats.org/drawingml/2006/table">
            <a:tbl>
              <a:tblPr firstRow="1" bandRow="1">
                <a:tableStyleId>{C083E6E3-FA7D-4D7B-A595-EF9225AFEA82}</a:tableStyleId>
              </a:tblPr>
              <a:tblGrid>
                <a:gridCol w="1497242">
                  <a:extLst>
                    <a:ext uri="{9D8B030D-6E8A-4147-A177-3AD203B41FA5}">
                      <a16:colId xmlns:a16="http://schemas.microsoft.com/office/drawing/2014/main" val="2715609854"/>
                    </a:ext>
                  </a:extLst>
                </a:gridCol>
                <a:gridCol w="1675599">
                  <a:extLst>
                    <a:ext uri="{9D8B030D-6E8A-4147-A177-3AD203B41FA5}">
                      <a16:colId xmlns:a16="http://schemas.microsoft.com/office/drawing/2014/main" val="546443978"/>
                    </a:ext>
                  </a:extLst>
                </a:gridCol>
              </a:tblGrid>
              <a:tr h="337617">
                <a:tc gridSpan="2">
                  <a:txBody>
                    <a:bodyPr/>
                    <a:lstStyle/>
                    <a:p>
                      <a:pPr algn="ctr"/>
                      <a:r>
                        <a:rPr lang="uz-Cyrl-UZ" sz="1200" b="1" dirty="0">
                          <a:solidFill>
                            <a:schemeClr val="bg1"/>
                          </a:solidFill>
                          <a:latin typeface="Bahnschrift SemiBold" panose="020B0502040204020203" pitchFamily="34" charset="0"/>
                        </a:rPr>
                        <a:t>МЕҲНАТ ФАОЛИЯТИ </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marL="0" indent="0" algn="l">
                        <a:lnSpc>
                          <a:spcPct val="85000"/>
                        </a:lnSpc>
                      </a:pPr>
                      <a:endParaRPr lang="uz-Cyrl-UZ" sz="900" b="0" kern="1200" noProof="0" dirty="0">
                        <a:solidFill>
                          <a:schemeClr val="tx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610452"/>
                  </a:ext>
                </a:extLst>
              </a:tr>
              <a:tr h="351174">
                <a:tc>
                  <a:txBody>
                    <a:bodyPr/>
                    <a:lstStyle/>
                    <a:p>
                      <a:pPr algn="l">
                        <a:lnSpc>
                          <a:spcPct val="85000"/>
                        </a:lnSpc>
                      </a:pPr>
                      <a:r>
                        <a:rPr lang="uz-Cyrl-UZ" sz="900" b="1" i="0" noProof="0" dirty="0">
                          <a:solidFill>
                            <a:schemeClr val="tx1"/>
                          </a:solidFill>
                          <a:latin typeface="+mn-lt"/>
                        </a:rPr>
                        <a:t>Эгаллаб турган </a:t>
                      </a:r>
                      <a:r>
                        <a:rPr lang="uz-Cyrl-UZ" sz="900" b="1" i="0" noProof="0" dirty="0" smtClean="0">
                          <a:solidFill>
                            <a:schemeClr val="tx1"/>
                          </a:solidFill>
                          <a:latin typeface="+mn-lt"/>
                        </a:rPr>
                        <a:t>лавозими</a:t>
                      </a:r>
                      <a:r>
                        <a:rPr lang="uz-Cyrl-UZ" sz="900" b="1" i="0" noProof="0" dirty="0">
                          <a:solidFill>
                            <a:schemeClr val="tx1"/>
                          </a:solidFill>
                          <a:latin typeface="+mn-lt"/>
                        </a:rPr>
                        <a:t>:</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indent="0" algn="l">
                        <a:lnSpc>
                          <a:spcPct val="85000"/>
                        </a:lnSpc>
                      </a:pPr>
                      <a:r>
                        <a:rPr lang="uz-Cyrl-UZ" sz="900" b="1" kern="1200" noProof="0" dirty="0" smtClean="0">
                          <a:solidFill>
                            <a:schemeClr val="tx1"/>
                          </a:solidFill>
                          <a:latin typeface="+mn-lt"/>
                          <a:ea typeface="+mn-ea"/>
                          <a:cs typeface="+mn-cs"/>
                        </a:rPr>
                        <a:t>2018 йилдан Самарканд вилояти мусиқали драма театри олий тоифали драма актёри</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6976993"/>
                  </a:ext>
                </a:extLst>
              </a:tr>
              <a:tr h="251922">
                <a:tc>
                  <a:txBody>
                    <a:bodyPr/>
                    <a:lstStyle/>
                    <a:p>
                      <a:pPr algn="l">
                        <a:lnSpc>
                          <a:spcPct val="85000"/>
                        </a:lnSpc>
                      </a:pPr>
                      <a:r>
                        <a:rPr lang="uz-Cyrl-UZ" sz="900" b="1" i="0" noProof="0" dirty="0">
                          <a:solidFill>
                            <a:schemeClr val="tx1"/>
                          </a:solidFill>
                          <a:latin typeface="+mn-lt"/>
                        </a:rPr>
                        <a:t>Мартаба даражаси: </a:t>
                      </a:r>
                    </a:p>
                  </a:txBody>
                  <a:tcPr marL="74295" marR="74295" marT="37148" marB="37148">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85000"/>
                        </a:lnSpc>
                      </a:pPr>
                      <a:r>
                        <a:rPr lang="uz-Cyrl-UZ" sz="900" b="0" kern="1200" noProof="0" dirty="0" smtClean="0">
                          <a:solidFill>
                            <a:schemeClr val="tx1"/>
                          </a:solidFill>
                          <a:latin typeface="+mn-lt"/>
                          <a:ea typeface="+mn-ea"/>
                          <a:cs typeface="+mn-cs"/>
                        </a:rPr>
                        <a:t>Й</a:t>
                      </a:r>
                      <a:r>
                        <a:rPr lang="ru-RU" sz="900" b="0" kern="1200" noProof="0" dirty="0" err="1" smtClean="0">
                          <a:solidFill>
                            <a:schemeClr val="tx1"/>
                          </a:solidFill>
                          <a:latin typeface="+mn-lt"/>
                          <a:ea typeface="+mn-ea"/>
                          <a:cs typeface="+mn-cs"/>
                        </a:rPr>
                        <a:t>ўқ</a:t>
                      </a:r>
                      <a:endParaRPr lang="uz-Cyrl-UZ" sz="900" b="0" kern="1200" noProof="0" dirty="0">
                        <a:solidFill>
                          <a:schemeClr val="tx1"/>
                        </a:solidFill>
                        <a:latin typeface="+mn-lt"/>
                        <a:ea typeface="+mn-ea"/>
                        <a:cs typeface="+mn-cs"/>
                      </a:endParaRPr>
                    </a:p>
                  </a:txBody>
                  <a:tcPr marL="74295" marR="74295" marT="37148" marB="37148">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0972717"/>
                  </a:ext>
                </a:extLst>
              </a:tr>
              <a:tr h="216859">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Умумий меҳнат стажи: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48 </a:t>
                      </a:r>
                      <a:r>
                        <a:rPr lang="uz-Cyrl-UZ" sz="900" b="0" noProof="0" dirty="0">
                          <a:effectLst/>
                          <a:latin typeface="+mn-lt"/>
                          <a:ea typeface="Calibri" panose="020F0502020204030204" pitchFamily="34" charset="0"/>
                          <a:cs typeface="Times New Roman" panose="02020603050405020304" pitchFamily="18" charset="0"/>
                        </a:rPr>
                        <a:t>йил</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78975748"/>
                  </a:ext>
                </a:extLst>
              </a:tr>
              <a:tr h="201971">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Раҳбарлик стажи:</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b="0" noProof="0" dirty="0" smtClean="0">
                          <a:effectLst/>
                          <a:latin typeface="+mn-lt"/>
                          <a:ea typeface="Calibri" panose="020F0502020204030204" pitchFamily="34" charset="0"/>
                          <a:cs typeface="Times New Roman" panose="02020603050405020304" pitchFamily="18" charset="0"/>
                        </a:rPr>
                        <a:t>-</a:t>
                      </a:r>
                      <a:endParaRPr lang="uz-Cyrl-UZ" sz="900" b="0" noProof="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33043522"/>
                  </a:ext>
                </a:extLst>
              </a:tr>
              <a:tr h="898968">
                <a:tc>
                  <a:txBody>
                    <a:bodyPr/>
                    <a:lstStyle/>
                    <a:p>
                      <a:pPr algn="l">
                        <a:lnSpc>
                          <a:spcPct val="107000"/>
                        </a:lnSpc>
                        <a:spcAft>
                          <a:spcPts val="0"/>
                        </a:spcAft>
                      </a:pPr>
                      <a:r>
                        <a:rPr lang="uz-Cyrl-UZ" sz="900" b="1" i="0" noProof="0" dirty="0">
                          <a:solidFill>
                            <a:schemeClr val="tx1"/>
                          </a:solidFill>
                          <a:effectLst/>
                          <a:latin typeface="+mn-lt"/>
                          <a:ea typeface="Calibri" panose="020F0502020204030204" pitchFamily="34" charset="0"/>
                          <a:cs typeface="Times New Roman" panose="02020603050405020304" pitchFamily="18" charset="0"/>
                        </a:rPr>
                        <a:t>Фаолият юритган раҳбарлик лавозимлари: </a:t>
                      </a: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noProof="0" dirty="0" smtClean="0">
                          <a:effectLst/>
                          <a:latin typeface="+mn-lt"/>
                          <a:ea typeface="Calibri" panose="020F0502020204030204" pitchFamily="34" charset="0"/>
                          <a:cs typeface="Times New Roman" panose="02020603050405020304" pitchFamily="18" charset="0"/>
                        </a:rPr>
                        <a:t>-</a:t>
                      </a: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11427381"/>
                  </a:ext>
                </a:extLst>
              </a:tr>
              <a:tr h="298116">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indent="0" algn="l" defTabSz="914400" rtl="0" eaLnBrk="1" fontAlgn="auto" latinLnBrk="0" hangingPunct="1">
                        <a:lnSpc>
                          <a:spcPct val="107000"/>
                        </a:lnSpc>
                        <a:spcBef>
                          <a:spcPts val="0"/>
                        </a:spcBef>
                        <a:spcAft>
                          <a:spcPts val="0"/>
                        </a:spcAft>
                        <a:buClrTx/>
                        <a:buSzTx/>
                        <a:buFontTx/>
                        <a:buNone/>
                        <a:tabLst/>
                        <a:defRPr/>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Жисмоний ҳолати ва соғлиги яхши</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6769636"/>
                  </a:ext>
                </a:extLst>
              </a:tr>
              <a:tr h="298116">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Қачон тиббий муолажа олган:</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йуқ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057627"/>
                  </a:ext>
                </a:extLst>
              </a:tr>
              <a:tr h="29624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Тиббий кўрикдан ўтганлиги (сўнги 2 йилда) :</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8683810"/>
                  </a:ext>
                </a:extLst>
              </a:tr>
              <a:tr h="265764">
                <a:tc>
                  <a:txBody>
                    <a:bodyPr/>
                    <a:lstStyle/>
                    <a:p>
                      <a:pPr algn="l">
                        <a:lnSpc>
                          <a:spcPct val="107000"/>
                        </a:lnSpc>
                        <a:spcAft>
                          <a:spcPts val="0"/>
                        </a:spcAft>
                      </a:pPr>
                      <a:r>
                        <a:rPr lang="uz-Cyrl-UZ" sz="900" b="1" i="0" kern="1200" noProof="0" dirty="0" smtClean="0">
                          <a:solidFill>
                            <a:schemeClr val="tx1"/>
                          </a:solidFill>
                          <a:effectLst/>
                          <a:latin typeface="+mn-lt"/>
                          <a:ea typeface="Calibri" panose="020F0502020204030204" pitchFamily="34" charset="0"/>
                          <a:cs typeface="Times New Roman" panose="02020603050405020304" pitchFamily="18" charset="0"/>
                        </a:rPr>
                        <a:t>Соғлигидаги муаммолар:</a:t>
                      </a:r>
                      <a:endParaRPr lang="uz-Cyrl-UZ" sz="900" b="1" i="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a:lnSpc>
                          <a:spcPct val="107000"/>
                        </a:lnSpc>
                        <a:spcAft>
                          <a:spcPts val="0"/>
                        </a:spcAft>
                      </a:pPr>
                      <a:r>
                        <a:rPr lang="uz-Cyrl-UZ" sz="900" kern="1200" noProof="0" dirty="0" smtClean="0">
                          <a:solidFill>
                            <a:schemeClr val="tx1"/>
                          </a:solidFill>
                          <a:effectLst/>
                          <a:latin typeface="+mn-lt"/>
                          <a:ea typeface="Calibri" panose="020F0502020204030204" pitchFamily="34" charset="0"/>
                          <a:cs typeface="Times New Roman" panose="02020603050405020304" pitchFamily="18" charset="0"/>
                        </a:rPr>
                        <a:t>Йўқ </a:t>
                      </a:r>
                      <a:endParaRPr lang="uz-Cyrl-UZ" sz="900" kern="1200" noProof="0" dirty="0">
                        <a:solidFill>
                          <a:schemeClr val="tx1"/>
                        </a:solidFill>
                        <a:effectLst/>
                        <a:latin typeface="+mn-lt"/>
                        <a:ea typeface="Calibri" panose="020F0502020204030204" pitchFamily="34" charset="0"/>
                        <a:cs typeface="Times New Roman" panose="02020603050405020304" pitchFamily="18" charset="0"/>
                      </a:endParaRPr>
                    </a:p>
                  </a:txBody>
                  <a:tcPr marL="55721" marR="55721" marT="0" marB="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67432789"/>
                  </a:ext>
                </a:extLst>
              </a:tr>
              <a:tr h="233657">
                <a:tc gridSpan="2">
                  <a:txBody>
                    <a:bodyPr/>
                    <a:lstStyle/>
                    <a:p>
                      <a:pPr algn="ctr"/>
                      <a:r>
                        <a:rPr lang="uz-Cyrl-UZ" sz="1000" b="1" kern="1200" noProof="0" dirty="0">
                          <a:solidFill>
                            <a:schemeClr val="bg1"/>
                          </a:solidFill>
                          <a:latin typeface="Bahnschrift SemiBold" panose="020B0502040204020203" pitchFamily="34" charset="0"/>
                          <a:ea typeface="+mn-ea"/>
                          <a:cs typeface="+mn-cs"/>
                        </a:rPr>
                        <a:t>Меҳнат фаолиятидаги ютуқлар</a:t>
                      </a: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alpha val="75000"/>
                      </a:schemeClr>
                    </a:solidFill>
                  </a:tcPr>
                </a:tc>
                <a:tc hMerge="1">
                  <a:txBody>
                    <a:bodyPr/>
                    <a:lstStyle/>
                    <a:p>
                      <a:pPr>
                        <a:lnSpc>
                          <a:spcPct val="107000"/>
                        </a:lnSpc>
                        <a:spcAft>
                          <a:spcPts val="0"/>
                        </a:spcAft>
                      </a:pPr>
                      <a:endParaRPr lang="ru-RU" sz="800" dirty="0">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42893645"/>
                  </a:ext>
                </a:extLst>
              </a:tr>
              <a:tr h="2096243">
                <a:tc gridSpan="2">
                  <a:txBody>
                    <a:bodyPr/>
                    <a:lstStyle/>
                    <a:p>
                      <a:pPr marL="0" marR="0" indent="0" algn="just" defTabSz="914400" rtl="0" eaLnBrk="1" fontAlgn="auto" latinLnBrk="0" hangingPunct="1">
                        <a:lnSpc>
                          <a:spcPct val="107000"/>
                        </a:lnSpc>
                        <a:spcBef>
                          <a:spcPts val="0"/>
                        </a:spcBef>
                        <a:spcAft>
                          <a:spcPts val="0"/>
                        </a:spcAft>
                        <a:buClrTx/>
                        <a:buSzTx/>
                        <a:buFontTx/>
                        <a:buNone/>
                        <a:tabLst/>
                        <a:defRPr/>
                      </a:pPr>
                      <a:r>
                        <a:rPr lang="uz-Cyrl-UZ" sz="900" noProof="0" dirty="0" smtClean="0">
                          <a:effectLst/>
                          <a:latin typeface="+mn-lt"/>
                          <a:ea typeface="Calibri" panose="020F0502020204030204" pitchFamily="34" charset="0"/>
                          <a:cs typeface="Times New Roman" panose="02020603050405020304" pitchFamily="18" charset="0"/>
                        </a:rPr>
                        <a:t>2004 й. Ўзбекистонда хизмат кўрстаган артист</a:t>
                      </a:r>
                      <a:endParaRPr lang="en-US" sz="900" noProof="0" dirty="0" smtClean="0">
                        <a:effectLst/>
                        <a:latin typeface="+mn-lt"/>
                        <a:ea typeface="Calibri" panose="020F0502020204030204" pitchFamily="34" charset="0"/>
                        <a:cs typeface="Times New Roman" panose="02020603050405020304" pitchFamily="18" charset="0"/>
                      </a:endParaRPr>
                    </a:p>
                    <a:p>
                      <a:pPr marL="0" marR="0" indent="0" algn="just" defTabSz="914400" rtl="0" eaLnBrk="1" fontAlgn="auto" latinLnBrk="0" hangingPunct="1">
                        <a:lnSpc>
                          <a:spcPct val="107000"/>
                        </a:lnSpc>
                        <a:spcBef>
                          <a:spcPts val="0"/>
                        </a:spcBef>
                        <a:spcAft>
                          <a:spcPts val="0"/>
                        </a:spcAft>
                        <a:buClrTx/>
                        <a:buSzTx/>
                        <a:buFontTx/>
                        <a:buNone/>
                        <a:tabLst/>
                        <a:defRPr/>
                      </a:pPr>
                      <a:r>
                        <a:rPr lang="en-US" sz="900" noProof="0" dirty="0" smtClean="0">
                          <a:effectLst/>
                          <a:latin typeface="+mn-lt"/>
                          <a:ea typeface="Calibri" panose="020F0502020204030204" pitchFamily="34" charset="0"/>
                          <a:cs typeface="Times New Roman" panose="02020603050405020304" pitchFamily="18" charset="0"/>
                        </a:rPr>
                        <a:t>2024 </a:t>
                      </a:r>
                      <a:r>
                        <a:rPr lang="uz-Cyrl-UZ" sz="900" noProof="0" dirty="0" smtClean="0">
                          <a:effectLst/>
                          <a:latin typeface="+mn-lt"/>
                          <a:ea typeface="Calibri" panose="020F0502020204030204" pitchFamily="34" charset="0"/>
                          <a:cs typeface="Times New Roman" panose="02020603050405020304" pitchFamily="18" charset="0"/>
                        </a:rPr>
                        <a:t>й.</a:t>
                      </a:r>
                      <a:r>
                        <a:rPr lang="uz-Cyrl-UZ" sz="900" baseline="0" noProof="0" dirty="0" smtClean="0">
                          <a:effectLst/>
                          <a:latin typeface="+mn-lt"/>
                          <a:ea typeface="Calibri" panose="020F0502020204030204" pitchFamily="34" charset="0"/>
                          <a:cs typeface="Times New Roman" panose="02020603050405020304" pitchFamily="18" charset="0"/>
                        </a:rPr>
                        <a:t> “Маданият ва санъат фидокори” кўкрак нишони</a:t>
                      </a:r>
                      <a:endParaRPr lang="uz-Cyrl-UZ" sz="900" noProof="0" dirty="0" smtClean="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nSpc>
                          <a:spcPct val="107000"/>
                        </a:lnSpc>
                        <a:spcAft>
                          <a:spcPts val="0"/>
                        </a:spcAft>
                      </a:pPr>
                      <a:endParaRPr lang="uz-Cyrl-UZ" sz="800" noProof="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11650550"/>
                  </a:ext>
                </a:extLst>
              </a:tr>
            </a:tbl>
          </a:graphicData>
        </a:graphic>
      </p:graphicFrame>
      <p:graphicFrame>
        <p:nvGraphicFramePr>
          <p:cNvPr id="6" name="Таблица 5">
            <a:extLst>
              <a:ext uri="{FF2B5EF4-FFF2-40B4-BE49-F238E27FC236}">
                <a16:creationId xmlns:a16="http://schemas.microsoft.com/office/drawing/2014/main" id="{0BF8B5C6-3E02-4921-838B-60CCF3902A49}"/>
              </a:ext>
            </a:extLst>
          </p:cNvPr>
          <p:cNvGraphicFramePr>
            <a:graphicFrameLocks noGrp="1"/>
          </p:cNvGraphicFramePr>
          <p:nvPr>
            <p:extLst>
              <p:ext uri="{D42A27DB-BD31-4B8C-83A1-F6EECF244321}">
                <p14:modId xmlns:p14="http://schemas.microsoft.com/office/powerpoint/2010/main" val="2671137293"/>
              </p:ext>
            </p:extLst>
          </p:nvPr>
        </p:nvGraphicFramePr>
        <p:xfrm>
          <a:off x="6864399" y="869286"/>
          <a:ext cx="2902705" cy="9949691"/>
        </p:xfrm>
        <a:graphic>
          <a:graphicData uri="http://schemas.openxmlformats.org/drawingml/2006/table">
            <a:tbl>
              <a:tblPr firstRow="1" bandRow="1">
                <a:tableStyleId>{C083E6E3-FA7D-4D7B-A595-EF9225AFEA82}</a:tableStyleId>
              </a:tblPr>
              <a:tblGrid>
                <a:gridCol w="2902705">
                  <a:extLst>
                    <a:ext uri="{9D8B030D-6E8A-4147-A177-3AD203B41FA5}">
                      <a16:colId xmlns:a16="http://schemas.microsoft.com/office/drawing/2014/main" val="2715609854"/>
                    </a:ext>
                  </a:extLst>
                </a:gridCol>
              </a:tblGrid>
              <a:tr h="0">
                <a:tc>
                  <a:txBody>
                    <a:bodyPr/>
                    <a:lstStyle/>
                    <a:p>
                      <a:pPr algn="ctr">
                        <a:lnSpc>
                          <a:spcPct val="85000"/>
                        </a:lnSpc>
                      </a:pPr>
                      <a:r>
                        <a:rPr lang="uz-Cyrl-UZ" sz="1200" b="1" noProof="0" dirty="0" smtClean="0">
                          <a:solidFill>
                            <a:schemeClr val="bg1"/>
                          </a:solidFill>
                          <a:latin typeface="Bahnschrift SemiBold" panose="020B0502040204020203" pitchFamily="34" charset="0"/>
                        </a:rPr>
                        <a:t>ФАОЛИЯТИ</a:t>
                      </a:r>
                      <a:r>
                        <a:rPr lang="uz-Cyrl-UZ" sz="1200" b="1" baseline="0" noProof="0" dirty="0" smtClean="0">
                          <a:solidFill>
                            <a:schemeClr val="bg1"/>
                          </a:solidFill>
                          <a:latin typeface="Bahnschrift SemiBold" panose="020B0502040204020203" pitchFamily="34" charset="0"/>
                        </a:rPr>
                        <a:t> </a:t>
                      </a:r>
                      <a:endParaRPr lang="uz-Cyrl-UZ" sz="12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9966"/>
                    </a:solidFill>
                  </a:tcPr>
                </a:tc>
                <a:extLst>
                  <a:ext uri="{0D108BD9-81ED-4DB2-BD59-A6C34878D82A}">
                    <a16:rowId xmlns:a16="http://schemas.microsoft.com/office/drawing/2014/main" val="354880652"/>
                  </a:ext>
                </a:extLst>
              </a:tr>
              <a:tr h="138626">
                <a:tc>
                  <a:txBody>
                    <a:bodyPr/>
                    <a:lstStyle/>
                    <a:p>
                      <a:pPr algn="ctr">
                        <a:lnSpc>
                          <a:spcPct val="85000"/>
                        </a:lnSpc>
                      </a:pPr>
                      <a:r>
                        <a:rPr lang="uz-Cyrl-UZ" sz="1000" b="1" noProof="0" dirty="0" smtClean="0">
                          <a:solidFill>
                            <a:schemeClr val="bg1"/>
                          </a:solidFill>
                          <a:latin typeface="Bahnschrift SemiBold" panose="020B0502040204020203" pitchFamily="34" charset="0"/>
                        </a:rPr>
                        <a:t>Меҳнат фаолияти ҳақида</a:t>
                      </a:r>
                      <a:r>
                        <a:rPr lang="uz-Cyrl-UZ" sz="1000" b="1" baseline="0" noProof="0" dirty="0" smtClean="0">
                          <a:solidFill>
                            <a:schemeClr val="bg1"/>
                          </a:solidFill>
                          <a:latin typeface="Bahnschrift SemiBold" panose="020B0502040204020203" pitchFamily="34" charset="0"/>
                        </a:rPr>
                        <a:t> қисқача тавсифнома</a:t>
                      </a:r>
                      <a:endParaRPr lang="uz-Cyrl-UZ" sz="1000" b="1" noProof="0" dirty="0">
                        <a:solidFill>
                          <a:schemeClr val="bg1"/>
                        </a:solidFill>
                        <a:latin typeface="Bahnschrift SemiBold" panose="020B0502040204020203" pitchFamily="34" charset="0"/>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64390086"/>
                  </a:ext>
                </a:extLst>
              </a:tr>
              <a:tr h="3833190">
                <a:tc>
                  <a:txBody>
                    <a:bodyPr/>
                    <a:lstStyle/>
                    <a:p>
                      <a:pPr algn="just"/>
                      <a:r>
                        <a:rPr lang="ru-RU" sz="800" b="0" kern="1200" dirty="0" smtClean="0">
                          <a:solidFill>
                            <a:schemeClr val="tx1"/>
                          </a:solidFill>
                          <a:effectLst/>
                          <a:latin typeface="+mn-lt"/>
                          <a:ea typeface="+mn-ea"/>
                          <a:cs typeface="+mn-cs"/>
                        </a:rPr>
                        <a:t>20</a:t>
                      </a:r>
                      <a:r>
                        <a:rPr lang="uz-Cyrl-UZ" sz="800" b="0" kern="1200" dirty="0" smtClean="0">
                          <a:solidFill>
                            <a:schemeClr val="tx1"/>
                          </a:solidFill>
                          <a:effectLst/>
                          <a:latin typeface="+mn-lt"/>
                          <a:ea typeface="+mn-ea"/>
                          <a:cs typeface="+mn-cs"/>
                        </a:rPr>
                        <a:t>04</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йилда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Ўзбекистон</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Республикасида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хизмат</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кўрсатган</a:t>
                      </a:r>
                      <a:r>
                        <a:rPr lang="ru-RU" sz="800" b="0" kern="1200" dirty="0" smtClean="0">
                          <a:solidFill>
                            <a:schemeClr val="tx1"/>
                          </a:solidFill>
                          <a:effectLst/>
                          <a:latin typeface="+mn-lt"/>
                          <a:ea typeface="+mn-ea"/>
                          <a:cs typeface="+mn-cs"/>
                        </a:rPr>
                        <a:t> артист” </a:t>
                      </a:r>
                      <a:r>
                        <a:rPr lang="ru-RU" sz="800" b="0" kern="1200" dirty="0" err="1" smtClean="0">
                          <a:solidFill>
                            <a:schemeClr val="tx1"/>
                          </a:solidFill>
                          <a:effectLst/>
                          <a:latin typeface="+mn-lt"/>
                          <a:ea typeface="+mn-ea"/>
                          <a:cs typeface="+mn-cs"/>
                        </a:rPr>
                        <a:t>унвонига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сазовор</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бўлган</a:t>
                      </a:r>
                      <a:r>
                        <a:rPr lang="ru-RU" sz="800" b="0" kern="1200" dirty="0" smtClean="0">
                          <a:solidFill>
                            <a:schemeClr val="tx1"/>
                          </a:solidFill>
                          <a:effectLst/>
                          <a:latin typeface="+mn-lt"/>
                          <a:ea typeface="+mn-ea"/>
                          <a:cs typeface="+mn-cs"/>
                        </a:rPr>
                        <a:t>. </a:t>
                      </a:r>
                    </a:p>
                    <a:p>
                      <a:pPr algn="just"/>
                      <a:r>
                        <a:rPr lang="uz-Cyrl-UZ" sz="800" b="0" kern="1200" dirty="0" smtClean="0">
                          <a:solidFill>
                            <a:schemeClr val="tx1"/>
                          </a:solidFill>
                          <a:effectLst/>
                          <a:latin typeface="+mn-lt"/>
                          <a:ea typeface="+mn-ea"/>
                          <a:cs typeface="+mn-cs"/>
                        </a:rPr>
                        <a:t>Хакимов  Солижон Тургунович </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Тошкент</a:t>
                      </a:r>
                      <a:r>
                        <a:rPr lang="ru-RU" sz="800" b="0" kern="1200" dirty="0" smtClean="0">
                          <a:solidFill>
                            <a:schemeClr val="tx1"/>
                          </a:solidFill>
                          <a:effectLst/>
                          <a:latin typeface="+mn-lt"/>
                          <a:ea typeface="+mn-ea"/>
                          <a:cs typeface="+mn-cs"/>
                        </a:rPr>
                        <a:t> театр </a:t>
                      </a:r>
                      <a:r>
                        <a:rPr lang="ru-RU" sz="800" b="0" kern="1200" dirty="0" err="1" smtClean="0">
                          <a:solidFill>
                            <a:schemeClr val="tx1"/>
                          </a:solidFill>
                          <a:effectLst/>
                          <a:latin typeface="+mn-lt"/>
                          <a:ea typeface="+mn-ea"/>
                          <a:cs typeface="+mn-cs"/>
                        </a:rPr>
                        <a:t>ва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рассомлик</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институтининг</a:t>
                      </a:r>
                      <a:r>
                        <a:rPr lang="ru-RU" sz="800" b="0" kern="1200" dirty="0" smtClean="0">
                          <a:solidFill>
                            <a:schemeClr val="tx1"/>
                          </a:solidFill>
                          <a:effectLst/>
                          <a:latin typeface="+mn-lt"/>
                          <a:ea typeface="+mn-ea"/>
                          <a:cs typeface="+mn-cs"/>
                        </a:rPr>
                        <a:t> драма </a:t>
                      </a:r>
                      <a:r>
                        <a:rPr lang="ru-RU" sz="800" b="0" kern="1200" dirty="0" err="1" smtClean="0">
                          <a:solidFill>
                            <a:schemeClr val="tx1"/>
                          </a:solidFill>
                          <a:effectLst/>
                          <a:latin typeface="+mn-lt"/>
                          <a:ea typeface="+mn-ea"/>
                          <a:cs typeface="+mn-cs"/>
                        </a:rPr>
                        <a:t>ва</a:t>
                      </a:r>
                      <a:r>
                        <a:rPr lang="ru-RU" sz="800" b="0" kern="1200" dirty="0" smtClean="0">
                          <a:solidFill>
                            <a:schemeClr val="tx1"/>
                          </a:solidFill>
                          <a:effectLst/>
                          <a:latin typeface="+mn-lt"/>
                          <a:ea typeface="+mn-ea"/>
                          <a:cs typeface="+mn-cs"/>
                        </a:rPr>
                        <a:t> кино </a:t>
                      </a:r>
                      <a:r>
                        <a:rPr lang="ru-RU" sz="800" b="0" kern="1200" dirty="0" err="1" smtClean="0">
                          <a:solidFill>
                            <a:schemeClr val="tx1"/>
                          </a:solidFill>
                          <a:effectLst/>
                          <a:latin typeface="+mn-lt"/>
                          <a:ea typeface="+mn-ea"/>
                          <a:cs typeface="+mn-cs"/>
                        </a:rPr>
                        <a:t>актёрлиги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мутахассислиги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бўйича</a:t>
                      </a:r>
                      <a:r>
                        <a:rPr lang="ru-RU" sz="800" b="0" kern="1200" dirty="0" smtClean="0">
                          <a:solidFill>
                            <a:schemeClr val="tx1"/>
                          </a:solidFill>
                          <a:effectLst/>
                          <a:latin typeface="+mn-lt"/>
                          <a:ea typeface="+mn-ea"/>
                          <a:cs typeface="+mn-cs"/>
                        </a:rPr>
                        <a:t> 19</a:t>
                      </a:r>
                      <a:r>
                        <a:rPr lang="uz-Cyrl-UZ" sz="800" b="0" kern="1200" dirty="0" smtClean="0">
                          <a:solidFill>
                            <a:schemeClr val="tx1"/>
                          </a:solidFill>
                          <a:effectLst/>
                          <a:latin typeface="+mn-lt"/>
                          <a:ea typeface="+mn-ea"/>
                          <a:cs typeface="+mn-cs"/>
                        </a:rPr>
                        <a:t>77</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йилда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тугатиб</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ўз</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ижодини</a:t>
                      </a:r>
                      <a:r>
                        <a:rPr lang="ru-RU" sz="800" b="0" kern="1200" dirty="0" smtClean="0">
                          <a:solidFill>
                            <a:schemeClr val="tx1"/>
                          </a:solidFill>
                          <a:effectLst/>
                          <a:latin typeface="+mn-lt"/>
                          <a:ea typeface="+mn-ea"/>
                          <a:cs typeface="+mn-cs"/>
                        </a:rPr>
                        <a:t> </a:t>
                      </a:r>
                      <a:r>
                        <a:rPr lang="uz-Cyrl-UZ" sz="800" b="0" kern="1200" dirty="0" smtClean="0">
                          <a:solidFill>
                            <a:schemeClr val="tx1"/>
                          </a:solidFill>
                          <a:effectLst/>
                          <a:latin typeface="+mn-lt"/>
                          <a:ea typeface="+mn-ea"/>
                          <a:cs typeface="+mn-cs"/>
                        </a:rPr>
                        <a:t>1977 йилда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Самарқанд</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вилояти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Ҳ.Олимжон</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номли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давлат</a:t>
                      </a:r>
                      <a:r>
                        <a:rPr lang="ru-RU" sz="800" b="0" kern="1200" dirty="0" smtClean="0">
                          <a:solidFill>
                            <a:schemeClr val="tx1"/>
                          </a:solidFill>
                          <a:effectLst/>
                          <a:latin typeface="+mn-lt"/>
                          <a:ea typeface="+mn-ea"/>
                          <a:cs typeface="+mn-cs"/>
                        </a:rPr>
                        <a:t> драма </a:t>
                      </a:r>
                      <a:r>
                        <a:rPr lang="ru-RU" sz="800" b="0" kern="1200" dirty="0" err="1" smtClean="0">
                          <a:solidFill>
                            <a:schemeClr val="tx1"/>
                          </a:solidFill>
                          <a:effectLst/>
                          <a:latin typeface="+mn-lt"/>
                          <a:ea typeface="+mn-ea"/>
                          <a:cs typeface="+mn-cs"/>
                        </a:rPr>
                        <a:t>ва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мусиқа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театрида</a:t>
                      </a:r>
                      <a:r>
                        <a:rPr lang="ru-RU" sz="800" b="0" kern="1200" dirty="0" smtClean="0">
                          <a:solidFill>
                            <a:schemeClr val="tx1"/>
                          </a:solidFill>
                          <a:effectLst/>
                          <a:latin typeface="+mn-lt"/>
                          <a:ea typeface="+mn-ea"/>
                          <a:cs typeface="+mn-cs"/>
                        </a:rPr>
                        <a:t>  драма </a:t>
                      </a:r>
                      <a:r>
                        <a:rPr lang="ru-RU" sz="800" b="0" kern="1200" dirty="0" err="1" smtClean="0">
                          <a:solidFill>
                            <a:schemeClr val="tx1"/>
                          </a:solidFill>
                          <a:effectLst/>
                          <a:latin typeface="+mn-lt"/>
                          <a:ea typeface="+mn-ea"/>
                          <a:cs typeface="+mn-cs"/>
                        </a:rPr>
                        <a:t>актёрлиги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вазифасидан</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бошлаган</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Унда</a:t>
                      </a:r>
                      <a:r>
                        <a:rPr lang="uz-Cyrl-UZ" sz="800" b="0" kern="1200" dirty="0" smtClean="0">
                          <a:solidFill>
                            <a:schemeClr val="tx1"/>
                          </a:solidFill>
                          <a:effectLst/>
                          <a:latin typeface="+mn-lt"/>
                          <a:ea typeface="+mn-ea"/>
                          <a:cs typeface="+mn-cs"/>
                        </a:rPr>
                        <a:t>ги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актёрлик</a:t>
                      </a:r>
                      <a:r>
                        <a:rPr lang="uz-Cyrl-UZ" sz="800" b="0" kern="1200" dirty="0" smtClean="0">
                          <a:solidFill>
                            <a:schemeClr val="tx1"/>
                          </a:solidFill>
                          <a:effectLst/>
                          <a:latin typeface="+mn-lt"/>
                          <a:ea typeface="+mn-ea"/>
                          <a:cs typeface="+mn-cs"/>
                        </a:rPr>
                        <a:t>а қизиқиш</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туғма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бўлиб</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драматик</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жанрдаги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спектаклларини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юқори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даражада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қойилмақом</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қилиб</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ижро</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этиш</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орқали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томошабин</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эътиборини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қозонди</a:t>
                      </a:r>
                      <a:r>
                        <a:rPr lang="ru-RU" sz="800" b="0" kern="1200" dirty="0" smtClean="0">
                          <a:solidFill>
                            <a:schemeClr val="tx1"/>
                          </a:solidFill>
                          <a:effectLst/>
                          <a:latin typeface="+mn-lt"/>
                          <a:ea typeface="+mn-ea"/>
                          <a:cs typeface="+mn-cs"/>
                        </a:rPr>
                        <a:t>.</a:t>
                      </a:r>
                    </a:p>
                    <a:p>
                      <a:pPr algn="just"/>
                      <a:r>
                        <a:rPr lang="ru-RU" sz="800" b="0" kern="1200" dirty="0" err="1" smtClean="0">
                          <a:solidFill>
                            <a:schemeClr val="tx1"/>
                          </a:solidFill>
                          <a:effectLst/>
                          <a:latin typeface="+mn-lt"/>
                          <a:ea typeface="+mn-ea"/>
                          <a:cs typeface="+mn-cs"/>
                        </a:rPr>
                        <a:t>Ҳозирги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кунга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келиб</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унинг</a:t>
                      </a:r>
                      <a:r>
                        <a:rPr lang="ru-RU" sz="800" b="0" kern="1200" dirty="0" smtClean="0">
                          <a:solidFill>
                            <a:schemeClr val="tx1"/>
                          </a:solidFill>
                          <a:effectLst/>
                          <a:latin typeface="+mn-lt"/>
                          <a:ea typeface="+mn-ea"/>
                          <a:cs typeface="+mn-cs"/>
                        </a:rPr>
                        <a:t> 100 дан </a:t>
                      </a:r>
                      <a:r>
                        <a:rPr lang="ru-RU" sz="800" b="0" kern="1200" dirty="0" err="1" smtClean="0">
                          <a:solidFill>
                            <a:schemeClr val="tx1"/>
                          </a:solidFill>
                          <a:effectLst/>
                          <a:latin typeface="+mn-lt"/>
                          <a:ea typeface="+mn-ea"/>
                          <a:cs typeface="+mn-cs"/>
                        </a:rPr>
                        <a:t>зиёд</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образлари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мавжуд</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бўлиб</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жумладан</a:t>
                      </a:r>
                      <a:r>
                        <a:rPr lang="ru-RU" sz="800" b="0" kern="1200" dirty="0" smtClean="0">
                          <a:solidFill>
                            <a:schemeClr val="tx1"/>
                          </a:solidFill>
                          <a:effectLst/>
                          <a:latin typeface="+mn-lt"/>
                          <a:ea typeface="+mn-ea"/>
                          <a:cs typeface="+mn-cs"/>
                        </a:rPr>
                        <a:t>: </a:t>
                      </a:r>
                    </a:p>
                    <a:p>
                      <a:pPr algn="just"/>
                      <a:r>
                        <a:rPr lang="ru-RU" sz="800" b="0" kern="1200" dirty="0" err="1" smtClean="0">
                          <a:solidFill>
                            <a:schemeClr val="tx1"/>
                          </a:solidFill>
                          <a:effectLst/>
                          <a:latin typeface="+mn-lt"/>
                          <a:ea typeface="+mn-ea"/>
                          <a:cs typeface="+mn-cs"/>
                        </a:rPr>
                        <a:t>С.Хакимов</a:t>
                      </a:r>
                      <a:r>
                        <a:rPr lang="ru-RU" sz="800" b="0" kern="1200" dirty="0" smtClean="0">
                          <a:solidFill>
                            <a:schemeClr val="tx1"/>
                          </a:solidFill>
                          <a:effectLst/>
                          <a:latin typeface="+mn-lt"/>
                          <a:ea typeface="+mn-ea"/>
                          <a:cs typeface="+mn-cs"/>
                        </a:rPr>
                        <a:t> </a:t>
                      </a:r>
                      <a:r>
                        <a:rPr lang="uz-Cyrl-UZ" sz="800" b="0" kern="1200" dirty="0" smtClean="0">
                          <a:solidFill>
                            <a:schemeClr val="tx1"/>
                          </a:solidFill>
                          <a:effectLst/>
                          <a:latin typeface="+mn-lt"/>
                          <a:ea typeface="+mn-ea"/>
                          <a:cs typeface="+mn-cs"/>
                        </a:rPr>
                        <a:t>ў</a:t>
                      </a:r>
                      <a:r>
                        <a:rPr lang="ru-RU" sz="800" b="0" kern="1200" dirty="0" smtClean="0">
                          <a:solidFill>
                            <a:schemeClr val="tx1"/>
                          </a:solidFill>
                          <a:effectLst/>
                          <a:latin typeface="+mn-lt"/>
                          <a:ea typeface="+mn-ea"/>
                          <a:cs typeface="+mn-cs"/>
                        </a:rPr>
                        <a:t>з и</a:t>
                      </a:r>
                      <a:r>
                        <a:rPr lang="uz-Cyrl-UZ" sz="800" b="0" kern="1200" dirty="0" smtClean="0">
                          <a:solidFill>
                            <a:schemeClr val="tx1"/>
                          </a:solidFill>
                          <a:effectLst/>
                          <a:latin typeface="+mn-lt"/>
                          <a:ea typeface="+mn-ea"/>
                          <a:cs typeface="+mn-cs"/>
                        </a:rPr>
                        <a:t>жодий фаолиятини 1988-2006 йилларда Фарғона вилоят ўзбек драма театрида ҳам давом эттириб ижод қилган. </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У Фарғона вилояти ўзбек драма театрида саҳналаштирилган спектаклларда хусусан, Хизматкор “Тошкентга саёҳат”, Рахмат “Қор одам”, Тўхтамиш “Амир Темур ва Тухтамишхон”, Малай “Парижга саёҳат” ва бир қатор спектаклларда ўз образларини маҳорат билан ижро этган. </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С.Хакимов Фарғона вилояти ўзбек драма театридаги фаолияти давомида, Фарғона санъат коллежида 2000-2004 йилларда актёрлик маҳорати ўқтувчиси сифатида ҳам фаолият юритган.</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Самарқанд вилоят мусиқали драма театридаги иш фаолияти давомида 2005-2014 йилларда Самарқанд санъат коллежида ҳам актёрлик маҳоратидан талабаларга таълим берган.</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Зиндонбон “Улуғбек”, Ван “Сечувандан чиққан меҳрибон”, Виждон  “Қил кўприк”,  Шум бола “Шум бола”, Володя “Ишонмасанг ўламан хотин”, Олимтой “Темир хотин”, Азроил “Афанди ва азроил”, Достон “Бир ўлиб кўрайчи”, Аҳмад Яссавий “Буюк Темур”, Салохиддин домла “Разолат қурбонлари”, Мухтасиб Саид Обид “Мирзо Улуғбек”,  каби спектакллардаги роллари билан бир қаторда театрда 2017 йилда саҳналаштирилган спектакллардан “Имон” Санжаров, “Самарканд сайқали” Аҳмад Хожибек, “Кўчки” Раис, 2018 йилда саҳналаштирилган спектакллардан “Соҳил бўйлаб чопаётган олапар” Урхон Бобо, 2019 йилда саҳналаштирилган спектакллардан “Қирол Лир” Қирол Лир, 2020 йилда “Бибихоним” Шайх Амир Нуриддин  каби роллари томошабинларда катта таассурот қолдирган.</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С.Хакимов 2000 йилда Театр ижодий ишлаб чиқириш бирмашмаси томонидан ташкил этилган фестивалда “Қор одам” спектаклидаги Рахмат роли учун  “Йилнинг энг яхши эркак рол ижрочиси” номинацияси ғолиби бўлган. </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2016 йил “Халқаро театр куни” муносабати билан театрда ташкиллаштирилган номинацияда С.Хакимов “Ўз ишининг устаси” номинациясига сазовор бўлди. </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С.Хакимов “Республика ва вилоятда маданият ва санъат соҳасини ривожлантиришга қўшган улкан ҳиссаси, театр, мусиқа, ўзбек мумтоз санъатининг ноёб намуналарини тарғиб ва ташвиқот қилганлиги, нуфузли халқаро фестивал ва танловларда фаол иштирок этганлиги учун” бир қатор Ташаккурнома, ва Фахрий Ёрлиқлар билан тақдирланган. </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С.Хакимов сўнгги йилларда ҳам баракали ижод қилиб, ёшларга намуна бўлиб келмоқда ва “Ўзбекистонда хизмат кўрсатган артист” ва театрнинг олий тоифали драма актёри  сифатида ёш актёрларга санъат сирларини ўргатиб келмоқда.  </a:t>
                      </a:r>
                      <a:endParaRPr lang="ru-RU" sz="800" b="0" kern="1200" dirty="0" smtClean="0">
                        <a:solidFill>
                          <a:schemeClr val="tx1"/>
                        </a:solidFill>
                        <a:effectLst/>
                        <a:latin typeface="+mn-lt"/>
                        <a:ea typeface="+mn-ea"/>
                        <a:cs typeface="+mn-cs"/>
                      </a:endParaRPr>
                    </a:p>
                    <a:p>
                      <a:pPr algn="just"/>
                      <a:r>
                        <a:rPr lang="uz-Cyrl-UZ" sz="800" b="0" kern="1200" dirty="0" smtClean="0">
                          <a:solidFill>
                            <a:schemeClr val="tx1"/>
                          </a:solidFill>
                          <a:effectLst/>
                          <a:latin typeface="+mn-lt"/>
                          <a:ea typeface="+mn-ea"/>
                          <a:cs typeface="+mn-cs"/>
                        </a:rPr>
                        <a:t>  2018 йил “Кўчки” спектаклдаги роли билан Туркия давлатининг Конья шаҳрида бўлиб ўтган “Минг нафас бир овоз” XI-Халқаро театрлар фестивалида ва Остона шаҳри бўлиб ўтган “Самғау” VI-Халқаро театрлар фестивалида иштирок этиб келди. </a:t>
                      </a:r>
                      <a:r>
                        <a:rPr lang="ru-RU" sz="800" b="0" kern="1200" dirty="0" err="1" smtClean="0">
                          <a:solidFill>
                            <a:schemeClr val="tx1"/>
                          </a:solidFill>
                          <a:effectLst/>
                          <a:latin typeface="+mn-lt"/>
                          <a:ea typeface="+mn-ea"/>
                          <a:cs typeface="+mn-cs"/>
                        </a:rPr>
                        <a:t>Фестивал</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доирасида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ташкил</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этилган</a:t>
                      </a:r>
                      <a:r>
                        <a:rPr lang="ru-RU" sz="800" b="0" kern="1200" dirty="0" smtClean="0">
                          <a:solidFill>
                            <a:schemeClr val="tx1"/>
                          </a:solidFill>
                          <a:effectLst/>
                          <a:latin typeface="+mn-lt"/>
                          <a:ea typeface="+mn-ea"/>
                          <a:cs typeface="+mn-cs"/>
                        </a:rPr>
                        <a:t> мастер </a:t>
                      </a:r>
                      <a:r>
                        <a:rPr lang="ru-RU" sz="800" b="0" kern="1200" dirty="0" err="1" smtClean="0">
                          <a:solidFill>
                            <a:schemeClr val="tx1"/>
                          </a:solidFill>
                          <a:effectLst/>
                          <a:latin typeface="+mn-lt"/>
                          <a:ea typeface="+mn-ea"/>
                          <a:cs typeface="+mn-cs"/>
                        </a:rPr>
                        <a:t>классларда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фаол</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иштирок</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этиб</a:t>
                      </a:r>
                      <a:r>
                        <a:rPr lang="uz-Cyrl-UZ" sz="800" b="0" kern="1200" dirty="0" smtClean="0">
                          <a:solidFill>
                            <a:schemeClr val="tx1"/>
                          </a:solidFill>
                          <a:effectLst/>
                          <a:latin typeface="+mn-lt"/>
                          <a:ea typeface="+mn-ea"/>
                          <a:cs typeface="+mn-cs"/>
                        </a:rPr>
                        <a:t>,</a:t>
                      </a:r>
                      <a:r>
                        <a:rPr lang="ru-RU" sz="800" b="0" kern="1200" dirty="0" smtClean="0">
                          <a:solidFill>
                            <a:schemeClr val="tx1"/>
                          </a:solidFill>
                          <a:effectLst/>
                          <a:latin typeface="+mn-lt"/>
                          <a:ea typeface="+mn-ea"/>
                          <a:cs typeface="+mn-cs"/>
                        </a:rPr>
                        <a:t> сертификат </a:t>
                      </a:r>
                      <a:r>
                        <a:rPr lang="ru-RU" sz="800" b="0" kern="1200" dirty="0" err="1" smtClean="0">
                          <a:solidFill>
                            <a:schemeClr val="tx1"/>
                          </a:solidFill>
                          <a:effectLst/>
                          <a:latin typeface="+mn-lt"/>
                          <a:ea typeface="+mn-ea"/>
                          <a:cs typeface="+mn-cs"/>
                        </a:rPr>
                        <a:t>ва</a:t>
                      </a:r>
                      <a:r>
                        <a:rPr lang="ru-RU" sz="800" b="0" kern="1200" dirty="0" smtClean="0">
                          <a:solidFill>
                            <a:schemeClr val="tx1"/>
                          </a:solidFill>
                          <a:effectLst/>
                          <a:latin typeface="+mn-lt"/>
                          <a:ea typeface="+mn-ea"/>
                          <a:cs typeface="+mn-cs"/>
                        </a:rPr>
                        <a:t> </a:t>
                      </a:r>
                      <a:r>
                        <a:rPr lang="uz-Cyrl-UZ" sz="800" b="0" kern="1200" dirty="0" smtClean="0">
                          <a:solidFill>
                            <a:schemeClr val="tx1"/>
                          </a:solidFill>
                          <a:effectLst/>
                          <a:latin typeface="+mn-lt"/>
                          <a:ea typeface="+mn-ea"/>
                          <a:cs typeface="+mn-cs"/>
                        </a:rPr>
                        <a:t>“Ф</a:t>
                      </a:r>
                      <a:r>
                        <a:rPr lang="ru-RU" sz="800" b="0" kern="1200" dirty="0" err="1" smtClean="0">
                          <a:solidFill>
                            <a:schemeClr val="tx1"/>
                          </a:solidFill>
                          <a:effectLst/>
                          <a:latin typeface="+mn-lt"/>
                          <a:ea typeface="+mn-ea"/>
                          <a:cs typeface="+mn-cs"/>
                        </a:rPr>
                        <a:t>ахрий</a:t>
                      </a:r>
                      <a:r>
                        <a:rPr lang="ru-RU" sz="800" b="0" kern="1200" dirty="0" smtClean="0">
                          <a:solidFill>
                            <a:schemeClr val="tx1"/>
                          </a:solidFill>
                          <a:effectLst/>
                          <a:latin typeface="+mn-lt"/>
                          <a:ea typeface="+mn-ea"/>
                          <a:cs typeface="+mn-cs"/>
                        </a:rPr>
                        <a:t> </a:t>
                      </a:r>
                      <a:r>
                        <a:rPr lang="uz-Cyrl-UZ" sz="800" b="0" kern="1200" dirty="0" smtClean="0">
                          <a:solidFill>
                            <a:schemeClr val="tx1"/>
                          </a:solidFill>
                          <a:effectLst/>
                          <a:latin typeface="+mn-lt"/>
                          <a:ea typeface="+mn-ea"/>
                          <a:cs typeface="+mn-cs"/>
                        </a:rPr>
                        <a:t>Ё</a:t>
                      </a:r>
                      <a:r>
                        <a:rPr lang="ru-RU" sz="800" b="0" kern="1200" dirty="0" err="1" smtClean="0">
                          <a:solidFill>
                            <a:schemeClr val="tx1"/>
                          </a:solidFill>
                          <a:effectLst/>
                          <a:latin typeface="+mn-lt"/>
                          <a:ea typeface="+mn-ea"/>
                          <a:cs typeface="+mn-cs"/>
                        </a:rPr>
                        <a:t>рлиқ</a:t>
                      </a:r>
                      <a:r>
                        <a:rPr lang="uz-Cyrl-UZ" sz="800" b="0" kern="1200" dirty="0" smtClean="0">
                          <a:solidFill>
                            <a:schemeClr val="tx1"/>
                          </a:solidFill>
                          <a:effectLst/>
                          <a:latin typeface="+mn-lt"/>
                          <a:ea typeface="+mn-ea"/>
                          <a:cs typeface="+mn-cs"/>
                        </a:rPr>
                        <a:t>”</a:t>
                      </a:r>
                      <a:r>
                        <a:rPr lang="ru-RU" sz="800" b="0" kern="1200" dirty="0" err="1" smtClean="0">
                          <a:solidFill>
                            <a:schemeClr val="tx1"/>
                          </a:solidFill>
                          <a:effectLst/>
                          <a:latin typeface="+mn-lt"/>
                          <a:ea typeface="+mn-ea"/>
                          <a:cs typeface="+mn-cs"/>
                        </a:rPr>
                        <a:t>ларга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эга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бўлди</a:t>
                      </a:r>
                      <a:r>
                        <a:rPr lang="ru-RU" sz="800" b="0" kern="1200" dirty="0" smtClean="0">
                          <a:solidFill>
                            <a:schemeClr val="tx1"/>
                          </a:solidFill>
                          <a:effectLst/>
                          <a:latin typeface="+mn-lt"/>
                          <a:ea typeface="+mn-ea"/>
                          <a:cs typeface="+mn-cs"/>
                        </a:rPr>
                        <a:t>.</a:t>
                      </a:r>
                    </a:p>
                    <a:p>
                      <a:pPr algn="just"/>
                      <a:r>
                        <a:rPr lang="uz-Cyrl-UZ" sz="800" b="0" kern="1200" dirty="0" smtClean="0">
                          <a:solidFill>
                            <a:schemeClr val="tx1"/>
                          </a:solidFill>
                          <a:effectLst/>
                          <a:latin typeface="+mn-lt"/>
                          <a:ea typeface="+mn-ea"/>
                          <a:cs typeface="+mn-cs"/>
                        </a:rPr>
                        <a:t>С.Хакимов</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Мустақиллик</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Наврўз</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каби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вилоятнинг</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катта</a:t>
                      </a:r>
                      <a:r>
                        <a:rPr lang="ru-RU" sz="800" b="0" kern="1200" dirty="0" smtClean="0">
                          <a:solidFill>
                            <a:schemeClr val="tx1"/>
                          </a:solidFill>
                          <a:effectLst/>
                          <a:latin typeface="+mn-lt"/>
                          <a:ea typeface="+mn-ea"/>
                          <a:cs typeface="+mn-cs"/>
                        </a:rPr>
                        <a:t> байрам </a:t>
                      </a:r>
                      <a:r>
                        <a:rPr lang="ru-RU" sz="800" b="0" kern="1200" dirty="0" err="1" smtClean="0">
                          <a:solidFill>
                            <a:schemeClr val="tx1"/>
                          </a:solidFill>
                          <a:effectLst/>
                          <a:latin typeface="+mn-lt"/>
                          <a:ea typeface="+mn-ea"/>
                          <a:cs typeface="+mn-cs"/>
                        </a:rPr>
                        <a:t>томошалари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ва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бошқа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оммавий</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тадбирларнинг</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фаол</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иштирокчиси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саналади</a:t>
                      </a:r>
                      <a:r>
                        <a:rPr lang="ru-RU" sz="800" b="0" kern="1200" dirty="0" smtClean="0">
                          <a:solidFill>
                            <a:schemeClr val="tx1"/>
                          </a:solidFill>
                          <a:effectLst/>
                          <a:latin typeface="+mn-lt"/>
                          <a:ea typeface="+mn-ea"/>
                          <a:cs typeface="+mn-cs"/>
                        </a:rPr>
                        <a:t>. </a:t>
                      </a:r>
                    </a:p>
                    <a:p>
                      <a:pPr algn="just"/>
                      <a:r>
                        <a:rPr lang="ru-RU" sz="800" b="0" kern="1200" dirty="0" err="1" smtClean="0">
                          <a:solidFill>
                            <a:schemeClr val="tx1"/>
                          </a:solidFill>
                          <a:effectLst/>
                          <a:latin typeface="+mn-lt"/>
                          <a:ea typeface="+mn-ea"/>
                          <a:cs typeface="+mn-cs"/>
                        </a:rPr>
                        <a:t>Меҳнат</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фаолияти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давомида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кўплаб</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иқтидорли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шогирдлар</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тарбиялаган</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устоз</a:t>
                      </a:r>
                      <a:r>
                        <a:rPr lang="ru-RU" sz="800" b="0" kern="1200" dirty="0" smtClean="0">
                          <a:solidFill>
                            <a:schemeClr val="tx1"/>
                          </a:solidFill>
                          <a:effectLst/>
                          <a:latin typeface="+mn-lt"/>
                          <a:ea typeface="+mn-ea"/>
                          <a:cs typeface="+mn-cs"/>
                        </a:rPr>
                        <a:t>.</a:t>
                      </a:r>
                    </a:p>
                    <a:p>
                      <a:pPr algn="just"/>
                      <a:r>
                        <a:rPr lang="uz-Cyrl-UZ" sz="800" b="0" kern="1200" dirty="0" smtClean="0">
                          <a:solidFill>
                            <a:schemeClr val="tx1"/>
                          </a:solidFill>
                          <a:effectLst/>
                          <a:latin typeface="+mn-lt"/>
                          <a:ea typeface="+mn-ea"/>
                          <a:cs typeface="+mn-cs"/>
                        </a:rPr>
                        <a:t>С.Хакимов и</a:t>
                      </a:r>
                      <a:r>
                        <a:rPr lang="ru-RU" sz="800" b="0" kern="1200" dirty="0" err="1" smtClean="0">
                          <a:solidFill>
                            <a:schemeClr val="tx1"/>
                          </a:solidFill>
                          <a:effectLst/>
                          <a:latin typeface="+mn-lt"/>
                          <a:ea typeface="+mn-ea"/>
                          <a:cs typeface="+mn-cs"/>
                        </a:rPr>
                        <a:t>стеъдодли</a:t>
                      </a:r>
                      <a:r>
                        <a:rPr lang="ru-RU" sz="800" b="0" kern="1200" dirty="0" smtClean="0">
                          <a:solidFill>
                            <a:schemeClr val="tx1"/>
                          </a:solidFill>
                          <a:effectLst/>
                          <a:latin typeface="+mn-lt"/>
                          <a:ea typeface="+mn-ea"/>
                          <a:cs typeface="+mn-cs"/>
                        </a:rPr>
                        <a:t> актёр, </a:t>
                      </a:r>
                      <a:r>
                        <a:rPr lang="ru-RU" sz="800" b="0" kern="1200" dirty="0" err="1" smtClean="0">
                          <a:solidFill>
                            <a:schemeClr val="tx1"/>
                          </a:solidFill>
                          <a:effectLst/>
                          <a:latin typeface="+mn-lt"/>
                          <a:ea typeface="+mn-ea"/>
                          <a:cs typeface="+mn-cs"/>
                        </a:rPr>
                        <a:t>тажрибали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устоз</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ва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самимий</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инсон</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сифатида</a:t>
                      </a:r>
                      <a:r>
                        <a:rPr lang="ru-RU" sz="800" b="0" kern="1200" dirty="0" smtClean="0">
                          <a:solidFill>
                            <a:schemeClr val="tx1"/>
                          </a:solidFill>
                          <a:effectLst/>
                          <a:latin typeface="+mn-lt"/>
                          <a:ea typeface="+mn-ea"/>
                          <a:cs typeface="+mn-cs"/>
                        </a:rPr>
                        <a:t> театр </a:t>
                      </a:r>
                      <a:r>
                        <a:rPr lang="ru-RU" sz="800" b="0" kern="1200" dirty="0" err="1" smtClean="0">
                          <a:solidFill>
                            <a:schemeClr val="tx1"/>
                          </a:solidFill>
                          <a:effectLst/>
                          <a:latin typeface="+mn-lt"/>
                          <a:ea typeface="+mn-ea"/>
                          <a:cs typeface="+mn-cs"/>
                        </a:rPr>
                        <a:t>жамоаси</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ўртасида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алоҳида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ҳурмат-эътиборга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эга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турмушда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камтарин</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ва</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софдил</a:t>
                      </a:r>
                      <a:r>
                        <a:rPr lang="ru-RU" sz="800" b="0" kern="1200" dirty="0" smtClean="0">
                          <a:solidFill>
                            <a:schemeClr val="tx1"/>
                          </a:solidFill>
                          <a:effectLst/>
                          <a:latin typeface="+mn-lt"/>
                          <a:ea typeface="+mn-ea"/>
                          <a:cs typeface="+mn-cs"/>
                        </a:rPr>
                        <a:t> </a:t>
                      </a:r>
                      <a:r>
                        <a:rPr lang="ru-RU" sz="800" b="0" kern="1200" dirty="0" err="1" smtClean="0">
                          <a:solidFill>
                            <a:schemeClr val="tx1"/>
                          </a:solidFill>
                          <a:effectLst/>
                          <a:latin typeface="+mn-lt"/>
                          <a:ea typeface="+mn-ea"/>
                          <a:cs typeface="+mn-cs"/>
                        </a:rPr>
                        <a:t>инсон</a:t>
                      </a:r>
                      <a:r>
                        <a:rPr lang="ru-RU" sz="800" b="0" kern="1200" dirty="0" smtClean="0">
                          <a:solidFill>
                            <a:schemeClr val="tx1"/>
                          </a:solidFill>
                          <a:effectLst/>
                          <a:latin typeface="+mn-lt"/>
                          <a:ea typeface="+mn-ea"/>
                          <a:cs typeface="+mn-cs"/>
                        </a:rPr>
                        <a:t>.</a:t>
                      </a:r>
                      <a:endParaRPr lang="ru-RU" sz="800" b="0" kern="1200" dirty="0">
                        <a:solidFill>
                          <a:schemeClr val="tx1"/>
                        </a:solidFill>
                        <a:effectLst/>
                        <a:latin typeface="+mn-lt"/>
                        <a:ea typeface="+mn-ea"/>
                        <a:cs typeface="+mn-cs"/>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32463720"/>
                  </a:ext>
                </a:extLst>
              </a:tr>
              <a:tr h="61734">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uz-Cyrl-UZ" sz="1000" b="1" noProof="0" dirty="0" smtClean="0">
                          <a:solidFill>
                            <a:srgbClr val="C00000"/>
                          </a:solidFill>
                          <a:effectLst/>
                          <a:latin typeface="Bahnschrift SemiBold" panose="020B0502040204020203" pitchFamily="34" charset="0"/>
                          <a:ea typeface="Calibri" panose="020F0502020204030204" pitchFamily="34" charset="0"/>
                          <a:cs typeface="Times New Roman" panose="02020603050405020304" pitchFamily="18" charset="0"/>
                        </a:rPr>
                        <a:t>Давлат тадбирларидаги иштироки:</a:t>
                      </a:r>
                      <a:endParaRPr lang="ru-RU" sz="800" b="1" dirty="0">
                        <a:effectLst/>
                        <a:latin typeface="Bahnschrift SemiBold" panose="020B0502040204020203" pitchFamily="34" charset="0"/>
                        <a:ea typeface="Calibri" panose="020F0502020204030204" pitchFamily="34" charset="0"/>
                        <a:cs typeface="Times New Roman" panose="02020603050405020304" pitchFamily="18" charset="0"/>
                      </a:endParaRPr>
                    </a:p>
                  </a:txBody>
                  <a:tcPr marL="55721" marR="557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ACECE"/>
                    </a:solidFill>
                  </a:tcPr>
                </a:tc>
                <a:extLst>
                  <a:ext uri="{0D108BD9-81ED-4DB2-BD59-A6C34878D82A}">
                    <a16:rowId xmlns:a16="http://schemas.microsoft.com/office/drawing/2014/main" val="3856657466"/>
                  </a:ext>
                </a:extLst>
              </a:tr>
              <a:tr h="214566">
                <a:tc>
                  <a:txBody>
                    <a:bodyPr/>
                    <a:lstStyle/>
                    <a:p>
                      <a:pPr marL="0" marR="0" lvl="0" indent="0" algn="just" defTabSz="914400" rtl="0" eaLnBrk="1" fontAlgn="auto" latinLnBrk="0" hangingPunct="1">
                        <a:lnSpc>
                          <a:spcPct val="107000"/>
                        </a:lnSpc>
                        <a:spcBef>
                          <a:spcPts val="0"/>
                        </a:spcBef>
                        <a:spcAft>
                          <a:spcPts val="0"/>
                        </a:spcAft>
                        <a:buClrTx/>
                        <a:buSzTx/>
                        <a:buFontTx/>
                        <a:buNone/>
                        <a:tabLst/>
                        <a:defRPr/>
                      </a:pPr>
                      <a:r>
                        <a:rPr lang="uz-Cyrl-UZ" sz="800" b="0" dirty="0" smtClean="0">
                          <a:effectLst/>
                          <a:latin typeface="+mn-lt"/>
                          <a:ea typeface="Calibri" panose="020F0502020204030204" pitchFamily="34" charset="0"/>
                          <a:cs typeface="Times New Roman" panose="02020603050405020304" pitchFamily="18" charset="0"/>
                        </a:rPr>
                        <a:t>Республика ва Самарканд вилоятимизда</a:t>
                      </a:r>
                      <a:r>
                        <a:rPr lang="uz-Cyrl-UZ" sz="800" b="0" baseline="0" dirty="0" smtClean="0">
                          <a:effectLst/>
                          <a:latin typeface="+mn-lt"/>
                          <a:ea typeface="Calibri" panose="020F0502020204030204" pitchFamily="34" charset="0"/>
                          <a:cs typeface="Times New Roman" panose="02020603050405020304" pitchFamily="18" charset="0"/>
                        </a:rPr>
                        <a:t> ўткалиб келинадиган барча оммавий мадаий тадбирлар ва давлат тадбирлари, шунингдек, давлат қабулларида доимий иштирок этиб келади.</a:t>
                      </a:r>
                      <a:endParaRPr lang="ru-RU" sz="800" b="0" dirty="0">
                        <a:effectLst/>
                        <a:latin typeface="+mn-lt"/>
                        <a:ea typeface="Calibri" panose="020F0502020204030204" pitchFamily="34" charset="0"/>
                        <a:cs typeface="Times New Roman" panose="02020603050405020304" pitchFamily="18" charset="0"/>
                      </a:endParaRPr>
                    </a:p>
                  </a:txBody>
                  <a:tcPr marL="55721" marR="557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70616279"/>
                  </a:ext>
                </a:extLst>
              </a:tr>
            </a:tbl>
          </a:graphicData>
        </a:graphic>
      </p:graphicFrame>
      <p:pic>
        <p:nvPicPr>
          <p:cNvPr id="9" name="Рисунок 8" descr="Хакимов"/>
          <p:cNvPicPr/>
          <p:nvPr/>
        </p:nvPicPr>
        <p:blipFill>
          <a:blip r:embed="rId2" cstate="print"/>
          <a:srcRect/>
          <a:stretch>
            <a:fillRect/>
          </a:stretch>
        </p:blipFill>
        <p:spPr bwMode="auto">
          <a:xfrm>
            <a:off x="320039" y="1211580"/>
            <a:ext cx="792481" cy="1036320"/>
          </a:xfrm>
          <a:prstGeom prst="rect">
            <a:avLst/>
          </a:prstGeom>
          <a:noFill/>
          <a:ln w="9525">
            <a:noFill/>
            <a:miter lim="800000"/>
            <a:headEnd/>
            <a:tailEnd/>
          </a:ln>
        </p:spPr>
      </p:pic>
    </p:spTree>
    <p:extLst>
      <p:ext uri="{BB962C8B-B14F-4D97-AF65-F5344CB8AC3E}">
        <p14:creationId xmlns:p14="http://schemas.microsoft.com/office/powerpoint/2010/main" val="3271075567"/>
      </p:ext>
    </p:extLst>
  </p:cSld>
  <p:clrMapOvr>
    <a:masterClrMapping/>
  </p:clrMapOvr>
</p:sld>
</file>

<file path=ppt/theme/theme1.xml><?xml version="1.0" encoding="utf-8"?>
<a:theme xmlns:a="http://schemas.openxmlformats.org/drawingml/2006/main" name="Тема Office">
  <a:themeElements>
    <a:clrScheme name="Тема 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Тема 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Тема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Тема Office">
  <a:themeElements>
    <a:clrScheme name="Стандартная">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Стандартная">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Стандартная">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1837</TotalTime>
  <Words>83218</Words>
  <Application>Microsoft Office PowerPoint</Application>
  <PresentationFormat>Лист A4 (210x297 мм)</PresentationFormat>
  <Paragraphs>11996</Paragraphs>
  <Slides>163</Slides>
  <Notes>1</Notes>
  <HiddenSlides>0</HiddenSlides>
  <MMClips>0</MMClips>
  <ScaleCrop>false</ScaleCrop>
  <HeadingPairs>
    <vt:vector size="6" baseType="variant">
      <vt:variant>
        <vt:lpstr>Использованные шрифты</vt:lpstr>
      </vt:variant>
      <vt:variant>
        <vt:i4>6</vt:i4>
      </vt:variant>
      <vt:variant>
        <vt:lpstr>Тема</vt:lpstr>
      </vt:variant>
      <vt:variant>
        <vt:i4>1</vt:i4>
      </vt:variant>
      <vt:variant>
        <vt:lpstr>Заголовки слайдов</vt:lpstr>
      </vt:variant>
      <vt:variant>
        <vt:i4>163</vt:i4>
      </vt:variant>
    </vt:vector>
  </HeadingPairs>
  <TitlesOfParts>
    <vt:vector size="170" baseType="lpstr">
      <vt:lpstr>Arial</vt:lpstr>
      <vt:lpstr>Bahnschrift SemiBold</vt:lpstr>
      <vt:lpstr>Calibri</vt:lpstr>
      <vt:lpstr>Calibri Light</vt:lpstr>
      <vt:lpstr>Courier New</vt:lpstr>
      <vt:lpstr>Times New Roman</vt:lpstr>
      <vt:lpstr>Тема Office</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Презентация PowerPoint</dc:title>
  <dc:creator>Тимур Абдуллаев</dc:creator>
  <cp:lastModifiedBy>user</cp:lastModifiedBy>
  <cp:revision>382</cp:revision>
  <cp:lastPrinted>2022-07-02T14:25:21Z</cp:lastPrinted>
  <dcterms:created xsi:type="dcterms:W3CDTF">2022-06-13T13:39:38Z</dcterms:created>
  <dcterms:modified xsi:type="dcterms:W3CDTF">2026-05-09T13:19:25Z</dcterms:modified>
</cp:coreProperties>
</file>